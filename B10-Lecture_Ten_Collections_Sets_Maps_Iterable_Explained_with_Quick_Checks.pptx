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0e2401-bf9b-1ea6-83eb-0e4076e65e19}">
          <p14:sldIdLst>
            <p14:sldId id="256"/>
            <p14:sldId id="257"/>
          </p14:sldIdLst>
        </p14:section>
        <p14:section name="1. Data structures" id="{b6092d9e-3b9e-a197-d2dc-3e1fc8e6aea4}">
          <p14:sldIdLst>
            <p14:sldId id="258"/>
            <p14:sldId id="259"/>
            <p14:sldId id="260"/>
            <p14:sldId id="261"/>
            <p14:sldId id="262"/>
            <p14:sldId id="263"/>
            <p14:sldId id="264"/>
            <p14:sldId id="265"/>
            <p14:sldId id="266"/>
            <p14:sldId id="267"/>
            <p14:sldId id="268"/>
            <p14:sldId id="269"/>
            <p14:sldId id="270"/>
          </p14:sldIdLst>
        </p14:section>
        <p14:section name="2. Hash tables and HashMap" id="{15e29c06-4306-fe63-14e2-f1649cc059d3}">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3. Sets" id="{8366fad6-431e-731e-5162-76db210b3860}">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 name="4. Iterating" id="{0ef7ba53-2e19-0b86-410f-eef7cb9b5f28}">
          <p14:sldIdLst>
            <p14:sldId id="314"/>
            <p14:sldId id="315"/>
            <p14:sldId id="316"/>
            <p14:sldId id="317"/>
            <p14:sldId id="318"/>
            <p14:sldId id="319"/>
            <p14:sldId id="320"/>
            <p14:sldId id="321"/>
            <p14:sldId id="322"/>
            <p14:sldId id="323"/>
            <p14:sldId id="324"/>
            <p14:sldId id="325"/>
            <p14:sldId id="326"/>
            <p14:sldId id="327"/>
            <p14:sldId id="328"/>
            <p14:sldId id="329"/>
          </p14:sldIdLst>
        </p14:section>
        <p14:section name="Wrap-up" id="{ae83ad93-2066-f159-54b2-b0048ea4e345}">
          <p14:sldIdLst>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10 covers two more parts of the Collections Framework, sets and maps, and Iterable, the interface that lets us loop through a collection. The picture on the right shows the main idea of a set. We add A, B, A and C, but A is already there the second time, so the set keeps just A, B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today: data structures in general, hash tables and HashMap, the three Set classes, and the ways to loop through a collection. As before, each idea has a quick check after it. Give everyone about 30 seconds, take a show of hands for A, B, C and D, then go to the answer slide. One change of order from the lecture: hash tables come before the Set classes here, because HashSet and LinkedHashSet use a hash table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what a data structure is, the difference between linear and non-linear structures, and where sets and maps sit in the Java Collections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structure is a particular way of storing and organising data so that it can be used efficiently. Every data structure has two sides. The interface is what it looks like from outside: which operations it can do, what each one takes in and what it gives back. Like a Java interface, it doesn’t contain the main code. The implementation is the actual algorithms that carry out those operations. We’ve already met both sides: List is the interface, and ArrayList and LinkedList are two different implementations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“The operations it offers, with what they take in and give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“The operations it offers, with what they take in and give back”.
The interface is the outside view: which operations we can call, what they take in and what they give back. The algorithms behind them are the implementation, and so is the way the data is laid out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structure is linear when its items form a sequence, one after another, making an unbroken line from the first item to the last. The lecture’s examples are arrays, linked lists, stacks and queues. Stacks and queues are lists with a rule about where items go in and come out: a stack takes items off the top, last in first out, and a queue serves them in the order they arrived, first in first out. The lecture also calls a data structure a dynamic set upon which algorithms act: a group of items that changes as we add and remove, with algorithms such as searching and sorting working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operations we usually run on a linear structure. Search finds where an item with a given value is. Insertion adds new items and deletion removes them. Sorting arranges the items in some order, and merging combines two lists into one. The examples on the right use small lists of numbers. The merge example combines two sorted lists into one sorted list, which is what merging usually means in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non-linear data structure has no set sequence connecting all its items. Each item can link to several others, so the data is stored on more than one level. The tree on the right is a binary search tree, one of the lecture’s examples: each value has at most two children, with smaller values on the left and bigger values on the right, which makes searching quick. The lecture also points out that non-linear structures are harder to implement, because each item can have several links to keep track of. It says they often can’t be traversed in a single run. What it means is that there’s no single next item, so to visit everything we need a plan, such as going level by level or branch by branch. One correction: the lecture says non-linear structures use memory more efficiently. That isn’t a general rule. Each tree node stores extra links to its children, so a tree usually takes more memory than an array of the same values. Their real strengths are speed for some jobs, like searching a sorted tree, and modelling data that branches, such as folders or a road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“A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“A tree”.
In a tree, an item can link to several children, so there’s no single line from first to last. Arrays, linked lists and queues all keep their items in a sequence, so they’re 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Java Collections Framework has two families. Collection classes hold single items. List, Set and Queue all extend the Collection interface, and Collection extends Iterable, which is what lets us loop through any of them. Map classes hold pairs, a key and its value, and form a separate tree. The lecture describes the Collection side as linear and the Map side as non-linear. That’s a helpful first picture, but not every Collection is linear inside: a TreeSet keeps its items in a tree and a HashSet uses a hash table. What every collection shares is that it holds single items and can be looped through. Two small fixes to the lecture slide. Classes implement interfaces, while interfaces extend other interfaces, so ArrayList implements List, and List extends Collection. And the slide says all collection interfaces are generic and comparable. They are generic, but they aren’t Comparable: we can’t compare two lists with compareTo. Comparable matters for the items inside, for example in a TreeSet, which we’ll meet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lecture’s hierarchy diagram again, redrawn, with today’s two branches picked out: the Set side and the Map side. The List side was Lecture 9. Green boxes are interfaces and orange boxes are classes. HashSet and LinkedHashSet implement Set, and TreeSet implements SortedSet, which extends Set. On the Map side, HashMap, LinkedHashMap and Hashtable implement Map, and TreeMap implements SortedMap. I’ve left out a few extra links to keep the picture readable: for example, LinkedHashSet is actually a subclass of HashSet, and LinkedHashMap is a subclass of HashMap.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“Collection extends Iterable”.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“Collection extends Iterable”.
Collection extends Iterable, which is why a for-each loop works on every list, set and queue. Map has its own separate tree, Set and List are separate branches under Collection, and Comparable is about the items, not the collections.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hash tables. We’ll see the idea of keys and values, how a hash function finds the right place in the table without searching, and HashMap, Java’s hash table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 table is a data structure that stores entries, and each entry has two parts: a key and a value. We look up a value by giving its key, which is why the key is also called a search key. A dictionary is the lecture’s example: the words are the keys and their definitions are the values, so to find a meaning we look up the word. The lecture says a hash table is also called a dictionary, a hash map or an associative array. Strictly, map, dictionary and associative array are names for the idea of looking up a value by its key. A hash table is one way of building it; a TreeMap, which keeps its keys in a tree, is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“The word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“The word itself”.
We look a meaning up by its word, so the word is the key and the meaning is its value. Each word appears once as a key, and the key takes us straight to its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 table keeps its values in an array, and the function that maps a key to an index in that array is called the hash function. A typical hash function works in two steps. First it turns the key into a whole number called the hash code. In Java every object has a hashCode method, and for the String "Tom" it gives 84274. Then it squeezes that number into an index the table actually has. With a table of 16 slots, 84274 % 16 gives 2, so Tom’s entry goes in slot 2. To find the value later, Java runs the same steps on the key and goes straight to slot 2, without searching through the other entries. That’s what the lecture means by retrieving the value without performing a search. Java’s own HashMap mixes the bits of the hash code a little before it squeezes it, so in a real HashMap Tom lands in slot 3, but the idea is exactly this. If anyone asks what happens when two keys land in the same slot: that’s called a collision. The table keeps both entries in that slot and uses equals to tell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“Turns a key into an index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“Turns a key into an index in the table”.
A hash function turns the key into a hash code, then squeezes it into an index the table has. The same key always gives the same index, so Java can go straight to the entry without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“Slot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“Slot 7”.
47 % 10 is the remainder when 47 is divided by 10, which is 7. So the entry goes in slot 7, and looking the same key up later leads straight back to slot 7.
B is the trap: 4 is how many times 10 goes into 47, not the remainder.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HashMap is Java’s hash table. It stores pairs, and we put and get values using their keys. put adds a pair, and if the key is already in the map, the new value replaces the old one, which is how the lecture updates Jack’s number. get gives back the value stored under a key. Keys are unique, though two different keys can share the same value. HashMap doesn’t keep the insertion order, because each entry goes where its key’s hash code sends it. The code is the lecture’s example with shorter names. The lecture calls the map studentList, but it’s a map, not a list, so I’ve called it students. One thing to watch: if we ask for a key that isn’t there, get gives back null, and storing that in an int, as in int tom = students.get(...), would throw a NullPointerException. containsKey lets us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“2 111”.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“2 111”.
Tom is already a key, so the second put("Tom", ...) replaces 321344 with 111 instead of adding a new pair. The map still has two keys, Tom and Ann, so it prints 2 111.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“It throws a NullPointerException”.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“It throws a NullPointerException”.
get gives back null for a missing key, and Java then tries to unbox that null into an int, which throws a NullPointerException when the line runs. It does compile, because get returns an Integer. To be safe, check with containsKey("Zoe") first.
The message in Java 21 is: Cannot invoke "java.lang.Integer.intValue()" because the return value of "java.util.HashMap.get(Object)" is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HashMap gives us three ways to loop through it. keySet() gives the keys, values() gives the values, and entrySet() gives each pair as a Map.Entry, which has getKey() and getValue(). The output is from a real run of the map on the HashMap slide. Look at the order: we added Tom, then Ann, then Jack, but the loops give Ann, Tom, Jack. That’s neither the order we added them nor alphabetical; it’s the order of the slots their hash codes sent them to. A HashMap makes no promise about order, so our code shouldn’t depend on it. The lecture writes HashMap.Entry. That works, but Map.Entry is the usual way to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“No promised order: it depends on the hash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“No promised order: it depends on the hash codes”.
A HashMap puts each entry where its key’s hash code sends it, so the order depends on the hash codes, not on when we added the keys. Our run gave Ann, Tom, Jack: neither the order we added them nor alphabetical.
If the order matters, a LinkedHashMap keeps the order keys were added in, and a TreeMap keeps them sorted, just like the two sets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“Each key with its value, as a Map.Entry”.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“Each key with its value, as a Map.Entry”.
entrySet() gives one Map.Entry for each pair, and each entry has getKey() and getValue(). For only the keys we’d use keySet(), and for only the values,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sets. A set is a collection with no duplicates. Java has three Set classes, HashSet, LinkedHashSet and TreeSet, and the main difference between them is the order they keep. Then we’ll do union, intersection and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is a collection with no duplicates. The lecture calls it the mathematical model for data items, because it works just like a set in maths, and sets matter as much in computer science as they do in maths. If we add an item that’s already in the set, nothing changes, and add gives back false to tell us so. Set is an interface, not a class, so we create one of its three classes: HashSet, LinkedHashSet or TreeSet. They all keep one copy of each item; the difference is the order they keep them in. Unlike a list, a set has no positions, so there’s no get(index). Instead we use contains to ask whether an item is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“false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“false 2”.
The String "red" is already in the set, so the second add("red") changes nothing and gives back false. The set holds red and green, so its size 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HashSet implements the Set interface and keeps its items in a hash table; inside, it actually uses a HashMap. Each item goes where its hash code sends it, which makes adding an item and checking for one quick, but it means a HashSet doesn’t keep the order items were added in. The code is the lecture’s example: it adds ten random whole numbers from 0 to 9, then checks whether 5 is in the set. The output is the one on the lecture slide; every run is different. A warning about that output: it looks sorted, but that’s a side effect of how small Integers hash, not sorting. An Integer’s hash code is the number itself, so 0 to 9 land in slots 0 to 9 of the table, in order, every time. With Strings the order looks mixed up, as the comparison slide shows. For our own classes, such as Student, a HashSet uses hashCode and equals to spot duplicates, so a class needs both overridden for two equal students to count as one. The lecture says HashSet implements both sets and hash tables. More exactly, it implements the Set interface and uses a hash table to store the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“Some numbers came up more than once, and a set keeps one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“Some numbers came up more than once, and a set keeps one copy”.
Ten random picks from 0 to 9 usually repeat a few numbers. Each repeat is a duplicate, so add gives back false and the set stays the same. A HashSet has no size limit; it just never holds the same item twice.
This is the question on the lecture slide: why are there only 7 numbers in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LinkedHashSet is a hash table with a doubly-linked list running through all of its items: each item links to the one added before it and the one added after it. The hash table keeps it quick, and the linked list remembers the order the items were added in, so it has a predictable iteration order: the insertion order. Like every set it holds no duplicates, it supports all the Set operations, and it allows a null item. The code is the lecture’s example, with the printed messages shortened. The second add("A") changes nothing, so the size is 5, and the items come out in the order we added them. remove gives back true when it takes something out and false when the item wasn’t there, and contains gives back true or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“3 [C, 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“3 [C, A, B]”.
The second add("A") is a duplicate, so the set holds 3 items. A LinkedHashSet gives them back in the order they were first added: C, then A, then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TreeSet also holds unique items only, but it keeps them in ascending order, whatever order they were added in. To do that it compares the items, using their compareTo method, which Strings and Integers already have, or the compare method of a Comparator we pass in, as in Lecture 7. Inside, the items sit in a tree, the kind of non-linear structure from Part 1. A TreeSet doesn’t allow null: add(null) throws a NullPointerException, because null can’t be compared with anything. The code is the lecture’s example: we add D, A, E, A, B and C, and it prints them sorted. One thing that surprises people: Strings sort by their character codes, so capital letters come before small ones. A TreeSet holding "ann", "Bob" and "cara" prints [Bob, ann, 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“3 [A, B,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“3 [A, B, C]”.
The repeated A isn’t added, so there are 3 items, and a TreeSet keeps them sorted whatever order they arrived in. So it prints 3 [A, B, C], where the LinkedHashSet in the last quick check gave [C, 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“It throws a NullPointerException”.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“It throws a NullPointerException”.
A TreeSet compares each new item with the ones already there, and null can’t be compared, so add(null) throws a NullPointerException when it runs. It does compile, since null is allowed for any object type. HashSet and LinkedHashSet accept one null.
A TreeSet built with a Comparator that knows how to handle null can hold it, but with the normal compareTo ordering it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Set classes together. All three keep one copy of each item; what differs is the order. A HashSet makes no promise about order. A LinkedHashSet keeps the order items were added in, because of its linked list. A TreeSet keeps them sorted, because it stores them in a tree and compares them as they go in. The last row is a real run: we added pear, apple, fig and kiwi, in that order, to each set and printed it. The HashSet order, apple, pear, kiwi, fig, comes from the hash codes. HashSet and LinkedHashSet allow one null; a TreeSet doesn’t allow null at all. So the choice comes down to the order we need: none, the order added, or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“LinkedHashSet”.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“LinkedHashSet”.
A LinkedHashSet keeps one copy of each name and remembers the order they were added. A HashSet makes no promise about order, and a TreeSet would sort the names alphabetically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set operations from the lecture, with setA holding 1, 2 and 3, and setB holding 2, 3 and 4. The union, A ∪ B, is everything in either set: 1, 2, 3 and 4. The intersection, A ∩ B, is only what’s in both: 2 and 3. The difference, A − B, is what’s in A but not in B: just 1. In Java, addAll gives the union, retainAll keeps only the items that are also in the other set, and removeAll takes out everything that’s in the other set. These methods change the set we call them on, so each one here starts from a copy of setA, made with new HashSet&lt;Integer&gt;(setA). That way setA itself stays as it was. The next slide shows why the lecture’s version of this code needs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correction to the lecture’s set operations slide. It shows setC = setA.addAll(setB), and the same with retainAll and removeAll. That won’t compile: these methods change setA itself and give back a boolean, true if setA changed, so there’s no new set to store in setC. The compiler says incompatible types: boolean cannot be converted to Set&lt;Integer&gt;. Calling setA.addAll(setB) on its own does compile, but then setA itself becomes the union and we lose what it held before. To get the result in a new set and keep setA as it was, copy setA first with new HashSet&lt;Integer&gt;(setA), then call the method on the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“[2,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“[2, 3]”.
retainAll keeps only the items that are also in setB, which gives the intersection. 1 isn’t in setB, so it goes, leaving [2, 3]. The method changes setA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“addAll gives back a boolean, not a new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“addAll gives back a boolean, not a new set”.
addAll adds the items of setB into setA itself and gives back true or false to say whether setA changed. A boolean can’t be stored in a Set&lt;Integer&gt; variable. To get a new set, copy setA first and call addAll on the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iterating, which just means looping through a collection. We’ll see the Iterable interface, the three ways to loop through a collection, and the Iterator, which also lets us remove items safely while we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Iterable just means it can be looped through. The Iterable interface defines the iterator method, which gives back an Iterator object, and the iterator does the walking for us. That’s the big benefit: we can go through a list, a set or a queue in the same way, without knowing how its data is stored inside. A list keeps an array or linked nodes, a HashSet keeps a hash table and a TreeSet keeps a tree, and the loop looks the same for all of them. Collection extends Iterable, so every collection works in a for-each loop; that’s what the lecture means when it says the iterator works on any child type. A Map isn’t Iterable, so a for-each loop straight over a map won’t compile; we loop through its keySet(), values() or entrySet() instead, as in Part 2. Arrays aren’t Iterable either, but the for-each loop handles them as a special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“A HashSet&lt;String&gt;”.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“A HashSet&lt;String&gt;”.
HashSet is a Collection, and every Collection is Iterable, so a for-each loop works on it. A HashMap isn’t Iterable; we’d loop through its keySet() instead. A String isn’t Iterable either, and an int is a single value.
For A, B and D the compiler says: for-each not applicable to expression type, required: array or java.lang.Iterable.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loop through a collection, and here all three print the same thing. The for-each loop is the one we use most: for each Integer val in arrList, print it. The forEach method takes an action and runs it on every item. System.out::println is a method reference, a short way of saying: call println with each item. The third way uses an Iterator directly. We get one from the list with iterator(), then keep asking hasNext() and next(). It takes more code, but it gives us the iterator’s remove method, which we’ll need in a moment. In fact, the for-each loop uses an iterator behind the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“Each number on its own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“Each number on its own line”.
forEach runs the action, here System.out::println, once for every item in the list. So println is called four times, printing 32, 67, 98 and 100 on separate lines. System.out.println(arrList) would print [32, 67, 98, 100]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Java’s Iterator interface has three methods. hasNext gives back true while there are more items to visit. next gives back the next item and moves the iterator on. remove takes out the item that next gave back most recently. remove is optional: a collection that can’t remove items, such as a fixed-size list, throws an UnsupportedOperationException instead. The iterator comes from the collection itself, through its iterator() method. Iterator is generic too: an Iterator&lt;Integer&gt; gives back Integers from next(), so no cast is needed, which is what the lecture means by working with generic collections. The lecture says the iterator is private to the class. What that means is the iterator’s class is usually hidden inside the collection, as an inner class our code can’t use directly, which is why it knows how that collection orders its data. We never see that class; we only use the object through these three methods. And a small fix: we don’t have to import all of java.util to use Iterator. import java.util.Iterator;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“next()”.
next() gives back the next item and moves on, so each call gives a new item. hasNext() only checks whether there is one, remove() deletes the item next() gave last, and iterator() is the collection’s method that gives us the iterator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lecture’s Iterator example. First we get an iterator from setA and print each item with hasNext and next. Then we get a fresh iterator, because the first one has reached the end, and walk through the set again. This time, whenever the item is even, it.remove() takes it out of the set. Only 2 is even, so the set ends up as [3, 5]. The lecture slide says the iterator lets us remove elements without looping. What it really gives us is a safe way to remove items while we loop, which the next slide shows. I’ve also dropped the (Iterator&lt;Integer&gt;) casts from the lecture code: setA.iterator() already gives back an Iterator&lt;Integer&gt;, so they aren’t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“[4]”.
The loop visits every item once. 7 and 10 are greater than 5, so it.remove() takes each of them out straight after next() gives it back. Only 4 is left, so it prints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iterator’s remove matters. If we loop through a collection with a for-each loop and call the collection’s own remove inside it, the next step of the loop throws a ConcurrentModificationException. The for-each loop uses a hidden iterator, and that iterator notices the set was changed behind its back. Using the iterator directly fixes it: it.remove() removes the item through the iterator itself, so the iterator stays in step with the set. The output on the left is a real run, with the first line of the error wrapped to fit. The exception isn’t guaranteed: if the removed item is the last one the loop visits, there’s no next step, so the bug can stay hidden, and in a list an item can be skipped instead. Since Java 8 there’s also removeIf, for example setA.removeIf(x -&gt; x % 2 == 0), which does the same job in one line, but it isn’t part of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“Use an Iterator and call its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“Use an Iterator and call its remove()”.
The iterator’s remove() takes out the item next() just gave back and keeps the iterator in step with the collection. Removing through the collection itself during a for-each or forEach loop usually throws a ConcurrentModificationException, and when it doesn’t, items can be skipped. Catching it doesn’t fix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ideas from today on one slide. A good one to leave up while taking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The summary slide before this one is a good one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US" sz="9600" b="1" dirty="0">
                <a:solidFill>
                  <a:schemeClr val="accent1"/>
                </a:solidFill>
              </a:defRPr>
            </a:lvl1pPr>
          </a:lstStyle>
          <a:p>
            <a:pPr indent="0" marL="0">
              <a:buNone/>
            </a:pP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200" b="1" spc="150" kern="0" dirty="0">
                <a:solidFill>
                  <a:schemeClr val="tx2"/>
                </a:solidFill>
              </a:defRPr>
            </a:lvl1pPr>
          </a:lstStyle>
          <a:p>
            <a:pPr indent="0" marL="0">
              <a:buNone/>
            </a:pP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10</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10</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US" sz="2000" b="1" dirty="0">
                <a:solidFill>
                  <a:schemeClr val="tx2"/>
                </a:solidFill>
              </a:defRPr>
            </a:lvl1pPr>
          </a:lstStyle>
          <a:p>
            <a:pPr algn="l" indent="0" marL="0">
              <a:buNone/>
            </a:pPr>
            <a:endParaRPr lang="en-US"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10</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6.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6.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6.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6.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6.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6.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6.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6.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6.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6.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4.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6.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6.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4.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6.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6.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slideLayout" Target="../slideLayouts/slideLayout4.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slideLayout" Target="../slideLayouts/slideLayout4.xm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6.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image" Target="../media/image-75-6.png"/><Relationship Id="rId7" Type="http://schemas.openxmlformats.org/officeDocument/2006/relationships/image" Target="../media/image-75-7.png"/><Relationship Id="rId8" Type="http://schemas.openxmlformats.org/officeDocument/2006/relationships/image" Target="../media/image-75-8.png"/><Relationship Id="rId9" Type="http://schemas.openxmlformats.org/officeDocument/2006/relationships/slideLayout" Target="../slideLayouts/slideLayout4.xml"/><Relationship Id="rId1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7.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LECTURE 10</a:t>
            </a: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US" sz="5200" b="1" dirty="0">
                <a:solidFill>
                  <a:schemeClr val="bg1"/>
                </a:solidFill>
              </a:rPr>
              <a:t>Collections: Sets,</a:t>
            </a:r>
            <a:endParaRPr lang="en-US" sz="5200" dirty="0"/>
          </a:p>
          <a:p>
            <a:pPr algn="l" indent="0" marL="0">
              <a:buNone/>
            </a:pPr>
            <a:r>
              <a:rPr lang="en-US" sz="5200" b="1" dirty="0">
                <a:solidFill>
                  <a:schemeClr val="bg1"/>
                </a:solidFill>
              </a:rPr>
              <a:t>Maps and Iterable</a:t>
            </a: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lIns="0" tIns="0" rIns="0" bIns="0" rtlCol="0" anchor="t"/>
          <a:lstStyle/>
          <a:p>
            <a:pPr indent="0" marL="0">
              <a:buNone/>
            </a:pPr>
            <a:r>
              <a:rPr lang="en-US" sz="2000" dirty="0">
                <a:solidFill>
                  <a:schemeClr val="bg2"/>
                </a:solidFill>
              </a:rPr>
              <a:t>Data structures, hash tables and HashMap, the three Set classes, set operations and iterators</a:t>
            </a:r>
            <a:endParaRPr lang="en-US" sz="2000" dirty="0"/>
          </a:p>
        </p:txBody>
      </p:sp>
      <p:sp>
        <p:nvSpPr>
          <p:cNvPr id="6" name="Text 3"/>
          <p:cNvSpPr txBox="1"/>
          <p:nvPr/>
        </p:nvSpPr>
        <p:spPr>
          <a:xfrm>
            <a:off x="6903720" y="1298448"/>
            <a:ext cx="4718304" cy="292608"/>
          </a:xfrm>
          <a:prstGeom prst="rect">
            <a:avLst/>
          </a:prstGeom>
          <a:noFill/>
          <a:ln/>
        </p:spPr>
        <p:txBody>
          <a:bodyPr wrap="square" lIns="0" tIns="0" rIns="0" bIns="0" rtlCol="0" anchor="t"/>
          <a:lstStyle/>
          <a:p>
            <a:pPr algn="l" indent="0" marL="0">
              <a:buNone/>
            </a:pPr>
            <a:r>
              <a:rPr lang="en-US" sz="1300" i="1" dirty="0">
                <a:solidFill>
                  <a:schemeClr val="bg2"/>
                </a:solidFill>
              </a:rPr>
              <a:t>four adds, one repeat</a:t>
            </a:r>
            <a:endParaRPr lang="en-US" sz="1300" dirty="0"/>
          </a:p>
        </p:txBody>
      </p:sp>
      <p:sp>
        <p:nvSpPr>
          <p:cNvPr id="7" name="Added A"/>
          <p:cNvSpPr/>
          <p:nvPr/>
        </p:nvSpPr>
        <p:spPr>
          <a:xfrm>
            <a:off x="6903720"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8" name="Text 5"/>
          <p:cNvSpPr txBox="1"/>
          <p:nvPr/>
        </p:nvSpPr>
        <p:spPr>
          <a:xfrm>
            <a:off x="6903720" y="1645920"/>
            <a:ext cx="1097280"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A</a:t>
            </a:r>
            <a:endParaRPr lang="en-US" sz="1600" dirty="0"/>
          </a:p>
        </p:txBody>
      </p:sp>
      <p:sp>
        <p:nvSpPr>
          <p:cNvPr id="9" name="Added B"/>
          <p:cNvSpPr/>
          <p:nvPr/>
        </p:nvSpPr>
        <p:spPr>
          <a:xfrm>
            <a:off x="8110728"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10" name="Text 7"/>
          <p:cNvSpPr txBox="1"/>
          <p:nvPr/>
        </p:nvSpPr>
        <p:spPr>
          <a:xfrm>
            <a:off x="8110728" y="1645920"/>
            <a:ext cx="1097280"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B</a:t>
            </a:r>
            <a:endParaRPr lang="en-US" sz="1600" dirty="0"/>
          </a:p>
        </p:txBody>
      </p:sp>
      <p:sp>
        <p:nvSpPr>
          <p:cNvPr id="11" name="Repeat"/>
          <p:cNvSpPr/>
          <p:nvPr/>
        </p:nvSpPr>
        <p:spPr>
          <a:xfrm>
            <a:off x="9317736" y="1645920"/>
            <a:ext cx="1097280" cy="566928"/>
          </a:xfrm>
          <a:prstGeom prst="roundRect">
            <a:avLst>
              <a:gd name="adj" fmla="val 16129"/>
            </a:avLst>
          </a:prstGeom>
          <a:solidFill>
            <a:schemeClr val="bg1">
              <a:alpha val="3000"/>
            </a:schemeClr>
          </a:solidFill>
          <a:ln w="19050">
            <a:solidFill>
              <a:schemeClr val="bg1">
                <a:alpha val="55000"/>
              </a:schemeClr>
            </a:solidFill>
            <a:prstDash val="dash"/>
          </a:ln>
        </p:spPr>
      </p:sp>
      <p:sp>
        <p:nvSpPr>
          <p:cNvPr id="12" name="Text 9"/>
          <p:cNvSpPr txBox="1"/>
          <p:nvPr/>
        </p:nvSpPr>
        <p:spPr>
          <a:xfrm>
            <a:off x="9317736" y="1645920"/>
            <a:ext cx="1097280" cy="566928"/>
          </a:xfrm>
          <a:prstGeom prst="rect">
            <a:avLst/>
          </a:prstGeom>
          <a:noFill/>
          <a:ln/>
        </p:spPr>
        <p:txBody>
          <a:bodyPr wrap="square" lIns="0" tIns="0" rIns="0" bIns="0" rtlCol="0" anchor="ctr"/>
          <a:lstStyle/>
          <a:p>
            <a:pPr algn="ctr" indent="0" marL="0">
              <a:buNone/>
            </a:pPr>
            <a:r>
              <a:rPr lang="en-US" sz="1600" b="1" dirty="0">
                <a:solidFill>
                  <a:schemeClr val="bg2"/>
                </a:solidFill>
                <a:latin typeface="Consolas" pitchFamily="34" charset="0"/>
                <a:ea typeface="Consolas" pitchFamily="34" charset="-122"/>
                <a:cs typeface="Consolas" pitchFamily="34" charset="-120"/>
              </a:rPr>
              <a:t>A</a:t>
            </a:r>
            <a:endParaRPr lang="en-US" sz="1600" dirty="0"/>
          </a:p>
        </p:txBody>
      </p:sp>
      <p:sp>
        <p:nvSpPr>
          <p:cNvPr id="13" name="Added C"/>
          <p:cNvSpPr/>
          <p:nvPr/>
        </p:nvSpPr>
        <p:spPr>
          <a:xfrm>
            <a:off x="10524744" y="1645920"/>
            <a:ext cx="1097280" cy="566928"/>
          </a:xfrm>
          <a:prstGeom prst="roundRect">
            <a:avLst>
              <a:gd name="adj" fmla="val 16129"/>
            </a:avLst>
          </a:prstGeom>
          <a:solidFill>
            <a:schemeClr val="bg1">
              <a:alpha val="12000"/>
            </a:schemeClr>
          </a:solidFill>
          <a:ln w="19050">
            <a:solidFill>
              <a:schemeClr val="bg1"/>
            </a:solidFill>
            <a:prstDash val="solid"/>
          </a:ln>
        </p:spPr>
      </p:sp>
      <p:sp>
        <p:nvSpPr>
          <p:cNvPr id="14" name="Text 11"/>
          <p:cNvSpPr txBox="1"/>
          <p:nvPr/>
        </p:nvSpPr>
        <p:spPr>
          <a:xfrm>
            <a:off x="10524744" y="1645920"/>
            <a:ext cx="1097280" cy="566928"/>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C</a:t>
            </a:r>
            <a:endParaRPr lang="en-US" sz="1600" dirty="0"/>
          </a:p>
        </p:txBody>
      </p:sp>
      <p:pic>
        <p:nvPicPr>
          <p:cNvPr id="15" name="Image 0" descr="Already there mark">    </p:cNvPr>
          <p:cNvPicPr>
            <a:picLocks noChangeAspect="1"/>
          </p:cNvPicPr>
          <p:nvPr/>
        </p:nvPicPr>
        <p:blipFill>
          <a:blip r:embed="rId1"/>
          <a:stretch>
            <a:fillRect/>
          </a:stretch>
        </p:blipFill>
        <p:spPr>
          <a:xfrm>
            <a:off x="10232136" y="1481328"/>
            <a:ext cx="329184" cy="329184"/>
          </a:xfrm>
          <a:prstGeom prst="rect">
            <a:avLst/>
          </a:prstGeom>
        </p:spPr>
      </p:pic>
      <p:sp>
        <p:nvSpPr>
          <p:cNvPr id="16" name="Text 12"/>
          <p:cNvSpPr txBox="1"/>
          <p:nvPr/>
        </p:nvSpPr>
        <p:spPr>
          <a:xfrm>
            <a:off x="9226296" y="2258568"/>
            <a:ext cx="1280160" cy="237744"/>
          </a:xfrm>
          <a:prstGeom prst="rect">
            <a:avLst/>
          </a:prstGeom>
          <a:noFill/>
          <a:ln/>
        </p:spPr>
        <p:txBody>
          <a:bodyPr wrap="square" lIns="0" tIns="0" rIns="0" bIns="0" rtlCol="0" anchor="t"/>
          <a:lstStyle/>
          <a:p>
            <a:pPr algn="ctr" indent="0" marL="0">
              <a:buNone/>
            </a:pPr>
            <a:r>
              <a:rPr lang="en-US" sz="1150" i="1" dirty="0">
                <a:solidFill>
                  <a:schemeClr val="bg2"/>
                </a:solidFill>
              </a:rPr>
              <a:t>already there</a:t>
            </a:r>
            <a:endParaRPr lang="en-US" sz="1150" dirty="0"/>
          </a:p>
        </p:txBody>
      </p:sp>
      <p:sp>
        <p:nvSpPr>
          <p:cNvPr id="17" name="Add call"/>
          <p:cNvSpPr/>
          <p:nvPr/>
        </p:nvSpPr>
        <p:spPr>
          <a:xfrm>
            <a:off x="7708392" y="2724912"/>
            <a:ext cx="3108960" cy="438912"/>
          </a:xfrm>
          <a:prstGeom prst="roundRect">
            <a:avLst>
              <a:gd name="adj" fmla="val 16667"/>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set.add(item)</a:t>
            </a:r>
            <a:endParaRPr lang="en-US" sz="1400" dirty="0"/>
          </a:p>
        </p:txBody>
      </p:sp>
      <p:sp>
        <p:nvSpPr>
          <p:cNvPr id="18" name="Shape 14"/>
          <p:cNvSpPr/>
          <p:nvPr/>
        </p:nvSpPr>
        <p:spPr>
          <a:xfrm>
            <a:off x="9262872" y="3163824"/>
            <a:ext cx="0" cy="448056"/>
          </a:xfrm>
          <a:prstGeom prst="line">
            <a:avLst/>
          </a:prstGeom>
          <a:noFill/>
          <a:ln w="22225">
            <a:solidFill>
              <a:schemeClr val="bg1"/>
            </a:solidFill>
            <a:prstDash val="solid"/>
            <a:tailEnd type="triangle"/>
          </a:ln>
        </p:spPr>
      </p:sp>
      <p:sp>
        <p:nvSpPr>
          <p:cNvPr id="19" name="Set item A"/>
          <p:cNvSpPr/>
          <p:nvPr/>
        </p:nvSpPr>
        <p:spPr>
          <a:xfrm>
            <a:off x="7507224" y="3703320"/>
            <a:ext cx="1097280" cy="566928"/>
          </a:xfrm>
          <a:prstGeom prst="roundRect">
            <a:avLst>
              <a:gd name="adj" fmla="val 16129"/>
            </a:avLst>
          </a:prstGeom>
          <a:solidFill>
            <a:schemeClr val="accent6"/>
          </a:solidFill>
          <a:ln/>
        </p:spPr>
      </p:sp>
      <p:sp>
        <p:nvSpPr>
          <p:cNvPr id="20" name="Text 16"/>
          <p:cNvSpPr txBox="1"/>
          <p:nvPr/>
        </p:nvSpPr>
        <p:spPr>
          <a:xfrm>
            <a:off x="7507224" y="3703320"/>
            <a:ext cx="109728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A</a:t>
            </a:r>
            <a:endParaRPr lang="en-US" sz="1600" dirty="0"/>
          </a:p>
        </p:txBody>
      </p:sp>
      <p:sp>
        <p:nvSpPr>
          <p:cNvPr id="21" name="Set item B"/>
          <p:cNvSpPr/>
          <p:nvPr/>
        </p:nvSpPr>
        <p:spPr>
          <a:xfrm>
            <a:off x="8714232" y="3703320"/>
            <a:ext cx="1097280" cy="566928"/>
          </a:xfrm>
          <a:prstGeom prst="roundRect">
            <a:avLst>
              <a:gd name="adj" fmla="val 16129"/>
            </a:avLst>
          </a:prstGeom>
          <a:solidFill>
            <a:schemeClr val="accent6"/>
          </a:solidFill>
          <a:ln/>
        </p:spPr>
      </p:sp>
      <p:sp>
        <p:nvSpPr>
          <p:cNvPr id="22" name="Text 18"/>
          <p:cNvSpPr txBox="1"/>
          <p:nvPr/>
        </p:nvSpPr>
        <p:spPr>
          <a:xfrm>
            <a:off x="8714232" y="3703320"/>
            <a:ext cx="109728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B</a:t>
            </a:r>
            <a:endParaRPr lang="en-US" sz="1600" dirty="0"/>
          </a:p>
        </p:txBody>
      </p:sp>
      <p:sp>
        <p:nvSpPr>
          <p:cNvPr id="23" name="Set item C"/>
          <p:cNvSpPr/>
          <p:nvPr/>
        </p:nvSpPr>
        <p:spPr>
          <a:xfrm>
            <a:off x="9921240" y="3703320"/>
            <a:ext cx="1097280" cy="566928"/>
          </a:xfrm>
          <a:prstGeom prst="roundRect">
            <a:avLst>
              <a:gd name="adj" fmla="val 16129"/>
            </a:avLst>
          </a:prstGeom>
          <a:solidFill>
            <a:schemeClr val="accent6"/>
          </a:solidFill>
          <a:ln/>
        </p:spPr>
      </p:sp>
      <p:sp>
        <p:nvSpPr>
          <p:cNvPr id="24" name="Text 20"/>
          <p:cNvSpPr txBox="1"/>
          <p:nvPr/>
        </p:nvSpPr>
        <p:spPr>
          <a:xfrm>
            <a:off x="9921240" y="3703320"/>
            <a:ext cx="109728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C</a:t>
            </a:r>
            <a:endParaRPr lang="en-US" sz="1600" dirty="0"/>
          </a:p>
        </p:txBody>
      </p:sp>
      <p:sp>
        <p:nvSpPr>
          <p:cNvPr id="25" name="Text 21"/>
          <p:cNvSpPr txBox="1"/>
          <p:nvPr/>
        </p:nvSpPr>
        <p:spPr>
          <a:xfrm>
            <a:off x="6903720" y="4407408"/>
            <a:ext cx="4718304" cy="292608"/>
          </a:xfrm>
          <a:prstGeom prst="rect">
            <a:avLst/>
          </a:prstGeom>
          <a:noFill/>
          <a:ln/>
        </p:spPr>
        <p:txBody>
          <a:bodyPr wrap="square" lIns="0" tIns="0" rIns="0" bIns="0" rtlCol="0" anchor="t"/>
          <a:lstStyle/>
          <a:p>
            <a:pPr algn="ctr" indent="0" marL="0">
              <a:buNone/>
            </a:pPr>
            <a:r>
              <a:rPr lang="en-US" sz="1300" i="1" dirty="0">
                <a:solidFill>
                  <a:schemeClr val="bg2"/>
                </a:solidFill>
              </a:rPr>
              <a:t>the set keeps one of each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LECTURE 10</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we cover today</a:t>
            </a:r>
            <a:endParaRPr lang="en-US" sz="3400" dirty="0"/>
          </a:p>
        </p:txBody>
      </p:sp>
      <p:sp>
        <p:nvSpPr>
          <p:cNvPr id="4" name="Text 2"/>
          <p:cNvSpPr txBox="1"/>
          <p:nvPr/>
        </p:nvSpPr>
        <p:spPr>
          <a:xfrm>
            <a:off x="548640" y="1746504"/>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01</a:t>
            </a:r>
            <a:endParaRPr lang="en-US" sz="3000" dirty="0"/>
          </a:p>
        </p:txBody>
      </p:sp>
      <p:sp>
        <p:nvSpPr>
          <p:cNvPr id="5" name="Text 3"/>
          <p:cNvSpPr txBox="1"/>
          <p:nvPr/>
        </p:nvSpPr>
        <p:spPr>
          <a:xfrm>
            <a:off x="1463040" y="1783080"/>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Data structures</a:t>
            </a:r>
            <a:endParaRPr lang="en-US" sz="2100" dirty="0"/>
          </a:p>
        </p:txBody>
      </p:sp>
      <p:sp>
        <p:nvSpPr>
          <p:cNvPr id="6" name="Text 4"/>
          <p:cNvSpPr txBox="1"/>
          <p:nvPr/>
        </p:nvSpPr>
        <p:spPr>
          <a:xfrm>
            <a:off x="1463040" y="2194560"/>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Linear, non-linear and the Collections Framework</a:t>
            </a:r>
            <a:endParaRPr lang="en-US" sz="1500" dirty="0"/>
          </a:p>
        </p:txBody>
      </p:sp>
      <p:sp>
        <p:nvSpPr>
          <p:cNvPr id="7" name="Text 5"/>
          <p:cNvSpPr txBox="1"/>
          <p:nvPr/>
        </p:nvSpPr>
        <p:spPr>
          <a:xfrm>
            <a:off x="548640" y="2816352"/>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02</a:t>
            </a:r>
            <a:endParaRPr lang="en-US" sz="3000" dirty="0"/>
          </a:p>
        </p:txBody>
      </p:sp>
      <p:sp>
        <p:nvSpPr>
          <p:cNvPr id="8" name="Text 6"/>
          <p:cNvSpPr txBox="1"/>
          <p:nvPr/>
        </p:nvSpPr>
        <p:spPr>
          <a:xfrm>
            <a:off x="1463040" y="2852928"/>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Hash tables and HashMap</a:t>
            </a:r>
            <a:endParaRPr lang="en-US" sz="2100" dirty="0"/>
          </a:p>
        </p:txBody>
      </p:sp>
      <p:sp>
        <p:nvSpPr>
          <p:cNvPr id="9" name="Text 7"/>
          <p:cNvSpPr txBox="1"/>
          <p:nvPr/>
        </p:nvSpPr>
        <p:spPr>
          <a:xfrm>
            <a:off x="1463040" y="3264408"/>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Keys, values and hash codes</a:t>
            </a:r>
            <a:endParaRPr lang="en-US" sz="1500" dirty="0"/>
          </a:p>
        </p:txBody>
      </p:sp>
      <p:sp>
        <p:nvSpPr>
          <p:cNvPr id="10" name="Text 8"/>
          <p:cNvSpPr txBox="1"/>
          <p:nvPr/>
        </p:nvSpPr>
        <p:spPr>
          <a:xfrm>
            <a:off x="548640" y="3886200"/>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03</a:t>
            </a:r>
            <a:endParaRPr lang="en-US" sz="3000" dirty="0"/>
          </a:p>
        </p:txBody>
      </p:sp>
      <p:sp>
        <p:nvSpPr>
          <p:cNvPr id="11" name="Text 9"/>
          <p:cNvSpPr txBox="1"/>
          <p:nvPr/>
        </p:nvSpPr>
        <p:spPr>
          <a:xfrm>
            <a:off x="1463040" y="3922776"/>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Sets</a:t>
            </a:r>
            <a:endParaRPr lang="en-US" sz="2100" dirty="0"/>
          </a:p>
        </p:txBody>
      </p:sp>
      <p:sp>
        <p:nvSpPr>
          <p:cNvPr id="12" name="Text 10"/>
          <p:cNvSpPr txBox="1"/>
          <p:nvPr/>
        </p:nvSpPr>
        <p:spPr>
          <a:xfrm>
            <a:off x="1463040" y="4334256"/>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HashSet, LinkedHashSet, TreeSet and set operations</a:t>
            </a:r>
            <a:endParaRPr lang="en-US" sz="1500" dirty="0"/>
          </a:p>
        </p:txBody>
      </p:sp>
      <p:sp>
        <p:nvSpPr>
          <p:cNvPr id="13" name="Text 11"/>
          <p:cNvSpPr txBox="1"/>
          <p:nvPr/>
        </p:nvSpPr>
        <p:spPr>
          <a:xfrm>
            <a:off x="548640" y="4956048"/>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04</a:t>
            </a:r>
            <a:endParaRPr lang="en-US" sz="3000" dirty="0"/>
          </a:p>
        </p:txBody>
      </p:sp>
      <p:sp>
        <p:nvSpPr>
          <p:cNvPr id="14" name="Text 12"/>
          <p:cNvSpPr txBox="1"/>
          <p:nvPr/>
        </p:nvSpPr>
        <p:spPr>
          <a:xfrm>
            <a:off x="1463040" y="4992624"/>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Iterating</a:t>
            </a:r>
            <a:endParaRPr lang="en-US" sz="2100" dirty="0"/>
          </a:p>
        </p:txBody>
      </p:sp>
      <p:sp>
        <p:nvSpPr>
          <p:cNvPr id="15" name="Text 13"/>
          <p:cNvSpPr txBox="1"/>
          <p:nvPr/>
        </p:nvSpPr>
        <p:spPr>
          <a:xfrm>
            <a:off x="1463040" y="5404104"/>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Iterable, for-each, forEach and Iterator</a:t>
            </a:r>
            <a:endParaRPr lang="en-US" sz="1500" dirty="0"/>
          </a:p>
        </p:txBody>
      </p:sp>
      <p:sp>
        <p:nvSpPr>
          <p:cNvPr id="16" name="How it works"/>
          <p:cNvSpPr/>
          <p:nvPr/>
        </p:nvSpPr>
        <p:spPr>
          <a:xfrm>
            <a:off x="7543800" y="1783080"/>
            <a:ext cx="4099255" cy="4160520"/>
          </a:xfrm>
          <a:prstGeom prst="roundRect">
            <a:avLst>
              <a:gd name="adj" fmla="val 2677"/>
            </a:avLst>
          </a:prstGeom>
          <a:solidFill>
            <a:schemeClr val="bg2"/>
          </a:solidFill>
          <a:ln/>
        </p:spPr>
      </p:sp>
      <p:sp>
        <p:nvSpPr>
          <p:cNvPr id="17" name="Text 15"/>
          <p:cNvSpPr txBox="1"/>
          <p:nvPr/>
        </p:nvSpPr>
        <p:spPr>
          <a:xfrm>
            <a:off x="7909560" y="2103120"/>
            <a:ext cx="3367735" cy="411480"/>
          </a:xfrm>
          <a:prstGeom prst="rect">
            <a:avLst/>
          </a:prstGeom>
          <a:noFill/>
          <a:ln/>
        </p:spPr>
        <p:txBody>
          <a:bodyPr wrap="square" lIns="0" tIns="0" rIns="0" bIns="0" rtlCol="0" anchor="t"/>
          <a:lstStyle/>
          <a:p>
            <a:pPr algn="l" indent="0" marL="0">
              <a:buNone/>
            </a:pPr>
            <a:r>
              <a:rPr lang="en-US" sz="1900" b="1" dirty="0">
                <a:solidFill>
                  <a:schemeClr val="tx1"/>
                </a:solidFill>
              </a:rPr>
              <a:t>How each topic works</a:t>
            </a:r>
            <a:endParaRPr lang="en-US" sz="1900" dirty="0"/>
          </a:p>
        </p:txBody>
      </p:sp>
      <p:sp>
        <p:nvSpPr>
          <p:cNvPr id="18"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19" name="Image 0"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0" name="Text 17"/>
          <p:cNvSpPr txBox="1"/>
          <p:nvPr/>
        </p:nvSpPr>
        <p:spPr>
          <a:xfrm>
            <a:off x="8732520" y="2752344"/>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Read the idea and look at the example</a:t>
            </a:r>
            <a:endParaRPr lang="en-US" sz="1600" dirty="0"/>
          </a:p>
        </p:txBody>
      </p:sp>
      <p:sp>
        <p:nvSpPr>
          <p:cNvPr id="21"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2" name="Image 1"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3" name="Text 19"/>
          <p:cNvSpPr txBox="1"/>
          <p:nvPr/>
        </p:nvSpPr>
        <p:spPr>
          <a:xfrm>
            <a:off x="8732520" y="3739896"/>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Try the quick check: A, B, C or D?</a:t>
            </a:r>
            <a:endParaRPr lang="en-US" sz="1600" dirty="0"/>
          </a:p>
        </p:txBody>
      </p:sp>
      <p:sp>
        <p:nvSpPr>
          <p:cNvPr id="24"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5" name="Image 2"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6" name="Text 21"/>
          <p:cNvSpPr txBox="1"/>
          <p:nvPr/>
        </p:nvSpPr>
        <p:spPr>
          <a:xfrm>
            <a:off x="8732520" y="4727448"/>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See the answer, and why, on the next slide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01</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Data structures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How we store and organise data</a:t>
            </a:r>
            <a:endParaRPr lang="en-US" sz="2000" dirty="0"/>
          </a:p>
        </p:txBody>
      </p:sp>
      <p:sp>
        <p:nvSpPr>
          <p:cNvPr id="5" name="Topic chip"/>
          <p:cNvSpPr/>
          <p:nvPr/>
        </p:nvSpPr>
        <p:spPr>
          <a:xfrm>
            <a:off x="822960" y="4846320"/>
            <a:ext cx="12347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Interface</a:t>
            </a:r>
            <a:endParaRPr lang="en-US" sz="1400" dirty="0"/>
          </a:p>
        </p:txBody>
      </p:sp>
      <p:sp>
        <p:nvSpPr>
          <p:cNvPr id="6" name="Topic chip"/>
          <p:cNvSpPr/>
          <p:nvPr/>
        </p:nvSpPr>
        <p:spPr>
          <a:xfrm>
            <a:off x="2204024" y="4846320"/>
            <a:ext cx="169721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Implementation</a:t>
            </a:r>
            <a:endParaRPr lang="en-US" sz="1400" dirty="0"/>
          </a:p>
        </p:txBody>
      </p:sp>
      <p:sp>
        <p:nvSpPr>
          <p:cNvPr id="7" name="Topic chip"/>
          <p:cNvSpPr/>
          <p:nvPr/>
        </p:nvSpPr>
        <p:spPr>
          <a:xfrm>
            <a:off x="4047546" y="4846320"/>
            <a:ext cx="95728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Linear</a:t>
            </a:r>
            <a:endParaRPr lang="en-US" sz="1400" dirty="0"/>
          </a:p>
        </p:txBody>
      </p:sp>
      <p:sp>
        <p:nvSpPr>
          <p:cNvPr id="8" name="Topic chip"/>
          <p:cNvSpPr/>
          <p:nvPr/>
        </p:nvSpPr>
        <p:spPr>
          <a:xfrm>
            <a:off x="5151135" y="4846320"/>
            <a:ext cx="13272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Non-linear</a:t>
            </a:r>
            <a:endParaRPr lang="en-US" sz="1400" dirty="0"/>
          </a:p>
        </p:txBody>
      </p:sp>
      <p:sp>
        <p:nvSpPr>
          <p:cNvPr id="9" name="Topic chip"/>
          <p:cNvSpPr/>
          <p:nvPr/>
        </p:nvSpPr>
        <p:spPr>
          <a:xfrm>
            <a:off x="6624691" y="4846320"/>
            <a:ext cx="160472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The framework</a:t>
            </a:r>
            <a:endParaRPr lang="en-US" sz="1400" dirty="0"/>
          </a:p>
        </p:txBody>
      </p:sp>
      <p:pic>
        <p:nvPicPr>
          <p:cNvPr id="10"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a data structure is</a:t>
            </a:r>
            <a:endParaRPr lang="en-US" sz="3400" dirty="0"/>
          </a:p>
        </p:txBody>
      </p:sp>
      <p:sp>
        <p:nvSpPr>
          <p:cNvPr id="5" name="Text 2"/>
          <p:cNvSpPr txBox="1"/>
          <p:nvPr/>
        </p:nvSpPr>
        <p:spPr>
          <a:xfrm>
            <a:off x="548640" y="1691640"/>
            <a:ext cx="11094415" cy="411480"/>
          </a:xfrm>
          <a:prstGeom prst="rect">
            <a:avLst/>
          </a:prstGeom>
          <a:noFill/>
          <a:ln/>
        </p:spPr>
        <p:txBody>
          <a:bodyPr wrap="square" lIns="0" tIns="0" rIns="0" bIns="0" rtlCol="0" anchor="ctr"/>
          <a:lstStyle/>
          <a:p>
            <a:pPr algn="l" indent="0" marL="0">
              <a:buNone/>
            </a:pPr>
            <a:r>
              <a:rPr lang="en-US" sz="1800" dirty="0">
                <a:solidFill>
                  <a:schemeClr val="tx1"/>
                </a:solidFill>
              </a:rPr>
              <a:t>A data structure is a way of storing and organising data so that we can use it efficiently. Each one has two sides:</a:t>
            </a:r>
            <a:endParaRPr lang="en-US" sz="1800" dirty="0"/>
          </a:p>
        </p:txBody>
      </p:sp>
      <p:sp>
        <p:nvSpPr>
          <p:cNvPr id="6" name="Interface"/>
          <p:cNvSpPr/>
          <p:nvPr/>
        </p:nvSpPr>
        <p:spPr>
          <a:xfrm>
            <a:off x="548640" y="2331720"/>
            <a:ext cx="5387188" cy="3611880"/>
          </a:xfrm>
          <a:prstGeom prst="roundRect">
            <a:avLst>
              <a:gd name="adj" fmla="val 3038"/>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822960" y="2606040"/>
            <a:ext cx="640080" cy="640080"/>
          </a:xfrm>
          <a:prstGeom prst="roundRect">
            <a:avLst>
              <a:gd name="adj" fmla="val 24000"/>
            </a:avLst>
          </a:prstGeom>
          <a:solidFill>
            <a:schemeClr val="accent4">
              <a:alpha val="14000"/>
            </a:schemeClr>
          </a:solidFill>
          <a:ln/>
        </p:spPr>
      </p:sp>
      <p:pic>
        <p:nvPicPr>
          <p:cNvPr id="8" name="Image 0" descr="list checks icon">    </p:cNvPr>
          <p:cNvPicPr>
            <a:picLocks noChangeAspect="1"/>
          </p:cNvPicPr>
          <p:nvPr/>
        </p:nvPicPr>
        <p:blipFill>
          <a:blip r:embed="rId1"/>
          <a:stretch>
            <a:fillRect/>
          </a:stretch>
        </p:blipFill>
        <p:spPr>
          <a:xfrm>
            <a:off x="957377" y="2740457"/>
            <a:ext cx="371246" cy="371246"/>
          </a:xfrm>
          <a:prstGeom prst="rect">
            <a:avLst/>
          </a:prstGeom>
        </p:spPr>
      </p:pic>
      <p:sp>
        <p:nvSpPr>
          <p:cNvPr id="9" name="Text 5"/>
          <p:cNvSpPr txBox="1"/>
          <p:nvPr/>
        </p:nvSpPr>
        <p:spPr>
          <a:xfrm>
            <a:off x="1600200" y="2606040"/>
            <a:ext cx="4107028" cy="640080"/>
          </a:xfrm>
          <a:prstGeom prst="rect">
            <a:avLst/>
          </a:prstGeom>
          <a:noFill/>
          <a:ln/>
        </p:spPr>
        <p:txBody>
          <a:bodyPr wrap="square" lIns="0" tIns="0" rIns="0" bIns="0" rtlCol="0" anchor="ctr"/>
          <a:lstStyle/>
          <a:p>
            <a:pPr algn="l" indent="0" marL="0">
              <a:buNone/>
            </a:pPr>
            <a:r>
              <a:rPr lang="en-US" sz="2400" b="1" dirty="0">
                <a:solidFill>
                  <a:schemeClr val="accent4"/>
                </a:solidFill>
              </a:rPr>
              <a:t>Interface</a:t>
            </a:r>
            <a:endParaRPr lang="en-US" sz="2400" dirty="0"/>
          </a:p>
        </p:txBody>
      </p:sp>
      <p:sp>
        <p:nvSpPr>
          <p:cNvPr id="10" name="Text 6"/>
          <p:cNvSpPr txBox="1"/>
          <p:nvPr/>
        </p:nvSpPr>
        <p:spPr>
          <a:xfrm>
            <a:off x="868680" y="3520440"/>
            <a:ext cx="4747108" cy="21488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What it can do: its operations</a:t>
            </a:r>
            <a:endParaRPr lang="en-US" sz="1700" dirty="0"/>
          </a:p>
          <a:p>
            <a:pPr marL="228600" indent="-228600">
              <a:spcAft>
                <a:spcPts val="1000"/>
              </a:spcAft>
              <a:buSzPct val="100000"/>
              <a:buChar char="•"/>
            </a:pPr>
            <a:r>
              <a:rPr lang="en-US" sz="1700" dirty="0">
                <a:solidFill>
                  <a:schemeClr val="tx1"/>
                </a:solidFill>
              </a:rPr>
              <a:t>What each operation takes in and gives back</a:t>
            </a:r>
            <a:endParaRPr lang="en-US" sz="1700" dirty="0"/>
          </a:p>
          <a:p>
            <a:pPr marL="228600" indent="-228600">
              <a:buSzPct val="100000"/>
              <a:buChar char="•"/>
            </a:pPr>
            <a:r>
              <a:rPr lang="en-US" sz="1700" dirty="0">
                <a:solidFill>
                  <a:schemeClr val="tx1"/>
                </a:solidFill>
              </a:rPr>
              <a:t>No main code inside, just like a Java interface</a:t>
            </a:r>
            <a:endParaRPr lang="en-US" sz="1700" dirty="0"/>
          </a:p>
        </p:txBody>
      </p:sp>
      <p:sp>
        <p:nvSpPr>
          <p:cNvPr id="11" name="Implementation"/>
          <p:cNvSpPr/>
          <p:nvPr/>
        </p:nvSpPr>
        <p:spPr>
          <a:xfrm>
            <a:off x="6255868" y="2331720"/>
            <a:ext cx="5387188" cy="3611880"/>
          </a:xfrm>
          <a:prstGeom prst="roundRect">
            <a:avLst>
              <a:gd name="adj" fmla="val 3038"/>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6530188" y="2606040"/>
            <a:ext cx="640080" cy="640080"/>
          </a:xfrm>
          <a:prstGeom prst="roundRect">
            <a:avLst>
              <a:gd name="adj" fmla="val 24000"/>
            </a:avLst>
          </a:prstGeom>
          <a:solidFill>
            <a:schemeClr val="accent1">
              <a:alpha val="14000"/>
            </a:schemeClr>
          </a:solidFill>
          <a:ln/>
        </p:spPr>
      </p:sp>
      <p:pic>
        <p:nvPicPr>
          <p:cNvPr id="13" name="Image 1" descr="gear six icon">    </p:cNvPr>
          <p:cNvPicPr>
            <a:picLocks noChangeAspect="1"/>
          </p:cNvPicPr>
          <p:nvPr/>
        </p:nvPicPr>
        <p:blipFill>
          <a:blip r:embed="rId2"/>
          <a:stretch>
            <a:fillRect/>
          </a:stretch>
        </p:blipFill>
        <p:spPr>
          <a:xfrm>
            <a:off x="6664604" y="2740457"/>
            <a:ext cx="371246" cy="371246"/>
          </a:xfrm>
          <a:prstGeom prst="rect">
            <a:avLst/>
          </a:prstGeom>
        </p:spPr>
      </p:pic>
      <p:sp>
        <p:nvSpPr>
          <p:cNvPr id="14" name="Text 9"/>
          <p:cNvSpPr txBox="1"/>
          <p:nvPr/>
        </p:nvSpPr>
        <p:spPr>
          <a:xfrm>
            <a:off x="7307428" y="2606040"/>
            <a:ext cx="4107028" cy="640080"/>
          </a:xfrm>
          <a:prstGeom prst="rect">
            <a:avLst/>
          </a:prstGeom>
          <a:noFill/>
          <a:ln/>
        </p:spPr>
        <p:txBody>
          <a:bodyPr wrap="square" lIns="0" tIns="0" rIns="0" bIns="0" rtlCol="0" anchor="ctr"/>
          <a:lstStyle/>
          <a:p>
            <a:pPr algn="l" indent="0" marL="0">
              <a:buNone/>
            </a:pPr>
            <a:r>
              <a:rPr lang="en-US" sz="2400" b="1" dirty="0">
                <a:solidFill>
                  <a:schemeClr val="accent1"/>
                </a:solidFill>
              </a:rPr>
              <a:t>Implementation</a:t>
            </a:r>
            <a:endParaRPr lang="en-US" sz="2400" dirty="0"/>
          </a:p>
        </p:txBody>
      </p:sp>
      <p:sp>
        <p:nvSpPr>
          <p:cNvPr id="15" name="Text 10"/>
          <p:cNvSpPr txBox="1"/>
          <p:nvPr/>
        </p:nvSpPr>
        <p:spPr>
          <a:xfrm>
            <a:off x="6575908" y="3520440"/>
            <a:ext cx="4747108" cy="21488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How it does it</a:t>
            </a:r>
            <a:endParaRPr lang="en-US" sz="1700" dirty="0"/>
          </a:p>
          <a:p>
            <a:pPr marL="228600" indent="-228600">
              <a:spcAft>
                <a:spcPts val="1000"/>
              </a:spcAft>
              <a:buSzPct val="100000"/>
              <a:buChar char="•"/>
            </a:pPr>
            <a:r>
              <a:rPr lang="en-US" sz="1700" dirty="0">
                <a:solidFill>
                  <a:schemeClr val="tx1"/>
                </a:solidFill>
              </a:rPr>
              <a:t>The actual algorithms behind each operation</a:t>
            </a:r>
            <a:endParaRPr lang="en-US" sz="1700" dirty="0"/>
          </a:p>
          <a:p>
            <a:pPr marL="228600" indent="-228600">
              <a:buSzPct val="100000"/>
              <a:buChar char="•"/>
            </a:pPr>
            <a:r>
              <a:rPr lang="en-US" sz="1700" dirty="0">
                <a:solidFill>
                  <a:schemeClr val="tx1"/>
                </a:solidFill>
              </a:rPr>
              <a:t>The code that does the real work</a:t>
            </a:r>
            <a:endParaRPr lang="en-US" sz="1700" dirty="0"/>
          </a:p>
        </p:txBody>
      </p:sp>
      <p:sp>
        <p:nvSpPr>
          <p:cNvPr id="16" name="Text 11"/>
          <p:cNvSpPr txBox="1"/>
          <p:nvPr/>
        </p:nvSpPr>
        <p:spPr>
          <a:xfrm>
            <a:off x="868680" y="4773168"/>
            <a:ext cx="4747108" cy="274320"/>
          </a:xfrm>
          <a:prstGeom prst="rect">
            <a:avLst/>
          </a:prstGeom>
          <a:noFill/>
          <a:ln/>
        </p:spPr>
        <p:txBody>
          <a:bodyPr wrap="square" lIns="0" tIns="0" rIns="0" bIns="0" rtlCol="0" anchor="t"/>
          <a:lstStyle/>
          <a:p>
            <a:pPr algn="l" indent="0" marL="0">
              <a:buNone/>
            </a:pPr>
            <a:r>
              <a:rPr lang="en-US" sz="1300" i="1" dirty="0">
                <a:solidFill>
                  <a:schemeClr val="tx2"/>
                </a:solidFill>
              </a:rPr>
              <a:t>Example: the </a:t>
            </a:r>
            <a:r>
              <a:rPr lang="en-US" sz="1300" dirty="0">
                <a:solidFill>
                  <a:schemeClr val="tx2"/>
                </a:solidFill>
                <a:latin typeface="Consolas" pitchFamily="34" charset="0"/>
                <a:ea typeface="Consolas" pitchFamily="34" charset="-122"/>
                <a:cs typeface="Consolas" pitchFamily="34" charset="-120"/>
              </a:rPr>
              <a:t>List</a:t>
            </a:r>
            <a:r>
              <a:rPr lang="en-US" sz="1300" i="1" dirty="0">
                <a:solidFill>
                  <a:schemeClr val="tx2"/>
                </a:solidFill>
              </a:rPr>
              <a:t> interface</a:t>
            </a:r>
            <a:endParaRPr lang="en-US" sz="1300" dirty="0"/>
          </a:p>
        </p:txBody>
      </p:sp>
      <p:sp>
        <p:nvSpPr>
          <p:cNvPr id="17" name="Code chip"/>
          <p:cNvSpPr/>
          <p:nvPr/>
        </p:nvSpPr>
        <p:spPr>
          <a:xfrm>
            <a:off x="868680" y="5102352"/>
            <a:ext cx="4747108" cy="502920"/>
          </a:xfrm>
          <a:prstGeom prst="roundRect">
            <a:avLst>
              <a:gd name="adj" fmla="val 14545"/>
            </a:avLst>
          </a:prstGeom>
          <a:solidFill>
            <a:schemeClr val="bg2"/>
          </a:solidFill>
          <a:ln/>
        </p:spPr>
        <p:txBody>
          <a:bodyPr wrap="square" lIns="0" tIns="0" rIns="0" bIns="0" rtlCol="0" anchor="ctr"/>
          <a:lstStyle/>
          <a:p>
            <a:pPr algn="ctr" indent="0" marL="0">
              <a:buNone/>
            </a:pPr>
            <a:r>
              <a:rPr lang="en-US" sz="1500" dirty="0">
                <a:solidFill>
                  <a:schemeClr val="accent2"/>
                </a:solidFill>
                <a:latin typeface="Consolas" pitchFamily="34" charset="0"/>
                <a:ea typeface="Consolas" pitchFamily="34" charset="-122"/>
                <a:cs typeface="Consolas" pitchFamily="34" charset="-120"/>
              </a:rPr>
              <a:t>add(e)   get(i)   remove(i)   size()</a:t>
            </a:r>
            <a:endParaRPr lang="en-US" sz="1500" dirty="0"/>
          </a:p>
        </p:txBody>
      </p:sp>
      <p:sp>
        <p:nvSpPr>
          <p:cNvPr id="18" name="Text 13"/>
          <p:cNvSpPr txBox="1"/>
          <p:nvPr/>
        </p:nvSpPr>
        <p:spPr>
          <a:xfrm>
            <a:off x="6575908" y="4773168"/>
            <a:ext cx="4747108" cy="274320"/>
          </a:xfrm>
          <a:prstGeom prst="rect">
            <a:avLst/>
          </a:prstGeom>
          <a:noFill/>
          <a:ln/>
        </p:spPr>
        <p:txBody>
          <a:bodyPr wrap="square" lIns="0" tIns="0" rIns="0" bIns="0" rtlCol="0" anchor="t"/>
          <a:lstStyle/>
          <a:p>
            <a:pPr algn="l" indent="0" marL="0">
              <a:buNone/>
            </a:pPr>
            <a:r>
              <a:rPr lang="en-US" sz="1300" i="1" dirty="0">
                <a:solidFill>
                  <a:schemeClr val="tx2"/>
                </a:solidFill>
              </a:rPr>
              <a:t>Example: two classes that implement </a:t>
            </a:r>
            <a:r>
              <a:rPr lang="en-US" sz="1300" dirty="0">
                <a:solidFill>
                  <a:schemeClr val="tx2"/>
                </a:solidFill>
                <a:latin typeface="Consolas" pitchFamily="34" charset="0"/>
                <a:ea typeface="Consolas" pitchFamily="34" charset="-122"/>
                <a:cs typeface="Consolas" pitchFamily="34" charset="-120"/>
              </a:rPr>
              <a:t>List</a:t>
            </a:r>
            <a:endParaRPr lang="en-US" sz="1300" dirty="0"/>
          </a:p>
        </p:txBody>
      </p:sp>
      <p:sp>
        <p:nvSpPr>
          <p:cNvPr id="19" name="Code chip"/>
          <p:cNvSpPr/>
          <p:nvPr/>
        </p:nvSpPr>
        <p:spPr>
          <a:xfrm>
            <a:off x="6575908" y="5102352"/>
            <a:ext cx="4747108" cy="502920"/>
          </a:xfrm>
          <a:prstGeom prst="roundRect">
            <a:avLst>
              <a:gd name="adj" fmla="val 14545"/>
            </a:avLst>
          </a:prstGeom>
          <a:solidFill>
            <a:schemeClr val="bg2"/>
          </a:solidFill>
          <a:ln/>
        </p:spPr>
        <p:txBody>
          <a:bodyPr wrap="square" lIns="0" tIns="0" rIns="0" bIns="0" rtlCol="0" anchor="ctr"/>
          <a:lstStyle/>
          <a:p>
            <a:pPr algn="ctr" indent="0" marL="0">
              <a:buNone/>
            </a:pPr>
            <a:r>
              <a:rPr lang="en-US" sz="1500" dirty="0">
                <a:solidFill>
                  <a:schemeClr val="accent2"/>
                </a:solidFill>
                <a:latin typeface="Consolas" pitchFamily="34" charset="0"/>
                <a:ea typeface="Consolas" pitchFamily="34" charset="-122"/>
                <a:cs typeface="Consolas" pitchFamily="34" charset="-120"/>
              </a:rPr>
              <a:t>ArrayList   LinkedList</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Interface and implementation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the interface of a data structure describe?</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operations it offers, with what they take in and give back</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algorithms that do the work inside each operation</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rPr>
              <a:t>Where its data is stored in the computer’s memory</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main method that starts the program</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Interface and implementation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the interface of a data structure describe?</a:t>
            </a:r>
            <a:endParaRPr lang="en-US"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28800"/>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The operations it offers, with what they take in and give back</a:t>
            </a:r>
            <a:endParaRPr lang="en-US" sz="1700" dirty="0"/>
          </a:p>
        </p:txBody>
      </p:sp>
      <p:pic>
        <p:nvPicPr>
          <p:cNvPr id="8" name="Image 0"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rPr>
              <a:t>The algorithms that do the work inside each operation</a:t>
            </a:r>
            <a:endParaRPr lang="en-US"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Where its data is stored in the computer’s memory</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rPr>
              <a:t>The main method that starts the program</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The interface is the outside view: which operations we can call, what they take in and what they give back. The algorithms behind them are the implementation, and so is the way the data is laid out in memory.</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Linear: one item after another</a:t>
            </a:r>
            <a:endParaRPr lang="en-US" sz="3400" dirty="0"/>
          </a:p>
        </p:txBody>
      </p:sp>
      <p:sp>
        <p:nvSpPr>
          <p:cNvPr id="5" name="Text 2"/>
          <p:cNvSpPr txBox="1"/>
          <p:nvPr/>
        </p:nvSpPr>
        <p:spPr>
          <a:xfrm>
            <a:off x="548640" y="1783080"/>
            <a:ext cx="5394960" cy="18288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 data structure is linear when its items form a sequence, one after another.</a:t>
            </a:r>
            <a:endParaRPr lang="en-US" sz="1700" dirty="0"/>
          </a:p>
          <a:p>
            <a:pPr marL="228600" indent="-228600">
              <a:spcAft>
                <a:spcPts val="1000"/>
              </a:spcAft>
              <a:buSzPct val="100000"/>
              <a:buChar char="•"/>
            </a:pPr>
            <a:r>
              <a:rPr lang="en-US" sz="1700" dirty="0">
                <a:solidFill>
                  <a:schemeClr val="tx1"/>
                </a:solidFill>
              </a:rPr>
              <a:t>They make an unbroken line from the first item to the last.</a:t>
            </a:r>
            <a:endParaRPr lang="en-US" sz="1700" dirty="0"/>
          </a:p>
          <a:p>
            <a:pPr marL="228600" indent="-228600">
              <a:buSzPct val="100000"/>
              <a:buChar char="•"/>
            </a:pPr>
            <a:r>
              <a:rPr lang="en-US" sz="1700" dirty="0">
                <a:solidFill>
                  <a:schemeClr val="tx1"/>
                </a:solidFill>
              </a:rPr>
              <a:t>Arrays, linked lists, stacks and queues are all linear.</a:t>
            </a:r>
            <a:endParaRPr lang="en-US" sz="1700" dirty="0"/>
          </a:p>
        </p:txBody>
      </p:sp>
      <p:sp>
        <p:nvSpPr>
          <p:cNvPr id="6" name="Item 12"/>
          <p:cNvSpPr/>
          <p:nvPr/>
        </p:nvSpPr>
        <p:spPr>
          <a:xfrm>
            <a:off x="6355080" y="2011680"/>
            <a:ext cx="749808" cy="566928"/>
          </a:xfrm>
          <a:prstGeom prst="roundRect">
            <a:avLst>
              <a:gd name="adj" fmla="val 16129"/>
            </a:avLst>
          </a:prstGeom>
          <a:solidFill>
            <a:schemeClr val="accent4">
              <a:alpha val="14000"/>
            </a:schemeClr>
          </a:solidFill>
          <a:ln w="19050">
            <a:solidFill>
              <a:schemeClr val="accent4"/>
            </a:solidFill>
            <a:prstDash val="solid"/>
          </a:ln>
        </p:spPr>
      </p:sp>
      <p:sp>
        <p:nvSpPr>
          <p:cNvPr id="7" name="Text 4"/>
          <p:cNvSpPr txBox="1"/>
          <p:nvPr/>
        </p:nvSpPr>
        <p:spPr>
          <a:xfrm>
            <a:off x="6355080" y="2011680"/>
            <a:ext cx="749808" cy="56692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12</a:t>
            </a:r>
            <a:endParaRPr lang="en-US" sz="1700" dirty="0"/>
          </a:p>
        </p:txBody>
      </p:sp>
      <p:sp>
        <p:nvSpPr>
          <p:cNvPr id="8" name="Shape 5"/>
          <p:cNvSpPr/>
          <p:nvPr/>
        </p:nvSpPr>
        <p:spPr>
          <a:xfrm>
            <a:off x="7141464" y="2295144"/>
            <a:ext cx="292608" cy="0"/>
          </a:xfrm>
          <a:prstGeom prst="line">
            <a:avLst/>
          </a:prstGeom>
          <a:noFill/>
          <a:ln w="22225">
            <a:solidFill>
              <a:schemeClr val="accent2"/>
            </a:solidFill>
            <a:prstDash val="solid"/>
            <a:tailEnd type="triangle"/>
          </a:ln>
        </p:spPr>
      </p:sp>
      <p:sp>
        <p:nvSpPr>
          <p:cNvPr id="9" name="Item 7"/>
          <p:cNvSpPr/>
          <p:nvPr/>
        </p:nvSpPr>
        <p:spPr>
          <a:xfrm>
            <a:off x="7470648" y="2011680"/>
            <a:ext cx="749808" cy="566928"/>
          </a:xfrm>
          <a:prstGeom prst="roundRect">
            <a:avLst>
              <a:gd name="adj" fmla="val 16129"/>
            </a:avLst>
          </a:prstGeom>
          <a:solidFill>
            <a:schemeClr val="accent4">
              <a:alpha val="14000"/>
            </a:schemeClr>
          </a:solidFill>
          <a:ln w="19050">
            <a:solidFill>
              <a:schemeClr val="accent4"/>
            </a:solidFill>
            <a:prstDash val="solid"/>
          </a:ln>
        </p:spPr>
      </p:sp>
      <p:sp>
        <p:nvSpPr>
          <p:cNvPr id="10" name="Text 7"/>
          <p:cNvSpPr txBox="1"/>
          <p:nvPr/>
        </p:nvSpPr>
        <p:spPr>
          <a:xfrm>
            <a:off x="7470648" y="2011680"/>
            <a:ext cx="749808" cy="56692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7</a:t>
            </a:r>
            <a:endParaRPr lang="en-US" sz="1700" dirty="0"/>
          </a:p>
        </p:txBody>
      </p:sp>
      <p:sp>
        <p:nvSpPr>
          <p:cNvPr id="11" name="Shape 8"/>
          <p:cNvSpPr/>
          <p:nvPr/>
        </p:nvSpPr>
        <p:spPr>
          <a:xfrm>
            <a:off x="8257032" y="2295144"/>
            <a:ext cx="292608" cy="0"/>
          </a:xfrm>
          <a:prstGeom prst="line">
            <a:avLst/>
          </a:prstGeom>
          <a:noFill/>
          <a:ln w="22225">
            <a:solidFill>
              <a:schemeClr val="accent2"/>
            </a:solidFill>
            <a:prstDash val="solid"/>
            <a:tailEnd type="triangle"/>
          </a:ln>
        </p:spPr>
      </p:sp>
      <p:sp>
        <p:nvSpPr>
          <p:cNvPr id="12" name="Item 31"/>
          <p:cNvSpPr/>
          <p:nvPr/>
        </p:nvSpPr>
        <p:spPr>
          <a:xfrm>
            <a:off x="8586216" y="2011680"/>
            <a:ext cx="749808" cy="566928"/>
          </a:xfrm>
          <a:prstGeom prst="roundRect">
            <a:avLst>
              <a:gd name="adj" fmla="val 16129"/>
            </a:avLst>
          </a:prstGeom>
          <a:solidFill>
            <a:schemeClr val="accent4">
              <a:alpha val="14000"/>
            </a:schemeClr>
          </a:solidFill>
          <a:ln w="19050">
            <a:solidFill>
              <a:schemeClr val="accent4"/>
            </a:solidFill>
            <a:prstDash val="solid"/>
          </a:ln>
        </p:spPr>
      </p:sp>
      <p:sp>
        <p:nvSpPr>
          <p:cNvPr id="13" name="Text 10"/>
          <p:cNvSpPr txBox="1"/>
          <p:nvPr/>
        </p:nvSpPr>
        <p:spPr>
          <a:xfrm>
            <a:off x="8586216" y="2011680"/>
            <a:ext cx="749808" cy="56692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31</a:t>
            </a:r>
            <a:endParaRPr lang="en-US" sz="1700" dirty="0"/>
          </a:p>
        </p:txBody>
      </p:sp>
      <p:sp>
        <p:nvSpPr>
          <p:cNvPr id="14" name="Shape 11"/>
          <p:cNvSpPr/>
          <p:nvPr/>
        </p:nvSpPr>
        <p:spPr>
          <a:xfrm>
            <a:off x="9372600" y="2295144"/>
            <a:ext cx="292608" cy="0"/>
          </a:xfrm>
          <a:prstGeom prst="line">
            <a:avLst/>
          </a:prstGeom>
          <a:noFill/>
          <a:ln w="22225">
            <a:solidFill>
              <a:schemeClr val="accent2"/>
            </a:solidFill>
            <a:prstDash val="solid"/>
            <a:tailEnd type="triangle"/>
          </a:ln>
        </p:spPr>
      </p:sp>
      <p:sp>
        <p:nvSpPr>
          <p:cNvPr id="15" name="Item 4"/>
          <p:cNvSpPr/>
          <p:nvPr/>
        </p:nvSpPr>
        <p:spPr>
          <a:xfrm>
            <a:off x="9701784" y="2011680"/>
            <a:ext cx="749808" cy="566928"/>
          </a:xfrm>
          <a:prstGeom prst="roundRect">
            <a:avLst>
              <a:gd name="adj" fmla="val 16129"/>
            </a:avLst>
          </a:prstGeom>
          <a:solidFill>
            <a:schemeClr val="accent4">
              <a:alpha val="14000"/>
            </a:schemeClr>
          </a:solidFill>
          <a:ln w="19050">
            <a:solidFill>
              <a:schemeClr val="accent4"/>
            </a:solidFill>
            <a:prstDash val="solid"/>
          </a:ln>
        </p:spPr>
      </p:sp>
      <p:sp>
        <p:nvSpPr>
          <p:cNvPr id="16" name="Text 13"/>
          <p:cNvSpPr txBox="1"/>
          <p:nvPr/>
        </p:nvSpPr>
        <p:spPr>
          <a:xfrm>
            <a:off x="9701784" y="2011680"/>
            <a:ext cx="749808" cy="56692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4</a:t>
            </a:r>
            <a:endParaRPr lang="en-US" sz="1700" dirty="0"/>
          </a:p>
        </p:txBody>
      </p:sp>
      <p:sp>
        <p:nvSpPr>
          <p:cNvPr id="17" name="Shape 14"/>
          <p:cNvSpPr/>
          <p:nvPr/>
        </p:nvSpPr>
        <p:spPr>
          <a:xfrm>
            <a:off x="10488168" y="2295144"/>
            <a:ext cx="292608" cy="0"/>
          </a:xfrm>
          <a:prstGeom prst="line">
            <a:avLst/>
          </a:prstGeom>
          <a:noFill/>
          <a:ln w="22225">
            <a:solidFill>
              <a:schemeClr val="accent2"/>
            </a:solidFill>
            <a:prstDash val="solid"/>
            <a:tailEnd type="triangle"/>
          </a:ln>
        </p:spPr>
      </p:sp>
      <p:sp>
        <p:nvSpPr>
          <p:cNvPr id="18" name="Item 19"/>
          <p:cNvSpPr/>
          <p:nvPr/>
        </p:nvSpPr>
        <p:spPr>
          <a:xfrm>
            <a:off x="10817352" y="2011680"/>
            <a:ext cx="749808" cy="566928"/>
          </a:xfrm>
          <a:prstGeom prst="roundRect">
            <a:avLst>
              <a:gd name="adj" fmla="val 16129"/>
            </a:avLst>
          </a:prstGeom>
          <a:solidFill>
            <a:schemeClr val="accent4">
              <a:alpha val="14000"/>
            </a:schemeClr>
          </a:solidFill>
          <a:ln w="19050">
            <a:solidFill>
              <a:schemeClr val="accent4"/>
            </a:solidFill>
            <a:prstDash val="solid"/>
          </a:ln>
        </p:spPr>
      </p:sp>
      <p:sp>
        <p:nvSpPr>
          <p:cNvPr id="19" name="Text 16"/>
          <p:cNvSpPr txBox="1"/>
          <p:nvPr/>
        </p:nvSpPr>
        <p:spPr>
          <a:xfrm>
            <a:off x="10817352" y="2011680"/>
            <a:ext cx="749808" cy="56692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19</a:t>
            </a:r>
            <a:endParaRPr lang="en-US" sz="1700" dirty="0"/>
          </a:p>
        </p:txBody>
      </p:sp>
      <p:sp>
        <p:nvSpPr>
          <p:cNvPr id="20" name="Text 17"/>
          <p:cNvSpPr txBox="1"/>
          <p:nvPr/>
        </p:nvSpPr>
        <p:spPr>
          <a:xfrm>
            <a:off x="6355080" y="2651760"/>
            <a:ext cx="749808" cy="256032"/>
          </a:xfrm>
          <a:prstGeom prst="rect">
            <a:avLst/>
          </a:prstGeom>
          <a:noFill/>
          <a:ln/>
        </p:spPr>
        <p:txBody>
          <a:bodyPr wrap="square" lIns="0" tIns="0" rIns="0" bIns="0" rtlCol="0" anchor="t"/>
          <a:lstStyle/>
          <a:p>
            <a:pPr algn="ctr" indent="0" marL="0">
              <a:buNone/>
            </a:pPr>
            <a:r>
              <a:rPr lang="en-US" sz="1300" i="1" dirty="0">
                <a:solidFill>
                  <a:schemeClr val="tx2"/>
                </a:solidFill>
              </a:rPr>
              <a:t>first</a:t>
            </a:r>
            <a:endParaRPr lang="en-US" sz="1300" dirty="0"/>
          </a:p>
        </p:txBody>
      </p:sp>
      <p:sp>
        <p:nvSpPr>
          <p:cNvPr id="21" name="Text 18"/>
          <p:cNvSpPr txBox="1"/>
          <p:nvPr/>
        </p:nvSpPr>
        <p:spPr>
          <a:xfrm>
            <a:off x="10817352" y="2651760"/>
            <a:ext cx="749808" cy="256032"/>
          </a:xfrm>
          <a:prstGeom prst="rect">
            <a:avLst/>
          </a:prstGeom>
          <a:noFill/>
          <a:ln/>
        </p:spPr>
        <p:txBody>
          <a:bodyPr wrap="square" lIns="0" tIns="0" rIns="0" bIns="0" rtlCol="0" anchor="t"/>
          <a:lstStyle/>
          <a:p>
            <a:pPr algn="ctr" indent="0" marL="0">
              <a:buNone/>
            </a:pPr>
            <a:r>
              <a:rPr lang="en-US" sz="1300" i="1" dirty="0">
                <a:solidFill>
                  <a:schemeClr val="tx2"/>
                </a:solidFill>
              </a:rPr>
              <a:t>last</a:t>
            </a:r>
            <a:endParaRPr lang="en-US" sz="1300" dirty="0"/>
          </a:p>
        </p:txBody>
      </p:sp>
      <p:sp>
        <p:nvSpPr>
          <p:cNvPr id="22" name="Array"/>
          <p:cNvSpPr/>
          <p:nvPr/>
        </p:nvSpPr>
        <p:spPr>
          <a:xfrm>
            <a:off x="548640" y="3794760"/>
            <a:ext cx="2567864"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23" name="Icon tile"/>
          <p:cNvSpPr/>
          <p:nvPr/>
        </p:nvSpPr>
        <p:spPr>
          <a:xfrm>
            <a:off x="822960" y="4069080"/>
            <a:ext cx="548640" cy="548640"/>
          </a:xfrm>
          <a:prstGeom prst="roundRect">
            <a:avLst>
              <a:gd name="adj" fmla="val 24000"/>
            </a:avLst>
          </a:prstGeom>
          <a:solidFill>
            <a:schemeClr val="accent4">
              <a:alpha val="14000"/>
            </a:schemeClr>
          </a:solidFill>
          <a:ln/>
        </p:spPr>
      </p:sp>
      <p:pic>
        <p:nvPicPr>
          <p:cNvPr id="24" name="Image 0" descr="rows icon">    </p:cNvPr>
          <p:cNvPicPr>
            <a:picLocks noChangeAspect="1"/>
          </p:cNvPicPr>
          <p:nvPr/>
        </p:nvPicPr>
        <p:blipFill>
          <a:blip r:embed="rId1"/>
          <a:stretch>
            <a:fillRect/>
          </a:stretch>
        </p:blipFill>
        <p:spPr>
          <a:xfrm>
            <a:off x="938174" y="4184294"/>
            <a:ext cx="318211" cy="318211"/>
          </a:xfrm>
          <a:prstGeom prst="rect">
            <a:avLst/>
          </a:prstGeom>
        </p:spPr>
      </p:pic>
      <p:sp>
        <p:nvSpPr>
          <p:cNvPr id="25" name="Text 21"/>
          <p:cNvSpPr txBox="1"/>
          <p:nvPr/>
        </p:nvSpPr>
        <p:spPr>
          <a:xfrm>
            <a:off x="822960" y="4727448"/>
            <a:ext cx="2019224" cy="457200"/>
          </a:xfrm>
          <a:prstGeom prst="rect">
            <a:avLst/>
          </a:prstGeom>
          <a:noFill/>
          <a:ln/>
        </p:spPr>
        <p:txBody>
          <a:bodyPr wrap="square" lIns="0" tIns="0" rIns="0" bIns="0" rtlCol="0" anchor="ctr"/>
          <a:lstStyle/>
          <a:p>
            <a:pPr algn="l" indent="0" marL="0">
              <a:buNone/>
            </a:pPr>
            <a:r>
              <a:rPr lang="en-US" sz="1800" b="1" dirty="0">
                <a:solidFill>
                  <a:schemeClr val="tx1"/>
                </a:solidFill>
              </a:rPr>
              <a:t>Array</a:t>
            </a:r>
            <a:endParaRPr lang="en-US" sz="1800" dirty="0"/>
          </a:p>
        </p:txBody>
      </p:sp>
      <p:sp>
        <p:nvSpPr>
          <p:cNvPr id="26" name="Text 22"/>
          <p:cNvSpPr txBox="1"/>
          <p:nvPr/>
        </p:nvSpPr>
        <p:spPr>
          <a:xfrm>
            <a:off x="822960" y="5212080"/>
            <a:ext cx="2019224" cy="685800"/>
          </a:xfrm>
          <a:prstGeom prst="rect">
            <a:avLst/>
          </a:prstGeom>
          <a:noFill/>
          <a:ln/>
        </p:spPr>
        <p:txBody>
          <a:bodyPr wrap="square" lIns="0" tIns="0" rIns="0" bIns="0" rtlCol="0" anchor="t"/>
          <a:lstStyle/>
          <a:p>
            <a:pPr algn="l" indent="0" marL="0">
              <a:buNone/>
            </a:pPr>
            <a:r>
              <a:rPr lang="en-US" sz="1500" dirty="0">
                <a:solidFill>
                  <a:schemeClr val="tx2"/>
                </a:solidFill>
              </a:rPr>
              <a:t>Items side by side, found by their index.</a:t>
            </a:r>
            <a:endParaRPr lang="en-US" sz="1500" dirty="0"/>
          </a:p>
        </p:txBody>
      </p:sp>
      <p:sp>
        <p:nvSpPr>
          <p:cNvPr id="27" name="Linked list"/>
          <p:cNvSpPr/>
          <p:nvPr/>
        </p:nvSpPr>
        <p:spPr>
          <a:xfrm>
            <a:off x="3390824" y="3794760"/>
            <a:ext cx="2567864"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28" name="Icon tile"/>
          <p:cNvSpPr/>
          <p:nvPr/>
        </p:nvSpPr>
        <p:spPr>
          <a:xfrm>
            <a:off x="3665144" y="4069080"/>
            <a:ext cx="548640" cy="548640"/>
          </a:xfrm>
          <a:prstGeom prst="roundRect">
            <a:avLst>
              <a:gd name="adj" fmla="val 24000"/>
            </a:avLst>
          </a:prstGeom>
          <a:solidFill>
            <a:schemeClr val="accent1">
              <a:alpha val="14000"/>
            </a:schemeClr>
          </a:solidFill>
          <a:ln/>
        </p:spPr>
      </p:sp>
      <p:pic>
        <p:nvPicPr>
          <p:cNvPr id="29" name="Image 1" descr="link icon">    </p:cNvPr>
          <p:cNvPicPr>
            <a:picLocks noChangeAspect="1"/>
          </p:cNvPicPr>
          <p:nvPr/>
        </p:nvPicPr>
        <p:blipFill>
          <a:blip r:embed="rId2"/>
          <a:stretch>
            <a:fillRect/>
          </a:stretch>
        </p:blipFill>
        <p:spPr>
          <a:xfrm>
            <a:off x="3780358" y="4184294"/>
            <a:ext cx="318211" cy="318211"/>
          </a:xfrm>
          <a:prstGeom prst="rect">
            <a:avLst/>
          </a:prstGeom>
        </p:spPr>
      </p:pic>
      <p:sp>
        <p:nvSpPr>
          <p:cNvPr id="30" name="Text 25"/>
          <p:cNvSpPr txBox="1"/>
          <p:nvPr/>
        </p:nvSpPr>
        <p:spPr>
          <a:xfrm>
            <a:off x="3665144" y="4727448"/>
            <a:ext cx="2019224" cy="457200"/>
          </a:xfrm>
          <a:prstGeom prst="rect">
            <a:avLst/>
          </a:prstGeom>
          <a:noFill/>
          <a:ln/>
        </p:spPr>
        <p:txBody>
          <a:bodyPr wrap="square" lIns="0" tIns="0" rIns="0" bIns="0" rtlCol="0" anchor="ctr"/>
          <a:lstStyle/>
          <a:p>
            <a:pPr algn="l" indent="0" marL="0">
              <a:buNone/>
            </a:pPr>
            <a:r>
              <a:rPr lang="en-US" sz="1800" b="1" dirty="0">
                <a:solidFill>
                  <a:schemeClr val="tx1"/>
                </a:solidFill>
              </a:rPr>
              <a:t>Linked list</a:t>
            </a:r>
            <a:endParaRPr lang="en-US" sz="1800" dirty="0"/>
          </a:p>
        </p:txBody>
      </p:sp>
      <p:sp>
        <p:nvSpPr>
          <p:cNvPr id="31" name="Text 26"/>
          <p:cNvSpPr txBox="1"/>
          <p:nvPr/>
        </p:nvSpPr>
        <p:spPr>
          <a:xfrm>
            <a:off x="3665144" y="5212080"/>
            <a:ext cx="2019224" cy="685800"/>
          </a:xfrm>
          <a:prstGeom prst="rect">
            <a:avLst/>
          </a:prstGeom>
          <a:noFill/>
          <a:ln/>
        </p:spPr>
        <p:txBody>
          <a:bodyPr wrap="square" lIns="0" tIns="0" rIns="0" bIns="0" rtlCol="0" anchor="t"/>
          <a:lstStyle/>
          <a:p>
            <a:pPr algn="l" indent="0" marL="0">
              <a:buNone/>
            </a:pPr>
            <a:r>
              <a:rPr lang="en-US" sz="1500" dirty="0">
                <a:solidFill>
                  <a:schemeClr val="tx2"/>
                </a:solidFill>
              </a:rPr>
              <a:t>Each item points to the next one.</a:t>
            </a:r>
            <a:endParaRPr lang="en-US" sz="1500" dirty="0"/>
          </a:p>
        </p:txBody>
      </p:sp>
      <p:sp>
        <p:nvSpPr>
          <p:cNvPr id="32" name="Stack"/>
          <p:cNvSpPr/>
          <p:nvPr/>
        </p:nvSpPr>
        <p:spPr>
          <a:xfrm>
            <a:off x="6233008" y="3794760"/>
            <a:ext cx="2567864"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33" name="Icon tile"/>
          <p:cNvSpPr/>
          <p:nvPr/>
        </p:nvSpPr>
        <p:spPr>
          <a:xfrm>
            <a:off x="6507328" y="4069080"/>
            <a:ext cx="548640" cy="548640"/>
          </a:xfrm>
          <a:prstGeom prst="roundRect">
            <a:avLst>
              <a:gd name="adj" fmla="val 24000"/>
            </a:avLst>
          </a:prstGeom>
          <a:solidFill>
            <a:schemeClr val="accent5">
              <a:alpha val="14000"/>
            </a:schemeClr>
          </a:solidFill>
          <a:ln/>
        </p:spPr>
      </p:sp>
      <p:pic>
        <p:nvPicPr>
          <p:cNvPr id="34" name="Image 2" descr="stack icon">    </p:cNvPr>
          <p:cNvPicPr>
            <a:picLocks noChangeAspect="1"/>
          </p:cNvPicPr>
          <p:nvPr/>
        </p:nvPicPr>
        <p:blipFill>
          <a:blip r:embed="rId3"/>
          <a:stretch>
            <a:fillRect/>
          </a:stretch>
        </p:blipFill>
        <p:spPr>
          <a:xfrm>
            <a:off x="6622542" y="4184294"/>
            <a:ext cx="318211" cy="318211"/>
          </a:xfrm>
          <a:prstGeom prst="rect">
            <a:avLst/>
          </a:prstGeom>
        </p:spPr>
      </p:pic>
      <p:sp>
        <p:nvSpPr>
          <p:cNvPr id="35" name="Text 29"/>
          <p:cNvSpPr txBox="1"/>
          <p:nvPr/>
        </p:nvSpPr>
        <p:spPr>
          <a:xfrm>
            <a:off x="6507328" y="4727448"/>
            <a:ext cx="2019224" cy="457200"/>
          </a:xfrm>
          <a:prstGeom prst="rect">
            <a:avLst/>
          </a:prstGeom>
          <a:noFill/>
          <a:ln/>
        </p:spPr>
        <p:txBody>
          <a:bodyPr wrap="square" lIns="0" tIns="0" rIns="0" bIns="0" rtlCol="0" anchor="ctr"/>
          <a:lstStyle/>
          <a:p>
            <a:pPr algn="l" indent="0" marL="0">
              <a:buNone/>
            </a:pPr>
            <a:r>
              <a:rPr lang="en-US" sz="1800" b="1" dirty="0">
                <a:solidFill>
                  <a:schemeClr val="tx1"/>
                </a:solidFill>
              </a:rPr>
              <a:t>Stack</a:t>
            </a:r>
            <a:endParaRPr lang="en-US" sz="1800" dirty="0"/>
          </a:p>
        </p:txBody>
      </p:sp>
      <p:sp>
        <p:nvSpPr>
          <p:cNvPr id="36" name="Text 30"/>
          <p:cNvSpPr txBox="1"/>
          <p:nvPr/>
        </p:nvSpPr>
        <p:spPr>
          <a:xfrm>
            <a:off x="6507328" y="5212080"/>
            <a:ext cx="2019224" cy="685800"/>
          </a:xfrm>
          <a:prstGeom prst="rect">
            <a:avLst/>
          </a:prstGeom>
          <a:noFill/>
          <a:ln/>
        </p:spPr>
        <p:txBody>
          <a:bodyPr wrap="square" lIns="0" tIns="0" rIns="0" bIns="0" rtlCol="0" anchor="t"/>
          <a:lstStyle/>
          <a:p>
            <a:pPr algn="l" indent="0" marL="0">
              <a:buNone/>
            </a:pPr>
            <a:r>
              <a:rPr lang="en-US" sz="1500" dirty="0">
                <a:solidFill>
                  <a:schemeClr val="tx2"/>
                </a:solidFill>
              </a:rPr>
              <a:t>Last in, first out: we take from the top.</a:t>
            </a:r>
            <a:endParaRPr lang="en-US" sz="1500" dirty="0"/>
          </a:p>
        </p:txBody>
      </p:sp>
      <p:sp>
        <p:nvSpPr>
          <p:cNvPr id="37" name="Queue"/>
          <p:cNvSpPr/>
          <p:nvPr/>
        </p:nvSpPr>
        <p:spPr>
          <a:xfrm>
            <a:off x="9075191" y="3794760"/>
            <a:ext cx="2567864" cy="2240280"/>
          </a:xfrm>
          <a:prstGeom prst="roundRect">
            <a:avLst>
              <a:gd name="adj" fmla="val 4898"/>
            </a:avLst>
          </a:prstGeom>
          <a:solidFill>
            <a:schemeClr val="bg1"/>
          </a:solidFill>
          <a:ln/>
          <a:effectLst>
            <a:outerShdw sx="100000" sy="100000" kx="0" ky="0" algn="bl" rotWithShape="0" blurRad="114300" dist="31750" dir="5400000">
              <a:srgbClr val="1D2433">
                <a:alpha val="12000"/>
              </a:srgbClr>
            </a:outerShdw>
          </a:effectLst>
        </p:spPr>
      </p:sp>
      <p:sp>
        <p:nvSpPr>
          <p:cNvPr id="38" name="Icon tile"/>
          <p:cNvSpPr/>
          <p:nvPr/>
        </p:nvSpPr>
        <p:spPr>
          <a:xfrm>
            <a:off x="9349511" y="4069080"/>
            <a:ext cx="548640" cy="548640"/>
          </a:xfrm>
          <a:prstGeom prst="roundRect">
            <a:avLst>
              <a:gd name="adj" fmla="val 24000"/>
            </a:avLst>
          </a:prstGeom>
          <a:solidFill>
            <a:schemeClr val="accent3">
              <a:alpha val="14000"/>
            </a:schemeClr>
          </a:solidFill>
          <a:ln/>
        </p:spPr>
      </p:sp>
      <p:pic>
        <p:nvPicPr>
          <p:cNvPr id="39" name="Image 3" descr="queue icon">    </p:cNvPr>
          <p:cNvPicPr>
            <a:picLocks noChangeAspect="1"/>
          </p:cNvPicPr>
          <p:nvPr/>
        </p:nvPicPr>
        <p:blipFill>
          <a:blip r:embed="rId4"/>
          <a:stretch>
            <a:fillRect/>
          </a:stretch>
        </p:blipFill>
        <p:spPr>
          <a:xfrm>
            <a:off x="9464726" y="4184294"/>
            <a:ext cx="318211" cy="318211"/>
          </a:xfrm>
          <a:prstGeom prst="rect">
            <a:avLst/>
          </a:prstGeom>
        </p:spPr>
      </p:pic>
      <p:sp>
        <p:nvSpPr>
          <p:cNvPr id="40" name="Text 33"/>
          <p:cNvSpPr txBox="1"/>
          <p:nvPr/>
        </p:nvSpPr>
        <p:spPr>
          <a:xfrm>
            <a:off x="9349511" y="4727448"/>
            <a:ext cx="2019224" cy="457200"/>
          </a:xfrm>
          <a:prstGeom prst="rect">
            <a:avLst/>
          </a:prstGeom>
          <a:noFill/>
          <a:ln/>
        </p:spPr>
        <p:txBody>
          <a:bodyPr wrap="square" lIns="0" tIns="0" rIns="0" bIns="0" rtlCol="0" anchor="ctr"/>
          <a:lstStyle/>
          <a:p>
            <a:pPr algn="l" indent="0" marL="0">
              <a:buNone/>
            </a:pPr>
            <a:r>
              <a:rPr lang="en-US" sz="1800" b="1" dirty="0">
                <a:solidFill>
                  <a:schemeClr val="tx1"/>
                </a:solidFill>
              </a:rPr>
              <a:t>Queue</a:t>
            </a:r>
            <a:endParaRPr lang="en-US" sz="1800" dirty="0"/>
          </a:p>
        </p:txBody>
      </p:sp>
      <p:sp>
        <p:nvSpPr>
          <p:cNvPr id="41" name="Text 34"/>
          <p:cNvSpPr txBox="1"/>
          <p:nvPr/>
        </p:nvSpPr>
        <p:spPr>
          <a:xfrm>
            <a:off x="9349511" y="5212080"/>
            <a:ext cx="2019224" cy="685800"/>
          </a:xfrm>
          <a:prstGeom prst="rect">
            <a:avLst/>
          </a:prstGeom>
          <a:noFill/>
          <a:ln/>
        </p:spPr>
        <p:txBody>
          <a:bodyPr wrap="square" lIns="0" tIns="0" rIns="0" bIns="0" rtlCol="0" anchor="t"/>
          <a:lstStyle/>
          <a:p>
            <a:pPr algn="l" indent="0" marL="0">
              <a:buNone/>
            </a:pPr>
            <a:r>
              <a:rPr lang="en-US" sz="1500" dirty="0">
                <a:solidFill>
                  <a:schemeClr val="tx2"/>
                </a:solidFill>
              </a:rPr>
              <a:t>First in, first out, like the queue at a shop.</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Typical operations on a linear structure</a:t>
            </a:r>
            <a:endParaRPr lang="en-US" sz="3400" dirty="0"/>
          </a:p>
        </p:txBody>
      </p:sp>
      <p:sp>
        <p:nvSpPr>
          <p:cNvPr id="5" name="Search"/>
          <p:cNvSpPr/>
          <p:nvPr/>
        </p:nvSpPr>
        <p:spPr>
          <a:xfrm>
            <a:off x="548640" y="1691640"/>
            <a:ext cx="11094415" cy="731520"/>
          </a:xfrm>
          <a:prstGeom prst="roundRect">
            <a:avLst>
              <a:gd name="adj" fmla="val 150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01368"/>
            <a:ext cx="512064" cy="512064"/>
          </a:xfrm>
          <a:prstGeom prst="roundRect">
            <a:avLst>
              <a:gd name="adj" fmla="val 24000"/>
            </a:avLst>
          </a:prstGeom>
          <a:solidFill>
            <a:schemeClr val="accent2">
              <a:alpha val="14000"/>
            </a:schemeClr>
          </a:solidFill>
          <a:ln/>
        </p:spPr>
      </p:sp>
      <p:pic>
        <p:nvPicPr>
          <p:cNvPr id="7" name="Image 0" descr="magnifying glass icon">    </p:cNvPr>
          <p:cNvPicPr>
            <a:picLocks noChangeAspect="1"/>
          </p:cNvPicPr>
          <p:nvPr/>
        </p:nvPicPr>
        <p:blipFill>
          <a:blip r:embed="rId1"/>
          <a:stretch>
            <a:fillRect/>
          </a:stretch>
        </p:blipFill>
        <p:spPr>
          <a:xfrm>
            <a:off x="857341" y="1908901"/>
            <a:ext cx="296997" cy="296997"/>
          </a:xfrm>
          <a:prstGeom prst="rect">
            <a:avLst/>
          </a:prstGeom>
        </p:spPr>
      </p:pic>
      <p:sp>
        <p:nvSpPr>
          <p:cNvPr id="8" name="Text 4"/>
          <p:cNvSpPr txBox="1"/>
          <p:nvPr/>
        </p:nvSpPr>
        <p:spPr>
          <a:xfrm>
            <a:off x="1463040" y="1691640"/>
            <a:ext cx="2103120" cy="731520"/>
          </a:xfrm>
          <a:prstGeom prst="rect">
            <a:avLst/>
          </a:prstGeom>
          <a:noFill/>
          <a:ln/>
        </p:spPr>
        <p:txBody>
          <a:bodyPr wrap="square" lIns="0" tIns="0" rIns="0" bIns="0" rtlCol="0" anchor="ctr"/>
          <a:lstStyle/>
          <a:p>
            <a:pPr algn="l" indent="0" marL="0">
              <a:buNone/>
            </a:pPr>
            <a:r>
              <a:rPr lang="en-US" sz="1800" b="1" dirty="0">
                <a:solidFill>
                  <a:schemeClr val="tx1"/>
                </a:solidFill>
              </a:rPr>
              <a:t>Search</a:t>
            </a:r>
            <a:endParaRPr lang="en-US" sz="1800" dirty="0"/>
          </a:p>
        </p:txBody>
      </p:sp>
      <p:sp>
        <p:nvSpPr>
          <p:cNvPr id="9" name="Text 5"/>
          <p:cNvSpPr txBox="1"/>
          <p:nvPr/>
        </p:nvSpPr>
        <p:spPr>
          <a:xfrm>
            <a:off x="3566160" y="1691640"/>
            <a:ext cx="3459175" cy="731520"/>
          </a:xfrm>
          <a:prstGeom prst="rect">
            <a:avLst/>
          </a:prstGeom>
          <a:noFill/>
          <a:ln/>
        </p:spPr>
        <p:txBody>
          <a:bodyPr wrap="square" lIns="0" tIns="0" rIns="0" bIns="0" rtlCol="0" anchor="ctr"/>
          <a:lstStyle/>
          <a:p>
            <a:pPr algn="l" indent="0" marL="0">
              <a:buNone/>
            </a:pPr>
            <a:r>
              <a:rPr lang="en-US" sz="1500" dirty="0">
                <a:solidFill>
                  <a:schemeClr val="tx2"/>
                </a:solidFill>
              </a:rPr>
              <a:t>Find where an item with a given value is</a:t>
            </a:r>
            <a:endParaRPr lang="en-US" sz="1500" dirty="0"/>
          </a:p>
        </p:txBody>
      </p:sp>
      <p:sp>
        <p:nvSpPr>
          <p:cNvPr id="10" name="Code chip"/>
          <p:cNvSpPr/>
          <p:nvPr/>
        </p:nvSpPr>
        <p:spPr>
          <a:xfrm>
            <a:off x="7162495" y="1819656"/>
            <a:ext cx="42062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[4, 9, 7]: 9 is at index 1</a:t>
            </a:r>
            <a:endParaRPr lang="en-US" sz="1400" dirty="0"/>
          </a:p>
        </p:txBody>
      </p:sp>
      <p:sp>
        <p:nvSpPr>
          <p:cNvPr id="11" name="Insertion"/>
          <p:cNvSpPr/>
          <p:nvPr/>
        </p:nvSpPr>
        <p:spPr>
          <a:xfrm>
            <a:off x="548640" y="2551176"/>
            <a:ext cx="11094415" cy="731520"/>
          </a:xfrm>
          <a:prstGeom prst="roundRect">
            <a:avLst>
              <a:gd name="adj" fmla="val 15000"/>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660904"/>
            <a:ext cx="512064" cy="512064"/>
          </a:xfrm>
          <a:prstGeom prst="roundRect">
            <a:avLst>
              <a:gd name="adj" fmla="val 24000"/>
            </a:avLst>
          </a:prstGeom>
          <a:solidFill>
            <a:schemeClr val="accent3">
              <a:alpha val="14000"/>
            </a:schemeClr>
          </a:solidFill>
          <a:ln/>
        </p:spPr>
      </p:sp>
      <p:pic>
        <p:nvPicPr>
          <p:cNvPr id="13" name="Image 1" descr="plus circle icon">    </p:cNvPr>
          <p:cNvPicPr>
            <a:picLocks noChangeAspect="1"/>
          </p:cNvPicPr>
          <p:nvPr/>
        </p:nvPicPr>
        <p:blipFill>
          <a:blip r:embed="rId2"/>
          <a:stretch>
            <a:fillRect/>
          </a:stretch>
        </p:blipFill>
        <p:spPr>
          <a:xfrm>
            <a:off x="857341" y="2768437"/>
            <a:ext cx="296997" cy="296997"/>
          </a:xfrm>
          <a:prstGeom prst="rect">
            <a:avLst/>
          </a:prstGeom>
        </p:spPr>
      </p:pic>
      <p:sp>
        <p:nvSpPr>
          <p:cNvPr id="14" name="Text 9"/>
          <p:cNvSpPr txBox="1"/>
          <p:nvPr/>
        </p:nvSpPr>
        <p:spPr>
          <a:xfrm>
            <a:off x="1463040" y="2551176"/>
            <a:ext cx="2103120" cy="731520"/>
          </a:xfrm>
          <a:prstGeom prst="rect">
            <a:avLst/>
          </a:prstGeom>
          <a:noFill/>
          <a:ln/>
        </p:spPr>
        <p:txBody>
          <a:bodyPr wrap="square" lIns="0" tIns="0" rIns="0" bIns="0" rtlCol="0" anchor="ctr"/>
          <a:lstStyle/>
          <a:p>
            <a:pPr algn="l" indent="0" marL="0">
              <a:buNone/>
            </a:pPr>
            <a:r>
              <a:rPr lang="en-US" sz="1800" b="1" dirty="0">
                <a:solidFill>
                  <a:schemeClr val="tx1"/>
                </a:solidFill>
              </a:rPr>
              <a:t>Insertion</a:t>
            </a:r>
            <a:endParaRPr lang="en-US" sz="1800" dirty="0"/>
          </a:p>
        </p:txBody>
      </p:sp>
      <p:sp>
        <p:nvSpPr>
          <p:cNvPr id="15" name="Text 10"/>
          <p:cNvSpPr txBox="1"/>
          <p:nvPr/>
        </p:nvSpPr>
        <p:spPr>
          <a:xfrm>
            <a:off x="3566160" y="2551176"/>
            <a:ext cx="3459175" cy="731520"/>
          </a:xfrm>
          <a:prstGeom prst="rect">
            <a:avLst/>
          </a:prstGeom>
          <a:noFill/>
          <a:ln/>
        </p:spPr>
        <p:txBody>
          <a:bodyPr wrap="square" lIns="0" tIns="0" rIns="0" bIns="0" rtlCol="0" anchor="ctr"/>
          <a:lstStyle/>
          <a:p>
            <a:pPr algn="l" indent="0" marL="0">
              <a:buNone/>
            </a:pPr>
            <a:r>
              <a:rPr lang="en-US" sz="1500" dirty="0">
                <a:solidFill>
                  <a:schemeClr val="tx2"/>
                </a:solidFill>
              </a:rPr>
              <a:t>Add new items to the list</a:t>
            </a:r>
            <a:endParaRPr lang="en-US" sz="1500" dirty="0"/>
          </a:p>
        </p:txBody>
      </p:sp>
      <p:sp>
        <p:nvSpPr>
          <p:cNvPr id="16" name="Code chip"/>
          <p:cNvSpPr/>
          <p:nvPr/>
        </p:nvSpPr>
        <p:spPr>
          <a:xfrm>
            <a:off x="7162495" y="2679192"/>
            <a:ext cx="42062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[4, 9] → [4, 9, 7]</a:t>
            </a:r>
            <a:endParaRPr lang="en-US" sz="1400" dirty="0"/>
          </a:p>
        </p:txBody>
      </p:sp>
      <p:sp>
        <p:nvSpPr>
          <p:cNvPr id="17" name="Deletion"/>
          <p:cNvSpPr/>
          <p:nvPr/>
        </p:nvSpPr>
        <p:spPr>
          <a:xfrm>
            <a:off x="548640" y="3410712"/>
            <a:ext cx="11094415" cy="731520"/>
          </a:xfrm>
          <a:prstGeom prst="roundRect">
            <a:avLst>
              <a:gd name="adj" fmla="val 15000"/>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520440"/>
            <a:ext cx="512064" cy="512064"/>
          </a:xfrm>
          <a:prstGeom prst="roundRect">
            <a:avLst>
              <a:gd name="adj" fmla="val 24000"/>
            </a:avLst>
          </a:prstGeom>
          <a:solidFill>
            <a:srgbClr val="C0392B">
              <a:alpha val="14000"/>
            </a:srgbClr>
          </a:solidFill>
          <a:ln/>
        </p:spPr>
      </p:sp>
      <p:pic>
        <p:nvPicPr>
          <p:cNvPr id="19" name="Image 2" descr="minus circle icon">    </p:cNvPr>
          <p:cNvPicPr>
            <a:picLocks noChangeAspect="1"/>
          </p:cNvPicPr>
          <p:nvPr/>
        </p:nvPicPr>
        <p:blipFill>
          <a:blip r:embed="rId3"/>
          <a:stretch>
            <a:fillRect/>
          </a:stretch>
        </p:blipFill>
        <p:spPr>
          <a:xfrm>
            <a:off x="857341" y="3627973"/>
            <a:ext cx="296997" cy="296997"/>
          </a:xfrm>
          <a:prstGeom prst="rect">
            <a:avLst/>
          </a:prstGeom>
        </p:spPr>
      </p:pic>
      <p:sp>
        <p:nvSpPr>
          <p:cNvPr id="20" name="Text 14"/>
          <p:cNvSpPr txBox="1"/>
          <p:nvPr/>
        </p:nvSpPr>
        <p:spPr>
          <a:xfrm>
            <a:off x="1463040" y="3410712"/>
            <a:ext cx="2103120" cy="731520"/>
          </a:xfrm>
          <a:prstGeom prst="rect">
            <a:avLst/>
          </a:prstGeom>
          <a:noFill/>
          <a:ln/>
        </p:spPr>
        <p:txBody>
          <a:bodyPr wrap="square" lIns="0" tIns="0" rIns="0" bIns="0" rtlCol="0" anchor="ctr"/>
          <a:lstStyle/>
          <a:p>
            <a:pPr algn="l" indent="0" marL="0">
              <a:buNone/>
            </a:pPr>
            <a:r>
              <a:rPr lang="en-US" sz="1800" b="1" dirty="0">
                <a:solidFill>
                  <a:schemeClr val="tx1"/>
                </a:solidFill>
              </a:rPr>
              <a:t>Deletion</a:t>
            </a:r>
            <a:endParaRPr lang="en-US" sz="1800" dirty="0"/>
          </a:p>
        </p:txBody>
      </p:sp>
      <p:sp>
        <p:nvSpPr>
          <p:cNvPr id="21" name="Text 15"/>
          <p:cNvSpPr txBox="1"/>
          <p:nvPr/>
        </p:nvSpPr>
        <p:spPr>
          <a:xfrm>
            <a:off x="3566160" y="3410712"/>
            <a:ext cx="3459175" cy="731520"/>
          </a:xfrm>
          <a:prstGeom prst="rect">
            <a:avLst/>
          </a:prstGeom>
          <a:noFill/>
          <a:ln/>
        </p:spPr>
        <p:txBody>
          <a:bodyPr wrap="square" lIns="0" tIns="0" rIns="0" bIns="0" rtlCol="0" anchor="ctr"/>
          <a:lstStyle/>
          <a:p>
            <a:pPr algn="l" indent="0" marL="0">
              <a:buNone/>
            </a:pPr>
            <a:r>
              <a:rPr lang="en-US" sz="1500" dirty="0">
                <a:solidFill>
                  <a:schemeClr val="tx2"/>
                </a:solidFill>
              </a:rPr>
              <a:t>Remove an item from the list</a:t>
            </a:r>
            <a:endParaRPr lang="en-US" sz="1500" dirty="0"/>
          </a:p>
        </p:txBody>
      </p:sp>
      <p:sp>
        <p:nvSpPr>
          <p:cNvPr id="22" name="Code chip"/>
          <p:cNvSpPr/>
          <p:nvPr/>
        </p:nvSpPr>
        <p:spPr>
          <a:xfrm>
            <a:off x="7162495" y="3538728"/>
            <a:ext cx="42062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[4, 9, 7] → [4, 7]</a:t>
            </a:r>
            <a:endParaRPr lang="en-US" sz="1400" dirty="0"/>
          </a:p>
        </p:txBody>
      </p:sp>
      <p:sp>
        <p:nvSpPr>
          <p:cNvPr id="23" name="Sorting"/>
          <p:cNvSpPr/>
          <p:nvPr/>
        </p:nvSpPr>
        <p:spPr>
          <a:xfrm>
            <a:off x="548640" y="4270248"/>
            <a:ext cx="11094415" cy="731520"/>
          </a:xfrm>
          <a:prstGeom prst="roundRect">
            <a:avLst>
              <a:gd name="adj" fmla="val 15000"/>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749808" y="4379976"/>
            <a:ext cx="512064" cy="512064"/>
          </a:xfrm>
          <a:prstGeom prst="roundRect">
            <a:avLst>
              <a:gd name="adj" fmla="val 24000"/>
            </a:avLst>
          </a:prstGeom>
          <a:solidFill>
            <a:schemeClr val="accent4">
              <a:alpha val="14000"/>
            </a:schemeClr>
          </a:solidFill>
          <a:ln/>
        </p:spPr>
      </p:sp>
      <p:pic>
        <p:nvPicPr>
          <p:cNvPr id="25" name="Image 3" descr="sort ascending icon">    </p:cNvPr>
          <p:cNvPicPr>
            <a:picLocks noChangeAspect="1"/>
          </p:cNvPicPr>
          <p:nvPr/>
        </p:nvPicPr>
        <p:blipFill>
          <a:blip r:embed="rId4"/>
          <a:stretch>
            <a:fillRect/>
          </a:stretch>
        </p:blipFill>
        <p:spPr>
          <a:xfrm>
            <a:off x="857341" y="4487509"/>
            <a:ext cx="296997" cy="296997"/>
          </a:xfrm>
          <a:prstGeom prst="rect">
            <a:avLst/>
          </a:prstGeom>
        </p:spPr>
      </p:pic>
      <p:sp>
        <p:nvSpPr>
          <p:cNvPr id="26" name="Text 19"/>
          <p:cNvSpPr txBox="1"/>
          <p:nvPr/>
        </p:nvSpPr>
        <p:spPr>
          <a:xfrm>
            <a:off x="1463040" y="4270248"/>
            <a:ext cx="2103120" cy="731520"/>
          </a:xfrm>
          <a:prstGeom prst="rect">
            <a:avLst/>
          </a:prstGeom>
          <a:noFill/>
          <a:ln/>
        </p:spPr>
        <p:txBody>
          <a:bodyPr wrap="square" lIns="0" tIns="0" rIns="0" bIns="0" rtlCol="0" anchor="ctr"/>
          <a:lstStyle/>
          <a:p>
            <a:pPr algn="l" indent="0" marL="0">
              <a:buNone/>
            </a:pPr>
            <a:r>
              <a:rPr lang="en-US" sz="1800" b="1" dirty="0">
                <a:solidFill>
                  <a:schemeClr val="tx1"/>
                </a:solidFill>
              </a:rPr>
              <a:t>Sorting</a:t>
            </a:r>
            <a:endParaRPr lang="en-US" sz="1800" dirty="0"/>
          </a:p>
        </p:txBody>
      </p:sp>
      <p:sp>
        <p:nvSpPr>
          <p:cNvPr id="27" name="Text 20"/>
          <p:cNvSpPr txBox="1"/>
          <p:nvPr/>
        </p:nvSpPr>
        <p:spPr>
          <a:xfrm>
            <a:off x="3566160" y="4270248"/>
            <a:ext cx="3459175" cy="731520"/>
          </a:xfrm>
          <a:prstGeom prst="rect">
            <a:avLst/>
          </a:prstGeom>
          <a:noFill/>
          <a:ln/>
        </p:spPr>
        <p:txBody>
          <a:bodyPr wrap="square" lIns="0" tIns="0" rIns="0" bIns="0" rtlCol="0" anchor="ctr"/>
          <a:lstStyle/>
          <a:p>
            <a:pPr algn="l" indent="0" marL="0">
              <a:buNone/>
            </a:pPr>
            <a:r>
              <a:rPr lang="en-US" sz="1500" dirty="0">
                <a:solidFill>
                  <a:schemeClr val="tx2"/>
                </a:solidFill>
              </a:rPr>
              <a:t>Arrange the items in an order</a:t>
            </a:r>
            <a:endParaRPr lang="en-US" sz="1500" dirty="0"/>
          </a:p>
        </p:txBody>
      </p:sp>
      <p:sp>
        <p:nvSpPr>
          <p:cNvPr id="28" name="Code chip"/>
          <p:cNvSpPr/>
          <p:nvPr/>
        </p:nvSpPr>
        <p:spPr>
          <a:xfrm>
            <a:off x="7162495" y="4398264"/>
            <a:ext cx="42062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[4, 9, 7] → [4, 7, 9]</a:t>
            </a:r>
            <a:endParaRPr lang="en-US" sz="1400" dirty="0"/>
          </a:p>
        </p:txBody>
      </p:sp>
      <p:sp>
        <p:nvSpPr>
          <p:cNvPr id="29" name="Merging"/>
          <p:cNvSpPr/>
          <p:nvPr/>
        </p:nvSpPr>
        <p:spPr>
          <a:xfrm>
            <a:off x="548640" y="5129784"/>
            <a:ext cx="11094415" cy="731520"/>
          </a:xfrm>
          <a:prstGeom prst="roundRect">
            <a:avLst>
              <a:gd name="adj" fmla="val 15000"/>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749808" y="5239512"/>
            <a:ext cx="512064" cy="512064"/>
          </a:xfrm>
          <a:prstGeom prst="roundRect">
            <a:avLst>
              <a:gd name="adj" fmla="val 24000"/>
            </a:avLst>
          </a:prstGeom>
          <a:solidFill>
            <a:schemeClr val="accent5">
              <a:alpha val="14000"/>
            </a:schemeClr>
          </a:solidFill>
          <a:ln/>
        </p:spPr>
      </p:sp>
      <p:pic>
        <p:nvPicPr>
          <p:cNvPr id="31" name="Image 4" descr="arrows merge icon">    </p:cNvPr>
          <p:cNvPicPr>
            <a:picLocks noChangeAspect="1"/>
          </p:cNvPicPr>
          <p:nvPr/>
        </p:nvPicPr>
        <p:blipFill>
          <a:blip r:embed="rId5"/>
          <a:stretch>
            <a:fillRect/>
          </a:stretch>
        </p:blipFill>
        <p:spPr>
          <a:xfrm>
            <a:off x="857341" y="5347045"/>
            <a:ext cx="296997" cy="296997"/>
          </a:xfrm>
          <a:prstGeom prst="rect">
            <a:avLst/>
          </a:prstGeom>
        </p:spPr>
      </p:pic>
      <p:sp>
        <p:nvSpPr>
          <p:cNvPr id="32" name="Text 24"/>
          <p:cNvSpPr txBox="1"/>
          <p:nvPr/>
        </p:nvSpPr>
        <p:spPr>
          <a:xfrm>
            <a:off x="1463040" y="5129784"/>
            <a:ext cx="2103120" cy="731520"/>
          </a:xfrm>
          <a:prstGeom prst="rect">
            <a:avLst/>
          </a:prstGeom>
          <a:noFill/>
          <a:ln/>
        </p:spPr>
        <p:txBody>
          <a:bodyPr wrap="square" lIns="0" tIns="0" rIns="0" bIns="0" rtlCol="0" anchor="ctr"/>
          <a:lstStyle/>
          <a:p>
            <a:pPr algn="l" indent="0" marL="0">
              <a:buNone/>
            </a:pPr>
            <a:r>
              <a:rPr lang="en-US" sz="1800" b="1" dirty="0">
                <a:solidFill>
                  <a:schemeClr val="tx1"/>
                </a:solidFill>
              </a:rPr>
              <a:t>Merging</a:t>
            </a:r>
            <a:endParaRPr lang="en-US" sz="1800" dirty="0"/>
          </a:p>
        </p:txBody>
      </p:sp>
      <p:sp>
        <p:nvSpPr>
          <p:cNvPr id="33" name="Text 25"/>
          <p:cNvSpPr txBox="1"/>
          <p:nvPr/>
        </p:nvSpPr>
        <p:spPr>
          <a:xfrm>
            <a:off x="3566160" y="5129784"/>
            <a:ext cx="3459175" cy="731520"/>
          </a:xfrm>
          <a:prstGeom prst="rect">
            <a:avLst/>
          </a:prstGeom>
          <a:noFill/>
          <a:ln/>
        </p:spPr>
        <p:txBody>
          <a:bodyPr wrap="square" lIns="0" tIns="0" rIns="0" bIns="0" rtlCol="0" anchor="ctr"/>
          <a:lstStyle/>
          <a:p>
            <a:pPr algn="l" indent="0" marL="0">
              <a:buNone/>
            </a:pPr>
            <a:r>
              <a:rPr lang="en-US" sz="1500" dirty="0">
                <a:solidFill>
                  <a:schemeClr val="tx2"/>
                </a:solidFill>
              </a:rPr>
              <a:t>Combine two lists into one</a:t>
            </a:r>
            <a:endParaRPr lang="en-US" sz="1500" dirty="0"/>
          </a:p>
        </p:txBody>
      </p:sp>
      <p:sp>
        <p:nvSpPr>
          <p:cNvPr id="34" name="Code chip"/>
          <p:cNvSpPr/>
          <p:nvPr/>
        </p:nvSpPr>
        <p:spPr>
          <a:xfrm>
            <a:off x="7162495" y="5257800"/>
            <a:ext cx="42062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[1, 4] + [3, 9] → [1, 3, 4, 9]</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Non-linear: items with several links</a:t>
            </a:r>
            <a:endParaRPr lang="en-US" sz="3400" dirty="0"/>
          </a:p>
        </p:txBody>
      </p:sp>
      <p:sp>
        <p:nvSpPr>
          <p:cNvPr id="5" name="Text 2"/>
          <p:cNvSpPr txBox="1"/>
          <p:nvPr/>
        </p:nvSpPr>
        <p:spPr>
          <a:xfrm>
            <a:off x="548640" y="1783080"/>
            <a:ext cx="5486400" cy="42062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In a non-linear data structure, there’s no single line through the items.</a:t>
            </a:r>
            <a:endParaRPr lang="en-US" sz="1700" dirty="0"/>
          </a:p>
          <a:p>
            <a:pPr marL="228600" indent="-228600">
              <a:spcAft>
                <a:spcPts val="1000"/>
              </a:spcAft>
              <a:buSzPct val="100000"/>
              <a:buChar char="•"/>
            </a:pPr>
            <a:r>
              <a:rPr lang="en-US" sz="1700" dirty="0">
                <a:solidFill>
                  <a:schemeClr val="tx1"/>
                </a:solidFill>
              </a:rPr>
              <a:t>An item can link to several others, so the data sits on more than one level.</a:t>
            </a:r>
            <a:endParaRPr lang="en-US" sz="1700" dirty="0"/>
          </a:p>
          <a:p>
            <a:pPr marL="228600" indent="-228600">
              <a:spcAft>
                <a:spcPts val="1000"/>
              </a:spcAft>
              <a:buSzPct val="100000"/>
              <a:buChar char="•"/>
            </a:pPr>
            <a:r>
              <a:rPr lang="en-US" sz="1700" dirty="0">
                <a:solidFill>
                  <a:schemeClr val="tx1"/>
                </a:solidFill>
              </a:rPr>
              <a:t>There’s no one next item, so visiting them all needs a plan, such as going level by level.</a:t>
            </a:r>
            <a:endParaRPr lang="en-US" sz="1700" dirty="0"/>
          </a:p>
          <a:p>
            <a:pPr marL="228600" indent="-228600">
              <a:buSzPct val="100000"/>
              <a:buChar char="•"/>
            </a:pPr>
            <a:r>
              <a:rPr lang="en-US" sz="1700" dirty="0">
                <a:solidFill>
                  <a:schemeClr val="tx1"/>
                </a:solidFill>
              </a:rPr>
              <a:t>Trees, binary search trees (BSTs) and graphs are examples.</a:t>
            </a:r>
            <a:endParaRPr lang="en-US" sz="1700" dirty="0"/>
          </a:p>
        </p:txBody>
      </p:sp>
      <p:sp>
        <p:nvSpPr>
          <p:cNvPr id="6" name="Shape 3"/>
          <p:cNvSpPr/>
          <p:nvPr/>
        </p:nvSpPr>
        <p:spPr>
          <a:xfrm flipH="1">
            <a:off x="7726680" y="2308860"/>
            <a:ext cx="1280160" cy="502920"/>
          </a:xfrm>
          <a:prstGeom prst="line">
            <a:avLst/>
          </a:prstGeom>
          <a:noFill/>
          <a:ln w="19050">
            <a:solidFill>
              <a:schemeClr val="accent2"/>
            </a:solidFill>
            <a:prstDash val="solid"/>
          </a:ln>
        </p:spPr>
      </p:sp>
      <p:sp>
        <p:nvSpPr>
          <p:cNvPr id="7" name="Shape 4"/>
          <p:cNvSpPr/>
          <p:nvPr/>
        </p:nvSpPr>
        <p:spPr>
          <a:xfrm>
            <a:off x="9006840" y="2308860"/>
            <a:ext cx="1280160" cy="502920"/>
          </a:xfrm>
          <a:prstGeom prst="line">
            <a:avLst/>
          </a:prstGeom>
          <a:noFill/>
          <a:ln w="19050">
            <a:solidFill>
              <a:schemeClr val="accent2"/>
            </a:solidFill>
            <a:prstDash val="solid"/>
          </a:ln>
        </p:spPr>
      </p:sp>
      <p:sp>
        <p:nvSpPr>
          <p:cNvPr id="8" name="Shape 5"/>
          <p:cNvSpPr/>
          <p:nvPr/>
        </p:nvSpPr>
        <p:spPr>
          <a:xfrm flipH="1">
            <a:off x="7086600" y="3314700"/>
            <a:ext cx="640080" cy="502920"/>
          </a:xfrm>
          <a:prstGeom prst="line">
            <a:avLst/>
          </a:prstGeom>
          <a:noFill/>
          <a:ln w="19050">
            <a:solidFill>
              <a:schemeClr val="accent2"/>
            </a:solidFill>
            <a:prstDash val="solid"/>
          </a:ln>
        </p:spPr>
      </p:sp>
      <p:sp>
        <p:nvSpPr>
          <p:cNvPr id="9" name="Shape 6"/>
          <p:cNvSpPr/>
          <p:nvPr/>
        </p:nvSpPr>
        <p:spPr>
          <a:xfrm>
            <a:off x="7726680" y="3314700"/>
            <a:ext cx="640080" cy="502920"/>
          </a:xfrm>
          <a:prstGeom prst="line">
            <a:avLst/>
          </a:prstGeom>
          <a:noFill/>
          <a:ln w="19050">
            <a:solidFill>
              <a:schemeClr val="accent2"/>
            </a:solidFill>
            <a:prstDash val="solid"/>
          </a:ln>
        </p:spPr>
      </p:sp>
      <p:sp>
        <p:nvSpPr>
          <p:cNvPr id="10" name="Shape 7"/>
          <p:cNvSpPr/>
          <p:nvPr/>
        </p:nvSpPr>
        <p:spPr>
          <a:xfrm flipH="1">
            <a:off x="9646920" y="3314700"/>
            <a:ext cx="640080" cy="502920"/>
          </a:xfrm>
          <a:prstGeom prst="line">
            <a:avLst/>
          </a:prstGeom>
          <a:noFill/>
          <a:ln w="19050">
            <a:solidFill>
              <a:schemeClr val="accent2"/>
            </a:solidFill>
            <a:prstDash val="solid"/>
          </a:ln>
        </p:spPr>
      </p:sp>
      <p:sp>
        <p:nvSpPr>
          <p:cNvPr id="11" name="Shape 8"/>
          <p:cNvSpPr/>
          <p:nvPr/>
        </p:nvSpPr>
        <p:spPr>
          <a:xfrm>
            <a:off x="10287000" y="3314700"/>
            <a:ext cx="640080" cy="502920"/>
          </a:xfrm>
          <a:prstGeom prst="line">
            <a:avLst/>
          </a:prstGeom>
          <a:noFill/>
          <a:ln w="19050">
            <a:solidFill>
              <a:schemeClr val="accent2"/>
            </a:solidFill>
            <a:prstDash val="solid"/>
          </a:ln>
        </p:spPr>
      </p:sp>
      <p:sp>
        <p:nvSpPr>
          <p:cNvPr id="12" name="Node 20"/>
          <p:cNvSpPr/>
          <p:nvPr/>
        </p:nvSpPr>
        <p:spPr>
          <a:xfrm>
            <a:off x="6720840" y="381762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13" name="Text 10"/>
          <p:cNvSpPr txBox="1"/>
          <p:nvPr/>
        </p:nvSpPr>
        <p:spPr>
          <a:xfrm>
            <a:off x="6720840" y="381762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20</a:t>
            </a:r>
            <a:endParaRPr lang="en-US" sz="1600" dirty="0"/>
          </a:p>
        </p:txBody>
      </p:sp>
      <p:sp>
        <p:nvSpPr>
          <p:cNvPr id="14" name="Node 30"/>
          <p:cNvSpPr/>
          <p:nvPr/>
        </p:nvSpPr>
        <p:spPr>
          <a:xfrm>
            <a:off x="7360920" y="281178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15" name="Text 12"/>
          <p:cNvSpPr txBox="1"/>
          <p:nvPr/>
        </p:nvSpPr>
        <p:spPr>
          <a:xfrm>
            <a:off x="7360920" y="281178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30</a:t>
            </a:r>
            <a:endParaRPr lang="en-US" sz="1600" dirty="0"/>
          </a:p>
        </p:txBody>
      </p:sp>
      <p:sp>
        <p:nvSpPr>
          <p:cNvPr id="16" name="Node 40"/>
          <p:cNvSpPr/>
          <p:nvPr/>
        </p:nvSpPr>
        <p:spPr>
          <a:xfrm>
            <a:off x="8001000" y="381762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17" name="Text 14"/>
          <p:cNvSpPr txBox="1"/>
          <p:nvPr/>
        </p:nvSpPr>
        <p:spPr>
          <a:xfrm>
            <a:off x="8001000" y="381762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40</a:t>
            </a:r>
            <a:endParaRPr lang="en-US" sz="1600" dirty="0"/>
          </a:p>
        </p:txBody>
      </p:sp>
      <p:sp>
        <p:nvSpPr>
          <p:cNvPr id="18" name="Node 50"/>
          <p:cNvSpPr/>
          <p:nvPr/>
        </p:nvSpPr>
        <p:spPr>
          <a:xfrm>
            <a:off x="8641080" y="180594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19" name="Text 16"/>
          <p:cNvSpPr txBox="1"/>
          <p:nvPr/>
        </p:nvSpPr>
        <p:spPr>
          <a:xfrm>
            <a:off x="8641080" y="180594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50</a:t>
            </a:r>
            <a:endParaRPr lang="en-US" sz="1600" dirty="0"/>
          </a:p>
        </p:txBody>
      </p:sp>
      <p:sp>
        <p:nvSpPr>
          <p:cNvPr id="20" name="Node 60"/>
          <p:cNvSpPr/>
          <p:nvPr/>
        </p:nvSpPr>
        <p:spPr>
          <a:xfrm>
            <a:off x="9281160" y="381762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21" name="Text 18"/>
          <p:cNvSpPr txBox="1"/>
          <p:nvPr/>
        </p:nvSpPr>
        <p:spPr>
          <a:xfrm>
            <a:off x="9281160" y="381762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60</a:t>
            </a:r>
            <a:endParaRPr lang="en-US" sz="1600" dirty="0"/>
          </a:p>
        </p:txBody>
      </p:sp>
      <p:sp>
        <p:nvSpPr>
          <p:cNvPr id="22" name="Node 70"/>
          <p:cNvSpPr/>
          <p:nvPr/>
        </p:nvSpPr>
        <p:spPr>
          <a:xfrm>
            <a:off x="9921240" y="281178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23" name="Text 20"/>
          <p:cNvSpPr txBox="1"/>
          <p:nvPr/>
        </p:nvSpPr>
        <p:spPr>
          <a:xfrm>
            <a:off x="9921240" y="281178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70</a:t>
            </a:r>
            <a:endParaRPr lang="en-US" sz="1600" dirty="0"/>
          </a:p>
        </p:txBody>
      </p:sp>
      <p:sp>
        <p:nvSpPr>
          <p:cNvPr id="24" name="Node 80"/>
          <p:cNvSpPr/>
          <p:nvPr/>
        </p:nvSpPr>
        <p:spPr>
          <a:xfrm>
            <a:off x="10561320" y="3817620"/>
            <a:ext cx="731520" cy="502920"/>
          </a:xfrm>
          <a:prstGeom prst="roundRect">
            <a:avLst>
              <a:gd name="adj" fmla="val 18182"/>
            </a:avLst>
          </a:prstGeom>
          <a:solidFill>
            <a:schemeClr val="accent4">
              <a:alpha val="14000"/>
            </a:schemeClr>
          </a:solidFill>
          <a:ln w="19050">
            <a:solidFill>
              <a:schemeClr val="accent4"/>
            </a:solidFill>
            <a:prstDash val="solid"/>
          </a:ln>
        </p:spPr>
      </p:sp>
      <p:sp>
        <p:nvSpPr>
          <p:cNvPr id="25" name="Text 22"/>
          <p:cNvSpPr txBox="1"/>
          <p:nvPr/>
        </p:nvSpPr>
        <p:spPr>
          <a:xfrm>
            <a:off x="10561320" y="3817620"/>
            <a:ext cx="731520"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80</a:t>
            </a:r>
            <a:endParaRPr lang="en-US" sz="1600" dirty="0"/>
          </a:p>
        </p:txBody>
      </p:sp>
      <p:sp>
        <p:nvSpPr>
          <p:cNvPr id="26" name="Text 23"/>
          <p:cNvSpPr txBox="1"/>
          <p:nvPr/>
        </p:nvSpPr>
        <p:spPr>
          <a:xfrm>
            <a:off x="6400800" y="4572000"/>
            <a:ext cx="5239512" cy="502920"/>
          </a:xfrm>
          <a:prstGeom prst="rect">
            <a:avLst/>
          </a:prstGeom>
          <a:noFill/>
          <a:ln/>
        </p:spPr>
        <p:txBody>
          <a:bodyPr wrap="square" lIns="0" tIns="0" rIns="0" bIns="0" rtlCol="0" anchor="t"/>
          <a:lstStyle/>
          <a:p>
            <a:pPr algn="ctr" indent="0" marL="0">
              <a:buNone/>
            </a:pPr>
            <a:r>
              <a:rPr lang="en-US" sz="1300" i="1" dirty="0">
                <a:solidFill>
                  <a:schemeClr val="tx2"/>
                </a:solidFill>
              </a:rPr>
              <a:t>A binary search tree: smaller values go to the left, bigger values to the right.</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Linear and non-linear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of these is a non-linear data structure?</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array</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linked list</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queue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tree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Linear and non-linear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of these is a non-linear data structure?</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array</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A linked list</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A queue</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A tree</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In a tree, an item can link to several children, so there’s no single line from first to last. Arrays, linked lists and queues all keep their items in a sequence, so they’re linear.</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Two families: Collection and Map</a:t>
            </a:r>
            <a:endParaRPr lang="en-US" sz="3400" dirty="0"/>
          </a:p>
        </p:txBody>
      </p:sp>
      <p:sp>
        <p:nvSpPr>
          <p:cNvPr id="5" name="Collection"/>
          <p:cNvSpPr/>
          <p:nvPr/>
        </p:nvSpPr>
        <p:spPr>
          <a:xfrm>
            <a:off x="548640" y="1691640"/>
            <a:ext cx="5387188" cy="3291840"/>
          </a:xfrm>
          <a:prstGeom prst="roundRect">
            <a:avLst>
              <a:gd name="adj" fmla="val 3333"/>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3">
              <a:alpha val="14000"/>
            </a:schemeClr>
          </a:solidFill>
          <a:ln/>
        </p:spPr>
      </p:sp>
      <p:pic>
        <p:nvPicPr>
          <p:cNvPr id="7" name="Image 0" descr="stack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algn="l" indent="0" marL="0">
              <a:buNone/>
            </a:pPr>
            <a:r>
              <a:rPr lang="en-US" sz="2400" b="1" dirty="0">
                <a:solidFill>
                  <a:schemeClr val="accent3"/>
                </a:solidFill>
                <a:latin typeface="Consolas" pitchFamily="34" charset="0"/>
                <a:ea typeface="Consolas" pitchFamily="34" charset="-122"/>
                <a:cs typeface="Consolas" pitchFamily="34" charset="-120"/>
              </a:rPr>
              <a:t>Collection</a:t>
            </a:r>
            <a:endParaRPr lang="en-US" sz="2400" dirty="0"/>
          </a:p>
        </p:txBody>
      </p:sp>
      <p:sp>
        <p:nvSpPr>
          <p:cNvPr id="9" name="Text 5"/>
          <p:cNvSpPr txBox="1"/>
          <p:nvPr/>
        </p:nvSpPr>
        <p:spPr>
          <a:xfrm>
            <a:off x="868680" y="2880360"/>
            <a:ext cx="4747108" cy="18288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Holds single items, such as </a:t>
            </a:r>
            <a:r>
              <a:rPr lang="en-US" sz="1600" dirty="0">
                <a:solidFill>
                  <a:schemeClr val="accent2"/>
                </a:solidFill>
                <a:latin typeface="Consolas" pitchFamily="34" charset="0"/>
                <a:ea typeface="Consolas" pitchFamily="34" charset="-122"/>
                <a:cs typeface="Consolas" pitchFamily="34" charset="-120"/>
              </a:rPr>
              <a:t>"Ann"</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"Bob"</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"Cara"</a:t>
            </a:r>
            <a:endParaRPr lang="en-US" sz="1600" dirty="0"/>
          </a:p>
          <a:p>
            <a:pPr marL="228600" indent="-228600">
              <a:spcAft>
                <a:spcPts val="1000"/>
              </a:spcAft>
              <a:buSzPct val="100000"/>
              <a:buChar char="•"/>
            </a:pPr>
            <a:r>
              <a:rPr lang="en-US" sz="1600" dirty="0">
                <a:solidFill>
                  <a:schemeClr val="accent2"/>
                </a:solidFill>
                <a:latin typeface="Consolas" pitchFamily="34" charset="0"/>
                <a:ea typeface="Consolas" pitchFamily="34" charset="-122"/>
                <a:cs typeface="Consolas" pitchFamily="34" charset="-120"/>
              </a:rPr>
              <a:t>List</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Set</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Queue</a:t>
            </a:r>
            <a:r>
              <a:rPr lang="en-US" sz="1600" dirty="0">
                <a:solidFill>
                  <a:schemeClr val="tx1"/>
                </a:solidFill>
              </a:rPr>
              <a:t> all extend it</a:t>
            </a:r>
            <a:endParaRPr lang="en-US" sz="1600" dirty="0"/>
          </a:p>
          <a:p>
            <a:pPr marL="228600" indent="-228600">
              <a:buSzPct val="100000"/>
              <a:buChar char="•"/>
            </a:pPr>
            <a:r>
              <a:rPr lang="en-US" sz="1600" dirty="0">
                <a:solidFill>
                  <a:schemeClr val="tx1"/>
                </a:solidFill>
              </a:rPr>
              <a:t>It extends </a:t>
            </a:r>
            <a:r>
              <a:rPr lang="en-US" sz="1600" dirty="0">
                <a:solidFill>
                  <a:schemeClr val="accent2"/>
                </a:solidFill>
                <a:latin typeface="Consolas" pitchFamily="34" charset="0"/>
                <a:ea typeface="Consolas" pitchFamily="34" charset="-122"/>
                <a:cs typeface="Consolas" pitchFamily="34" charset="-120"/>
              </a:rPr>
              <a:t>Iterable</a:t>
            </a:r>
            <a:r>
              <a:rPr lang="en-US" sz="1600" dirty="0">
                <a:solidFill>
                  <a:schemeClr val="tx1"/>
                </a:solidFill>
              </a:rPr>
              <a:t>, so we can loop through any collection</a:t>
            </a:r>
            <a:endParaRPr lang="en-US" sz="1600" dirty="0"/>
          </a:p>
        </p:txBody>
      </p:sp>
      <p:sp>
        <p:nvSpPr>
          <p:cNvPr id="10" name="Map"/>
          <p:cNvSpPr/>
          <p:nvPr/>
        </p:nvSpPr>
        <p:spPr>
          <a:xfrm>
            <a:off x="6255868" y="1691640"/>
            <a:ext cx="5387188" cy="3291840"/>
          </a:xfrm>
          <a:prstGeom prst="roundRect">
            <a:avLst>
              <a:gd name="adj" fmla="val 3333"/>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5">
              <a:alpha val="14000"/>
            </a:schemeClr>
          </a:solidFill>
          <a:ln/>
        </p:spPr>
      </p:sp>
      <p:pic>
        <p:nvPicPr>
          <p:cNvPr id="12" name="Image 1" descr="key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algn="l" indent="0" marL="0">
              <a:buNone/>
            </a:pPr>
            <a:r>
              <a:rPr lang="en-US" sz="2400" b="1" dirty="0">
                <a:solidFill>
                  <a:schemeClr val="accent5"/>
                </a:solidFill>
                <a:latin typeface="Consolas" pitchFamily="34" charset="0"/>
                <a:ea typeface="Consolas" pitchFamily="34" charset="-122"/>
                <a:cs typeface="Consolas" pitchFamily="34" charset="-120"/>
              </a:rPr>
              <a:t>Map</a:t>
            </a:r>
            <a:endParaRPr lang="en-US" sz="2400" dirty="0"/>
          </a:p>
        </p:txBody>
      </p:sp>
      <p:sp>
        <p:nvSpPr>
          <p:cNvPr id="14" name="Text 9"/>
          <p:cNvSpPr txBox="1"/>
          <p:nvPr/>
        </p:nvSpPr>
        <p:spPr>
          <a:xfrm>
            <a:off x="6575908" y="2880360"/>
            <a:ext cx="4747108" cy="182880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Holds pairs: a key and its value, such as </a:t>
            </a:r>
            <a:r>
              <a:rPr lang="en-US" sz="1600" dirty="0">
                <a:solidFill>
                  <a:schemeClr val="accent2"/>
                </a:solidFill>
                <a:latin typeface="Consolas" pitchFamily="34" charset="0"/>
                <a:ea typeface="Consolas" pitchFamily="34" charset="-122"/>
                <a:cs typeface="Consolas" pitchFamily="34" charset="-120"/>
              </a:rPr>
              <a:t>"Tom"</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321344</a:t>
            </a:r>
            <a:endParaRPr lang="en-US" sz="1600" dirty="0"/>
          </a:p>
          <a:p>
            <a:pPr marL="228600" indent="-228600">
              <a:spcAft>
                <a:spcPts val="1000"/>
              </a:spcAft>
              <a:buSzPct val="100000"/>
              <a:buChar char="•"/>
            </a:pPr>
            <a:r>
              <a:rPr lang="en-US" sz="1600" dirty="0">
                <a:solidFill>
                  <a:schemeClr val="accent2"/>
                </a:solidFill>
                <a:latin typeface="Consolas" pitchFamily="34" charset="0"/>
                <a:ea typeface="Consolas" pitchFamily="34" charset="-122"/>
                <a:cs typeface="Consolas" pitchFamily="34" charset="-120"/>
              </a:rPr>
              <a:t>HashMap</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LinkedHashMap</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TreeMap</a:t>
            </a:r>
            <a:r>
              <a:rPr lang="en-US" sz="1600" dirty="0">
                <a:solidFill>
                  <a:schemeClr val="tx1"/>
                </a:solidFill>
              </a:rPr>
              <a:t> implement it</a:t>
            </a:r>
            <a:endParaRPr lang="en-US" sz="1600" dirty="0"/>
          </a:p>
          <a:p>
            <a:pPr marL="228600" indent="-228600">
              <a:buSzPct val="100000"/>
              <a:buChar char="•"/>
            </a:pPr>
            <a:r>
              <a:rPr lang="en-US" sz="1600" dirty="0">
                <a:solidFill>
                  <a:schemeClr val="tx1"/>
                </a:solidFill>
              </a:rPr>
              <a:t>A separate tree: a Map isn’t a Collection</a:t>
            </a:r>
            <a:endParaRPr lang="en-US" sz="1600" dirty="0"/>
          </a:p>
        </p:txBody>
      </p:sp>
      <p:sp>
        <p:nvSpPr>
          <p:cNvPr id="15" name="Note"/>
          <p:cNvSpPr/>
          <p:nvPr/>
        </p:nvSpPr>
        <p:spPr>
          <a:xfrm>
            <a:off x="548640" y="5257800"/>
            <a:ext cx="11094415" cy="777240"/>
          </a:xfrm>
          <a:prstGeom prst="roundRect">
            <a:avLst>
              <a:gd name="adj" fmla="val 14118"/>
            </a:avLst>
          </a:prstGeom>
          <a:solidFill>
            <a:schemeClr val="bg2"/>
          </a:solidFill>
          <a:ln/>
        </p:spPr>
      </p:sp>
      <p:sp>
        <p:nvSpPr>
          <p:cNvPr id="16" name="Icon tile"/>
          <p:cNvSpPr/>
          <p:nvPr/>
        </p:nvSpPr>
        <p:spPr>
          <a:xfrm>
            <a:off x="822960" y="5381244"/>
            <a:ext cx="530352" cy="530352"/>
          </a:xfrm>
          <a:prstGeom prst="roundRect">
            <a:avLst>
              <a:gd name="adj" fmla="val 24000"/>
            </a:avLst>
          </a:prstGeom>
          <a:solidFill>
            <a:schemeClr val="accent2">
              <a:alpha val="14000"/>
            </a:schemeClr>
          </a:solidFill>
          <a:ln/>
        </p:spPr>
      </p:sp>
      <p:pic>
        <p:nvPicPr>
          <p:cNvPr id="17" name="Image 2" descr="brackets angle icon">    </p:cNvPr>
          <p:cNvPicPr>
            <a:picLocks noChangeAspect="1"/>
          </p:cNvPicPr>
          <p:nvPr/>
        </p:nvPicPr>
        <p:blipFill>
          <a:blip r:embed="rId3"/>
          <a:stretch>
            <a:fillRect/>
          </a:stretch>
        </p:blipFill>
        <p:spPr>
          <a:xfrm>
            <a:off x="934334" y="5492618"/>
            <a:ext cx="307604" cy="307604"/>
          </a:xfrm>
          <a:prstGeom prst="rect">
            <a:avLst/>
          </a:prstGeom>
        </p:spPr>
      </p:pic>
      <p:sp>
        <p:nvSpPr>
          <p:cNvPr id="18" name="Text 12"/>
          <p:cNvSpPr txBox="1"/>
          <p:nvPr/>
        </p:nvSpPr>
        <p:spPr>
          <a:xfrm>
            <a:off x="1572768" y="5257800"/>
            <a:ext cx="9814255" cy="777240"/>
          </a:xfrm>
          <a:prstGeom prst="rect">
            <a:avLst/>
          </a:prstGeom>
          <a:noFill/>
          <a:ln/>
        </p:spPr>
        <p:txBody>
          <a:bodyPr wrap="square" lIns="0" tIns="0" rIns="0" bIns="0" rtlCol="0" anchor="ctr"/>
          <a:lstStyle/>
          <a:p>
            <a:pPr algn="l" indent="0" marL="0">
              <a:buNone/>
            </a:pPr>
            <a:r>
              <a:rPr lang="en-US" sz="1600" dirty="0">
                <a:solidFill>
                  <a:schemeClr val="tx1"/>
                </a:solidFill>
              </a:rPr>
              <a:t>Every collection interface is generic, so we give the types when we use it: </a:t>
            </a:r>
            <a:r>
              <a:rPr lang="en-US" sz="1600" dirty="0">
                <a:solidFill>
                  <a:schemeClr val="accent2"/>
                </a:solidFill>
                <a:latin typeface="Consolas" pitchFamily="34" charset="0"/>
                <a:ea typeface="Consolas" pitchFamily="34" charset="-122"/>
                <a:cs typeface="Consolas" pitchFamily="34" charset="-120"/>
              </a:rPr>
              <a:t>Set&lt;String&gt;</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Map&lt;String, Integer&gt;</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DATA STRUCTURES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Collections Framework at a glance</a:t>
            </a:r>
            <a:endParaRPr lang="en-US" sz="3400" dirty="0"/>
          </a:p>
        </p:txBody>
      </p:sp>
      <p:sp>
        <p:nvSpPr>
          <p:cNvPr id="5" name="Iterable"/>
          <p:cNvSpPr/>
          <p:nvPr/>
        </p:nvSpPr>
        <p:spPr>
          <a:xfrm>
            <a:off x="2926080" y="1627632"/>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6" name="Text 3"/>
          <p:cNvSpPr txBox="1"/>
          <p:nvPr/>
        </p:nvSpPr>
        <p:spPr>
          <a:xfrm>
            <a:off x="2926080" y="1627632"/>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Iterable</a:t>
            </a:r>
            <a:endParaRPr lang="en-US" sz="1300" dirty="0"/>
          </a:p>
        </p:txBody>
      </p:sp>
      <p:sp>
        <p:nvSpPr>
          <p:cNvPr id="7" name="Collection"/>
          <p:cNvSpPr/>
          <p:nvPr/>
        </p:nvSpPr>
        <p:spPr>
          <a:xfrm>
            <a:off x="2926080" y="22402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8" name="Text 5"/>
          <p:cNvSpPr txBox="1"/>
          <p:nvPr/>
        </p:nvSpPr>
        <p:spPr>
          <a:xfrm>
            <a:off x="2926080" y="22402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Collection</a:t>
            </a:r>
            <a:endParaRPr lang="en-US" sz="1300" dirty="0"/>
          </a:p>
        </p:txBody>
      </p:sp>
      <p:sp>
        <p:nvSpPr>
          <p:cNvPr id="9" name="Shape 6"/>
          <p:cNvSpPr/>
          <p:nvPr/>
        </p:nvSpPr>
        <p:spPr>
          <a:xfrm flipV="1">
            <a:off x="3749040" y="2029968"/>
            <a:ext cx="0" cy="210312"/>
          </a:xfrm>
          <a:prstGeom prst="line">
            <a:avLst/>
          </a:prstGeom>
          <a:noFill/>
          <a:ln w="15875">
            <a:solidFill>
              <a:schemeClr val="tx2"/>
            </a:solidFill>
            <a:prstDash val="solid"/>
            <a:tailEnd type="triangle"/>
          </a:ln>
        </p:spPr>
      </p:sp>
      <p:sp>
        <p:nvSpPr>
          <p:cNvPr id="10" name="List (not today)"/>
          <p:cNvSpPr/>
          <p:nvPr/>
        </p:nvSpPr>
        <p:spPr>
          <a:xfrm>
            <a:off x="548640" y="2926080"/>
            <a:ext cx="1645920" cy="402336"/>
          </a:xfrm>
          <a:prstGeom prst="roundRect">
            <a:avLst>
              <a:gd name="adj" fmla="val 18182"/>
            </a:avLst>
          </a:prstGeom>
          <a:solidFill>
            <a:schemeClr val="bg2"/>
          </a:solidFill>
          <a:ln w="15875">
            <a:solidFill>
              <a:srgbClr val="D5DCE6"/>
            </a:solidFill>
            <a:prstDash val="solid"/>
          </a:ln>
        </p:spPr>
      </p:sp>
      <p:sp>
        <p:nvSpPr>
          <p:cNvPr id="11" name="Text 8"/>
          <p:cNvSpPr txBox="1"/>
          <p:nvPr/>
        </p:nvSpPr>
        <p:spPr>
          <a:xfrm>
            <a:off x="548640" y="2926080"/>
            <a:ext cx="164592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List</a:t>
            </a:r>
            <a:endParaRPr lang="en-US" sz="1300" dirty="0"/>
          </a:p>
        </p:txBody>
      </p:sp>
      <p:sp>
        <p:nvSpPr>
          <p:cNvPr id="12" name="Queue (not today)"/>
          <p:cNvSpPr/>
          <p:nvPr/>
        </p:nvSpPr>
        <p:spPr>
          <a:xfrm>
            <a:off x="2926080" y="2926080"/>
            <a:ext cx="1645920" cy="402336"/>
          </a:xfrm>
          <a:prstGeom prst="roundRect">
            <a:avLst>
              <a:gd name="adj" fmla="val 18182"/>
            </a:avLst>
          </a:prstGeom>
          <a:solidFill>
            <a:schemeClr val="bg2"/>
          </a:solidFill>
          <a:ln w="15875">
            <a:solidFill>
              <a:srgbClr val="D5DCE6"/>
            </a:solidFill>
            <a:prstDash val="solid"/>
          </a:ln>
        </p:spPr>
      </p:sp>
      <p:sp>
        <p:nvSpPr>
          <p:cNvPr id="13" name="Text 10"/>
          <p:cNvSpPr txBox="1"/>
          <p:nvPr/>
        </p:nvSpPr>
        <p:spPr>
          <a:xfrm>
            <a:off x="2926080" y="2926080"/>
            <a:ext cx="164592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Queue</a:t>
            </a:r>
            <a:endParaRPr lang="en-US" sz="1300" dirty="0"/>
          </a:p>
        </p:txBody>
      </p:sp>
      <p:sp>
        <p:nvSpPr>
          <p:cNvPr id="14" name="Set"/>
          <p:cNvSpPr/>
          <p:nvPr/>
        </p:nvSpPr>
        <p:spPr>
          <a:xfrm>
            <a:off x="5303520" y="29260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15" name="Text 12"/>
          <p:cNvSpPr txBox="1"/>
          <p:nvPr/>
        </p:nvSpPr>
        <p:spPr>
          <a:xfrm>
            <a:off x="5303520" y="29260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Set</a:t>
            </a:r>
            <a:endParaRPr lang="en-US" sz="1300" dirty="0"/>
          </a:p>
        </p:txBody>
      </p:sp>
      <p:sp>
        <p:nvSpPr>
          <p:cNvPr id="16" name="Shape 13"/>
          <p:cNvSpPr/>
          <p:nvPr/>
        </p:nvSpPr>
        <p:spPr>
          <a:xfrm>
            <a:off x="1371600" y="2761488"/>
            <a:ext cx="4754880" cy="0"/>
          </a:xfrm>
          <a:prstGeom prst="line">
            <a:avLst/>
          </a:prstGeom>
          <a:noFill/>
          <a:ln w="15875">
            <a:solidFill>
              <a:schemeClr val="tx2"/>
            </a:solidFill>
            <a:prstDash val="solid"/>
          </a:ln>
        </p:spPr>
      </p:sp>
      <p:sp>
        <p:nvSpPr>
          <p:cNvPr id="17" name="Shape 14"/>
          <p:cNvSpPr/>
          <p:nvPr/>
        </p:nvSpPr>
        <p:spPr>
          <a:xfrm flipV="1">
            <a:off x="1371600" y="2761488"/>
            <a:ext cx="0" cy="164592"/>
          </a:xfrm>
          <a:prstGeom prst="line">
            <a:avLst/>
          </a:prstGeom>
          <a:noFill/>
          <a:ln w="15875">
            <a:solidFill>
              <a:schemeClr val="tx2"/>
            </a:solidFill>
            <a:prstDash val="solid"/>
          </a:ln>
        </p:spPr>
      </p:sp>
      <p:sp>
        <p:nvSpPr>
          <p:cNvPr id="18" name="Shape 15"/>
          <p:cNvSpPr/>
          <p:nvPr/>
        </p:nvSpPr>
        <p:spPr>
          <a:xfrm flipV="1">
            <a:off x="6126480" y="2761488"/>
            <a:ext cx="0" cy="164592"/>
          </a:xfrm>
          <a:prstGeom prst="line">
            <a:avLst/>
          </a:prstGeom>
          <a:noFill/>
          <a:ln w="15875">
            <a:solidFill>
              <a:schemeClr val="tx2"/>
            </a:solidFill>
            <a:prstDash val="solid"/>
          </a:ln>
        </p:spPr>
      </p:sp>
      <p:sp>
        <p:nvSpPr>
          <p:cNvPr id="19" name="Shape 16"/>
          <p:cNvSpPr/>
          <p:nvPr/>
        </p:nvSpPr>
        <p:spPr>
          <a:xfrm flipV="1">
            <a:off x="3749040" y="2761488"/>
            <a:ext cx="0" cy="164592"/>
          </a:xfrm>
          <a:prstGeom prst="line">
            <a:avLst/>
          </a:prstGeom>
          <a:noFill/>
          <a:ln w="15875">
            <a:solidFill>
              <a:schemeClr val="tx2"/>
            </a:solidFill>
            <a:prstDash val="solid"/>
          </a:ln>
        </p:spPr>
      </p:sp>
      <p:sp>
        <p:nvSpPr>
          <p:cNvPr id="20" name="Shape 17"/>
          <p:cNvSpPr/>
          <p:nvPr/>
        </p:nvSpPr>
        <p:spPr>
          <a:xfrm flipV="1">
            <a:off x="3749040" y="2642616"/>
            <a:ext cx="0" cy="118872"/>
          </a:xfrm>
          <a:prstGeom prst="line">
            <a:avLst/>
          </a:prstGeom>
          <a:noFill/>
          <a:ln w="15875">
            <a:solidFill>
              <a:schemeClr val="tx2"/>
            </a:solidFill>
            <a:prstDash val="solid"/>
            <a:tailEnd type="triangle"/>
          </a:ln>
        </p:spPr>
      </p:sp>
      <p:sp>
        <p:nvSpPr>
          <p:cNvPr id="21" name="ArrayList (not today)"/>
          <p:cNvSpPr/>
          <p:nvPr/>
        </p:nvSpPr>
        <p:spPr>
          <a:xfrm>
            <a:off x="960120" y="3566160"/>
            <a:ext cx="1600200" cy="402336"/>
          </a:xfrm>
          <a:prstGeom prst="roundRect">
            <a:avLst>
              <a:gd name="adj" fmla="val 18182"/>
            </a:avLst>
          </a:prstGeom>
          <a:solidFill>
            <a:schemeClr val="bg2"/>
          </a:solidFill>
          <a:ln w="15875">
            <a:solidFill>
              <a:srgbClr val="D5DCE6"/>
            </a:solidFill>
            <a:prstDash val="solid"/>
          </a:ln>
        </p:spPr>
      </p:sp>
      <p:sp>
        <p:nvSpPr>
          <p:cNvPr id="22" name="Text 19"/>
          <p:cNvSpPr txBox="1"/>
          <p:nvPr/>
        </p:nvSpPr>
        <p:spPr>
          <a:xfrm>
            <a:off x="960120" y="3566160"/>
            <a:ext cx="160020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ArrayList</a:t>
            </a:r>
            <a:endParaRPr lang="en-US" sz="1300" dirty="0"/>
          </a:p>
        </p:txBody>
      </p:sp>
      <p:sp>
        <p:nvSpPr>
          <p:cNvPr id="23" name="LinkedList (not today)"/>
          <p:cNvSpPr/>
          <p:nvPr/>
        </p:nvSpPr>
        <p:spPr>
          <a:xfrm>
            <a:off x="960120" y="4096512"/>
            <a:ext cx="1600200" cy="402336"/>
          </a:xfrm>
          <a:prstGeom prst="roundRect">
            <a:avLst>
              <a:gd name="adj" fmla="val 18182"/>
            </a:avLst>
          </a:prstGeom>
          <a:solidFill>
            <a:schemeClr val="bg2"/>
          </a:solidFill>
          <a:ln w="15875">
            <a:solidFill>
              <a:srgbClr val="D5DCE6"/>
            </a:solidFill>
            <a:prstDash val="solid"/>
          </a:ln>
        </p:spPr>
      </p:sp>
      <p:sp>
        <p:nvSpPr>
          <p:cNvPr id="24" name="Text 21"/>
          <p:cNvSpPr txBox="1"/>
          <p:nvPr/>
        </p:nvSpPr>
        <p:spPr>
          <a:xfrm>
            <a:off x="960120" y="4096512"/>
            <a:ext cx="160020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LinkedList</a:t>
            </a:r>
            <a:endParaRPr lang="en-US" sz="1300" dirty="0"/>
          </a:p>
        </p:txBody>
      </p:sp>
      <p:sp>
        <p:nvSpPr>
          <p:cNvPr id="25" name="Vector (not today)"/>
          <p:cNvSpPr/>
          <p:nvPr/>
        </p:nvSpPr>
        <p:spPr>
          <a:xfrm>
            <a:off x="960120" y="4626864"/>
            <a:ext cx="1600200" cy="402336"/>
          </a:xfrm>
          <a:prstGeom prst="roundRect">
            <a:avLst>
              <a:gd name="adj" fmla="val 18182"/>
            </a:avLst>
          </a:prstGeom>
          <a:solidFill>
            <a:schemeClr val="bg2"/>
          </a:solidFill>
          <a:ln w="15875">
            <a:solidFill>
              <a:srgbClr val="D5DCE6"/>
            </a:solidFill>
            <a:prstDash val="solid"/>
          </a:ln>
        </p:spPr>
      </p:sp>
      <p:sp>
        <p:nvSpPr>
          <p:cNvPr id="26" name="Text 23"/>
          <p:cNvSpPr txBox="1"/>
          <p:nvPr/>
        </p:nvSpPr>
        <p:spPr>
          <a:xfrm>
            <a:off x="960120" y="4626864"/>
            <a:ext cx="160020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Vector</a:t>
            </a:r>
            <a:endParaRPr lang="en-US" sz="1300" dirty="0"/>
          </a:p>
        </p:txBody>
      </p:sp>
      <p:sp>
        <p:nvSpPr>
          <p:cNvPr id="27" name="Shape 24"/>
          <p:cNvSpPr/>
          <p:nvPr/>
        </p:nvSpPr>
        <p:spPr>
          <a:xfrm flipV="1">
            <a:off x="731520" y="3328416"/>
            <a:ext cx="0" cy="1499616"/>
          </a:xfrm>
          <a:prstGeom prst="line">
            <a:avLst/>
          </a:prstGeom>
          <a:noFill/>
          <a:ln w="15875">
            <a:solidFill>
              <a:srgbClr val="B8C1CE"/>
            </a:solidFill>
            <a:prstDash val="solid"/>
            <a:tailEnd type="triangle"/>
          </a:ln>
        </p:spPr>
      </p:sp>
      <p:sp>
        <p:nvSpPr>
          <p:cNvPr id="28" name="Shape 25"/>
          <p:cNvSpPr/>
          <p:nvPr/>
        </p:nvSpPr>
        <p:spPr>
          <a:xfrm>
            <a:off x="731520" y="3767328"/>
            <a:ext cx="228600" cy="0"/>
          </a:xfrm>
          <a:prstGeom prst="line">
            <a:avLst/>
          </a:prstGeom>
          <a:noFill/>
          <a:ln w="15875">
            <a:solidFill>
              <a:srgbClr val="B8C1CE"/>
            </a:solidFill>
            <a:prstDash val="solid"/>
          </a:ln>
        </p:spPr>
      </p:sp>
      <p:sp>
        <p:nvSpPr>
          <p:cNvPr id="29" name="Shape 26"/>
          <p:cNvSpPr/>
          <p:nvPr/>
        </p:nvSpPr>
        <p:spPr>
          <a:xfrm>
            <a:off x="731520" y="4297680"/>
            <a:ext cx="228600" cy="0"/>
          </a:xfrm>
          <a:prstGeom prst="line">
            <a:avLst/>
          </a:prstGeom>
          <a:noFill/>
          <a:ln w="15875">
            <a:solidFill>
              <a:srgbClr val="B8C1CE"/>
            </a:solidFill>
            <a:prstDash val="solid"/>
          </a:ln>
        </p:spPr>
      </p:sp>
      <p:sp>
        <p:nvSpPr>
          <p:cNvPr id="30" name="Shape 27"/>
          <p:cNvSpPr/>
          <p:nvPr/>
        </p:nvSpPr>
        <p:spPr>
          <a:xfrm>
            <a:off x="731520" y="4828032"/>
            <a:ext cx="228600" cy="0"/>
          </a:xfrm>
          <a:prstGeom prst="line">
            <a:avLst/>
          </a:prstGeom>
          <a:noFill/>
          <a:ln w="15875">
            <a:solidFill>
              <a:srgbClr val="B8C1CE"/>
            </a:solidFill>
            <a:prstDash val="solid"/>
          </a:ln>
        </p:spPr>
      </p:sp>
      <p:sp>
        <p:nvSpPr>
          <p:cNvPr id="31" name="Stack (not today)"/>
          <p:cNvSpPr/>
          <p:nvPr/>
        </p:nvSpPr>
        <p:spPr>
          <a:xfrm>
            <a:off x="960120" y="5248656"/>
            <a:ext cx="1600200" cy="402336"/>
          </a:xfrm>
          <a:prstGeom prst="roundRect">
            <a:avLst>
              <a:gd name="adj" fmla="val 18182"/>
            </a:avLst>
          </a:prstGeom>
          <a:solidFill>
            <a:schemeClr val="bg2"/>
          </a:solidFill>
          <a:ln w="15875">
            <a:solidFill>
              <a:srgbClr val="D5DCE6"/>
            </a:solidFill>
            <a:prstDash val="solid"/>
          </a:ln>
        </p:spPr>
      </p:sp>
      <p:sp>
        <p:nvSpPr>
          <p:cNvPr id="32" name="Text 29"/>
          <p:cNvSpPr txBox="1"/>
          <p:nvPr/>
        </p:nvSpPr>
        <p:spPr>
          <a:xfrm>
            <a:off x="960120" y="5248656"/>
            <a:ext cx="160020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Stack</a:t>
            </a:r>
            <a:endParaRPr lang="en-US" sz="1300" dirty="0"/>
          </a:p>
        </p:txBody>
      </p:sp>
      <p:sp>
        <p:nvSpPr>
          <p:cNvPr id="33" name="Shape 30"/>
          <p:cNvSpPr/>
          <p:nvPr/>
        </p:nvSpPr>
        <p:spPr>
          <a:xfrm flipV="1">
            <a:off x="1760220" y="5029200"/>
            <a:ext cx="0" cy="219456"/>
          </a:xfrm>
          <a:prstGeom prst="line">
            <a:avLst/>
          </a:prstGeom>
          <a:noFill/>
          <a:ln w="15875">
            <a:solidFill>
              <a:srgbClr val="B8C1CE"/>
            </a:solidFill>
            <a:prstDash val="solid"/>
            <a:tailEnd type="triangle"/>
          </a:ln>
        </p:spPr>
      </p:sp>
      <p:sp>
        <p:nvSpPr>
          <p:cNvPr id="34" name="PriorityQueue (not today)"/>
          <p:cNvSpPr/>
          <p:nvPr/>
        </p:nvSpPr>
        <p:spPr>
          <a:xfrm>
            <a:off x="3337560" y="3566160"/>
            <a:ext cx="1783080" cy="402336"/>
          </a:xfrm>
          <a:prstGeom prst="roundRect">
            <a:avLst>
              <a:gd name="adj" fmla="val 18182"/>
            </a:avLst>
          </a:prstGeom>
          <a:solidFill>
            <a:schemeClr val="bg2"/>
          </a:solidFill>
          <a:ln w="15875">
            <a:solidFill>
              <a:srgbClr val="D5DCE6"/>
            </a:solidFill>
            <a:prstDash val="solid"/>
          </a:ln>
        </p:spPr>
      </p:sp>
      <p:sp>
        <p:nvSpPr>
          <p:cNvPr id="35" name="Text 32"/>
          <p:cNvSpPr txBox="1"/>
          <p:nvPr/>
        </p:nvSpPr>
        <p:spPr>
          <a:xfrm>
            <a:off x="3337560" y="3566160"/>
            <a:ext cx="178308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PriorityQueue</a:t>
            </a:r>
            <a:endParaRPr lang="en-US" sz="1300" dirty="0"/>
          </a:p>
        </p:txBody>
      </p:sp>
      <p:sp>
        <p:nvSpPr>
          <p:cNvPr id="36" name="Deque (not today)"/>
          <p:cNvSpPr/>
          <p:nvPr/>
        </p:nvSpPr>
        <p:spPr>
          <a:xfrm>
            <a:off x="3337560" y="4096512"/>
            <a:ext cx="1783080" cy="402336"/>
          </a:xfrm>
          <a:prstGeom prst="roundRect">
            <a:avLst>
              <a:gd name="adj" fmla="val 18182"/>
            </a:avLst>
          </a:prstGeom>
          <a:solidFill>
            <a:schemeClr val="bg2"/>
          </a:solidFill>
          <a:ln w="15875">
            <a:solidFill>
              <a:srgbClr val="D5DCE6"/>
            </a:solidFill>
            <a:prstDash val="solid"/>
          </a:ln>
        </p:spPr>
      </p:sp>
      <p:sp>
        <p:nvSpPr>
          <p:cNvPr id="37" name="Text 34"/>
          <p:cNvSpPr txBox="1"/>
          <p:nvPr/>
        </p:nvSpPr>
        <p:spPr>
          <a:xfrm>
            <a:off x="3337560" y="4096512"/>
            <a:ext cx="178308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Deque</a:t>
            </a:r>
            <a:endParaRPr lang="en-US" sz="1300" dirty="0"/>
          </a:p>
        </p:txBody>
      </p:sp>
      <p:sp>
        <p:nvSpPr>
          <p:cNvPr id="38" name="Shape 35"/>
          <p:cNvSpPr/>
          <p:nvPr/>
        </p:nvSpPr>
        <p:spPr>
          <a:xfrm flipV="1">
            <a:off x="3108960" y="3328416"/>
            <a:ext cx="0" cy="969264"/>
          </a:xfrm>
          <a:prstGeom prst="line">
            <a:avLst/>
          </a:prstGeom>
          <a:noFill/>
          <a:ln w="15875">
            <a:solidFill>
              <a:srgbClr val="B8C1CE"/>
            </a:solidFill>
            <a:prstDash val="solid"/>
            <a:tailEnd type="triangle"/>
          </a:ln>
        </p:spPr>
      </p:sp>
      <p:sp>
        <p:nvSpPr>
          <p:cNvPr id="39" name="Shape 36"/>
          <p:cNvSpPr/>
          <p:nvPr/>
        </p:nvSpPr>
        <p:spPr>
          <a:xfrm>
            <a:off x="3108960" y="3767328"/>
            <a:ext cx="228600" cy="0"/>
          </a:xfrm>
          <a:prstGeom prst="line">
            <a:avLst/>
          </a:prstGeom>
          <a:noFill/>
          <a:ln w="15875">
            <a:solidFill>
              <a:srgbClr val="B8C1CE"/>
            </a:solidFill>
            <a:prstDash val="solid"/>
          </a:ln>
        </p:spPr>
      </p:sp>
      <p:sp>
        <p:nvSpPr>
          <p:cNvPr id="40" name="Shape 37"/>
          <p:cNvSpPr/>
          <p:nvPr/>
        </p:nvSpPr>
        <p:spPr>
          <a:xfrm>
            <a:off x="3108960" y="4297680"/>
            <a:ext cx="228600" cy="0"/>
          </a:xfrm>
          <a:prstGeom prst="line">
            <a:avLst/>
          </a:prstGeom>
          <a:noFill/>
          <a:ln w="15875">
            <a:solidFill>
              <a:srgbClr val="B8C1CE"/>
            </a:solidFill>
            <a:prstDash val="solid"/>
          </a:ln>
        </p:spPr>
      </p:sp>
      <p:sp>
        <p:nvSpPr>
          <p:cNvPr id="41" name="ArrayDeque (not today)"/>
          <p:cNvSpPr/>
          <p:nvPr/>
        </p:nvSpPr>
        <p:spPr>
          <a:xfrm>
            <a:off x="3337560" y="4718304"/>
            <a:ext cx="1783080" cy="402336"/>
          </a:xfrm>
          <a:prstGeom prst="roundRect">
            <a:avLst>
              <a:gd name="adj" fmla="val 18182"/>
            </a:avLst>
          </a:prstGeom>
          <a:solidFill>
            <a:schemeClr val="bg2"/>
          </a:solidFill>
          <a:ln w="15875">
            <a:solidFill>
              <a:srgbClr val="D5DCE6"/>
            </a:solidFill>
            <a:prstDash val="solid"/>
          </a:ln>
        </p:spPr>
      </p:sp>
      <p:sp>
        <p:nvSpPr>
          <p:cNvPr id="42" name="Text 39"/>
          <p:cNvSpPr txBox="1"/>
          <p:nvPr/>
        </p:nvSpPr>
        <p:spPr>
          <a:xfrm>
            <a:off x="3337560" y="4718304"/>
            <a:ext cx="1783080" cy="402336"/>
          </a:xfrm>
          <a:prstGeom prst="rect">
            <a:avLst/>
          </a:prstGeom>
          <a:noFill/>
          <a:ln/>
        </p:spPr>
        <p:txBody>
          <a:bodyPr wrap="square" lIns="0" tIns="0" rIns="0" bIns="0" rtlCol="0" anchor="ctr"/>
          <a:lstStyle/>
          <a:p>
            <a:pPr algn="ctr" indent="0" marL="0">
              <a:buNone/>
            </a:pPr>
            <a:r>
              <a:rPr lang="en-US" sz="1300" dirty="0">
                <a:solidFill>
                  <a:srgbClr val="9AA4B2"/>
                </a:solidFill>
                <a:latin typeface="Consolas" pitchFamily="34" charset="0"/>
                <a:ea typeface="Consolas" pitchFamily="34" charset="-122"/>
                <a:cs typeface="Consolas" pitchFamily="34" charset="-120"/>
              </a:rPr>
              <a:t>ArrayDeque</a:t>
            </a:r>
            <a:endParaRPr lang="en-US" sz="1300" dirty="0"/>
          </a:p>
        </p:txBody>
      </p:sp>
      <p:sp>
        <p:nvSpPr>
          <p:cNvPr id="43" name="Shape 40"/>
          <p:cNvSpPr/>
          <p:nvPr/>
        </p:nvSpPr>
        <p:spPr>
          <a:xfrm flipV="1">
            <a:off x="4229100" y="4498848"/>
            <a:ext cx="0" cy="219456"/>
          </a:xfrm>
          <a:prstGeom prst="line">
            <a:avLst/>
          </a:prstGeom>
          <a:noFill/>
          <a:ln w="15875">
            <a:solidFill>
              <a:srgbClr val="B8C1CE"/>
            </a:solidFill>
            <a:prstDash val="solid"/>
            <a:tailEnd type="triangle"/>
          </a:ln>
        </p:spPr>
      </p:sp>
      <p:sp>
        <p:nvSpPr>
          <p:cNvPr id="44" name="HashSet"/>
          <p:cNvSpPr/>
          <p:nvPr/>
        </p:nvSpPr>
        <p:spPr>
          <a:xfrm>
            <a:off x="5715000" y="3566160"/>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45" name="Text 42"/>
          <p:cNvSpPr txBox="1"/>
          <p:nvPr/>
        </p:nvSpPr>
        <p:spPr>
          <a:xfrm>
            <a:off x="5715000" y="3566160"/>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HashSet</a:t>
            </a:r>
            <a:endParaRPr lang="en-US" sz="1300" dirty="0"/>
          </a:p>
        </p:txBody>
      </p:sp>
      <p:sp>
        <p:nvSpPr>
          <p:cNvPr id="46" name="LinkedHashSet"/>
          <p:cNvSpPr/>
          <p:nvPr/>
        </p:nvSpPr>
        <p:spPr>
          <a:xfrm>
            <a:off x="5715000" y="4096512"/>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47" name="Text 44"/>
          <p:cNvSpPr txBox="1"/>
          <p:nvPr/>
        </p:nvSpPr>
        <p:spPr>
          <a:xfrm>
            <a:off x="5715000" y="4096512"/>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LinkedHashSet</a:t>
            </a:r>
            <a:endParaRPr lang="en-US" sz="1300" dirty="0"/>
          </a:p>
        </p:txBody>
      </p:sp>
      <p:sp>
        <p:nvSpPr>
          <p:cNvPr id="48" name="SortedSet"/>
          <p:cNvSpPr/>
          <p:nvPr/>
        </p:nvSpPr>
        <p:spPr>
          <a:xfrm>
            <a:off x="5715000" y="4626864"/>
            <a:ext cx="1783080" cy="402336"/>
          </a:xfrm>
          <a:prstGeom prst="roundRect">
            <a:avLst>
              <a:gd name="adj" fmla="val 18182"/>
            </a:avLst>
          </a:prstGeom>
          <a:solidFill>
            <a:schemeClr val="accent3">
              <a:alpha val="14000"/>
            </a:schemeClr>
          </a:solidFill>
          <a:ln w="15875">
            <a:solidFill>
              <a:schemeClr val="accent3"/>
            </a:solidFill>
            <a:prstDash val="solid"/>
          </a:ln>
        </p:spPr>
      </p:sp>
      <p:sp>
        <p:nvSpPr>
          <p:cNvPr id="49" name="Text 46"/>
          <p:cNvSpPr txBox="1"/>
          <p:nvPr/>
        </p:nvSpPr>
        <p:spPr>
          <a:xfrm>
            <a:off x="5715000" y="4626864"/>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SortedSet</a:t>
            </a:r>
            <a:endParaRPr lang="en-US" sz="1300" dirty="0"/>
          </a:p>
        </p:txBody>
      </p:sp>
      <p:sp>
        <p:nvSpPr>
          <p:cNvPr id="50" name="Shape 47"/>
          <p:cNvSpPr/>
          <p:nvPr/>
        </p:nvSpPr>
        <p:spPr>
          <a:xfrm flipV="1">
            <a:off x="5486400" y="3328416"/>
            <a:ext cx="0" cy="1499616"/>
          </a:xfrm>
          <a:prstGeom prst="line">
            <a:avLst/>
          </a:prstGeom>
          <a:noFill/>
          <a:ln w="15875">
            <a:solidFill>
              <a:schemeClr val="tx2"/>
            </a:solidFill>
            <a:prstDash val="solid"/>
            <a:tailEnd type="triangle"/>
          </a:ln>
        </p:spPr>
      </p:sp>
      <p:sp>
        <p:nvSpPr>
          <p:cNvPr id="51" name="Shape 48"/>
          <p:cNvSpPr/>
          <p:nvPr/>
        </p:nvSpPr>
        <p:spPr>
          <a:xfrm>
            <a:off x="5486400" y="3767328"/>
            <a:ext cx="228600" cy="0"/>
          </a:xfrm>
          <a:prstGeom prst="line">
            <a:avLst/>
          </a:prstGeom>
          <a:noFill/>
          <a:ln w="15875">
            <a:solidFill>
              <a:schemeClr val="tx2"/>
            </a:solidFill>
            <a:prstDash val="solid"/>
          </a:ln>
        </p:spPr>
      </p:sp>
      <p:sp>
        <p:nvSpPr>
          <p:cNvPr id="52" name="Shape 49"/>
          <p:cNvSpPr/>
          <p:nvPr/>
        </p:nvSpPr>
        <p:spPr>
          <a:xfrm>
            <a:off x="5486400" y="4297680"/>
            <a:ext cx="228600" cy="0"/>
          </a:xfrm>
          <a:prstGeom prst="line">
            <a:avLst/>
          </a:prstGeom>
          <a:noFill/>
          <a:ln w="15875">
            <a:solidFill>
              <a:schemeClr val="tx2"/>
            </a:solidFill>
            <a:prstDash val="solid"/>
          </a:ln>
        </p:spPr>
      </p:sp>
      <p:sp>
        <p:nvSpPr>
          <p:cNvPr id="53" name="Shape 50"/>
          <p:cNvSpPr/>
          <p:nvPr/>
        </p:nvSpPr>
        <p:spPr>
          <a:xfrm>
            <a:off x="5486400" y="4828032"/>
            <a:ext cx="228600" cy="0"/>
          </a:xfrm>
          <a:prstGeom prst="line">
            <a:avLst/>
          </a:prstGeom>
          <a:noFill/>
          <a:ln w="15875">
            <a:solidFill>
              <a:schemeClr val="tx2"/>
            </a:solidFill>
            <a:prstDash val="solid"/>
          </a:ln>
        </p:spPr>
      </p:sp>
      <p:sp>
        <p:nvSpPr>
          <p:cNvPr id="54" name="TreeSet"/>
          <p:cNvSpPr/>
          <p:nvPr/>
        </p:nvSpPr>
        <p:spPr>
          <a:xfrm>
            <a:off x="5715000" y="5248656"/>
            <a:ext cx="1783080" cy="402336"/>
          </a:xfrm>
          <a:prstGeom prst="roundRect">
            <a:avLst>
              <a:gd name="adj" fmla="val 18182"/>
            </a:avLst>
          </a:prstGeom>
          <a:solidFill>
            <a:schemeClr val="accent1">
              <a:alpha val="14000"/>
            </a:schemeClr>
          </a:solidFill>
          <a:ln w="15875">
            <a:solidFill>
              <a:schemeClr val="accent1"/>
            </a:solidFill>
            <a:prstDash val="solid"/>
          </a:ln>
        </p:spPr>
      </p:sp>
      <p:sp>
        <p:nvSpPr>
          <p:cNvPr id="55" name="Text 52"/>
          <p:cNvSpPr txBox="1"/>
          <p:nvPr/>
        </p:nvSpPr>
        <p:spPr>
          <a:xfrm>
            <a:off x="5715000" y="5248656"/>
            <a:ext cx="178308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TreeSet</a:t>
            </a:r>
            <a:endParaRPr lang="en-US" sz="1300" dirty="0"/>
          </a:p>
        </p:txBody>
      </p:sp>
      <p:sp>
        <p:nvSpPr>
          <p:cNvPr id="56" name="Shape 53"/>
          <p:cNvSpPr/>
          <p:nvPr/>
        </p:nvSpPr>
        <p:spPr>
          <a:xfrm flipV="1">
            <a:off x="6606540" y="5029200"/>
            <a:ext cx="0" cy="219456"/>
          </a:xfrm>
          <a:prstGeom prst="line">
            <a:avLst/>
          </a:prstGeom>
          <a:noFill/>
          <a:ln w="15875">
            <a:solidFill>
              <a:schemeClr val="tx2"/>
            </a:solidFill>
            <a:prstDash val="solid"/>
            <a:tailEnd type="triangle"/>
          </a:ln>
        </p:spPr>
      </p:sp>
      <p:sp>
        <p:nvSpPr>
          <p:cNvPr id="57" name="Today tag"/>
          <p:cNvSpPr/>
          <p:nvPr/>
        </p:nvSpPr>
        <p:spPr>
          <a:xfrm>
            <a:off x="7059168" y="3008376"/>
            <a:ext cx="621792" cy="23774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50" kern="0" dirty="0">
                <a:solidFill>
                  <a:schemeClr val="bg1"/>
                </a:solidFill>
              </a:rPr>
              <a:t>today</a:t>
            </a:r>
            <a:endParaRPr lang="en-US" sz="1100" dirty="0"/>
          </a:p>
        </p:txBody>
      </p:sp>
      <p:sp>
        <p:nvSpPr>
          <p:cNvPr id="58" name="Shape 55"/>
          <p:cNvSpPr/>
          <p:nvPr/>
        </p:nvSpPr>
        <p:spPr>
          <a:xfrm>
            <a:off x="8138160" y="1691640"/>
            <a:ext cx="0" cy="4023360"/>
          </a:xfrm>
          <a:prstGeom prst="line">
            <a:avLst/>
          </a:prstGeom>
          <a:noFill/>
          <a:ln w="15875">
            <a:solidFill>
              <a:srgbClr val="D5DCE6"/>
            </a:solidFill>
            <a:prstDash val="dash"/>
          </a:ln>
        </p:spPr>
      </p:sp>
      <p:sp>
        <p:nvSpPr>
          <p:cNvPr id="59" name="Text 56"/>
          <p:cNvSpPr txBox="1"/>
          <p:nvPr/>
        </p:nvSpPr>
        <p:spPr>
          <a:xfrm>
            <a:off x="8778240" y="1645920"/>
            <a:ext cx="2862072" cy="274320"/>
          </a:xfrm>
          <a:prstGeom prst="rect">
            <a:avLst/>
          </a:prstGeom>
          <a:noFill/>
          <a:ln/>
        </p:spPr>
        <p:txBody>
          <a:bodyPr wrap="square" lIns="0" tIns="0" rIns="0" bIns="0" rtlCol="0" anchor="t"/>
          <a:lstStyle/>
          <a:p>
            <a:pPr algn="l" indent="0" marL="0">
              <a:buNone/>
            </a:pPr>
            <a:r>
              <a:rPr lang="en-US" sz="1250" i="1" dirty="0">
                <a:solidFill>
                  <a:schemeClr val="tx2"/>
                </a:solidFill>
              </a:rPr>
              <a:t>a separate tree: not a Collection</a:t>
            </a:r>
            <a:endParaRPr lang="en-US" sz="1250" dirty="0"/>
          </a:p>
        </p:txBody>
      </p:sp>
      <p:sp>
        <p:nvSpPr>
          <p:cNvPr id="60" name="Map"/>
          <p:cNvSpPr/>
          <p:nvPr/>
        </p:nvSpPr>
        <p:spPr>
          <a:xfrm>
            <a:off x="8778240" y="2240280"/>
            <a:ext cx="1645920" cy="402336"/>
          </a:xfrm>
          <a:prstGeom prst="roundRect">
            <a:avLst>
              <a:gd name="adj" fmla="val 18182"/>
            </a:avLst>
          </a:prstGeom>
          <a:solidFill>
            <a:schemeClr val="accent3">
              <a:alpha val="14000"/>
            </a:schemeClr>
          </a:solidFill>
          <a:ln w="15875">
            <a:solidFill>
              <a:schemeClr val="accent3"/>
            </a:solidFill>
            <a:prstDash val="solid"/>
          </a:ln>
        </p:spPr>
      </p:sp>
      <p:sp>
        <p:nvSpPr>
          <p:cNvPr id="61" name="Text 58"/>
          <p:cNvSpPr txBox="1"/>
          <p:nvPr/>
        </p:nvSpPr>
        <p:spPr>
          <a:xfrm>
            <a:off x="8778240" y="2240280"/>
            <a:ext cx="16459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Map</a:t>
            </a:r>
            <a:endParaRPr lang="en-US" sz="1300" dirty="0"/>
          </a:p>
        </p:txBody>
      </p:sp>
      <p:sp>
        <p:nvSpPr>
          <p:cNvPr id="62" name="Today tag"/>
          <p:cNvSpPr/>
          <p:nvPr/>
        </p:nvSpPr>
        <p:spPr>
          <a:xfrm>
            <a:off x="10533888" y="2322576"/>
            <a:ext cx="621792" cy="237744"/>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50" kern="0" dirty="0">
                <a:solidFill>
                  <a:schemeClr val="bg1"/>
                </a:solidFill>
              </a:rPr>
              <a:t>today</a:t>
            </a:r>
            <a:endParaRPr lang="en-US" sz="1100" dirty="0"/>
          </a:p>
        </p:txBody>
      </p:sp>
      <p:sp>
        <p:nvSpPr>
          <p:cNvPr id="63" name="HashMap"/>
          <p:cNvSpPr/>
          <p:nvPr/>
        </p:nvSpPr>
        <p:spPr>
          <a:xfrm>
            <a:off x="9189720" y="2926080"/>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4" name="Text 61"/>
          <p:cNvSpPr txBox="1"/>
          <p:nvPr/>
        </p:nvSpPr>
        <p:spPr>
          <a:xfrm>
            <a:off x="9189720" y="2926080"/>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HashMap</a:t>
            </a:r>
            <a:endParaRPr lang="en-US" sz="1300" dirty="0"/>
          </a:p>
        </p:txBody>
      </p:sp>
      <p:sp>
        <p:nvSpPr>
          <p:cNvPr id="65" name="LinkedHashMap"/>
          <p:cNvSpPr/>
          <p:nvPr/>
        </p:nvSpPr>
        <p:spPr>
          <a:xfrm>
            <a:off x="9189720" y="3456432"/>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6" name="Text 63"/>
          <p:cNvSpPr txBox="1"/>
          <p:nvPr/>
        </p:nvSpPr>
        <p:spPr>
          <a:xfrm>
            <a:off x="9189720" y="3456432"/>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LinkedHashMap</a:t>
            </a:r>
            <a:endParaRPr lang="en-US" sz="1300" dirty="0"/>
          </a:p>
        </p:txBody>
      </p:sp>
      <p:sp>
        <p:nvSpPr>
          <p:cNvPr id="67" name="Hashtable"/>
          <p:cNvSpPr/>
          <p:nvPr/>
        </p:nvSpPr>
        <p:spPr>
          <a:xfrm>
            <a:off x="9189720" y="3986784"/>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68" name="Text 65"/>
          <p:cNvSpPr txBox="1"/>
          <p:nvPr/>
        </p:nvSpPr>
        <p:spPr>
          <a:xfrm>
            <a:off x="9189720" y="3986784"/>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Hashtable</a:t>
            </a:r>
            <a:endParaRPr lang="en-US" sz="1300" dirty="0"/>
          </a:p>
        </p:txBody>
      </p:sp>
      <p:sp>
        <p:nvSpPr>
          <p:cNvPr id="69" name="SortedMap"/>
          <p:cNvSpPr/>
          <p:nvPr/>
        </p:nvSpPr>
        <p:spPr>
          <a:xfrm>
            <a:off x="9189720" y="4517136"/>
            <a:ext cx="1920240" cy="402336"/>
          </a:xfrm>
          <a:prstGeom prst="roundRect">
            <a:avLst>
              <a:gd name="adj" fmla="val 18182"/>
            </a:avLst>
          </a:prstGeom>
          <a:solidFill>
            <a:schemeClr val="accent3">
              <a:alpha val="14000"/>
            </a:schemeClr>
          </a:solidFill>
          <a:ln w="15875">
            <a:solidFill>
              <a:schemeClr val="accent3"/>
            </a:solidFill>
            <a:prstDash val="solid"/>
          </a:ln>
        </p:spPr>
      </p:sp>
      <p:sp>
        <p:nvSpPr>
          <p:cNvPr id="70" name="Text 67"/>
          <p:cNvSpPr txBox="1"/>
          <p:nvPr/>
        </p:nvSpPr>
        <p:spPr>
          <a:xfrm>
            <a:off x="9189720" y="4517136"/>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SortedMap</a:t>
            </a:r>
            <a:endParaRPr lang="en-US" sz="1300" dirty="0"/>
          </a:p>
        </p:txBody>
      </p:sp>
      <p:sp>
        <p:nvSpPr>
          <p:cNvPr id="71" name="Shape 68"/>
          <p:cNvSpPr/>
          <p:nvPr/>
        </p:nvSpPr>
        <p:spPr>
          <a:xfrm flipV="1">
            <a:off x="8961120" y="2642616"/>
            <a:ext cx="0" cy="2075688"/>
          </a:xfrm>
          <a:prstGeom prst="line">
            <a:avLst/>
          </a:prstGeom>
          <a:noFill/>
          <a:ln w="15875">
            <a:solidFill>
              <a:schemeClr val="tx2"/>
            </a:solidFill>
            <a:prstDash val="solid"/>
            <a:tailEnd type="triangle"/>
          </a:ln>
        </p:spPr>
      </p:sp>
      <p:sp>
        <p:nvSpPr>
          <p:cNvPr id="72" name="Shape 69"/>
          <p:cNvSpPr/>
          <p:nvPr/>
        </p:nvSpPr>
        <p:spPr>
          <a:xfrm>
            <a:off x="8961120" y="3127248"/>
            <a:ext cx="228600" cy="0"/>
          </a:xfrm>
          <a:prstGeom prst="line">
            <a:avLst/>
          </a:prstGeom>
          <a:noFill/>
          <a:ln w="15875">
            <a:solidFill>
              <a:schemeClr val="tx2"/>
            </a:solidFill>
            <a:prstDash val="solid"/>
          </a:ln>
        </p:spPr>
      </p:sp>
      <p:sp>
        <p:nvSpPr>
          <p:cNvPr id="73" name="Shape 70"/>
          <p:cNvSpPr/>
          <p:nvPr/>
        </p:nvSpPr>
        <p:spPr>
          <a:xfrm>
            <a:off x="8961120" y="3657600"/>
            <a:ext cx="228600" cy="0"/>
          </a:xfrm>
          <a:prstGeom prst="line">
            <a:avLst/>
          </a:prstGeom>
          <a:noFill/>
          <a:ln w="15875">
            <a:solidFill>
              <a:schemeClr val="tx2"/>
            </a:solidFill>
            <a:prstDash val="solid"/>
          </a:ln>
        </p:spPr>
      </p:sp>
      <p:sp>
        <p:nvSpPr>
          <p:cNvPr id="74" name="Shape 71"/>
          <p:cNvSpPr/>
          <p:nvPr/>
        </p:nvSpPr>
        <p:spPr>
          <a:xfrm>
            <a:off x="8961120" y="4187952"/>
            <a:ext cx="228600" cy="0"/>
          </a:xfrm>
          <a:prstGeom prst="line">
            <a:avLst/>
          </a:prstGeom>
          <a:noFill/>
          <a:ln w="15875">
            <a:solidFill>
              <a:schemeClr val="tx2"/>
            </a:solidFill>
            <a:prstDash val="solid"/>
          </a:ln>
        </p:spPr>
      </p:sp>
      <p:sp>
        <p:nvSpPr>
          <p:cNvPr id="75" name="Shape 72"/>
          <p:cNvSpPr/>
          <p:nvPr/>
        </p:nvSpPr>
        <p:spPr>
          <a:xfrm>
            <a:off x="8961120" y="4718304"/>
            <a:ext cx="228600" cy="0"/>
          </a:xfrm>
          <a:prstGeom prst="line">
            <a:avLst/>
          </a:prstGeom>
          <a:noFill/>
          <a:ln w="15875">
            <a:solidFill>
              <a:schemeClr val="tx2"/>
            </a:solidFill>
            <a:prstDash val="solid"/>
          </a:ln>
        </p:spPr>
      </p:sp>
      <p:sp>
        <p:nvSpPr>
          <p:cNvPr id="76" name="TreeMap"/>
          <p:cNvSpPr/>
          <p:nvPr/>
        </p:nvSpPr>
        <p:spPr>
          <a:xfrm>
            <a:off x="9189720" y="5138928"/>
            <a:ext cx="1920240" cy="402336"/>
          </a:xfrm>
          <a:prstGeom prst="roundRect">
            <a:avLst>
              <a:gd name="adj" fmla="val 18182"/>
            </a:avLst>
          </a:prstGeom>
          <a:solidFill>
            <a:schemeClr val="accent1">
              <a:alpha val="14000"/>
            </a:schemeClr>
          </a:solidFill>
          <a:ln w="15875">
            <a:solidFill>
              <a:schemeClr val="accent1"/>
            </a:solidFill>
            <a:prstDash val="solid"/>
          </a:ln>
        </p:spPr>
      </p:sp>
      <p:sp>
        <p:nvSpPr>
          <p:cNvPr id="77" name="Text 74"/>
          <p:cNvSpPr txBox="1"/>
          <p:nvPr/>
        </p:nvSpPr>
        <p:spPr>
          <a:xfrm>
            <a:off x="9189720" y="5138928"/>
            <a:ext cx="19202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TreeMap</a:t>
            </a:r>
            <a:endParaRPr lang="en-US" sz="1300" dirty="0"/>
          </a:p>
        </p:txBody>
      </p:sp>
      <p:sp>
        <p:nvSpPr>
          <p:cNvPr id="78" name="Shape 75"/>
          <p:cNvSpPr/>
          <p:nvPr/>
        </p:nvSpPr>
        <p:spPr>
          <a:xfrm flipV="1">
            <a:off x="10149840" y="4919472"/>
            <a:ext cx="0" cy="219456"/>
          </a:xfrm>
          <a:prstGeom prst="line">
            <a:avLst/>
          </a:prstGeom>
          <a:noFill/>
          <a:ln w="15875">
            <a:solidFill>
              <a:schemeClr val="tx2"/>
            </a:solidFill>
            <a:prstDash val="solid"/>
            <a:tailEnd type="triangle"/>
          </a:ln>
        </p:spPr>
      </p:sp>
      <p:sp>
        <p:nvSpPr>
          <p:cNvPr id="79" name="Shape 76"/>
          <p:cNvSpPr/>
          <p:nvPr/>
        </p:nvSpPr>
        <p:spPr>
          <a:xfrm>
            <a:off x="548640" y="5943600"/>
            <a:ext cx="384048" cy="237744"/>
          </a:xfrm>
          <a:prstGeom prst="roundRect">
            <a:avLst>
              <a:gd name="adj" fmla="val 19231"/>
            </a:avLst>
          </a:prstGeom>
          <a:solidFill>
            <a:schemeClr val="accent3">
              <a:alpha val="14000"/>
            </a:schemeClr>
          </a:solidFill>
          <a:ln w="15875">
            <a:solidFill>
              <a:schemeClr val="accent3"/>
            </a:solidFill>
            <a:prstDash val="solid"/>
          </a:ln>
        </p:spPr>
      </p:sp>
      <p:sp>
        <p:nvSpPr>
          <p:cNvPr id="80" name="Text 77"/>
          <p:cNvSpPr txBox="1"/>
          <p:nvPr/>
        </p:nvSpPr>
        <p:spPr>
          <a:xfrm>
            <a:off x="1024128" y="5907024"/>
            <a:ext cx="1097280" cy="310896"/>
          </a:xfrm>
          <a:prstGeom prst="rect">
            <a:avLst/>
          </a:prstGeom>
          <a:noFill/>
          <a:ln/>
        </p:spPr>
        <p:txBody>
          <a:bodyPr wrap="square" lIns="0" tIns="0" rIns="0" bIns="0" rtlCol="0" anchor="ctr"/>
          <a:lstStyle/>
          <a:p>
            <a:pPr algn="l" indent="0" marL="0">
              <a:buNone/>
            </a:pPr>
            <a:r>
              <a:rPr lang="en-US" sz="1300" dirty="0">
                <a:solidFill>
                  <a:schemeClr val="tx2"/>
                </a:solidFill>
              </a:rPr>
              <a:t>interface</a:t>
            </a:r>
            <a:endParaRPr lang="en-US" sz="1300" dirty="0"/>
          </a:p>
        </p:txBody>
      </p:sp>
      <p:sp>
        <p:nvSpPr>
          <p:cNvPr id="81" name="Shape 78"/>
          <p:cNvSpPr/>
          <p:nvPr/>
        </p:nvSpPr>
        <p:spPr>
          <a:xfrm>
            <a:off x="2148840" y="5943600"/>
            <a:ext cx="384048" cy="237744"/>
          </a:xfrm>
          <a:prstGeom prst="roundRect">
            <a:avLst>
              <a:gd name="adj" fmla="val 19231"/>
            </a:avLst>
          </a:prstGeom>
          <a:solidFill>
            <a:schemeClr val="accent1">
              <a:alpha val="14000"/>
            </a:schemeClr>
          </a:solidFill>
          <a:ln w="15875">
            <a:solidFill>
              <a:schemeClr val="accent1"/>
            </a:solidFill>
            <a:prstDash val="solid"/>
          </a:ln>
        </p:spPr>
      </p:sp>
      <p:sp>
        <p:nvSpPr>
          <p:cNvPr id="82" name="Text 79"/>
          <p:cNvSpPr txBox="1"/>
          <p:nvPr/>
        </p:nvSpPr>
        <p:spPr>
          <a:xfrm>
            <a:off x="2624328" y="5907024"/>
            <a:ext cx="914400" cy="310896"/>
          </a:xfrm>
          <a:prstGeom prst="rect">
            <a:avLst/>
          </a:prstGeom>
          <a:noFill/>
          <a:ln/>
        </p:spPr>
        <p:txBody>
          <a:bodyPr wrap="square" lIns="0" tIns="0" rIns="0" bIns="0" rtlCol="0" anchor="ctr"/>
          <a:lstStyle/>
          <a:p>
            <a:pPr algn="l" indent="0" marL="0">
              <a:buNone/>
            </a:pPr>
            <a:r>
              <a:rPr lang="en-US" sz="1300" dirty="0">
                <a:solidFill>
                  <a:schemeClr val="tx2"/>
                </a:solidFill>
              </a:rPr>
              <a:t>class</a:t>
            </a:r>
            <a:endParaRPr lang="en-US" sz="1300" dirty="0"/>
          </a:p>
        </p:txBody>
      </p:sp>
      <p:sp>
        <p:nvSpPr>
          <p:cNvPr id="83" name="Shape 80"/>
          <p:cNvSpPr/>
          <p:nvPr/>
        </p:nvSpPr>
        <p:spPr>
          <a:xfrm>
            <a:off x="3520440" y="5943600"/>
            <a:ext cx="384048" cy="237744"/>
          </a:xfrm>
          <a:prstGeom prst="roundRect">
            <a:avLst>
              <a:gd name="adj" fmla="val 19231"/>
            </a:avLst>
          </a:prstGeom>
          <a:solidFill>
            <a:schemeClr val="bg2"/>
          </a:solidFill>
          <a:ln w="15875">
            <a:solidFill>
              <a:srgbClr val="D5DCE6"/>
            </a:solidFill>
            <a:prstDash val="solid"/>
          </a:ln>
        </p:spPr>
      </p:sp>
      <p:sp>
        <p:nvSpPr>
          <p:cNvPr id="84" name="Text 81"/>
          <p:cNvSpPr txBox="1"/>
          <p:nvPr/>
        </p:nvSpPr>
        <p:spPr>
          <a:xfrm>
            <a:off x="3995928" y="5907024"/>
            <a:ext cx="2011680" cy="310896"/>
          </a:xfrm>
          <a:prstGeom prst="rect">
            <a:avLst/>
          </a:prstGeom>
          <a:noFill/>
          <a:ln/>
        </p:spPr>
        <p:txBody>
          <a:bodyPr wrap="square" lIns="0" tIns="0" rIns="0" bIns="0" rtlCol="0" anchor="ctr"/>
          <a:lstStyle/>
          <a:p>
            <a:pPr algn="l" indent="0" marL="0">
              <a:buNone/>
            </a:pPr>
            <a:r>
              <a:rPr lang="en-US" sz="1300" dirty="0">
                <a:solidFill>
                  <a:schemeClr val="tx2"/>
                </a:solidFill>
              </a:rPr>
              <a:t>from Lecture 9</a:t>
            </a:r>
            <a:endParaRPr lang="en-US" sz="1300" dirty="0"/>
          </a:p>
        </p:txBody>
      </p:sp>
      <p:sp>
        <p:nvSpPr>
          <p:cNvPr id="85" name="Shape 82"/>
          <p:cNvSpPr/>
          <p:nvPr/>
        </p:nvSpPr>
        <p:spPr>
          <a:xfrm>
            <a:off x="5623560" y="6062472"/>
            <a:ext cx="457200" cy="0"/>
          </a:xfrm>
          <a:prstGeom prst="line">
            <a:avLst/>
          </a:prstGeom>
          <a:noFill/>
          <a:ln w="15875">
            <a:solidFill>
              <a:schemeClr val="tx2"/>
            </a:solidFill>
            <a:prstDash val="solid"/>
            <a:tailEnd type="triangle"/>
          </a:ln>
        </p:spPr>
      </p:sp>
      <p:sp>
        <p:nvSpPr>
          <p:cNvPr id="86" name="Text 83"/>
          <p:cNvSpPr txBox="1"/>
          <p:nvPr/>
        </p:nvSpPr>
        <p:spPr>
          <a:xfrm>
            <a:off x="6217920" y="5907024"/>
            <a:ext cx="4572000" cy="310896"/>
          </a:xfrm>
          <a:prstGeom prst="rect">
            <a:avLst/>
          </a:prstGeom>
          <a:noFill/>
          <a:ln/>
        </p:spPr>
        <p:txBody>
          <a:bodyPr wrap="square" lIns="0" tIns="0" rIns="0" bIns="0" rtlCol="0" anchor="ctr"/>
          <a:lstStyle/>
          <a:p>
            <a:pPr algn="l" indent="0" marL="0">
              <a:buNone/>
            </a:pPr>
            <a:r>
              <a:rPr lang="en-US" sz="1300" dirty="0">
                <a:solidFill>
                  <a:schemeClr val="tx2"/>
                </a:solidFill>
              </a:rPr>
              <a:t>leads to what it extends or implements</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3</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statement about the Collections Framework is true?</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Map</a:t>
            </a:r>
            <a:r>
              <a:rPr lang="en-US" sz="2000" dirty="0">
                <a:solidFill>
                  <a:schemeClr val="tx1"/>
                </a:solidFill>
              </a:rPr>
              <a:t> extends </a:t>
            </a:r>
            <a:r>
              <a:rPr lang="en-US" sz="2000" dirty="0">
                <a:solidFill>
                  <a:schemeClr val="accent2"/>
                </a:solidFill>
                <a:latin typeface="Consolas" pitchFamily="34" charset="0"/>
                <a:ea typeface="Consolas" pitchFamily="34" charset="-122"/>
                <a:cs typeface="Consolas" pitchFamily="34" charset="-120"/>
              </a:rPr>
              <a:t>Collection</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Set</a:t>
            </a:r>
            <a:r>
              <a:rPr lang="en-US" sz="2000" dirty="0">
                <a:solidFill>
                  <a:schemeClr val="tx1"/>
                </a:solidFill>
              </a:rPr>
              <a:t> extends </a:t>
            </a:r>
            <a:r>
              <a:rPr lang="en-US" sz="2000" dirty="0">
                <a:solidFill>
                  <a:schemeClr val="accent2"/>
                </a:solidFill>
                <a:latin typeface="Consolas" pitchFamily="34" charset="0"/>
                <a:ea typeface="Consolas" pitchFamily="34" charset="-122"/>
                <a:cs typeface="Consolas" pitchFamily="34" charset="-120"/>
              </a:rPr>
              <a:t>List</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Collection</a:t>
            </a:r>
            <a:r>
              <a:rPr lang="en-US" sz="2000" dirty="0">
                <a:solidFill>
                  <a:schemeClr val="tx1"/>
                </a:solidFill>
              </a:rPr>
              <a:t> extends </a:t>
            </a:r>
            <a:r>
              <a:rPr lang="en-US" sz="2000" dirty="0">
                <a:solidFill>
                  <a:schemeClr val="accent2"/>
                </a:solidFill>
                <a:latin typeface="Consolas" pitchFamily="34" charset="0"/>
                <a:ea typeface="Consolas" pitchFamily="34" charset="-122"/>
                <a:cs typeface="Consolas" pitchFamily="34" charset="-120"/>
              </a:rPr>
              <a:t>Iterable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Every collection class is </a:t>
            </a:r>
            <a:r>
              <a:rPr lang="en-US" sz="2000" dirty="0">
                <a:solidFill>
                  <a:schemeClr val="accent2"/>
                </a:solidFill>
                <a:latin typeface="Consolas" pitchFamily="34" charset="0"/>
                <a:ea typeface="Consolas" pitchFamily="34" charset="-122"/>
                <a:cs typeface="Consolas" pitchFamily="34" charset="-120"/>
              </a:rPr>
              <a:t>Comparable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3</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framework</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statement about the Collections Framework is true?</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Map</a:t>
            </a:r>
            <a:r>
              <a:rPr lang="en-US" sz="1700" dirty="0">
                <a:solidFill>
                  <a:schemeClr val="tx2"/>
                </a:solidFill>
              </a:rPr>
              <a:t> extends </a:t>
            </a:r>
            <a:r>
              <a:rPr lang="en-US" sz="1700" dirty="0">
                <a:solidFill>
                  <a:schemeClr val="tx2"/>
                </a:solidFill>
                <a:latin typeface="Consolas" pitchFamily="34" charset="0"/>
                <a:ea typeface="Consolas" pitchFamily="34" charset="-122"/>
                <a:cs typeface="Consolas" pitchFamily="34" charset="-120"/>
              </a:rPr>
              <a:t>Collection</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Set</a:t>
            </a:r>
            <a:r>
              <a:rPr lang="en-US" sz="1700" dirty="0">
                <a:solidFill>
                  <a:schemeClr val="tx2"/>
                </a:solidFill>
              </a:rPr>
              <a:t> extends </a:t>
            </a:r>
            <a:r>
              <a:rPr lang="en-US" sz="1700" dirty="0">
                <a:solidFill>
                  <a:schemeClr val="tx2"/>
                </a:solidFill>
                <a:latin typeface="Consolas" pitchFamily="34" charset="0"/>
                <a:ea typeface="Consolas" pitchFamily="34" charset="-122"/>
                <a:cs typeface="Consolas" pitchFamily="34" charset="-120"/>
              </a:rPr>
              <a:t>List</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Collection</a:t>
            </a:r>
            <a:r>
              <a:rPr lang="en-US" sz="1700" b="1" dirty="0">
                <a:solidFill>
                  <a:schemeClr val="bg1"/>
                </a:solidFill>
              </a:rPr>
              <a:t> extends </a:t>
            </a:r>
            <a:r>
              <a:rPr lang="en-US" sz="1700" b="1" dirty="0">
                <a:solidFill>
                  <a:schemeClr val="bg1"/>
                </a:solidFill>
                <a:latin typeface="Consolas" pitchFamily="34" charset="0"/>
                <a:ea typeface="Consolas" pitchFamily="34" charset="-122"/>
                <a:cs typeface="Consolas" pitchFamily="34" charset="-120"/>
              </a:rPr>
              <a:t>Iterable</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Every collection class is </a:t>
            </a:r>
            <a:r>
              <a:rPr lang="en-US" sz="1700" dirty="0">
                <a:solidFill>
                  <a:schemeClr val="tx2"/>
                </a:solidFill>
                <a:latin typeface="Consolas" pitchFamily="34" charset="0"/>
                <a:ea typeface="Consolas" pitchFamily="34" charset="-122"/>
                <a:cs typeface="Consolas" pitchFamily="34" charset="-120"/>
              </a:rPr>
              <a:t>Comparable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Collection</a:t>
            </a:r>
            <a:r>
              <a:rPr lang="en-US" sz="1800" dirty="0">
                <a:solidFill>
                  <a:schemeClr val="tx1"/>
                </a:solidFill>
              </a:rPr>
              <a:t> extends </a:t>
            </a:r>
            <a:r>
              <a:rPr lang="en-US" sz="1800" dirty="0">
                <a:solidFill>
                  <a:schemeClr val="accent2"/>
                </a:solidFill>
                <a:latin typeface="Consolas" pitchFamily="34" charset="0"/>
                <a:ea typeface="Consolas" pitchFamily="34" charset="-122"/>
                <a:cs typeface="Consolas" pitchFamily="34" charset="-120"/>
              </a:rPr>
              <a:t>Iterable</a:t>
            </a:r>
            <a:r>
              <a:rPr lang="en-US" sz="1800" dirty="0">
                <a:solidFill>
                  <a:schemeClr val="tx1"/>
                </a:solidFill>
              </a:rPr>
              <a:t>, which is why a for-each loop works on every list, set and queue. </a:t>
            </a:r>
            <a:r>
              <a:rPr lang="en-US" sz="1800" dirty="0">
                <a:solidFill>
                  <a:schemeClr val="accent2"/>
                </a:solidFill>
                <a:latin typeface="Consolas" pitchFamily="34" charset="0"/>
                <a:ea typeface="Consolas" pitchFamily="34" charset="-122"/>
                <a:cs typeface="Consolas" pitchFamily="34" charset="-120"/>
              </a:rPr>
              <a:t>Map</a:t>
            </a:r>
            <a:r>
              <a:rPr lang="en-US" sz="1800" dirty="0">
                <a:solidFill>
                  <a:schemeClr val="tx1"/>
                </a:solidFill>
              </a:rPr>
              <a:t> has its own separate tree, </a:t>
            </a:r>
            <a:r>
              <a:rPr lang="en-US" sz="1800" dirty="0">
                <a:solidFill>
                  <a:schemeClr val="accent2"/>
                </a:solidFill>
                <a:latin typeface="Consolas" pitchFamily="34" charset="0"/>
                <a:ea typeface="Consolas" pitchFamily="34" charset="-122"/>
                <a:cs typeface="Consolas" pitchFamily="34" charset="-120"/>
              </a:rPr>
              <a:t>Set</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List</a:t>
            </a:r>
            <a:r>
              <a:rPr lang="en-US" sz="1800" dirty="0">
                <a:solidFill>
                  <a:schemeClr val="tx1"/>
                </a:solidFill>
              </a:rPr>
              <a:t> are separate branches under </a:t>
            </a:r>
            <a:r>
              <a:rPr lang="en-US" sz="1800" dirty="0">
                <a:solidFill>
                  <a:schemeClr val="accent2"/>
                </a:solidFill>
                <a:latin typeface="Consolas" pitchFamily="34" charset="0"/>
                <a:ea typeface="Consolas" pitchFamily="34" charset="-122"/>
                <a:cs typeface="Consolas" pitchFamily="34" charset="-120"/>
              </a:rPr>
              <a:t>Collection</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Comparable</a:t>
            </a:r>
            <a:r>
              <a:rPr lang="en-US" sz="1800" dirty="0">
                <a:solidFill>
                  <a:schemeClr val="tx1"/>
                </a:solidFill>
              </a:rPr>
              <a:t> is about the items, not the collections.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02</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Hash tables and HashMap</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Storing a value under a key</a:t>
            </a:r>
            <a:endParaRPr lang="en-US" sz="2000" dirty="0"/>
          </a:p>
        </p:txBody>
      </p:sp>
      <p:sp>
        <p:nvSpPr>
          <p:cNvPr id="5" name="Topic chip"/>
          <p:cNvSpPr/>
          <p:nvPr/>
        </p:nvSpPr>
        <p:spPr>
          <a:xfrm>
            <a:off x="822960" y="4846320"/>
            <a:ext cx="178970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Keys and values</a:t>
            </a:r>
            <a:endParaRPr lang="en-US" sz="1400" dirty="0"/>
          </a:p>
        </p:txBody>
      </p:sp>
      <p:sp>
        <p:nvSpPr>
          <p:cNvPr id="6" name="Topic chip"/>
          <p:cNvSpPr/>
          <p:nvPr/>
        </p:nvSpPr>
        <p:spPr>
          <a:xfrm>
            <a:off x="2758973" y="4846320"/>
            <a:ext cx="160472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Hash function</a:t>
            </a:r>
            <a:endParaRPr lang="en-US" sz="1400" dirty="0"/>
          </a:p>
        </p:txBody>
      </p:sp>
      <p:sp>
        <p:nvSpPr>
          <p:cNvPr id="7" name="Topic chip"/>
          <p:cNvSpPr/>
          <p:nvPr/>
        </p:nvSpPr>
        <p:spPr>
          <a:xfrm>
            <a:off x="4510004" y="4846320"/>
            <a:ext cx="1049777"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HashMap</a:t>
            </a:r>
            <a:endParaRPr lang="en-US" sz="1400" dirty="0"/>
          </a:p>
        </p:txBody>
      </p:sp>
      <p:sp>
        <p:nvSpPr>
          <p:cNvPr id="8" name="Topic chip"/>
          <p:cNvSpPr/>
          <p:nvPr/>
        </p:nvSpPr>
        <p:spPr>
          <a:xfrm>
            <a:off x="5706085" y="4846320"/>
            <a:ext cx="234465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Looping through a map</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HASH TABLES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Keys and values</a:t>
            </a:r>
            <a:endParaRPr lang="en-US" sz="3400" dirty="0"/>
          </a:p>
        </p:txBody>
      </p:sp>
      <p:sp>
        <p:nvSpPr>
          <p:cNvPr id="5" name="Text 2"/>
          <p:cNvSpPr txBox="1"/>
          <p:nvPr/>
        </p:nvSpPr>
        <p:spPr>
          <a:xfrm>
            <a:off x="548640" y="1783080"/>
            <a:ext cx="5486400" cy="42062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 hash table stores entries. Each entry has two parts: a key and a value.</a:t>
            </a:r>
            <a:endParaRPr lang="en-US" sz="1700" dirty="0"/>
          </a:p>
          <a:p>
            <a:pPr marL="228600" indent="-228600">
              <a:spcAft>
                <a:spcPts val="1000"/>
              </a:spcAft>
              <a:buSzPct val="100000"/>
              <a:buChar char="•"/>
            </a:pPr>
            <a:r>
              <a:rPr lang="en-US" sz="1700" dirty="0">
                <a:solidFill>
                  <a:schemeClr val="tx1"/>
                </a:solidFill>
              </a:rPr>
              <a:t>We use the key to look up its value, so the key is also called the search key.</a:t>
            </a:r>
            <a:endParaRPr lang="en-US" sz="1700" dirty="0"/>
          </a:p>
          <a:p>
            <a:pPr marL="228600" indent="-228600">
              <a:spcAft>
                <a:spcPts val="1000"/>
              </a:spcAft>
              <a:buSzPct val="100000"/>
              <a:buChar char="•"/>
            </a:pPr>
            <a:r>
              <a:rPr lang="en-US" sz="1700" dirty="0">
                <a:solidFill>
                  <a:schemeClr val="tx1"/>
                </a:solidFill>
              </a:rPr>
              <a:t>A dictionary works the same way: the words are the keys and their meanings are the values.</a:t>
            </a:r>
            <a:endParaRPr lang="en-US" sz="1700" dirty="0"/>
          </a:p>
          <a:p>
            <a:pPr marL="228600" indent="-228600">
              <a:buSzPct val="100000"/>
              <a:buChar char="•"/>
            </a:pPr>
            <a:r>
              <a:rPr lang="en-US" sz="1700" dirty="0">
                <a:solidFill>
                  <a:schemeClr val="tx1"/>
                </a:solidFill>
              </a:rPr>
              <a:t>The same idea has other names: a map, a dictionary or an associative array.</a:t>
            </a:r>
            <a:endParaRPr lang="en-US" sz="1700" dirty="0"/>
          </a:p>
        </p:txBody>
      </p:sp>
      <p:sp>
        <p:nvSpPr>
          <p:cNvPr id="6" name="Text 3"/>
          <p:cNvSpPr txBox="1"/>
          <p:nvPr/>
        </p:nvSpPr>
        <p:spPr>
          <a:xfrm>
            <a:off x="6400800" y="1783080"/>
            <a:ext cx="1737360" cy="274320"/>
          </a:xfrm>
          <a:prstGeom prst="rect">
            <a:avLst/>
          </a:prstGeom>
          <a:noFill/>
          <a:ln/>
        </p:spPr>
        <p:txBody>
          <a:bodyPr wrap="square" lIns="0" tIns="0" rIns="0" bIns="0" rtlCol="0" anchor="t"/>
          <a:lstStyle/>
          <a:p>
            <a:pPr algn="ctr" indent="0" marL="0">
              <a:buNone/>
            </a:pPr>
            <a:r>
              <a:rPr lang="en-US" sz="1300" i="1" dirty="0">
                <a:solidFill>
                  <a:schemeClr val="tx2"/>
                </a:solidFill>
              </a:rPr>
              <a:t>key</a:t>
            </a:r>
            <a:endParaRPr lang="en-US" sz="1300" dirty="0"/>
          </a:p>
        </p:txBody>
      </p:sp>
      <p:sp>
        <p:nvSpPr>
          <p:cNvPr id="7" name="Text 4"/>
          <p:cNvSpPr txBox="1"/>
          <p:nvPr/>
        </p:nvSpPr>
        <p:spPr>
          <a:xfrm>
            <a:off x="8686800" y="1783080"/>
            <a:ext cx="2956255" cy="274320"/>
          </a:xfrm>
          <a:prstGeom prst="rect">
            <a:avLst/>
          </a:prstGeom>
          <a:noFill/>
          <a:ln/>
        </p:spPr>
        <p:txBody>
          <a:bodyPr wrap="square" lIns="0" tIns="0" rIns="0" bIns="0" rtlCol="0" anchor="t"/>
          <a:lstStyle/>
          <a:p>
            <a:pPr algn="ctr" indent="0" marL="0">
              <a:buNone/>
            </a:pPr>
            <a:r>
              <a:rPr lang="en-US" sz="1300" i="1" dirty="0">
                <a:solidFill>
                  <a:schemeClr val="tx2"/>
                </a:solidFill>
              </a:rPr>
              <a:t>value</a:t>
            </a:r>
            <a:endParaRPr lang="en-US" sz="1300" dirty="0"/>
          </a:p>
        </p:txBody>
      </p:sp>
      <p:sp>
        <p:nvSpPr>
          <p:cNvPr id="8" name="Key &quot;class&quot;"/>
          <p:cNvSpPr/>
          <p:nvPr/>
        </p:nvSpPr>
        <p:spPr>
          <a:xfrm>
            <a:off x="6400800" y="2148840"/>
            <a:ext cx="1737360" cy="566928"/>
          </a:xfrm>
          <a:prstGeom prst="roundRect">
            <a:avLst>
              <a:gd name="adj" fmla="val 16129"/>
            </a:avLst>
          </a:prstGeom>
          <a:solidFill>
            <a:schemeClr val="accent5">
              <a:alpha val="14000"/>
            </a:schemeClr>
          </a:solidFill>
          <a:ln w="19050">
            <a:solidFill>
              <a:schemeClr val="accent5"/>
            </a:solidFill>
            <a:prstDash val="solid"/>
          </a:ln>
        </p:spPr>
      </p:sp>
      <p:sp>
        <p:nvSpPr>
          <p:cNvPr id="9" name="Text 6"/>
          <p:cNvSpPr txBox="1"/>
          <p:nvPr/>
        </p:nvSpPr>
        <p:spPr>
          <a:xfrm>
            <a:off x="6400800" y="2148840"/>
            <a:ext cx="173736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"class"</a:t>
            </a:r>
            <a:endParaRPr lang="en-US" sz="1600" dirty="0"/>
          </a:p>
        </p:txBody>
      </p:sp>
      <p:sp>
        <p:nvSpPr>
          <p:cNvPr id="10" name="Shape 7"/>
          <p:cNvSpPr/>
          <p:nvPr/>
        </p:nvSpPr>
        <p:spPr>
          <a:xfrm>
            <a:off x="8183880" y="2432304"/>
            <a:ext cx="457200" cy="0"/>
          </a:xfrm>
          <a:prstGeom prst="line">
            <a:avLst/>
          </a:prstGeom>
          <a:noFill/>
          <a:ln w="19050">
            <a:solidFill>
              <a:schemeClr val="tx2"/>
            </a:solidFill>
            <a:prstDash val="solid"/>
            <a:tailEnd type="triangle"/>
          </a:ln>
        </p:spPr>
      </p:sp>
      <p:sp>
        <p:nvSpPr>
          <p:cNvPr id="11" name="Value"/>
          <p:cNvSpPr/>
          <p:nvPr/>
        </p:nvSpPr>
        <p:spPr>
          <a:xfrm>
            <a:off x="8686800" y="2148840"/>
            <a:ext cx="2956255" cy="566928"/>
          </a:xfrm>
          <a:prstGeom prst="roundRect">
            <a:avLst>
              <a:gd name="adj" fmla="val 16129"/>
            </a:avLst>
          </a:prstGeom>
          <a:solidFill>
            <a:schemeClr val="bg2"/>
          </a:solidFill>
          <a:ln/>
        </p:spPr>
      </p:sp>
      <p:sp>
        <p:nvSpPr>
          <p:cNvPr id="12" name="Text 9"/>
          <p:cNvSpPr txBox="1"/>
          <p:nvPr/>
        </p:nvSpPr>
        <p:spPr>
          <a:xfrm>
            <a:off x="8686800" y="2148840"/>
            <a:ext cx="2956255" cy="566928"/>
          </a:xfrm>
          <a:prstGeom prst="rect">
            <a:avLst/>
          </a:prstGeom>
          <a:noFill/>
          <a:ln/>
        </p:spPr>
        <p:txBody>
          <a:bodyPr wrap="square" lIns="114300" tIns="0" rIns="0" bIns="0" rtlCol="0" anchor="ctr"/>
          <a:lstStyle/>
          <a:p>
            <a:pPr algn="l" indent="0" marL="0">
              <a:buNone/>
            </a:pPr>
            <a:r>
              <a:rPr lang="en-US" sz="1500" dirty="0">
                <a:solidFill>
                  <a:schemeClr val="tx1"/>
                </a:solidFill>
              </a:rPr>
              <a:t>a blueprint for making objects</a:t>
            </a:r>
            <a:endParaRPr lang="en-US" sz="1500" dirty="0"/>
          </a:p>
        </p:txBody>
      </p:sp>
      <p:sp>
        <p:nvSpPr>
          <p:cNvPr id="13" name="Key &quot;loop&quot;"/>
          <p:cNvSpPr/>
          <p:nvPr/>
        </p:nvSpPr>
        <p:spPr>
          <a:xfrm>
            <a:off x="6400800" y="2926080"/>
            <a:ext cx="1737360" cy="566928"/>
          </a:xfrm>
          <a:prstGeom prst="roundRect">
            <a:avLst>
              <a:gd name="adj" fmla="val 16129"/>
            </a:avLst>
          </a:prstGeom>
          <a:solidFill>
            <a:schemeClr val="accent5">
              <a:alpha val="14000"/>
            </a:schemeClr>
          </a:solidFill>
          <a:ln w="19050">
            <a:solidFill>
              <a:schemeClr val="accent5"/>
            </a:solidFill>
            <a:prstDash val="solid"/>
          </a:ln>
        </p:spPr>
      </p:sp>
      <p:sp>
        <p:nvSpPr>
          <p:cNvPr id="14" name="Text 11"/>
          <p:cNvSpPr txBox="1"/>
          <p:nvPr/>
        </p:nvSpPr>
        <p:spPr>
          <a:xfrm>
            <a:off x="6400800" y="2926080"/>
            <a:ext cx="173736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"loop"</a:t>
            </a:r>
            <a:endParaRPr lang="en-US" sz="1600" dirty="0"/>
          </a:p>
        </p:txBody>
      </p:sp>
      <p:sp>
        <p:nvSpPr>
          <p:cNvPr id="15" name="Shape 12"/>
          <p:cNvSpPr/>
          <p:nvPr/>
        </p:nvSpPr>
        <p:spPr>
          <a:xfrm>
            <a:off x="8183880" y="3209544"/>
            <a:ext cx="457200" cy="0"/>
          </a:xfrm>
          <a:prstGeom prst="line">
            <a:avLst/>
          </a:prstGeom>
          <a:noFill/>
          <a:ln w="19050">
            <a:solidFill>
              <a:schemeClr val="tx2"/>
            </a:solidFill>
            <a:prstDash val="solid"/>
            <a:tailEnd type="triangle"/>
          </a:ln>
        </p:spPr>
      </p:sp>
      <p:sp>
        <p:nvSpPr>
          <p:cNvPr id="16" name="Value"/>
          <p:cNvSpPr/>
          <p:nvPr/>
        </p:nvSpPr>
        <p:spPr>
          <a:xfrm>
            <a:off x="8686800" y="2926080"/>
            <a:ext cx="2956255" cy="566928"/>
          </a:xfrm>
          <a:prstGeom prst="roundRect">
            <a:avLst>
              <a:gd name="adj" fmla="val 16129"/>
            </a:avLst>
          </a:prstGeom>
          <a:solidFill>
            <a:schemeClr val="bg2"/>
          </a:solidFill>
          <a:ln/>
        </p:spPr>
      </p:sp>
      <p:sp>
        <p:nvSpPr>
          <p:cNvPr id="17" name="Text 14"/>
          <p:cNvSpPr txBox="1"/>
          <p:nvPr/>
        </p:nvSpPr>
        <p:spPr>
          <a:xfrm>
            <a:off x="8686800" y="2926080"/>
            <a:ext cx="2956255" cy="566928"/>
          </a:xfrm>
          <a:prstGeom prst="rect">
            <a:avLst/>
          </a:prstGeom>
          <a:noFill/>
          <a:ln/>
        </p:spPr>
        <p:txBody>
          <a:bodyPr wrap="square" lIns="114300" tIns="0" rIns="0" bIns="0" rtlCol="0" anchor="ctr"/>
          <a:lstStyle/>
          <a:p>
            <a:pPr algn="l" indent="0" marL="0">
              <a:buNone/>
            </a:pPr>
            <a:r>
              <a:rPr lang="en-US" sz="1500" dirty="0">
                <a:solidFill>
                  <a:schemeClr val="tx1"/>
                </a:solidFill>
              </a:rPr>
              <a:t>code that runs again and again</a:t>
            </a:r>
            <a:endParaRPr lang="en-US" sz="1500" dirty="0"/>
          </a:p>
        </p:txBody>
      </p:sp>
      <p:sp>
        <p:nvSpPr>
          <p:cNvPr id="18" name="Key &quot;set&quot;"/>
          <p:cNvSpPr/>
          <p:nvPr/>
        </p:nvSpPr>
        <p:spPr>
          <a:xfrm>
            <a:off x="6400800" y="3703320"/>
            <a:ext cx="1737360" cy="566928"/>
          </a:xfrm>
          <a:prstGeom prst="roundRect">
            <a:avLst>
              <a:gd name="adj" fmla="val 16129"/>
            </a:avLst>
          </a:prstGeom>
          <a:solidFill>
            <a:schemeClr val="accent5">
              <a:alpha val="14000"/>
            </a:schemeClr>
          </a:solidFill>
          <a:ln w="19050">
            <a:solidFill>
              <a:schemeClr val="accent5"/>
            </a:solidFill>
            <a:prstDash val="solid"/>
          </a:ln>
        </p:spPr>
      </p:sp>
      <p:sp>
        <p:nvSpPr>
          <p:cNvPr id="19" name="Text 16"/>
          <p:cNvSpPr txBox="1"/>
          <p:nvPr/>
        </p:nvSpPr>
        <p:spPr>
          <a:xfrm>
            <a:off x="6400800" y="3703320"/>
            <a:ext cx="1737360" cy="566928"/>
          </a:xfrm>
          <a:prstGeom prst="rect">
            <a:avLst/>
          </a:prstGeom>
          <a:noFill/>
          <a:ln/>
        </p:spPr>
        <p:txBody>
          <a:bodyPr wrap="square" lIns="0" tIns="0" rIns="0" bIns="0" rtlCol="0" anchor="ctr"/>
          <a:lstStyle/>
          <a:p>
            <a:pPr algn="ctr" indent="0" marL="0">
              <a:buNone/>
            </a:pPr>
            <a:r>
              <a:rPr lang="en-US" sz="1600" b="1" dirty="0">
                <a:solidFill>
                  <a:schemeClr val="tx1"/>
                </a:solidFill>
                <a:latin typeface="Consolas" pitchFamily="34" charset="0"/>
                <a:ea typeface="Consolas" pitchFamily="34" charset="-122"/>
                <a:cs typeface="Consolas" pitchFamily="34" charset="-120"/>
              </a:rPr>
              <a:t>"set"</a:t>
            </a:r>
            <a:endParaRPr lang="en-US" sz="1600" dirty="0"/>
          </a:p>
        </p:txBody>
      </p:sp>
      <p:sp>
        <p:nvSpPr>
          <p:cNvPr id="20" name="Shape 17"/>
          <p:cNvSpPr/>
          <p:nvPr/>
        </p:nvSpPr>
        <p:spPr>
          <a:xfrm>
            <a:off x="8183880" y="3986784"/>
            <a:ext cx="457200" cy="0"/>
          </a:xfrm>
          <a:prstGeom prst="line">
            <a:avLst/>
          </a:prstGeom>
          <a:noFill/>
          <a:ln w="19050">
            <a:solidFill>
              <a:schemeClr val="tx2"/>
            </a:solidFill>
            <a:prstDash val="solid"/>
            <a:tailEnd type="triangle"/>
          </a:ln>
        </p:spPr>
      </p:sp>
      <p:sp>
        <p:nvSpPr>
          <p:cNvPr id="21" name="Value"/>
          <p:cNvSpPr/>
          <p:nvPr/>
        </p:nvSpPr>
        <p:spPr>
          <a:xfrm>
            <a:off x="8686800" y="3703320"/>
            <a:ext cx="2956255" cy="566928"/>
          </a:xfrm>
          <a:prstGeom prst="roundRect">
            <a:avLst>
              <a:gd name="adj" fmla="val 16129"/>
            </a:avLst>
          </a:prstGeom>
          <a:solidFill>
            <a:schemeClr val="bg2"/>
          </a:solidFill>
          <a:ln/>
        </p:spPr>
      </p:sp>
      <p:sp>
        <p:nvSpPr>
          <p:cNvPr id="22" name="Text 19"/>
          <p:cNvSpPr txBox="1"/>
          <p:nvPr/>
        </p:nvSpPr>
        <p:spPr>
          <a:xfrm>
            <a:off x="8686800" y="3703320"/>
            <a:ext cx="2956255" cy="566928"/>
          </a:xfrm>
          <a:prstGeom prst="rect">
            <a:avLst/>
          </a:prstGeom>
          <a:noFill/>
          <a:ln/>
        </p:spPr>
        <p:txBody>
          <a:bodyPr wrap="square" lIns="114300" tIns="0" rIns="0" bIns="0" rtlCol="0" anchor="ctr"/>
          <a:lstStyle/>
          <a:p>
            <a:pPr algn="l" indent="0" marL="0">
              <a:buNone/>
            </a:pPr>
            <a:r>
              <a:rPr lang="en-US" sz="1500" dirty="0">
                <a:solidFill>
                  <a:schemeClr val="tx1"/>
                </a:solidFill>
              </a:rPr>
              <a:t>a group with no repeats</a:t>
            </a:r>
            <a:endParaRPr lang="en-US" sz="1500" dirty="0"/>
          </a:p>
        </p:txBody>
      </p:sp>
      <p:sp>
        <p:nvSpPr>
          <p:cNvPr id="23" name="Text 20"/>
          <p:cNvSpPr txBox="1"/>
          <p:nvPr/>
        </p:nvSpPr>
        <p:spPr>
          <a:xfrm>
            <a:off x="6400800" y="4526280"/>
            <a:ext cx="5242255" cy="274320"/>
          </a:xfrm>
          <a:prstGeom prst="rect">
            <a:avLst/>
          </a:prstGeom>
          <a:noFill/>
          <a:ln/>
        </p:spPr>
        <p:txBody>
          <a:bodyPr wrap="square" lIns="0" tIns="0" rIns="0" bIns="0" rtlCol="0" anchor="t"/>
          <a:lstStyle/>
          <a:p>
            <a:pPr algn="ctr" indent="0" marL="0">
              <a:buNone/>
            </a:pPr>
            <a:r>
              <a:rPr lang="en-US" sz="1300" i="1" dirty="0">
                <a:solidFill>
                  <a:schemeClr val="tx2"/>
                </a:solidFill>
              </a:rPr>
              <a:t>Look up a word, the key, to find its meaning, the value.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4</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Keys and values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dictionary is stored as a map. Which part is the key?</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meaning of each word</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word itself</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page number</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How many words there are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4</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Keys and values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dictionary is stored as a map. Which part is the key?</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meaning of each word</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The word itself</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page number</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How many words there are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We look a meaning up by its word, so the word is the key and the meaning is its value. Each word appears once as a key, and the key takes us straight to its meaning.</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HASH TABLES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Hash functions and hash codes</a:t>
            </a:r>
            <a:endParaRPr lang="en-US" sz="3400" dirty="0"/>
          </a:p>
        </p:txBody>
      </p:sp>
      <p:sp>
        <p:nvSpPr>
          <p:cNvPr id="5" name="Text 2"/>
          <p:cNvSpPr txBox="1"/>
          <p:nvPr/>
        </p:nvSpPr>
        <p:spPr>
          <a:xfrm>
            <a:off x="548640" y="1783080"/>
            <a:ext cx="5394960" cy="42062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The entries, each a key and its value, sit in an array. That array is the hash table.</a:t>
            </a:r>
            <a:endParaRPr lang="en-US" sz="1700" dirty="0"/>
          </a:p>
          <a:p>
            <a:pPr marL="228600" indent="-228600">
              <a:spcAft>
                <a:spcPts val="1000"/>
              </a:spcAft>
              <a:buSzPct val="100000"/>
              <a:buChar char="•"/>
            </a:pPr>
            <a:r>
              <a:rPr lang="en-US" sz="1700" dirty="0">
                <a:solidFill>
                  <a:schemeClr val="tx1"/>
                </a:solidFill>
              </a:rPr>
              <a:t>A hash function turns a key into an index in that array.</a:t>
            </a:r>
            <a:endParaRPr lang="en-US" sz="1700" dirty="0"/>
          </a:p>
          <a:p>
            <a:pPr marL="228600" indent="-228600">
              <a:spcAft>
                <a:spcPts val="1000"/>
              </a:spcAft>
              <a:buSzPct val="100000"/>
              <a:buChar char="•"/>
            </a:pPr>
            <a:r>
              <a:rPr lang="en-US" sz="1700" dirty="0">
                <a:solidFill>
                  <a:schemeClr val="tx1"/>
                </a:solidFill>
              </a:rPr>
              <a:t>First the key becomes a whole number, its hash code. Then that number is squeezed into the table’s range, 0 to N − 1, where N is the number of slots.</a:t>
            </a:r>
            <a:endParaRPr lang="en-US" sz="1700" dirty="0"/>
          </a:p>
          <a:p>
            <a:pPr marL="228600" indent="-228600">
              <a:buSzPct val="100000"/>
              <a:buChar char="•"/>
            </a:pPr>
            <a:r>
              <a:rPr lang="en-US" sz="1700" dirty="0">
                <a:solidFill>
                  <a:schemeClr val="tx1"/>
                </a:solidFill>
              </a:rPr>
              <a:t>To find a value, the table runs the same function on the key and goes straight to that index. No searching.</a:t>
            </a:r>
            <a:endParaRPr lang="en-US" sz="1700" dirty="0"/>
          </a:p>
        </p:txBody>
      </p:sp>
      <p:sp>
        <p:nvSpPr>
          <p:cNvPr id="6" name="the key"/>
          <p:cNvSpPr/>
          <p:nvPr/>
        </p:nvSpPr>
        <p:spPr>
          <a:xfrm>
            <a:off x="6309360" y="1783080"/>
            <a:ext cx="1828800" cy="713232"/>
          </a:xfrm>
          <a:prstGeom prst="roundRect">
            <a:avLst>
              <a:gd name="adj" fmla="val 12821"/>
            </a:avLst>
          </a:prstGeom>
          <a:solidFill>
            <a:schemeClr val="accent5">
              <a:alpha val="14000"/>
            </a:schemeClr>
          </a:solidFill>
          <a:ln w="19050">
            <a:solidFill>
              <a:schemeClr val="accent5"/>
            </a:solidFill>
            <a:prstDash val="solid"/>
          </a:ln>
        </p:spPr>
      </p:sp>
      <p:sp>
        <p:nvSpPr>
          <p:cNvPr id="7" name="Text 4"/>
          <p:cNvSpPr txBox="1"/>
          <p:nvPr/>
        </p:nvSpPr>
        <p:spPr>
          <a:xfrm>
            <a:off x="6309360" y="1847088"/>
            <a:ext cx="1828800" cy="219456"/>
          </a:xfrm>
          <a:prstGeom prst="rect">
            <a:avLst/>
          </a:prstGeom>
          <a:noFill/>
          <a:ln/>
        </p:spPr>
        <p:txBody>
          <a:bodyPr wrap="square" lIns="0" tIns="0" rIns="0" bIns="0" rtlCol="0" anchor="t"/>
          <a:lstStyle/>
          <a:p>
            <a:pPr algn="ctr" indent="0" marL="0">
              <a:buNone/>
            </a:pPr>
            <a:r>
              <a:rPr lang="en-US" sz="1150" i="1" dirty="0">
                <a:solidFill>
                  <a:schemeClr val="tx2"/>
                </a:solidFill>
              </a:rPr>
              <a:t>the key</a:t>
            </a:r>
            <a:endParaRPr lang="en-US" sz="1150" dirty="0"/>
          </a:p>
        </p:txBody>
      </p:sp>
      <p:sp>
        <p:nvSpPr>
          <p:cNvPr id="8" name="Text 5"/>
          <p:cNvSpPr txBox="1"/>
          <p:nvPr/>
        </p:nvSpPr>
        <p:spPr>
          <a:xfrm>
            <a:off x="6309360" y="2057400"/>
            <a:ext cx="1828800" cy="38404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"Tom"</a:t>
            </a:r>
            <a:endParaRPr lang="en-US" sz="1700" dirty="0"/>
          </a:p>
        </p:txBody>
      </p:sp>
      <p:sp>
        <p:nvSpPr>
          <p:cNvPr id="9" name="Note"/>
          <p:cNvSpPr/>
          <p:nvPr/>
        </p:nvSpPr>
        <p:spPr>
          <a:xfrm>
            <a:off x="548640" y="4800600"/>
            <a:ext cx="5394960" cy="1097280"/>
          </a:xfrm>
          <a:prstGeom prst="roundRect">
            <a:avLst>
              <a:gd name="adj" fmla="val 10000"/>
            </a:avLst>
          </a:prstGeom>
          <a:solidFill>
            <a:schemeClr val="bg2"/>
          </a:solidFill>
          <a:ln/>
        </p:spPr>
      </p:sp>
      <p:sp>
        <p:nvSpPr>
          <p:cNvPr id="10" name="Icon tile"/>
          <p:cNvSpPr/>
          <p:nvPr/>
        </p:nvSpPr>
        <p:spPr>
          <a:xfrm>
            <a:off x="822960" y="5084064"/>
            <a:ext cx="530352" cy="530352"/>
          </a:xfrm>
          <a:prstGeom prst="roundRect">
            <a:avLst>
              <a:gd name="adj" fmla="val 24000"/>
            </a:avLst>
          </a:prstGeom>
          <a:solidFill>
            <a:schemeClr val="accent4">
              <a:alpha val="14000"/>
            </a:schemeClr>
          </a:solidFill>
          <a:ln/>
        </p:spPr>
      </p:sp>
      <p:pic>
        <p:nvPicPr>
          <p:cNvPr id="11" name="Image 0" descr="calculator icon">    </p:cNvPr>
          <p:cNvPicPr>
            <a:picLocks noChangeAspect="1"/>
          </p:cNvPicPr>
          <p:nvPr/>
        </p:nvPicPr>
        <p:blipFill>
          <a:blip r:embed="rId1"/>
          <a:stretch>
            <a:fillRect/>
          </a:stretch>
        </p:blipFill>
        <p:spPr>
          <a:xfrm>
            <a:off x="934334" y="5195438"/>
            <a:ext cx="307604" cy="307604"/>
          </a:xfrm>
          <a:prstGeom prst="rect">
            <a:avLst/>
          </a:prstGeom>
        </p:spPr>
      </p:pic>
      <p:sp>
        <p:nvSpPr>
          <p:cNvPr id="12" name="Text 8"/>
          <p:cNvSpPr txBox="1"/>
          <p:nvPr/>
        </p:nvSpPr>
        <p:spPr>
          <a:xfrm>
            <a:off x="1572768" y="4800600"/>
            <a:ext cx="4114800" cy="1097280"/>
          </a:xfrm>
          <a:prstGeom prst="rect">
            <a:avLst/>
          </a:prstGeom>
          <a:noFill/>
          <a:ln/>
        </p:spPr>
        <p:txBody>
          <a:bodyPr wrap="square" lIns="0" tIns="0" rIns="0" bIns="0" rtlCol="0" anchor="ctr"/>
          <a:lstStyle/>
          <a:p>
            <a:pPr algn="l" indent="0" marL="0">
              <a:buNone/>
            </a:pPr>
            <a:r>
              <a:rPr lang="en-US" sz="1500" dirty="0">
                <a:solidFill>
                  <a:schemeClr val="tx1"/>
                </a:solidFill>
              </a:rPr>
              <a:t>In a simple table of 16 slots: </a:t>
            </a:r>
            <a:r>
              <a:rPr lang="en-US" sz="1500" dirty="0">
                <a:solidFill>
                  <a:schemeClr val="accent2"/>
                </a:solidFill>
                <a:latin typeface="Consolas" pitchFamily="34" charset="0"/>
                <a:ea typeface="Consolas" pitchFamily="34" charset="-122"/>
                <a:cs typeface="Consolas" pitchFamily="34" charset="-120"/>
              </a:rPr>
              <a:t>"Tom".hashCode()</a:t>
            </a:r>
            <a:r>
              <a:rPr lang="en-US" sz="1500" dirty="0">
                <a:solidFill>
                  <a:schemeClr val="tx1"/>
                </a:solidFill>
              </a:rPr>
              <a:t> is 84274, and 84274 % 16 is 2, so Tom’s entry goes in slot 2.</a:t>
            </a:r>
            <a:endParaRPr lang="en-US" sz="1500" dirty="0"/>
          </a:p>
        </p:txBody>
      </p:sp>
      <p:sp>
        <p:nvSpPr>
          <p:cNvPr id="13" name="Shape 9"/>
          <p:cNvSpPr/>
          <p:nvPr/>
        </p:nvSpPr>
        <p:spPr>
          <a:xfrm>
            <a:off x="7223760" y="2523744"/>
            <a:ext cx="0" cy="338328"/>
          </a:xfrm>
          <a:prstGeom prst="line">
            <a:avLst/>
          </a:prstGeom>
          <a:noFill/>
          <a:ln w="22225">
            <a:solidFill>
              <a:schemeClr val="accent2"/>
            </a:solidFill>
            <a:prstDash val="solid"/>
            <a:tailEnd type="triangle"/>
          </a:ln>
        </p:spPr>
      </p:sp>
      <p:sp>
        <p:nvSpPr>
          <p:cNvPr id="14" name="Text 10"/>
          <p:cNvSpPr txBox="1"/>
          <p:nvPr/>
        </p:nvSpPr>
        <p:spPr>
          <a:xfrm>
            <a:off x="7360920" y="2532888"/>
            <a:ext cx="1463040" cy="310896"/>
          </a:xfrm>
          <a:prstGeom prst="rect">
            <a:avLst/>
          </a:prstGeom>
          <a:noFill/>
          <a:ln/>
        </p:spPr>
        <p:txBody>
          <a:bodyPr wrap="square" lIns="0" tIns="0" rIns="0" bIns="0" rtlCol="0" anchor="ctr"/>
          <a:lstStyle/>
          <a:p>
            <a:pPr algn="l" indent="0" marL="0">
              <a:buNone/>
            </a:pPr>
            <a:r>
              <a:rPr lang="en-US" sz="1300" dirty="0">
                <a:solidFill>
                  <a:schemeClr val="accent2"/>
                </a:solidFill>
                <a:latin typeface="Consolas" pitchFamily="34" charset="0"/>
                <a:ea typeface="Consolas" pitchFamily="34" charset="-122"/>
                <a:cs typeface="Consolas" pitchFamily="34" charset="-120"/>
              </a:rPr>
              <a:t>hashCode()</a:t>
            </a:r>
            <a:endParaRPr lang="en-US" sz="1300" dirty="0"/>
          </a:p>
        </p:txBody>
      </p:sp>
      <p:sp>
        <p:nvSpPr>
          <p:cNvPr id="15" name="its hash code"/>
          <p:cNvSpPr/>
          <p:nvPr/>
        </p:nvSpPr>
        <p:spPr>
          <a:xfrm>
            <a:off x="6309360" y="2880360"/>
            <a:ext cx="1828800" cy="713232"/>
          </a:xfrm>
          <a:prstGeom prst="roundRect">
            <a:avLst>
              <a:gd name="adj" fmla="val 12821"/>
            </a:avLst>
          </a:prstGeom>
          <a:solidFill>
            <a:schemeClr val="bg1"/>
          </a:solidFill>
          <a:ln w="19050">
            <a:solidFill>
              <a:schemeClr val="accent2"/>
            </a:solidFill>
            <a:prstDash val="solid"/>
          </a:ln>
        </p:spPr>
      </p:sp>
      <p:sp>
        <p:nvSpPr>
          <p:cNvPr id="16" name="Text 12"/>
          <p:cNvSpPr txBox="1"/>
          <p:nvPr/>
        </p:nvSpPr>
        <p:spPr>
          <a:xfrm>
            <a:off x="6309360" y="2944368"/>
            <a:ext cx="1828800" cy="219456"/>
          </a:xfrm>
          <a:prstGeom prst="rect">
            <a:avLst/>
          </a:prstGeom>
          <a:noFill/>
          <a:ln/>
        </p:spPr>
        <p:txBody>
          <a:bodyPr wrap="square" lIns="0" tIns="0" rIns="0" bIns="0" rtlCol="0" anchor="t"/>
          <a:lstStyle/>
          <a:p>
            <a:pPr algn="ctr" indent="0" marL="0">
              <a:buNone/>
            </a:pPr>
            <a:r>
              <a:rPr lang="en-US" sz="1150" i="1" dirty="0">
                <a:solidFill>
                  <a:schemeClr val="tx2"/>
                </a:solidFill>
              </a:rPr>
              <a:t>its hash code</a:t>
            </a:r>
            <a:endParaRPr lang="en-US" sz="1150" dirty="0"/>
          </a:p>
        </p:txBody>
      </p:sp>
      <p:sp>
        <p:nvSpPr>
          <p:cNvPr id="17" name="Text 13"/>
          <p:cNvSpPr txBox="1"/>
          <p:nvPr/>
        </p:nvSpPr>
        <p:spPr>
          <a:xfrm>
            <a:off x="6309360" y="3154680"/>
            <a:ext cx="1828800" cy="38404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84274</a:t>
            </a:r>
            <a:endParaRPr lang="en-US" sz="1700" dirty="0"/>
          </a:p>
        </p:txBody>
      </p:sp>
      <p:sp>
        <p:nvSpPr>
          <p:cNvPr id="18" name="Shape 14"/>
          <p:cNvSpPr/>
          <p:nvPr/>
        </p:nvSpPr>
        <p:spPr>
          <a:xfrm>
            <a:off x="7223760" y="3621024"/>
            <a:ext cx="0" cy="338328"/>
          </a:xfrm>
          <a:prstGeom prst="line">
            <a:avLst/>
          </a:prstGeom>
          <a:noFill/>
          <a:ln w="22225">
            <a:solidFill>
              <a:schemeClr val="accent2"/>
            </a:solidFill>
            <a:prstDash val="solid"/>
            <a:tailEnd type="triangle"/>
          </a:ln>
        </p:spPr>
      </p:sp>
      <p:sp>
        <p:nvSpPr>
          <p:cNvPr id="19" name="Text 15"/>
          <p:cNvSpPr txBox="1"/>
          <p:nvPr/>
        </p:nvSpPr>
        <p:spPr>
          <a:xfrm>
            <a:off x="7360920" y="3630168"/>
            <a:ext cx="1463040" cy="310896"/>
          </a:xfrm>
          <a:prstGeom prst="rect">
            <a:avLst/>
          </a:prstGeom>
          <a:noFill/>
          <a:ln/>
        </p:spPr>
        <p:txBody>
          <a:bodyPr wrap="square" lIns="0" tIns="0" rIns="0" bIns="0" rtlCol="0" anchor="ctr"/>
          <a:lstStyle/>
          <a:p>
            <a:pPr algn="l" indent="0" marL="0">
              <a:buNone/>
            </a:pPr>
            <a:r>
              <a:rPr lang="en-US" sz="1300" dirty="0">
                <a:solidFill>
                  <a:schemeClr val="accent2"/>
                </a:solidFill>
                <a:latin typeface="Consolas" pitchFamily="34" charset="0"/>
                <a:ea typeface="Consolas" pitchFamily="34" charset="-122"/>
                <a:cs typeface="Consolas" pitchFamily="34" charset="-120"/>
              </a:rPr>
              <a:t>% 16</a:t>
            </a:r>
            <a:endParaRPr lang="en-US" sz="1300" dirty="0"/>
          </a:p>
        </p:txBody>
      </p:sp>
      <p:sp>
        <p:nvSpPr>
          <p:cNvPr id="20" name="the index"/>
          <p:cNvSpPr/>
          <p:nvPr/>
        </p:nvSpPr>
        <p:spPr>
          <a:xfrm>
            <a:off x="6309360" y="3977640"/>
            <a:ext cx="1828800" cy="713232"/>
          </a:xfrm>
          <a:prstGeom prst="roundRect">
            <a:avLst>
              <a:gd name="adj" fmla="val 12821"/>
            </a:avLst>
          </a:prstGeom>
          <a:solidFill>
            <a:schemeClr val="accent6"/>
          </a:solidFill>
          <a:ln w="19050">
            <a:solidFill>
              <a:schemeClr val="accent6"/>
            </a:solidFill>
            <a:prstDash val="solid"/>
          </a:ln>
        </p:spPr>
      </p:sp>
      <p:sp>
        <p:nvSpPr>
          <p:cNvPr id="21" name="Text 17"/>
          <p:cNvSpPr txBox="1"/>
          <p:nvPr/>
        </p:nvSpPr>
        <p:spPr>
          <a:xfrm>
            <a:off x="6309360" y="4041648"/>
            <a:ext cx="1828800" cy="219456"/>
          </a:xfrm>
          <a:prstGeom prst="rect">
            <a:avLst/>
          </a:prstGeom>
          <a:noFill/>
          <a:ln/>
        </p:spPr>
        <p:txBody>
          <a:bodyPr wrap="square" lIns="0" tIns="0" rIns="0" bIns="0" rtlCol="0" anchor="t"/>
          <a:lstStyle/>
          <a:p>
            <a:pPr algn="ctr" indent="0" marL="0">
              <a:buNone/>
            </a:pPr>
            <a:r>
              <a:rPr lang="en-US" sz="1150" i="1" dirty="0">
                <a:solidFill>
                  <a:schemeClr val="tx2"/>
                </a:solidFill>
              </a:rPr>
              <a:t>the index</a:t>
            </a:r>
            <a:endParaRPr lang="en-US" sz="1150" dirty="0"/>
          </a:p>
        </p:txBody>
      </p:sp>
      <p:sp>
        <p:nvSpPr>
          <p:cNvPr id="22" name="Text 18"/>
          <p:cNvSpPr txBox="1"/>
          <p:nvPr/>
        </p:nvSpPr>
        <p:spPr>
          <a:xfrm>
            <a:off x="6309360" y="4251960"/>
            <a:ext cx="1828800" cy="384048"/>
          </a:xfrm>
          <a:prstGeom prst="rect">
            <a:avLst/>
          </a:prstGeom>
          <a:noFill/>
          <a:ln/>
        </p:spPr>
        <p:txBody>
          <a:bodyPr wrap="square" lIns="0" tIns="0" rIns="0" bIns="0" rtlCol="0" anchor="ctr"/>
          <a:lstStyle/>
          <a:p>
            <a:pPr algn="ctr" indent="0" marL="0">
              <a:buNone/>
            </a:pPr>
            <a:r>
              <a:rPr lang="en-US" sz="1700" b="1" dirty="0">
                <a:solidFill>
                  <a:schemeClr val="tx1"/>
                </a:solidFill>
                <a:latin typeface="Consolas" pitchFamily="34" charset="0"/>
                <a:ea typeface="Consolas" pitchFamily="34" charset="-122"/>
                <a:cs typeface="Consolas" pitchFamily="34" charset="-120"/>
              </a:rPr>
              <a:t>2</a:t>
            </a:r>
            <a:endParaRPr lang="en-US" sz="1700" dirty="0"/>
          </a:p>
        </p:txBody>
      </p:sp>
      <p:sp>
        <p:nvSpPr>
          <p:cNvPr id="23" name="Shape 19"/>
          <p:cNvSpPr/>
          <p:nvPr/>
        </p:nvSpPr>
        <p:spPr>
          <a:xfrm>
            <a:off x="8183880" y="4334256"/>
            <a:ext cx="914400" cy="0"/>
          </a:xfrm>
          <a:prstGeom prst="line">
            <a:avLst/>
          </a:prstGeom>
          <a:noFill/>
          <a:ln w="22225">
            <a:solidFill>
              <a:schemeClr val="accent2"/>
            </a:solidFill>
            <a:prstDash val="solid"/>
            <a:tailEnd type="triangle"/>
          </a:ln>
        </p:spPr>
      </p:sp>
      <p:sp>
        <p:nvSpPr>
          <p:cNvPr id="24" name="Text 20"/>
          <p:cNvSpPr txBox="1"/>
          <p:nvPr/>
        </p:nvSpPr>
        <p:spPr>
          <a:xfrm>
            <a:off x="9144000" y="2834640"/>
            <a:ext cx="2499055" cy="274320"/>
          </a:xfrm>
          <a:prstGeom prst="rect">
            <a:avLst/>
          </a:prstGeom>
          <a:noFill/>
          <a:ln/>
        </p:spPr>
        <p:txBody>
          <a:bodyPr wrap="square" lIns="0" tIns="0" rIns="0" bIns="0" rtlCol="0" anchor="t"/>
          <a:lstStyle/>
          <a:p>
            <a:pPr algn="ctr" indent="0" marL="0">
              <a:buNone/>
            </a:pPr>
            <a:r>
              <a:rPr lang="en-US" sz="1300" i="1" dirty="0">
                <a:solidFill>
                  <a:schemeClr val="tx2"/>
                </a:solidFill>
              </a:rPr>
              <a:t>the hash table: 16 slots</a:t>
            </a:r>
            <a:endParaRPr lang="en-US" sz="1300" dirty="0"/>
          </a:p>
        </p:txBody>
      </p:sp>
      <p:sp>
        <p:nvSpPr>
          <p:cNvPr id="25" name="Slot 0"/>
          <p:cNvSpPr/>
          <p:nvPr/>
        </p:nvSpPr>
        <p:spPr>
          <a:xfrm>
            <a:off x="9144000" y="3227832"/>
            <a:ext cx="2499055" cy="384048"/>
          </a:xfrm>
          <a:prstGeom prst="roundRect">
            <a:avLst>
              <a:gd name="adj" fmla="val 14286"/>
            </a:avLst>
          </a:prstGeom>
          <a:solidFill>
            <a:schemeClr val="bg1"/>
          </a:solidFill>
          <a:ln w="15875">
            <a:solidFill>
              <a:srgbClr val="D5DCE6"/>
            </a:solidFill>
            <a:prstDash val="solid"/>
          </a:ln>
        </p:spPr>
      </p:sp>
      <p:sp>
        <p:nvSpPr>
          <p:cNvPr id="26" name="Text 22"/>
          <p:cNvSpPr txBox="1"/>
          <p:nvPr/>
        </p:nvSpPr>
        <p:spPr>
          <a:xfrm>
            <a:off x="9235440" y="3227832"/>
            <a:ext cx="41148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0</a:t>
            </a:r>
            <a:endParaRPr lang="en-US" sz="1300" dirty="0"/>
          </a:p>
        </p:txBody>
      </p:sp>
      <p:sp>
        <p:nvSpPr>
          <p:cNvPr id="27" name="Slot 1"/>
          <p:cNvSpPr/>
          <p:nvPr/>
        </p:nvSpPr>
        <p:spPr>
          <a:xfrm>
            <a:off x="9144000" y="3685032"/>
            <a:ext cx="2499055" cy="384048"/>
          </a:xfrm>
          <a:prstGeom prst="roundRect">
            <a:avLst>
              <a:gd name="adj" fmla="val 14286"/>
            </a:avLst>
          </a:prstGeom>
          <a:solidFill>
            <a:schemeClr val="bg1"/>
          </a:solidFill>
          <a:ln w="15875">
            <a:solidFill>
              <a:srgbClr val="D5DCE6"/>
            </a:solidFill>
            <a:prstDash val="solid"/>
          </a:ln>
        </p:spPr>
      </p:sp>
      <p:sp>
        <p:nvSpPr>
          <p:cNvPr id="28" name="Text 24"/>
          <p:cNvSpPr txBox="1"/>
          <p:nvPr/>
        </p:nvSpPr>
        <p:spPr>
          <a:xfrm>
            <a:off x="9235440" y="3685032"/>
            <a:ext cx="41148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1</a:t>
            </a:r>
            <a:endParaRPr lang="en-US" sz="1300" dirty="0"/>
          </a:p>
        </p:txBody>
      </p:sp>
      <p:sp>
        <p:nvSpPr>
          <p:cNvPr id="29" name="Slot 2"/>
          <p:cNvSpPr/>
          <p:nvPr/>
        </p:nvSpPr>
        <p:spPr>
          <a:xfrm>
            <a:off x="9144000" y="4142232"/>
            <a:ext cx="2499055" cy="384048"/>
          </a:xfrm>
          <a:prstGeom prst="roundRect">
            <a:avLst>
              <a:gd name="adj" fmla="val 14286"/>
            </a:avLst>
          </a:prstGeom>
          <a:solidFill>
            <a:schemeClr val="accent6"/>
          </a:solidFill>
          <a:ln w="15875">
            <a:solidFill>
              <a:schemeClr val="accent6"/>
            </a:solidFill>
            <a:prstDash val="solid"/>
          </a:ln>
        </p:spPr>
      </p:sp>
      <p:sp>
        <p:nvSpPr>
          <p:cNvPr id="30" name="Text 26"/>
          <p:cNvSpPr txBox="1"/>
          <p:nvPr/>
        </p:nvSpPr>
        <p:spPr>
          <a:xfrm>
            <a:off x="9235440" y="4142232"/>
            <a:ext cx="41148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2</a:t>
            </a:r>
            <a:endParaRPr lang="en-US" sz="1300" dirty="0"/>
          </a:p>
        </p:txBody>
      </p:sp>
      <p:sp>
        <p:nvSpPr>
          <p:cNvPr id="31" name="Text 27"/>
          <p:cNvSpPr txBox="1"/>
          <p:nvPr/>
        </p:nvSpPr>
        <p:spPr>
          <a:xfrm>
            <a:off x="9692640" y="4142232"/>
            <a:ext cx="1874520" cy="384048"/>
          </a:xfrm>
          <a:prstGeom prst="rect">
            <a:avLst/>
          </a:prstGeom>
          <a:noFill/>
          <a:ln/>
        </p:spPr>
        <p:txBody>
          <a:bodyPr wrap="square" lIns="0" tIns="0" rIns="0" bIns="0" rtlCol="0" anchor="ctr"/>
          <a:lstStyle/>
          <a:p>
            <a:pPr algn="l" indent="0" marL="0">
              <a:buNone/>
            </a:pPr>
            <a:r>
              <a:rPr lang="en-US" sz="1350" b="1" dirty="0">
                <a:solidFill>
                  <a:schemeClr val="tx1"/>
                </a:solidFill>
                <a:latin typeface="Consolas" pitchFamily="34" charset="0"/>
                <a:ea typeface="Consolas" pitchFamily="34" charset="-122"/>
                <a:cs typeface="Consolas" pitchFamily="34" charset="-120"/>
              </a:rPr>
              <a:t>"Tom"  321344</a:t>
            </a:r>
            <a:endParaRPr lang="en-US" sz="1350" dirty="0"/>
          </a:p>
        </p:txBody>
      </p:sp>
      <p:sp>
        <p:nvSpPr>
          <p:cNvPr id="32" name="Slot 3"/>
          <p:cNvSpPr/>
          <p:nvPr/>
        </p:nvSpPr>
        <p:spPr>
          <a:xfrm>
            <a:off x="9144000" y="4599432"/>
            <a:ext cx="2499055" cy="384048"/>
          </a:xfrm>
          <a:prstGeom prst="roundRect">
            <a:avLst>
              <a:gd name="adj" fmla="val 14286"/>
            </a:avLst>
          </a:prstGeom>
          <a:solidFill>
            <a:schemeClr val="bg1"/>
          </a:solidFill>
          <a:ln w="15875">
            <a:solidFill>
              <a:srgbClr val="D5DCE6"/>
            </a:solidFill>
            <a:prstDash val="solid"/>
          </a:ln>
        </p:spPr>
      </p:sp>
      <p:sp>
        <p:nvSpPr>
          <p:cNvPr id="33" name="Text 29"/>
          <p:cNvSpPr txBox="1"/>
          <p:nvPr/>
        </p:nvSpPr>
        <p:spPr>
          <a:xfrm>
            <a:off x="9235440" y="4599432"/>
            <a:ext cx="41148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3</a:t>
            </a:r>
            <a:endParaRPr lang="en-US" sz="1300" dirty="0"/>
          </a:p>
        </p:txBody>
      </p:sp>
      <p:sp>
        <p:nvSpPr>
          <p:cNvPr id="34" name="Text 30"/>
          <p:cNvSpPr txBox="1"/>
          <p:nvPr/>
        </p:nvSpPr>
        <p:spPr>
          <a:xfrm>
            <a:off x="9144000" y="5056632"/>
            <a:ext cx="457200" cy="384048"/>
          </a:xfrm>
          <a:prstGeom prst="rect">
            <a:avLst/>
          </a:prstGeom>
          <a:noFill/>
          <a:ln/>
        </p:spPr>
        <p:txBody>
          <a:bodyPr wrap="square" lIns="0" tIns="0" rIns="0" bIns="0" rtlCol="0" anchor="ctr"/>
          <a:lstStyle/>
          <a:p>
            <a:pPr algn="ctr" indent="0" marL="0">
              <a:buNone/>
            </a:pPr>
            <a:r>
              <a:rPr lang="en-US" sz="1500" dirty="0">
                <a:solidFill>
                  <a:schemeClr val="tx2"/>
                </a:solidFill>
              </a:rPr>
              <a:t>⋮</a:t>
            </a:r>
            <a:endParaRPr lang="en-US" sz="1500" dirty="0"/>
          </a:p>
        </p:txBody>
      </p:sp>
      <p:sp>
        <p:nvSpPr>
          <p:cNvPr id="35" name="Slot 15"/>
          <p:cNvSpPr/>
          <p:nvPr/>
        </p:nvSpPr>
        <p:spPr>
          <a:xfrm>
            <a:off x="9144000" y="5513832"/>
            <a:ext cx="2499055" cy="384048"/>
          </a:xfrm>
          <a:prstGeom prst="roundRect">
            <a:avLst>
              <a:gd name="adj" fmla="val 14286"/>
            </a:avLst>
          </a:prstGeom>
          <a:solidFill>
            <a:schemeClr val="bg1"/>
          </a:solidFill>
          <a:ln w="15875">
            <a:solidFill>
              <a:srgbClr val="D5DCE6"/>
            </a:solidFill>
            <a:prstDash val="solid"/>
          </a:ln>
        </p:spPr>
      </p:sp>
      <p:sp>
        <p:nvSpPr>
          <p:cNvPr id="36" name="Text 32"/>
          <p:cNvSpPr txBox="1"/>
          <p:nvPr/>
        </p:nvSpPr>
        <p:spPr>
          <a:xfrm>
            <a:off x="9235440" y="5513832"/>
            <a:ext cx="411480" cy="384048"/>
          </a:xfrm>
          <a:prstGeom prst="rect">
            <a:avLst/>
          </a:prstGeom>
          <a:noFill/>
          <a:ln/>
        </p:spPr>
        <p:txBody>
          <a:bodyPr wrap="square" lIns="0" tIns="0" rIns="0" bIns="0" rtlCol="0" anchor="ctr"/>
          <a:lstStyle/>
          <a:p>
            <a:pPr algn="ctr" indent="0" marL="0">
              <a:buNone/>
            </a:pPr>
            <a:r>
              <a:rPr lang="en-US" sz="1300" dirty="0">
                <a:solidFill>
                  <a:schemeClr val="tx2"/>
                </a:solidFill>
                <a:latin typeface="Consolas" pitchFamily="34" charset="0"/>
                <a:ea typeface="Consolas" pitchFamily="34" charset="-122"/>
                <a:cs typeface="Consolas" pitchFamily="34" charset="-120"/>
              </a:rPr>
              <a:t>15</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5</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 functions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a hash function do?</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Sorts the keys into order</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Encrypts the values to keep them safe</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Counts how many entries there are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Turns a key into an index in the table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5</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 functions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a hash function do?</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Sorts the keys into order</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Encrypts the values to keep them safe</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Counts how many entries there are</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Turns a key into an index in the table</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hash function turns the key into a hash code, then squeezes it into an index the table has. The same key always gives the same index, so Java can go straight to the entry without searching.</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6</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 functions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hash table has 10 slots and squeezes hash codes with </a:t>
            </a:r>
            <a:r>
              <a:rPr lang="en-US" sz="2800" b="1" dirty="0">
                <a:solidFill>
                  <a:schemeClr val="accent2"/>
                </a:solidFill>
                <a:latin typeface="Consolas" pitchFamily="34" charset="0"/>
                <a:ea typeface="Consolas" pitchFamily="34" charset="-122"/>
                <a:cs typeface="Consolas" pitchFamily="34" charset="-120"/>
              </a:rPr>
              <a:t>% 10</a:t>
            </a:r>
            <a:r>
              <a:rPr lang="en-US" sz="2800" b="1" dirty="0">
                <a:solidFill>
                  <a:schemeClr val="tx1"/>
                </a:solidFill>
              </a:rPr>
              <a:t>. A key’s hash code is 47. Which slot does its entry go in?</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Slot 7</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Slot 4</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Slot 47</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Slot 0</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6</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 functions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hash table has 10 slots and squeezes hash codes with </a:t>
            </a:r>
            <a:r>
              <a:rPr lang="en-US" sz="2000" b="1" dirty="0">
                <a:solidFill>
                  <a:schemeClr val="tx2"/>
                </a:solidFill>
                <a:latin typeface="Consolas" pitchFamily="34" charset="0"/>
                <a:ea typeface="Consolas" pitchFamily="34" charset="-122"/>
                <a:cs typeface="Consolas" pitchFamily="34" charset="-120"/>
              </a:rPr>
              <a:t>% 10</a:t>
            </a:r>
            <a:r>
              <a:rPr lang="en-US" sz="2000" b="1" dirty="0">
                <a:solidFill>
                  <a:schemeClr val="tx2"/>
                </a:solidFill>
              </a:rPr>
              <a:t>. A key’s hash code is 47. Which slot does its entry go in?</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Slot 7</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Slot 4</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Slot 47</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Slot 0</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47 % 10</a:t>
            </a:r>
            <a:r>
              <a:rPr lang="en-US" sz="1800" dirty="0">
                <a:solidFill>
                  <a:schemeClr val="tx1"/>
                </a:solidFill>
              </a:rPr>
              <a:t> is the remainder when 47 is divided by 10, which is 7. So the entry goes in slot 7, and looking the same key up later leads straight back to slot 7.</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HASH TABLES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HashMap: a hash table in Java</a:t>
            </a:r>
            <a:endParaRPr lang="en-US"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HashMap</a:t>
            </a:r>
            <a:r>
              <a:rPr lang="en-US" sz="1700" dirty="0">
                <a:solidFill>
                  <a:schemeClr val="tx1"/>
                </a:solidFill>
              </a:rPr>
              <a:t> is Java’s usual hash table class. It stores key-value pairs.</a:t>
            </a:r>
            <a:endParaRPr lang="en-US" sz="1700" dirty="0"/>
          </a:p>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put(key, value)</a:t>
            </a:r>
            <a:r>
              <a:rPr lang="en-US" sz="1700" dirty="0">
                <a:solidFill>
                  <a:schemeClr val="tx1"/>
                </a:solidFill>
              </a:rPr>
              <a:t> adds a pair. If the key is already there, the new value replaces the old one.</a:t>
            </a:r>
            <a:endParaRPr lang="en-US" sz="1700" dirty="0"/>
          </a:p>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get(key)</a:t>
            </a:r>
            <a:r>
              <a:rPr lang="en-US" sz="1700" dirty="0">
                <a:solidFill>
                  <a:schemeClr val="tx1"/>
                </a:solidFill>
              </a:rPr>
              <a:t> gives back the value for that key, or </a:t>
            </a:r>
            <a:r>
              <a:rPr lang="en-US" sz="1700" dirty="0">
                <a:solidFill>
                  <a:schemeClr val="accent2"/>
                </a:solidFill>
                <a:latin typeface="Consolas" pitchFamily="34" charset="0"/>
                <a:ea typeface="Consolas" pitchFamily="34" charset="-122"/>
                <a:cs typeface="Consolas" pitchFamily="34" charset="-120"/>
              </a:rPr>
              <a:t>null</a:t>
            </a:r>
            <a:r>
              <a:rPr lang="en-US" sz="1700" dirty="0">
                <a:solidFill>
                  <a:schemeClr val="tx1"/>
                </a:solidFill>
              </a:rPr>
              <a:t> if the key isn’t there.</a:t>
            </a:r>
            <a:endParaRPr lang="en-US" sz="1700" dirty="0"/>
          </a:p>
          <a:p>
            <a:pPr marL="228600" indent="-228600">
              <a:spcAft>
                <a:spcPts val="1000"/>
              </a:spcAft>
              <a:buSzPct val="100000"/>
              <a:buChar char="•"/>
            </a:pPr>
            <a:r>
              <a:rPr lang="en-US" sz="1700" dirty="0">
                <a:solidFill>
                  <a:schemeClr val="tx1"/>
                </a:solidFill>
              </a:rPr>
              <a:t>Keys are unique, but two keys can have the same value.</a:t>
            </a:r>
            <a:endParaRPr lang="en-US" sz="1700" dirty="0"/>
          </a:p>
          <a:p>
            <a:pPr marL="228600" indent="-228600">
              <a:buSzPct val="100000"/>
              <a:buChar char="•"/>
            </a:pPr>
            <a:r>
              <a:rPr lang="en-US" sz="1700" dirty="0">
                <a:solidFill>
                  <a:schemeClr val="tx1"/>
                </a:solidFill>
              </a:rPr>
              <a:t>It doesn’t keep the order we added things in.</a:t>
            </a:r>
            <a:endParaRPr lang="en-US" sz="1700" dirty="0"/>
          </a:p>
        </p:txBody>
      </p:sp>
      <p:sp>
        <p:nvSpPr>
          <p:cNvPr id="6" name="HashMap card"/>
          <p:cNvSpPr/>
          <p:nvPr/>
        </p:nvSpPr>
        <p:spPr>
          <a:xfrm>
            <a:off x="5943600" y="1691640"/>
            <a:ext cx="5699455" cy="3147060"/>
          </a:xfrm>
          <a:prstGeom prst="roundRect">
            <a:avLst>
              <a:gd name="adj" fmla="val 3487"/>
            </a:avLst>
          </a:prstGeom>
          <a:solidFill>
            <a:schemeClr val="tx1"/>
          </a:solidFill>
          <a:ln/>
          <a:effectLst>
            <a:outerShdw sx="100000" sy="100000" kx="0" ky="0" algn="bl" rotWithShape="0" blurRad="114300" dist="31750" dir="5400000">
              <a:srgbClr val="1D2433">
                <a:alpha val="12000"/>
              </a:srgbClr>
            </a:outerShdw>
          </a:effectLst>
        </p:spPr>
      </p:sp>
      <p:sp>
        <p:nvSpPr>
          <p:cNvPr id="7" name="HashMap label"/>
          <p:cNvSpPr txBox="1"/>
          <p:nvPr/>
        </p:nvSpPr>
        <p:spPr>
          <a:xfrm>
            <a:off x="6217920" y="1810512"/>
            <a:ext cx="515081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HashMap text"/>
          <p:cNvSpPr txBox="1"/>
          <p:nvPr/>
        </p:nvSpPr>
        <p:spPr>
          <a:xfrm>
            <a:off x="6217920" y="2185416"/>
            <a:ext cx="5150815" cy="2452116"/>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HashMap</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students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HashMap</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put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"Tom"</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321344</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add a pair</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put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"Ann"</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5757688</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put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"Jack"</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545665</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tom = students.</a:t>
            </a:r>
            <a:r>
              <a:rPr lang="en-US" sz="1300" dirty="0">
                <a:solidFill>
                  <a:srgbClr val="C9B0FF"/>
                </a:solidFill>
                <a:latin typeface="Consolas" pitchFamily="34" charset="0"/>
                <a:ea typeface="Consolas" pitchFamily="34" charset="-122"/>
                <a:cs typeface="Consolas" pitchFamily="34" charset="-120"/>
              </a:rPr>
              <a:t>get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"Tom"</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321344</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put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"Jack"</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89789798</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replaces 545665</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size</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3</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(students.</a:t>
            </a:r>
            <a:r>
              <a:rPr lang="en-US" sz="1300" dirty="0">
                <a:solidFill>
                  <a:srgbClr val="C9B0FF"/>
                </a:solidFill>
                <a:latin typeface="Consolas" pitchFamily="34" charset="0"/>
                <a:ea typeface="Consolas" pitchFamily="34" charset="-122"/>
                <a:cs typeface="Consolas" pitchFamily="34" charset="-120"/>
              </a:rPr>
              <a:t>get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"Zoe"</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null</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7</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1965960"/>
            <a:ext cx="11094415" cy="1798320"/>
          </a:xfrm>
          <a:prstGeom prst="roundRect">
            <a:avLst>
              <a:gd name="adj" fmla="val 610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395984"/>
          </a:xfrm>
          <a:prstGeom prst="rect">
            <a:avLst/>
          </a:prstGeom>
          <a:noFill/>
          <a:ln/>
        </p:spPr>
        <p:txBody>
          <a:bodyPr wrap="square" lIns="0" tIns="0" rIns="0" bIns="0" rtlCol="0" anchor="t"/>
          <a:lstStyle/>
          <a:p>
            <a:pPr indent="0" marL="0">
              <a:lnSpc>
                <a:spcPts val="2110"/>
              </a:lnSpc>
              <a:buNone/>
            </a:pPr>
            <a:r>
              <a:rPr lang="en-US" sz="1600" dirty="0">
                <a:solidFill>
                  <a:srgbClr val="6CC4E8"/>
                </a:solidFill>
                <a:latin typeface="Consolas" pitchFamily="34" charset="0"/>
                <a:ea typeface="Consolas" pitchFamily="34" charset="-122"/>
                <a:cs typeface="Consolas" pitchFamily="34" charset="-120"/>
              </a:rPr>
              <a:t>HashMap</a:t>
            </a:r>
            <a:r>
              <a:rPr lang="en-US" sz="1600" dirty="0">
                <a:solidFill>
                  <a:srgbClr val="E6EBF2"/>
                </a:solidFill>
                <a:latin typeface="Consolas" pitchFamily="34" charset="0"/>
                <a:ea typeface="Consolas" pitchFamily="34" charset="-122"/>
                <a:cs typeface="Consolas" pitchFamily="34" charset="-120"/>
              </a:rPr>
              <a:t>&lt;</a:t>
            </a:r>
            <a:r>
              <a:rPr lang="en-US" sz="1600" dirty="0">
                <a:solidFill>
                  <a:srgbClr val="6CC4E8"/>
                </a:solidFill>
                <a:latin typeface="Consolas" pitchFamily="34" charset="0"/>
                <a:ea typeface="Consolas" pitchFamily="34" charset="-122"/>
                <a:cs typeface="Consolas" pitchFamily="34" charset="-120"/>
              </a:rPr>
              <a:t>String</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Integer</a:t>
            </a:r>
            <a:r>
              <a:rPr lang="en-US" sz="1600" dirty="0">
                <a:solidFill>
                  <a:srgbClr val="E6EBF2"/>
                </a:solidFill>
                <a:latin typeface="Consolas" pitchFamily="34" charset="0"/>
                <a:ea typeface="Consolas" pitchFamily="34" charset="-122"/>
                <a:cs typeface="Consolas" pitchFamily="34" charset="-120"/>
              </a:rPr>
              <a:t>&gt; students = </a:t>
            </a:r>
            <a:r>
              <a:rPr lang="en-US" sz="1600" dirty="0">
                <a:solidFill>
                  <a:srgbClr val="FF9F5A"/>
                </a:solidFill>
                <a:latin typeface="Consolas" pitchFamily="34" charset="0"/>
                <a:ea typeface="Consolas" pitchFamily="34" charset="-122"/>
                <a:cs typeface="Consolas" pitchFamily="34" charset="-120"/>
              </a:rPr>
              <a:t>new </a:t>
            </a:r>
            <a:r>
              <a:rPr lang="en-US" sz="1600" dirty="0">
                <a:solidFill>
                  <a:srgbClr val="6CC4E8"/>
                </a:solidFill>
                <a:latin typeface="Consolas" pitchFamily="34" charset="0"/>
                <a:ea typeface="Consolas" pitchFamily="34" charset="-122"/>
                <a:cs typeface="Consolas" pitchFamily="34" charset="-120"/>
              </a:rPr>
              <a:t>HashMap</a:t>
            </a:r>
            <a:r>
              <a:rPr lang="en-US" sz="1600" dirty="0">
                <a:solidFill>
                  <a:srgbClr val="E6EBF2"/>
                </a:solidFill>
                <a:latin typeface="Consolas" pitchFamily="34" charset="0"/>
                <a:ea typeface="Consolas" pitchFamily="34" charset="-122"/>
                <a:cs typeface="Consolas" pitchFamily="34" charset="-120"/>
              </a:rPr>
              <a:t>&lt;</a:t>
            </a:r>
            <a:r>
              <a:rPr lang="en-US" sz="1600" dirty="0">
                <a:solidFill>
                  <a:srgbClr val="6CC4E8"/>
                </a:solidFill>
                <a:latin typeface="Consolas" pitchFamily="34" charset="0"/>
                <a:ea typeface="Consolas" pitchFamily="34" charset="-122"/>
                <a:cs typeface="Consolas" pitchFamily="34" charset="-120"/>
              </a:rPr>
              <a:t>String</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Integer</a:t>
            </a:r>
            <a:r>
              <a:rPr lang="en-US" sz="1600" dirty="0">
                <a:solidFill>
                  <a:srgbClr val="E6EBF2"/>
                </a:solidFill>
                <a:latin typeface="Consolas" pitchFamily="34" charset="0"/>
                <a:ea typeface="Consolas" pitchFamily="34" charset="-122"/>
                <a:cs typeface="Consolas" pitchFamily="34" charset="-120"/>
              </a:rPr>
              <a:t>&gt;();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students.</a:t>
            </a:r>
            <a:r>
              <a:rPr lang="en-US" sz="1600" dirty="0">
                <a:solidFill>
                  <a:srgbClr val="C9B0FF"/>
                </a:solidFill>
                <a:latin typeface="Consolas" pitchFamily="34" charset="0"/>
                <a:ea typeface="Consolas" pitchFamily="34" charset="-122"/>
                <a:cs typeface="Consolas" pitchFamily="34" charset="-120"/>
              </a:rPr>
              <a:t>put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"Tom"</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F2C14E"/>
                </a:solidFill>
                <a:latin typeface="Consolas" pitchFamily="34" charset="0"/>
                <a:ea typeface="Consolas" pitchFamily="34" charset="-122"/>
                <a:cs typeface="Consolas" pitchFamily="34" charset="-120"/>
              </a:rPr>
              <a:t>321344</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students.</a:t>
            </a:r>
            <a:r>
              <a:rPr lang="en-US" sz="1600" dirty="0">
                <a:solidFill>
                  <a:srgbClr val="C9B0FF"/>
                </a:solidFill>
                <a:latin typeface="Consolas" pitchFamily="34" charset="0"/>
                <a:ea typeface="Consolas" pitchFamily="34" charset="-122"/>
                <a:cs typeface="Consolas" pitchFamily="34" charset="-120"/>
              </a:rPr>
              <a:t>put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"Ann"</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F2C14E"/>
                </a:solidFill>
                <a:latin typeface="Consolas" pitchFamily="34" charset="0"/>
                <a:ea typeface="Consolas" pitchFamily="34" charset="-122"/>
                <a:cs typeface="Consolas" pitchFamily="34" charset="-120"/>
              </a:rPr>
              <a:t>5757688</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students.</a:t>
            </a:r>
            <a:r>
              <a:rPr lang="en-US" sz="1600" dirty="0">
                <a:solidFill>
                  <a:srgbClr val="C9B0FF"/>
                </a:solidFill>
                <a:latin typeface="Consolas" pitchFamily="34" charset="0"/>
                <a:ea typeface="Consolas" pitchFamily="34" charset="-122"/>
                <a:cs typeface="Consolas" pitchFamily="34" charset="-120"/>
              </a:rPr>
              <a:t>put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"Tom"</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F2C14E"/>
                </a:solidFill>
                <a:latin typeface="Consolas" pitchFamily="34" charset="0"/>
                <a:ea typeface="Consolas" pitchFamily="34" charset="-122"/>
                <a:cs typeface="Consolas" pitchFamily="34" charset="-120"/>
              </a:rPr>
              <a:t>111</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(students.</a:t>
            </a:r>
            <a:r>
              <a:rPr lang="en-US" sz="1600" dirty="0">
                <a:solidFill>
                  <a:srgbClr val="C9B0FF"/>
                </a:solidFill>
                <a:latin typeface="Consolas" pitchFamily="34" charset="0"/>
                <a:ea typeface="Consolas" pitchFamily="34" charset="-122"/>
                <a:cs typeface="Consolas" pitchFamily="34" charset="-120"/>
              </a:rPr>
              <a:t>size</a:t>
            </a:r>
            <a:r>
              <a:rPr lang="en-US" sz="1600" dirty="0">
                <a:solidFill>
                  <a:srgbClr val="E6EBF2"/>
                </a:solidFill>
                <a:latin typeface="Consolas" pitchFamily="34" charset="0"/>
                <a:ea typeface="Consolas" pitchFamily="34" charset="-122"/>
                <a:cs typeface="Consolas" pitchFamily="34" charset="-120"/>
              </a:rPr>
              <a:t>() + </a:t>
            </a:r>
            <a:r>
              <a:rPr lang="en-US" sz="1600" dirty="0">
                <a:solidFill>
                  <a:srgbClr val="A9DB8C"/>
                </a:solidFill>
                <a:latin typeface="Consolas" pitchFamily="34" charset="0"/>
                <a:ea typeface="Consolas" pitchFamily="34" charset="-122"/>
                <a:cs typeface="Consolas" pitchFamily="34" charset="-120"/>
              </a:rPr>
              <a:t>" " </a:t>
            </a:r>
            <a:r>
              <a:rPr lang="en-US" sz="1600" dirty="0">
                <a:solidFill>
                  <a:srgbClr val="E6EBF2"/>
                </a:solidFill>
                <a:latin typeface="Consolas" pitchFamily="34" charset="0"/>
                <a:ea typeface="Consolas" pitchFamily="34" charset="-122"/>
                <a:cs typeface="Consolas" pitchFamily="34" charset="-120"/>
              </a:rPr>
              <a:t>+ students.</a:t>
            </a:r>
            <a:r>
              <a:rPr lang="en-US" sz="1600" dirty="0">
                <a:solidFill>
                  <a:srgbClr val="C9B0FF"/>
                </a:solidFill>
                <a:latin typeface="Consolas" pitchFamily="34" charset="0"/>
                <a:ea typeface="Consolas" pitchFamily="34" charset="-122"/>
                <a:cs typeface="Consolas" pitchFamily="34" charset="-120"/>
              </a:rPr>
              <a:t>get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"Tom"</a:t>
            </a:r>
            <a:r>
              <a:rPr lang="en-US" sz="1600" dirty="0">
                <a:solidFill>
                  <a:srgbClr val="E6EBF2"/>
                </a:solidFill>
                <a:latin typeface="Consolas" pitchFamily="34" charset="0"/>
                <a:ea typeface="Consolas" pitchFamily="34" charset="-122"/>
                <a:cs typeface="Consolas" pitchFamily="34" charset="-120"/>
              </a:rPr>
              <a:t>));</a:t>
            </a:r>
            <a:endParaRPr lang="en-US" sz="1600" dirty="0"/>
          </a:p>
        </p:txBody>
      </p:sp>
      <p:sp>
        <p:nvSpPr>
          <p:cNvPr id="7" name="Option A"/>
          <p:cNvSpPr/>
          <p:nvPr/>
        </p:nvSpPr>
        <p:spPr>
          <a:xfrm>
            <a:off x="548640" y="4084320"/>
            <a:ext cx="5410505" cy="870204"/>
          </a:xfrm>
          <a:prstGeom prst="roundRect">
            <a:avLst>
              <a:gd name="adj" fmla="val 14711"/>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23595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9" name="Option A text"/>
          <p:cNvSpPr txBox="1"/>
          <p:nvPr/>
        </p:nvSpPr>
        <p:spPr>
          <a:xfrm>
            <a:off x="1645920" y="4130040"/>
            <a:ext cx="4038905" cy="778764"/>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3 321344</a:t>
            </a:r>
            <a:endParaRPr lang="en-US" sz="2000" dirty="0"/>
          </a:p>
        </p:txBody>
      </p:sp>
      <p:sp>
        <p:nvSpPr>
          <p:cNvPr id="10" name="Option B"/>
          <p:cNvSpPr/>
          <p:nvPr/>
        </p:nvSpPr>
        <p:spPr>
          <a:xfrm>
            <a:off x="6233465" y="4084320"/>
            <a:ext cx="5410505" cy="870204"/>
          </a:xfrm>
          <a:prstGeom prst="roundRect">
            <a:avLst>
              <a:gd name="adj" fmla="val 14711"/>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785" y="423595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Option B text"/>
          <p:cNvSpPr txBox="1"/>
          <p:nvPr/>
        </p:nvSpPr>
        <p:spPr>
          <a:xfrm>
            <a:off x="7330745" y="4130040"/>
            <a:ext cx="4038905" cy="778764"/>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3 111</a:t>
            </a:r>
            <a:endParaRPr lang="en-US" sz="2000" dirty="0"/>
          </a:p>
        </p:txBody>
      </p:sp>
      <p:sp>
        <p:nvSpPr>
          <p:cNvPr id="13" name="Option C"/>
          <p:cNvSpPr/>
          <p:nvPr/>
        </p:nvSpPr>
        <p:spPr>
          <a:xfrm>
            <a:off x="548640" y="5183124"/>
            <a:ext cx="5410505" cy="870204"/>
          </a:xfrm>
          <a:prstGeom prst="roundRect">
            <a:avLst>
              <a:gd name="adj" fmla="val 14711"/>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33476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5" name="Option C text"/>
          <p:cNvSpPr txBox="1"/>
          <p:nvPr/>
        </p:nvSpPr>
        <p:spPr>
          <a:xfrm>
            <a:off x="1645920" y="5228844"/>
            <a:ext cx="4038905" cy="778764"/>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2 111</a:t>
            </a:r>
            <a:endParaRPr lang="en-US" sz="2000" dirty="0"/>
          </a:p>
        </p:txBody>
      </p:sp>
      <p:sp>
        <p:nvSpPr>
          <p:cNvPr id="16" name="Option D"/>
          <p:cNvSpPr/>
          <p:nvPr/>
        </p:nvSpPr>
        <p:spPr>
          <a:xfrm>
            <a:off x="6233465" y="5183124"/>
            <a:ext cx="5410505" cy="870204"/>
          </a:xfrm>
          <a:prstGeom prst="roundRect">
            <a:avLst>
              <a:gd name="adj" fmla="val 14711"/>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785" y="533476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8" name="Option D text"/>
          <p:cNvSpPr txBox="1"/>
          <p:nvPr/>
        </p:nvSpPr>
        <p:spPr>
          <a:xfrm>
            <a:off x="7330745" y="5228844"/>
            <a:ext cx="4038905" cy="778764"/>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2 321344</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7</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161288"/>
          </a:xfrm>
          <a:prstGeom prst="roundRect">
            <a:avLst>
              <a:gd name="adj" fmla="val 944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58952"/>
          </a:xfrm>
          <a:prstGeom prst="rect">
            <a:avLst/>
          </a:prstGeom>
          <a:noFill/>
          <a:ln/>
        </p:spPr>
        <p:txBody>
          <a:bodyPr wrap="square" lIns="0" tIns="0" rIns="0" bIns="0" rtlCol="0" anchor="t"/>
          <a:lstStyle/>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students.</a:t>
            </a:r>
            <a:r>
              <a:rPr lang="en-US" sz="1400" dirty="0">
                <a:solidFill>
                  <a:srgbClr val="C9B0FF"/>
                </a:solidFill>
                <a:latin typeface="Consolas" pitchFamily="34" charset="0"/>
                <a:ea typeface="Consolas" pitchFamily="34" charset="-122"/>
                <a:cs typeface="Consolas" pitchFamily="34" charset="-120"/>
              </a:rPr>
              <a:t>put</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"Tom"</a:t>
            </a: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F2C14E"/>
                </a:solidFill>
                <a:latin typeface="Consolas" pitchFamily="34" charset="0"/>
                <a:ea typeface="Consolas" pitchFamily="34" charset="-122"/>
                <a:cs typeface="Consolas" pitchFamily="34" charset="-120"/>
              </a:rPr>
              <a:t>111</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replaces 321344</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students.</a:t>
            </a:r>
            <a:r>
              <a:rPr lang="en-US" sz="1400" dirty="0">
                <a:solidFill>
                  <a:srgbClr val="C9B0FF"/>
                </a:solidFill>
                <a:latin typeface="Consolas" pitchFamily="34" charset="0"/>
                <a:ea typeface="Consolas" pitchFamily="34" charset="-122"/>
                <a:cs typeface="Consolas" pitchFamily="34" charset="-120"/>
              </a:rPr>
              <a:t>size</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2: Tom and Ann</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students.</a:t>
            </a:r>
            <a:r>
              <a:rPr lang="en-US" sz="1400" dirty="0">
                <a:solidFill>
                  <a:srgbClr val="C9B0FF"/>
                </a:solidFill>
                <a:latin typeface="Consolas" pitchFamily="34" charset="0"/>
                <a:ea typeface="Consolas" pitchFamily="34" charset="-122"/>
                <a:cs typeface="Consolas" pitchFamily="34" charset="-120"/>
              </a:rPr>
              <a:t>get</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"Tom"</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111</a:t>
            </a:r>
            <a:endParaRPr lang="en-US" sz="1400" dirty="0"/>
          </a:p>
        </p:txBody>
      </p:sp>
      <p:sp>
        <p:nvSpPr>
          <p:cNvPr id="7" name="Option A"/>
          <p:cNvSpPr/>
          <p:nvPr/>
        </p:nvSpPr>
        <p:spPr>
          <a:xfrm>
            <a:off x="548640" y="3264408"/>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5127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264408"/>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3 321344</a:t>
            </a:r>
            <a:endParaRPr lang="en-US" sz="1700" dirty="0"/>
          </a:p>
        </p:txBody>
      </p:sp>
      <p:sp>
        <p:nvSpPr>
          <p:cNvPr id="10" name="Option B"/>
          <p:cNvSpPr/>
          <p:nvPr/>
        </p:nvSpPr>
        <p:spPr>
          <a:xfrm>
            <a:off x="548640" y="4005072"/>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09194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4005072"/>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3 111</a:t>
            </a:r>
            <a:endParaRPr lang="en-US" sz="1700" dirty="0"/>
          </a:p>
        </p:txBody>
      </p:sp>
      <p:sp>
        <p:nvSpPr>
          <p:cNvPr id="13" name="Option C (correct)"/>
          <p:cNvSpPr/>
          <p:nvPr/>
        </p:nvSpPr>
        <p:spPr>
          <a:xfrm>
            <a:off x="548640" y="4745736"/>
            <a:ext cx="5623560" cy="594360"/>
          </a:xfrm>
          <a:prstGeom prst="roundRect">
            <a:avLst>
              <a:gd name="adj" fmla="val 18462"/>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83260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5" name="Option C text"/>
          <p:cNvSpPr txBox="1"/>
          <p:nvPr/>
        </p:nvSpPr>
        <p:spPr>
          <a:xfrm>
            <a:off x="1371600" y="4745736"/>
            <a:ext cx="4233672" cy="59436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2 111</a:t>
            </a:r>
            <a:endParaRPr lang="en-US" sz="1700" dirty="0"/>
          </a:p>
        </p:txBody>
      </p:sp>
      <p:pic>
        <p:nvPicPr>
          <p:cNvPr id="16" name="Image 0" descr="Correct mark">    </p:cNvPr>
          <p:cNvPicPr>
            <a:picLocks noChangeAspect="1"/>
          </p:cNvPicPr>
          <p:nvPr/>
        </p:nvPicPr>
        <p:blipFill>
          <a:blip r:embed="rId1"/>
          <a:stretch>
            <a:fillRect/>
          </a:stretch>
        </p:blipFill>
        <p:spPr>
          <a:xfrm>
            <a:off x="5623560" y="4860036"/>
            <a:ext cx="365760" cy="365760"/>
          </a:xfrm>
          <a:prstGeom prst="rect">
            <a:avLst/>
          </a:prstGeom>
        </p:spPr>
      </p:pic>
      <p:sp>
        <p:nvSpPr>
          <p:cNvPr id="17" name="Option D"/>
          <p:cNvSpPr/>
          <p:nvPr/>
        </p:nvSpPr>
        <p:spPr>
          <a:xfrm>
            <a:off x="548640" y="5486400"/>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326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86400"/>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2 321344</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Tom is already a key, so the second </a:t>
            </a:r>
            <a:r>
              <a:rPr lang="en-US" sz="1800" dirty="0">
                <a:solidFill>
                  <a:schemeClr val="accent2"/>
                </a:solidFill>
                <a:latin typeface="Consolas" pitchFamily="34" charset="0"/>
                <a:ea typeface="Consolas" pitchFamily="34" charset="-122"/>
                <a:cs typeface="Consolas" pitchFamily="34" charset="-120"/>
              </a:rPr>
              <a:t>put("Tom", ...)</a:t>
            </a:r>
            <a:r>
              <a:rPr lang="en-US" sz="1800" dirty="0">
                <a:solidFill>
                  <a:schemeClr val="tx1"/>
                </a:solidFill>
              </a:rPr>
              <a:t> replaces 321344 with 111 instead of adding a new pair. The map still has two keys, Tom and Ann, so it prints </a:t>
            </a:r>
            <a:r>
              <a:rPr lang="en-US" sz="1800" dirty="0">
                <a:solidFill>
                  <a:schemeClr val="accent2"/>
                </a:solidFill>
                <a:latin typeface="Consolas" pitchFamily="34" charset="0"/>
                <a:ea typeface="Consolas" pitchFamily="34" charset="-122"/>
                <a:cs typeface="Consolas" pitchFamily="34" charset="-120"/>
              </a:rPr>
              <a:t>2 111</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8</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Zoe isn’t a key in </a:t>
            </a:r>
            <a:r>
              <a:rPr lang="en-US" sz="2800" b="1" dirty="0">
                <a:solidFill>
                  <a:schemeClr val="accent2"/>
                </a:solidFill>
                <a:latin typeface="Consolas" pitchFamily="34" charset="0"/>
                <a:ea typeface="Consolas" pitchFamily="34" charset="-122"/>
                <a:cs typeface="Consolas" pitchFamily="34" charset="-120"/>
              </a:rPr>
              <a:t>students</a:t>
            </a:r>
            <a:r>
              <a:rPr lang="en-US" sz="2800" b="1" dirty="0">
                <a:solidFill>
                  <a:schemeClr val="tx1"/>
                </a:solidFill>
              </a:rPr>
              <a:t>. What happens when this line runs?</a:t>
            </a:r>
            <a:endParaRPr lang="en-US" sz="2800" dirty="0"/>
          </a:p>
        </p:txBody>
      </p:sp>
      <p:sp>
        <p:nvSpPr>
          <p:cNvPr id="5" name="Question code card"/>
          <p:cNvSpPr/>
          <p:nvPr/>
        </p:nvSpPr>
        <p:spPr>
          <a:xfrm>
            <a:off x="548640" y="1965960"/>
            <a:ext cx="11094415" cy="758952"/>
          </a:xfrm>
          <a:prstGeom prst="roundRect">
            <a:avLst>
              <a:gd name="adj" fmla="val 14458"/>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356616"/>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int </a:t>
            </a:r>
            <a:r>
              <a:rPr lang="en-US" sz="1800" dirty="0">
                <a:solidFill>
                  <a:srgbClr val="E6EBF2"/>
                </a:solidFill>
                <a:latin typeface="Consolas" pitchFamily="34" charset="0"/>
                <a:ea typeface="Consolas" pitchFamily="34" charset="-122"/>
                <a:cs typeface="Consolas" pitchFamily="34" charset="-120"/>
              </a:rPr>
              <a:t>zoe = students.</a:t>
            </a:r>
            <a:r>
              <a:rPr lang="en-US" sz="1800" dirty="0">
                <a:solidFill>
                  <a:srgbClr val="C9B0FF"/>
                </a:solidFill>
                <a:latin typeface="Consolas" pitchFamily="34" charset="0"/>
                <a:ea typeface="Consolas" pitchFamily="34" charset="-122"/>
                <a:cs typeface="Consolas" pitchFamily="34" charset="-120"/>
              </a:rPr>
              <a:t>get</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"Zoe"</a:t>
            </a:r>
            <a:r>
              <a:rPr lang="en-US" sz="1800" dirty="0">
                <a:solidFill>
                  <a:srgbClr val="E6EBF2"/>
                </a:solidFill>
                <a:latin typeface="Consolas" pitchFamily="34" charset="0"/>
                <a:ea typeface="Consolas" pitchFamily="34" charset="-122"/>
                <a:cs typeface="Consolas" pitchFamily="34" charset="-120"/>
              </a:rPr>
              <a:t>);</a:t>
            </a:r>
            <a:endParaRPr lang="en-US" sz="1800" dirty="0"/>
          </a:p>
        </p:txBody>
      </p:sp>
      <p:sp>
        <p:nvSpPr>
          <p:cNvPr id="7" name="Option A"/>
          <p:cNvSpPr/>
          <p:nvPr/>
        </p:nvSpPr>
        <p:spPr>
          <a:xfrm>
            <a:off x="548640" y="3044952"/>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24154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9" name="Option A text"/>
          <p:cNvSpPr txBox="1"/>
          <p:nvPr/>
        </p:nvSpPr>
        <p:spPr>
          <a:xfrm>
            <a:off x="1645920" y="3090672"/>
            <a:ext cx="4038905" cy="86868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zoe</a:t>
            </a:r>
            <a:r>
              <a:rPr lang="en-US" sz="2000" dirty="0">
                <a:solidFill>
                  <a:schemeClr val="tx1"/>
                </a:solidFill>
              </a:rPr>
              <a:t> is set to 0</a:t>
            </a:r>
            <a:endParaRPr lang="en-US" sz="2000" dirty="0"/>
          </a:p>
        </p:txBody>
      </p:sp>
      <p:sp>
        <p:nvSpPr>
          <p:cNvPr id="10" name="Option B"/>
          <p:cNvSpPr/>
          <p:nvPr/>
        </p:nvSpPr>
        <p:spPr>
          <a:xfrm>
            <a:off x="6233465" y="3044952"/>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785" y="324154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Option B text"/>
          <p:cNvSpPr txBox="1"/>
          <p:nvPr/>
        </p:nvSpPr>
        <p:spPr>
          <a:xfrm>
            <a:off x="7330745" y="3090672"/>
            <a:ext cx="4038905" cy="86868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zoe</a:t>
            </a:r>
            <a:r>
              <a:rPr lang="en-US" sz="2000" dirty="0">
                <a:solidFill>
                  <a:schemeClr val="tx1"/>
                </a:solidFill>
              </a:rPr>
              <a:t> is set to </a:t>
            </a:r>
            <a:r>
              <a:rPr lang="en-US" sz="2000" dirty="0">
                <a:solidFill>
                  <a:schemeClr val="accent2"/>
                </a:solidFill>
                <a:latin typeface="Consolas" pitchFamily="34" charset="0"/>
                <a:ea typeface="Consolas" pitchFamily="34" charset="-122"/>
                <a:cs typeface="Consolas" pitchFamily="34" charset="-120"/>
              </a:rPr>
              <a:t>null</a:t>
            </a:r>
            <a:endParaRPr lang="en-US" sz="2000" dirty="0"/>
          </a:p>
        </p:txBody>
      </p:sp>
      <p:sp>
        <p:nvSpPr>
          <p:cNvPr id="13" name="Option C"/>
          <p:cNvSpPr/>
          <p:nvPr/>
        </p:nvSpPr>
        <p:spPr>
          <a:xfrm>
            <a:off x="548640" y="4233672"/>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43026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5" name="Option C text"/>
          <p:cNvSpPr txBox="1"/>
          <p:nvPr/>
        </p:nvSpPr>
        <p:spPr>
          <a:xfrm>
            <a:off x="1645920" y="4279392"/>
            <a:ext cx="4038905" cy="868680"/>
          </a:xfrm>
          <a:prstGeom prst="rect">
            <a:avLst/>
          </a:prstGeom>
          <a:noFill/>
          <a:ln/>
        </p:spPr>
        <p:txBody>
          <a:bodyPr wrap="square" lIns="0" tIns="0" rIns="0" bIns="0" rtlCol="0" anchor="ctr"/>
          <a:lstStyle/>
          <a:p>
            <a:pPr indent="0" marL="0">
              <a:buNone/>
            </a:pPr>
            <a:r>
              <a:rPr lang="en-US" sz="2000" dirty="0">
                <a:solidFill>
                  <a:schemeClr val="tx1"/>
                </a:solidFill>
              </a:rPr>
              <a:t>It throws a </a:t>
            </a:r>
            <a:r>
              <a:rPr lang="en-US" sz="2000" dirty="0">
                <a:solidFill>
                  <a:schemeClr val="accent2"/>
                </a:solidFill>
                <a:latin typeface="Consolas" pitchFamily="34" charset="0"/>
                <a:ea typeface="Consolas" pitchFamily="34" charset="-122"/>
                <a:cs typeface="Consolas" pitchFamily="34" charset="-120"/>
              </a:rPr>
              <a:t>NullPointerException</a:t>
            </a:r>
            <a:endParaRPr lang="en-US" sz="2000" dirty="0"/>
          </a:p>
        </p:txBody>
      </p:sp>
      <p:sp>
        <p:nvSpPr>
          <p:cNvPr id="16" name="Option D"/>
          <p:cNvSpPr/>
          <p:nvPr/>
        </p:nvSpPr>
        <p:spPr>
          <a:xfrm>
            <a:off x="6233465" y="4233672"/>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785" y="4430268"/>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8" name="Option D text"/>
          <p:cNvSpPr txBox="1"/>
          <p:nvPr/>
        </p:nvSpPr>
        <p:spPr>
          <a:xfrm>
            <a:off x="7330745" y="4279392"/>
            <a:ext cx="4038905" cy="868680"/>
          </a:xfrm>
          <a:prstGeom prst="rect">
            <a:avLst/>
          </a:prstGeom>
          <a:noFill/>
          <a:ln/>
        </p:spPr>
        <p:txBody>
          <a:bodyPr wrap="square" lIns="0" tIns="0" rIns="0" bIns="0" rtlCol="0" anchor="ctr"/>
          <a:lstStyle/>
          <a:p>
            <a:pPr indent="0" marL="0">
              <a:buNone/>
            </a:pPr>
            <a:r>
              <a:rPr lang="en-US" sz="2000" dirty="0">
                <a:solidFill>
                  <a:schemeClr val="tx1"/>
                </a:solidFill>
              </a:rPr>
              <a:t>It won’t compile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8</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Zoe isn’t a key in </a:t>
            </a:r>
            <a:r>
              <a:rPr lang="en-US" sz="2000" b="1" dirty="0">
                <a:solidFill>
                  <a:schemeClr val="tx2"/>
                </a:solidFill>
                <a:latin typeface="Consolas" pitchFamily="34" charset="0"/>
                <a:ea typeface="Consolas" pitchFamily="34" charset="-122"/>
                <a:cs typeface="Consolas" pitchFamily="34" charset="-120"/>
              </a:rPr>
              <a:t>students</a:t>
            </a:r>
            <a:r>
              <a:rPr lang="en-US" sz="2000" b="1" dirty="0">
                <a:solidFill>
                  <a:schemeClr val="tx2"/>
                </a:solidFill>
              </a:rPr>
              <a:t>. What happens when this line runs?</a:t>
            </a:r>
            <a:endParaRPr lang="en-US" sz="2000" dirty="0"/>
          </a:p>
        </p:txBody>
      </p:sp>
      <p:sp>
        <p:nvSpPr>
          <p:cNvPr id="5" name="Answer code card"/>
          <p:cNvSpPr/>
          <p:nvPr/>
        </p:nvSpPr>
        <p:spPr>
          <a:xfrm>
            <a:off x="548640" y="1874520"/>
            <a:ext cx="5623560" cy="1261872"/>
          </a:xfrm>
          <a:prstGeom prst="roundRect">
            <a:avLst>
              <a:gd name="adj" fmla="val 8696"/>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59536"/>
          </a:xfrm>
          <a:prstGeom prst="rect">
            <a:avLst/>
          </a:prstGeom>
          <a:noFill/>
          <a:ln/>
        </p:spPr>
        <p:txBody>
          <a:bodyPr wrap="square" lIns="0" tIns="0" rIns="0" bIns="0" rtlCol="0" anchor="t"/>
          <a:lstStyle/>
          <a:p>
            <a:pPr indent="0" marL="0">
              <a:lnSpc>
                <a:spcPts val="2110"/>
              </a:lnSpc>
              <a:buNone/>
            </a:pPr>
            <a:r>
              <a:rPr lang="en-US" sz="1600" dirty="0">
                <a:solidFill>
                  <a:srgbClr val="FF9F5A"/>
                </a:solidFill>
                <a:latin typeface="Consolas" pitchFamily="34" charset="0"/>
                <a:ea typeface="Consolas" pitchFamily="34" charset="-122"/>
                <a:cs typeface="Consolas" pitchFamily="34" charset="-120"/>
              </a:rPr>
              <a:t>int </a:t>
            </a:r>
            <a:r>
              <a:rPr lang="en-US" sz="1600" dirty="0">
                <a:solidFill>
                  <a:srgbClr val="E6EBF2"/>
                </a:solidFill>
                <a:latin typeface="Consolas" pitchFamily="34" charset="0"/>
                <a:ea typeface="Consolas" pitchFamily="34" charset="-122"/>
                <a:cs typeface="Consolas" pitchFamily="34" charset="-120"/>
              </a:rPr>
              <a:t>zoe = students.</a:t>
            </a:r>
            <a:r>
              <a:rPr lang="en-US" sz="1600" dirty="0">
                <a:solidFill>
                  <a:srgbClr val="C9B0FF"/>
                </a:solidFill>
                <a:latin typeface="Consolas" pitchFamily="34" charset="0"/>
                <a:ea typeface="Consolas" pitchFamily="34" charset="-122"/>
                <a:cs typeface="Consolas" pitchFamily="34" charset="-120"/>
              </a:rPr>
              <a:t>get</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"Zoe"</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i="1" dirty="0">
                <a:solidFill>
                  <a:srgbClr val="A3AEC2"/>
                </a:solidFill>
                <a:latin typeface="Consolas" pitchFamily="34" charset="0"/>
                <a:ea typeface="Consolas" pitchFamily="34" charset="-122"/>
                <a:cs typeface="Consolas" pitchFamily="34" charset="-120"/>
              </a:rPr>
              <a:t>// get gives back null for a missing key</a:t>
            </a:r>
            <a:endParaRPr lang="en-US" sz="1600" dirty="0"/>
          </a:p>
          <a:p>
            <a:pPr indent="0" marL="0">
              <a:lnSpc>
                <a:spcPts val="2110"/>
              </a:lnSpc>
              <a:buNone/>
            </a:pPr>
            <a:r>
              <a:rPr lang="en-US" sz="1600" i="1" dirty="0">
                <a:solidFill>
                  <a:srgbClr val="A3AEC2"/>
                </a:solidFill>
                <a:latin typeface="Consolas" pitchFamily="34" charset="0"/>
                <a:ea typeface="Consolas" pitchFamily="34" charset="-122"/>
                <a:cs typeface="Consolas" pitchFamily="34" charset="-120"/>
              </a:rPr>
              <a:t>// null can’t be unboxed into an int</a:t>
            </a:r>
            <a:endParaRPr lang="en-US" sz="1600" dirty="0"/>
          </a:p>
        </p:txBody>
      </p:sp>
      <p:sp>
        <p:nvSpPr>
          <p:cNvPr id="7" name="Option A"/>
          <p:cNvSpPr/>
          <p:nvPr/>
        </p:nvSpPr>
        <p:spPr>
          <a:xfrm>
            <a:off x="548640" y="3364992"/>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439287"/>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364992"/>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zoe</a:t>
            </a:r>
            <a:r>
              <a:rPr lang="en-US" sz="1700" dirty="0">
                <a:solidFill>
                  <a:schemeClr val="tx2"/>
                </a:solidFill>
              </a:rPr>
              <a:t> is set to 0</a:t>
            </a:r>
            <a:endParaRPr lang="en-US" sz="1700" dirty="0"/>
          </a:p>
        </p:txBody>
      </p:sp>
      <p:sp>
        <p:nvSpPr>
          <p:cNvPr id="10" name="Option B"/>
          <p:cNvSpPr/>
          <p:nvPr/>
        </p:nvSpPr>
        <p:spPr>
          <a:xfrm>
            <a:off x="548640" y="4080510"/>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15480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4080510"/>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zoe</a:t>
            </a:r>
            <a:r>
              <a:rPr lang="en-US" sz="1700" dirty="0">
                <a:solidFill>
                  <a:schemeClr val="tx2"/>
                </a:solidFill>
              </a:rPr>
              <a:t> is set to </a:t>
            </a:r>
            <a:r>
              <a:rPr lang="en-US" sz="1700" dirty="0">
                <a:solidFill>
                  <a:schemeClr val="tx2"/>
                </a:solidFill>
                <a:latin typeface="Consolas" pitchFamily="34" charset="0"/>
                <a:ea typeface="Consolas" pitchFamily="34" charset="-122"/>
                <a:cs typeface="Consolas" pitchFamily="34" charset="-120"/>
              </a:rPr>
              <a:t>null</a:t>
            </a:r>
            <a:endParaRPr lang="en-US" sz="1700" dirty="0"/>
          </a:p>
        </p:txBody>
      </p:sp>
      <p:sp>
        <p:nvSpPr>
          <p:cNvPr id="13" name="Option C (correct)"/>
          <p:cNvSpPr/>
          <p:nvPr/>
        </p:nvSpPr>
        <p:spPr>
          <a:xfrm>
            <a:off x="548640" y="4796028"/>
            <a:ext cx="5623560" cy="569214"/>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870323"/>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5" name="Option C text"/>
          <p:cNvSpPr txBox="1"/>
          <p:nvPr/>
        </p:nvSpPr>
        <p:spPr>
          <a:xfrm>
            <a:off x="1371600" y="4796028"/>
            <a:ext cx="4233672" cy="569214"/>
          </a:xfrm>
          <a:prstGeom prst="rect">
            <a:avLst/>
          </a:prstGeom>
          <a:noFill/>
          <a:ln/>
        </p:spPr>
        <p:txBody>
          <a:bodyPr wrap="square" lIns="0" tIns="0" rIns="0" bIns="0" rtlCol="0" anchor="ctr"/>
          <a:lstStyle/>
          <a:p>
            <a:pPr indent="0" marL="0">
              <a:buNone/>
            </a:pPr>
            <a:r>
              <a:rPr lang="en-US" sz="1700" b="1" dirty="0">
                <a:solidFill>
                  <a:schemeClr val="bg1"/>
                </a:solidFill>
              </a:rPr>
              <a:t>It throws a </a:t>
            </a:r>
            <a:r>
              <a:rPr lang="en-US" sz="1700" b="1" dirty="0">
                <a:solidFill>
                  <a:schemeClr val="bg1"/>
                </a:solidFill>
                <a:latin typeface="Consolas" pitchFamily="34" charset="0"/>
                <a:ea typeface="Consolas" pitchFamily="34" charset="-122"/>
                <a:cs typeface="Consolas" pitchFamily="34" charset="-120"/>
              </a:rPr>
              <a:t>NullPointerException</a:t>
            </a:r>
            <a:endParaRPr lang="en-US" sz="1700" dirty="0"/>
          </a:p>
        </p:txBody>
      </p:sp>
      <p:pic>
        <p:nvPicPr>
          <p:cNvPr id="16" name="Image 0" descr="Correct mark">    </p:cNvPr>
          <p:cNvPicPr>
            <a:picLocks noChangeAspect="1"/>
          </p:cNvPicPr>
          <p:nvPr/>
        </p:nvPicPr>
        <p:blipFill>
          <a:blip r:embed="rId1"/>
          <a:stretch>
            <a:fillRect/>
          </a:stretch>
        </p:blipFill>
        <p:spPr>
          <a:xfrm>
            <a:off x="5623560" y="4897755"/>
            <a:ext cx="365760" cy="365760"/>
          </a:xfrm>
          <a:prstGeom prst="rect">
            <a:avLst/>
          </a:prstGeom>
        </p:spPr>
      </p:pic>
      <p:sp>
        <p:nvSpPr>
          <p:cNvPr id="17" name="Option D"/>
          <p:cNvSpPr/>
          <p:nvPr/>
        </p:nvSpPr>
        <p:spPr>
          <a:xfrm>
            <a:off x="548640" y="5511546"/>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85841"/>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511546"/>
            <a:ext cx="4572000" cy="569214"/>
          </a:xfrm>
          <a:prstGeom prst="rect">
            <a:avLst/>
          </a:prstGeom>
          <a:noFill/>
          <a:ln/>
        </p:spPr>
        <p:txBody>
          <a:bodyPr wrap="square" lIns="0" tIns="0" rIns="0" bIns="0" rtlCol="0" anchor="ctr"/>
          <a:lstStyle/>
          <a:p>
            <a:pPr indent="0" marL="0">
              <a:buNone/>
            </a:pPr>
            <a:r>
              <a:rPr lang="en-US" sz="1700" dirty="0">
                <a:solidFill>
                  <a:schemeClr val="tx2"/>
                </a:solidFill>
              </a:rPr>
              <a:t>It won’t compile</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get</a:t>
            </a:r>
            <a:r>
              <a:rPr lang="en-US" sz="1800" dirty="0">
                <a:solidFill>
                  <a:schemeClr val="tx1"/>
                </a:solidFill>
              </a:rPr>
              <a:t> gives back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for a missing key, and Java then tries to unbox that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into an int, which throws a NullPointerException when the line runs. It does compile, because </a:t>
            </a:r>
            <a:r>
              <a:rPr lang="en-US" sz="1800" dirty="0">
                <a:solidFill>
                  <a:schemeClr val="accent2"/>
                </a:solidFill>
                <a:latin typeface="Consolas" pitchFamily="34" charset="0"/>
                <a:ea typeface="Consolas" pitchFamily="34" charset="-122"/>
                <a:cs typeface="Consolas" pitchFamily="34" charset="-120"/>
              </a:rPr>
              <a:t>get</a:t>
            </a:r>
            <a:r>
              <a:rPr lang="en-US" sz="1800" dirty="0">
                <a:solidFill>
                  <a:schemeClr val="tx1"/>
                </a:solidFill>
              </a:rPr>
              <a:t> returns an </a:t>
            </a:r>
            <a:r>
              <a:rPr lang="en-US" sz="1800" dirty="0">
                <a:solidFill>
                  <a:schemeClr val="accent2"/>
                </a:solidFill>
                <a:latin typeface="Consolas" pitchFamily="34" charset="0"/>
                <a:ea typeface="Consolas" pitchFamily="34" charset="-122"/>
                <a:cs typeface="Consolas" pitchFamily="34" charset="-120"/>
              </a:rPr>
              <a:t>Integer</a:t>
            </a:r>
            <a:r>
              <a:rPr lang="en-US" sz="1800" dirty="0">
                <a:solidFill>
                  <a:schemeClr val="tx1"/>
                </a:solidFill>
              </a:rPr>
              <a:t>. To be safe, check with </a:t>
            </a:r>
            <a:r>
              <a:rPr lang="en-US" sz="1800" dirty="0">
                <a:solidFill>
                  <a:schemeClr val="accent2"/>
                </a:solidFill>
                <a:latin typeface="Consolas" pitchFamily="34" charset="0"/>
                <a:ea typeface="Consolas" pitchFamily="34" charset="-122"/>
                <a:cs typeface="Consolas" pitchFamily="34" charset="-120"/>
              </a:rPr>
              <a:t>containsKey("Zoe")</a:t>
            </a:r>
            <a:r>
              <a:rPr lang="en-US" sz="1800" dirty="0">
                <a:solidFill>
                  <a:schemeClr val="tx1"/>
                </a:solidFill>
              </a:rPr>
              <a:t> first.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HASH TABLES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Looping through a HashMap</a:t>
            </a:r>
            <a:endParaRPr lang="en-US" sz="3400" dirty="0"/>
          </a:p>
        </p:txBody>
      </p:sp>
      <p:sp>
        <p:nvSpPr>
          <p:cNvPr id="5" name="Text 2"/>
          <p:cNvSpPr txBox="1"/>
          <p:nvPr/>
        </p:nvSpPr>
        <p:spPr>
          <a:xfrm>
            <a:off x="548640" y="1691640"/>
            <a:ext cx="6766560" cy="292608"/>
          </a:xfrm>
          <a:prstGeom prst="rect">
            <a:avLst/>
          </a:prstGeom>
          <a:noFill/>
          <a:ln/>
        </p:spPr>
        <p:txBody>
          <a:bodyPr wrap="square" lIns="0" tIns="0" rIns="0" bIns="0" rtlCol="0" anchor="t"/>
          <a:lstStyle/>
          <a:p>
            <a:pPr algn="l" indent="0" marL="0">
              <a:buNone/>
            </a:pPr>
            <a:r>
              <a:rPr lang="en-US" sz="1500" dirty="0">
                <a:solidFill>
                  <a:schemeClr val="accent2"/>
                </a:solidFill>
                <a:latin typeface="Consolas" pitchFamily="34" charset="0"/>
                <a:ea typeface="Consolas" pitchFamily="34" charset="-122"/>
                <a:cs typeface="Consolas" pitchFamily="34" charset="-120"/>
              </a:rPr>
              <a:t>students</a:t>
            </a:r>
            <a:r>
              <a:rPr lang="en-US" sz="1500" dirty="0">
                <a:solidFill>
                  <a:schemeClr val="tx2"/>
                </a:solidFill>
              </a:rPr>
              <a:t> from the HashMap slide: Tom, Ann and Jack, added in that order.</a:t>
            </a:r>
            <a:endParaRPr lang="en-US" sz="1500" dirty="0"/>
          </a:p>
        </p:txBody>
      </p:sp>
      <p:sp>
        <p:nvSpPr>
          <p:cNvPr id="6" name="Map loops card"/>
          <p:cNvSpPr/>
          <p:nvPr/>
        </p:nvSpPr>
        <p:spPr>
          <a:xfrm>
            <a:off x="548640" y="2103120"/>
            <a:ext cx="6766560" cy="2493264"/>
          </a:xfrm>
          <a:prstGeom prst="roundRect">
            <a:avLst>
              <a:gd name="adj" fmla="val 4401"/>
            </a:avLst>
          </a:prstGeom>
          <a:solidFill>
            <a:schemeClr val="tx1"/>
          </a:solidFill>
          <a:ln/>
          <a:effectLst>
            <a:outerShdw sx="100000" sy="100000" kx="0" ky="0" algn="bl" rotWithShape="0" blurRad="114300" dist="31750" dir="5400000">
              <a:srgbClr val="1D2433">
                <a:alpha val="12000"/>
              </a:srgbClr>
            </a:outerShdw>
          </a:effectLst>
        </p:spPr>
      </p:sp>
      <p:sp>
        <p:nvSpPr>
          <p:cNvPr id="7" name="Map loops label"/>
          <p:cNvSpPr txBox="1"/>
          <p:nvPr/>
        </p:nvSpPr>
        <p:spPr>
          <a:xfrm>
            <a:off x="822960" y="2221992"/>
            <a:ext cx="62179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Map loops text"/>
          <p:cNvSpPr txBox="1"/>
          <p:nvPr/>
        </p:nvSpPr>
        <p:spPr>
          <a:xfrm>
            <a:off x="822960" y="2596896"/>
            <a:ext cx="6217920" cy="1798320"/>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for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String </a:t>
            </a:r>
            <a:r>
              <a:rPr lang="en-US" sz="1300" dirty="0">
                <a:solidFill>
                  <a:srgbClr val="E6EBF2"/>
                </a:solidFill>
                <a:latin typeface="Consolas" pitchFamily="34" charset="0"/>
                <a:ea typeface="Consolas" pitchFamily="34" charset="-122"/>
                <a:cs typeface="Consolas" pitchFamily="34" charset="-120"/>
              </a:rPr>
              <a:t>name : students.</a:t>
            </a:r>
            <a:r>
              <a:rPr lang="en-US" sz="1300" dirty="0">
                <a:solidFill>
                  <a:srgbClr val="C9B0FF"/>
                </a:solidFill>
                <a:latin typeface="Consolas" pitchFamily="34" charset="0"/>
                <a:ea typeface="Consolas" pitchFamily="34" charset="-122"/>
                <a:cs typeface="Consolas" pitchFamily="34" charset="-120"/>
              </a:rPr>
              <a:t>keySet</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the keys</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(name);</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for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number : students.</a:t>
            </a:r>
            <a:r>
              <a:rPr lang="en-US" sz="1300" dirty="0">
                <a:solidFill>
                  <a:srgbClr val="C9B0FF"/>
                </a:solidFill>
                <a:latin typeface="Consolas" pitchFamily="34" charset="0"/>
                <a:ea typeface="Consolas" pitchFamily="34" charset="-122"/>
                <a:cs typeface="Consolas" pitchFamily="34" charset="-120"/>
              </a:rPr>
              <a:t>values</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the values</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(number);</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for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Map</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Entry</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e : students.</a:t>
            </a:r>
            <a:r>
              <a:rPr lang="en-US" sz="1300" dirty="0">
                <a:solidFill>
                  <a:srgbClr val="C9B0FF"/>
                </a:solidFill>
                <a:latin typeface="Consolas" pitchFamily="34" charset="0"/>
                <a:ea typeface="Consolas" pitchFamily="34" charset="-122"/>
                <a:cs typeface="Consolas" pitchFamily="34" charset="-120"/>
              </a:rPr>
              <a:t>entrySet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(e.</a:t>
            </a:r>
            <a:r>
              <a:rPr lang="en-US" sz="1300" dirty="0">
                <a:solidFill>
                  <a:srgbClr val="C9B0FF"/>
                </a:solidFill>
                <a:latin typeface="Consolas" pitchFamily="34" charset="0"/>
                <a:ea typeface="Consolas" pitchFamily="34" charset="-122"/>
                <a:cs typeface="Consolas" pitchFamily="34" charset="-120"/>
              </a:rPr>
              <a:t>getKey</a:t>
            </a: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 " </a:t>
            </a:r>
            <a:r>
              <a:rPr lang="en-US" sz="1300" dirty="0">
                <a:solidFill>
                  <a:srgbClr val="E6EBF2"/>
                </a:solidFill>
                <a:latin typeface="Consolas" pitchFamily="34" charset="0"/>
                <a:ea typeface="Consolas" pitchFamily="34" charset="-122"/>
                <a:cs typeface="Consolas" pitchFamily="34" charset="-120"/>
              </a:rPr>
              <a:t>+ e.</a:t>
            </a:r>
            <a:r>
              <a:rPr lang="en-US" sz="1300" dirty="0">
                <a:solidFill>
                  <a:srgbClr val="C9B0FF"/>
                </a:solidFill>
                <a:latin typeface="Consolas" pitchFamily="34" charset="0"/>
                <a:ea typeface="Consolas" pitchFamily="34" charset="-122"/>
                <a:cs typeface="Consolas" pitchFamily="34" charset="-120"/>
              </a:rPr>
              <a:t>getValue</a:t>
            </a: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9" name="Output card"/>
          <p:cNvSpPr/>
          <p:nvPr/>
        </p:nvSpPr>
        <p:spPr>
          <a:xfrm>
            <a:off x="7589520" y="1691640"/>
            <a:ext cx="4053535" cy="2832926"/>
          </a:xfrm>
          <a:prstGeom prst="roundRect">
            <a:avLst>
              <a:gd name="adj" fmla="val 3873"/>
            </a:avLst>
          </a:prstGeom>
          <a:solidFill>
            <a:schemeClr val="tx1"/>
          </a:solidFill>
          <a:ln/>
          <a:effectLst>
            <a:outerShdw sx="100000" sy="100000" kx="0" ky="0" algn="bl" rotWithShape="0" blurRad="114300" dist="31750" dir="5400000">
              <a:srgbClr val="1D2433">
                <a:alpha val="12000"/>
              </a:srgbClr>
            </a:outerShdw>
          </a:effectLst>
        </p:spPr>
      </p:sp>
      <p:sp>
        <p:nvSpPr>
          <p:cNvPr id="10" name="Output label"/>
          <p:cNvSpPr txBox="1"/>
          <p:nvPr/>
        </p:nvSpPr>
        <p:spPr>
          <a:xfrm>
            <a:off x="7863840" y="1810512"/>
            <a:ext cx="350489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1" name="Output text"/>
          <p:cNvSpPr txBox="1"/>
          <p:nvPr/>
        </p:nvSpPr>
        <p:spPr>
          <a:xfrm>
            <a:off x="7863840" y="2185416"/>
            <a:ext cx="3504895" cy="2137982"/>
          </a:xfrm>
          <a:prstGeom prst="rect">
            <a:avLst/>
          </a:prstGeom>
          <a:noFill/>
          <a:ln/>
        </p:spPr>
        <p:txBody>
          <a:bodyPr wrap="square" lIns="0" tIns="0" rIns="0" bIns="0" rtlCol="0" anchor="t"/>
          <a:lstStyle/>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Ann</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Tom</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Jack</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5757688</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321344</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89789798</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Ann 5757688</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Tom 321344</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Jack 89789798</a:t>
            </a:r>
            <a:endParaRPr lang="en-US" sz="1350" dirty="0"/>
          </a:p>
        </p:txBody>
      </p:sp>
      <p:sp>
        <p:nvSpPr>
          <p:cNvPr id="12" name="Note"/>
          <p:cNvSpPr/>
          <p:nvPr/>
        </p:nvSpPr>
        <p:spPr>
          <a:xfrm>
            <a:off x="548640" y="4870704"/>
            <a:ext cx="6766560" cy="960120"/>
          </a:xfrm>
          <a:prstGeom prst="roundRect">
            <a:avLst>
              <a:gd name="adj" fmla="val 11429"/>
            </a:avLst>
          </a:prstGeom>
          <a:solidFill>
            <a:schemeClr val="bg2"/>
          </a:solidFill>
          <a:ln/>
        </p:spPr>
      </p:sp>
      <p:sp>
        <p:nvSpPr>
          <p:cNvPr id="13" name="Icon tile"/>
          <p:cNvSpPr/>
          <p:nvPr/>
        </p:nvSpPr>
        <p:spPr>
          <a:xfrm>
            <a:off x="822960" y="5085588"/>
            <a:ext cx="530352" cy="530352"/>
          </a:xfrm>
          <a:prstGeom prst="roundRect">
            <a:avLst>
              <a:gd name="adj" fmla="val 24000"/>
            </a:avLst>
          </a:prstGeom>
          <a:solidFill>
            <a:schemeClr val="accent1">
              <a:alpha val="14000"/>
            </a:schemeClr>
          </a:solidFill>
          <a:ln/>
        </p:spPr>
      </p:sp>
      <p:pic>
        <p:nvPicPr>
          <p:cNvPr id="14" name="Image 0" descr="shuffle icon">    </p:cNvPr>
          <p:cNvPicPr>
            <a:picLocks noChangeAspect="1"/>
          </p:cNvPicPr>
          <p:nvPr/>
        </p:nvPicPr>
        <p:blipFill>
          <a:blip r:embed="rId1"/>
          <a:stretch>
            <a:fillRect/>
          </a:stretch>
        </p:blipFill>
        <p:spPr>
          <a:xfrm>
            <a:off x="934334" y="5196962"/>
            <a:ext cx="307604" cy="307604"/>
          </a:xfrm>
          <a:prstGeom prst="rect">
            <a:avLst/>
          </a:prstGeom>
        </p:spPr>
      </p:pic>
      <p:sp>
        <p:nvSpPr>
          <p:cNvPr id="15" name="Text 11"/>
          <p:cNvSpPr txBox="1"/>
          <p:nvPr/>
        </p:nvSpPr>
        <p:spPr>
          <a:xfrm>
            <a:off x="1572768" y="4870704"/>
            <a:ext cx="5486400" cy="960120"/>
          </a:xfrm>
          <a:prstGeom prst="rect">
            <a:avLst/>
          </a:prstGeom>
          <a:noFill/>
          <a:ln/>
        </p:spPr>
        <p:txBody>
          <a:bodyPr wrap="square" lIns="0" tIns="0" rIns="0" bIns="0" rtlCol="0" anchor="ctr"/>
          <a:lstStyle/>
          <a:p>
            <a:pPr algn="l" indent="0" marL="0">
              <a:buNone/>
            </a:pPr>
            <a:r>
              <a:rPr lang="en-US" sz="1550" dirty="0">
                <a:solidFill>
                  <a:schemeClr val="tx1"/>
                </a:solidFill>
              </a:rPr>
              <a:t>The order is Ann, Tom, Jack: not the order we added them, and not alphabetical. A HashMap makes no promise about order.</a:t>
            </a:r>
            <a:endParaRPr lang="en-US"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9</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 order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We put Tom, Ann and Jack into a </a:t>
            </a:r>
            <a:r>
              <a:rPr lang="en-US" sz="2800" b="1" dirty="0">
                <a:solidFill>
                  <a:schemeClr val="accent2"/>
                </a:solidFill>
                <a:latin typeface="Consolas" pitchFamily="34" charset="0"/>
                <a:ea typeface="Consolas" pitchFamily="34" charset="-122"/>
                <a:cs typeface="Consolas" pitchFamily="34" charset="-120"/>
              </a:rPr>
              <a:t>HashMap</a:t>
            </a:r>
            <a:r>
              <a:rPr lang="en-US" sz="2800" b="1" dirty="0">
                <a:solidFill>
                  <a:schemeClr val="tx1"/>
                </a:solidFill>
              </a:rPr>
              <a:t>, in that order. What order does </a:t>
            </a:r>
            <a:r>
              <a:rPr lang="en-US" sz="2800" b="1" dirty="0">
                <a:solidFill>
                  <a:schemeClr val="accent2"/>
                </a:solidFill>
                <a:latin typeface="Consolas" pitchFamily="34" charset="0"/>
                <a:ea typeface="Consolas" pitchFamily="34" charset="-122"/>
                <a:cs typeface="Consolas" pitchFamily="34" charset="-120"/>
              </a:rPr>
              <a:t>keySet()</a:t>
            </a:r>
            <a:r>
              <a:rPr lang="en-US" sz="2800" b="1" dirty="0">
                <a:solidFill>
                  <a:schemeClr val="tx1"/>
                </a:solidFill>
              </a:rPr>
              <a:t> give them back in?</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No promised order: it depends on the hash codes</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Tom, Ann, Jack: the order we added them</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Ann, Jack, Tom: alphabetical</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Jack, Ann, Tom: the reverse</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9</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 order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We put Tom, Ann and Jack into a </a:t>
            </a:r>
            <a:r>
              <a:rPr lang="en-US" sz="2000" b="1" dirty="0">
                <a:solidFill>
                  <a:schemeClr val="tx2"/>
                </a:solidFill>
                <a:latin typeface="Consolas" pitchFamily="34" charset="0"/>
                <a:ea typeface="Consolas" pitchFamily="34" charset="-122"/>
                <a:cs typeface="Consolas" pitchFamily="34" charset="-120"/>
              </a:rPr>
              <a:t>HashMap</a:t>
            </a:r>
            <a:r>
              <a:rPr lang="en-US" sz="2000" b="1" dirty="0">
                <a:solidFill>
                  <a:schemeClr val="tx2"/>
                </a:solidFill>
              </a:rPr>
              <a:t>, in that order. What order does </a:t>
            </a:r>
            <a:r>
              <a:rPr lang="en-US" sz="2000" b="1" dirty="0">
                <a:solidFill>
                  <a:schemeClr val="tx2"/>
                </a:solidFill>
                <a:latin typeface="Consolas" pitchFamily="34" charset="0"/>
                <a:ea typeface="Consolas" pitchFamily="34" charset="-122"/>
                <a:cs typeface="Consolas" pitchFamily="34" charset="-120"/>
              </a:rPr>
              <a:t>keySet()</a:t>
            </a:r>
            <a:r>
              <a:rPr lang="en-US" sz="2000" b="1" dirty="0">
                <a:solidFill>
                  <a:schemeClr val="tx2"/>
                </a:solidFill>
              </a:rPr>
              <a:t> give them back in?</a:t>
            </a:r>
            <a:endParaRPr lang="en-US"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28800"/>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No promised order: it depends on the hash codes</a:t>
            </a:r>
            <a:endParaRPr lang="en-US" sz="1700" dirty="0"/>
          </a:p>
        </p:txBody>
      </p:sp>
      <p:pic>
        <p:nvPicPr>
          <p:cNvPr id="8" name="Image 0"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rPr>
              <a:t>Tom, Ann, Jack: the order we added them</a:t>
            </a:r>
            <a:endParaRPr lang="en-US"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Ann, Jack, Tom: alphabetical</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rPr>
              <a:t>Jack, Ann, Tom: the reverse</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A HashMap puts each entry where its key’s hash code sends it, so the order depends on the hash codes, not on when we added the keys. Our run gave Ann, Tom, Jack: neither the order we added them nor alphabetical.</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 loops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a:t>
            </a:r>
            <a:r>
              <a:rPr lang="en-US" sz="2800" b="1" dirty="0">
                <a:solidFill>
                  <a:schemeClr val="accent2"/>
                </a:solidFill>
                <a:latin typeface="Consolas" pitchFamily="34" charset="0"/>
                <a:ea typeface="Consolas" pitchFamily="34" charset="-122"/>
                <a:cs typeface="Consolas" pitchFamily="34" charset="-120"/>
              </a:rPr>
              <a:t>entrySet()</a:t>
            </a:r>
            <a:r>
              <a:rPr lang="en-US" sz="2800" b="1" dirty="0">
                <a:solidFill>
                  <a:schemeClr val="tx1"/>
                </a:solidFill>
              </a:rPr>
              <a:t> give us to loop through?</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the keys</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Each key with its value, as a </a:t>
            </a:r>
            <a:r>
              <a:rPr lang="en-US" sz="2000" dirty="0">
                <a:solidFill>
                  <a:schemeClr val="accent2"/>
                </a:solidFill>
                <a:latin typeface="Consolas" pitchFamily="34" charset="0"/>
                <a:ea typeface="Consolas" pitchFamily="34" charset="-122"/>
                <a:cs typeface="Consolas" pitchFamily="34" charset="-120"/>
              </a:rPr>
              <a:t>Map.Entry</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the values</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hash codes of the keys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HashMap loops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a:t>
            </a:r>
            <a:r>
              <a:rPr lang="en-US" sz="2000" b="1" dirty="0">
                <a:solidFill>
                  <a:schemeClr val="tx2"/>
                </a:solidFill>
                <a:latin typeface="Consolas" pitchFamily="34" charset="0"/>
                <a:ea typeface="Consolas" pitchFamily="34" charset="-122"/>
                <a:cs typeface="Consolas" pitchFamily="34" charset="-120"/>
              </a:rPr>
              <a:t>entrySet()</a:t>
            </a:r>
            <a:r>
              <a:rPr lang="en-US" sz="2000" b="1" dirty="0">
                <a:solidFill>
                  <a:schemeClr val="tx2"/>
                </a:solidFill>
              </a:rPr>
              <a:t> give us to loop through?</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the keys</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Each key with its value, as a </a:t>
            </a:r>
            <a:r>
              <a:rPr lang="en-US" sz="1700" b="1" dirty="0">
                <a:solidFill>
                  <a:schemeClr val="bg1"/>
                </a:solidFill>
                <a:latin typeface="Consolas" pitchFamily="34" charset="0"/>
                <a:ea typeface="Consolas" pitchFamily="34" charset="-122"/>
                <a:cs typeface="Consolas" pitchFamily="34" charset="-120"/>
              </a:rPr>
              <a:t>Map.Entry</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the values</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hash codes of the keys</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entrySet()</a:t>
            </a:r>
            <a:r>
              <a:rPr lang="en-US" sz="1800" dirty="0">
                <a:solidFill>
                  <a:schemeClr val="tx1"/>
                </a:solidFill>
              </a:rPr>
              <a:t> gives one </a:t>
            </a:r>
            <a:r>
              <a:rPr lang="en-US" sz="1800" dirty="0">
                <a:solidFill>
                  <a:schemeClr val="accent2"/>
                </a:solidFill>
                <a:latin typeface="Consolas" pitchFamily="34" charset="0"/>
                <a:ea typeface="Consolas" pitchFamily="34" charset="-122"/>
                <a:cs typeface="Consolas" pitchFamily="34" charset="-120"/>
              </a:rPr>
              <a:t>Map.Entry</a:t>
            </a:r>
            <a:r>
              <a:rPr lang="en-US" sz="1800" dirty="0">
                <a:solidFill>
                  <a:schemeClr val="tx1"/>
                </a:solidFill>
              </a:rPr>
              <a:t> for each pair, and each entry has </a:t>
            </a:r>
            <a:r>
              <a:rPr lang="en-US" sz="1800" dirty="0">
                <a:solidFill>
                  <a:schemeClr val="accent2"/>
                </a:solidFill>
                <a:latin typeface="Consolas" pitchFamily="34" charset="0"/>
                <a:ea typeface="Consolas" pitchFamily="34" charset="-122"/>
                <a:cs typeface="Consolas" pitchFamily="34" charset="-120"/>
              </a:rPr>
              <a:t>getKey()</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getValue()</a:t>
            </a:r>
            <a:r>
              <a:rPr lang="en-US" sz="1800" dirty="0">
                <a:solidFill>
                  <a:schemeClr val="tx1"/>
                </a:solidFill>
              </a:rPr>
              <a:t>. For only the keys we’d use </a:t>
            </a:r>
            <a:r>
              <a:rPr lang="en-US" sz="1800" dirty="0">
                <a:solidFill>
                  <a:schemeClr val="accent2"/>
                </a:solidFill>
                <a:latin typeface="Consolas" pitchFamily="34" charset="0"/>
                <a:ea typeface="Consolas" pitchFamily="34" charset="-122"/>
                <a:cs typeface="Consolas" pitchFamily="34" charset="-120"/>
              </a:rPr>
              <a:t>keySet()</a:t>
            </a:r>
            <a:r>
              <a:rPr lang="en-US" sz="1800" dirty="0">
                <a:solidFill>
                  <a:schemeClr val="tx1"/>
                </a:solidFill>
              </a:rPr>
              <a:t>, and for only the values, </a:t>
            </a:r>
            <a:r>
              <a:rPr lang="en-US" sz="1800" dirty="0">
                <a:solidFill>
                  <a:schemeClr val="accent2"/>
                </a:solidFill>
                <a:latin typeface="Consolas" pitchFamily="34" charset="0"/>
                <a:ea typeface="Consolas" pitchFamily="34" charset="-122"/>
                <a:cs typeface="Consolas" pitchFamily="34" charset="-120"/>
              </a:rPr>
              <a:t>values()</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03</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Sets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Collections with no duplicates</a:t>
            </a:r>
            <a:endParaRPr lang="en-US" sz="2000" dirty="0"/>
          </a:p>
        </p:txBody>
      </p:sp>
      <p:sp>
        <p:nvSpPr>
          <p:cNvPr id="5" name="Topic chip"/>
          <p:cNvSpPr/>
          <p:nvPr/>
        </p:nvSpPr>
        <p:spPr>
          <a:xfrm>
            <a:off x="822960" y="4846320"/>
            <a:ext cx="1049777"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HashSet</a:t>
            </a:r>
            <a:endParaRPr lang="en-US" sz="1400" dirty="0"/>
          </a:p>
        </p:txBody>
      </p:sp>
      <p:sp>
        <p:nvSpPr>
          <p:cNvPr id="6" name="Topic chip"/>
          <p:cNvSpPr/>
          <p:nvPr/>
        </p:nvSpPr>
        <p:spPr>
          <a:xfrm>
            <a:off x="2019041" y="4846320"/>
            <a:ext cx="160472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LinkedHashSet</a:t>
            </a:r>
            <a:endParaRPr lang="en-US" sz="1400" dirty="0"/>
          </a:p>
        </p:txBody>
      </p:sp>
      <p:sp>
        <p:nvSpPr>
          <p:cNvPr id="7" name="Topic chip"/>
          <p:cNvSpPr/>
          <p:nvPr/>
        </p:nvSpPr>
        <p:spPr>
          <a:xfrm>
            <a:off x="3770071" y="4846320"/>
            <a:ext cx="1049777"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TreeSet</a:t>
            </a:r>
            <a:endParaRPr lang="en-US" sz="1400" dirty="0"/>
          </a:p>
        </p:txBody>
      </p:sp>
      <p:sp>
        <p:nvSpPr>
          <p:cNvPr id="8" name="Topic chip"/>
          <p:cNvSpPr/>
          <p:nvPr/>
        </p:nvSpPr>
        <p:spPr>
          <a:xfrm>
            <a:off x="4966152" y="4846320"/>
            <a:ext cx="169721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Set operations</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 set keeps one of each</a:t>
            </a:r>
            <a:endParaRPr lang="en-US"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A set is a collection with no duplicates, just like a set in maths.</a:t>
            </a:r>
            <a:endParaRPr lang="en-US" sz="1700" dirty="0"/>
          </a:p>
          <a:p>
            <a:pPr marL="228600" indent="-228600">
              <a:spcAft>
                <a:spcPts val="1000"/>
              </a:spcAft>
              <a:buSzPct val="100000"/>
              <a:buChar char="•"/>
            </a:pPr>
            <a:r>
              <a:rPr lang="en-US" sz="1700" dirty="0">
                <a:solidFill>
                  <a:schemeClr val="tx1"/>
                </a:solidFill>
              </a:rPr>
              <a:t>Adding an item that’s already there changes nothing, and </a:t>
            </a:r>
            <a:r>
              <a:rPr lang="en-US" sz="1700" dirty="0">
                <a:solidFill>
                  <a:schemeClr val="accent2"/>
                </a:solidFill>
                <a:latin typeface="Consolas" pitchFamily="34" charset="0"/>
                <a:ea typeface="Consolas" pitchFamily="34" charset="-122"/>
                <a:cs typeface="Consolas" pitchFamily="34" charset="-120"/>
              </a:rPr>
              <a:t>add</a:t>
            </a:r>
            <a:r>
              <a:rPr lang="en-US" sz="1700" dirty="0">
                <a:solidFill>
                  <a:schemeClr val="tx1"/>
                </a:solidFill>
              </a:rPr>
              <a:t> gives back </a:t>
            </a:r>
            <a:r>
              <a:rPr lang="en-US" sz="1700" dirty="0">
                <a:solidFill>
                  <a:schemeClr val="accent2"/>
                </a:solidFill>
                <a:latin typeface="Consolas" pitchFamily="34" charset="0"/>
                <a:ea typeface="Consolas" pitchFamily="34" charset="-122"/>
                <a:cs typeface="Consolas" pitchFamily="34" charset="-120"/>
              </a:rPr>
              <a:t>false</a:t>
            </a:r>
            <a:r>
              <a:rPr lang="en-US" sz="1700" dirty="0">
                <a:solidFill>
                  <a:schemeClr val="tx1"/>
                </a:solidFill>
              </a:rPr>
              <a:t>.</a:t>
            </a:r>
            <a:endParaRPr lang="en-US" sz="1700" dirty="0"/>
          </a:p>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Set</a:t>
            </a:r>
            <a:r>
              <a:rPr lang="en-US" sz="1700" dirty="0">
                <a:solidFill>
                  <a:schemeClr val="tx1"/>
                </a:solidFill>
              </a:rPr>
              <a:t> is an interface. </a:t>
            </a:r>
            <a:r>
              <a:rPr lang="en-US" sz="1700" dirty="0">
                <a:solidFill>
                  <a:schemeClr val="accent2"/>
                </a:solidFill>
                <a:latin typeface="Consolas" pitchFamily="34" charset="0"/>
                <a:ea typeface="Consolas" pitchFamily="34" charset="-122"/>
                <a:cs typeface="Consolas" pitchFamily="34" charset="-120"/>
              </a:rPr>
              <a:t>HashSet</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LinkedHashSet</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TreeSet</a:t>
            </a:r>
            <a:r>
              <a:rPr lang="en-US" sz="1700" dirty="0">
                <a:solidFill>
                  <a:schemeClr val="tx1"/>
                </a:solidFill>
              </a:rPr>
              <a:t> implement it.</a:t>
            </a:r>
            <a:endParaRPr lang="en-US" sz="1700" dirty="0"/>
          </a:p>
          <a:p>
            <a:pPr marL="228600" indent="-228600">
              <a:buSzPct val="100000"/>
              <a:buChar char="•"/>
            </a:pPr>
            <a:r>
              <a:rPr lang="en-US" sz="1700" dirty="0">
                <a:solidFill>
                  <a:schemeClr val="tx1"/>
                </a:solidFill>
              </a:rPr>
              <a:t>The three differ in the order they keep their items.</a:t>
            </a:r>
            <a:endParaRPr lang="en-US" sz="1700" dirty="0"/>
          </a:p>
        </p:txBody>
      </p:sp>
      <p:sp>
        <p:nvSpPr>
          <p:cNvPr id="6" name="Set card"/>
          <p:cNvSpPr/>
          <p:nvPr/>
        </p:nvSpPr>
        <p:spPr>
          <a:xfrm>
            <a:off x="5943600" y="1691640"/>
            <a:ext cx="5699455" cy="1881378"/>
          </a:xfrm>
          <a:prstGeom prst="roundRect">
            <a:avLst>
              <a:gd name="adj" fmla="val 5832"/>
            </a:avLst>
          </a:prstGeom>
          <a:solidFill>
            <a:schemeClr val="tx1"/>
          </a:solidFill>
          <a:ln/>
          <a:effectLst>
            <a:outerShdw sx="100000" sy="100000" kx="0" ky="0" algn="bl" rotWithShape="0" blurRad="114300" dist="31750" dir="5400000">
              <a:srgbClr val="1D2433">
                <a:alpha val="12000"/>
              </a:srgbClr>
            </a:outerShdw>
          </a:effectLst>
        </p:spPr>
      </p:sp>
      <p:sp>
        <p:nvSpPr>
          <p:cNvPr id="7" name="Set label"/>
          <p:cNvSpPr txBox="1"/>
          <p:nvPr/>
        </p:nvSpPr>
        <p:spPr>
          <a:xfrm>
            <a:off x="6217920" y="1810512"/>
            <a:ext cx="515081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Set text"/>
          <p:cNvSpPr txBox="1"/>
          <p:nvPr/>
        </p:nvSpPr>
        <p:spPr>
          <a:xfrm>
            <a:off x="6217920" y="2185416"/>
            <a:ext cx="5150815" cy="1186434"/>
          </a:xfrm>
          <a:prstGeom prst="rect">
            <a:avLst/>
          </a:prstGeom>
          <a:noFill/>
          <a:ln/>
        </p:spPr>
        <p:txBody>
          <a:bodyPr wrap="square" lIns="0" tIns="0" rIns="0" bIns="0" rtlCol="0" anchor="t"/>
          <a:lstStyle/>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Set</a:t>
            </a:r>
            <a:r>
              <a:rPr lang="en-US" sz="1350" dirty="0">
                <a:solidFill>
                  <a:srgbClr val="E6EBF2"/>
                </a:solidFill>
                <a:latin typeface="Consolas" pitchFamily="34" charset="0"/>
                <a:ea typeface="Consolas" pitchFamily="34" charset="-122"/>
                <a:cs typeface="Consolas" pitchFamily="34" charset="-120"/>
              </a:rPr>
              <a:t>&lt;</a:t>
            </a:r>
            <a:r>
              <a:rPr lang="en-US" sz="1350" dirty="0">
                <a:solidFill>
                  <a:srgbClr val="6CC4E8"/>
                </a:solidFill>
                <a:latin typeface="Consolas" pitchFamily="34" charset="0"/>
                <a:ea typeface="Consolas" pitchFamily="34" charset="-122"/>
                <a:cs typeface="Consolas" pitchFamily="34" charset="-120"/>
              </a:rPr>
              <a:t>String</a:t>
            </a:r>
            <a:r>
              <a:rPr lang="en-US" sz="1350" dirty="0">
                <a:solidFill>
                  <a:srgbClr val="E6EBF2"/>
                </a:solidFill>
                <a:latin typeface="Consolas" pitchFamily="34" charset="0"/>
                <a:ea typeface="Consolas" pitchFamily="34" charset="-122"/>
                <a:cs typeface="Consolas" pitchFamily="34" charset="-120"/>
              </a:rPr>
              <a:t>&gt; letters = </a:t>
            </a:r>
            <a:r>
              <a:rPr lang="en-US" sz="1350" dirty="0">
                <a:solidFill>
                  <a:srgbClr val="FF9F5A"/>
                </a:solidFill>
                <a:latin typeface="Consolas" pitchFamily="34" charset="0"/>
                <a:ea typeface="Consolas" pitchFamily="34" charset="-122"/>
                <a:cs typeface="Consolas" pitchFamily="34" charset="-120"/>
              </a:rPr>
              <a:t>new </a:t>
            </a:r>
            <a:r>
              <a:rPr lang="en-US" sz="1350" dirty="0">
                <a:solidFill>
                  <a:srgbClr val="6CC4E8"/>
                </a:solidFill>
                <a:latin typeface="Consolas" pitchFamily="34" charset="0"/>
                <a:ea typeface="Consolas" pitchFamily="34" charset="-122"/>
                <a:cs typeface="Consolas" pitchFamily="34" charset="-120"/>
              </a:rPr>
              <a:t>HashSet</a:t>
            </a:r>
            <a:r>
              <a:rPr lang="en-US" sz="1350" dirty="0">
                <a:solidFill>
                  <a:srgbClr val="E6EBF2"/>
                </a:solidFill>
                <a:latin typeface="Consolas" pitchFamily="34" charset="0"/>
                <a:ea typeface="Consolas" pitchFamily="34" charset="-122"/>
                <a:cs typeface="Consolas" pitchFamily="34" charset="-120"/>
              </a:rPr>
              <a:t>&lt;</a:t>
            </a:r>
            <a:r>
              <a:rPr lang="en-US" sz="1350" dirty="0">
                <a:solidFill>
                  <a:srgbClr val="6CC4E8"/>
                </a:solidFill>
                <a:latin typeface="Consolas" pitchFamily="34" charset="0"/>
                <a:ea typeface="Consolas" pitchFamily="34" charset="-122"/>
                <a:cs typeface="Consolas" pitchFamily="34" charset="-120"/>
              </a:rPr>
              <a:t>String</a:t>
            </a:r>
            <a:r>
              <a:rPr lang="en-US" sz="1350" dirty="0">
                <a:solidFill>
                  <a:srgbClr val="E6EBF2"/>
                </a:solidFill>
                <a:latin typeface="Consolas" pitchFamily="34" charset="0"/>
                <a:ea typeface="Consolas" pitchFamily="34" charset="-122"/>
                <a:cs typeface="Consolas" pitchFamily="34" charset="-120"/>
              </a:rPr>
              <a:t>&gt;();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letters.</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"A"</a:t>
            </a:r>
            <a:r>
              <a:rPr lang="en-US" sz="1350" dirty="0">
                <a:solidFill>
                  <a:srgbClr val="E6EBF2"/>
                </a:solidFill>
                <a:latin typeface="Consolas" pitchFamily="34" charset="0"/>
                <a:ea typeface="Consolas" pitchFamily="34" charset="-122"/>
                <a:cs typeface="Consolas" pitchFamily="34" charset="-120"/>
              </a:rPr>
              <a:t>);   </a:t>
            </a:r>
            <a:r>
              <a:rPr lang="en-US" sz="1350" i="1" dirty="0">
                <a:solidFill>
                  <a:srgbClr val="A3AEC2"/>
                </a:solidFill>
                <a:latin typeface="Consolas" pitchFamily="34" charset="0"/>
                <a:ea typeface="Consolas" pitchFamily="34" charset="-122"/>
                <a:cs typeface="Consolas" pitchFamily="34" charset="-120"/>
              </a:rPr>
              <a:t>// true</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letters.</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"B"</a:t>
            </a:r>
            <a:r>
              <a:rPr lang="en-US" sz="1350" dirty="0">
                <a:solidFill>
                  <a:srgbClr val="E6EBF2"/>
                </a:solidFill>
                <a:latin typeface="Consolas" pitchFamily="34" charset="0"/>
                <a:ea typeface="Consolas" pitchFamily="34" charset="-122"/>
                <a:cs typeface="Consolas" pitchFamily="34" charset="-120"/>
              </a:rPr>
              <a:t>);   </a:t>
            </a:r>
            <a:r>
              <a:rPr lang="en-US" sz="1350" i="1" dirty="0">
                <a:solidFill>
                  <a:srgbClr val="A3AEC2"/>
                </a:solidFill>
                <a:latin typeface="Consolas" pitchFamily="34" charset="0"/>
                <a:ea typeface="Consolas" pitchFamily="34" charset="-122"/>
                <a:cs typeface="Consolas" pitchFamily="34" charset="-120"/>
              </a:rPr>
              <a:t>// true</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letters.</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"A"</a:t>
            </a:r>
            <a:r>
              <a:rPr lang="en-US" sz="1350" dirty="0">
                <a:solidFill>
                  <a:srgbClr val="E6EBF2"/>
                </a:solidFill>
                <a:latin typeface="Consolas" pitchFamily="34" charset="0"/>
                <a:ea typeface="Consolas" pitchFamily="34" charset="-122"/>
                <a:cs typeface="Consolas" pitchFamily="34" charset="-120"/>
              </a:rPr>
              <a:t>);   </a:t>
            </a:r>
            <a:r>
              <a:rPr lang="en-US" sz="1350" i="1" dirty="0">
                <a:solidFill>
                  <a:srgbClr val="A3AEC2"/>
                </a:solidFill>
                <a:latin typeface="Consolas" pitchFamily="34" charset="0"/>
                <a:ea typeface="Consolas" pitchFamily="34" charset="-122"/>
                <a:cs typeface="Consolas" pitchFamily="34" charset="-120"/>
              </a:rPr>
              <a:t>// false: already there</a:t>
            </a:r>
            <a:endParaRPr lang="en-US" sz="1350" dirty="0"/>
          </a:p>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(letters.</a:t>
            </a:r>
            <a:r>
              <a:rPr lang="en-US" sz="1350" dirty="0">
                <a:solidFill>
                  <a:srgbClr val="C9B0FF"/>
                </a:solidFill>
                <a:latin typeface="Consolas" pitchFamily="34" charset="0"/>
                <a:ea typeface="Consolas" pitchFamily="34" charset="-122"/>
                <a:cs typeface="Consolas" pitchFamily="34" charset="-120"/>
              </a:rPr>
              <a:t>size</a:t>
            </a:r>
            <a:r>
              <a:rPr lang="en-US" sz="1350" dirty="0">
                <a:solidFill>
                  <a:srgbClr val="E6EBF2"/>
                </a:solidFill>
                <a:latin typeface="Consolas" pitchFamily="34" charset="0"/>
                <a:ea typeface="Consolas" pitchFamily="34" charset="-122"/>
                <a:cs typeface="Consolas" pitchFamily="34" charset="-120"/>
              </a:rPr>
              <a:t>());   </a:t>
            </a:r>
            <a:r>
              <a:rPr lang="en-US" sz="1350" i="1" dirty="0">
                <a:solidFill>
                  <a:srgbClr val="A3AEC2"/>
                </a:solidFill>
                <a:latin typeface="Consolas" pitchFamily="34" charset="0"/>
                <a:ea typeface="Consolas" pitchFamily="34" charset="-122"/>
                <a:cs typeface="Consolas" pitchFamily="34" charset="-120"/>
              </a:rPr>
              <a:t>// 2</a:t>
            </a:r>
            <a:endParaRPr lang="en-US" sz="1350" dirty="0"/>
          </a:p>
        </p:txBody>
      </p:sp>
      <p:sp>
        <p:nvSpPr>
          <p:cNvPr id="9" name="Note"/>
          <p:cNvSpPr/>
          <p:nvPr/>
        </p:nvSpPr>
        <p:spPr>
          <a:xfrm>
            <a:off x="5943600" y="3847338"/>
            <a:ext cx="5699455" cy="1051560"/>
          </a:xfrm>
          <a:prstGeom prst="roundRect">
            <a:avLst>
              <a:gd name="adj" fmla="val 10435"/>
            </a:avLst>
          </a:prstGeom>
          <a:solidFill>
            <a:schemeClr val="bg2"/>
          </a:solidFill>
          <a:ln/>
        </p:spPr>
      </p:sp>
      <p:sp>
        <p:nvSpPr>
          <p:cNvPr id="10" name="Icon tile"/>
          <p:cNvSpPr/>
          <p:nvPr/>
        </p:nvSpPr>
        <p:spPr>
          <a:xfrm>
            <a:off x="6217920" y="4107942"/>
            <a:ext cx="530352" cy="530352"/>
          </a:xfrm>
          <a:prstGeom prst="roundRect">
            <a:avLst>
              <a:gd name="adj" fmla="val 24000"/>
            </a:avLst>
          </a:prstGeom>
          <a:solidFill>
            <a:schemeClr val="accent2">
              <a:alpha val="14000"/>
            </a:schemeClr>
          </a:solidFill>
          <a:ln/>
        </p:spPr>
      </p:sp>
      <p:pic>
        <p:nvPicPr>
          <p:cNvPr id="11" name="Image 0" descr="info icon">    </p:cNvPr>
          <p:cNvPicPr>
            <a:picLocks noChangeAspect="1"/>
          </p:cNvPicPr>
          <p:nvPr/>
        </p:nvPicPr>
        <p:blipFill>
          <a:blip r:embed="rId1"/>
          <a:stretch>
            <a:fillRect/>
          </a:stretch>
        </p:blipFill>
        <p:spPr>
          <a:xfrm>
            <a:off x="6329294" y="4219316"/>
            <a:ext cx="307604" cy="307604"/>
          </a:xfrm>
          <a:prstGeom prst="rect">
            <a:avLst/>
          </a:prstGeom>
        </p:spPr>
      </p:pic>
      <p:sp>
        <p:nvSpPr>
          <p:cNvPr id="12" name="Text 8"/>
          <p:cNvSpPr txBox="1"/>
          <p:nvPr/>
        </p:nvSpPr>
        <p:spPr>
          <a:xfrm>
            <a:off x="6967728" y="3847338"/>
            <a:ext cx="4419295" cy="1051560"/>
          </a:xfrm>
          <a:prstGeom prst="rect">
            <a:avLst/>
          </a:prstGeom>
          <a:noFill/>
          <a:ln/>
        </p:spPr>
        <p:txBody>
          <a:bodyPr wrap="square" lIns="0" tIns="0" rIns="0" bIns="0" rtlCol="0" anchor="ctr"/>
          <a:lstStyle/>
          <a:p>
            <a:pPr algn="l" indent="0" marL="0">
              <a:buNone/>
            </a:pPr>
            <a:r>
              <a:rPr lang="en-US" sz="1550" dirty="0">
                <a:solidFill>
                  <a:schemeClr val="tx1"/>
                </a:solidFill>
              </a:rPr>
              <a:t>A set has no positions, so there’s no </a:t>
            </a:r>
            <a:r>
              <a:rPr lang="en-US" sz="1550" dirty="0">
                <a:solidFill>
                  <a:schemeClr val="accent2"/>
                </a:solidFill>
                <a:latin typeface="Consolas" pitchFamily="34" charset="0"/>
                <a:ea typeface="Consolas" pitchFamily="34" charset="-122"/>
                <a:cs typeface="Consolas" pitchFamily="34" charset="-120"/>
              </a:rPr>
              <a:t>get(index)</a:t>
            </a:r>
            <a:r>
              <a:rPr lang="en-US" sz="1550" dirty="0">
                <a:solidFill>
                  <a:schemeClr val="tx1"/>
                </a:solidFill>
              </a:rPr>
              <a:t>. We ask whether an item is in it with </a:t>
            </a:r>
            <a:r>
              <a:rPr lang="en-US" sz="1550" dirty="0">
                <a:solidFill>
                  <a:schemeClr val="accent2"/>
                </a:solidFill>
                <a:latin typeface="Consolas" pitchFamily="34" charset="0"/>
                <a:ea typeface="Consolas" pitchFamily="34" charset="-122"/>
                <a:cs typeface="Consolas" pitchFamily="34" charset="-120"/>
              </a:rPr>
              <a:t>contains</a:t>
            </a:r>
            <a:r>
              <a:rPr lang="en-US" sz="1550" dirty="0">
                <a:solidFill>
                  <a:schemeClr val="tx1"/>
                </a:solidFill>
              </a:rPr>
              <a:t>.</a:t>
            </a:r>
            <a:endParaRPr lang="en-US" sz="15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11</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3015996"/>
            <a:ext cx="6035040" cy="1923288"/>
          </a:xfrm>
          <a:prstGeom prst="roundRect">
            <a:avLst>
              <a:gd name="adj" fmla="val 570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3134868"/>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509772"/>
            <a:ext cx="5486400" cy="1228344"/>
          </a:xfrm>
          <a:prstGeom prst="rect">
            <a:avLst/>
          </a:prstGeom>
          <a:noFill/>
          <a:ln/>
        </p:spPr>
        <p:txBody>
          <a:bodyPr wrap="square" lIns="0" tIns="0" rIns="0" bIns="0" rtlCol="0" anchor="t"/>
          <a:lstStyle/>
          <a:p>
            <a:pPr indent="0" marL="0">
              <a:lnSpc>
                <a:spcPts val="1850"/>
              </a:lnSpc>
              <a:buNone/>
            </a:pPr>
            <a:r>
              <a:rPr lang="en-US" sz="1400" dirty="0">
                <a:solidFill>
                  <a:srgbClr val="6CC4E8"/>
                </a:solidFill>
                <a:latin typeface="Consolas" pitchFamily="34" charset="0"/>
                <a:ea typeface="Consolas" pitchFamily="34" charset="-122"/>
                <a:cs typeface="Consolas" pitchFamily="34" charset="-120"/>
              </a:rPr>
              <a:t>Set</a:t>
            </a:r>
            <a:r>
              <a:rPr lang="en-US" sz="1400" dirty="0">
                <a:solidFill>
                  <a:srgbClr val="E6EBF2"/>
                </a:solidFill>
                <a:latin typeface="Consolas" pitchFamily="34" charset="0"/>
                <a:ea typeface="Consolas" pitchFamily="34" charset="-122"/>
                <a:cs typeface="Consolas" pitchFamily="34" charset="-120"/>
              </a:rPr>
              <a:t>&lt;</a:t>
            </a:r>
            <a:r>
              <a:rPr lang="en-US" sz="1400" dirty="0">
                <a:solidFill>
                  <a:srgbClr val="6CC4E8"/>
                </a:solidFill>
                <a:latin typeface="Consolas" pitchFamily="34" charset="0"/>
                <a:ea typeface="Consolas" pitchFamily="34" charset="-122"/>
                <a:cs typeface="Consolas" pitchFamily="34" charset="-120"/>
              </a:rPr>
              <a:t>String</a:t>
            </a:r>
            <a:r>
              <a:rPr lang="en-US" sz="1400" dirty="0">
                <a:solidFill>
                  <a:srgbClr val="E6EBF2"/>
                </a:solidFill>
                <a:latin typeface="Consolas" pitchFamily="34" charset="0"/>
                <a:ea typeface="Consolas" pitchFamily="34" charset="-122"/>
                <a:cs typeface="Consolas" pitchFamily="34" charset="-120"/>
              </a:rPr>
              <a:t>&gt; colours = </a:t>
            </a:r>
            <a:r>
              <a:rPr lang="en-US" sz="1400" dirty="0">
                <a:solidFill>
                  <a:srgbClr val="FF9F5A"/>
                </a:solidFill>
                <a:latin typeface="Consolas" pitchFamily="34" charset="0"/>
                <a:ea typeface="Consolas" pitchFamily="34" charset="-122"/>
                <a:cs typeface="Consolas" pitchFamily="34" charset="-120"/>
              </a:rPr>
              <a:t>new </a:t>
            </a:r>
            <a:r>
              <a:rPr lang="en-US" sz="1400" dirty="0">
                <a:solidFill>
                  <a:srgbClr val="6CC4E8"/>
                </a:solidFill>
                <a:latin typeface="Consolas" pitchFamily="34" charset="0"/>
                <a:ea typeface="Consolas" pitchFamily="34" charset="-122"/>
                <a:cs typeface="Consolas" pitchFamily="34" charset="-120"/>
              </a:rPr>
              <a:t>HashSet</a:t>
            </a:r>
            <a:r>
              <a:rPr lang="en-US" sz="1400" dirty="0">
                <a:solidFill>
                  <a:srgbClr val="E6EBF2"/>
                </a:solidFill>
                <a:latin typeface="Consolas" pitchFamily="34" charset="0"/>
                <a:ea typeface="Consolas" pitchFamily="34" charset="-122"/>
                <a:cs typeface="Consolas" pitchFamily="34" charset="-120"/>
              </a:rPr>
              <a:t>&lt;</a:t>
            </a:r>
            <a:r>
              <a:rPr lang="en-US" sz="1400" dirty="0">
                <a:solidFill>
                  <a:srgbClr val="6CC4E8"/>
                </a:solidFill>
                <a:latin typeface="Consolas" pitchFamily="34" charset="0"/>
                <a:ea typeface="Consolas" pitchFamily="34" charset="-122"/>
                <a:cs typeface="Consolas" pitchFamily="34" charset="-120"/>
              </a:rPr>
              <a:t>String</a:t>
            </a:r>
            <a:r>
              <a:rPr lang="en-US" sz="1400" dirty="0">
                <a:solidFill>
                  <a:srgbClr val="E6EBF2"/>
                </a:solidFill>
                <a:latin typeface="Consolas" pitchFamily="34" charset="0"/>
                <a:ea typeface="Consolas" pitchFamily="34" charset="-122"/>
                <a:cs typeface="Consolas" pitchFamily="34" charset="-120"/>
              </a:rPr>
              <a:t>&gt;();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"red"</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"green"</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FF9F5A"/>
                </a:solidFill>
                <a:latin typeface="Consolas" pitchFamily="34" charset="0"/>
                <a:ea typeface="Consolas" pitchFamily="34" charset="-122"/>
                <a:cs typeface="Consolas" pitchFamily="34" charset="-120"/>
              </a:rPr>
              <a:t>boolean </a:t>
            </a:r>
            <a:r>
              <a:rPr lang="en-US" sz="1400" dirty="0">
                <a:solidFill>
                  <a:srgbClr val="E6EBF2"/>
                </a:solidFill>
                <a:latin typeface="Consolas" pitchFamily="34" charset="0"/>
                <a:ea typeface="Consolas" pitchFamily="34" charset="-122"/>
                <a:cs typeface="Consolas" pitchFamily="34" charset="-120"/>
              </a:rPr>
              <a:t>added = 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"red"</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6CC4E8"/>
                </a:solidFill>
                <a:latin typeface="Consolas" pitchFamily="34" charset="0"/>
                <a:ea typeface="Consolas" pitchFamily="34" charset="-122"/>
                <a:cs typeface="Consolas" pitchFamily="34" charset="-120"/>
              </a:rPr>
              <a:t>System</a:t>
            </a:r>
            <a:r>
              <a:rPr lang="en-US" sz="1400" dirty="0">
                <a:solidFill>
                  <a:srgbClr val="E6EBF2"/>
                </a:solidFill>
                <a:latin typeface="Consolas" pitchFamily="34" charset="0"/>
                <a:ea typeface="Consolas" pitchFamily="34" charset="-122"/>
                <a:cs typeface="Consolas" pitchFamily="34" charset="-120"/>
              </a:rPr>
              <a:t>.out.</a:t>
            </a:r>
            <a:r>
              <a:rPr lang="en-US" sz="1400" dirty="0">
                <a:solidFill>
                  <a:srgbClr val="C9B0FF"/>
                </a:solidFill>
                <a:latin typeface="Consolas" pitchFamily="34" charset="0"/>
                <a:ea typeface="Consolas" pitchFamily="34" charset="-122"/>
                <a:cs typeface="Consolas" pitchFamily="34" charset="-120"/>
              </a:rPr>
              <a:t>println</a:t>
            </a:r>
            <a:r>
              <a:rPr lang="en-US" sz="1400" dirty="0">
                <a:solidFill>
                  <a:srgbClr val="E6EBF2"/>
                </a:solidFill>
                <a:latin typeface="Consolas" pitchFamily="34" charset="0"/>
                <a:ea typeface="Consolas" pitchFamily="34" charset="-122"/>
                <a:cs typeface="Consolas" pitchFamily="34" charset="-120"/>
              </a:rPr>
              <a:t>(added + </a:t>
            </a:r>
            <a:r>
              <a:rPr lang="en-US" sz="1400" dirty="0">
                <a:solidFill>
                  <a:srgbClr val="A9DB8C"/>
                </a:solidFill>
                <a:latin typeface="Consolas" pitchFamily="34" charset="0"/>
                <a:ea typeface="Consolas" pitchFamily="34" charset="-122"/>
                <a:cs typeface="Consolas" pitchFamily="34" charset="-120"/>
              </a:rPr>
              <a:t>" " </a:t>
            </a:r>
            <a:r>
              <a:rPr lang="en-US" sz="1400" dirty="0">
                <a:solidFill>
                  <a:srgbClr val="E6EBF2"/>
                </a:solidFill>
                <a:latin typeface="Consolas" pitchFamily="34" charset="0"/>
                <a:ea typeface="Consolas" pitchFamily="34" charset="-122"/>
                <a:cs typeface="Consolas" pitchFamily="34" charset="-120"/>
              </a:rPr>
              <a:t>+ colours.</a:t>
            </a:r>
            <a:r>
              <a:rPr lang="en-US" sz="1400" dirty="0">
                <a:solidFill>
                  <a:srgbClr val="C9B0FF"/>
                </a:solidFill>
                <a:latin typeface="Consolas" pitchFamily="34" charset="0"/>
                <a:ea typeface="Consolas" pitchFamily="34" charset="-122"/>
                <a:cs typeface="Consolas" pitchFamily="34" charset="-120"/>
              </a:rPr>
              <a:t>size</a:t>
            </a:r>
            <a:r>
              <a:rPr lang="en-US" sz="1400" dirty="0">
                <a:solidFill>
                  <a:srgbClr val="E6EBF2"/>
                </a:solidFill>
                <a:latin typeface="Consolas" pitchFamily="34" charset="0"/>
                <a:ea typeface="Consolas" pitchFamily="34" charset="-122"/>
                <a:cs typeface="Consolas" pitchFamily="34" charset="-120"/>
              </a:rPr>
              <a:t>());</a:t>
            </a:r>
            <a:endParaRPr lang="en-US" sz="14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true 3</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true 2</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false 3</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false 2</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11</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395984"/>
          </a:xfrm>
          <a:prstGeom prst="roundRect">
            <a:avLst>
              <a:gd name="adj" fmla="val 786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993648"/>
          </a:xfrm>
          <a:prstGeom prst="rect">
            <a:avLst/>
          </a:prstGeom>
          <a:noFill/>
          <a:ln/>
        </p:spPr>
        <p:txBody>
          <a:bodyPr wrap="square" lIns="0" tIns="0" rIns="0" bIns="0" rtlCol="0" anchor="t"/>
          <a:lstStyle/>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"red"</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true: added</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"green"</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true: added</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"red"</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false: already there</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colours.</a:t>
            </a:r>
            <a:r>
              <a:rPr lang="en-US" sz="1400" dirty="0">
                <a:solidFill>
                  <a:srgbClr val="C9B0FF"/>
                </a:solidFill>
                <a:latin typeface="Consolas" pitchFamily="34" charset="0"/>
                <a:ea typeface="Consolas" pitchFamily="34" charset="-122"/>
                <a:cs typeface="Consolas" pitchFamily="34" charset="-120"/>
              </a:rPr>
              <a:t>size</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2</a:t>
            </a:r>
            <a:endParaRPr lang="en-US" sz="1400" dirty="0"/>
          </a:p>
        </p:txBody>
      </p:sp>
      <p:sp>
        <p:nvSpPr>
          <p:cNvPr id="7" name="Option A"/>
          <p:cNvSpPr/>
          <p:nvPr/>
        </p:nvSpPr>
        <p:spPr>
          <a:xfrm>
            <a:off x="548640" y="3499104"/>
            <a:ext cx="5623560" cy="535686"/>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55663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499104"/>
            <a:ext cx="4572000" cy="535686"/>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true 3</a:t>
            </a:r>
            <a:endParaRPr lang="en-US" sz="1500" dirty="0"/>
          </a:p>
        </p:txBody>
      </p:sp>
      <p:sp>
        <p:nvSpPr>
          <p:cNvPr id="10" name="Option B"/>
          <p:cNvSpPr/>
          <p:nvPr/>
        </p:nvSpPr>
        <p:spPr>
          <a:xfrm>
            <a:off x="548640" y="4181094"/>
            <a:ext cx="5623560" cy="535686"/>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23862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4181094"/>
            <a:ext cx="4572000" cy="535686"/>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true 2</a:t>
            </a:r>
            <a:endParaRPr lang="en-US" sz="1500" dirty="0"/>
          </a:p>
        </p:txBody>
      </p:sp>
      <p:sp>
        <p:nvSpPr>
          <p:cNvPr id="13" name="Option C"/>
          <p:cNvSpPr/>
          <p:nvPr/>
        </p:nvSpPr>
        <p:spPr>
          <a:xfrm>
            <a:off x="548640" y="4863084"/>
            <a:ext cx="5623560" cy="535686"/>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92061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5" name="Option C text"/>
          <p:cNvSpPr txBox="1"/>
          <p:nvPr/>
        </p:nvSpPr>
        <p:spPr>
          <a:xfrm>
            <a:off x="1371600" y="4863084"/>
            <a:ext cx="4572000" cy="535686"/>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false 3</a:t>
            </a:r>
            <a:endParaRPr lang="en-US" sz="1500" dirty="0"/>
          </a:p>
        </p:txBody>
      </p:sp>
      <p:sp>
        <p:nvSpPr>
          <p:cNvPr id="16" name="Option D (correct)"/>
          <p:cNvSpPr/>
          <p:nvPr/>
        </p:nvSpPr>
        <p:spPr>
          <a:xfrm>
            <a:off x="548640" y="5545074"/>
            <a:ext cx="5623560" cy="535686"/>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602605"/>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8" name="Option D text"/>
          <p:cNvSpPr txBox="1"/>
          <p:nvPr/>
        </p:nvSpPr>
        <p:spPr>
          <a:xfrm>
            <a:off x="1371600" y="5545074"/>
            <a:ext cx="4233672" cy="535686"/>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false 2</a:t>
            </a:r>
            <a:endParaRPr lang="en-US" sz="1500" dirty="0"/>
          </a:p>
        </p:txBody>
      </p:sp>
      <p:pic>
        <p:nvPicPr>
          <p:cNvPr id="19" name="Image 0" descr="Correct mark">    </p:cNvPr>
          <p:cNvPicPr>
            <a:picLocks noChangeAspect="1"/>
          </p:cNvPicPr>
          <p:nvPr/>
        </p:nvPicPr>
        <p:blipFill>
          <a:blip r:embed="rId1"/>
          <a:stretch>
            <a:fillRect/>
          </a:stretch>
        </p:blipFill>
        <p:spPr>
          <a:xfrm>
            <a:off x="5623560" y="5630037"/>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The String </a:t>
            </a:r>
            <a:r>
              <a:rPr lang="en-US" sz="1800" dirty="0">
                <a:solidFill>
                  <a:schemeClr val="accent2"/>
                </a:solidFill>
                <a:latin typeface="Consolas" pitchFamily="34" charset="0"/>
                <a:ea typeface="Consolas" pitchFamily="34" charset="-122"/>
                <a:cs typeface="Consolas" pitchFamily="34" charset="-120"/>
              </a:rPr>
              <a:t>"red"</a:t>
            </a:r>
            <a:r>
              <a:rPr lang="en-US" sz="1800" dirty="0">
                <a:solidFill>
                  <a:schemeClr val="tx1"/>
                </a:solidFill>
              </a:rPr>
              <a:t> is already in the set, so the second </a:t>
            </a:r>
            <a:r>
              <a:rPr lang="en-US" sz="1800" dirty="0">
                <a:solidFill>
                  <a:schemeClr val="accent2"/>
                </a:solidFill>
                <a:latin typeface="Consolas" pitchFamily="34" charset="0"/>
                <a:ea typeface="Consolas" pitchFamily="34" charset="-122"/>
                <a:cs typeface="Consolas" pitchFamily="34" charset="-120"/>
              </a:rPr>
              <a:t>add("red")</a:t>
            </a:r>
            <a:r>
              <a:rPr lang="en-US" sz="1800" dirty="0">
                <a:solidFill>
                  <a:schemeClr val="tx1"/>
                </a:solidFill>
              </a:rPr>
              <a:t> changes nothing and gives back </a:t>
            </a:r>
            <a:r>
              <a:rPr lang="en-US" sz="1800" dirty="0">
                <a:solidFill>
                  <a:schemeClr val="accent2"/>
                </a:solidFill>
                <a:latin typeface="Consolas" pitchFamily="34" charset="0"/>
                <a:ea typeface="Consolas" pitchFamily="34" charset="-122"/>
                <a:cs typeface="Consolas" pitchFamily="34" charset="-120"/>
              </a:rPr>
              <a:t>false</a:t>
            </a:r>
            <a:r>
              <a:rPr lang="en-US" sz="1800" dirty="0">
                <a:solidFill>
                  <a:schemeClr val="tx1"/>
                </a:solidFill>
              </a:rPr>
              <a:t>. The set holds red and green, so its size is 2.</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HashSet: a set built on a hash table</a:t>
            </a:r>
            <a:endParaRPr lang="en-US" sz="3400" dirty="0"/>
          </a:p>
        </p:txBody>
      </p:sp>
      <p:sp>
        <p:nvSpPr>
          <p:cNvPr id="5" name="Text 2"/>
          <p:cNvSpPr txBox="1"/>
          <p:nvPr/>
        </p:nvSpPr>
        <p:spPr>
          <a:xfrm>
            <a:off x="548640" y="1783080"/>
            <a:ext cx="4846320" cy="27432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accent2"/>
                </a:solidFill>
                <a:latin typeface="Consolas" pitchFamily="34" charset="0"/>
                <a:ea typeface="Consolas" pitchFamily="34" charset="-122"/>
                <a:cs typeface="Consolas" pitchFamily="34" charset="-120"/>
              </a:rPr>
              <a:t>HashSet</a:t>
            </a:r>
            <a:r>
              <a:rPr lang="en-US" sz="1700" dirty="0">
                <a:solidFill>
                  <a:schemeClr val="tx1"/>
                </a:solidFill>
              </a:rPr>
              <a:t> implements </a:t>
            </a:r>
            <a:r>
              <a:rPr lang="en-US" sz="1700" dirty="0">
                <a:solidFill>
                  <a:schemeClr val="accent2"/>
                </a:solidFill>
                <a:latin typeface="Consolas" pitchFamily="34" charset="0"/>
                <a:ea typeface="Consolas" pitchFamily="34" charset="-122"/>
                <a:cs typeface="Consolas" pitchFamily="34" charset="-120"/>
              </a:rPr>
              <a:t>Set</a:t>
            </a:r>
            <a:r>
              <a:rPr lang="en-US" sz="1700" dirty="0">
                <a:solidFill>
                  <a:schemeClr val="tx1"/>
                </a:solidFill>
              </a:rPr>
              <a:t> and keeps its items in a hash table.</a:t>
            </a:r>
            <a:endParaRPr lang="en-US" sz="1700" dirty="0"/>
          </a:p>
          <a:p>
            <a:pPr marL="228600" indent="-228600">
              <a:spcAft>
                <a:spcPts val="1000"/>
              </a:spcAft>
              <a:buSzPct val="100000"/>
              <a:buChar char="•"/>
            </a:pPr>
            <a:r>
              <a:rPr lang="en-US" sz="1700" dirty="0">
                <a:solidFill>
                  <a:schemeClr val="tx1"/>
                </a:solidFill>
              </a:rPr>
              <a:t>Each item goes where its hash code sends it, so adding and finding items is quick.</a:t>
            </a:r>
            <a:endParaRPr lang="en-US" sz="1700" dirty="0"/>
          </a:p>
          <a:p>
            <a:pPr marL="228600" indent="-228600">
              <a:buSzPct val="100000"/>
              <a:buChar char="•"/>
            </a:pPr>
            <a:r>
              <a:rPr lang="en-US" sz="1700" dirty="0">
                <a:solidFill>
                  <a:schemeClr val="tx1"/>
                </a:solidFill>
              </a:rPr>
              <a:t>It doesn’t keep the order items were added in, and makes no promise about order.</a:t>
            </a:r>
            <a:endParaRPr lang="en-US" sz="1700" dirty="0"/>
          </a:p>
        </p:txBody>
      </p:sp>
      <p:sp>
        <p:nvSpPr>
          <p:cNvPr id="6" name="Note"/>
          <p:cNvSpPr/>
          <p:nvPr/>
        </p:nvSpPr>
        <p:spPr>
          <a:xfrm>
            <a:off x="548640" y="4526280"/>
            <a:ext cx="4846320" cy="1371600"/>
          </a:xfrm>
          <a:prstGeom prst="roundRect">
            <a:avLst>
              <a:gd name="adj" fmla="val 8000"/>
            </a:avLst>
          </a:prstGeom>
          <a:solidFill>
            <a:schemeClr val="bg2"/>
          </a:solidFill>
          <a:ln/>
        </p:spPr>
      </p:sp>
      <p:sp>
        <p:nvSpPr>
          <p:cNvPr id="7" name="Icon tile"/>
          <p:cNvSpPr/>
          <p:nvPr/>
        </p:nvSpPr>
        <p:spPr>
          <a:xfrm>
            <a:off x="822960" y="4946904"/>
            <a:ext cx="530352" cy="530352"/>
          </a:xfrm>
          <a:prstGeom prst="roundRect">
            <a:avLst>
              <a:gd name="adj" fmla="val 24000"/>
            </a:avLst>
          </a:prstGeom>
          <a:solidFill>
            <a:schemeClr val="accent1">
              <a:alpha val="14000"/>
            </a:schemeClr>
          </a:solidFill>
          <a:ln/>
        </p:spPr>
      </p:sp>
      <p:pic>
        <p:nvPicPr>
          <p:cNvPr id="8" name="Image 0" descr="warning icon">    </p:cNvPr>
          <p:cNvPicPr>
            <a:picLocks noChangeAspect="1"/>
          </p:cNvPicPr>
          <p:nvPr/>
        </p:nvPicPr>
        <p:blipFill>
          <a:blip r:embed="rId1"/>
          <a:stretch>
            <a:fillRect/>
          </a:stretch>
        </p:blipFill>
        <p:spPr>
          <a:xfrm>
            <a:off x="934334" y="5058278"/>
            <a:ext cx="307604" cy="307604"/>
          </a:xfrm>
          <a:prstGeom prst="rect">
            <a:avLst/>
          </a:prstGeom>
        </p:spPr>
      </p:pic>
      <p:sp>
        <p:nvSpPr>
          <p:cNvPr id="9" name="Text 5"/>
          <p:cNvSpPr txBox="1"/>
          <p:nvPr/>
        </p:nvSpPr>
        <p:spPr>
          <a:xfrm>
            <a:off x="1572768" y="4526280"/>
            <a:ext cx="3566160" cy="1371600"/>
          </a:xfrm>
          <a:prstGeom prst="rect">
            <a:avLst/>
          </a:prstGeom>
          <a:noFill/>
          <a:ln/>
        </p:spPr>
        <p:txBody>
          <a:bodyPr wrap="square" lIns="0" tIns="0" rIns="0" bIns="0" rtlCol="0" anchor="ctr"/>
          <a:lstStyle/>
          <a:p>
            <a:pPr algn="l" indent="0" marL="0">
              <a:buNone/>
            </a:pPr>
            <a:r>
              <a:rPr lang="en-US" sz="1500" dirty="0">
                <a:solidFill>
                  <a:schemeClr val="tx1"/>
                </a:solidFill>
              </a:rPr>
              <a:t>The output looks sorted, but a HashSet doesn’t sort. A small Integer’s hash code is the number itself, so 0 to 9 land in slots 0 to 9, in order. Strings come out mixed up.</a:t>
            </a:r>
            <a:endParaRPr lang="en-US" sz="1500" dirty="0"/>
          </a:p>
        </p:txBody>
      </p:sp>
      <p:sp>
        <p:nvSpPr>
          <p:cNvPr id="10" name="HashSet card"/>
          <p:cNvSpPr/>
          <p:nvPr/>
        </p:nvSpPr>
        <p:spPr>
          <a:xfrm>
            <a:off x="5669280" y="1691640"/>
            <a:ext cx="5973775" cy="2761488"/>
          </a:xfrm>
          <a:prstGeom prst="roundRect">
            <a:avLst>
              <a:gd name="adj" fmla="val 3974"/>
            </a:avLst>
          </a:prstGeom>
          <a:solidFill>
            <a:schemeClr val="tx1"/>
          </a:solidFill>
          <a:ln/>
          <a:effectLst>
            <a:outerShdw sx="100000" sy="100000" kx="0" ky="0" algn="bl" rotWithShape="0" blurRad="114300" dist="31750" dir="5400000">
              <a:srgbClr val="1D2433">
                <a:alpha val="12000"/>
              </a:srgbClr>
            </a:outerShdw>
          </a:effectLst>
        </p:spPr>
      </p:sp>
      <p:sp>
        <p:nvSpPr>
          <p:cNvPr id="11" name="HashSet label"/>
          <p:cNvSpPr txBox="1"/>
          <p:nvPr/>
        </p:nvSpPr>
        <p:spPr>
          <a:xfrm>
            <a:off x="5943600" y="1810512"/>
            <a:ext cx="542513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2" name="HashSet text"/>
          <p:cNvSpPr txBox="1"/>
          <p:nvPr/>
        </p:nvSpPr>
        <p:spPr>
          <a:xfrm>
            <a:off x="5943600" y="2185416"/>
            <a:ext cx="5425135" cy="2066544"/>
          </a:xfrm>
          <a:prstGeom prst="rect">
            <a:avLst/>
          </a:prstGeom>
          <a:noFill/>
          <a:ln/>
        </p:spPr>
        <p:txBody>
          <a:bodyPr wrap="square" lIns="0" tIns="0" rIns="0" bIns="0" rtlCol="0" anchor="t"/>
          <a:lstStyle/>
          <a:p>
            <a:pPr indent="0" marL="0">
              <a:lnSpc>
                <a:spcPts val="1580"/>
              </a:lnSpc>
              <a:buNone/>
            </a:pPr>
            <a:r>
              <a:rPr lang="en-US" sz="1200" dirty="0">
                <a:solidFill>
                  <a:srgbClr val="6CC4E8"/>
                </a:solidFill>
                <a:latin typeface="Consolas" pitchFamily="34" charset="0"/>
                <a:ea typeface="Consolas" pitchFamily="34" charset="-122"/>
                <a:cs typeface="Consolas" pitchFamily="34" charset="-120"/>
              </a:rPr>
              <a:t>Set</a:t>
            </a:r>
            <a:r>
              <a:rPr lang="en-US" sz="1200" dirty="0">
                <a:solidFill>
                  <a:srgbClr val="E6EBF2"/>
                </a:solidFill>
                <a:latin typeface="Consolas" pitchFamily="34" charset="0"/>
                <a:ea typeface="Consolas" pitchFamily="34" charset="-122"/>
                <a:cs typeface="Consolas" pitchFamily="34" charset="-120"/>
              </a:rPr>
              <a:t>&lt;</a:t>
            </a:r>
            <a:r>
              <a:rPr lang="en-US" sz="1200" dirty="0">
                <a:solidFill>
                  <a:srgbClr val="6CC4E8"/>
                </a:solidFill>
                <a:latin typeface="Consolas" pitchFamily="34" charset="0"/>
                <a:ea typeface="Consolas" pitchFamily="34" charset="-122"/>
                <a:cs typeface="Consolas" pitchFamily="34" charset="-120"/>
              </a:rPr>
              <a:t>Integer</a:t>
            </a:r>
            <a:r>
              <a:rPr lang="en-US" sz="1200" dirty="0">
                <a:solidFill>
                  <a:srgbClr val="E6EBF2"/>
                </a:solidFill>
                <a:latin typeface="Consolas" pitchFamily="34" charset="0"/>
                <a:ea typeface="Consolas" pitchFamily="34" charset="-122"/>
                <a:cs typeface="Consolas" pitchFamily="34" charset="-120"/>
              </a:rPr>
              <a:t>&gt; set = </a:t>
            </a:r>
            <a:r>
              <a:rPr lang="en-US" sz="1200" dirty="0">
                <a:solidFill>
                  <a:srgbClr val="FF9F5A"/>
                </a:solidFill>
                <a:latin typeface="Consolas" pitchFamily="34" charset="0"/>
                <a:ea typeface="Consolas" pitchFamily="34" charset="-122"/>
                <a:cs typeface="Consolas" pitchFamily="34" charset="-120"/>
              </a:rPr>
              <a:t>new </a:t>
            </a:r>
            <a:r>
              <a:rPr lang="en-US" sz="1200" dirty="0">
                <a:solidFill>
                  <a:srgbClr val="6CC4E8"/>
                </a:solidFill>
                <a:latin typeface="Consolas" pitchFamily="34" charset="0"/>
                <a:ea typeface="Consolas" pitchFamily="34" charset="-122"/>
                <a:cs typeface="Consolas" pitchFamily="34" charset="-120"/>
              </a:rPr>
              <a:t>HashSet</a:t>
            </a:r>
            <a:r>
              <a:rPr lang="en-US" sz="1200" dirty="0">
                <a:solidFill>
                  <a:srgbClr val="E6EBF2"/>
                </a:solidFill>
                <a:latin typeface="Consolas" pitchFamily="34" charset="0"/>
                <a:ea typeface="Consolas" pitchFamily="34" charset="-122"/>
                <a:cs typeface="Consolas" pitchFamily="34" charset="-120"/>
              </a:rPr>
              <a:t>&lt;</a:t>
            </a:r>
            <a:r>
              <a:rPr lang="en-US" sz="1200" dirty="0">
                <a:solidFill>
                  <a:srgbClr val="6CC4E8"/>
                </a:solidFill>
                <a:latin typeface="Consolas" pitchFamily="34" charset="0"/>
                <a:ea typeface="Consolas" pitchFamily="34" charset="-122"/>
                <a:cs typeface="Consolas" pitchFamily="34" charset="-120"/>
              </a:rPr>
              <a:t>Integer</a:t>
            </a:r>
            <a:r>
              <a:rPr lang="en-US" sz="1200" dirty="0">
                <a:solidFill>
                  <a:srgbClr val="E6EBF2"/>
                </a:solidFill>
                <a:latin typeface="Consolas" pitchFamily="34" charset="0"/>
                <a:ea typeface="Consolas" pitchFamily="34" charset="-122"/>
                <a:cs typeface="Consolas" pitchFamily="34" charset="-120"/>
              </a:rPr>
              <a:t>&gt;();</a:t>
            </a:r>
            <a:endParaRPr lang="en-US" sz="1200" dirty="0"/>
          </a:p>
          <a:p>
            <a:pPr indent="0" marL="0">
              <a:lnSpc>
                <a:spcPts val="1580"/>
              </a:lnSpc>
              <a:buNone/>
            </a:pPr>
            <a:r>
              <a:rPr lang="en-US" sz="1200" dirty="0">
                <a:solidFill>
                  <a:srgbClr val="FF9F5A"/>
                </a:solidFill>
                <a:latin typeface="Consolas" pitchFamily="34" charset="0"/>
                <a:ea typeface="Consolas" pitchFamily="34" charset="-122"/>
                <a:cs typeface="Consolas" pitchFamily="34" charset="-120"/>
              </a:rPr>
              <a:t>for </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FF9F5A"/>
                </a:solidFill>
                <a:latin typeface="Consolas" pitchFamily="34" charset="0"/>
                <a:ea typeface="Consolas" pitchFamily="34" charset="-122"/>
                <a:cs typeface="Consolas" pitchFamily="34" charset="-120"/>
              </a:rPr>
              <a:t>int </a:t>
            </a:r>
            <a:r>
              <a:rPr lang="en-US" sz="1200" dirty="0">
                <a:solidFill>
                  <a:srgbClr val="E6EBF2"/>
                </a:solidFill>
                <a:latin typeface="Consolas" pitchFamily="34" charset="0"/>
                <a:ea typeface="Consolas" pitchFamily="34" charset="-122"/>
                <a:cs typeface="Consolas" pitchFamily="34" charset="-120"/>
              </a:rPr>
              <a:t>j = </a:t>
            </a:r>
            <a:r>
              <a:rPr lang="en-US" sz="1200" dirty="0">
                <a:solidFill>
                  <a:srgbClr val="F2C14E"/>
                </a:solidFill>
                <a:latin typeface="Consolas" pitchFamily="34" charset="0"/>
                <a:ea typeface="Consolas" pitchFamily="34" charset="-122"/>
                <a:cs typeface="Consolas" pitchFamily="34" charset="-120"/>
              </a:rPr>
              <a:t>0</a:t>
            </a:r>
            <a:r>
              <a:rPr lang="en-US" sz="1200" dirty="0">
                <a:solidFill>
                  <a:srgbClr val="E6EBF2"/>
                </a:solidFill>
                <a:latin typeface="Consolas" pitchFamily="34" charset="0"/>
                <a:ea typeface="Consolas" pitchFamily="34" charset="-122"/>
                <a:cs typeface="Consolas" pitchFamily="34" charset="-120"/>
              </a:rPr>
              <a:t>; j &lt; </a:t>
            </a:r>
            <a:r>
              <a:rPr lang="en-US" sz="1200" dirty="0">
                <a:solidFill>
                  <a:srgbClr val="F2C14E"/>
                </a:solidFill>
                <a:latin typeface="Consolas" pitchFamily="34" charset="0"/>
                <a:ea typeface="Consolas" pitchFamily="34" charset="-122"/>
                <a:cs typeface="Consolas" pitchFamily="34" charset="-120"/>
              </a:rPr>
              <a:t>10</a:t>
            </a:r>
            <a:r>
              <a:rPr lang="en-US" sz="1200" dirty="0">
                <a:solidFill>
                  <a:srgbClr val="E6EBF2"/>
                </a:solidFill>
                <a:latin typeface="Consolas" pitchFamily="34" charset="0"/>
                <a:ea typeface="Consolas" pitchFamily="34" charset="-122"/>
                <a:cs typeface="Consolas" pitchFamily="34" charset="-120"/>
              </a:rPr>
              <a:t>; j++)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set.</a:t>
            </a:r>
            <a:r>
              <a:rPr lang="en-US" sz="1200" dirty="0">
                <a:solidFill>
                  <a:srgbClr val="C9B0FF"/>
                </a:solidFill>
                <a:latin typeface="Consolas" pitchFamily="34" charset="0"/>
                <a:ea typeface="Consolas" pitchFamily="34" charset="-122"/>
                <a:cs typeface="Consolas" pitchFamily="34" charset="-120"/>
              </a:rPr>
              <a:t>add</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FF9F5A"/>
                </a:solidFill>
                <a:latin typeface="Consolas" pitchFamily="34" charset="0"/>
                <a:ea typeface="Consolas" pitchFamily="34" charset="-122"/>
                <a:cs typeface="Consolas" pitchFamily="34" charset="-120"/>
              </a:rPr>
              <a:t>int</a:t>
            </a: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6CC4E8"/>
                </a:solidFill>
                <a:latin typeface="Consolas" pitchFamily="34" charset="0"/>
                <a:ea typeface="Consolas" pitchFamily="34" charset="-122"/>
                <a:cs typeface="Consolas" pitchFamily="34" charset="-120"/>
              </a:rPr>
              <a:t>Math</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C9B0FF"/>
                </a:solidFill>
                <a:latin typeface="Consolas" pitchFamily="34" charset="0"/>
                <a:ea typeface="Consolas" pitchFamily="34" charset="-122"/>
                <a:cs typeface="Consolas" pitchFamily="34" charset="-120"/>
              </a:rPr>
              <a:t>random</a:t>
            </a:r>
            <a:r>
              <a:rPr lang="en-US" sz="1200" dirty="0">
                <a:solidFill>
                  <a:srgbClr val="E6EBF2"/>
                </a:solidFill>
                <a:latin typeface="Consolas" pitchFamily="34" charset="0"/>
                <a:ea typeface="Consolas" pitchFamily="34" charset="-122"/>
                <a:cs typeface="Consolas" pitchFamily="34" charset="-120"/>
              </a:rPr>
              <a:t>() * </a:t>
            </a:r>
            <a:r>
              <a:rPr lang="en-US" sz="1200" dirty="0">
                <a:solidFill>
                  <a:srgbClr val="F2C14E"/>
                </a:solidFill>
                <a:latin typeface="Consolas" pitchFamily="34" charset="0"/>
                <a:ea typeface="Consolas" pitchFamily="34" charset="-122"/>
                <a:cs typeface="Consolas" pitchFamily="34" charset="-120"/>
              </a:rPr>
              <a:t>10</a:t>
            </a:r>
            <a:r>
              <a:rPr lang="en-US" sz="1200" dirty="0">
                <a:solidFill>
                  <a:srgbClr val="E6EBF2"/>
                </a:solidFill>
                <a:latin typeface="Consolas" pitchFamily="34" charset="0"/>
                <a:ea typeface="Consolas" pitchFamily="34" charset="-122"/>
                <a:cs typeface="Consolas" pitchFamily="34" charset="-120"/>
              </a:rPr>
              <a:t>));</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a:t>
            </a:r>
            <a:endParaRPr lang="en-US" sz="1200" dirty="0"/>
          </a:p>
          <a:p>
            <a:pPr indent="0" marL="0">
              <a:lnSpc>
                <a:spcPts val="1580"/>
              </a:lnSpc>
              <a:buNone/>
            </a:pPr>
            <a:r>
              <a:rPr lang="en-US" sz="1200" dirty="0">
                <a:solidFill>
                  <a:srgbClr val="6CC4E8"/>
                </a:solidFill>
                <a:latin typeface="Consolas" pitchFamily="34" charset="0"/>
                <a:ea typeface="Consolas" pitchFamily="34" charset="-122"/>
                <a:cs typeface="Consolas" pitchFamily="34" charset="-120"/>
              </a:rPr>
              <a:t>System</a:t>
            </a:r>
            <a:r>
              <a:rPr lang="en-US" sz="1200" dirty="0">
                <a:solidFill>
                  <a:srgbClr val="E6EBF2"/>
                </a:solidFill>
                <a:latin typeface="Consolas" pitchFamily="34" charset="0"/>
                <a:ea typeface="Consolas" pitchFamily="34" charset="-122"/>
                <a:cs typeface="Consolas" pitchFamily="34" charset="-120"/>
              </a:rPr>
              <a:t>.out.</a:t>
            </a:r>
            <a:r>
              <a:rPr lang="en-US" sz="1200" dirty="0">
                <a:solidFill>
                  <a:srgbClr val="C9B0FF"/>
                </a:solidFill>
                <a:latin typeface="Consolas" pitchFamily="34" charset="0"/>
                <a:ea typeface="Consolas" pitchFamily="34" charset="-122"/>
                <a:cs typeface="Consolas" pitchFamily="34" charset="-120"/>
              </a:rPr>
              <a:t>println</a:t>
            </a:r>
            <a:r>
              <a:rPr lang="en-US" sz="1200" dirty="0">
                <a:solidFill>
                  <a:srgbClr val="E6EBF2"/>
                </a:solidFill>
                <a:latin typeface="Consolas" pitchFamily="34" charset="0"/>
                <a:ea typeface="Consolas" pitchFamily="34" charset="-122"/>
                <a:cs typeface="Consolas" pitchFamily="34" charset="-120"/>
              </a:rPr>
              <a:t>(set);</a:t>
            </a:r>
            <a:endParaRPr lang="en-US" sz="1200" dirty="0"/>
          </a:p>
          <a:p>
            <a:pPr indent="0" marL="0">
              <a:lnSpc>
                <a:spcPts val="1580"/>
              </a:lnSpc>
              <a:buNone/>
            </a:pPr>
            <a:r>
              <a:rPr lang="en-US" sz="1200" dirty="0">
                <a:solidFill>
                  <a:srgbClr val="FF9F5A"/>
                </a:solidFill>
                <a:latin typeface="Consolas" pitchFamily="34" charset="0"/>
                <a:ea typeface="Consolas" pitchFamily="34" charset="-122"/>
                <a:cs typeface="Consolas" pitchFamily="34" charset="-120"/>
              </a:rPr>
              <a:t>if </a:t>
            </a:r>
            <a:r>
              <a:rPr lang="en-US" sz="1200" dirty="0">
                <a:solidFill>
                  <a:srgbClr val="E6EBF2"/>
                </a:solidFill>
                <a:latin typeface="Consolas" pitchFamily="34" charset="0"/>
                <a:ea typeface="Consolas" pitchFamily="34" charset="-122"/>
                <a:cs typeface="Consolas" pitchFamily="34" charset="-120"/>
              </a:rPr>
              <a:t>(set.</a:t>
            </a:r>
            <a:r>
              <a:rPr lang="en-US" sz="1200" dirty="0">
                <a:solidFill>
                  <a:srgbClr val="C9B0FF"/>
                </a:solidFill>
                <a:latin typeface="Consolas" pitchFamily="34" charset="0"/>
                <a:ea typeface="Consolas" pitchFamily="34" charset="-122"/>
                <a:cs typeface="Consolas" pitchFamily="34" charset="-120"/>
              </a:rPr>
              <a:t>contains</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F2C14E"/>
                </a:solidFill>
                <a:latin typeface="Consolas" pitchFamily="34" charset="0"/>
                <a:ea typeface="Consolas" pitchFamily="34" charset="-122"/>
                <a:cs typeface="Consolas" pitchFamily="34" charset="-120"/>
              </a:rPr>
              <a:t>5</a:t>
            </a: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6CC4E8"/>
                </a:solidFill>
                <a:latin typeface="Consolas" pitchFamily="34" charset="0"/>
                <a:ea typeface="Consolas" pitchFamily="34" charset="-122"/>
                <a:cs typeface="Consolas" pitchFamily="34" charset="-120"/>
              </a:rPr>
              <a:t>System</a:t>
            </a:r>
            <a:r>
              <a:rPr lang="en-US" sz="1200" dirty="0">
                <a:solidFill>
                  <a:srgbClr val="E6EBF2"/>
                </a:solidFill>
                <a:latin typeface="Consolas" pitchFamily="34" charset="0"/>
                <a:ea typeface="Consolas" pitchFamily="34" charset="-122"/>
                <a:cs typeface="Consolas" pitchFamily="34" charset="-120"/>
              </a:rPr>
              <a:t>.out.</a:t>
            </a:r>
            <a:r>
              <a:rPr lang="en-US" sz="1200" dirty="0">
                <a:solidFill>
                  <a:srgbClr val="C9B0FF"/>
                </a:solidFill>
                <a:latin typeface="Consolas" pitchFamily="34" charset="0"/>
                <a:ea typeface="Consolas" pitchFamily="34" charset="-122"/>
                <a:cs typeface="Consolas" pitchFamily="34" charset="-120"/>
              </a:rPr>
              <a:t>println</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A9DB8C"/>
                </a:solidFill>
                <a:latin typeface="Consolas" pitchFamily="34" charset="0"/>
                <a:ea typeface="Consolas" pitchFamily="34" charset="-122"/>
                <a:cs typeface="Consolas" pitchFamily="34" charset="-120"/>
              </a:rPr>
              <a:t>"5 is an element of " </a:t>
            </a:r>
            <a:r>
              <a:rPr lang="en-US" sz="1200" dirty="0">
                <a:solidFill>
                  <a:srgbClr val="E6EBF2"/>
                </a:solidFill>
                <a:latin typeface="Consolas" pitchFamily="34" charset="0"/>
                <a:ea typeface="Consolas" pitchFamily="34" charset="-122"/>
                <a:cs typeface="Consolas" pitchFamily="34" charset="-120"/>
              </a:rPr>
              <a:t>+ set);</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FF9F5A"/>
                </a:solidFill>
                <a:latin typeface="Consolas" pitchFamily="34" charset="0"/>
                <a:ea typeface="Consolas" pitchFamily="34" charset="-122"/>
                <a:cs typeface="Consolas" pitchFamily="34" charset="-120"/>
              </a:rPr>
              <a:t>else </a:t>
            </a:r>
            <a:r>
              <a:rPr lang="en-US" sz="1200" dirty="0">
                <a:solidFill>
                  <a:srgbClr val="E6EBF2"/>
                </a:solidFill>
                <a:latin typeface="Consolas" pitchFamily="34" charset="0"/>
                <a:ea typeface="Consolas" pitchFamily="34" charset="-122"/>
                <a:cs typeface="Consolas" pitchFamily="34" charset="-120"/>
              </a:rPr>
              <a:t>{</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6CC4E8"/>
                </a:solidFill>
                <a:latin typeface="Consolas" pitchFamily="34" charset="0"/>
                <a:ea typeface="Consolas" pitchFamily="34" charset="-122"/>
                <a:cs typeface="Consolas" pitchFamily="34" charset="-120"/>
              </a:rPr>
              <a:t>System</a:t>
            </a:r>
            <a:r>
              <a:rPr lang="en-US" sz="1200" dirty="0">
                <a:solidFill>
                  <a:srgbClr val="E6EBF2"/>
                </a:solidFill>
                <a:latin typeface="Consolas" pitchFamily="34" charset="0"/>
                <a:ea typeface="Consolas" pitchFamily="34" charset="-122"/>
                <a:cs typeface="Consolas" pitchFamily="34" charset="-120"/>
              </a:rPr>
              <a:t>.out.</a:t>
            </a:r>
            <a:r>
              <a:rPr lang="en-US" sz="1200" dirty="0">
                <a:solidFill>
                  <a:srgbClr val="C9B0FF"/>
                </a:solidFill>
                <a:latin typeface="Consolas" pitchFamily="34" charset="0"/>
                <a:ea typeface="Consolas" pitchFamily="34" charset="-122"/>
                <a:cs typeface="Consolas" pitchFamily="34" charset="-120"/>
              </a:rPr>
              <a:t>println</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A9DB8C"/>
                </a:solidFill>
                <a:latin typeface="Consolas" pitchFamily="34" charset="0"/>
                <a:ea typeface="Consolas" pitchFamily="34" charset="-122"/>
                <a:cs typeface="Consolas" pitchFamily="34" charset="-120"/>
              </a:rPr>
              <a:t>"5 is not an element of " </a:t>
            </a:r>
            <a:r>
              <a:rPr lang="en-US" sz="1200" dirty="0">
                <a:solidFill>
                  <a:srgbClr val="E6EBF2"/>
                </a:solidFill>
                <a:latin typeface="Consolas" pitchFamily="34" charset="0"/>
                <a:ea typeface="Consolas" pitchFamily="34" charset="-122"/>
                <a:cs typeface="Consolas" pitchFamily="34" charset="-120"/>
              </a:rPr>
              <a:t>+ set);</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a:t>
            </a:r>
            <a:endParaRPr lang="en-US" sz="1200" dirty="0"/>
          </a:p>
        </p:txBody>
      </p:sp>
      <p:sp>
        <p:nvSpPr>
          <p:cNvPr id="13" name="Output card"/>
          <p:cNvSpPr/>
          <p:nvPr/>
        </p:nvSpPr>
        <p:spPr>
          <a:xfrm>
            <a:off x="5669280" y="4654296"/>
            <a:ext cx="5973775" cy="1178433"/>
          </a:xfrm>
          <a:prstGeom prst="roundRect">
            <a:avLst>
              <a:gd name="adj" fmla="val 9311"/>
            </a:avLst>
          </a:prstGeom>
          <a:solidFill>
            <a:schemeClr val="tx1"/>
          </a:solidFill>
          <a:ln/>
          <a:effectLst>
            <a:outerShdw sx="100000" sy="100000" kx="0" ky="0" algn="bl" rotWithShape="0" blurRad="114300" dist="31750" dir="5400000">
              <a:srgbClr val="1D2433">
                <a:alpha val="12000"/>
              </a:srgbClr>
            </a:outerShdw>
          </a:effectLst>
        </p:spPr>
      </p:sp>
      <p:sp>
        <p:nvSpPr>
          <p:cNvPr id="14" name="Output label"/>
          <p:cNvSpPr txBox="1"/>
          <p:nvPr/>
        </p:nvSpPr>
        <p:spPr>
          <a:xfrm>
            <a:off x="5943600" y="4773168"/>
            <a:ext cx="542513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one run</a:t>
            </a:r>
            <a:endParaRPr lang="en-US" sz="1050" dirty="0"/>
          </a:p>
        </p:txBody>
      </p:sp>
      <p:sp>
        <p:nvSpPr>
          <p:cNvPr id="15" name="Output text"/>
          <p:cNvSpPr txBox="1"/>
          <p:nvPr/>
        </p:nvSpPr>
        <p:spPr>
          <a:xfrm>
            <a:off x="5943600" y="5148072"/>
            <a:ext cx="5425135" cy="483489"/>
          </a:xfrm>
          <a:prstGeom prst="rect">
            <a:avLst/>
          </a:prstGeom>
          <a:noFill/>
          <a:ln/>
        </p:spPr>
        <p:txBody>
          <a:bodyPr wrap="square" lIns="0" tIns="0" rIns="0" bIns="0" rtlCol="0" anchor="t"/>
          <a:lstStyle/>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[0, 1, 3, 4, 5, 8, 9]</a:t>
            </a:r>
            <a:endParaRPr lang="en-US" sz="1250" dirty="0"/>
          </a:p>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5 is an element of [0, 1, 3, 4, 5, 8, 9]</a:t>
            </a:r>
            <a:endParaRPr lang="en-US"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12</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HashSet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loop adds 10 random numbers from 0 to 9, but the set prints only 7. Why?</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A HashSet can only hold 7 items at a time</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Some numbers came up more than once, and a set keeps one copy</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loop stopped early, after 7 numbers</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HashSet drops the numbers it can’t sort</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12</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HashSet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loop adds 10 random numbers from 0 to 9, but the set prints only 7. Why?</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rPr>
              <a:t>A HashSet can only hold 7 items at a time</a:t>
            </a:r>
            <a:endParaRPr lang="en-US"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532888"/>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Some numbers came up more than once, and a set keeps one copy</a:t>
            </a:r>
            <a:endParaRPr lang="en-US" sz="1700" dirty="0"/>
          </a:p>
        </p:txBody>
      </p:sp>
      <p:pic>
        <p:nvPicPr>
          <p:cNvPr id="11" name="Image 0"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The loop stopped early, after 7 numbers</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rPr>
              <a:t>HashSet drops the numbers it can’t sort</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Ten random picks from 0 to 9 usually repeat a few numbers. Each repeat is a duplicate, so </a:t>
            </a:r>
            <a:r>
              <a:rPr lang="en-US" sz="1600" dirty="0">
                <a:solidFill>
                  <a:schemeClr val="accent2"/>
                </a:solidFill>
                <a:latin typeface="Consolas" pitchFamily="34" charset="0"/>
                <a:ea typeface="Consolas" pitchFamily="34" charset="-122"/>
                <a:cs typeface="Consolas" pitchFamily="34" charset="-120"/>
              </a:rPr>
              <a:t>add</a:t>
            </a:r>
            <a:r>
              <a:rPr lang="en-US" sz="1600" dirty="0">
                <a:solidFill>
                  <a:schemeClr val="tx1"/>
                </a:solidFill>
              </a:rPr>
              <a:t> gives back </a:t>
            </a:r>
            <a:r>
              <a:rPr lang="en-US" sz="1600" dirty="0">
                <a:solidFill>
                  <a:schemeClr val="accent2"/>
                </a:solidFill>
                <a:latin typeface="Consolas" pitchFamily="34" charset="0"/>
                <a:ea typeface="Consolas" pitchFamily="34" charset="-122"/>
                <a:cs typeface="Consolas" pitchFamily="34" charset="-120"/>
              </a:rPr>
              <a:t>false</a:t>
            </a:r>
            <a:r>
              <a:rPr lang="en-US" sz="1600" dirty="0">
                <a:solidFill>
                  <a:schemeClr val="tx1"/>
                </a:solidFill>
              </a:rPr>
              <a:t> and the set stays the same. A HashSet has no size limit; it just never holds the same item twice.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LinkedHashSet: remembers the order</a:t>
            </a:r>
            <a:endParaRPr lang="en-US" sz="3400" dirty="0"/>
          </a:p>
        </p:txBody>
      </p:sp>
      <p:sp>
        <p:nvSpPr>
          <p:cNvPr id="5" name="LinkedHashSet card"/>
          <p:cNvSpPr/>
          <p:nvPr/>
        </p:nvSpPr>
        <p:spPr>
          <a:xfrm>
            <a:off x="548640" y="1691640"/>
            <a:ext cx="6035040" cy="3473958"/>
          </a:xfrm>
          <a:prstGeom prst="roundRect">
            <a:avLst>
              <a:gd name="adj" fmla="val 3159"/>
            </a:avLst>
          </a:prstGeom>
          <a:solidFill>
            <a:schemeClr val="tx1"/>
          </a:solidFill>
          <a:ln/>
          <a:effectLst>
            <a:outerShdw sx="100000" sy="100000" kx="0" ky="0" algn="bl" rotWithShape="0" blurRad="114300" dist="31750" dir="5400000">
              <a:srgbClr val="1D2433">
                <a:alpha val="12000"/>
              </a:srgbClr>
            </a:outerShdw>
          </a:effectLst>
        </p:spPr>
      </p:sp>
      <p:sp>
        <p:nvSpPr>
          <p:cNvPr id="6" name="LinkedHashSet label"/>
          <p:cNvSpPr txBox="1"/>
          <p:nvPr/>
        </p:nvSpPr>
        <p:spPr>
          <a:xfrm>
            <a:off x="822960" y="1810512"/>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LinkedHashSet text"/>
          <p:cNvSpPr txBox="1"/>
          <p:nvPr/>
        </p:nvSpPr>
        <p:spPr>
          <a:xfrm>
            <a:off x="822960" y="2185416"/>
            <a:ext cx="5486400" cy="277901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Set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 linkedset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LinkedHashSet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"B"</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"C"</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"D"</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   </a:t>
            </a:r>
            <a:r>
              <a:rPr lang="en-US" sz="1250" i="1" dirty="0">
                <a:solidFill>
                  <a:srgbClr val="A3AEC2"/>
                </a:solidFill>
                <a:latin typeface="Consolas" pitchFamily="34" charset="0"/>
                <a:ea typeface="Consolas" pitchFamily="34" charset="-122"/>
                <a:cs typeface="Consolas" pitchFamily="34" charset="-120"/>
              </a:rPr>
              <a:t>// not added: A is already there</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linkedset.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"Size = " </a:t>
            </a:r>
            <a:r>
              <a:rPr lang="en-US" sz="1250" dirty="0">
                <a:solidFill>
                  <a:srgbClr val="E6EBF2"/>
                </a:solidFill>
                <a:latin typeface="Consolas" pitchFamily="34" charset="0"/>
                <a:ea typeface="Consolas" pitchFamily="34" charset="-122"/>
                <a:cs typeface="Consolas" pitchFamily="34" charset="-120"/>
              </a:rPr>
              <a:t>+ linkedset.</a:t>
            </a:r>
            <a:r>
              <a:rPr lang="en-US" sz="1250" dirty="0">
                <a:solidFill>
                  <a:srgbClr val="C9B0FF"/>
                </a:solidFill>
                <a:latin typeface="Consolas" pitchFamily="34" charset="0"/>
                <a:ea typeface="Consolas" pitchFamily="34" charset="-122"/>
                <a:cs typeface="Consolas" pitchFamily="34" charset="-120"/>
              </a:rPr>
              <a:t>size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"Set: " </a:t>
            </a:r>
            <a:r>
              <a:rPr lang="en-US" sz="1250" dirty="0">
                <a:solidFill>
                  <a:srgbClr val="E6EBF2"/>
                </a:solidFill>
                <a:latin typeface="Consolas" pitchFamily="34" charset="0"/>
                <a:ea typeface="Consolas" pitchFamily="34" charset="-122"/>
                <a:cs typeface="Consolas" pitchFamily="34" charset="-120"/>
              </a:rPr>
              <a:t>+ linkedset);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"Remove D: " </a:t>
            </a:r>
            <a:r>
              <a:rPr lang="en-US" sz="1250" dirty="0">
                <a:solidFill>
                  <a:srgbClr val="E6EBF2"/>
                </a:solidFill>
                <a:latin typeface="Consolas" pitchFamily="34" charset="0"/>
                <a:ea typeface="Consolas" pitchFamily="34" charset="-122"/>
                <a:cs typeface="Consolas" pitchFamily="34" charset="-120"/>
              </a:rPr>
              <a:t>+ linkedset.</a:t>
            </a:r>
            <a:r>
              <a:rPr lang="en-US" sz="1250" dirty="0">
                <a:solidFill>
                  <a:srgbClr val="C9B0FF"/>
                </a:solidFill>
                <a:latin typeface="Consolas" pitchFamily="34" charset="0"/>
                <a:ea typeface="Consolas" pitchFamily="34" charset="-122"/>
                <a:cs typeface="Consolas" pitchFamily="34" charset="-120"/>
              </a:rPr>
              <a:t>remove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"D"</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"Remove Z: " </a:t>
            </a:r>
            <a:r>
              <a:rPr lang="en-US" sz="1250" dirty="0">
                <a:solidFill>
                  <a:srgbClr val="E6EBF2"/>
                </a:solidFill>
                <a:latin typeface="Consolas" pitchFamily="34" charset="0"/>
                <a:ea typeface="Consolas" pitchFamily="34" charset="-122"/>
                <a:cs typeface="Consolas" pitchFamily="34" charset="-120"/>
              </a:rPr>
              <a:t>+ linkedset.</a:t>
            </a:r>
            <a:r>
              <a:rPr lang="en-US" sz="1250" dirty="0">
                <a:solidFill>
                  <a:srgbClr val="C9B0FF"/>
                </a:solidFill>
                <a:latin typeface="Consolas" pitchFamily="34" charset="0"/>
                <a:ea typeface="Consolas" pitchFamily="34" charset="-122"/>
                <a:cs typeface="Consolas" pitchFamily="34" charset="-120"/>
              </a:rPr>
              <a:t>remove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"Z"</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"Has A: " </a:t>
            </a:r>
            <a:r>
              <a:rPr lang="en-US" sz="1250" dirty="0">
                <a:solidFill>
                  <a:srgbClr val="E6EBF2"/>
                </a:solidFill>
                <a:latin typeface="Consolas" pitchFamily="34" charset="0"/>
                <a:ea typeface="Consolas" pitchFamily="34" charset="-122"/>
                <a:cs typeface="Consolas" pitchFamily="34" charset="-120"/>
              </a:rPr>
              <a:t>+ linkedset.</a:t>
            </a:r>
            <a:r>
              <a:rPr lang="en-US" sz="1250" dirty="0">
                <a:solidFill>
                  <a:srgbClr val="C9B0FF"/>
                </a:solidFill>
                <a:latin typeface="Consolas" pitchFamily="34" charset="0"/>
                <a:ea typeface="Consolas" pitchFamily="34" charset="-122"/>
                <a:cs typeface="Consolas" pitchFamily="34" charset="-120"/>
              </a:rPr>
              <a:t>contains</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"Now: " </a:t>
            </a:r>
            <a:r>
              <a:rPr lang="en-US" sz="1250" dirty="0">
                <a:solidFill>
                  <a:srgbClr val="E6EBF2"/>
                </a:solidFill>
                <a:latin typeface="Consolas" pitchFamily="34" charset="0"/>
                <a:ea typeface="Consolas" pitchFamily="34" charset="-122"/>
                <a:cs typeface="Consolas" pitchFamily="34" charset="-120"/>
              </a:rPr>
              <a:t>+ linkedset);</a:t>
            </a:r>
            <a:endParaRPr lang="en-US" sz="1250" dirty="0"/>
          </a:p>
        </p:txBody>
      </p:sp>
      <p:sp>
        <p:nvSpPr>
          <p:cNvPr id="8" name="Output card"/>
          <p:cNvSpPr/>
          <p:nvPr/>
        </p:nvSpPr>
        <p:spPr>
          <a:xfrm>
            <a:off x="6858000" y="1691640"/>
            <a:ext cx="4785055" cy="2138553"/>
          </a:xfrm>
          <a:prstGeom prst="roundRect">
            <a:avLst>
              <a:gd name="adj" fmla="val 5131"/>
            </a:avLst>
          </a:prstGeom>
          <a:solidFill>
            <a:schemeClr val="tx1"/>
          </a:solidFill>
          <a:ln/>
          <a:effectLst>
            <a:outerShdw sx="100000" sy="100000" kx="0" ky="0" algn="bl" rotWithShape="0" blurRad="114300" dist="31750" dir="5400000">
              <a:srgbClr val="1D2433">
                <a:alpha val="12000"/>
              </a:srgbClr>
            </a:outerShdw>
          </a:effectLst>
        </p:spPr>
      </p:sp>
      <p:sp>
        <p:nvSpPr>
          <p:cNvPr id="9" name="Output label"/>
          <p:cNvSpPr txBox="1"/>
          <p:nvPr/>
        </p:nvSpPr>
        <p:spPr>
          <a:xfrm>
            <a:off x="7132320" y="1810512"/>
            <a:ext cx="423641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0" name="Output text"/>
          <p:cNvSpPr txBox="1"/>
          <p:nvPr/>
        </p:nvSpPr>
        <p:spPr>
          <a:xfrm>
            <a:off x="7132320" y="2185416"/>
            <a:ext cx="4236415" cy="1443609"/>
          </a:xfrm>
          <a:prstGeom prst="rect">
            <a:avLst/>
          </a:prstGeom>
          <a:noFill/>
          <a:ln/>
        </p:spPr>
        <p:txBody>
          <a:bodyPr wrap="square" lIns="0" tIns="0" rIns="0" bIns="0" rtlCol="0" anchor="t"/>
          <a:lstStyle/>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Size = 5</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Set: [A, B, C, D, 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Remove D: true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Remove Z: false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Has A: true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Now: [A, B, C, E]</a:t>
            </a:r>
            <a:endParaRPr lang="en-US" sz="1350" dirty="0"/>
          </a:p>
        </p:txBody>
      </p:sp>
      <p:sp>
        <p:nvSpPr>
          <p:cNvPr id="11" name="Text 8"/>
          <p:cNvSpPr txBox="1"/>
          <p:nvPr/>
        </p:nvSpPr>
        <p:spPr>
          <a:xfrm>
            <a:off x="6858000" y="4150233"/>
            <a:ext cx="4785055" cy="1976247"/>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 hash table plus a linked list running through all its items.</a:t>
            </a:r>
            <a:endParaRPr lang="en-US" sz="1600" dirty="0"/>
          </a:p>
          <a:p>
            <a:pPr marL="228600" indent="-228600">
              <a:spcAft>
                <a:spcPts val="800"/>
              </a:spcAft>
              <a:buSzPct val="100000"/>
              <a:buChar char="•"/>
            </a:pPr>
            <a:r>
              <a:rPr lang="en-US" sz="1600" dirty="0">
                <a:solidFill>
                  <a:schemeClr val="tx1"/>
                </a:solidFill>
              </a:rPr>
              <a:t>The linked list remembers the order items were added in.</a:t>
            </a:r>
            <a:endParaRPr lang="en-US" sz="1600" dirty="0"/>
          </a:p>
          <a:p>
            <a:pPr marL="228600" indent="-228600">
              <a:buSzPct val="100000"/>
              <a:buChar char="•"/>
            </a:pPr>
            <a:r>
              <a:rPr lang="en-US" sz="1600" dirty="0">
                <a:solidFill>
                  <a:schemeClr val="tx1"/>
                </a:solidFill>
              </a:rPr>
              <a:t>No duplicates, like every set. It allows </a:t>
            </a:r>
            <a:r>
              <a:rPr lang="en-US" sz="1600" dirty="0">
                <a:solidFill>
                  <a:schemeClr val="accent2"/>
                </a:solidFill>
                <a:latin typeface="Consolas" pitchFamily="34" charset="0"/>
                <a:ea typeface="Consolas" pitchFamily="34" charset="-122"/>
                <a:cs typeface="Consolas" pitchFamily="34" charset="-120"/>
              </a:rPr>
              <a:t>null</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13</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LinkedHashSet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2798064"/>
            <a:ext cx="6035040" cy="2359152"/>
          </a:xfrm>
          <a:prstGeom prst="roundRect">
            <a:avLst>
              <a:gd name="adj" fmla="val 4651"/>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916936"/>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291840"/>
            <a:ext cx="5486400" cy="1664208"/>
          </a:xfrm>
          <a:prstGeom prst="rect">
            <a:avLst/>
          </a:prstGeom>
          <a:noFill/>
          <a:ln/>
        </p:spPr>
        <p:txBody>
          <a:bodyPr wrap="square" lIns="0" tIns="0" rIns="0" bIns="0" rtlCol="0" anchor="t"/>
          <a:lstStyle/>
          <a:p>
            <a:pPr indent="0" marL="0">
              <a:lnSpc>
                <a:spcPts val="2110"/>
              </a:lnSpc>
              <a:buNone/>
            </a:pPr>
            <a:r>
              <a:rPr lang="en-US" sz="1600" dirty="0">
                <a:solidFill>
                  <a:srgbClr val="6CC4E8"/>
                </a:solidFill>
                <a:latin typeface="Consolas" pitchFamily="34" charset="0"/>
                <a:ea typeface="Consolas" pitchFamily="34" charset="-122"/>
                <a:cs typeface="Consolas" pitchFamily="34" charset="-120"/>
              </a:rPr>
              <a:t>Set</a:t>
            </a:r>
            <a:r>
              <a:rPr lang="en-US" sz="1600" dirty="0">
                <a:solidFill>
                  <a:srgbClr val="E6EBF2"/>
                </a:solidFill>
                <a:latin typeface="Consolas" pitchFamily="34" charset="0"/>
                <a:ea typeface="Consolas" pitchFamily="34" charset="-122"/>
                <a:cs typeface="Consolas" pitchFamily="34" charset="-120"/>
              </a:rPr>
              <a:t>&lt;</a:t>
            </a:r>
            <a:r>
              <a:rPr lang="en-US" sz="1600" dirty="0">
                <a:solidFill>
                  <a:srgbClr val="6CC4E8"/>
                </a:solidFill>
                <a:latin typeface="Consolas" pitchFamily="34" charset="0"/>
                <a:ea typeface="Consolas" pitchFamily="34" charset="-122"/>
                <a:cs typeface="Consolas" pitchFamily="34" charset="-120"/>
              </a:rPr>
              <a:t>String</a:t>
            </a:r>
            <a:r>
              <a:rPr lang="en-US" sz="1600" dirty="0">
                <a:solidFill>
                  <a:srgbClr val="E6EBF2"/>
                </a:solidFill>
                <a:latin typeface="Consolas" pitchFamily="34" charset="0"/>
                <a:ea typeface="Consolas" pitchFamily="34" charset="-122"/>
                <a:cs typeface="Consolas" pitchFamily="34" charset="-120"/>
              </a:rPr>
              <a:t>&gt; s = </a:t>
            </a:r>
            <a:r>
              <a:rPr lang="en-US" sz="1600" dirty="0">
                <a:solidFill>
                  <a:srgbClr val="FF9F5A"/>
                </a:solidFill>
                <a:latin typeface="Consolas" pitchFamily="34" charset="0"/>
                <a:ea typeface="Consolas" pitchFamily="34" charset="-122"/>
                <a:cs typeface="Consolas" pitchFamily="34" charset="-120"/>
              </a:rPr>
              <a:t>new </a:t>
            </a:r>
            <a:r>
              <a:rPr lang="en-US" sz="1600" dirty="0">
                <a:solidFill>
                  <a:srgbClr val="6CC4E8"/>
                </a:solidFill>
                <a:latin typeface="Consolas" pitchFamily="34" charset="0"/>
                <a:ea typeface="Consolas" pitchFamily="34" charset="-122"/>
                <a:cs typeface="Consolas" pitchFamily="34" charset="-120"/>
              </a:rPr>
              <a:t>LinkedHashSet</a:t>
            </a:r>
            <a:r>
              <a:rPr lang="en-US" sz="1600" dirty="0">
                <a:solidFill>
                  <a:srgbClr val="E6EBF2"/>
                </a:solidFill>
                <a:latin typeface="Consolas" pitchFamily="34" charset="0"/>
                <a:ea typeface="Consolas" pitchFamily="34" charset="-122"/>
                <a:cs typeface="Consolas" pitchFamily="34" charset="-120"/>
              </a:rPr>
              <a:t>&lt;</a:t>
            </a:r>
            <a:r>
              <a:rPr lang="en-US" sz="1600" dirty="0">
                <a:solidFill>
                  <a:srgbClr val="6CC4E8"/>
                </a:solidFill>
                <a:latin typeface="Consolas" pitchFamily="34" charset="0"/>
                <a:ea typeface="Consolas" pitchFamily="34" charset="-122"/>
                <a:cs typeface="Consolas" pitchFamily="34" charset="-120"/>
              </a:rPr>
              <a:t>String</a:t>
            </a:r>
            <a:r>
              <a:rPr lang="en-US" sz="1600" dirty="0">
                <a:solidFill>
                  <a:srgbClr val="E6EBF2"/>
                </a:solidFill>
                <a:latin typeface="Consolas" pitchFamily="34" charset="0"/>
                <a:ea typeface="Consolas" pitchFamily="34" charset="-122"/>
                <a:cs typeface="Consolas" pitchFamily="34" charset="-120"/>
              </a:rPr>
              <a:t>&gt;();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a:t>
            </a:r>
            <a:r>
              <a:rPr lang="en-US" sz="1600" dirty="0">
                <a:solidFill>
                  <a:srgbClr val="C9B0FF"/>
                </a:solidFill>
                <a:latin typeface="Consolas" pitchFamily="34" charset="0"/>
                <a:ea typeface="Consolas" pitchFamily="34" charset="-122"/>
                <a:cs typeface="Consolas" pitchFamily="34" charset="-120"/>
              </a:rPr>
              <a:t>add</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"C"</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a:t>
            </a:r>
            <a:r>
              <a:rPr lang="en-US" sz="1600" dirty="0">
                <a:solidFill>
                  <a:srgbClr val="C9B0FF"/>
                </a:solidFill>
                <a:latin typeface="Consolas" pitchFamily="34" charset="0"/>
                <a:ea typeface="Consolas" pitchFamily="34" charset="-122"/>
                <a:cs typeface="Consolas" pitchFamily="34" charset="-120"/>
              </a:rPr>
              <a:t>add</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"A"</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a:t>
            </a:r>
            <a:r>
              <a:rPr lang="en-US" sz="1600" dirty="0">
                <a:solidFill>
                  <a:srgbClr val="C9B0FF"/>
                </a:solidFill>
                <a:latin typeface="Consolas" pitchFamily="34" charset="0"/>
                <a:ea typeface="Consolas" pitchFamily="34" charset="-122"/>
                <a:cs typeface="Consolas" pitchFamily="34" charset="-120"/>
              </a:rPr>
              <a:t>add</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"B"</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s.</a:t>
            </a:r>
            <a:r>
              <a:rPr lang="en-US" sz="1600" dirty="0">
                <a:solidFill>
                  <a:srgbClr val="C9B0FF"/>
                </a:solidFill>
                <a:latin typeface="Consolas" pitchFamily="34" charset="0"/>
                <a:ea typeface="Consolas" pitchFamily="34" charset="-122"/>
                <a:cs typeface="Consolas" pitchFamily="34" charset="-120"/>
              </a:rPr>
              <a:t>add</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"A"</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(s.</a:t>
            </a:r>
            <a:r>
              <a:rPr lang="en-US" sz="1600" dirty="0">
                <a:solidFill>
                  <a:srgbClr val="C9B0FF"/>
                </a:solidFill>
                <a:latin typeface="Consolas" pitchFamily="34" charset="0"/>
                <a:ea typeface="Consolas" pitchFamily="34" charset="-122"/>
                <a:cs typeface="Consolas" pitchFamily="34" charset="-120"/>
              </a:rPr>
              <a:t>size</a:t>
            </a:r>
            <a:r>
              <a:rPr lang="en-US" sz="1600" dirty="0">
                <a:solidFill>
                  <a:srgbClr val="E6EBF2"/>
                </a:solidFill>
                <a:latin typeface="Consolas" pitchFamily="34" charset="0"/>
                <a:ea typeface="Consolas" pitchFamily="34" charset="-122"/>
                <a:cs typeface="Consolas" pitchFamily="34" charset="-120"/>
              </a:rPr>
              <a:t>() + </a:t>
            </a:r>
            <a:r>
              <a:rPr lang="en-US" sz="1600" dirty="0">
                <a:solidFill>
                  <a:srgbClr val="A9DB8C"/>
                </a:solidFill>
                <a:latin typeface="Consolas" pitchFamily="34" charset="0"/>
                <a:ea typeface="Consolas" pitchFamily="34" charset="-122"/>
                <a:cs typeface="Consolas" pitchFamily="34" charset="-120"/>
              </a:rPr>
              <a:t>" " </a:t>
            </a:r>
            <a:r>
              <a:rPr lang="en-US" sz="1600" dirty="0">
                <a:solidFill>
                  <a:srgbClr val="E6EBF2"/>
                </a:solidFill>
                <a:latin typeface="Consolas" pitchFamily="34" charset="0"/>
                <a:ea typeface="Consolas" pitchFamily="34" charset="-122"/>
                <a:cs typeface="Consolas" pitchFamily="34" charset="-120"/>
              </a:rPr>
              <a:t>+ s);</a:t>
            </a:r>
            <a:endParaRPr lang="en-US" sz="16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4 [C, A, B, A]</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[A, B, C]</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[C, A, B]</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[C, B, A]</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13</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LinkedHashSet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161288"/>
          </a:xfrm>
          <a:prstGeom prst="roundRect">
            <a:avLst>
              <a:gd name="adj" fmla="val 944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58952"/>
          </a:xfrm>
          <a:prstGeom prst="rect">
            <a:avLst/>
          </a:prstGeom>
          <a:noFill/>
          <a:ln/>
        </p:spPr>
        <p:txBody>
          <a:bodyPr wrap="square" lIns="0" tIns="0" rIns="0" bIns="0" rtlCol="0" anchor="t"/>
          <a:lstStyle/>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a:t>
            </a:r>
            <a:r>
              <a:rPr lang="en-US" sz="1400" dirty="0">
                <a:solidFill>
                  <a:srgbClr val="C9B0FF"/>
                </a:solidFill>
                <a:latin typeface="Consolas" pitchFamily="34" charset="0"/>
                <a:ea typeface="Consolas" pitchFamily="34" charset="-122"/>
                <a:cs typeface="Consolas" pitchFamily="34" charset="-120"/>
              </a:rPr>
              <a:t>add</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"A"</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second time: false, not added</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a:t>
            </a:r>
            <a:r>
              <a:rPr lang="en-US" sz="1400" dirty="0">
                <a:solidFill>
                  <a:srgbClr val="C9B0FF"/>
                </a:solidFill>
                <a:latin typeface="Consolas" pitchFamily="34" charset="0"/>
                <a:ea typeface="Consolas" pitchFamily="34" charset="-122"/>
                <a:cs typeface="Consolas" pitchFamily="34" charset="-120"/>
              </a:rPr>
              <a:t>size</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3</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            </a:t>
            </a:r>
            <a:r>
              <a:rPr lang="en-US" sz="1400" i="1" dirty="0">
                <a:solidFill>
                  <a:srgbClr val="A3AEC2"/>
                </a:solidFill>
                <a:latin typeface="Consolas" pitchFamily="34" charset="0"/>
                <a:ea typeface="Consolas" pitchFamily="34" charset="-122"/>
                <a:cs typeface="Consolas" pitchFamily="34" charset="-120"/>
              </a:rPr>
              <a:t>// [C, A, B]: the order added</a:t>
            </a:r>
            <a:endParaRPr lang="en-US" sz="1400" dirty="0"/>
          </a:p>
        </p:txBody>
      </p:sp>
      <p:sp>
        <p:nvSpPr>
          <p:cNvPr id="7" name="Option A"/>
          <p:cNvSpPr/>
          <p:nvPr/>
        </p:nvSpPr>
        <p:spPr>
          <a:xfrm>
            <a:off x="548640" y="3264408"/>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5127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264408"/>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4 [C, A, B, A]</a:t>
            </a:r>
            <a:endParaRPr lang="en-US" sz="1700" dirty="0"/>
          </a:p>
        </p:txBody>
      </p:sp>
      <p:sp>
        <p:nvSpPr>
          <p:cNvPr id="10" name="Option B"/>
          <p:cNvSpPr/>
          <p:nvPr/>
        </p:nvSpPr>
        <p:spPr>
          <a:xfrm>
            <a:off x="548640" y="4005072"/>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09194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4005072"/>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[A, B, C]</a:t>
            </a:r>
            <a:endParaRPr lang="en-US" sz="1700" dirty="0"/>
          </a:p>
        </p:txBody>
      </p:sp>
      <p:sp>
        <p:nvSpPr>
          <p:cNvPr id="13" name="Option C (correct)"/>
          <p:cNvSpPr/>
          <p:nvPr/>
        </p:nvSpPr>
        <p:spPr>
          <a:xfrm>
            <a:off x="548640" y="4745736"/>
            <a:ext cx="5623560" cy="594360"/>
          </a:xfrm>
          <a:prstGeom prst="roundRect">
            <a:avLst>
              <a:gd name="adj" fmla="val 18462"/>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83260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5" name="Option C text"/>
          <p:cNvSpPr txBox="1"/>
          <p:nvPr/>
        </p:nvSpPr>
        <p:spPr>
          <a:xfrm>
            <a:off x="1371600" y="4745736"/>
            <a:ext cx="4233672" cy="59436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3 [C, A, B]</a:t>
            </a:r>
            <a:endParaRPr lang="en-US" sz="1700" dirty="0"/>
          </a:p>
        </p:txBody>
      </p:sp>
      <p:pic>
        <p:nvPicPr>
          <p:cNvPr id="16" name="Image 0" descr="Correct mark">    </p:cNvPr>
          <p:cNvPicPr>
            <a:picLocks noChangeAspect="1"/>
          </p:cNvPicPr>
          <p:nvPr/>
        </p:nvPicPr>
        <p:blipFill>
          <a:blip r:embed="rId1"/>
          <a:stretch>
            <a:fillRect/>
          </a:stretch>
        </p:blipFill>
        <p:spPr>
          <a:xfrm>
            <a:off x="5623560" y="4860036"/>
            <a:ext cx="365760" cy="365760"/>
          </a:xfrm>
          <a:prstGeom prst="rect">
            <a:avLst/>
          </a:prstGeom>
        </p:spPr>
      </p:pic>
      <p:sp>
        <p:nvSpPr>
          <p:cNvPr id="17" name="Option D"/>
          <p:cNvSpPr/>
          <p:nvPr/>
        </p:nvSpPr>
        <p:spPr>
          <a:xfrm>
            <a:off x="548640" y="5486400"/>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326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86400"/>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[C, B, A]</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The second </a:t>
            </a:r>
            <a:r>
              <a:rPr lang="en-US" sz="1800" dirty="0">
                <a:solidFill>
                  <a:schemeClr val="accent2"/>
                </a:solidFill>
                <a:latin typeface="Consolas" pitchFamily="34" charset="0"/>
                <a:ea typeface="Consolas" pitchFamily="34" charset="-122"/>
                <a:cs typeface="Consolas" pitchFamily="34" charset="-120"/>
              </a:rPr>
              <a:t>add("A")</a:t>
            </a:r>
            <a:r>
              <a:rPr lang="en-US" sz="1800" dirty="0">
                <a:solidFill>
                  <a:schemeClr val="tx1"/>
                </a:solidFill>
              </a:rPr>
              <a:t> is a duplicate, so the set holds 3 items. A LinkedHashSet gives them back in the order they were first added: C, then A, then B.</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TreeSet: kept in sorted order</a:t>
            </a:r>
            <a:endParaRPr lang="en-US" sz="3400" dirty="0"/>
          </a:p>
        </p:txBody>
      </p:sp>
      <p:sp>
        <p:nvSpPr>
          <p:cNvPr id="5" name="TreeSet card"/>
          <p:cNvSpPr/>
          <p:nvPr/>
        </p:nvSpPr>
        <p:spPr>
          <a:xfrm>
            <a:off x="548640" y="1691640"/>
            <a:ext cx="6035040" cy="3473958"/>
          </a:xfrm>
          <a:prstGeom prst="roundRect">
            <a:avLst>
              <a:gd name="adj" fmla="val 3159"/>
            </a:avLst>
          </a:prstGeom>
          <a:solidFill>
            <a:schemeClr val="tx1"/>
          </a:solidFill>
          <a:ln/>
          <a:effectLst>
            <a:outerShdw sx="100000" sy="100000" kx="0" ky="0" algn="bl" rotWithShape="0" blurRad="114300" dist="31750" dir="5400000">
              <a:srgbClr val="1D2433">
                <a:alpha val="12000"/>
              </a:srgbClr>
            </a:outerShdw>
          </a:effectLst>
        </p:spPr>
      </p:sp>
      <p:sp>
        <p:nvSpPr>
          <p:cNvPr id="6" name="TreeSet label"/>
          <p:cNvSpPr txBox="1"/>
          <p:nvPr/>
        </p:nvSpPr>
        <p:spPr>
          <a:xfrm>
            <a:off x="822960" y="1810512"/>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TreeSet text"/>
          <p:cNvSpPr txBox="1"/>
          <p:nvPr/>
        </p:nvSpPr>
        <p:spPr>
          <a:xfrm>
            <a:off x="822960" y="2185416"/>
            <a:ext cx="5486400" cy="277901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Set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 treeSet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6CC4E8"/>
                </a:solidFill>
                <a:latin typeface="Consolas" pitchFamily="34" charset="0"/>
                <a:ea typeface="Consolas" pitchFamily="34" charset="-122"/>
                <a:cs typeface="Consolas" pitchFamily="34" charset="-120"/>
              </a:rPr>
              <a:t>TreeSet</a:t>
            </a:r>
            <a:r>
              <a:rPr lang="en-US" sz="1250" dirty="0">
                <a:solidFill>
                  <a:srgbClr val="E6EBF2"/>
                </a:solidFill>
                <a:latin typeface="Consolas" pitchFamily="34" charset="0"/>
                <a:ea typeface="Consolas" pitchFamily="34" charset="-122"/>
                <a:cs typeface="Consolas" pitchFamily="34" charset="-120"/>
              </a:rPr>
              <a:t>&lt;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&gt;();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"D"</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   </a:t>
            </a:r>
            <a:r>
              <a:rPr lang="en-US" sz="1250" i="1" dirty="0">
                <a:solidFill>
                  <a:srgbClr val="A3AEC2"/>
                </a:solidFill>
                <a:latin typeface="Consolas" pitchFamily="34" charset="0"/>
                <a:ea typeface="Consolas" pitchFamily="34" charset="-122"/>
                <a:cs typeface="Consolas" pitchFamily="34" charset="-120"/>
              </a:rPr>
              <a:t>// not added: A is already there</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"B"</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treeSet.</a:t>
            </a:r>
            <a:r>
              <a:rPr lang="en-US" sz="1250" dirty="0">
                <a:solidFill>
                  <a:srgbClr val="C9B0FF"/>
                </a:solidFill>
                <a:latin typeface="Consolas" pitchFamily="34" charset="0"/>
                <a:ea typeface="Consolas" pitchFamily="34" charset="-122"/>
                <a:cs typeface="Consolas" pitchFamily="34" charset="-120"/>
              </a:rPr>
              <a:t>add</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"C"</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"Size = " </a:t>
            </a:r>
            <a:r>
              <a:rPr lang="en-US" sz="1250" dirty="0">
                <a:solidFill>
                  <a:srgbClr val="E6EBF2"/>
                </a:solidFill>
                <a:latin typeface="Consolas" pitchFamily="34" charset="0"/>
                <a:ea typeface="Consolas" pitchFamily="34" charset="-122"/>
                <a:cs typeface="Consolas" pitchFamily="34" charset="-120"/>
              </a:rPr>
              <a:t>+ treeSet.</a:t>
            </a:r>
            <a:r>
              <a:rPr lang="en-US" sz="1250" dirty="0">
                <a:solidFill>
                  <a:srgbClr val="C9B0FF"/>
                </a:solidFill>
                <a:latin typeface="Consolas" pitchFamily="34" charset="0"/>
                <a:ea typeface="Consolas" pitchFamily="34" charset="-122"/>
                <a:cs typeface="Consolas" pitchFamily="34" charset="-120"/>
              </a:rPr>
              <a:t>size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"Set: " </a:t>
            </a:r>
            <a:r>
              <a:rPr lang="en-US" sz="1250" dirty="0">
                <a:solidFill>
                  <a:srgbClr val="E6EBF2"/>
                </a:solidFill>
                <a:latin typeface="Consolas" pitchFamily="34" charset="0"/>
                <a:ea typeface="Consolas" pitchFamily="34" charset="-122"/>
                <a:cs typeface="Consolas" pitchFamily="34" charset="-120"/>
              </a:rPr>
              <a:t>+ treeSet);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"Remove D: " </a:t>
            </a:r>
            <a:r>
              <a:rPr lang="en-US" sz="1250" dirty="0">
                <a:solidFill>
                  <a:srgbClr val="E6EBF2"/>
                </a:solidFill>
                <a:latin typeface="Consolas" pitchFamily="34" charset="0"/>
                <a:ea typeface="Consolas" pitchFamily="34" charset="-122"/>
                <a:cs typeface="Consolas" pitchFamily="34" charset="-120"/>
              </a:rPr>
              <a:t>+ treeSet.</a:t>
            </a:r>
            <a:r>
              <a:rPr lang="en-US" sz="1250" dirty="0">
                <a:solidFill>
                  <a:srgbClr val="C9B0FF"/>
                </a:solidFill>
                <a:latin typeface="Consolas" pitchFamily="34" charset="0"/>
                <a:ea typeface="Consolas" pitchFamily="34" charset="-122"/>
                <a:cs typeface="Consolas" pitchFamily="34" charset="-120"/>
              </a:rPr>
              <a:t>remove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"D"</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"Remove Z: " </a:t>
            </a:r>
            <a:r>
              <a:rPr lang="en-US" sz="1250" dirty="0">
                <a:solidFill>
                  <a:srgbClr val="E6EBF2"/>
                </a:solidFill>
                <a:latin typeface="Consolas" pitchFamily="34" charset="0"/>
                <a:ea typeface="Consolas" pitchFamily="34" charset="-122"/>
                <a:cs typeface="Consolas" pitchFamily="34" charset="-120"/>
              </a:rPr>
              <a:t>+ treeSet.</a:t>
            </a:r>
            <a:r>
              <a:rPr lang="en-US" sz="1250" dirty="0">
                <a:solidFill>
                  <a:srgbClr val="C9B0FF"/>
                </a:solidFill>
                <a:latin typeface="Consolas" pitchFamily="34" charset="0"/>
                <a:ea typeface="Consolas" pitchFamily="34" charset="-122"/>
                <a:cs typeface="Consolas" pitchFamily="34" charset="-120"/>
              </a:rPr>
              <a:t>remove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"Z"</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"Has A: " </a:t>
            </a:r>
            <a:r>
              <a:rPr lang="en-US" sz="1250" dirty="0">
                <a:solidFill>
                  <a:srgbClr val="E6EBF2"/>
                </a:solidFill>
                <a:latin typeface="Consolas" pitchFamily="34" charset="0"/>
                <a:ea typeface="Consolas" pitchFamily="34" charset="-122"/>
                <a:cs typeface="Consolas" pitchFamily="34" charset="-120"/>
              </a:rPr>
              <a:t>+ treeSet.</a:t>
            </a:r>
            <a:r>
              <a:rPr lang="en-US" sz="1250" dirty="0">
                <a:solidFill>
                  <a:srgbClr val="C9B0FF"/>
                </a:solidFill>
                <a:latin typeface="Consolas" pitchFamily="34" charset="0"/>
                <a:ea typeface="Consolas" pitchFamily="34" charset="-122"/>
                <a:cs typeface="Consolas" pitchFamily="34" charset="-120"/>
              </a:rPr>
              <a:t>contains</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"A"</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"Now: " </a:t>
            </a:r>
            <a:r>
              <a:rPr lang="en-US" sz="1250" dirty="0">
                <a:solidFill>
                  <a:srgbClr val="E6EBF2"/>
                </a:solidFill>
                <a:latin typeface="Consolas" pitchFamily="34" charset="0"/>
                <a:ea typeface="Consolas" pitchFamily="34" charset="-122"/>
                <a:cs typeface="Consolas" pitchFamily="34" charset="-120"/>
              </a:rPr>
              <a:t>+ treeSet);</a:t>
            </a:r>
            <a:endParaRPr lang="en-US" sz="1250" dirty="0"/>
          </a:p>
        </p:txBody>
      </p:sp>
      <p:sp>
        <p:nvSpPr>
          <p:cNvPr id="8" name="Output card"/>
          <p:cNvSpPr/>
          <p:nvPr/>
        </p:nvSpPr>
        <p:spPr>
          <a:xfrm>
            <a:off x="6858000" y="1691640"/>
            <a:ext cx="4785055" cy="2138553"/>
          </a:xfrm>
          <a:prstGeom prst="roundRect">
            <a:avLst>
              <a:gd name="adj" fmla="val 5131"/>
            </a:avLst>
          </a:prstGeom>
          <a:solidFill>
            <a:schemeClr val="tx1"/>
          </a:solidFill>
          <a:ln/>
          <a:effectLst>
            <a:outerShdw sx="100000" sy="100000" kx="0" ky="0" algn="bl" rotWithShape="0" blurRad="114300" dist="31750" dir="5400000">
              <a:srgbClr val="1D2433">
                <a:alpha val="12000"/>
              </a:srgbClr>
            </a:outerShdw>
          </a:effectLst>
        </p:spPr>
      </p:sp>
      <p:sp>
        <p:nvSpPr>
          <p:cNvPr id="9" name="Output label"/>
          <p:cNvSpPr txBox="1"/>
          <p:nvPr/>
        </p:nvSpPr>
        <p:spPr>
          <a:xfrm>
            <a:off x="7132320" y="1810512"/>
            <a:ext cx="423641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0" name="Output text"/>
          <p:cNvSpPr txBox="1"/>
          <p:nvPr/>
        </p:nvSpPr>
        <p:spPr>
          <a:xfrm>
            <a:off x="7132320" y="2185416"/>
            <a:ext cx="4236415" cy="1443609"/>
          </a:xfrm>
          <a:prstGeom prst="rect">
            <a:avLst/>
          </a:prstGeom>
          <a:noFill/>
          <a:ln/>
        </p:spPr>
        <p:txBody>
          <a:bodyPr wrap="square" lIns="0" tIns="0" rIns="0" bIns="0" rtlCol="0" anchor="t"/>
          <a:lstStyle/>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Size = 5</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Set: [A, B, C, D, 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Remove D: true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Remove Z: false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Has A: true</a:t>
            </a:r>
            <a:endParaRPr lang="en-US" sz="1350" dirty="0"/>
          </a:p>
          <a:p>
            <a:pPr indent="0" marL="0">
              <a:lnSpc>
                <a:spcPts val="1820"/>
              </a:lnSpc>
              <a:buNone/>
            </a:pPr>
            <a:r>
              <a:rPr lang="en-US" sz="1350" dirty="0">
                <a:solidFill>
                  <a:srgbClr val="A9DB8C"/>
                </a:solidFill>
                <a:latin typeface="Consolas" pitchFamily="34" charset="0"/>
                <a:ea typeface="Consolas" pitchFamily="34" charset="-122"/>
                <a:cs typeface="Consolas" pitchFamily="34" charset="-120"/>
              </a:rPr>
              <a:t>Now: [A, B, C, E]</a:t>
            </a:r>
            <a:endParaRPr lang="en-US" sz="1350" dirty="0"/>
          </a:p>
        </p:txBody>
      </p:sp>
      <p:sp>
        <p:nvSpPr>
          <p:cNvPr id="11" name="Text 8"/>
          <p:cNvSpPr txBox="1"/>
          <p:nvPr/>
        </p:nvSpPr>
        <p:spPr>
          <a:xfrm>
            <a:off x="6858000" y="4150233"/>
            <a:ext cx="4785055" cy="1976247"/>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No duplicates, and the items stay in ascending order.</a:t>
            </a:r>
            <a:endParaRPr lang="en-US" sz="1600" dirty="0"/>
          </a:p>
          <a:p>
            <a:pPr marL="228600" indent="-228600">
              <a:spcAft>
                <a:spcPts val="800"/>
              </a:spcAft>
              <a:buSzPct val="100000"/>
              <a:buChar char="•"/>
            </a:pPr>
            <a:r>
              <a:rPr lang="en-US" sz="1600" dirty="0">
                <a:solidFill>
                  <a:schemeClr val="tx1"/>
                </a:solidFill>
              </a:rPr>
              <a:t>It compares items with </a:t>
            </a:r>
            <a:r>
              <a:rPr lang="en-US" sz="1600" dirty="0">
                <a:solidFill>
                  <a:schemeClr val="accent2"/>
                </a:solidFill>
                <a:latin typeface="Consolas" pitchFamily="34" charset="0"/>
                <a:ea typeface="Consolas" pitchFamily="34" charset="-122"/>
                <a:cs typeface="Consolas" pitchFamily="34" charset="-120"/>
              </a:rPr>
              <a:t>compareTo</a:t>
            </a:r>
            <a:r>
              <a:rPr lang="en-US" sz="1600" dirty="0">
                <a:solidFill>
                  <a:schemeClr val="tx1"/>
                </a:solidFill>
              </a:rPr>
              <a:t>, or with a </a:t>
            </a:r>
            <a:r>
              <a:rPr lang="en-US" sz="1600" dirty="0">
                <a:solidFill>
                  <a:schemeClr val="accent2"/>
                </a:solidFill>
                <a:latin typeface="Consolas" pitchFamily="34" charset="0"/>
                <a:ea typeface="Consolas" pitchFamily="34" charset="-122"/>
                <a:cs typeface="Consolas" pitchFamily="34" charset="-120"/>
              </a:rPr>
              <a:t>Comparator</a:t>
            </a:r>
            <a:r>
              <a:rPr lang="en-US" sz="1600" dirty="0">
                <a:solidFill>
                  <a:schemeClr val="tx1"/>
                </a:solidFill>
              </a:rPr>
              <a:t> we give it.</a:t>
            </a:r>
            <a:endParaRPr lang="en-US" sz="1600" dirty="0"/>
          </a:p>
          <a:p>
            <a:pPr marL="228600" indent="-228600">
              <a:buSzPct val="100000"/>
              <a:buChar char="•"/>
            </a:pPr>
            <a:r>
              <a:rPr lang="en-US" sz="1600" dirty="0">
                <a:solidFill>
                  <a:schemeClr val="tx1"/>
                </a:solidFill>
              </a:rPr>
              <a:t>No </a:t>
            </a:r>
            <a:r>
              <a:rPr lang="en-US" sz="1600" dirty="0">
                <a:solidFill>
                  <a:schemeClr val="accent2"/>
                </a:solidFill>
                <a:latin typeface="Consolas" pitchFamily="34" charset="0"/>
                <a:ea typeface="Consolas" pitchFamily="34" charset="-122"/>
                <a:cs typeface="Consolas" pitchFamily="34" charset="-120"/>
              </a:rPr>
              <a:t>null</a:t>
            </a:r>
            <a:r>
              <a:rPr lang="en-US" sz="1600" dirty="0">
                <a:solidFill>
                  <a:schemeClr val="tx1"/>
                </a:solidFill>
              </a:rPr>
              <a:t>: it can’t be compared with other items.</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14</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TreeSet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same four </a:t>
            </a:r>
            <a:r>
              <a:rPr lang="en-US" sz="2800" b="1" dirty="0">
                <a:solidFill>
                  <a:schemeClr val="accent2"/>
                </a:solidFill>
                <a:latin typeface="Consolas" pitchFamily="34" charset="0"/>
                <a:ea typeface="Consolas" pitchFamily="34" charset="-122"/>
                <a:cs typeface="Consolas" pitchFamily="34" charset="-120"/>
              </a:rPr>
              <a:t>add</a:t>
            </a:r>
            <a:r>
              <a:rPr lang="en-US" sz="2800" b="1" dirty="0">
                <a:solidFill>
                  <a:schemeClr val="tx1"/>
                </a:solidFill>
              </a:rPr>
              <a:t> calls, but into a </a:t>
            </a:r>
            <a:r>
              <a:rPr lang="en-US" sz="2800" b="1" dirty="0">
                <a:solidFill>
                  <a:schemeClr val="accent2"/>
                </a:solidFill>
                <a:latin typeface="Consolas" pitchFamily="34" charset="0"/>
                <a:ea typeface="Consolas" pitchFamily="34" charset="-122"/>
                <a:cs typeface="Consolas" pitchFamily="34" charset="-120"/>
              </a:rPr>
              <a:t>TreeSet</a:t>
            </a:r>
            <a:r>
              <a:rPr lang="en-US" sz="2800" b="1" dirty="0">
                <a:solidFill>
                  <a:schemeClr val="tx1"/>
                </a:solidFill>
              </a:rPr>
              <a:t>. What does it print?</a:t>
            </a:r>
            <a:endParaRPr lang="en-US" sz="2800" dirty="0"/>
          </a:p>
        </p:txBody>
      </p:sp>
      <p:sp>
        <p:nvSpPr>
          <p:cNvPr id="5" name="Question code card"/>
          <p:cNvSpPr/>
          <p:nvPr/>
        </p:nvSpPr>
        <p:spPr>
          <a:xfrm>
            <a:off x="548640" y="2697480"/>
            <a:ext cx="6035040" cy="2560320"/>
          </a:xfrm>
          <a:prstGeom prst="roundRect">
            <a:avLst>
              <a:gd name="adj" fmla="val 4286"/>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816352"/>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191256"/>
            <a:ext cx="5486400" cy="1865376"/>
          </a:xfrm>
          <a:prstGeom prst="rect">
            <a:avLst/>
          </a:prstGeom>
          <a:noFill/>
          <a:ln/>
        </p:spPr>
        <p:txBody>
          <a:bodyPr wrap="square" lIns="0" tIns="0" rIns="0" bIns="0" rtlCol="0" anchor="t"/>
          <a:lstStyle/>
          <a:p>
            <a:pPr indent="0" marL="0">
              <a:lnSpc>
                <a:spcPts val="2380"/>
              </a:lnSpc>
              <a:buNone/>
            </a:pPr>
            <a:r>
              <a:rPr lang="en-US" sz="1800" dirty="0">
                <a:solidFill>
                  <a:srgbClr val="6CC4E8"/>
                </a:solidFill>
                <a:latin typeface="Consolas" pitchFamily="34" charset="0"/>
                <a:ea typeface="Consolas" pitchFamily="34" charset="-122"/>
                <a:cs typeface="Consolas" pitchFamily="34" charset="-120"/>
              </a:rPr>
              <a:t>Set</a:t>
            </a:r>
            <a:r>
              <a:rPr lang="en-US" sz="1800" dirty="0">
                <a:solidFill>
                  <a:srgbClr val="E6EBF2"/>
                </a:solidFill>
                <a:latin typeface="Consolas" pitchFamily="34" charset="0"/>
                <a:ea typeface="Consolas" pitchFamily="34" charset="-122"/>
                <a:cs typeface="Consolas" pitchFamily="34" charset="-120"/>
              </a:rPr>
              <a:t>&lt;</a:t>
            </a:r>
            <a:r>
              <a:rPr lang="en-US" sz="1800" dirty="0">
                <a:solidFill>
                  <a:srgbClr val="6CC4E8"/>
                </a:solidFill>
                <a:latin typeface="Consolas" pitchFamily="34" charset="0"/>
                <a:ea typeface="Consolas" pitchFamily="34" charset="-122"/>
                <a:cs typeface="Consolas" pitchFamily="34" charset="-120"/>
              </a:rPr>
              <a:t>String</a:t>
            </a:r>
            <a:r>
              <a:rPr lang="en-US" sz="1800" dirty="0">
                <a:solidFill>
                  <a:srgbClr val="E6EBF2"/>
                </a:solidFill>
                <a:latin typeface="Consolas" pitchFamily="34" charset="0"/>
                <a:ea typeface="Consolas" pitchFamily="34" charset="-122"/>
                <a:cs typeface="Consolas" pitchFamily="34" charset="-120"/>
              </a:rPr>
              <a:t>&gt; s = </a:t>
            </a:r>
            <a:r>
              <a:rPr lang="en-US" sz="1800" dirty="0">
                <a:solidFill>
                  <a:srgbClr val="FF9F5A"/>
                </a:solidFill>
                <a:latin typeface="Consolas" pitchFamily="34" charset="0"/>
                <a:ea typeface="Consolas" pitchFamily="34" charset="-122"/>
                <a:cs typeface="Consolas" pitchFamily="34" charset="-120"/>
              </a:rPr>
              <a:t>new </a:t>
            </a:r>
            <a:r>
              <a:rPr lang="en-US" sz="1800" dirty="0">
                <a:solidFill>
                  <a:srgbClr val="6CC4E8"/>
                </a:solidFill>
                <a:latin typeface="Consolas" pitchFamily="34" charset="0"/>
                <a:ea typeface="Consolas" pitchFamily="34" charset="-122"/>
                <a:cs typeface="Consolas" pitchFamily="34" charset="-120"/>
              </a:rPr>
              <a:t>TreeSet</a:t>
            </a:r>
            <a:r>
              <a:rPr lang="en-US" sz="1800" dirty="0">
                <a:solidFill>
                  <a:srgbClr val="E6EBF2"/>
                </a:solidFill>
                <a:latin typeface="Consolas" pitchFamily="34" charset="0"/>
                <a:ea typeface="Consolas" pitchFamily="34" charset="-122"/>
                <a:cs typeface="Consolas" pitchFamily="34" charset="-120"/>
              </a:rPr>
              <a:t>&lt;</a:t>
            </a:r>
            <a:r>
              <a:rPr lang="en-US" sz="1800" dirty="0">
                <a:solidFill>
                  <a:srgbClr val="6CC4E8"/>
                </a:solidFill>
                <a:latin typeface="Consolas" pitchFamily="34" charset="0"/>
                <a:ea typeface="Consolas" pitchFamily="34" charset="-122"/>
                <a:cs typeface="Consolas" pitchFamily="34" charset="-120"/>
              </a:rPr>
              <a:t>String</a:t>
            </a:r>
            <a:r>
              <a:rPr lang="en-US" sz="1800" dirty="0">
                <a:solidFill>
                  <a:srgbClr val="E6EBF2"/>
                </a:solidFill>
                <a:latin typeface="Consolas" pitchFamily="34" charset="0"/>
                <a:ea typeface="Consolas" pitchFamily="34" charset="-122"/>
                <a:cs typeface="Consolas" pitchFamily="34" charset="-120"/>
              </a:rPr>
              <a:t>&gt;();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s.</a:t>
            </a:r>
            <a:r>
              <a:rPr lang="en-US" sz="1800" dirty="0">
                <a:solidFill>
                  <a:srgbClr val="C9B0FF"/>
                </a:solidFill>
                <a:latin typeface="Consolas" pitchFamily="34" charset="0"/>
                <a:ea typeface="Consolas" pitchFamily="34" charset="-122"/>
                <a:cs typeface="Consolas" pitchFamily="34" charset="-120"/>
              </a:rPr>
              <a:t>add</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"C"</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s.</a:t>
            </a:r>
            <a:r>
              <a:rPr lang="en-US" sz="1800" dirty="0">
                <a:solidFill>
                  <a:srgbClr val="C9B0FF"/>
                </a:solidFill>
                <a:latin typeface="Consolas" pitchFamily="34" charset="0"/>
                <a:ea typeface="Consolas" pitchFamily="34" charset="-122"/>
                <a:cs typeface="Consolas" pitchFamily="34" charset="-120"/>
              </a:rPr>
              <a:t>add</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"A"</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s.</a:t>
            </a:r>
            <a:r>
              <a:rPr lang="en-US" sz="1800" dirty="0">
                <a:solidFill>
                  <a:srgbClr val="C9B0FF"/>
                </a:solidFill>
                <a:latin typeface="Consolas" pitchFamily="34" charset="0"/>
                <a:ea typeface="Consolas" pitchFamily="34" charset="-122"/>
                <a:cs typeface="Consolas" pitchFamily="34" charset="-120"/>
              </a:rPr>
              <a:t>add</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"B"</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s.</a:t>
            </a:r>
            <a:r>
              <a:rPr lang="en-US" sz="1800" dirty="0">
                <a:solidFill>
                  <a:srgbClr val="C9B0FF"/>
                </a:solidFill>
                <a:latin typeface="Consolas" pitchFamily="34" charset="0"/>
                <a:ea typeface="Consolas" pitchFamily="34" charset="-122"/>
                <a:cs typeface="Consolas" pitchFamily="34" charset="-120"/>
              </a:rPr>
              <a:t>add</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"A"</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(s.</a:t>
            </a:r>
            <a:r>
              <a:rPr lang="en-US" sz="1800" dirty="0">
                <a:solidFill>
                  <a:srgbClr val="C9B0FF"/>
                </a:solidFill>
                <a:latin typeface="Consolas" pitchFamily="34" charset="0"/>
                <a:ea typeface="Consolas" pitchFamily="34" charset="-122"/>
                <a:cs typeface="Consolas" pitchFamily="34" charset="-120"/>
              </a:rPr>
              <a:t>size</a:t>
            </a:r>
            <a:r>
              <a:rPr lang="en-US" sz="1800" dirty="0">
                <a:solidFill>
                  <a:srgbClr val="E6EBF2"/>
                </a:solidFill>
                <a:latin typeface="Consolas" pitchFamily="34" charset="0"/>
                <a:ea typeface="Consolas" pitchFamily="34" charset="-122"/>
                <a:cs typeface="Consolas" pitchFamily="34" charset="-120"/>
              </a:rPr>
              <a:t>() + </a:t>
            </a:r>
            <a:r>
              <a:rPr lang="en-US" sz="1800" dirty="0">
                <a:solidFill>
                  <a:srgbClr val="A9DB8C"/>
                </a:solidFill>
                <a:latin typeface="Consolas" pitchFamily="34" charset="0"/>
                <a:ea typeface="Consolas" pitchFamily="34" charset="-122"/>
                <a:cs typeface="Consolas" pitchFamily="34" charset="-120"/>
              </a:rPr>
              <a:t>" " </a:t>
            </a:r>
            <a:r>
              <a:rPr lang="en-US" sz="1800" dirty="0">
                <a:solidFill>
                  <a:srgbClr val="E6EBF2"/>
                </a:solidFill>
                <a:latin typeface="Consolas" pitchFamily="34" charset="0"/>
                <a:ea typeface="Consolas" pitchFamily="34" charset="-122"/>
                <a:cs typeface="Consolas" pitchFamily="34" charset="-120"/>
              </a:rPr>
              <a:t>+ s);</a:t>
            </a:r>
            <a:endParaRPr lang="en-US"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[C, A, B]</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4 [A, A, B, C]</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[C, B, A]</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3 [A, B, C]</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14</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TreeSet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same four </a:t>
            </a:r>
            <a:r>
              <a:rPr lang="en-US" sz="2000" b="1" dirty="0">
                <a:solidFill>
                  <a:schemeClr val="tx2"/>
                </a:solidFill>
                <a:latin typeface="Consolas" pitchFamily="34" charset="0"/>
                <a:ea typeface="Consolas" pitchFamily="34" charset="-122"/>
                <a:cs typeface="Consolas" pitchFamily="34" charset="-120"/>
              </a:rPr>
              <a:t>add</a:t>
            </a:r>
            <a:r>
              <a:rPr lang="en-US" sz="2000" b="1" dirty="0">
                <a:solidFill>
                  <a:schemeClr val="tx2"/>
                </a:solidFill>
              </a:rPr>
              <a:t> calls, but into a </a:t>
            </a:r>
            <a:r>
              <a:rPr lang="en-US" sz="2000" b="1" dirty="0">
                <a:solidFill>
                  <a:schemeClr val="tx2"/>
                </a:solidFill>
                <a:latin typeface="Consolas" pitchFamily="34" charset="0"/>
                <a:ea typeface="Consolas" pitchFamily="34" charset="-122"/>
                <a:cs typeface="Consolas" pitchFamily="34" charset="-120"/>
              </a:rPr>
              <a:t>TreeSet</a:t>
            </a:r>
            <a:r>
              <a:rPr lang="en-US" sz="2000" b="1" dirty="0">
                <a:solidFill>
                  <a:schemeClr val="tx2"/>
                </a:solidFill>
              </a:rPr>
              <a:t>. What does it print?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[C, A, B]</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4 [A, A, B, C]</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 [C, B, A]</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3 [A, B, C]</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The repeated A isn’t added, so there are 3 items, and a TreeSet keeps them sorted whatever order they arrived in. So it prints </a:t>
            </a:r>
            <a:r>
              <a:rPr lang="en-US" sz="1800" dirty="0">
                <a:solidFill>
                  <a:schemeClr val="accent2"/>
                </a:solidFill>
                <a:latin typeface="Consolas" pitchFamily="34" charset="0"/>
                <a:ea typeface="Consolas" pitchFamily="34" charset="-122"/>
                <a:cs typeface="Consolas" pitchFamily="34" charset="-120"/>
              </a:rPr>
              <a:t>3 [A, B, C]</a:t>
            </a:r>
            <a:r>
              <a:rPr lang="en-US" sz="1800" dirty="0">
                <a:solidFill>
                  <a:schemeClr val="tx1"/>
                </a:solidFill>
              </a:rPr>
              <a:t>, where the LinkedHashSet in the last quick check gave </a:t>
            </a:r>
            <a:r>
              <a:rPr lang="en-US" sz="1800" dirty="0">
                <a:solidFill>
                  <a:schemeClr val="accent2"/>
                </a:solidFill>
                <a:latin typeface="Consolas" pitchFamily="34" charset="0"/>
                <a:ea typeface="Consolas" pitchFamily="34" charset="-122"/>
                <a:cs typeface="Consolas" pitchFamily="34" charset="-120"/>
              </a:rPr>
              <a:t>[C, A, B]</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15</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TreeSet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happens when we call </a:t>
            </a:r>
            <a:r>
              <a:rPr lang="en-US" sz="2800" b="1" dirty="0">
                <a:solidFill>
                  <a:schemeClr val="accent2"/>
                </a:solidFill>
                <a:latin typeface="Consolas" pitchFamily="34" charset="0"/>
                <a:ea typeface="Consolas" pitchFamily="34" charset="-122"/>
                <a:cs typeface="Consolas" pitchFamily="34" charset="-120"/>
              </a:rPr>
              <a:t>add(null)</a:t>
            </a:r>
            <a:r>
              <a:rPr lang="en-US" sz="2800" b="1" dirty="0">
                <a:solidFill>
                  <a:schemeClr val="tx1"/>
                </a:solidFill>
              </a:rPr>
              <a:t> on a </a:t>
            </a:r>
            <a:r>
              <a:rPr lang="en-US" sz="2800" b="1" dirty="0">
                <a:solidFill>
                  <a:schemeClr val="accent2"/>
                </a:solidFill>
                <a:latin typeface="Consolas" pitchFamily="34" charset="0"/>
                <a:ea typeface="Consolas" pitchFamily="34" charset="-122"/>
                <a:cs typeface="Consolas" pitchFamily="34" charset="-120"/>
              </a:rPr>
              <a:t>TreeSet&lt;String&gt;</a:t>
            </a:r>
            <a:r>
              <a:rPr lang="en-US" sz="2800" b="1" dirty="0">
                <a:solidFill>
                  <a:schemeClr val="tx1"/>
                </a:solidFill>
              </a:rPr>
              <a:t>?</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null</a:t>
            </a:r>
            <a:r>
              <a:rPr lang="en-US" sz="2000" dirty="0">
                <a:solidFill>
                  <a:schemeClr val="tx1"/>
                </a:solidFill>
              </a:rPr>
              <a:t> is added at the start</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throws a </a:t>
            </a:r>
            <a:r>
              <a:rPr lang="en-US" sz="2000" dirty="0">
                <a:solidFill>
                  <a:schemeClr val="accent2"/>
                </a:solidFill>
                <a:latin typeface="Consolas" pitchFamily="34" charset="0"/>
                <a:ea typeface="Consolas" pitchFamily="34" charset="-122"/>
                <a:cs typeface="Consolas" pitchFamily="34" charset="-120"/>
              </a:rPr>
              <a:t>NullPointerException</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It’s ignored, and </a:t>
            </a:r>
            <a:r>
              <a:rPr lang="en-US" sz="2000" dirty="0">
                <a:solidFill>
                  <a:schemeClr val="accent2"/>
                </a:solidFill>
                <a:latin typeface="Consolas" pitchFamily="34" charset="0"/>
                <a:ea typeface="Consolas" pitchFamily="34" charset="-122"/>
                <a:cs typeface="Consolas" pitchFamily="34" charset="-120"/>
              </a:rPr>
              <a:t>add</a:t>
            </a:r>
            <a:r>
              <a:rPr lang="en-US" sz="2000" dirty="0">
                <a:solidFill>
                  <a:schemeClr val="tx1"/>
                </a:solidFill>
              </a:rPr>
              <a:t> gives back </a:t>
            </a:r>
            <a:r>
              <a:rPr lang="en-US" sz="2000" dirty="0">
                <a:solidFill>
                  <a:schemeClr val="accent2"/>
                </a:solidFill>
                <a:latin typeface="Consolas" pitchFamily="34" charset="0"/>
                <a:ea typeface="Consolas" pitchFamily="34" charset="-122"/>
                <a:cs typeface="Consolas" pitchFamily="34" charset="-120"/>
              </a:rPr>
              <a:t>false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won’t compile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15</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TreeSet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happens when we call </a:t>
            </a:r>
            <a:r>
              <a:rPr lang="en-US" sz="2000" b="1" dirty="0">
                <a:solidFill>
                  <a:schemeClr val="tx2"/>
                </a:solidFill>
                <a:latin typeface="Consolas" pitchFamily="34" charset="0"/>
                <a:ea typeface="Consolas" pitchFamily="34" charset="-122"/>
                <a:cs typeface="Consolas" pitchFamily="34" charset="-120"/>
              </a:rPr>
              <a:t>add(null)</a:t>
            </a:r>
            <a:r>
              <a:rPr lang="en-US" sz="2000" b="1" dirty="0">
                <a:solidFill>
                  <a:schemeClr val="tx2"/>
                </a:solidFill>
              </a:rPr>
              <a:t> on a </a:t>
            </a:r>
            <a:r>
              <a:rPr lang="en-US" sz="2000" b="1" dirty="0">
                <a:solidFill>
                  <a:schemeClr val="tx2"/>
                </a:solidFill>
                <a:latin typeface="Consolas" pitchFamily="34" charset="0"/>
                <a:ea typeface="Consolas" pitchFamily="34" charset="-122"/>
                <a:cs typeface="Consolas" pitchFamily="34" charset="-120"/>
              </a:rPr>
              <a:t>TreeSet&lt;String&gt;</a:t>
            </a:r>
            <a:r>
              <a:rPr lang="en-US" sz="2000" b="1" dirty="0">
                <a:solidFill>
                  <a:schemeClr val="tx2"/>
                </a:solidFill>
              </a:rPr>
              <a: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null</a:t>
            </a:r>
            <a:r>
              <a:rPr lang="en-US" sz="1700" dirty="0">
                <a:solidFill>
                  <a:schemeClr val="tx2"/>
                </a:solidFill>
              </a:rPr>
              <a:t> is added at the start</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throws a </a:t>
            </a:r>
            <a:r>
              <a:rPr lang="en-US" sz="1700" b="1" dirty="0">
                <a:solidFill>
                  <a:schemeClr val="bg1"/>
                </a:solidFill>
                <a:latin typeface="Consolas" pitchFamily="34" charset="0"/>
                <a:ea typeface="Consolas" pitchFamily="34" charset="-122"/>
                <a:cs typeface="Consolas" pitchFamily="34" charset="-120"/>
              </a:rPr>
              <a:t>NullPointerException</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It’s ignored, and </a:t>
            </a:r>
            <a:r>
              <a:rPr lang="en-US" sz="1700" dirty="0">
                <a:solidFill>
                  <a:schemeClr val="tx2"/>
                </a:solidFill>
                <a:latin typeface="Consolas" pitchFamily="34" charset="0"/>
                <a:ea typeface="Consolas" pitchFamily="34" charset="-122"/>
                <a:cs typeface="Consolas" pitchFamily="34" charset="-120"/>
              </a:rPr>
              <a:t>add</a:t>
            </a:r>
            <a:r>
              <a:rPr lang="en-US" sz="1700" dirty="0">
                <a:solidFill>
                  <a:schemeClr val="tx2"/>
                </a:solidFill>
              </a:rPr>
              <a:t> gives back </a:t>
            </a:r>
            <a:r>
              <a:rPr lang="en-US" sz="1700" dirty="0">
                <a:solidFill>
                  <a:schemeClr val="tx2"/>
                </a:solidFill>
                <a:latin typeface="Consolas" pitchFamily="34" charset="0"/>
                <a:ea typeface="Consolas" pitchFamily="34" charset="-122"/>
                <a:cs typeface="Consolas" pitchFamily="34" charset="-120"/>
              </a:rPr>
              <a:t>false</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won’t compile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TreeSet compares each new item with the ones already there, and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can’t be compared, so </a:t>
            </a:r>
            <a:r>
              <a:rPr lang="en-US" sz="1800" dirty="0">
                <a:solidFill>
                  <a:schemeClr val="accent2"/>
                </a:solidFill>
                <a:latin typeface="Consolas" pitchFamily="34" charset="0"/>
                <a:ea typeface="Consolas" pitchFamily="34" charset="-122"/>
                <a:cs typeface="Consolas" pitchFamily="34" charset="-120"/>
              </a:rPr>
              <a:t>add(null)</a:t>
            </a:r>
            <a:r>
              <a:rPr lang="en-US" sz="1800" dirty="0">
                <a:solidFill>
                  <a:schemeClr val="tx1"/>
                </a:solidFill>
              </a:rPr>
              <a:t> throws a NullPointerException when it runs. It does compile, since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 is allowed for any object type. HashSet and LinkedHashSet accept one </a:t>
            </a:r>
            <a:r>
              <a:rPr lang="en-US" sz="1800" dirty="0">
                <a:solidFill>
                  <a:schemeClr val="accent2"/>
                </a:solidFill>
                <a:latin typeface="Consolas" pitchFamily="34" charset="0"/>
                <a:ea typeface="Consolas" pitchFamily="34" charset="-122"/>
                <a:cs typeface="Consolas" pitchFamily="34" charset="-120"/>
              </a:rPr>
              <a:t>null</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Three sets side by side</a:t>
            </a:r>
            <a:endParaRPr lang="en-US" sz="3400" dirty="0"/>
          </a:p>
        </p:txBody>
      </p:sp>
      <p:graphicFrame>
        <p:nvGraphicFramePr>
          <p:cNvPr id="51"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224735"/>
                <a:gridCol w="2956255"/>
                <a:gridCol w="2957170"/>
                <a:gridCol w="2956255"/>
              </a:tblGrid>
              <a:tr h="512064">
                <a:tc>
                  <a:txBody>
                    <a:bodyPr/>
                    <a:lstStyle/>
                    <a:p>
                      <a:pPr indent="0" marL="0">
                        <a:buNone/>
                      </a:pP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HashSet</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LinkedHashSet</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TreeSet</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566928">
                <a:tc>
                  <a:txBody>
                    <a:bodyPr/>
                    <a:lstStyle/>
                    <a:p>
                      <a:pPr indent="0" marL="0">
                        <a:buNone/>
                      </a:pPr>
                      <a:r>
                        <a:rPr lang="en-US" sz="1400" b="1" dirty="0">
                          <a:solidFill>
                            <a:srgbClr val="1D2433"/>
                          </a:solidFill>
                        </a:rPr>
                        <a:t>Order</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00" dirty="0">
                          <a:solidFill>
                            <a:srgbClr val="1D2433"/>
                          </a:solidFill>
                        </a:rPr>
                        <a:t>No promised order</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The order items were added</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Sorted, smallest first</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2433"/>
                          </a:solidFill>
                        </a:rPr>
                        <a:t>Inside</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00" dirty="0">
                          <a:solidFill>
                            <a:srgbClr val="1D2433"/>
                          </a:solidFill>
                        </a:rPr>
                        <a:t>A hash table</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A hash table and a linked list</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A tree</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D2433"/>
                          </a:solidFill>
                        </a:rPr>
                        <a:t>null</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00" dirty="0">
                          <a:solidFill>
                            <a:srgbClr val="1D2433"/>
                          </a:solidFill>
                        </a:rPr>
                        <a:t>One null allowed</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One null allowed</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rPr>
                        <a:t>Not allowed</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D2433"/>
                          </a:solidFill>
                        </a:rPr>
                        <a:t>Add pear, apple, fig and kiwi, then print</a:t>
                      </a:r>
                      <a:endParaRPr lang="en-US" sz="140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00" dirty="0">
                          <a:solidFill>
                            <a:srgbClr val="1D2433"/>
                          </a:solidFill>
                          <a:latin typeface="Consolas" pitchFamily="34" charset="0"/>
                          <a:ea typeface="Consolas" pitchFamily="34" charset="-122"/>
                          <a:cs typeface="Consolas" pitchFamily="34" charset="-120"/>
                        </a:rPr>
                        <a:t>[apple, pear, kiwi, fig]</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latin typeface="Consolas" pitchFamily="34" charset="0"/>
                          <a:ea typeface="Consolas" pitchFamily="34" charset="-122"/>
                          <a:cs typeface="Consolas" pitchFamily="34" charset="-120"/>
                        </a:rPr>
                        <a:t>[pear, apple, fig, kiwi]</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00" dirty="0">
                          <a:solidFill>
                            <a:srgbClr val="1D2433"/>
                          </a:solidFill>
                          <a:latin typeface="Consolas" pitchFamily="34" charset="0"/>
                          <a:ea typeface="Consolas" pitchFamily="34" charset="-122"/>
                          <a:cs typeface="Consolas" pitchFamily="34" charset="-120"/>
                        </a:rPr>
                        <a:t>[apple, fig, kiwi, pear]</a:t>
                      </a:r>
                      <a:endParaRPr lang="en-US" sz="140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6" name="Note"/>
          <p:cNvSpPr/>
          <p:nvPr/>
        </p:nvSpPr>
        <p:spPr>
          <a:xfrm>
            <a:off x="548640" y="5120640"/>
            <a:ext cx="11094415" cy="868680"/>
          </a:xfrm>
          <a:prstGeom prst="roundRect">
            <a:avLst>
              <a:gd name="adj" fmla="val 12632"/>
            </a:avLst>
          </a:prstGeom>
          <a:solidFill>
            <a:schemeClr val="bg2"/>
          </a:solidFill>
          <a:ln/>
        </p:spPr>
      </p:sp>
      <p:sp>
        <p:nvSpPr>
          <p:cNvPr id="7" name="Icon tile"/>
          <p:cNvSpPr/>
          <p:nvPr/>
        </p:nvSpPr>
        <p:spPr>
          <a:xfrm>
            <a:off x="822960" y="5289804"/>
            <a:ext cx="530352" cy="530352"/>
          </a:xfrm>
          <a:prstGeom prst="roundRect">
            <a:avLst>
              <a:gd name="adj" fmla="val 24000"/>
            </a:avLst>
          </a:prstGeom>
          <a:solidFill>
            <a:schemeClr val="accent2">
              <a:alpha val="14000"/>
            </a:schemeClr>
          </a:solidFill>
          <a:ln/>
        </p:spPr>
      </p:sp>
      <p:pic>
        <p:nvPicPr>
          <p:cNvPr id="8" name="Image 0" descr="signpost icon">    </p:cNvPr>
          <p:cNvPicPr>
            <a:picLocks noChangeAspect="1"/>
          </p:cNvPicPr>
          <p:nvPr/>
        </p:nvPicPr>
        <p:blipFill>
          <a:blip r:embed="rId1"/>
          <a:stretch>
            <a:fillRect/>
          </a:stretch>
        </p:blipFill>
        <p:spPr>
          <a:xfrm>
            <a:off x="934334" y="5401178"/>
            <a:ext cx="307604" cy="307604"/>
          </a:xfrm>
          <a:prstGeom prst="rect">
            <a:avLst/>
          </a:prstGeom>
        </p:spPr>
      </p:pic>
      <p:sp>
        <p:nvSpPr>
          <p:cNvPr id="9" name="Text 4"/>
          <p:cNvSpPr txBox="1"/>
          <p:nvPr/>
        </p:nvSpPr>
        <p:spPr>
          <a:xfrm>
            <a:off x="1572768" y="5120640"/>
            <a:ext cx="9814255" cy="868680"/>
          </a:xfrm>
          <a:prstGeom prst="rect">
            <a:avLst/>
          </a:prstGeom>
          <a:noFill/>
          <a:ln/>
        </p:spPr>
        <p:txBody>
          <a:bodyPr wrap="square" lIns="0" tIns="0" rIns="0" bIns="0" rtlCol="0" anchor="ctr"/>
          <a:lstStyle/>
          <a:p>
            <a:pPr algn="l" indent="0" marL="0">
              <a:buNone/>
            </a:pPr>
            <a:r>
              <a:rPr lang="en-US" sz="1600" dirty="0">
                <a:solidFill>
                  <a:schemeClr val="tx1"/>
                </a:solidFill>
              </a:rPr>
              <a:t>Pick a set by the order you need: no order, the order items were added, or sorted.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16</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set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quiz app must show each player’s name once, in the order they joined. Which set fits?</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LinkedHashSet</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HashSet</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TreeSet</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Any of them: every set keeps the order added</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16</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Choosing a set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quiz app must show each player’s name once, in the order they joined. Which set fits?</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LinkedHashSet</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HashSet</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TreeSet</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Any of them: every set keeps the order added</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LinkedHashSet keeps one copy of each name and remembers the order they were added. A HashSet makes no promise about order, and a TreeSet would sort the names alphabetically instead.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Set operations: union, intersection, difference</a:t>
            </a:r>
            <a:endParaRPr lang="en-US" sz="3400" dirty="0"/>
          </a:p>
        </p:txBody>
      </p:sp>
      <p:pic>
        <p:nvPicPr>
          <p:cNvPr id="5" name="Image 0" descr="union of two sets shown as two overlapping circles">    </p:cNvPr>
          <p:cNvPicPr>
            <a:picLocks noChangeAspect="1"/>
          </p:cNvPicPr>
          <p:nvPr/>
        </p:nvPicPr>
        <p:blipFill>
          <a:blip r:embed="rId1"/>
          <a:stretch>
            <a:fillRect/>
          </a:stretch>
        </p:blipFill>
        <p:spPr>
          <a:xfrm>
            <a:off x="685800" y="1856232"/>
            <a:ext cx="1828800" cy="1080655"/>
          </a:xfrm>
          <a:prstGeom prst="rect">
            <a:avLst/>
          </a:prstGeom>
        </p:spPr>
      </p:pic>
      <p:sp>
        <p:nvSpPr>
          <p:cNvPr id="6" name="Text 2"/>
          <p:cNvSpPr txBox="1"/>
          <p:nvPr/>
        </p:nvSpPr>
        <p:spPr>
          <a:xfrm>
            <a:off x="910244" y="2241111"/>
            <a:ext cx="548640" cy="310896"/>
          </a:xfrm>
          <a:prstGeom prst="rect">
            <a:avLst/>
          </a:prstGeom>
          <a:noFill/>
          <a:ln/>
        </p:spPr>
        <p:txBody>
          <a:bodyPr wrap="square" lIns="0" tIns="0" rIns="0" bIns="0" rtlCol="0" anchor="ctr"/>
          <a:lstStyle/>
          <a:p>
            <a:pPr algn="ctr" indent="0" marL="0">
              <a:buNone/>
            </a:pPr>
            <a:r>
              <a:rPr lang="en-US" sz="1400" b="1" dirty="0">
                <a:solidFill>
                  <a:schemeClr val="accent2"/>
                </a:solidFill>
              </a:rPr>
              <a:t>1</a:t>
            </a:r>
            <a:endParaRPr lang="en-US" sz="1400" dirty="0"/>
          </a:p>
        </p:txBody>
      </p:sp>
      <p:sp>
        <p:nvSpPr>
          <p:cNvPr id="7" name="Text 3"/>
          <p:cNvSpPr txBox="1"/>
          <p:nvPr/>
        </p:nvSpPr>
        <p:spPr>
          <a:xfrm>
            <a:off x="1325880" y="2241111"/>
            <a:ext cx="548640" cy="310896"/>
          </a:xfrm>
          <a:prstGeom prst="rect">
            <a:avLst/>
          </a:prstGeom>
          <a:noFill/>
          <a:ln/>
        </p:spPr>
        <p:txBody>
          <a:bodyPr wrap="square" lIns="0" tIns="0" rIns="0" bIns="0" rtlCol="0" anchor="ctr"/>
          <a:lstStyle/>
          <a:p>
            <a:pPr algn="ctr" indent="0" marL="0">
              <a:buNone/>
            </a:pPr>
            <a:r>
              <a:rPr lang="en-US" sz="1400" b="1" dirty="0">
                <a:solidFill>
                  <a:schemeClr val="accent2"/>
                </a:solidFill>
              </a:rPr>
              <a:t>2 3</a:t>
            </a:r>
            <a:endParaRPr lang="en-US" sz="1400" dirty="0"/>
          </a:p>
        </p:txBody>
      </p:sp>
      <p:sp>
        <p:nvSpPr>
          <p:cNvPr id="8" name="Text 4"/>
          <p:cNvSpPr txBox="1"/>
          <p:nvPr/>
        </p:nvSpPr>
        <p:spPr>
          <a:xfrm>
            <a:off x="1741516" y="2241111"/>
            <a:ext cx="548640" cy="310896"/>
          </a:xfrm>
          <a:prstGeom prst="rect">
            <a:avLst/>
          </a:prstGeom>
          <a:noFill/>
          <a:ln/>
        </p:spPr>
        <p:txBody>
          <a:bodyPr wrap="square" lIns="0" tIns="0" rIns="0" bIns="0" rtlCol="0" anchor="ctr"/>
          <a:lstStyle/>
          <a:p>
            <a:pPr algn="ctr" indent="0" marL="0">
              <a:buNone/>
            </a:pPr>
            <a:r>
              <a:rPr lang="en-US" sz="1400" b="1" dirty="0">
                <a:solidFill>
                  <a:schemeClr val="accent2"/>
                </a:solidFill>
              </a:rPr>
              <a:t>4</a:t>
            </a:r>
            <a:endParaRPr lang="en-US" sz="1400" dirty="0"/>
          </a:p>
        </p:txBody>
      </p:sp>
      <p:sp>
        <p:nvSpPr>
          <p:cNvPr id="9" name="Text 5"/>
          <p:cNvSpPr txBox="1"/>
          <p:nvPr/>
        </p:nvSpPr>
        <p:spPr>
          <a:xfrm>
            <a:off x="640080" y="18379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A</a:t>
            </a:r>
            <a:endParaRPr lang="en-US" sz="1200" dirty="0"/>
          </a:p>
        </p:txBody>
      </p:sp>
      <p:sp>
        <p:nvSpPr>
          <p:cNvPr id="10" name="Text 6"/>
          <p:cNvSpPr txBox="1"/>
          <p:nvPr/>
        </p:nvSpPr>
        <p:spPr>
          <a:xfrm>
            <a:off x="2313432" y="18379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B</a:t>
            </a:r>
            <a:endParaRPr lang="en-US" sz="1200" dirty="0"/>
          </a:p>
        </p:txBody>
      </p:sp>
      <p:sp>
        <p:nvSpPr>
          <p:cNvPr id="11" name="Text 7"/>
          <p:cNvSpPr txBox="1"/>
          <p:nvPr/>
        </p:nvSpPr>
        <p:spPr>
          <a:xfrm>
            <a:off x="2788920" y="1939359"/>
            <a:ext cx="2606040" cy="384048"/>
          </a:xfrm>
          <a:prstGeom prst="rect">
            <a:avLst/>
          </a:prstGeom>
          <a:noFill/>
          <a:ln/>
        </p:spPr>
        <p:txBody>
          <a:bodyPr wrap="square" lIns="0" tIns="0" rIns="0" bIns="0" rtlCol="0" anchor="ctr"/>
          <a:lstStyle/>
          <a:p>
            <a:pPr algn="l" indent="0" marL="0">
              <a:buNone/>
            </a:pPr>
            <a:r>
              <a:rPr lang="en-US" sz="1800" b="1" dirty="0">
                <a:solidFill>
                  <a:schemeClr val="tx1"/>
                </a:solidFill>
              </a:rPr>
              <a:t>Union, A ∪ B</a:t>
            </a:r>
            <a:endParaRPr lang="en-US" sz="1800" dirty="0"/>
          </a:p>
        </p:txBody>
      </p:sp>
      <p:sp>
        <p:nvSpPr>
          <p:cNvPr id="12" name="Text 8"/>
          <p:cNvSpPr txBox="1"/>
          <p:nvPr/>
        </p:nvSpPr>
        <p:spPr>
          <a:xfrm>
            <a:off x="2788920" y="2341695"/>
            <a:ext cx="2606040" cy="365760"/>
          </a:xfrm>
          <a:prstGeom prst="rect">
            <a:avLst/>
          </a:prstGeom>
          <a:noFill/>
          <a:ln/>
        </p:spPr>
        <p:txBody>
          <a:bodyPr wrap="square" lIns="0" tIns="0" rIns="0" bIns="0" rtlCol="0" anchor="t"/>
          <a:lstStyle/>
          <a:p>
            <a:pPr algn="l" indent="0" marL="0">
              <a:buNone/>
            </a:pPr>
            <a:r>
              <a:rPr lang="en-US" sz="1500" dirty="0">
                <a:solidFill>
                  <a:schemeClr val="tx2"/>
                </a:solidFill>
              </a:rPr>
              <a:t>Everything in A or B</a:t>
            </a:r>
            <a:endParaRPr lang="en-US" sz="1500" dirty="0"/>
          </a:p>
        </p:txBody>
      </p:sp>
      <p:pic>
        <p:nvPicPr>
          <p:cNvPr id="13" name="Image 1" descr="intersection of two sets shown as two overlapping circles">    </p:cNvPr>
          <p:cNvPicPr>
            <a:picLocks noChangeAspect="1"/>
          </p:cNvPicPr>
          <p:nvPr/>
        </p:nvPicPr>
        <p:blipFill>
          <a:blip r:embed="rId2"/>
          <a:stretch>
            <a:fillRect/>
          </a:stretch>
        </p:blipFill>
        <p:spPr>
          <a:xfrm>
            <a:off x="685800" y="3227832"/>
            <a:ext cx="1828800" cy="1080655"/>
          </a:xfrm>
          <a:prstGeom prst="rect">
            <a:avLst/>
          </a:prstGeom>
        </p:spPr>
      </p:pic>
      <p:sp>
        <p:nvSpPr>
          <p:cNvPr id="14" name="Text 9"/>
          <p:cNvSpPr txBox="1"/>
          <p:nvPr/>
        </p:nvSpPr>
        <p:spPr>
          <a:xfrm>
            <a:off x="910244" y="3612711"/>
            <a:ext cx="548640" cy="310896"/>
          </a:xfrm>
          <a:prstGeom prst="rect">
            <a:avLst/>
          </a:prstGeom>
          <a:noFill/>
          <a:ln/>
        </p:spPr>
        <p:txBody>
          <a:bodyPr wrap="square" lIns="0" tIns="0" rIns="0" bIns="0" rtlCol="0" anchor="ctr"/>
          <a:lstStyle/>
          <a:p>
            <a:pPr algn="ctr" indent="0" marL="0">
              <a:buNone/>
            </a:pPr>
            <a:r>
              <a:rPr lang="en-US" sz="1400" dirty="0">
                <a:solidFill>
                  <a:srgbClr val="9AA4B2"/>
                </a:solidFill>
              </a:rPr>
              <a:t>1</a:t>
            </a:r>
            <a:endParaRPr lang="en-US" sz="1400" dirty="0"/>
          </a:p>
        </p:txBody>
      </p:sp>
      <p:sp>
        <p:nvSpPr>
          <p:cNvPr id="15" name="Text 10"/>
          <p:cNvSpPr txBox="1"/>
          <p:nvPr/>
        </p:nvSpPr>
        <p:spPr>
          <a:xfrm>
            <a:off x="1325880" y="3612711"/>
            <a:ext cx="548640" cy="310896"/>
          </a:xfrm>
          <a:prstGeom prst="rect">
            <a:avLst/>
          </a:prstGeom>
          <a:noFill/>
          <a:ln/>
        </p:spPr>
        <p:txBody>
          <a:bodyPr wrap="square" lIns="0" tIns="0" rIns="0" bIns="0" rtlCol="0" anchor="ctr"/>
          <a:lstStyle/>
          <a:p>
            <a:pPr algn="ctr" indent="0" marL="0">
              <a:buNone/>
            </a:pPr>
            <a:r>
              <a:rPr lang="en-US" sz="1400" b="1" dirty="0">
                <a:solidFill>
                  <a:schemeClr val="accent2"/>
                </a:solidFill>
              </a:rPr>
              <a:t>2 3</a:t>
            </a:r>
            <a:endParaRPr lang="en-US" sz="1400" dirty="0"/>
          </a:p>
        </p:txBody>
      </p:sp>
      <p:sp>
        <p:nvSpPr>
          <p:cNvPr id="16" name="Text 11"/>
          <p:cNvSpPr txBox="1"/>
          <p:nvPr/>
        </p:nvSpPr>
        <p:spPr>
          <a:xfrm>
            <a:off x="1741516" y="3612711"/>
            <a:ext cx="548640" cy="310896"/>
          </a:xfrm>
          <a:prstGeom prst="rect">
            <a:avLst/>
          </a:prstGeom>
          <a:noFill/>
          <a:ln/>
        </p:spPr>
        <p:txBody>
          <a:bodyPr wrap="square" lIns="0" tIns="0" rIns="0" bIns="0" rtlCol="0" anchor="ctr"/>
          <a:lstStyle/>
          <a:p>
            <a:pPr algn="ctr" indent="0" marL="0">
              <a:buNone/>
            </a:pPr>
            <a:r>
              <a:rPr lang="en-US" sz="1400" dirty="0">
                <a:solidFill>
                  <a:srgbClr val="9AA4B2"/>
                </a:solidFill>
              </a:rPr>
              <a:t>4</a:t>
            </a:r>
            <a:endParaRPr lang="en-US" sz="1400" dirty="0"/>
          </a:p>
        </p:txBody>
      </p:sp>
      <p:sp>
        <p:nvSpPr>
          <p:cNvPr id="17" name="Text 12"/>
          <p:cNvSpPr txBox="1"/>
          <p:nvPr/>
        </p:nvSpPr>
        <p:spPr>
          <a:xfrm>
            <a:off x="640080" y="32095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A</a:t>
            </a:r>
            <a:endParaRPr lang="en-US" sz="1200" dirty="0"/>
          </a:p>
        </p:txBody>
      </p:sp>
      <p:sp>
        <p:nvSpPr>
          <p:cNvPr id="18" name="Text 13"/>
          <p:cNvSpPr txBox="1"/>
          <p:nvPr/>
        </p:nvSpPr>
        <p:spPr>
          <a:xfrm>
            <a:off x="2313432" y="32095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B</a:t>
            </a:r>
            <a:endParaRPr lang="en-US" sz="1200" dirty="0"/>
          </a:p>
        </p:txBody>
      </p:sp>
      <p:sp>
        <p:nvSpPr>
          <p:cNvPr id="19" name="Text 14"/>
          <p:cNvSpPr txBox="1"/>
          <p:nvPr/>
        </p:nvSpPr>
        <p:spPr>
          <a:xfrm>
            <a:off x="2788920" y="3310959"/>
            <a:ext cx="2606040" cy="384048"/>
          </a:xfrm>
          <a:prstGeom prst="rect">
            <a:avLst/>
          </a:prstGeom>
          <a:noFill/>
          <a:ln/>
        </p:spPr>
        <p:txBody>
          <a:bodyPr wrap="square" lIns="0" tIns="0" rIns="0" bIns="0" rtlCol="0" anchor="ctr"/>
          <a:lstStyle/>
          <a:p>
            <a:pPr algn="l" indent="0" marL="0">
              <a:buNone/>
            </a:pPr>
            <a:r>
              <a:rPr lang="en-US" sz="1800" b="1" dirty="0">
                <a:solidFill>
                  <a:schemeClr val="tx1"/>
                </a:solidFill>
              </a:rPr>
              <a:t>Intersection, A ∩ B</a:t>
            </a:r>
            <a:endParaRPr lang="en-US" sz="1800" dirty="0"/>
          </a:p>
        </p:txBody>
      </p:sp>
      <p:sp>
        <p:nvSpPr>
          <p:cNvPr id="20" name="Text 15"/>
          <p:cNvSpPr txBox="1"/>
          <p:nvPr/>
        </p:nvSpPr>
        <p:spPr>
          <a:xfrm>
            <a:off x="2788920" y="3713295"/>
            <a:ext cx="2606040" cy="365760"/>
          </a:xfrm>
          <a:prstGeom prst="rect">
            <a:avLst/>
          </a:prstGeom>
          <a:noFill/>
          <a:ln/>
        </p:spPr>
        <p:txBody>
          <a:bodyPr wrap="square" lIns="0" tIns="0" rIns="0" bIns="0" rtlCol="0" anchor="t"/>
          <a:lstStyle/>
          <a:p>
            <a:pPr algn="l" indent="0" marL="0">
              <a:buNone/>
            </a:pPr>
            <a:r>
              <a:rPr lang="en-US" sz="1500" dirty="0">
                <a:solidFill>
                  <a:schemeClr val="tx2"/>
                </a:solidFill>
              </a:rPr>
              <a:t>Only what’s in both</a:t>
            </a:r>
            <a:endParaRPr lang="en-US" sz="1500" dirty="0"/>
          </a:p>
        </p:txBody>
      </p:sp>
      <p:pic>
        <p:nvPicPr>
          <p:cNvPr id="21" name="Image 2" descr="difference of two sets shown as two overlapping circles">    </p:cNvPr>
          <p:cNvPicPr>
            <a:picLocks noChangeAspect="1"/>
          </p:cNvPicPr>
          <p:nvPr/>
        </p:nvPicPr>
        <p:blipFill>
          <a:blip r:embed="rId3"/>
          <a:stretch>
            <a:fillRect/>
          </a:stretch>
        </p:blipFill>
        <p:spPr>
          <a:xfrm>
            <a:off x="685800" y="4599432"/>
            <a:ext cx="1828800" cy="1080655"/>
          </a:xfrm>
          <a:prstGeom prst="rect">
            <a:avLst/>
          </a:prstGeom>
        </p:spPr>
      </p:pic>
      <p:sp>
        <p:nvSpPr>
          <p:cNvPr id="22" name="Text 16"/>
          <p:cNvSpPr txBox="1"/>
          <p:nvPr/>
        </p:nvSpPr>
        <p:spPr>
          <a:xfrm>
            <a:off x="910244" y="4984311"/>
            <a:ext cx="548640" cy="310896"/>
          </a:xfrm>
          <a:prstGeom prst="rect">
            <a:avLst/>
          </a:prstGeom>
          <a:noFill/>
          <a:ln/>
        </p:spPr>
        <p:txBody>
          <a:bodyPr wrap="square" lIns="0" tIns="0" rIns="0" bIns="0" rtlCol="0" anchor="ctr"/>
          <a:lstStyle/>
          <a:p>
            <a:pPr algn="ctr" indent="0" marL="0">
              <a:buNone/>
            </a:pPr>
            <a:r>
              <a:rPr lang="en-US" sz="1400" b="1" dirty="0">
                <a:solidFill>
                  <a:schemeClr val="accent2"/>
                </a:solidFill>
              </a:rPr>
              <a:t>1</a:t>
            </a:r>
            <a:endParaRPr lang="en-US" sz="1400" dirty="0"/>
          </a:p>
        </p:txBody>
      </p:sp>
      <p:sp>
        <p:nvSpPr>
          <p:cNvPr id="23" name="Text 17"/>
          <p:cNvSpPr txBox="1"/>
          <p:nvPr/>
        </p:nvSpPr>
        <p:spPr>
          <a:xfrm>
            <a:off x="1325880" y="4984311"/>
            <a:ext cx="548640" cy="310896"/>
          </a:xfrm>
          <a:prstGeom prst="rect">
            <a:avLst/>
          </a:prstGeom>
          <a:noFill/>
          <a:ln/>
        </p:spPr>
        <p:txBody>
          <a:bodyPr wrap="square" lIns="0" tIns="0" rIns="0" bIns="0" rtlCol="0" anchor="ctr"/>
          <a:lstStyle/>
          <a:p>
            <a:pPr algn="ctr" indent="0" marL="0">
              <a:buNone/>
            </a:pPr>
            <a:r>
              <a:rPr lang="en-US" sz="1400" dirty="0">
                <a:solidFill>
                  <a:srgbClr val="9AA4B2"/>
                </a:solidFill>
              </a:rPr>
              <a:t>2 3</a:t>
            </a:r>
            <a:endParaRPr lang="en-US" sz="1400" dirty="0"/>
          </a:p>
        </p:txBody>
      </p:sp>
      <p:sp>
        <p:nvSpPr>
          <p:cNvPr id="24" name="Text 18"/>
          <p:cNvSpPr txBox="1"/>
          <p:nvPr/>
        </p:nvSpPr>
        <p:spPr>
          <a:xfrm>
            <a:off x="1741516" y="4984311"/>
            <a:ext cx="548640" cy="310896"/>
          </a:xfrm>
          <a:prstGeom prst="rect">
            <a:avLst/>
          </a:prstGeom>
          <a:noFill/>
          <a:ln/>
        </p:spPr>
        <p:txBody>
          <a:bodyPr wrap="square" lIns="0" tIns="0" rIns="0" bIns="0" rtlCol="0" anchor="ctr"/>
          <a:lstStyle/>
          <a:p>
            <a:pPr algn="ctr" indent="0" marL="0">
              <a:buNone/>
            </a:pPr>
            <a:r>
              <a:rPr lang="en-US" sz="1400" dirty="0">
                <a:solidFill>
                  <a:srgbClr val="9AA4B2"/>
                </a:solidFill>
              </a:rPr>
              <a:t>4</a:t>
            </a:r>
            <a:endParaRPr lang="en-US" sz="1400" dirty="0"/>
          </a:p>
        </p:txBody>
      </p:sp>
      <p:sp>
        <p:nvSpPr>
          <p:cNvPr id="25" name="Text 19"/>
          <p:cNvSpPr txBox="1"/>
          <p:nvPr/>
        </p:nvSpPr>
        <p:spPr>
          <a:xfrm>
            <a:off x="640080" y="45811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A</a:t>
            </a:r>
            <a:endParaRPr lang="en-US" sz="1200" dirty="0"/>
          </a:p>
        </p:txBody>
      </p:sp>
      <p:sp>
        <p:nvSpPr>
          <p:cNvPr id="26" name="Text 20"/>
          <p:cNvSpPr txBox="1"/>
          <p:nvPr/>
        </p:nvSpPr>
        <p:spPr>
          <a:xfrm>
            <a:off x="2313432" y="4581144"/>
            <a:ext cx="274320" cy="237744"/>
          </a:xfrm>
          <a:prstGeom prst="rect">
            <a:avLst/>
          </a:prstGeom>
          <a:noFill/>
          <a:ln/>
        </p:spPr>
        <p:txBody>
          <a:bodyPr wrap="square" lIns="0" tIns="0" rIns="0" bIns="0" rtlCol="0" anchor="t"/>
          <a:lstStyle/>
          <a:p>
            <a:pPr algn="l" indent="0" marL="0">
              <a:buNone/>
            </a:pPr>
            <a:r>
              <a:rPr lang="en-US" sz="1200" b="1" dirty="0">
                <a:solidFill>
                  <a:schemeClr val="tx2"/>
                </a:solidFill>
              </a:rPr>
              <a:t>B</a:t>
            </a:r>
            <a:endParaRPr lang="en-US" sz="1200" dirty="0"/>
          </a:p>
        </p:txBody>
      </p:sp>
      <p:sp>
        <p:nvSpPr>
          <p:cNvPr id="27" name="Text 21"/>
          <p:cNvSpPr txBox="1"/>
          <p:nvPr/>
        </p:nvSpPr>
        <p:spPr>
          <a:xfrm>
            <a:off x="2788920" y="4682559"/>
            <a:ext cx="2606040" cy="384048"/>
          </a:xfrm>
          <a:prstGeom prst="rect">
            <a:avLst/>
          </a:prstGeom>
          <a:noFill/>
          <a:ln/>
        </p:spPr>
        <p:txBody>
          <a:bodyPr wrap="square" lIns="0" tIns="0" rIns="0" bIns="0" rtlCol="0" anchor="ctr"/>
          <a:lstStyle/>
          <a:p>
            <a:pPr algn="l" indent="0" marL="0">
              <a:buNone/>
            </a:pPr>
            <a:r>
              <a:rPr lang="en-US" sz="1800" b="1" dirty="0">
                <a:solidFill>
                  <a:schemeClr val="tx1"/>
                </a:solidFill>
              </a:rPr>
              <a:t>Difference, A − B</a:t>
            </a:r>
            <a:endParaRPr lang="en-US" sz="1800" dirty="0"/>
          </a:p>
        </p:txBody>
      </p:sp>
      <p:sp>
        <p:nvSpPr>
          <p:cNvPr id="28" name="Text 22"/>
          <p:cNvSpPr txBox="1"/>
          <p:nvPr/>
        </p:nvSpPr>
        <p:spPr>
          <a:xfrm>
            <a:off x="2788920" y="5084895"/>
            <a:ext cx="2606040" cy="365760"/>
          </a:xfrm>
          <a:prstGeom prst="rect">
            <a:avLst/>
          </a:prstGeom>
          <a:noFill/>
          <a:ln/>
        </p:spPr>
        <p:txBody>
          <a:bodyPr wrap="square" lIns="0" tIns="0" rIns="0" bIns="0" rtlCol="0" anchor="t"/>
          <a:lstStyle/>
          <a:p>
            <a:pPr algn="l" indent="0" marL="0">
              <a:buNone/>
            </a:pPr>
            <a:r>
              <a:rPr lang="en-US" sz="1500" dirty="0">
                <a:solidFill>
                  <a:schemeClr val="tx2"/>
                </a:solidFill>
              </a:rPr>
              <a:t>What’s in A but not in B</a:t>
            </a:r>
            <a:endParaRPr lang="en-US" sz="1500" dirty="0"/>
          </a:p>
        </p:txBody>
      </p:sp>
      <p:sp>
        <p:nvSpPr>
          <p:cNvPr id="29" name="Set operations card"/>
          <p:cNvSpPr/>
          <p:nvPr/>
        </p:nvSpPr>
        <p:spPr>
          <a:xfrm>
            <a:off x="5669280" y="1691640"/>
            <a:ext cx="5973775" cy="2711196"/>
          </a:xfrm>
          <a:prstGeom prst="roundRect">
            <a:avLst>
              <a:gd name="adj" fmla="val 4047"/>
            </a:avLst>
          </a:prstGeom>
          <a:solidFill>
            <a:schemeClr val="tx1"/>
          </a:solidFill>
          <a:ln/>
          <a:effectLst>
            <a:outerShdw sx="100000" sy="100000" kx="0" ky="0" algn="bl" rotWithShape="0" blurRad="114300" dist="31750" dir="5400000">
              <a:srgbClr val="1D2433">
                <a:alpha val="12000"/>
              </a:srgbClr>
            </a:outerShdw>
          </a:effectLst>
        </p:spPr>
      </p:sp>
      <p:sp>
        <p:nvSpPr>
          <p:cNvPr id="30" name="Set operations label"/>
          <p:cNvSpPr txBox="1"/>
          <p:nvPr/>
        </p:nvSpPr>
        <p:spPr>
          <a:xfrm>
            <a:off x="5943600" y="1810512"/>
            <a:ext cx="542513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31" name="Set operations text"/>
          <p:cNvSpPr txBox="1"/>
          <p:nvPr/>
        </p:nvSpPr>
        <p:spPr>
          <a:xfrm>
            <a:off x="5943600" y="2185416"/>
            <a:ext cx="5425135" cy="2016252"/>
          </a:xfrm>
          <a:prstGeom prst="rect">
            <a:avLst/>
          </a:prstGeom>
          <a:noFill/>
          <a:ln/>
        </p:spPr>
        <p:txBody>
          <a:bodyPr wrap="square" lIns="0" tIns="0" rIns="0" bIns="0" rtlCol="0" anchor="t"/>
          <a:lstStyle/>
          <a:p>
            <a:pPr indent="0" marL="0">
              <a:lnSpc>
                <a:spcPts val="1720"/>
              </a:lnSpc>
              <a:buNone/>
            </a:pPr>
            <a:r>
              <a:rPr lang="en-US" sz="1300" i="1" dirty="0">
                <a:solidFill>
                  <a:srgbClr val="A3AEC2"/>
                </a:solidFill>
                <a:latin typeface="Consolas" pitchFamily="34" charset="0"/>
                <a:ea typeface="Consolas" pitchFamily="34" charset="-122"/>
                <a:cs typeface="Consolas" pitchFamily="34" charset="-120"/>
              </a:rPr>
              <a:t>// setA is [1, 2, 3] and setB is [2, 3, 4]</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union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HashSet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&gt;(setA);</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union.</a:t>
            </a:r>
            <a:r>
              <a:rPr lang="en-US" sz="1300" dirty="0">
                <a:solidFill>
                  <a:srgbClr val="C9B0FF"/>
                </a:solidFill>
                <a:latin typeface="Consolas" pitchFamily="34" charset="0"/>
                <a:ea typeface="Consolas" pitchFamily="34" charset="-122"/>
                <a:cs typeface="Consolas" pitchFamily="34" charset="-120"/>
              </a:rPr>
              <a:t>addAll</a:t>
            </a:r>
            <a:r>
              <a:rPr lang="en-US" sz="1300" dirty="0">
                <a:solidFill>
                  <a:srgbClr val="E6EBF2"/>
                </a:solidFill>
                <a:latin typeface="Consolas" pitchFamily="34" charset="0"/>
                <a:ea typeface="Consolas" pitchFamily="34" charset="-122"/>
                <a:cs typeface="Consolas" pitchFamily="34" charset="-120"/>
              </a:rPr>
              <a:t>(setB);       </a:t>
            </a:r>
            <a:r>
              <a:rPr lang="en-US" sz="1300" i="1" dirty="0">
                <a:solidFill>
                  <a:srgbClr val="A3AEC2"/>
                </a:solidFill>
                <a:latin typeface="Consolas" pitchFamily="34" charset="0"/>
                <a:ea typeface="Consolas" pitchFamily="34" charset="-122"/>
                <a:cs typeface="Consolas" pitchFamily="34" charset="-120"/>
              </a:rPr>
              <a:t>// [1, 2, 3, 4]</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both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HashSet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&gt;(setA);</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both.</a:t>
            </a:r>
            <a:r>
              <a:rPr lang="en-US" sz="1300" dirty="0">
                <a:solidFill>
                  <a:srgbClr val="C9B0FF"/>
                </a:solidFill>
                <a:latin typeface="Consolas" pitchFamily="34" charset="0"/>
                <a:ea typeface="Consolas" pitchFamily="34" charset="-122"/>
                <a:cs typeface="Consolas" pitchFamily="34" charset="-120"/>
              </a:rPr>
              <a:t>retainAll</a:t>
            </a:r>
            <a:r>
              <a:rPr lang="en-US" sz="1300" dirty="0">
                <a:solidFill>
                  <a:srgbClr val="E6EBF2"/>
                </a:solidFill>
                <a:latin typeface="Consolas" pitchFamily="34" charset="0"/>
                <a:ea typeface="Consolas" pitchFamily="34" charset="-122"/>
                <a:cs typeface="Consolas" pitchFamily="34" charset="-120"/>
              </a:rPr>
              <a:t>(setB);     </a:t>
            </a:r>
            <a:r>
              <a:rPr lang="en-US" sz="1300" i="1" dirty="0">
                <a:solidFill>
                  <a:srgbClr val="A3AEC2"/>
                </a:solidFill>
                <a:latin typeface="Consolas" pitchFamily="34" charset="0"/>
                <a:ea typeface="Consolas" pitchFamily="34" charset="-122"/>
                <a:cs typeface="Consolas" pitchFamily="34" charset="-120"/>
              </a:rPr>
              <a:t>// [2, 3]</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diff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HashSet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&gt;(setA);</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diff.</a:t>
            </a:r>
            <a:r>
              <a:rPr lang="en-US" sz="1300" dirty="0">
                <a:solidFill>
                  <a:srgbClr val="C9B0FF"/>
                </a:solidFill>
                <a:latin typeface="Consolas" pitchFamily="34" charset="0"/>
                <a:ea typeface="Consolas" pitchFamily="34" charset="-122"/>
                <a:cs typeface="Consolas" pitchFamily="34" charset="-120"/>
              </a:rPr>
              <a:t>removeAll</a:t>
            </a:r>
            <a:r>
              <a:rPr lang="en-US" sz="1300" dirty="0">
                <a:solidFill>
                  <a:srgbClr val="E6EBF2"/>
                </a:solidFill>
                <a:latin typeface="Consolas" pitchFamily="34" charset="0"/>
                <a:ea typeface="Consolas" pitchFamily="34" charset="-122"/>
                <a:cs typeface="Consolas" pitchFamily="34" charset="-120"/>
              </a:rPr>
              <a:t>(setB);     </a:t>
            </a:r>
            <a:r>
              <a:rPr lang="en-US" sz="1300" i="1" dirty="0">
                <a:solidFill>
                  <a:srgbClr val="A3AEC2"/>
                </a:solidFill>
                <a:latin typeface="Consolas" pitchFamily="34" charset="0"/>
                <a:ea typeface="Consolas" pitchFamily="34" charset="-122"/>
                <a:cs typeface="Consolas" pitchFamily="34" charset="-120"/>
              </a:rPr>
              <a:t>// [1]</a:t>
            </a:r>
            <a:endParaRPr lang="en-US" sz="1300" dirty="0"/>
          </a:p>
        </p:txBody>
      </p:sp>
      <p:sp>
        <p:nvSpPr>
          <p:cNvPr id="32" name="Note"/>
          <p:cNvSpPr/>
          <p:nvPr/>
        </p:nvSpPr>
        <p:spPr>
          <a:xfrm>
            <a:off x="5669280" y="4677156"/>
            <a:ext cx="5973775" cy="960120"/>
          </a:xfrm>
          <a:prstGeom prst="roundRect">
            <a:avLst>
              <a:gd name="adj" fmla="val 11429"/>
            </a:avLst>
          </a:prstGeom>
          <a:solidFill>
            <a:schemeClr val="bg2"/>
          </a:solidFill>
          <a:ln/>
        </p:spPr>
      </p:sp>
      <p:sp>
        <p:nvSpPr>
          <p:cNvPr id="33" name="Icon tile"/>
          <p:cNvSpPr/>
          <p:nvPr/>
        </p:nvSpPr>
        <p:spPr>
          <a:xfrm>
            <a:off x="5943600" y="4892040"/>
            <a:ext cx="530352" cy="530352"/>
          </a:xfrm>
          <a:prstGeom prst="roundRect">
            <a:avLst>
              <a:gd name="adj" fmla="val 24000"/>
            </a:avLst>
          </a:prstGeom>
          <a:solidFill>
            <a:schemeClr val="accent2">
              <a:alpha val="14000"/>
            </a:schemeClr>
          </a:solidFill>
          <a:ln/>
        </p:spPr>
      </p:sp>
      <p:pic>
        <p:nvPicPr>
          <p:cNvPr id="34" name="Image 3" descr="copy icon">    </p:cNvPr>
          <p:cNvPicPr>
            <a:picLocks noChangeAspect="1"/>
          </p:cNvPicPr>
          <p:nvPr/>
        </p:nvPicPr>
        <p:blipFill>
          <a:blip r:embed="rId4"/>
          <a:stretch>
            <a:fillRect/>
          </a:stretch>
        </p:blipFill>
        <p:spPr>
          <a:xfrm>
            <a:off x="6054974" y="5003414"/>
            <a:ext cx="307604" cy="307604"/>
          </a:xfrm>
          <a:prstGeom prst="rect">
            <a:avLst/>
          </a:prstGeom>
        </p:spPr>
      </p:pic>
      <p:sp>
        <p:nvSpPr>
          <p:cNvPr id="35" name="Text 28"/>
          <p:cNvSpPr txBox="1"/>
          <p:nvPr/>
        </p:nvSpPr>
        <p:spPr>
          <a:xfrm>
            <a:off x="6693408" y="4677156"/>
            <a:ext cx="4693615" cy="960120"/>
          </a:xfrm>
          <a:prstGeom prst="rect">
            <a:avLst/>
          </a:prstGeom>
          <a:noFill/>
          <a:ln/>
        </p:spPr>
        <p:txBody>
          <a:bodyPr wrap="square" lIns="0" tIns="0" rIns="0" bIns="0" rtlCol="0" anchor="ctr"/>
          <a:lstStyle/>
          <a:p>
            <a:pPr algn="l" indent="0" marL="0">
              <a:buNone/>
            </a:pPr>
            <a:r>
              <a:rPr lang="en-US" sz="1500" dirty="0">
                <a:solidFill>
                  <a:schemeClr val="tx1"/>
                </a:solidFill>
              </a:rPr>
              <a:t>Each one starts from a copy of </a:t>
            </a:r>
            <a:r>
              <a:rPr lang="en-US" sz="1500" dirty="0">
                <a:solidFill>
                  <a:schemeClr val="accent2"/>
                </a:solidFill>
                <a:latin typeface="Consolas" pitchFamily="34" charset="0"/>
                <a:ea typeface="Consolas" pitchFamily="34" charset="-122"/>
                <a:cs typeface="Consolas" pitchFamily="34" charset="-120"/>
              </a:rPr>
              <a:t>setA</a:t>
            </a:r>
            <a:r>
              <a:rPr lang="en-US" sz="1500" dirty="0">
                <a:solidFill>
                  <a:schemeClr val="tx1"/>
                </a:solidFill>
              </a:rPr>
              <a:t>, because these methods change the set they’re called on.</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SETS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These methods change the set</a:t>
            </a:r>
            <a:endParaRPr lang="en-US" sz="3400" dirty="0"/>
          </a:p>
        </p:txBody>
      </p:sp>
      <p:sp>
        <p:nvSpPr>
          <p:cNvPr id="5" name="Text 2"/>
          <p:cNvSpPr txBox="1"/>
          <p:nvPr/>
        </p:nvSpPr>
        <p:spPr>
          <a:xfrm>
            <a:off x="548640" y="1737360"/>
            <a:ext cx="11094415" cy="128016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accent2"/>
                </a:solidFill>
                <a:latin typeface="Consolas" pitchFamily="34" charset="0"/>
                <a:ea typeface="Consolas" pitchFamily="34" charset="-122"/>
                <a:cs typeface="Consolas" pitchFamily="34" charset="-120"/>
              </a:rPr>
              <a:t>addAll</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retainAll</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removeAll</a:t>
            </a:r>
            <a:r>
              <a:rPr lang="en-US" sz="1700" dirty="0">
                <a:solidFill>
                  <a:schemeClr val="tx1"/>
                </a:solidFill>
              </a:rPr>
              <a:t> change the set we call them on.</a:t>
            </a:r>
            <a:endParaRPr lang="en-US" sz="1700" dirty="0"/>
          </a:p>
          <a:p>
            <a:pPr marL="228600" indent="-228600">
              <a:spcAft>
                <a:spcPts val="800"/>
              </a:spcAft>
              <a:buSzPct val="100000"/>
              <a:buChar char="•"/>
            </a:pPr>
            <a:r>
              <a:rPr lang="en-US" sz="1700" dirty="0">
                <a:solidFill>
                  <a:schemeClr val="tx1"/>
                </a:solidFill>
              </a:rPr>
              <a:t>They give back a </a:t>
            </a:r>
            <a:r>
              <a:rPr lang="en-US" sz="1700" dirty="0">
                <a:solidFill>
                  <a:schemeClr val="accent2"/>
                </a:solidFill>
                <a:latin typeface="Consolas" pitchFamily="34" charset="0"/>
                <a:ea typeface="Consolas" pitchFamily="34" charset="-122"/>
                <a:cs typeface="Consolas" pitchFamily="34" charset="-120"/>
              </a:rPr>
              <a:t>boolean</a:t>
            </a:r>
            <a:r>
              <a:rPr lang="en-US" sz="1700" dirty="0">
                <a:solidFill>
                  <a:schemeClr val="tx1"/>
                </a:solidFill>
              </a:rPr>
              <a:t>, </a:t>
            </a:r>
            <a:r>
              <a:rPr lang="en-US" sz="1700" dirty="0">
                <a:solidFill>
                  <a:schemeClr val="accent2"/>
                </a:solidFill>
                <a:latin typeface="Consolas" pitchFamily="34" charset="0"/>
                <a:ea typeface="Consolas" pitchFamily="34" charset="-122"/>
                <a:cs typeface="Consolas" pitchFamily="34" charset="-120"/>
              </a:rPr>
              <a:t>true</a:t>
            </a:r>
            <a:r>
              <a:rPr lang="en-US" sz="1700" dirty="0">
                <a:solidFill>
                  <a:schemeClr val="tx1"/>
                </a:solidFill>
              </a:rPr>
              <a:t> if that set changed. They don’t give back a new set.</a:t>
            </a:r>
            <a:endParaRPr lang="en-US" sz="1700" dirty="0"/>
          </a:p>
          <a:p>
            <a:pPr marL="228600" indent="-228600">
              <a:buSzPct val="100000"/>
              <a:buChar char="•"/>
            </a:pPr>
            <a:r>
              <a:rPr lang="en-US" sz="1700" dirty="0">
                <a:solidFill>
                  <a:schemeClr val="tx1"/>
                </a:solidFill>
              </a:rPr>
              <a:t>So </a:t>
            </a:r>
            <a:r>
              <a:rPr lang="en-US" sz="1700" dirty="0">
                <a:solidFill>
                  <a:schemeClr val="accent2"/>
                </a:solidFill>
                <a:latin typeface="Consolas" pitchFamily="34" charset="0"/>
                <a:ea typeface="Consolas" pitchFamily="34" charset="-122"/>
                <a:cs typeface="Consolas" pitchFamily="34" charset="-120"/>
              </a:rPr>
              <a:t>setC = setA.addAll(setB);</a:t>
            </a:r>
            <a:r>
              <a:rPr lang="en-US" sz="1700" dirty="0">
                <a:solidFill>
                  <a:schemeClr val="tx1"/>
                </a:solidFill>
              </a:rPr>
              <a:t> won’t compile. To keep </a:t>
            </a:r>
            <a:r>
              <a:rPr lang="en-US" sz="1700" dirty="0">
                <a:solidFill>
                  <a:schemeClr val="accent2"/>
                </a:solidFill>
                <a:latin typeface="Consolas" pitchFamily="34" charset="0"/>
                <a:ea typeface="Consolas" pitchFamily="34" charset="-122"/>
                <a:cs typeface="Consolas" pitchFamily="34" charset="-120"/>
              </a:rPr>
              <a:t>setA</a:t>
            </a:r>
            <a:r>
              <a:rPr lang="en-US" sz="1700" dirty="0">
                <a:solidFill>
                  <a:schemeClr val="tx1"/>
                </a:solidFill>
              </a:rPr>
              <a:t> as it was, copy it first.</a:t>
            </a:r>
            <a:endParaRPr lang="en-US" sz="1700" dirty="0"/>
          </a:p>
        </p:txBody>
      </p:sp>
      <p:pic>
        <p:nvPicPr>
          <p:cNvPr id="6" name="Image 0" descr="Does not work">    </p:cNvPr>
          <p:cNvPicPr>
            <a:picLocks noChangeAspect="1"/>
          </p:cNvPicPr>
          <p:nvPr/>
        </p:nvPicPr>
        <p:blipFill>
          <a:blip r:embed="rId1"/>
          <a:stretch>
            <a:fillRect/>
          </a:stretch>
        </p:blipFill>
        <p:spPr>
          <a:xfrm>
            <a:off x="548640" y="3172968"/>
            <a:ext cx="347472" cy="347472"/>
          </a:xfrm>
          <a:prstGeom prst="rect">
            <a:avLst/>
          </a:prstGeom>
        </p:spPr>
      </p:pic>
      <p:sp>
        <p:nvSpPr>
          <p:cNvPr id="7" name="Text 3"/>
          <p:cNvSpPr txBox="1"/>
          <p:nvPr/>
        </p:nvSpPr>
        <p:spPr>
          <a:xfrm>
            <a:off x="1005840" y="3154680"/>
            <a:ext cx="4937760" cy="384048"/>
          </a:xfrm>
          <a:prstGeom prst="rect">
            <a:avLst/>
          </a:prstGeom>
          <a:noFill/>
          <a:ln/>
        </p:spPr>
        <p:txBody>
          <a:bodyPr wrap="square" lIns="0" tIns="0" rIns="0" bIns="0" rtlCol="0" anchor="ctr"/>
          <a:lstStyle/>
          <a:p>
            <a:pPr algn="l" indent="0" marL="0">
              <a:buNone/>
            </a:pPr>
            <a:r>
              <a:rPr lang="en-US" sz="1500" b="1" dirty="0">
                <a:solidFill>
                  <a:srgbClr val="C0392B"/>
                </a:solidFill>
              </a:rPr>
              <a:t>Won’t compile</a:t>
            </a:r>
            <a:endParaRPr lang="en-US" sz="1500" dirty="0"/>
          </a:p>
        </p:txBody>
      </p:sp>
      <p:sp>
        <p:nvSpPr>
          <p:cNvPr id="8" name="Wrong card"/>
          <p:cNvSpPr/>
          <p:nvPr/>
        </p:nvSpPr>
        <p:spPr>
          <a:xfrm>
            <a:off x="548640" y="3630168"/>
            <a:ext cx="5394960" cy="1219200"/>
          </a:xfrm>
          <a:prstGeom prst="roundRect">
            <a:avLst>
              <a:gd name="adj" fmla="val 9000"/>
            </a:avLst>
          </a:prstGeom>
          <a:solidFill>
            <a:schemeClr val="tx1"/>
          </a:solidFill>
          <a:ln/>
          <a:effectLst>
            <a:outerShdw sx="100000" sy="100000" kx="0" ky="0" algn="bl" rotWithShape="0" blurRad="114300" dist="31750" dir="5400000">
              <a:srgbClr val="1D2433">
                <a:alpha val="12000"/>
              </a:srgbClr>
            </a:outerShdw>
          </a:effectLst>
        </p:spPr>
      </p:sp>
      <p:sp>
        <p:nvSpPr>
          <p:cNvPr id="9" name="Wrong label"/>
          <p:cNvSpPr txBox="1"/>
          <p:nvPr/>
        </p:nvSpPr>
        <p:spPr>
          <a:xfrm>
            <a:off x="822960" y="3749040"/>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0" name="Wrong text"/>
          <p:cNvSpPr txBox="1"/>
          <p:nvPr/>
        </p:nvSpPr>
        <p:spPr>
          <a:xfrm>
            <a:off x="822960" y="4123944"/>
            <a:ext cx="4846320" cy="524256"/>
          </a:xfrm>
          <a:prstGeom prst="rect">
            <a:avLst/>
          </a:prstGeom>
          <a:noFill/>
          <a:ln/>
        </p:spPr>
        <p:txBody>
          <a:bodyPr wrap="square" lIns="0" tIns="0" rIns="0" bIns="0" rtlCol="0" anchor="t"/>
          <a:lstStyle/>
          <a:p>
            <a:pPr indent="0" marL="0">
              <a:lnSpc>
                <a:spcPts val="1850"/>
              </a:lnSpc>
              <a:buNone/>
            </a:pPr>
            <a:r>
              <a:rPr lang="en-US" sz="1400" dirty="0">
                <a:solidFill>
                  <a:srgbClr val="6CC4E8"/>
                </a:solidFill>
                <a:latin typeface="Consolas" pitchFamily="34" charset="0"/>
                <a:ea typeface="Consolas" pitchFamily="34" charset="-122"/>
                <a:cs typeface="Consolas" pitchFamily="34" charset="-120"/>
              </a:rPr>
              <a:t>Set</a:t>
            </a:r>
            <a:r>
              <a:rPr lang="en-US" sz="1400" dirty="0">
                <a:solidFill>
                  <a:srgbClr val="E6EBF2"/>
                </a:solidFill>
                <a:latin typeface="Consolas" pitchFamily="34" charset="0"/>
                <a:ea typeface="Consolas" pitchFamily="34" charset="-122"/>
                <a:cs typeface="Consolas" pitchFamily="34" charset="-120"/>
              </a:rPr>
              <a:t>&lt;</a:t>
            </a:r>
            <a:r>
              <a:rPr lang="en-US" sz="1400" dirty="0">
                <a:solidFill>
                  <a:srgbClr val="6CC4E8"/>
                </a:solidFill>
                <a:latin typeface="Consolas" pitchFamily="34" charset="0"/>
                <a:ea typeface="Consolas" pitchFamily="34" charset="-122"/>
                <a:cs typeface="Consolas" pitchFamily="34" charset="-120"/>
              </a:rPr>
              <a:t>Integer</a:t>
            </a:r>
            <a:r>
              <a:rPr lang="en-US" sz="1400" dirty="0">
                <a:solidFill>
                  <a:srgbClr val="E6EBF2"/>
                </a:solidFill>
                <a:latin typeface="Consolas" pitchFamily="34" charset="0"/>
                <a:ea typeface="Consolas" pitchFamily="34" charset="-122"/>
                <a:cs typeface="Consolas" pitchFamily="34" charset="-120"/>
              </a:rPr>
              <a:t>&gt; setC;</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setC = setA.</a:t>
            </a:r>
            <a:r>
              <a:rPr lang="en-US" sz="1400" dirty="0">
                <a:solidFill>
                  <a:srgbClr val="C9B0FF"/>
                </a:solidFill>
                <a:latin typeface="Consolas" pitchFamily="34" charset="0"/>
                <a:ea typeface="Consolas" pitchFamily="34" charset="-122"/>
                <a:cs typeface="Consolas" pitchFamily="34" charset="-120"/>
              </a:rPr>
              <a:t>addAll</a:t>
            </a:r>
            <a:r>
              <a:rPr lang="en-US" sz="1400" dirty="0">
                <a:solidFill>
                  <a:srgbClr val="E6EBF2"/>
                </a:solidFill>
                <a:latin typeface="Consolas" pitchFamily="34" charset="0"/>
                <a:ea typeface="Consolas" pitchFamily="34" charset="-122"/>
                <a:cs typeface="Consolas" pitchFamily="34" charset="-120"/>
              </a:rPr>
              <a:t>(setB);</a:t>
            </a:r>
            <a:endParaRPr lang="en-US" sz="1400" dirty="0"/>
          </a:p>
        </p:txBody>
      </p:sp>
      <p:sp>
        <p:nvSpPr>
          <p:cNvPr id="11" name="Text 7"/>
          <p:cNvSpPr txBox="1"/>
          <p:nvPr/>
        </p:nvSpPr>
        <p:spPr>
          <a:xfrm>
            <a:off x="548640" y="5029200"/>
            <a:ext cx="5394960" cy="731520"/>
          </a:xfrm>
          <a:prstGeom prst="rect">
            <a:avLst/>
          </a:prstGeom>
          <a:noFill/>
          <a:ln/>
        </p:spPr>
        <p:txBody>
          <a:bodyPr wrap="square" lIns="0" tIns="0" rIns="0" bIns="0" rtlCol="0" anchor="t"/>
          <a:lstStyle/>
          <a:p>
            <a:pPr algn="l" indent="0" marL="0">
              <a:buNone/>
            </a:pPr>
            <a:r>
              <a:rPr lang="en-US" sz="1400" b="1" dirty="0">
                <a:solidFill>
                  <a:srgbClr val="C0392B"/>
                </a:solidFill>
              </a:rPr>
              <a:t>Compiler: incompatible types:</a:t>
            </a:r>
            <a:endParaRPr lang="en-US" sz="1400" dirty="0"/>
          </a:p>
          <a:p>
            <a:pPr algn="l" indent="0" marL="0">
              <a:buNone/>
            </a:pPr>
            <a:r>
              <a:rPr lang="en-US" sz="1400" b="1" dirty="0">
                <a:solidFill>
                  <a:srgbClr val="C0392B"/>
                </a:solidFill>
                <a:latin typeface="Consolas" pitchFamily="34" charset="0"/>
                <a:ea typeface="Consolas" pitchFamily="34" charset="-122"/>
                <a:cs typeface="Consolas" pitchFamily="34" charset="-120"/>
              </a:rPr>
              <a:t>boolean cannot be converted to Set&lt;Integer&gt;</a:t>
            </a:r>
            <a:endParaRPr lang="en-US" sz="1400" dirty="0"/>
          </a:p>
        </p:txBody>
      </p:sp>
      <p:pic>
        <p:nvPicPr>
          <p:cNvPr id="12" name="Image 1" descr="Works">    </p:cNvPr>
          <p:cNvPicPr>
            <a:picLocks noChangeAspect="1"/>
          </p:cNvPicPr>
          <p:nvPr/>
        </p:nvPicPr>
        <p:blipFill>
          <a:blip r:embed="rId2"/>
          <a:stretch>
            <a:fillRect/>
          </a:stretch>
        </p:blipFill>
        <p:spPr>
          <a:xfrm>
            <a:off x="6248095" y="3172968"/>
            <a:ext cx="347472" cy="347472"/>
          </a:xfrm>
          <a:prstGeom prst="rect">
            <a:avLst/>
          </a:prstGeom>
        </p:spPr>
      </p:pic>
      <p:sp>
        <p:nvSpPr>
          <p:cNvPr id="13" name="Text 8"/>
          <p:cNvSpPr txBox="1"/>
          <p:nvPr/>
        </p:nvSpPr>
        <p:spPr>
          <a:xfrm>
            <a:off x="6705295" y="3154680"/>
            <a:ext cx="4937760" cy="384048"/>
          </a:xfrm>
          <a:prstGeom prst="rect">
            <a:avLst/>
          </a:prstGeom>
          <a:noFill/>
          <a:ln/>
        </p:spPr>
        <p:txBody>
          <a:bodyPr wrap="square" lIns="0" tIns="0" rIns="0" bIns="0" rtlCol="0" anchor="ctr"/>
          <a:lstStyle/>
          <a:p>
            <a:pPr algn="l" indent="0" marL="0">
              <a:buNone/>
            </a:pPr>
            <a:r>
              <a:rPr lang="en-US" sz="1500" b="1" dirty="0">
                <a:solidFill>
                  <a:schemeClr val="accent3"/>
                </a:solidFill>
              </a:rPr>
              <a:t>Copy first, then change the copy</a:t>
            </a:r>
            <a:endParaRPr lang="en-US" sz="1500" dirty="0"/>
          </a:p>
        </p:txBody>
      </p:sp>
      <p:sp>
        <p:nvSpPr>
          <p:cNvPr id="14" name="Right card"/>
          <p:cNvSpPr/>
          <p:nvPr/>
        </p:nvSpPr>
        <p:spPr>
          <a:xfrm>
            <a:off x="6248095" y="3630168"/>
            <a:ext cx="5394960" cy="1403604"/>
          </a:xfrm>
          <a:prstGeom prst="roundRect">
            <a:avLst>
              <a:gd name="adj" fmla="val 7818"/>
            </a:avLst>
          </a:prstGeom>
          <a:solidFill>
            <a:schemeClr val="tx1"/>
          </a:solidFill>
          <a:ln/>
          <a:effectLst>
            <a:outerShdw sx="100000" sy="100000" kx="0" ky="0" algn="bl" rotWithShape="0" blurRad="114300" dist="31750" dir="5400000">
              <a:srgbClr val="1D2433">
                <a:alpha val="12000"/>
              </a:srgbClr>
            </a:outerShdw>
          </a:effectLst>
        </p:spPr>
      </p:sp>
      <p:sp>
        <p:nvSpPr>
          <p:cNvPr id="15" name="Right label"/>
          <p:cNvSpPr txBox="1"/>
          <p:nvPr/>
        </p:nvSpPr>
        <p:spPr>
          <a:xfrm>
            <a:off x="6522415" y="3749040"/>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6" name="Right text"/>
          <p:cNvSpPr txBox="1"/>
          <p:nvPr/>
        </p:nvSpPr>
        <p:spPr>
          <a:xfrm>
            <a:off x="6522415" y="4123944"/>
            <a:ext cx="4846320" cy="708660"/>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setC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6CC4E8"/>
                </a:solidFill>
                <a:latin typeface="Consolas" pitchFamily="34" charset="0"/>
                <a:ea typeface="Consolas" pitchFamily="34" charset="-122"/>
                <a:cs typeface="Consolas" pitchFamily="34" charset="-120"/>
              </a:rPr>
              <a:t>HashSet</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&gt;(setA);</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setC.</a:t>
            </a:r>
            <a:r>
              <a:rPr lang="en-US" sz="1300" dirty="0">
                <a:solidFill>
                  <a:srgbClr val="C9B0FF"/>
                </a:solidFill>
                <a:latin typeface="Consolas" pitchFamily="34" charset="0"/>
                <a:ea typeface="Consolas" pitchFamily="34" charset="-122"/>
                <a:cs typeface="Consolas" pitchFamily="34" charset="-120"/>
              </a:rPr>
              <a:t>addAll</a:t>
            </a:r>
            <a:r>
              <a:rPr lang="en-US" sz="1300" dirty="0">
                <a:solidFill>
                  <a:srgbClr val="E6EBF2"/>
                </a:solidFill>
                <a:latin typeface="Consolas" pitchFamily="34" charset="0"/>
                <a:ea typeface="Consolas" pitchFamily="34" charset="-122"/>
                <a:cs typeface="Consolas" pitchFamily="34" charset="-120"/>
              </a:rPr>
              <a:t>(setB);   </a:t>
            </a:r>
            <a:r>
              <a:rPr lang="en-US" sz="1300" i="1" dirty="0">
                <a:solidFill>
                  <a:srgbClr val="A3AEC2"/>
                </a:solidFill>
                <a:latin typeface="Consolas" pitchFamily="34" charset="0"/>
                <a:ea typeface="Consolas" pitchFamily="34" charset="-122"/>
                <a:cs typeface="Consolas" pitchFamily="34" charset="-120"/>
              </a:rPr>
              <a:t>// setC: [1, 2, 3, 4]</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setA: still [1, 2, 3]</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17</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 operations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setA</a:t>
            </a:r>
            <a:r>
              <a:rPr lang="en-US" sz="2800" b="1" dirty="0">
                <a:solidFill>
                  <a:schemeClr val="tx1"/>
                </a:solidFill>
              </a:rPr>
              <a:t> is </a:t>
            </a:r>
            <a:r>
              <a:rPr lang="en-US" sz="2800" b="1" dirty="0">
                <a:solidFill>
                  <a:schemeClr val="accent2"/>
                </a:solidFill>
                <a:latin typeface="Consolas" pitchFamily="34" charset="0"/>
                <a:ea typeface="Consolas" pitchFamily="34" charset="-122"/>
                <a:cs typeface="Consolas" pitchFamily="34" charset="-120"/>
              </a:rPr>
              <a:t>[1, 2, 3]</a:t>
            </a:r>
            <a:r>
              <a:rPr lang="en-US" sz="2800" b="1" dirty="0">
                <a:solidFill>
                  <a:schemeClr val="tx1"/>
                </a:solidFill>
              </a:rPr>
              <a:t> and </a:t>
            </a:r>
            <a:r>
              <a:rPr lang="en-US" sz="2800" b="1" dirty="0">
                <a:solidFill>
                  <a:schemeClr val="accent2"/>
                </a:solidFill>
                <a:latin typeface="Consolas" pitchFamily="34" charset="0"/>
                <a:ea typeface="Consolas" pitchFamily="34" charset="-122"/>
                <a:cs typeface="Consolas" pitchFamily="34" charset="-120"/>
              </a:rPr>
              <a:t>setB</a:t>
            </a:r>
            <a:r>
              <a:rPr lang="en-US" sz="2800" b="1" dirty="0">
                <a:solidFill>
                  <a:schemeClr val="tx1"/>
                </a:solidFill>
              </a:rPr>
              <a:t> is </a:t>
            </a:r>
            <a:r>
              <a:rPr lang="en-US" sz="2800" b="1" dirty="0">
                <a:solidFill>
                  <a:schemeClr val="accent2"/>
                </a:solidFill>
                <a:latin typeface="Consolas" pitchFamily="34" charset="0"/>
                <a:ea typeface="Consolas" pitchFamily="34" charset="-122"/>
                <a:cs typeface="Consolas" pitchFamily="34" charset="-120"/>
              </a:rPr>
              <a:t>[2, 3, 4]</a:t>
            </a:r>
            <a:r>
              <a:rPr lang="en-US" sz="2800" b="1" dirty="0">
                <a:solidFill>
                  <a:schemeClr val="tx1"/>
                </a:solidFill>
              </a:rPr>
              <a:t>. After </a:t>
            </a:r>
            <a:r>
              <a:rPr lang="en-US" sz="2800" b="1" dirty="0">
                <a:solidFill>
                  <a:schemeClr val="accent2"/>
                </a:solidFill>
                <a:latin typeface="Consolas" pitchFamily="34" charset="0"/>
                <a:ea typeface="Consolas" pitchFamily="34" charset="-122"/>
                <a:cs typeface="Consolas" pitchFamily="34" charset="-120"/>
              </a:rPr>
              <a:t>setA.retainAll(setB)</a:t>
            </a:r>
            <a:r>
              <a:rPr lang="en-US" sz="2800" b="1" dirty="0">
                <a:solidFill>
                  <a:schemeClr val="tx1"/>
                </a:solidFill>
              </a:rPr>
              <a:t>, what is </a:t>
            </a:r>
            <a:r>
              <a:rPr lang="en-US" sz="2800" b="1" dirty="0">
                <a:solidFill>
                  <a:schemeClr val="accent2"/>
                </a:solidFill>
                <a:latin typeface="Consolas" pitchFamily="34" charset="0"/>
                <a:ea typeface="Consolas" pitchFamily="34" charset="-122"/>
                <a:cs typeface="Consolas" pitchFamily="34" charset="-120"/>
              </a:rPr>
              <a:t>setA</a:t>
            </a:r>
            <a:r>
              <a:rPr lang="en-US" sz="2800" b="1" dirty="0">
                <a:solidFill>
                  <a:schemeClr val="tx1"/>
                </a:solidFill>
              </a:rPr>
              <a: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 2, 3, 4]</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[2, 3]</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[4]</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17</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 operations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setA</a:t>
            </a:r>
            <a:r>
              <a:rPr lang="en-US" sz="2000" b="1" dirty="0">
                <a:solidFill>
                  <a:schemeClr val="tx2"/>
                </a:solidFill>
              </a:rPr>
              <a:t> is </a:t>
            </a:r>
            <a:r>
              <a:rPr lang="en-US" sz="2000" b="1" dirty="0">
                <a:solidFill>
                  <a:schemeClr val="tx2"/>
                </a:solidFill>
                <a:latin typeface="Consolas" pitchFamily="34" charset="0"/>
                <a:ea typeface="Consolas" pitchFamily="34" charset="-122"/>
                <a:cs typeface="Consolas" pitchFamily="34" charset="-120"/>
              </a:rPr>
              <a:t>[1, 2, 3]</a:t>
            </a:r>
            <a:r>
              <a:rPr lang="en-US" sz="2000" b="1" dirty="0">
                <a:solidFill>
                  <a:schemeClr val="tx2"/>
                </a:solidFill>
              </a:rPr>
              <a:t> and </a:t>
            </a:r>
            <a:r>
              <a:rPr lang="en-US" sz="2000" b="1" dirty="0">
                <a:solidFill>
                  <a:schemeClr val="tx2"/>
                </a:solidFill>
                <a:latin typeface="Consolas" pitchFamily="34" charset="0"/>
                <a:ea typeface="Consolas" pitchFamily="34" charset="-122"/>
                <a:cs typeface="Consolas" pitchFamily="34" charset="-120"/>
              </a:rPr>
              <a:t>setB</a:t>
            </a:r>
            <a:r>
              <a:rPr lang="en-US" sz="2000" b="1" dirty="0">
                <a:solidFill>
                  <a:schemeClr val="tx2"/>
                </a:solidFill>
              </a:rPr>
              <a:t> is </a:t>
            </a:r>
            <a:r>
              <a:rPr lang="en-US" sz="2000" b="1" dirty="0">
                <a:solidFill>
                  <a:schemeClr val="tx2"/>
                </a:solidFill>
                <a:latin typeface="Consolas" pitchFamily="34" charset="0"/>
                <a:ea typeface="Consolas" pitchFamily="34" charset="-122"/>
                <a:cs typeface="Consolas" pitchFamily="34" charset="-120"/>
              </a:rPr>
              <a:t>[2, 3, 4]</a:t>
            </a:r>
            <a:r>
              <a:rPr lang="en-US" sz="2000" b="1" dirty="0">
                <a:solidFill>
                  <a:schemeClr val="tx2"/>
                </a:solidFill>
              </a:rPr>
              <a:t>. After </a:t>
            </a:r>
            <a:r>
              <a:rPr lang="en-US" sz="2000" b="1" dirty="0">
                <a:solidFill>
                  <a:schemeClr val="tx2"/>
                </a:solidFill>
                <a:latin typeface="Consolas" pitchFamily="34" charset="0"/>
                <a:ea typeface="Consolas" pitchFamily="34" charset="-122"/>
                <a:cs typeface="Consolas" pitchFamily="34" charset="-120"/>
              </a:rPr>
              <a:t>setA.retainAll(setB)</a:t>
            </a:r>
            <a:r>
              <a:rPr lang="en-US" sz="2000" b="1" dirty="0">
                <a:solidFill>
                  <a:schemeClr val="tx2"/>
                </a:solidFill>
              </a:rPr>
              <a:t>, what is </a:t>
            </a:r>
            <a:r>
              <a:rPr lang="en-US" sz="2000" b="1" dirty="0">
                <a:solidFill>
                  <a:schemeClr val="tx2"/>
                </a:solidFill>
                <a:latin typeface="Consolas" pitchFamily="34" charset="0"/>
                <a:ea typeface="Consolas" pitchFamily="34" charset="-122"/>
                <a:cs typeface="Consolas" pitchFamily="34" charset="-120"/>
              </a:rPr>
              <a:t>setA</a:t>
            </a:r>
            <a:r>
              <a:rPr lang="en-US" sz="2000" b="1" dirty="0">
                <a:solidFill>
                  <a:schemeClr val="tx2"/>
                </a:solidFill>
              </a:rPr>
              <a: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[1, 2, 3, 4]</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[2, 3]</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[1]</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[4]</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retainAll</a:t>
            </a:r>
            <a:r>
              <a:rPr lang="en-US" sz="1800" dirty="0">
                <a:solidFill>
                  <a:schemeClr val="tx1"/>
                </a:solidFill>
              </a:rPr>
              <a:t> keeps only the items that are also in </a:t>
            </a:r>
            <a:r>
              <a:rPr lang="en-US" sz="1800" dirty="0">
                <a:solidFill>
                  <a:schemeClr val="accent2"/>
                </a:solidFill>
                <a:latin typeface="Consolas" pitchFamily="34" charset="0"/>
                <a:ea typeface="Consolas" pitchFamily="34" charset="-122"/>
                <a:cs typeface="Consolas" pitchFamily="34" charset="-120"/>
              </a:rPr>
              <a:t>setB</a:t>
            </a:r>
            <a:r>
              <a:rPr lang="en-US" sz="1800" dirty="0">
                <a:solidFill>
                  <a:schemeClr val="tx1"/>
                </a:solidFill>
              </a:rPr>
              <a:t>, which gives the intersection. 1 isn’t in </a:t>
            </a:r>
            <a:r>
              <a:rPr lang="en-US" sz="1800" dirty="0">
                <a:solidFill>
                  <a:schemeClr val="accent2"/>
                </a:solidFill>
                <a:latin typeface="Consolas" pitchFamily="34" charset="0"/>
                <a:ea typeface="Consolas" pitchFamily="34" charset="-122"/>
                <a:cs typeface="Consolas" pitchFamily="34" charset="-120"/>
              </a:rPr>
              <a:t>setB</a:t>
            </a:r>
            <a:r>
              <a:rPr lang="en-US" sz="1800" dirty="0">
                <a:solidFill>
                  <a:schemeClr val="tx1"/>
                </a:solidFill>
              </a:rPr>
              <a:t>, so it goes, leaving </a:t>
            </a:r>
            <a:r>
              <a:rPr lang="en-US" sz="1800" dirty="0">
                <a:solidFill>
                  <a:schemeClr val="accent2"/>
                </a:solidFill>
                <a:latin typeface="Consolas" pitchFamily="34" charset="0"/>
                <a:ea typeface="Consolas" pitchFamily="34" charset="-122"/>
                <a:cs typeface="Consolas" pitchFamily="34" charset="-120"/>
              </a:rPr>
              <a:t>[2, 3]</a:t>
            </a:r>
            <a:r>
              <a:rPr lang="en-US" sz="1800" dirty="0">
                <a:solidFill>
                  <a:schemeClr val="tx1"/>
                </a:solidFill>
              </a:rPr>
              <a:t>. The method changes </a:t>
            </a:r>
            <a:r>
              <a:rPr lang="en-US" sz="1800" dirty="0">
                <a:solidFill>
                  <a:schemeClr val="accent2"/>
                </a:solidFill>
                <a:latin typeface="Consolas" pitchFamily="34" charset="0"/>
                <a:ea typeface="Consolas" pitchFamily="34" charset="-122"/>
                <a:cs typeface="Consolas" pitchFamily="34" charset="-120"/>
              </a:rPr>
              <a:t>setA</a:t>
            </a:r>
            <a:r>
              <a:rPr lang="en-US" sz="1800" dirty="0">
                <a:solidFill>
                  <a:schemeClr val="tx1"/>
                </a:solidFill>
              </a:rPr>
              <a:t> itself.</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18</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 operations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won’t </a:t>
            </a:r>
            <a:r>
              <a:rPr lang="en-US" sz="2800" b="1" dirty="0">
                <a:solidFill>
                  <a:schemeClr val="accent2"/>
                </a:solidFill>
                <a:latin typeface="Consolas" pitchFamily="34" charset="0"/>
                <a:ea typeface="Consolas" pitchFamily="34" charset="-122"/>
                <a:cs typeface="Consolas" pitchFamily="34" charset="-120"/>
              </a:rPr>
              <a:t>setC = setA.addAll(setB);</a:t>
            </a:r>
            <a:r>
              <a:rPr lang="en-US" sz="2800" b="1" dirty="0">
                <a:solidFill>
                  <a:schemeClr val="tx1"/>
                </a:solidFill>
              </a:rPr>
              <a:t> compile, when </a:t>
            </a:r>
            <a:r>
              <a:rPr lang="en-US" sz="2800" b="1" dirty="0">
                <a:solidFill>
                  <a:schemeClr val="accent2"/>
                </a:solidFill>
                <a:latin typeface="Consolas" pitchFamily="34" charset="0"/>
                <a:ea typeface="Consolas" pitchFamily="34" charset="-122"/>
                <a:cs typeface="Consolas" pitchFamily="34" charset="-120"/>
              </a:rPr>
              <a:t>setC</a:t>
            </a:r>
            <a:r>
              <a:rPr lang="en-US" sz="2800" b="1" dirty="0">
                <a:solidFill>
                  <a:schemeClr val="tx1"/>
                </a:solidFill>
              </a:rPr>
              <a:t> is a </a:t>
            </a:r>
            <a:r>
              <a:rPr lang="en-US" sz="2800" b="1" dirty="0">
                <a:solidFill>
                  <a:schemeClr val="accent2"/>
                </a:solidFill>
                <a:latin typeface="Consolas" pitchFamily="34" charset="0"/>
                <a:ea typeface="Consolas" pitchFamily="34" charset="-122"/>
                <a:cs typeface="Consolas" pitchFamily="34" charset="-120"/>
              </a:rPr>
              <a:t>Set&lt;Integer&gt;</a:t>
            </a:r>
            <a:r>
              <a:rPr lang="en-US" sz="2800" b="1" dirty="0">
                <a:solidFill>
                  <a:schemeClr val="tx1"/>
                </a:solidFill>
              </a:rPr>
              <a:t>?</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addAll</a:t>
            </a:r>
            <a:r>
              <a:rPr lang="en-US" sz="1900" dirty="0">
                <a:solidFill>
                  <a:schemeClr val="tx1"/>
                </a:solidFill>
              </a:rPr>
              <a:t> gives back a </a:t>
            </a:r>
            <a:r>
              <a:rPr lang="en-US" sz="1900" dirty="0">
                <a:solidFill>
                  <a:schemeClr val="accent2"/>
                </a:solidFill>
                <a:latin typeface="Consolas" pitchFamily="34" charset="0"/>
                <a:ea typeface="Consolas" pitchFamily="34" charset="-122"/>
                <a:cs typeface="Consolas" pitchFamily="34" charset="-120"/>
              </a:rPr>
              <a:t>boolean</a:t>
            </a:r>
            <a:r>
              <a:rPr lang="en-US" sz="1900" dirty="0">
                <a:solidFill>
                  <a:schemeClr val="tx1"/>
                </a:solidFill>
              </a:rPr>
              <a:t>, not a new set</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addAll</a:t>
            </a:r>
            <a:r>
              <a:rPr lang="en-US" sz="1900" dirty="0">
                <a:solidFill>
                  <a:schemeClr val="tx1"/>
                </a:solidFill>
              </a:rPr>
              <a:t> only works on lists</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Two sets can’t be joined in Java</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setC</a:t>
            </a:r>
            <a:r>
              <a:rPr lang="en-US" sz="1900" dirty="0">
                <a:solidFill>
                  <a:schemeClr val="tx1"/>
                </a:solidFill>
              </a:rPr>
              <a:t> would need to be a </a:t>
            </a:r>
            <a:r>
              <a:rPr lang="en-US" sz="1900" dirty="0">
                <a:solidFill>
                  <a:schemeClr val="accent2"/>
                </a:solidFill>
                <a:latin typeface="Consolas" pitchFamily="34" charset="0"/>
                <a:ea typeface="Consolas" pitchFamily="34" charset="-122"/>
                <a:cs typeface="Consolas" pitchFamily="34" charset="-120"/>
              </a:rPr>
              <a:t>TreeSet</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18</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Set operations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won’t </a:t>
            </a:r>
            <a:r>
              <a:rPr lang="en-US" sz="2000" b="1" dirty="0">
                <a:solidFill>
                  <a:schemeClr val="tx2"/>
                </a:solidFill>
                <a:latin typeface="Consolas" pitchFamily="34" charset="0"/>
                <a:ea typeface="Consolas" pitchFamily="34" charset="-122"/>
                <a:cs typeface="Consolas" pitchFamily="34" charset="-120"/>
              </a:rPr>
              <a:t>setC = setA.addAll(setB);</a:t>
            </a:r>
            <a:r>
              <a:rPr lang="en-US" sz="2000" b="1" dirty="0">
                <a:solidFill>
                  <a:schemeClr val="tx2"/>
                </a:solidFill>
              </a:rPr>
              <a:t> compile, when </a:t>
            </a:r>
            <a:r>
              <a:rPr lang="en-US" sz="2000" b="1" dirty="0">
                <a:solidFill>
                  <a:schemeClr val="tx2"/>
                </a:solidFill>
                <a:latin typeface="Consolas" pitchFamily="34" charset="0"/>
                <a:ea typeface="Consolas" pitchFamily="34" charset="-122"/>
                <a:cs typeface="Consolas" pitchFamily="34" charset="-120"/>
              </a:rPr>
              <a:t>setC</a:t>
            </a:r>
            <a:r>
              <a:rPr lang="en-US" sz="2000" b="1" dirty="0">
                <a:solidFill>
                  <a:schemeClr val="tx2"/>
                </a:solidFill>
              </a:rPr>
              <a:t> is a </a:t>
            </a:r>
            <a:r>
              <a:rPr lang="en-US" sz="2000" b="1" dirty="0">
                <a:solidFill>
                  <a:schemeClr val="tx2"/>
                </a:solidFill>
                <a:latin typeface="Consolas" pitchFamily="34" charset="0"/>
                <a:ea typeface="Consolas" pitchFamily="34" charset="-122"/>
                <a:cs typeface="Consolas" pitchFamily="34" charset="-120"/>
              </a:rPr>
              <a:t>Set&lt;Integer&gt;</a:t>
            </a:r>
            <a:r>
              <a:rPr lang="en-US" sz="2000" b="1" dirty="0">
                <a:solidFill>
                  <a:schemeClr val="tx2"/>
                </a:solidFill>
              </a:rPr>
              <a:t>?</a:t>
            </a:r>
            <a:endParaRPr lang="en-US" sz="2000" dirty="0"/>
          </a:p>
        </p:txBody>
      </p:sp>
      <p:sp>
        <p:nvSpPr>
          <p:cNvPr id="5" name="Option A (correct)"/>
          <p:cNvSpPr/>
          <p:nvPr/>
        </p:nvSpPr>
        <p:spPr>
          <a:xfrm>
            <a:off x="548640" y="1828800"/>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191109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28800"/>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addAll</a:t>
            </a:r>
            <a:r>
              <a:rPr lang="en-US" sz="1700" b="1" dirty="0">
                <a:solidFill>
                  <a:schemeClr val="bg1"/>
                </a:solidFill>
              </a:rPr>
              <a:t> gives back a </a:t>
            </a:r>
            <a:r>
              <a:rPr lang="en-US" sz="1700" b="1" dirty="0">
                <a:solidFill>
                  <a:schemeClr val="bg1"/>
                </a:solidFill>
                <a:latin typeface="Consolas" pitchFamily="34" charset="0"/>
                <a:ea typeface="Consolas" pitchFamily="34" charset="-122"/>
                <a:cs typeface="Consolas" pitchFamily="34" charset="-120"/>
              </a:rPr>
              <a:t>boolean</a:t>
            </a:r>
            <a:r>
              <a:rPr lang="en-US" sz="1700" b="1" dirty="0">
                <a:solidFill>
                  <a:schemeClr val="bg1"/>
                </a:solidFill>
              </a:rPr>
              <a:t>, not a new set</a:t>
            </a:r>
            <a:endParaRPr lang="en-US" sz="1700" dirty="0"/>
          </a:p>
        </p:txBody>
      </p:sp>
      <p:pic>
        <p:nvPicPr>
          <p:cNvPr id="8" name="Image 0" descr="Correct mark">    </p:cNvPr>
          <p:cNvPicPr>
            <a:picLocks noChangeAspect="1"/>
          </p:cNvPicPr>
          <p:nvPr/>
        </p:nvPicPr>
        <p:blipFill>
          <a:blip r:embed="rId1"/>
          <a:stretch>
            <a:fillRect/>
          </a:stretch>
        </p:blipFill>
        <p:spPr>
          <a:xfrm>
            <a:off x="11094415" y="1938528"/>
            <a:ext cx="365760" cy="365760"/>
          </a:xfrm>
          <a:prstGeom prst="rect">
            <a:avLst/>
          </a:prstGeom>
        </p:spPr>
      </p:pic>
      <p:sp>
        <p:nvSpPr>
          <p:cNvPr id="9"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addAll</a:t>
            </a:r>
            <a:r>
              <a:rPr lang="en-US" sz="1700" dirty="0">
                <a:solidFill>
                  <a:schemeClr val="tx2"/>
                </a:solidFill>
              </a:rPr>
              <a:t> only works on lists</a:t>
            </a:r>
            <a:endParaRPr lang="en-US" sz="1700" dirty="0"/>
          </a:p>
        </p:txBody>
      </p:sp>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Two sets can’t be joined in Java</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setC</a:t>
            </a:r>
            <a:r>
              <a:rPr lang="en-US" sz="1700" dirty="0">
                <a:solidFill>
                  <a:schemeClr val="tx2"/>
                </a:solidFill>
              </a:rPr>
              <a:t> would need to be a </a:t>
            </a:r>
            <a:r>
              <a:rPr lang="en-US" sz="1700" dirty="0">
                <a:solidFill>
                  <a:schemeClr val="tx2"/>
                </a:solidFill>
                <a:latin typeface="Consolas" pitchFamily="34" charset="0"/>
                <a:ea typeface="Consolas" pitchFamily="34" charset="-122"/>
                <a:cs typeface="Consolas" pitchFamily="34" charset="-120"/>
              </a:rPr>
              <a:t>TreeSet</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accent2"/>
                </a:solidFill>
                <a:latin typeface="Consolas" pitchFamily="34" charset="0"/>
                <a:ea typeface="Consolas" pitchFamily="34" charset="-122"/>
                <a:cs typeface="Consolas" pitchFamily="34" charset="-120"/>
              </a:rPr>
              <a:t>addAll</a:t>
            </a:r>
            <a:r>
              <a:rPr lang="en-US" sz="1600" dirty="0">
                <a:solidFill>
                  <a:schemeClr val="tx1"/>
                </a:solidFill>
              </a:rPr>
              <a:t> adds the items of </a:t>
            </a:r>
            <a:r>
              <a:rPr lang="en-US" sz="1600" dirty="0">
                <a:solidFill>
                  <a:schemeClr val="accent2"/>
                </a:solidFill>
                <a:latin typeface="Consolas" pitchFamily="34" charset="0"/>
                <a:ea typeface="Consolas" pitchFamily="34" charset="-122"/>
                <a:cs typeface="Consolas" pitchFamily="34" charset="-120"/>
              </a:rPr>
              <a:t>setB</a:t>
            </a:r>
            <a:r>
              <a:rPr lang="en-US" sz="1600" dirty="0">
                <a:solidFill>
                  <a:schemeClr val="tx1"/>
                </a:solidFill>
              </a:rPr>
              <a:t> into </a:t>
            </a:r>
            <a:r>
              <a:rPr lang="en-US" sz="1600" dirty="0">
                <a:solidFill>
                  <a:schemeClr val="accent2"/>
                </a:solidFill>
                <a:latin typeface="Consolas" pitchFamily="34" charset="0"/>
                <a:ea typeface="Consolas" pitchFamily="34" charset="-122"/>
                <a:cs typeface="Consolas" pitchFamily="34" charset="-120"/>
              </a:rPr>
              <a:t>setA</a:t>
            </a:r>
            <a:r>
              <a:rPr lang="en-US" sz="1600" dirty="0">
                <a:solidFill>
                  <a:schemeClr val="tx1"/>
                </a:solidFill>
              </a:rPr>
              <a:t> itself and gives back </a:t>
            </a:r>
            <a:r>
              <a:rPr lang="en-US" sz="1600" dirty="0">
                <a:solidFill>
                  <a:schemeClr val="accent2"/>
                </a:solidFill>
                <a:latin typeface="Consolas" pitchFamily="34" charset="0"/>
                <a:ea typeface="Consolas" pitchFamily="34" charset="-122"/>
                <a:cs typeface="Consolas" pitchFamily="34" charset="-120"/>
              </a:rPr>
              <a:t>true</a:t>
            </a:r>
            <a:r>
              <a:rPr lang="en-US" sz="1600" dirty="0">
                <a:solidFill>
                  <a:schemeClr val="tx1"/>
                </a:solidFill>
              </a:rPr>
              <a:t> or </a:t>
            </a:r>
            <a:r>
              <a:rPr lang="en-US" sz="1600" dirty="0">
                <a:solidFill>
                  <a:schemeClr val="accent2"/>
                </a:solidFill>
                <a:latin typeface="Consolas" pitchFamily="34" charset="0"/>
                <a:ea typeface="Consolas" pitchFamily="34" charset="-122"/>
                <a:cs typeface="Consolas" pitchFamily="34" charset="-120"/>
              </a:rPr>
              <a:t>false</a:t>
            </a:r>
            <a:r>
              <a:rPr lang="en-US" sz="1600" dirty="0">
                <a:solidFill>
                  <a:schemeClr val="tx1"/>
                </a:solidFill>
              </a:rPr>
              <a:t> to say whether </a:t>
            </a:r>
            <a:r>
              <a:rPr lang="en-US" sz="1600" dirty="0">
                <a:solidFill>
                  <a:schemeClr val="accent2"/>
                </a:solidFill>
                <a:latin typeface="Consolas" pitchFamily="34" charset="0"/>
                <a:ea typeface="Consolas" pitchFamily="34" charset="-122"/>
                <a:cs typeface="Consolas" pitchFamily="34" charset="-120"/>
              </a:rPr>
              <a:t>setA</a:t>
            </a:r>
            <a:r>
              <a:rPr lang="en-US" sz="1600" dirty="0">
                <a:solidFill>
                  <a:schemeClr val="tx1"/>
                </a:solidFill>
              </a:rPr>
              <a:t> changed. A boolean can’t be stored in a </a:t>
            </a:r>
            <a:r>
              <a:rPr lang="en-US" sz="1600" dirty="0">
                <a:solidFill>
                  <a:schemeClr val="accent2"/>
                </a:solidFill>
                <a:latin typeface="Consolas" pitchFamily="34" charset="0"/>
                <a:ea typeface="Consolas" pitchFamily="34" charset="-122"/>
                <a:cs typeface="Consolas" pitchFamily="34" charset="-120"/>
              </a:rPr>
              <a:t>Set&lt;Integer&gt;</a:t>
            </a:r>
            <a:r>
              <a:rPr lang="en-US" sz="1600" dirty="0">
                <a:solidFill>
                  <a:schemeClr val="tx1"/>
                </a:solidFill>
              </a:rPr>
              <a:t> variable. To get a new set, copy </a:t>
            </a:r>
            <a:r>
              <a:rPr lang="en-US" sz="1600" dirty="0">
                <a:solidFill>
                  <a:schemeClr val="accent2"/>
                </a:solidFill>
                <a:latin typeface="Consolas" pitchFamily="34" charset="0"/>
                <a:ea typeface="Consolas" pitchFamily="34" charset="-122"/>
                <a:cs typeface="Consolas" pitchFamily="34" charset="-120"/>
              </a:rPr>
              <a:t>setA</a:t>
            </a:r>
            <a:r>
              <a:rPr lang="en-US" sz="1600" dirty="0">
                <a:solidFill>
                  <a:schemeClr val="tx1"/>
                </a:solidFill>
              </a:rPr>
              <a:t> first and call </a:t>
            </a:r>
            <a:r>
              <a:rPr lang="en-US" sz="1600" dirty="0">
                <a:solidFill>
                  <a:schemeClr val="accent2"/>
                </a:solidFill>
                <a:latin typeface="Consolas" pitchFamily="34" charset="0"/>
                <a:ea typeface="Consolas" pitchFamily="34" charset="-122"/>
                <a:cs typeface="Consolas" pitchFamily="34" charset="-120"/>
              </a:rPr>
              <a:t>addAll</a:t>
            </a:r>
            <a:r>
              <a:rPr lang="en-US" sz="1600" dirty="0">
                <a:solidFill>
                  <a:schemeClr val="tx1"/>
                </a:solidFill>
              </a:rPr>
              <a:t> on the copy.</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04</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Iterating</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Visiting every item in a collection</a:t>
            </a:r>
            <a:endParaRPr lang="en-US" sz="2000" dirty="0"/>
          </a:p>
        </p:txBody>
      </p:sp>
      <p:sp>
        <p:nvSpPr>
          <p:cNvPr id="5" name="Topic chip"/>
          <p:cNvSpPr/>
          <p:nvPr/>
        </p:nvSpPr>
        <p:spPr>
          <a:xfrm>
            <a:off x="822960" y="4846320"/>
            <a:ext cx="114226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Iterable</a:t>
            </a:r>
            <a:endParaRPr lang="en-US" sz="1400" dirty="0"/>
          </a:p>
        </p:txBody>
      </p:sp>
      <p:sp>
        <p:nvSpPr>
          <p:cNvPr id="6" name="Topic chip"/>
          <p:cNvSpPr/>
          <p:nvPr/>
        </p:nvSpPr>
        <p:spPr>
          <a:xfrm>
            <a:off x="2111532" y="4846320"/>
            <a:ext cx="114226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for-each</a:t>
            </a:r>
            <a:endParaRPr lang="en-US" sz="1400" dirty="0"/>
          </a:p>
        </p:txBody>
      </p:sp>
      <p:sp>
        <p:nvSpPr>
          <p:cNvPr id="7" name="Topic chip"/>
          <p:cNvSpPr/>
          <p:nvPr/>
        </p:nvSpPr>
        <p:spPr>
          <a:xfrm>
            <a:off x="3400105" y="4846320"/>
            <a:ext cx="12347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forEach()</a:t>
            </a:r>
            <a:endParaRPr lang="en-US" sz="1400" dirty="0"/>
          </a:p>
        </p:txBody>
      </p:sp>
      <p:sp>
        <p:nvSpPr>
          <p:cNvPr id="8" name="Topic chip"/>
          <p:cNvSpPr/>
          <p:nvPr/>
        </p:nvSpPr>
        <p:spPr>
          <a:xfrm>
            <a:off x="4781169" y="4846320"/>
            <a:ext cx="114226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Iterator</a:t>
            </a:r>
            <a:endParaRPr lang="en-US" sz="1400" dirty="0"/>
          </a:p>
        </p:txBody>
      </p:sp>
      <p:sp>
        <p:nvSpPr>
          <p:cNvPr id="9" name="Topic chip"/>
          <p:cNvSpPr/>
          <p:nvPr/>
        </p:nvSpPr>
        <p:spPr>
          <a:xfrm>
            <a:off x="6069741" y="4846320"/>
            <a:ext cx="178970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Removing safely</a:t>
            </a:r>
            <a:endParaRPr lang="en-US" sz="1400" dirty="0"/>
          </a:p>
        </p:txBody>
      </p:sp>
      <p:pic>
        <p:nvPicPr>
          <p:cNvPr id="10"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ITERATING</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Iterable: things we can loop through</a:t>
            </a:r>
            <a:endParaRPr lang="en-US" sz="3400" dirty="0"/>
          </a:p>
        </p:txBody>
      </p:sp>
      <p:sp>
        <p:nvSpPr>
          <p:cNvPr id="5" name="Text 2"/>
          <p:cNvSpPr txBox="1"/>
          <p:nvPr/>
        </p:nvSpPr>
        <p:spPr>
          <a:xfrm>
            <a:off x="548640" y="1783080"/>
            <a:ext cx="5394960" cy="338328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Something iterable can be looped through, one item at a time.</a:t>
            </a:r>
            <a:endParaRPr lang="en-US" sz="1700" dirty="0"/>
          </a:p>
          <a:p>
            <a:pPr marL="228600" indent="-228600">
              <a:spcAft>
                <a:spcPts val="1000"/>
              </a:spcAft>
              <a:buSzPct val="100000"/>
              <a:buChar char="•"/>
            </a:pPr>
            <a:r>
              <a:rPr lang="en-US" sz="1700" dirty="0">
                <a:solidFill>
                  <a:schemeClr val="tx1"/>
                </a:solidFill>
              </a:rPr>
              <a:t>The </a:t>
            </a:r>
            <a:r>
              <a:rPr lang="en-US" sz="1700" dirty="0">
                <a:solidFill>
                  <a:schemeClr val="accent2"/>
                </a:solidFill>
                <a:latin typeface="Consolas" pitchFamily="34" charset="0"/>
                <a:ea typeface="Consolas" pitchFamily="34" charset="-122"/>
                <a:cs typeface="Consolas" pitchFamily="34" charset="-120"/>
              </a:rPr>
              <a:t>Iterable</a:t>
            </a:r>
            <a:r>
              <a:rPr lang="en-US" sz="1700" dirty="0">
                <a:solidFill>
                  <a:schemeClr val="tx1"/>
                </a:solidFill>
              </a:rPr>
              <a:t> interface has an </a:t>
            </a:r>
            <a:r>
              <a:rPr lang="en-US" sz="1700" dirty="0">
                <a:solidFill>
                  <a:schemeClr val="accent2"/>
                </a:solidFill>
                <a:latin typeface="Consolas" pitchFamily="34" charset="0"/>
                <a:ea typeface="Consolas" pitchFamily="34" charset="-122"/>
                <a:cs typeface="Consolas" pitchFamily="34" charset="-120"/>
              </a:rPr>
              <a:t>iterator()</a:t>
            </a:r>
            <a:r>
              <a:rPr lang="en-US" sz="1700" dirty="0">
                <a:solidFill>
                  <a:schemeClr val="tx1"/>
                </a:solidFill>
              </a:rPr>
              <a:t> method, which gives back an </a:t>
            </a:r>
            <a:r>
              <a:rPr lang="en-US" sz="1700" dirty="0">
                <a:solidFill>
                  <a:schemeClr val="accent2"/>
                </a:solidFill>
                <a:latin typeface="Consolas" pitchFamily="34" charset="0"/>
                <a:ea typeface="Consolas" pitchFamily="34" charset="-122"/>
                <a:cs typeface="Consolas" pitchFamily="34" charset="-120"/>
              </a:rPr>
              <a:t>Iterator</a:t>
            </a:r>
            <a:r>
              <a:rPr lang="en-US" sz="1700" dirty="0">
                <a:solidFill>
                  <a:schemeClr val="tx1"/>
                </a:solidFill>
              </a:rPr>
              <a:t>.</a:t>
            </a:r>
            <a:endParaRPr lang="en-US" sz="1700" dirty="0"/>
          </a:p>
          <a:p>
            <a:pPr marL="228600" indent="-228600">
              <a:spcAft>
                <a:spcPts val="1000"/>
              </a:spcAft>
              <a:buSzPct val="100000"/>
              <a:buChar char="•"/>
            </a:pPr>
            <a:r>
              <a:rPr lang="en-US" sz="1700" dirty="0">
                <a:solidFill>
                  <a:schemeClr val="tx1"/>
                </a:solidFill>
              </a:rPr>
              <a:t>The iterator walks through the items for us, so we don’t need to know how they’re stored inside.</a:t>
            </a:r>
            <a:endParaRPr lang="en-US" sz="1700" dirty="0"/>
          </a:p>
          <a:p>
            <a:pPr marL="228600" indent="-228600">
              <a:buSzPct val="100000"/>
              <a:buChar char="•"/>
            </a:pPr>
            <a:r>
              <a:rPr lang="en-US" sz="1700" dirty="0">
                <a:solidFill>
                  <a:schemeClr val="accent2"/>
                </a:solidFill>
                <a:latin typeface="Consolas" pitchFamily="34" charset="0"/>
                <a:ea typeface="Consolas" pitchFamily="34" charset="-122"/>
                <a:cs typeface="Consolas" pitchFamily="34" charset="-120"/>
              </a:rPr>
              <a:t>Collection</a:t>
            </a:r>
            <a:r>
              <a:rPr lang="en-US" sz="1700" dirty="0">
                <a:solidFill>
                  <a:schemeClr val="tx1"/>
                </a:solidFill>
              </a:rPr>
              <a:t> extends </a:t>
            </a:r>
            <a:r>
              <a:rPr lang="en-US" sz="1700" dirty="0">
                <a:solidFill>
                  <a:schemeClr val="accent2"/>
                </a:solidFill>
                <a:latin typeface="Consolas" pitchFamily="34" charset="0"/>
                <a:ea typeface="Consolas" pitchFamily="34" charset="-122"/>
                <a:cs typeface="Consolas" pitchFamily="34" charset="-120"/>
              </a:rPr>
              <a:t>Iterable</a:t>
            </a:r>
            <a:r>
              <a:rPr lang="en-US" sz="1700" dirty="0">
                <a:solidFill>
                  <a:schemeClr val="tx1"/>
                </a:solidFill>
              </a:rPr>
              <a:t>, so every list, set and queue works in a for-each loop.</a:t>
            </a:r>
            <a:endParaRPr lang="en-US" sz="1700" dirty="0"/>
          </a:p>
        </p:txBody>
      </p:sp>
      <p:sp>
        <p:nvSpPr>
          <p:cNvPr id="6" name="Iterable&lt;E&gt;"/>
          <p:cNvSpPr/>
          <p:nvPr/>
        </p:nvSpPr>
        <p:spPr>
          <a:xfrm>
            <a:off x="6309360" y="1874520"/>
            <a:ext cx="2103120" cy="502920"/>
          </a:xfrm>
          <a:prstGeom prst="roundRect">
            <a:avLst>
              <a:gd name="adj" fmla="val 14545"/>
            </a:avLst>
          </a:prstGeom>
          <a:solidFill>
            <a:schemeClr val="accent3">
              <a:alpha val="14000"/>
            </a:schemeClr>
          </a:solidFill>
          <a:ln w="15875">
            <a:solidFill>
              <a:schemeClr val="accent3"/>
            </a:solidFill>
            <a:prstDash val="solid"/>
          </a:ln>
        </p:spPr>
      </p:sp>
      <p:sp>
        <p:nvSpPr>
          <p:cNvPr id="7" name="Text 4"/>
          <p:cNvSpPr txBox="1"/>
          <p:nvPr/>
        </p:nvSpPr>
        <p:spPr>
          <a:xfrm>
            <a:off x="6309360" y="1874520"/>
            <a:ext cx="210312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Iterable&lt;E&gt;</a:t>
            </a:r>
            <a:endParaRPr lang="en-US" sz="1300" dirty="0"/>
          </a:p>
        </p:txBody>
      </p:sp>
      <p:sp>
        <p:nvSpPr>
          <p:cNvPr id="8" name="Shape 5"/>
          <p:cNvSpPr/>
          <p:nvPr/>
        </p:nvSpPr>
        <p:spPr>
          <a:xfrm>
            <a:off x="8458200" y="2125980"/>
            <a:ext cx="914400" cy="0"/>
          </a:xfrm>
          <a:prstGeom prst="line">
            <a:avLst/>
          </a:prstGeom>
          <a:noFill/>
          <a:ln w="22225">
            <a:solidFill>
              <a:schemeClr val="accent2"/>
            </a:solidFill>
            <a:prstDash val="solid"/>
            <a:tailEnd type="triangle"/>
          </a:ln>
        </p:spPr>
      </p:sp>
      <p:sp>
        <p:nvSpPr>
          <p:cNvPr id="9" name="Text 6"/>
          <p:cNvSpPr txBox="1"/>
          <p:nvPr/>
        </p:nvSpPr>
        <p:spPr>
          <a:xfrm>
            <a:off x="8366760" y="1627632"/>
            <a:ext cx="1097280" cy="274320"/>
          </a:xfrm>
          <a:prstGeom prst="rect">
            <a:avLst/>
          </a:prstGeom>
          <a:noFill/>
          <a:ln/>
        </p:spPr>
        <p:txBody>
          <a:bodyPr wrap="square" lIns="0" tIns="0" rIns="0" bIns="0" rtlCol="0" anchor="t"/>
          <a:lstStyle/>
          <a:p>
            <a:pPr algn="ctr" indent="0" marL="0">
              <a:buNone/>
            </a:pPr>
            <a:r>
              <a:rPr lang="en-US" sz="1200" dirty="0">
                <a:solidFill>
                  <a:schemeClr val="accent2"/>
                </a:solidFill>
                <a:latin typeface="Consolas" pitchFamily="34" charset="0"/>
                <a:ea typeface="Consolas" pitchFamily="34" charset="-122"/>
                <a:cs typeface="Consolas" pitchFamily="34" charset="-120"/>
              </a:rPr>
              <a:t>iterator()</a:t>
            </a:r>
            <a:endParaRPr lang="en-US" sz="1200" dirty="0"/>
          </a:p>
        </p:txBody>
      </p:sp>
      <p:sp>
        <p:nvSpPr>
          <p:cNvPr id="10" name="Iterator"/>
          <p:cNvSpPr/>
          <p:nvPr/>
        </p:nvSpPr>
        <p:spPr>
          <a:xfrm>
            <a:off x="9418320" y="1691640"/>
            <a:ext cx="2224735"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Text 8"/>
          <p:cNvSpPr txBox="1"/>
          <p:nvPr/>
        </p:nvSpPr>
        <p:spPr>
          <a:xfrm>
            <a:off x="9418320" y="1801368"/>
            <a:ext cx="2224735" cy="36576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Iterator&lt;E&gt;</a:t>
            </a:r>
            <a:endParaRPr lang="en-US" sz="1500" dirty="0"/>
          </a:p>
        </p:txBody>
      </p:sp>
      <p:sp>
        <p:nvSpPr>
          <p:cNvPr id="12" name="Code chip"/>
          <p:cNvSpPr/>
          <p:nvPr/>
        </p:nvSpPr>
        <p:spPr>
          <a:xfrm>
            <a:off x="9646920" y="2240280"/>
            <a:ext cx="1767535" cy="365760"/>
          </a:xfrm>
          <a:prstGeom prst="roundRect">
            <a:avLst>
              <a:gd name="adj" fmla="val 20000"/>
            </a:avLst>
          </a:prstGeom>
          <a:solidFill>
            <a:schemeClr val="bg2"/>
          </a:solidFill>
          <a:ln/>
        </p:spPr>
        <p:txBody>
          <a:bodyPr wrap="square" lIns="0" tIns="0" rIns="0" bIns="0" rtlCol="0" anchor="ctr"/>
          <a:lstStyle/>
          <a:p>
            <a:pPr algn="ctr" indent="0" marL="0">
              <a:buNone/>
            </a:pPr>
            <a:r>
              <a:rPr lang="en-US" sz="1350" dirty="0">
                <a:solidFill>
                  <a:schemeClr val="accent2"/>
                </a:solidFill>
                <a:latin typeface="Consolas" pitchFamily="34" charset="0"/>
                <a:ea typeface="Consolas" pitchFamily="34" charset="-122"/>
                <a:cs typeface="Consolas" pitchFamily="34" charset="-120"/>
              </a:rPr>
              <a:t>hasNext()</a:t>
            </a:r>
            <a:endParaRPr lang="en-US" sz="1350" dirty="0"/>
          </a:p>
        </p:txBody>
      </p:sp>
      <p:sp>
        <p:nvSpPr>
          <p:cNvPr id="13" name="Code chip"/>
          <p:cNvSpPr/>
          <p:nvPr/>
        </p:nvSpPr>
        <p:spPr>
          <a:xfrm>
            <a:off x="9646920" y="2697480"/>
            <a:ext cx="1767535" cy="365760"/>
          </a:xfrm>
          <a:prstGeom prst="roundRect">
            <a:avLst>
              <a:gd name="adj" fmla="val 20000"/>
            </a:avLst>
          </a:prstGeom>
          <a:solidFill>
            <a:schemeClr val="bg2"/>
          </a:solidFill>
          <a:ln/>
        </p:spPr>
        <p:txBody>
          <a:bodyPr wrap="square" lIns="0" tIns="0" rIns="0" bIns="0" rtlCol="0" anchor="ctr"/>
          <a:lstStyle/>
          <a:p>
            <a:pPr algn="ctr" indent="0" marL="0">
              <a:buNone/>
            </a:pPr>
            <a:r>
              <a:rPr lang="en-US" sz="1350" dirty="0">
                <a:solidFill>
                  <a:schemeClr val="accent2"/>
                </a:solidFill>
                <a:latin typeface="Consolas" pitchFamily="34" charset="0"/>
                <a:ea typeface="Consolas" pitchFamily="34" charset="-122"/>
                <a:cs typeface="Consolas" pitchFamily="34" charset="-120"/>
              </a:rPr>
              <a:t>next()</a:t>
            </a:r>
            <a:endParaRPr lang="en-US" sz="1350" dirty="0"/>
          </a:p>
        </p:txBody>
      </p:sp>
      <p:sp>
        <p:nvSpPr>
          <p:cNvPr id="14" name="Code chip"/>
          <p:cNvSpPr/>
          <p:nvPr/>
        </p:nvSpPr>
        <p:spPr>
          <a:xfrm>
            <a:off x="9646920" y="3154680"/>
            <a:ext cx="1767535" cy="365760"/>
          </a:xfrm>
          <a:prstGeom prst="roundRect">
            <a:avLst>
              <a:gd name="adj" fmla="val 20000"/>
            </a:avLst>
          </a:prstGeom>
          <a:solidFill>
            <a:schemeClr val="bg2"/>
          </a:solidFill>
          <a:ln/>
        </p:spPr>
        <p:txBody>
          <a:bodyPr wrap="square" lIns="0" tIns="0" rIns="0" bIns="0" rtlCol="0" anchor="ctr"/>
          <a:lstStyle/>
          <a:p>
            <a:pPr algn="ctr" indent="0" marL="0">
              <a:buNone/>
            </a:pPr>
            <a:r>
              <a:rPr lang="en-US" sz="1350" dirty="0">
                <a:solidFill>
                  <a:schemeClr val="accent2"/>
                </a:solidFill>
                <a:latin typeface="Consolas" pitchFamily="34" charset="0"/>
                <a:ea typeface="Consolas" pitchFamily="34" charset="-122"/>
                <a:cs typeface="Consolas" pitchFamily="34" charset="-120"/>
              </a:rPr>
              <a:t>remove()</a:t>
            </a:r>
            <a:endParaRPr lang="en-US" sz="1350" dirty="0"/>
          </a:p>
        </p:txBody>
      </p:sp>
      <p:sp>
        <p:nvSpPr>
          <p:cNvPr id="15" name="Collection&lt;E&gt;"/>
          <p:cNvSpPr/>
          <p:nvPr/>
        </p:nvSpPr>
        <p:spPr>
          <a:xfrm>
            <a:off x="6309360" y="2788920"/>
            <a:ext cx="2103120" cy="502920"/>
          </a:xfrm>
          <a:prstGeom prst="roundRect">
            <a:avLst>
              <a:gd name="adj" fmla="val 14545"/>
            </a:avLst>
          </a:prstGeom>
          <a:solidFill>
            <a:schemeClr val="accent3">
              <a:alpha val="14000"/>
            </a:schemeClr>
          </a:solidFill>
          <a:ln w="15875">
            <a:solidFill>
              <a:schemeClr val="accent3"/>
            </a:solidFill>
            <a:prstDash val="solid"/>
          </a:ln>
        </p:spPr>
      </p:sp>
      <p:sp>
        <p:nvSpPr>
          <p:cNvPr id="16" name="Text 13"/>
          <p:cNvSpPr txBox="1"/>
          <p:nvPr/>
        </p:nvSpPr>
        <p:spPr>
          <a:xfrm>
            <a:off x="6309360" y="2788920"/>
            <a:ext cx="2103120" cy="502920"/>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Collection&lt;E&gt;</a:t>
            </a:r>
            <a:endParaRPr lang="en-US" sz="1300" dirty="0"/>
          </a:p>
        </p:txBody>
      </p:sp>
      <p:sp>
        <p:nvSpPr>
          <p:cNvPr id="17" name="Shape 14"/>
          <p:cNvSpPr/>
          <p:nvPr/>
        </p:nvSpPr>
        <p:spPr>
          <a:xfrm flipV="1">
            <a:off x="7360920" y="2395728"/>
            <a:ext cx="0" cy="393192"/>
          </a:xfrm>
          <a:prstGeom prst="line">
            <a:avLst/>
          </a:prstGeom>
          <a:noFill/>
          <a:ln w="15875">
            <a:solidFill>
              <a:schemeClr val="tx2"/>
            </a:solidFill>
            <a:prstDash val="solid"/>
            <a:tailEnd type="triangle"/>
          </a:ln>
        </p:spPr>
      </p:sp>
      <p:sp>
        <p:nvSpPr>
          <p:cNvPr id="18" name="Shape 15"/>
          <p:cNvSpPr/>
          <p:nvPr/>
        </p:nvSpPr>
        <p:spPr>
          <a:xfrm>
            <a:off x="6519672" y="3611880"/>
            <a:ext cx="1682496" cy="0"/>
          </a:xfrm>
          <a:prstGeom prst="line">
            <a:avLst/>
          </a:prstGeom>
          <a:noFill/>
          <a:ln w="15875">
            <a:solidFill>
              <a:schemeClr val="tx2"/>
            </a:solidFill>
            <a:prstDash val="solid"/>
          </a:ln>
        </p:spPr>
      </p:sp>
      <p:sp>
        <p:nvSpPr>
          <p:cNvPr id="19" name="Shape 16"/>
          <p:cNvSpPr/>
          <p:nvPr/>
        </p:nvSpPr>
        <p:spPr>
          <a:xfrm flipV="1">
            <a:off x="6519672" y="3611880"/>
            <a:ext cx="0" cy="137160"/>
          </a:xfrm>
          <a:prstGeom prst="line">
            <a:avLst/>
          </a:prstGeom>
          <a:noFill/>
          <a:ln w="15875">
            <a:solidFill>
              <a:schemeClr val="tx2"/>
            </a:solidFill>
            <a:prstDash val="solid"/>
          </a:ln>
        </p:spPr>
      </p:sp>
      <p:sp>
        <p:nvSpPr>
          <p:cNvPr id="20" name="List"/>
          <p:cNvSpPr/>
          <p:nvPr/>
        </p:nvSpPr>
        <p:spPr>
          <a:xfrm>
            <a:off x="6140196" y="3749040"/>
            <a:ext cx="758952" cy="402336"/>
          </a:xfrm>
          <a:prstGeom prst="roundRect">
            <a:avLst>
              <a:gd name="adj" fmla="val 18182"/>
            </a:avLst>
          </a:prstGeom>
          <a:solidFill>
            <a:schemeClr val="accent3">
              <a:alpha val="14000"/>
            </a:schemeClr>
          </a:solidFill>
          <a:ln w="15875">
            <a:solidFill>
              <a:schemeClr val="accent3"/>
            </a:solidFill>
            <a:prstDash val="solid"/>
          </a:ln>
        </p:spPr>
      </p:sp>
      <p:sp>
        <p:nvSpPr>
          <p:cNvPr id="21" name="Text 18"/>
          <p:cNvSpPr txBox="1"/>
          <p:nvPr/>
        </p:nvSpPr>
        <p:spPr>
          <a:xfrm>
            <a:off x="6140196" y="3749040"/>
            <a:ext cx="75895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List</a:t>
            </a:r>
            <a:endParaRPr lang="en-US" sz="1300" dirty="0"/>
          </a:p>
        </p:txBody>
      </p:sp>
      <p:sp>
        <p:nvSpPr>
          <p:cNvPr id="22" name="Shape 19"/>
          <p:cNvSpPr/>
          <p:nvPr/>
        </p:nvSpPr>
        <p:spPr>
          <a:xfrm flipV="1">
            <a:off x="7360920" y="3611880"/>
            <a:ext cx="0" cy="137160"/>
          </a:xfrm>
          <a:prstGeom prst="line">
            <a:avLst/>
          </a:prstGeom>
          <a:noFill/>
          <a:ln w="15875">
            <a:solidFill>
              <a:schemeClr val="tx2"/>
            </a:solidFill>
            <a:prstDash val="solid"/>
          </a:ln>
        </p:spPr>
      </p:sp>
      <p:sp>
        <p:nvSpPr>
          <p:cNvPr id="23" name="Set"/>
          <p:cNvSpPr/>
          <p:nvPr/>
        </p:nvSpPr>
        <p:spPr>
          <a:xfrm>
            <a:off x="6981444" y="3749040"/>
            <a:ext cx="758952" cy="402336"/>
          </a:xfrm>
          <a:prstGeom prst="roundRect">
            <a:avLst>
              <a:gd name="adj" fmla="val 18182"/>
            </a:avLst>
          </a:prstGeom>
          <a:solidFill>
            <a:schemeClr val="accent3">
              <a:alpha val="14000"/>
            </a:schemeClr>
          </a:solidFill>
          <a:ln w="15875">
            <a:solidFill>
              <a:schemeClr val="accent3"/>
            </a:solidFill>
            <a:prstDash val="solid"/>
          </a:ln>
        </p:spPr>
      </p:sp>
      <p:sp>
        <p:nvSpPr>
          <p:cNvPr id="24" name="Text 21"/>
          <p:cNvSpPr txBox="1"/>
          <p:nvPr/>
        </p:nvSpPr>
        <p:spPr>
          <a:xfrm>
            <a:off x="6981444" y="3749040"/>
            <a:ext cx="75895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Set</a:t>
            </a:r>
            <a:endParaRPr lang="en-US" sz="1300" dirty="0"/>
          </a:p>
        </p:txBody>
      </p:sp>
      <p:sp>
        <p:nvSpPr>
          <p:cNvPr id="25" name="Shape 22"/>
          <p:cNvSpPr/>
          <p:nvPr/>
        </p:nvSpPr>
        <p:spPr>
          <a:xfrm flipV="1">
            <a:off x="8202168" y="3611880"/>
            <a:ext cx="0" cy="137160"/>
          </a:xfrm>
          <a:prstGeom prst="line">
            <a:avLst/>
          </a:prstGeom>
          <a:noFill/>
          <a:ln w="15875">
            <a:solidFill>
              <a:schemeClr val="tx2"/>
            </a:solidFill>
            <a:prstDash val="solid"/>
          </a:ln>
        </p:spPr>
      </p:sp>
      <p:sp>
        <p:nvSpPr>
          <p:cNvPr id="26" name="Queue"/>
          <p:cNvSpPr/>
          <p:nvPr/>
        </p:nvSpPr>
        <p:spPr>
          <a:xfrm>
            <a:off x="7822692" y="3749040"/>
            <a:ext cx="758952" cy="402336"/>
          </a:xfrm>
          <a:prstGeom prst="roundRect">
            <a:avLst>
              <a:gd name="adj" fmla="val 18182"/>
            </a:avLst>
          </a:prstGeom>
          <a:solidFill>
            <a:schemeClr val="accent3">
              <a:alpha val="14000"/>
            </a:schemeClr>
          </a:solidFill>
          <a:ln w="15875">
            <a:solidFill>
              <a:schemeClr val="accent3"/>
            </a:solidFill>
            <a:prstDash val="solid"/>
          </a:ln>
        </p:spPr>
      </p:sp>
      <p:sp>
        <p:nvSpPr>
          <p:cNvPr id="27" name="Text 24"/>
          <p:cNvSpPr txBox="1"/>
          <p:nvPr/>
        </p:nvSpPr>
        <p:spPr>
          <a:xfrm>
            <a:off x="7822692" y="3749040"/>
            <a:ext cx="75895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Queue</a:t>
            </a:r>
            <a:endParaRPr lang="en-US" sz="1300" dirty="0"/>
          </a:p>
        </p:txBody>
      </p:sp>
      <p:sp>
        <p:nvSpPr>
          <p:cNvPr id="28" name="Shape 25"/>
          <p:cNvSpPr/>
          <p:nvPr/>
        </p:nvSpPr>
        <p:spPr>
          <a:xfrm flipV="1">
            <a:off x="7360920" y="3310128"/>
            <a:ext cx="0" cy="301752"/>
          </a:xfrm>
          <a:prstGeom prst="line">
            <a:avLst/>
          </a:prstGeom>
          <a:noFill/>
          <a:ln w="15875">
            <a:solidFill>
              <a:schemeClr val="tx2"/>
            </a:solidFill>
            <a:prstDash val="solid"/>
            <a:tailEnd type="triangle"/>
          </a:ln>
        </p:spPr>
      </p:sp>
      <p:sp>
        <p:nvSpPr>
          <p:cNvPr id="29" name="Note"/>
          <p:cNvSpPr/>
          <p:nvPr/>
        </p:nvSpPr>
        <p:spPr>
          <a:xfrm>
            <a:off x="548640" y="5212080"/>
            <a:ext cx="11094415" cy="822960"/>
          </a:xfrm>
          <a:prstGeom prst="roundRect">
            <a:avLst>
              <a:gd name="adj" fmla="val 13333"/>
            </a:avLst>
          </a:prstGeom>
          <a:solidFill>
            <a:schemeClr val="bg2"/>
          </a:solidFill>
          <a:ln/>
        </p:spPr>
      </p:sp>
      <p:sp>
        <p:nvSpPr>
          <p:cNvPr id="30" name="Icon tile"/>
          <p:cNvSpPr/>
          <p:nvPr/>
        </p:nvSpPr>
        <p:spPr>
          <a:xfrm>
            <a:off x="822960" y="5358384"/>
            <a:ext cx="530352" cy="530352"/>
          </a:xfrm>
          <a:prstGeom prst="roundRect">
            <a:avLst>
              <a:gd name="adj" fmla="val 24000"/>
            </a:avLst>
          </a:prstGeom>
          <a:solidFill>
            <a:schemeClr val="accent5">
              <a:alpha val="14000"/>
            </a:schemeClr>
          </a:solidFill>
          <a:ln/>
        </p:spPr>
      </p:sp>
      <p:pic>
        <p:nvPicPr>
          <p:cNvPr id="31" name="Image 0" descr="key icon">    </p:cNvPr>
          <p:cNvPicPr>
            <a:picLocks noChangeAspect="1"/>
          </p:cNvPicPr>
          <p:nvPr/>
        </p:nvPicPr>
        <p:blipFill>
          <a:blip r:embed="rId1"/>
          <a:stretch>
            <a:fillRect/>
          </a:stretch>
        </p:blipFill>
        <p:spPr>
          <a:xfrm>
            <a:off x="934334" y="5469758"/>
            <a:ext cx="307604" cy="307604"/>
          </a:xfrm>
          <a:prstGeom prst="rect">
            <a:avLst/>
          </a:prstGeom>
        </p:spPr>
      </p:pic>
      <p:sp>
        <p:nvSpPr>
          <p:cNvPr id="32" name="Text 28"/>
          <p:cNvSpPr txBox="1"/>
          <p:nvPr/>
        </p:nvSpPr>
        <p:spPr>
          <a:xfrm>
            <a:off x="1572768" y="5212080"/>
            <a:ext cx="9814255" cy="822960"/>
          </a:xfrm>
          <a:prstGeom prst="rect">
            <a:avLst/>
          </a:prstGeom>
          <a:noFill/>
          <a:ln/>
        </p:spPr>
        <p:txBody>
          <a:bodyPr wrap="square" lIns="0" tIns="0" rIns="0" bIns="0" rtlCol="0" anchor="ctr"/>
          <a:lstStyle/>
          <a:p>
            <a:pPr algn="l" indent="0" marL="0">
              <a:buNone/>
            </a:pPr>
            <a:r>
              <a:rPr lang="en-US" sz="1600" dirty="0">
                <a:solidFill>
                  <a:schemeClr val="tx1"/>
                </a:solidFill>
              </a:rPr>
              <a:t>A </a:t>
            </a:r>
            <a:r>
              <a:rPr lang="en-US" sz="1600" dirty="0">
                <a:solidFill>
                  <a:schemeClr val="accent2"/>
                </a:solidFill>
                <a:latin typeface="Consolas" pitchFamily="34" charset="0"/>
                <a:ea typeface="Consolas" pitchFamily="34" charset="-122"/>
                <a:cs typeface="Consolas" pitchFamily="34" charset="-120"/>
              </a:rPr>
              <a:t>Map</a:t>
            </a:r>
            <a:r>
              <a:rPr lang="en-US" sz="1600" dirty="0">
                <a:solidFill>
                  <a:schemeClr val="tx1"/>
                </a:solidFill>
              </a:rPr>
              <a:t> isn’t </a:t>
            </a:r>
            <a:r>
              <a:rPr lang="en-US" sz="1600" dirty="0">
                <a:solidFill>
                  <a:schemeClr val="accent2"/>
                </a:solidFill>
                <a:latin typeface="Consolas" pitchFamily="34" charset="0"/>
                <a:ea typeface="Consolas" pitchFamily="34" charset="-122"/>
                <a:cs typeface="Consolas" pitchFamily="34" charset="-120"/>
              </a:rPr>
              <a:t>Iterable</a:t>
            </a:r>
            <a:r>
              <a:rPr lang="en-US" sz="1600" dirty="0">
                <a:solidFill>
                  <a:schemeClr val="tx1"/>
                </a:solidFill>
              </a:rPr>
              <a:t>. We loop through its </a:t>
            </a:r>
            <a:r>
              <a:rPr lang="en-US" sz="1600" dirty="0">
                <a:solidFill>
                  <a:schemeClr val="accent2"/>
                </a:solidFill>
                <a:latin typeface="Consolas" pitchFamily="34" charset="0"/>
                <a:ea typeface="Consolas" pitchFamily="34" charset="-122"/>
                <a:cs typeface="Consolas" pitchFamily="34" charset="-120"/>
              </a:rPr>
              <a:t>keySet()</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values()</a:t>
            </a:r>
            <a:r>
              <a:rPr lang="en-US" sz="1600" dirty="0">
                <a:solidFill>
                  <a:schemeClr val="tx1"/>
                </a:solidFill>
              </a:rPr>
              <a:t> or </a:t>
            </a:r>
            <a:r>
              <a:rPr lang="en-US" sz="1600" dirty="0">
                <a:solidFill>
                  <a:schemeClr val="accent2"/>
                </a:solidFill>
                <a:latin typeface="Consolas" pitchFamily="34" charset="0"/>
                <a:ea typeface="Consolas" pitchFamily="34" charset="-122"/>
                <a:cs typeface="Consolas" pitchFamily="34" charset="-120"/>
              </a:rPr>
              <a:t>entrySet()</a:t>
            </a:r>
            <a:r>
              <a:rPr lang="en-US" sz="1600" dirty="0">
                <a:solidFill>
                  <a:schemeClr val="tx1"/>
                </a:solidFill>
              </a:rPr>
              <a:t> instead.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19</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Iterable</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of these can go straight into a for-each loop, as in </a:t>
            </a:r>
            <a:r>
              <a:rPr lang="en-US" sz="2800" b="1" dirty="0">
                <a:solidFill>
                  <a:schemeClr val="accent2"/>
                </a:solidFill>
                <a:latin typeface="Consolas" pitchFamily="34" charset="0"/>
                <a:ea typeface="Consolas" pitchFamily="34" charset="-122"/>
                <a:cs typeface="Consolas" pitchFamily="34" charset="-120"/>
              </a:rPr>
              <a:t>for (String s : x)</a:t>
            </a:r>
            <a:r>
              <a:rPr lang="en-US" sz="2800" b="1" dirty="0">
                <a:solidFill>
                  <a:schemeClr val="tx1"/>
                </a:solidFill>
              </a:rPr>
              <a: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a:t>
            </a:r>
            <a:r>
              <a:rPr lang="en-US" sz="2000" dirty="0">
                <a:solidFill>
                  <a:schemeClr val="accent2"/>
                </a:solidFill>
                <a:latin typeface="Consolas" pitchFamily="34" charset="0"/>
                <a:ea typeface="Consolas" pitchFamily="34" charset="-122"/>
                <a:cs typeface="Consolas" pitchFamily="34" charset="-120"/>
              </a:rPr>
              <a:t>HashMap&lt;String, Integer&gt;</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a:t>
            </a:r>
            <a:r>
              <a:rPr lang="en-US" sz="2000" dirty="0">
                <a:solidFill>
                  <a:schemeClr val="accent2"/>
                </a:solidFill>
                <a:latin typeface="Consolas" pitchFamily="34" charset="0"/>
                <a:ea typeface="Consolas" pitchFamily="34" charset="-122"/>
                <a:cs typeface="Consolas" pitchFamily="34" charset="-120"/>
              </a:rPr>
              <a:t>String</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a:t>
            </a:r>
            <a:r>
              <a:rPr lang="en-US" sz="2000" dirty="0">
                <a:solidFill>
                  <a:schemeClr val="accent2"/>
                </a:solidFill>
                <a:latin typeface="Consolas" pitchFamily="34" charset="0"/>
                <a:ea typeface="Consolas" pitchFamily="34" charset="-122"/>
                <a:cs typeface="Consolas" pitchFamily="34" charset="-120"/>
              </a:rPr>
              <a:t>HashSet&lt;String&gt;</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a:t>
            </a:r>
            <a:r>
              <a:rPr lang="en-US" sz="2000" dirty="0">
                <a:solidFill>
                  <a:schemeClr val="accent2"/>
                </a:solidFill>
                <a:latin typeface="Consolas" pitchFamily="34" charset="0"/>
                <a:ea typeface="Consolas" pitchFamily="34" charset="-122"/>
                <a:cs typeface="Consolas" pitchFamily="34" charset="-120"/>
              </a:rPr>
              <a:t>int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19</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Iterable</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of these can go straight into a for-each loop, as in </a:t>
            </a:r>
            <a:r>
              <a:rPr lang="en-US" sz="2000" b="1" dirty="0">
                <a:solidFill>
                  <a:schemeClr val="tx2"/>
                </a:solidFill>
                <a:latin typeface="Consolas" pitchFamily="34" charset="0"/>
                <a:ea typeface="Consolas" pitchFamily="34" charset="-122"/>
                <a:cs typeface="Consolas" pitchFamily="34" charset="-120"/>
              </a:rPr>
              <a:t>for (String s : x)</a:t>
            </a:r>
            <a:r>
              <a:rPr lang="en-US" sz="2000" b="1" dirty="0">
                <a:solidFill>
                  <a:schemeClr val="tx2"/>
                </a:solidFill>
              </a:rPr>
              <a: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HashMap&lt;String, Integer&gt;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A </a:t>
            </a:r>
            <a:r>
              <a:rPr lang="en-US" sz="1700" dirty="0">
                <a:solidFill>
                  <a:schemeClr val="tx2"/>
                </a:solidFill>
                <a:latin typeface="Consolas" pitchFamily="34" charset="0"/>
                <a:ea typeface="Consolas" pitchFamily="34" charset="-122"/>
                <a:cs typeface="Consolas" pitchFamily="34" charset="-120"/>
              </a:rPr>
              <a:t>String</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A </a:t>
            </a:r>
            <a:r>
              <a:rPr lang="en-US" sz="1700" b="1" dirty="0">
                <a:solidFill>
                  <a:schemeClr val="bg1"/>
                </a:solidFill>
                <a:latin typeface="Consolas" pitchFamily="34" charset="0"/>
                <a:ea typeface="Consolas" pitchFamily="34" charset="-122"/>
                <a:cs typeface="Consolas" pitchFamily="34" charset="-120"/>
              </a:rPr>
              <a:t>HashSet&lt;String&gt;</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a:t>
            </a:r>
            <a:r>
              <a:rPr lang="en-US" sz="1700" dirty="0">
                <a:solidFill>
                  <a:schemeClr val="tx2"/>
                </a:solidFill>
                <a:latin typeface="Consolas" pitchFamily="34" charset="0"/>
                <a:ea typeface="Consolas" pitchFamily="34" charset="-122"/>
                <a:cs typeface="Consolas" pitchFamily="34" charset="-120"/>
              </a:rPr>
              <a:t>int</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HashSet</a:t>
            </a:r>
            <a:r>
              <a:rPr lang="en-US" sz="1800" dirty="0">
                <a:solidFill>
                  <a:schemeClr val="tx1"/>
                </a:solidFill>
              </a:rPr>
              <a:t> is a </a:t>
            </a:r>
            <a:r>
              <a:rPr lang="en-US" sz="1800" dirty="0">
                <a:solidFill>
                  <a:schemeClr val="accent2"/>
                </a:solidFill>
                <a:latin typeface="Consolas" pitchFamily="34" charset="0"/>
                <a:ea typeface="Consolas" pitchFamily="34" charset="-122"/>
                <a:cs typeface="Consolas" pitchFamily="34" charset="-120"/>
              </a:rPr>
              <a:t>Collection</a:t>
            </a:r>
            <a:r>
              <a:rPr lang="en-US" sz="1800" dirty="0">
                <a:solidFill>
                  <a:schemeClr val="tx1"/>
                </a:solidFill>
              </a:rPr>
              <a:t>, and every </a:t>
            </a:r>
            <a:r>
              <a:rPr lang="en-US" sz="1800" dirty="0">
                <a:solidFill>
                  <a:schemeClr val="accent2"/>
                </a:solidFill>
                <a:latin typeface="Consolas" pitchFamily="34" charset="0"/>
                <a:ea typeface="Consolas" pitchFamily="34" charset="-122"/>
                <a:cs typeface="Consolas" pitchFamily="34" charset="-120"/>
              </a:rPr>
              <a:t>Collection</a:t>
            </a:r>
            <a:r>
              <a:rPr lang="en-US" sz="1800" dirty="0">
                <a:solidFill>
                  <a:schemeClr val="tx1"/>
                </a:solidFill>
              </a:rPr>
              <a:t> is </a:t>
            </a:r>
            <a:r>
              <a:rPr lang="en-US" sz="1800" dirty="0">
                <a:solidFill>
                  <a:schemeClr val="accent2"/>
                </a:solidFill>
                <a:latin typeface="Consolas" pitchFamily="34" charset="0"/>
                <a:ea typeface="Consolas" pitchFamily="34" charset="-122"/>
                <a:cs typeface="Consolas" pitchFamily="34" charset="-120"/>
              </a:rPr>
              <a:t>Iterable</a:t>
            </a:r>
            <a:r>
              <a:rPr lang="en-US" sz="1800" dirty="0">
                <a:solidFill>
                  <a:schemeClr val="tx1"/>
                </a:solidFill>
              </a:rPr>
              <a:t>, so a for-each loop works on it. A </a:t>
            </a:r>
            <a:r>
              <a:rPr lang="en-US" sz="1800" dirty="0">
                <a:solidFill>
                  <a:schemeClr val="accent2"/>
                </a:solidFill>
                <a:latin typeface="Consolas" pitchFamily="34" charset="0"/>
                <a:ea typeface="Consolas" pitchFamily="34" charset="-122"/>
                <a:cs typeface="Consolas" pitchFamily="34" charset="-120"/>
              </a:rPr>
              <a:t>HashMap</a:t>
            </a:r>
            <a:r>
              <a:rPr lang="en-US" sz="1800" dirty="0">
                <a:solidFill>
                  <a:schemeClr val="tx1"/>
                </a:solidFill>
              </a:rPr>
              <a:t> isn’t </a:t>
            </a:r>
            <a:r>
              <a:rPr lang="en-US" sz="1800" dirty="0">
                <a:solidFill>
                  <a:schemeClr val="accent2"/>
                </a:solidFill>
                <a:latin typeface="Consolas" pitchFamily="34" charset="0"/>
                <a:ea typeface="Consolas" pitchFamily="34" charset="-122"/>
                <a:cs typeface="Consolas" pitchFamily="34" charset="-120"/>
              </a:rPr>
              <a:t>Iterable</a:t>
            </a:r>
            <a:r>
              <a:rPr lang="en-US" sz="1800" dirty="0">
                <a:solidFill>
                  <a:schemeClr val="tx1"/>
                </a:solidFill>
              </a:rPr>
              <a:t>; we’d loop through its </a:t>
            </a:r>
            <a:r>
              <a:rPr lang="en-US" sz="1800" dirty="0">
                <a:solidFill>
                  <a:schemeClr val="accent2"/>
                </a:solidFill>
                <a:latin typeface="Consolas" pitchFamily="34" charset="0"/>
                <a:ea typeface="Consolas" pitchFamily="34" charset="-122"/>
                <a:cs typeface="Consolas" pitchFamily="34" charset="-120"/>
              </a:rPr>
              <a:t>keySet()</a:t>
            </a:r>
            <a:r>
              <a:rPr lang="en-US" sz="1800" dirty="0">
                <a:solidFill>
                  <a:schemeClr val="tx1"/>
                </a:solidFill>
              </a:rPr>
              <a:t> instead. A </a:t>
            </a:r>
            <a:r>
              <a:rPr lang="en-US" sz="1800" dirty="0">
                <a:solidFill>
                  <a:schemeClr val="accent2"/>
                </a:solidFill>
                <a:latin typeface="Consolas" pitchFamily="34" charset="0"/>
                <a:ea typeface="Consolas" pitchFamily="34" charset="-122"/>
                <a:cs typeface="Consolas" pitchFamily="34" charset="-120"/>
              </a:rPr>
              <a:t>String</a:t>
            </a:r>
            <a:r>
              <a:rPr lang="en-US" sz="1800" dirty="0">
                <a:solidFill>
                  <a:schemeClr val="tx1"/>
                </a:solidFill>
              </a:rPr>
              <a:t> isn’t </a:t>
            </a:r>
            <a:r>
              <a:rPr lang="en-US" sz="1800" dirty="0">
                <a:solidFill>
                  <a:schemeClr val="accent2"/>
                </a:solidFill>
                <a:latin typeface="Consolas" pitchFamily="34" charset="0"/>
                <a:ea typeface="Consolas" pitchFamily="34" charset="-122"/>
                <a:cs typeface="Consolas" pitchFamily="34" charset="-120"/>
              </a:rPr>
              <a:t>Iterable</a:t>
            </a:r>
            <a:r>
              <a:rPr lang="en-US" sz="1800" dirty="0">
                <a:solidFill>
                  <a:schemeClr val="tx1"/>
                </a:solidFill>
              </a:rPr>
              <a:t> either, and an </a:t>
            </a:r>
            <a:r>
              <a:rPr lang="en-US" sz="1800" dirty="0">
                <a:solidFill>
                  <a:schemeClr val="accent2"/>
                </a:solidFill>
                <a:latin typeface="Consolas" pitchFamily="34" charset="0"/>
                <a:ea typeface="Consolas" pitchFamily="34" charset="-122"/>
                <a:cs typeface="Consolas" pitchFamily="34" charset="-120"/>
              </a:rPr>
              <a:t>int</a:t>
            </a:r>
            <a:r>
              <a:rPr lang="en-US" sz="1800" dirty="0">
                <a:solidFill>
                  <a:schemeClr val="tx1"/>
                </a:solidFill>
              </a:rPr>
              <a:t> is a single value.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ITERATING</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Three ways to loop</a:t>
            </a:r>
            <a:endParaRPr lang="en-US" sz="3400" dirty="0"/>
          </a:p>
        </p:txBody>
      </p:sp>
      <p:sp>
        <p:nvSpPr>
          <p:cNvPr id="5" name="Text 2"/>
          <p:cNvSpPr txBox="1"/>
          <p:nvPr/>
        </p:nvSpPr>
        <p:spPr>
          <a:xfrm>
            <a:off x="548640" y="1691640"/>
            <a:ext cx="8778240" cy="292608"/>
          </a:xfrm>
          <a:prstGeom prst="rect">
            <a:avLst/>
          </a:prstGeom>
          <a:noFill/>
          <a:ln/>
        </p:spPr>
        <p:txBody>
          <a:bodyPr wrap="square" lIns="0" tIns="0" rIns="0" bIns="0" rtlCol="0" anchor="t"/>
          <a:lstStyle/>
          <a:p>
            <a:pPr algn="l" indent="0" marL="0">
              <a:buNone/>
            </a:pPr>
            <a:r>
              <a:rPr lang="en-US" sz="1500" dirty="0">
                <a:solidFill>
                  <a:schemeClr val="accent2"/>
                </a:solidFill>
                <a:latin typeface="Consolas" pitchFamily="34" charset="0"/>
                <a:ea typeface="Consolas" pitchFamily="34" charset="-122"/>
                <a:cs typeface="Consolas" pitchFamily="34" charset="-120"/>
              </a:rPr>
              <a:t>arrList</a:t>
            </a:r>
            <a:r>
              <a:rPr lang="en-US" sz="1500" dirty="0">
                <a:solidFill>
                  <a:schemeClr val="tx2"/>
                </a:solidFill>
              </a:rPr>
              <a:t> is a </a:t>
            </a:r>
            <a:r>
              <a:rPr lang="en-US" sz="1500" dirty="0">
                <a:solidFill>
                  <a:schemeClr val="accent2"/>
                </a:solidFill>
                <a:latin typeface="Consolas" pitchFamily="34" charset="0"/>
                <a:ea typeface="Consolas" pitchFamily="34" charset="-122"/>
                <a:cs typeface="Consolas" pitchFamily="34" charset="-120"/>
              </a:rPr>
              <a:t>List&lt;Integer&gt;</a:t>
            </a:r>
            <a:r>
              <a:rPr lang="en-US" sz="1500" dirty="0">
                <a:solidFill>
                  <a:schemeClr val="tx2"/>
                </a:solidFill>
              </a:rPr>
              <a:t> holding 32, 67, 98 and 100.</a:t>
            </a:r>
            <a:endParaRPr lang="en-US" sz="1500" dirty="0"/>
          </a:p>
        </p:txBody>
      </p:sp>
      <p:sp>
        <p:nvSpPr>
          <p:cNvPr id="6" name="A for-each loop card"/>
          <p:cNvSpPr/>
          <p:nvPr/>
        </p:nvSpPr>
        <p:spPr>
          <a:xfrm>
            <a:off x="4160520" y="2148840"/>
            <a:ext cx="5212080" cy="1110996"/>
          </a:xfrm>
          <a:prstGeom prst="roundRect">
            <a:avLst>
              <a:gd name="adj" fmla="val 9877"/>
            </a:avLst>
          </a:prstGeom>
          <a:solidFill>
            <a:schemeClr val="tx1"/>
          </a:solidFill>
          <a:ln/>
          <a:effectLst>
            <a:outerShdw sx="100000" sy="100000" kx="0" ky="0" algn="bl" rotWithShape="0" blurRad="114300" dist="31750" dir="5400000">
              <a:srgbClr val="1D2433">
                <a:alpha val="12000"/>
              </a:srgbClr>
            </a:outerShdw>
          </a:effectLst>
        </p:spPr>
      </p:sp>
      <p:sp>
        <p:nvSpPr>
          <p:cNvPr id="7" name="A for-each loop text"/>
          <p:cNvSpPr txBox="1"/>
          <p:nvPr/>
        </p:nvSpPr>
        <p:spPr>
          <a:xfrm>
            <a:off x="4434840" y="2350008"/>
            <a:ext cx="4663440" cy="708660"/>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for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Integer </a:t>
            </a:r>
            <a:r>
              <a:rPr lang="en-US" sz="1300" dirty="0">
                <a:solidFill>
                  <a:srgbClr val="E6EBF2"/>
                </a:solidFill>
                <a:latin typeface="Consolas" pitchFamily="34" charset="0"/>
                <a:ea typeface="Consolas" pitchFamily="34" charset="-122"/>
                <a:cs typeface="Consolas" pitchFamily="34" charset="-120"/>
              </a:rPr>
              <a:t>val : arrList)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(val);</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8" name="Marker 1"/>
          <p:cNvSpPr/>
          <p:nvPr/>
        </p:nvSpPr>
        <p:spPr>
          <a:xfrm>
            <a:off x="548640" y="220370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097280" y="2148840"/>
            <a:ext cx="2926080" cy="384048"/>
          </a:xfrm>
          <a:prstGeom prst="rect">
            <a:avLst/>
          </a:prstGeom>
          <a:noFill/>
          <a:ln/>
        </p:spPr>
        <p:txBody>
          <a:bodyPr wrap="square" lIns="0" tIns="0" rIns="0" bIns="0" rtlCol="0" anchor="ctr"/>
          <a:lstStyle/>
          <a:p>
            <a:pPr algn="l" indent="0" marL="0">
              <a:buNone/>
            </a:pPr>
            <a:r>
              <a:rPr lang="en-US" sz="1700" b="1" dirty="0">
                <a:solidFill>
                  <a:schemeClr val="tx1"/>
                </a:solidFill>
              </a:rPr>
              <a:t>A for-each loop</a:t>
            </a:r>
            <a:endParaRPr lang="en-US" sz="1700" dirty="0"/>
          </a:p>
        </p:txBody>
      </p:sp>
      <p:sp>
        <p:nvSpPr>
          <p:cNvPr id="10" name="Text 7"/>
          <p:cNvSpPr txBox="1"/>
          <p:nvPr/>
        </p:nvSpPr>
        <p:spPr>
          <a:xfrm>
            <a:off x="1097280" y="2551176"/>
            <a:ext cx="2926080" cy="548640"/>
          </a:xfrm>
          <a:prstGeom prst="rect">
            <a:avLst/>
          </a:prstGeom>
          <a:noFill/>
          <a:ln/>
        </p:spPr>
        <p:txBody>
          <a:bodyPr wrap="square" lIns="0" tIns="0" rIns="0" bIns="0" rtlCol="0" anchor="t"/>
          <a:lstStyle/>
          <a:p>
            <a:pPr algn="l" indent="0" marL="0">
              <a:buNone/>
            </a:pPr>
            <a:r>
              <a:rPr lang="en-US" sz="1450" dirty="0">
                <a:solidFill>
                  <a:schemeClr val="tx2"/>
                </a:solidFill>
              </a:rPr>
              <a:t>The simplest, and the one we use most.</a:t>
            </a:r>
            <a:endParaRPr lang="en-US" sz="1450" dirty="0"/>
          </a:p>
        </p:txBody>
      </p:sp>
      <p:sp>
        <p:nvSpPr>
          <p:cNvPr id="11" name="The forEach() method card"/>
          <p:cNvSpPr/>
          <p:nvPr/>
        </p:nvSpPr>
        <p:spPr>
          <a:xfrm>
            <a:off x="4160520" y="3534156"/>
            <a:ext cx="5212080" cy="675132"/>
          </a:xfrm>
          <a:prstGeom prst="roundRect">
            <a:avLst>
              <a:gd name="adj" fmla="val 16253"/>
            </a:avLst>
          </a:prstGeom>
          <a:solidFill>
            <a:schemeClr val="tx1"/>
          </a:solidFill>
          <a:ln/>
          <a:effectLst>
            <a:outerShdw sx="100000" sy="100000" kx="0" ky="0" algn="bl" rotWithShape="0" blurRad="114300" dist="31750" dir="5400000">
              <a:srgbClr val="1D2433">
                <a:alpha val="12000"/>
              </a:srgbClr>
            </a:outerShdw>
          </a:effectLst>
        </p:spPr>
      </p:sp>
      <p:sp>
        <p:nvSpPr>
          <p:cNvPr id="12" name="The forEach() method text"/>
          <p:cNvSpPr txBox="1"/>
          <p:nvPr/>
        </p:nvSpPr>
        <p:spPr>
          <a:xfrm>
            <a:off x="4434840" y="3735324"/>
            <a:ext cx="4663440" cy="272796"/>
          </a:xfrm>
          <a:prstGeom prst="rect">
            <a:avLst/>
          </a:prstGeom>
          <a:noFill/>
          <a:ln/>
        </p:spPr>
        <p:txBody>
          <a:bodyPr wrap="square" lIns="0" tIns="0" rIns="0" bIns="0" rtlCol="0" anchor="t"/>
          <a:lstStyle/>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arrList.</a:t>
            </a:r>
            <a:r>
              <a:rPr lang="en-US" sz="1300" dirty="0">
                <a:solidFill>
                  <a:srgbClr val="C9B0FF"/>
                </a:solidFill>
                <a:latin typeface="Consolas" pitchFamily="34" charset="0"/>
                <a:ea typeface="Consolas" pitchFamily="34" charset="-122"/>
                <a:cs typeface="Consolas" pitchFamily="34" charset="-120"/>
              </a:rPr>
              <a:t>forEach</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.out::println);</a:t>
            </a:r>
            <a:endParaRPr lang="en-US" sz="1300" dirty="0"/>
          </a:p>
        </p:txBody>
      </p:sp>
      <p:sp>
        <p:nvSpPr>
          <p:cNvPr id="13" name="Marker 2"/>
          <p:cNvSpPr/>
          <p:nvPr/>
        </p:nvSpPr>
        <p:spPr>
          <a:xfrm>
            <a:off x="548640" y="358902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1097280" y="3534156"/>
            <a:ext cx="2926080" cy="384048"/>
          </a:xfrm>
          <a:prstGeom prst="rect">
            <a:avLst/>
          </a:prstGeom>
          <a:noFill/>
          <a:ln/>
        </p:spPr>
        <p:txBody>
          <a:bodyPr wrap="square" lIns="0" tIns="0" rIns="0" bIns="0" rtlCol="0" anchor="ctr"/>
          <a:lstStyle/>
          <a:p>
            <a:pPr algn="l" indent="0" marL="0">
              <a:buNone/>
            </a:pPr>
            <a:r>
              <a:rPr lang="en-US" sz="1700" b="1" dirty="0">
                <a:solidFill>
                  <a:schemeClr val="tx1"/>
                </a:solidFill>
              </a:rPr>
              <a:t>The forEach() method</a:t>
            </a:r>
            <a:endParaRPr lang="en-US" sz="1700" dirty="0"/>
          </a:p>
        </p:txBody>
      </p:sp>
      <p:sp>
        <p:nvSpPr>
          <p:cNvPr id="15" name="Text 12"/>
          <p:cNvSpPr txBox="1"/>
          <p:nvPr/>
        </p:nvSpPr>
        <p:spPr>
          <a:xfrm>
            <a:off x="1097280" y="3936492"/>
            <a:ext cx="2926080" cy="548640"/>
          </a:xfrm>
          <a:prstGeom prst="rect">
            <a:avLst/>
          </a:prstGeom>
          <a:noFill/>
          <a:ln/>
        </p:spPr>
        <p:txBody>
          <a:bodyPr wrap="square" lIns="0" tIns="0" rIns="0" bIns="0" rtlCol="0" anchor="t"/>
          <a:lstStyle/>
          <a:p>
            <a:pPr algn="l" indent="0" marL="0">
              <a:buNone/>
            </a:pPr>
            <a:r>
              <a:rPr lang="en-US" sz="1450" dirty="0">
                <a:solidFill>
                  <a:schemeClr val="tx2"/>
                </a:solidFill>
              </a:rPr>
              <a:t>Runs an action on every item.</a:t>
            </a:r>
            <a:endParaRPr lang="en-US" sz="1450" dirty="0"/>
          </a:p>
        </p:txBody>
      </p:sp>
      <p:sp>
        <p:nvSpPr>
          <p:cNvPr id="16" name="An Iterator card"/>
          <p:cNvSpPr/>
          <p:nvPr/>
        </p:nvSpPr>
        <p:spPr>
          <a:xfrm>
            <a:off x="4160520" y="4768596"/>
            <a:ext cx="5212080" cy="1328928"/>
          </a:xfrm>
          <a:prstGeom prst="roundRect">
            <a:avLst>
              <a:gd name="adj" fmla="val 8257"/>
            </a:avLst>
          </a:prstGeom>
          <a:solidFill>
            <a:schemeClr val="tx1"/>
          </a:solidFill>
          <a:ln/>
          <a:effectLst>
            <a:outerShdw sx="100000" sy="100000" kx="0" ky="0" algn="bl" rotWithShape="0" blurRad="114300" dist="31750" dir="5400000">
              <a:srgbClr val="1D2433">
                <a:alpha val="12000"/>
              </a:srgbClr>
            </a:outerShdw>
          </a:effectLst>
        </p:spPr>
      </p:sp>
      <p:sp>
        <p:nvSpPr>
          <p:cNvPr id="17" name="An Iterator text"/>
          <p:cNvSpPr txBox="1"/>
          <p:nvPr/>
        </p:nvSpPr>
        <p:spPr>
          <a:xfrm>
            <a:off x="4434840" y="4969764"/>
            <a:ext cx="4663440" cy="926592"/>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Iterator</a:t>
            </a:r>
            <a:r>
              <a:rPr lang="en-US" sz="1300" dirty="0">
                <a:solidFill>
                  <a:srgbClr val="E6EBF2"/>
                </a:solidFill>
                <a:latin typeface="Consolas" pitchFamily="34" charset="0"/>
                <a:ea typeface="Consolas" pitchFamily="34" charset="-122"/>
                <a:cs typeface="Consolas" pitchFamily="34" charset="-120"/>
              </a:rPr>
              <a:t>&lt;</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&gt; it = arrList.</a:t>
            </a:r>
            <a:r>
              <a:rPr lang="en-US" sz="1300" dirty="0">
                <a:solidFill>
                  <a:srgbClr val="C9B0FF"/>
                </a:solidFill>
                <a:latin typeface="Consolas" pitchFamily="34" charset="0"/>
                <a:ea typeface="Consolas" pitchFamily="34" charset="-122"/>
                <a:cs typeface="Consolas" pitchFamily="34" charset="-120"/>
              </a:rPr>
              <a:t>iterator</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while </a:t>
            </a:r>
            <a:r>
              <a:rPr lang="en-US" sz="1300" dirty="0">
                <a:solidFill>
                  <a:srgbClr val="E6EBF2"/>
                </a:solidFill>
                <a:latin typeface="Consolas" pitchFamily="34" charset="0"/>
                <a:ea typeface="Consolas" pitchFamily="34" charset="-122"/>
                <a:cs typeface="Consolas" pitchFamily="34" charset="-120"/>
              </a:rPr>
              <a:t>(it.</a:t>
            </a:r>
            <a:r>
              <a:rPr lang="en-US" sz="1300" dirty="0">
                <a:solidFill>
                  <a:srgbClr val="C9B0FF"/>
                </a:solidFill>
                <a:latin typeface="Consolas" pitchFamily="34" charset="0"/>
                <a:ea typeface="Consolas" pitchFamily="34" charset="-122"/>
                <a:cs typeface="Consolas" pitchFamily="34" charset="-120"/>
              </a:rPr>
              <a:t>hasNext</a:t>
            </a: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(it.</a:t>
            </a:r>
            <a:r>
              <a:rPr lang="en-US" sz="1300" dirty="0">
                <a:solidFill>
                  <a:srgbClr val="C9B0FF"/>
                </a:solidFill>
                <a:latin typeface="Consolas" pitchFamily="34" charset="0"/>
                <a:ea typeface="Consolas" pitchFamily="34" charset="-122"/>
                <a:cs typeface="Consolas" pitchFamily="34" charset="-120"/>
              </a:rPr>
              <a:t>next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18" name="Marker 3"/>
          <p:cNvSpPr/>
          <p:nvPr/>
        </p:nvSpPr>
        <p:spPr>
          <a:xfrm>
            <a:off x="548640" y="482346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1097280" y="4768596"/>
            <a:ext cx="2926080" cy="384048"/>
          </a:xfrm>
          <a:prstGeom prst="rect">
            <a:avLst/>
          </a:prstGeom>
          <a:noFill/>
          <a:ln/>
        </p:spPr>
        <p:txBody>
          <a:bodyPr wrap="square" lIns="0" tIns="0" rIns="0" bIns="0" rtlCol="0" anchor="ctr"/>
          <a:lstStyle/>
          <a:p>
            <a:pPr algn="l" indent="0" marL="0">
              <a:buNone/>
            </a:pPr>
            <a:r>
              <a:rPr lang="en-US" sz="1700" b="1" dirty="0">
                <a:solidFill>
                  <a:schemeClr val="tx1"/>
                </a:solidFill>
              </a:rPr>
              <a:t>An Iterator</a:t>
            </a:r>
            <a:endParaRPr lang="en-US" sz="1700" dirty="0"/>
          </a:p>
        </p:txBody>
      </p:sp>
      <p:sp>
        <p:nvSpPr>
          <p:cNvPr id="20" name="Text 17"/>
          <p:cNvSpPr txBox="1"/>
          <p:nvPr/>
        </p:nvSpPr>
        <p:spPr>
          <a:xfrm>
            <a:off x="1097280" y="5170932"/>
            <a:ext cx="2926080" cy="548640"/>
          </a:xfrm>
          <a:prstGeom prst="rect">
            <a:avLst/>
          </a:prstGeom>
          <a:noFill/>
          <a:ln/>
        </p:spPr>
        <p:txBody>
          <a:bodyPr wrap="square" lIns="0" tIns="0" rIns="0" bIns="0" rtlCol="0" anchor="t"/>
          <a:lstStyle/>
          <a:p>
            <a:pPr algn="l" indent="0" marL="0">
              <a:buNone/>
            </a:pPr>
            <a:r>
              <a:rPr lang="en-US" sz="1450" dirty="0">
                <a:solidFill>
                  <a:schemeClr val="tx2"/>
                </a:solidFill>
              </a:rPr>
              <a:t>More code, but it can also remove items.</a:t>
            </a:r>
            <a:endParaRPr lang="en-US" sz="1450" dirty="0"/>
          </a:p>
        </p:txBody>
      </p:sp>
      <p:sp>
        <p:nvSpPr>
          <p:cNvPr id="21" name="Output card"/>
          <p:cNvSpPr/>
          <p:nvPr/>
        </p:nvSpPr>
        <p:spPr>
          <a:xfrm>
            <a:off x="9646920" y="2148840"/>
            <a:ext cx="1996135" cy="1709928"/>
          </a:xfrm>
          <a:prstGeom prst="roundRect">
            <a:avLst>
              <a:gd name="adj" fmla="val 6417"/>
            </a:avLst>
          </a:prstGeom>
          <a:solidFill>
            <a:schemeClr val="tx1"/>
          </a:solidFill>
          <a:ln/>
          <a:effectLst>
            <a:outerShdw sx="100000" sy="100000" kx="0" ky="0" algn="bl" rotWithShape="0" blurRad="114300" dist="31750" dir="5400000">
              <a:srgbClr val="1D2433">
                <a:alpha val="12000"/>
              </a:srgbClr>
            </a:outerShdw>
          </a:effectLst>
        </p:spPr>
      </p:sp>
      <p:sp>
        <p:nvSpPr>
          <p:cNvPr id="22" name="Output label"/>
          <p:cNvSpPr txBox="1"/>
          <p:nvPr/>
        </p:nvSpPr>
        <p:spPr>
          <a:xfrm>
            <a:off x="9921240" y="2267712"/>
            <a:ext cx="144749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23" name="Output text"/>
          <p:cNvSpPr txBox="1"/>
          <p:nvPr/>
        </p:nvSpPr>
        <p:spPr>
          <a:xfrm>
            <a:off x="9921240" y="2642616"/>
            <a:ext cx="1447495" cy="1014984"/>
          </a:xfrm>
          <a:prstGeom prst="rect">
            <a:avLst/>
          </a:prstGeom>
          <a:noFill/>
          <a:ln/>
        </p:spPr>
        <p:txBody>
          <a:bodyPr wrap="square" lIns="0" tIns="0" rIns="0" bIns="0" rtlCol="0" anchor="t"/>
          <a:lstStyle/>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32</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67</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98</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100</a:t>
            </a:r>
            <a:endParaRPr lang="en-US" sz="1400" dirty="0"/>
          </a:p>
        </p:txBody>
      </p:sp>
      <p:sp>
        <p:nvSpPr>
          <p:cNvPr id="24" name="Text 21"/>
          <p:cNvSpPr txBox="1"/>
          <p:nvPr/>
        </p:nvSpPr>
        <p:spPr>
          <a:xfrm>
            <a:off x="9646920" y="3968496"/>
            <a:ext cx="1996135" cy="502920"/>
          </a:xfrm>
          <a:prstGeom prst="rect">
            <a:avLst/>
          </a:prstGeom>
          <a:noFill/>
          <a:ln/>
        </p:spPr>
        <p:txBody>
          <a:bodyPr wrap="square" lIns="0" tIns="0" rIns="0" bIns="0" rtlCol="0" anchor="t"/>
          <a:lstStyle/>
          <a:p>
            <a:pPr algn="ctr" indent="0" marL="0">
              <a:buNone/>
            </a:pPr>
            <a:r>
              <a:rPr lang="en-US" sz="1300" i="1" dirty="0">
                <a:solidFill>
                  <a:schemeClr val="tx2"/>
                </a:solidFill>
              </a:rPr>
              <a:t>The same output from all three.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forEach()</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arrList</a:t>
            </a:r>
            <a:r>
              <a:rPr lang="en-US" sz="2800" b="1" dirty="0">
                <a:solidFill>
                  <a:schemeClr val="tx1"/>
                </a:solidFill>
              </a:rPr>
              <a:t> holds 32, 67, 98 and 100. What does </a:t>
            </a:r>
            <a:r>
              <a:rPr lang="en-US" sz="2800" b="1" dirty="0">
                <a:solidFill>
                  <a:schemeClr val="accent2"/>
                </a:solidFill>
                <a:latin typeface="Consolas" pitchFamily="34" charset="0"/>
                <a:ea typeface="Consolas" pitchFamily="34" charset="-122"/>
                <a:cs typeface="Consolas" pitchFamily="34" charset="-120"/>
              </a:rPr>
              <a:t>arrList.forEach(System.out::println);</a:t>
            </a:r>
            <a:r>
              <a:rPr lang="en-US" sz="2800" b="1" dirty="0">
                <a:solidFill>
                  <a:schemeClr val="tx1"/>
                </a:solidFill>
              </a:rPr>
              <a:t> print?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[32, 67, 98, 100]</a:t>
            </a:r>
            <a:r>
              <a:rPr lang="en-US" sz="2000" dirty="0">
                <a:solidFill>
                  <a:schemeClr val="tx1"/>
                </a:solidFill>
              </a:rPr>
              <a:t> on one line</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the first number, 32</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Nothing: </a:t>
            </a:r>
            <a:r>
              <a:rPr lang="en-US" sz="2000" dirty="0">
                <a:solidFill>
                  <a:schemeClr val="accent2"/>
                </a:solidFill>
                <a:latin typeface="Consolas" pitchFamily="34" charset="0"/>
                <a:ea typeface="Consolas" pitchFamily="34" charset="-122"/>
                <a:cs typeface="Consolas" pitchFamily="34" charset="-120"/>
              </a:rPr>
              <a:t>forEach</a:t>
            </a:r>
            <a:r>
              <a:rPr lang="en-US" sz="2000" dirty="0">
                <a:solidFill>
                  <a:schemeClr val="tx1"/>
                </a:solidFill>
              </a:rPr>
              <a:t> needs a loop around it</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Each number on its own line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forEach()</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arrList</a:t>
            </a:r>
            <a:r>
              <a:rPr lang="en-US" sz="2000" b="1" dirty="0">
                <a:solidFill>
                  <a:schemeClr val="tx2"/>
                </a:solidFill>
              </a:rPr>
              <a:t> holds 32, 67, 98 and 100. What does </a:t>
            </a:r>
            <a:r>
              <a:rPr lang="en-US" sz="2000" b="1" dirty="0">
                <a:solidFill>
                  <a:schemeClr val="tx2"/>
                </a:solidFill>
                <a:latin typeface="Consolas" pitchFamily="34" charset="0"/>
                <a:ea typeface="Consolas" pitchFamily="34" charset="-122"/>
                <a:cs typeface="Consolas" pitchFamily="34" charset="-120"/>
              </a:rPr>
              <a:t>arrList.forEach(System.out::println);</a:t>
            </a:r>
            <a:r>
              <a:rPr lang="en-US" sz="2000" b="1" dirty="0">
                <a:solidFill>
                  <a:schemeClr val="tx2"/>
                </a:solidFill>
              </a:rPr>
              <a:t> print?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[32, 67, 98, 100]</a:t>
            </a:r>
            <a:r>
              <a:rPr lang="en-US" sz="1700" dirty="0">
                <a:solidFill>
                  <a:schemeClr val="tx2"/>
                </a:solidFill>
              </a:rPr>
              <a:t> on one line</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the first number, 32</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Nothing: </a:t>
            </a:r>
            <a:r>
              <a:rPr lang="en-US" sz="1700" dirty="0">
                <a:solidFill>
                  <a:schemeClr val="tx2"/>
                </a:solidFill>
                <a:latin typeface="Consolas" pitchFamily="34" charset="0"/>
                <a:ea typeface="Consolas" pitchFamily="34" charset="-122"/>
                <a:cs typeface="Consolas" pitchFamily="34" charset="-120"/>
              </a:rPr>
              <a:t>forEach</a:t>
            </a:r>
            <a:r>
              <a:rPr lang="en-US" sz="1700" dirty="0">
                <a:solidFill>
                  <a:schemeClr val="tx2"/>
                </a:solidFill>
              </a:rPr>
              <a:t> needs a loop around it</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Each number on its own line</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forEach</a:t>
            </a:r>
            <a:r>
              <a:rPr lang="en-US" sz="1800" dirty="0">
                <a:solidFill>
                  <a:schemeClr val="tx1"/>
                </a:solidFill>
              </a:rPr>
              <a:t> runs the action, here </a:t>
            </a:r>
            <a:r>
              <a:rPr lang="en-US" sz="1800" dirty="0">
                <a:solidFill>
                  <a:schemeClr val="accent2"/>
                </a:solidFill>
                <a:latin typeface="Consolas" pitchFamily="34" charset="0"/>
                <a:ea typeface="Consolas" pitchFamily="34" charset="-122"/>
                <a:cs typeface="Consolas" pitchFamily="34" charset="-120"/>
              </a:rPr>
              <a:t>System.out::println</a:t>
            </a:r>
            <a:r>
              <a:rPr lang="en-US" sz="1800" dirty="0">
                <a:solidFill>
                  <a:schemeClr val="tx1"/>
                </a:solidFill>
              </a:rPr>
              <a:t>, once for every item in the list. So println is called four times, printing 32, 67, 98 and 100 on separate lines. </a:t>
            </a:r>
            <a:r>
              <a:rPr lang="en-US" sz="1800" dirty="0">
                <a:solidFill>
                  <a:schemeClr val="accent2"/>
                </a:solidFill>
                <a:latin typeface="Consolas" pitchFamily="34" charset="0"/>
                <a:ea typeface="Consolas" pitchFamily="34" charset="-122"/>
                <a:cs typeface="Consolas" pitchFamily="34" charset="-120"/>
              </a:rPr>
              <a:t>System.out.println(arrList)</a:t>
            </a:r>
            <a:r>
              <a:rPr lang="en-US" sz="1800" dirty="0">
                <a:solidFill>
                  <a:schemeClr val="tx1"/>
                </a:solidFill>
              </a:rPr>
              <a:t> would print </a:t>
            </a:r>
            <a:r>
              <a:rPr lang="en-US" sz="1800" dirty="0">
                <a:solidFill>
                  <a:schemeClr val="accent2"/>
                </a:solidFill>
                <a:latin typeface="Consolas" pitchFamily="34" charset="0"/>
                <a:ea typeface="Consolas" pitchFamily="34" charset="-122"/>
                <a:cs typeface="Consolas" pitchFamily="34" charset="-120"/>
              </a:rPr>
              <a:t>[32, 67, 98, 100]</a:t>
            </a:r>
            <a:r>
              <a:rPr lang="en-US" sz="1800" dirty="0">
                <a:solidFill>
                  <a:schemeClr val="tx1"/>
                </a:solidFill>
              </a:rPr>
              <a:t> instead.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ITERATING</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Iterator interface</a:t>
            </a:r>
            <a:endParaRPr lang="en-US" sz="3400" dirty="0"/>
          </a:p>
        </p:txBody>
      </p:sp>
      <p:sp>
        <p:nvSpPr>
          <p:cNvPr id="5" name="hasNext()"/>
          <p:cNvSpPr/>
          <p:nvPr/>
        </p:nvSpPr>
        <p:spPr>
          <a:xfrm>
            <a:off x="548640" y="169164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69948"/>
            <a:ext cx="512064" cy="512064"/>
          </a:xfrm>
          <a:prstGeom prst="roundRect">
            <a:avLst>
              <a:gd name="adj" fmla="val 24000"/>
            </a:avLst>
          </a:prstGeom>
          <a:solidFill>
            <a:schemeClr val="accent3">
              <a:alpha val="14000"/>
            </a:schemeClr>
          </a:solidFill>
          <a:ln/>
        </p:spPr>
      </p:sp>
      <p:pic>
        <p:nvPicPr>
          <p:cNvPr id="7" name="Image 0" descr="check square icon">    </p:cNvPr>
          <p:cNvPicPr>
            <a:picLocks noChangeAspect="1"/>
          </p:cNvPicPr>
          <p:nvPr/>
        </p:nvPicPr>
        <p:blipFill>
          <a:blip r:embed="rId1"/>
          <a:stretch>
            <a:fillRect/>
          </a:stretch>
        </p:blipFill>
        <p:spPr>
          <a:xfrm>
            <a:off x="857341" y="1977481"/>
            <a:ext cx="296997" cy="296997"/>
          </a:xfrm>
          <a:prstGeom prst="rect">
            <a:avLst/>
          </a:prstGeom>
        </p:spPr>
      </p:pic>
      <p:sp>
        <p:nvSpPr>
          <p:cNvPr id="8" name="Text 4"/>
          <p:cNvSpPr txBox="1"/>
          <p:nvPr/>
        </p:nvSpPr>
        <p:spPr>
          <a:xfrm>
            <a:off x="1463040" y="1691640"/>
            <a:ext cx="1828800" cy="868680"/>
          </a:xfrm>
          <a:prstGeom prst="rect">
            <a:avLst/>
          </a:prstGeom>
          <a:noFill/>
          <a:ln/>
        </p:spPr>
        <p:txBody>
          <a:bodyPr wrap="square" lIns="0" tIns="0" rIns="0" bIns="0" rtlCol="0" anchor="ctr"/>
          <a:lstStyle/>
          <a:p>
            <a:pPr algn="l" indent="0" marL="0">
              <a:buNone/>
            </a:pPr>
            <a:r>
              <a:rPr lang="en-US" sz="1800" b="1" dirty="0">
                <a:solidFill>
                  <a:schemeClr val="tx1"/>
                </a:solidFill>
                <a:latin typeface="Consolas" pitchFamily="34" charset="0"/>
                <a:ea typeface="Consolas" pitchFamily="34" charset="-122"/>
                <a:cs typeface="Consolas" pitchFamily="34" charset="-120"/>
              </a:rPr>
              <a:t>hasNext()</a:t>
            </a:r>
            <a:endParaRPr lang="en-US" sz="1800" dirty="0"/>
          </a:p>
        </p:txBody>
      </p:sp>
      <p:sp>
        <p:nvSpPr>
          <p:cNvPr id="9" name="Text 5"/>
          <p:cNvSpPr txBox="1"/>
          <p:nvPr/>
        </p:nvSpPr>
        <p:spPr>
          <a:xfrm>
            <a:off x="3291840" y="1691640"/>
            <a:ext cx="4373575" cy="868680"/>
          </a:xfrm>
          <a:prstGeom prst="rect">
            <a:avLst/>
          </a:prstGeom>
          <a:noFill/>
          <a:ln/>
        </p:spPr>
        <p:txBody>
          <a:bodyPr wrap="square" lIns="0" tIns="0" rIns="0" bIns="0" rtlCol="0" anchor="ctr"/>
          <a:lstStyle/>
          <a:p>
            <a:pPr algn="l" indent="0" marL="0">
              <a:buNone/>
            </a:pPr>
            <a:r>
              <a:rPr lang="en-US" sz="1550" dirty="0">
                <a:solidFill>
                  <a:schemeClr val="tx2"/>
                </a:solidFill>
              </a:rPr>
              <a:t>Gives back true if there’s another item to visit</a:t>
            </a:r>
            <a:endParaRPr lang="en-US" sz="1550" dirty="0"/>
          </a:p>
        </p:txBody>
      </p:sp>
      <p:sp>
        <p:nvSpPr>
          <p:cNvPr id="10" name="Code chip"/>
          <p:cNvSpPr/>
          <p:nvPr/>
        </p:nvSpPr>
        <p:spPr>
          <a:xfrm>
            <a:off x="7802575" y="1888236"/>
            <a:ext cx="356616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while (it.hasNext()) {</a:t>
            </a:r>
            <a:endParaRPr lang="en-US" sz="1400" dirty="0"/>
          </a:p>
        </p:txBody>
      </p:sp>
      <p:sp>
        <p:nvSpPr>
          <p:cNvPr id="11" name="next()"/>
          <p:cNvSpPr/>
          <p:nvPr/>
        </p:nvSpPr>
        <p:spPr>
          <a:xfrm>
            <a:off x="548640" y="269748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875788"/>
            <a:ext cx="512064" cy="512064"/>
          </a:xfrm>
          <a:prstGeom prst="roundRect">
            <a:avLst>
              <a:gd name="adj" fmla="val 24000"/>
            </a:avLst>
          </a:prstGeom>
          <a:solidFill>
            <a:schemeClr val="accent4">
              <a:alpha val="14000"/>
            </a:schemeClr>
          </a:solidFill>
          <a:ln/>
        </p:spPr>
      </p:sp>
      <p:pic>
        <p:nvPicPr>
          <p:cNvPr id="13" name="Image 1" descr="arrow right icon">    </p:cNvPr>
          <p:cNvPicPr>
            <a:picLocks noChangeAspect="1"/>
          </p:cNvPicPr>
          <p:nvPr/>
        </p:nvPicPr>
        <p:blipFill>
          <a:blip r:embed="rId2"/>
          <a:stretch>
            <a:fillRect/>
          </a:stretch>
        </p:blipFill>
        <p:spPr>
          <a:xfrm>
            <a:off x="857341" y="2983321"/>
            <a:ext cx="296997" cy="296997"/>
          </a:xfrm>
          <a:prstGeom prst="rect">
            <a:avLst/>
          </a:prstGeom>
        </p:spPr>
      </p:pic>
      <p:sp>
        <p:nvSpPr>
          <p:cNvPr id="14" name="Text 9"/>
          <p:cNvSpPr txBox="1"/>
          <p:nvPr/>
        </p:nvSpPr>
        <p:spPr>
          <a:xfrm>
            <a:off x="1463040" y="2697480"/>
            <a:ext cx="1828800" cy="868680"/>
          </a:xfrm>
          <a:prstGeom prst="rect">
            <a:avLst/>
          </a:prstGeom>
          <a:noFill/>
          <a:ln/>
        </p:spPr>
        <p:txBody>
          <a:bodyPr wrap="square" lIns="0" tIns="0" rIns="0" bIns="0" rtlCol="0" anchor="ctr"/>
          <a:lstStyle/>
          <a:p>
            <a:pPr algn="l" indent="0" marL="0">
              <a:buNone/>
            </a:pPr>
            <a:r>
              <a:rPr lang="en-US" sz="1800" b="1" dirty="0">
                <a:solidFill>
                  <a:schemeClr val="tx1"/>
                </a:solidFill>
                <a:latin typeface="Consolas" pitchFamily="34" charset="0"/>
                <a:ea typeface="Consolas" pitchFamily="34" charset="-122"/>
                <a:cs typeface="Consolas" pitchFamily="34" charset="-120"/>
              </a:rPr>
              <a:t>next()</a:t>
            </a:r>
            <a:endParaRPr lang="en-US" sz="1800" dirty="0"/>
          </a:p>
        </p:txBody>
      </p:sp>
      <p:sp>
        <p:nvSpPr>
          <p:cNvPr id="15" name="Text 10"/>
          <p:cNvSpPr txBox="1"/>
          <p:nvPr/>
        </p:nvSpPr>
        <p:spPr>
          <a:xfrm>
            <a:off x="3291840" y="2697480"/>
            <a:ext cx="4373575" cy="868680"/>
          </a:xfrm>
          <a:prstGeom prst="rect">
            <a:avLst/>
          </a:prstGeom>
          <a:noFill/>
          <a:ln/>
        </p:spPr>
        <p:txBody>
          <a:bodyPr wrap="square" lIns="0" tIns="0" rIns="0" bIns="0" rtlCol="0" anchor="ctr"/>
          <a:lstStyle/>
          <a:p>
            <a:pPr algn="l" indent="0" marL="0">
              <a:buNone/>
            </a:pPr>
            <a:r>
              <a:rPr lang="en-US" sz="1550" dirty="0">
                <a:solidFill>
                  <a:schemeClr val="tx2"/>
                </a:solidFill>
              </a:rPr>
              <a:t>Gives back the next item and moves the iterator on</a:t>
            </a:r>
            <a:endParaRPr lang="en-US" sz="1550" dirty="0"/>
          </a:p>
        </p:txBody>
      </p:sp>
      <p:sp>
        <p:nvSpPr>
          <p:cNvPr id="16" name="Code chip"/>
          <p:cNvSpPr/>
          <p:nvPr/>
        </p:nvSpPr>
        <p:spPr>
          <a:xfrm>
            <a:off x="7802575" y="2894076"/>
            <a:ext cx="356616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Integer x = it.next();</a:t>
            </a:r>
            <a:endParaRPr lang="en-US" sz="1400" dirty="0"/>
          </a:p>
        </p:txBody>
      </p:sp>
      <p:sp>
        <p:nvSpPr>
          <p:cNvPr id="17" name="remove()"/>
          <p:cNvSpPr/>
          <p:nvPr/>
        </p:nvSpPr>
        <p:spPr>
          <a:xfrm>
            <a:off x="548640" y="370332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881628"/>
            <a:ext cx="512064" cy="512064"/>
          </a:xfrm>
          <a:prstGeom prst="roundRect">
            <a:avLst>
              <a:gd name="adj" fmla="val 24000"/>
            </a:avLst>
          </a:prstGeom>
          <a:solidFill>
            <a:srgbClr val="C0392B">
              <a:alpha val="14000"/>
            </a:srgbClr>
          </a:solidFill>
          <a:ln/>
        </p:spPr>
      </p:sp>
      <p:pic>
        <p:nvPicPr>
          <p:cNvPr id="19" name="Image 2" descr="trash icon">    </p:cNvPr>
          <p:cNvPicPr>
            <a:picLocks noChangeAspect="1"/>
          </p:cNvPicPr>
          <p:nvPr/>
        </p:nvPicPr>
        <p:blipFill>
          <a:blip r:embed="rId3"/>
          <a:stretch>
            <a:fillRect/>
          </a:stretch>
        </p:blipFill>
        <p:spPr>
          <a:xfrm>
            <a:off x="857341" y="3989161"/>
            <a:ext cx="296997" cy="296997"/>
          </a:xfrm>
          <a:prstGeom prst="rect">
            <a:avLst/>
          </a:prstGeom>
        </p:spPr>
      </p:pic>
      <p:sp>
        <p:nvSpPr>
          <p:cNvPr id="20" name="Text 14"/>
          <p:cNvSpPr txBox="1"/>
          <p:nvPr/>
        </p:nvSpPr>
        <p:spPr>
          <a:xfrm>
            <a:off x="1463040" y="3703320"/>
            <a:ext cx="1828800" cy="868680"/>
          </a:xfrm>
          <a:prstGeom prst="rect">
            <a:avLst/>
          </a:prstGeom>
          <a:noFill/>
          <a:ln/>
        </p:spPr>
        <p:txBody>
          <a:bodyPr wrap="square" lIns="0" tIns="0" rIns="0" bIns="0" rtlCol="0" anchor="ctr"/>
          <a:lstStyle/>
          <a:p>
            <a:pPr algn="l" indent="0" marL="0">
              <a:buNone/>
            </a:pPr>
            <a:r>
              <a:rPr lang="en-US" sz="1800" b="1" dirty="0">
                <a:solidFill>
                  <a:schemeClr val="tx1"/>
                </a:solidFill>
                <a:latin typeface="Consolas" pitchFamily="34" charset="0"/>
                <a:ea typeface="Consolas" pitchFamily="34" charset="-122"/>
                <a:cs typeface="Consolas" pitchFamily="34" charset="-120"/>
              </a:rPr>
              <a:t>remove()</a:t>
            </a:r>
            <a:endParaRPr lang="en-US" sz="1800" dirty="0"/>
          </a:p>
        </p:txBody>
      </p:sp>
      <p:sp>
        <p:nvSpPr>
          <p:cNvPr id="21" name="Text 15"/>
          <p:cNvSpPr txBox="1"/>
          <p:nvPr/>
        </p:nvSpPr>
        <p:spPr>
          <a:xfrm>
            <a:off x="3291840" y="3703320"/>
            <a:ext cx="4373575" cy="868680"/>
          </a:xfrm>
          <a:prstGeom prst="rect">
            <a:avLst/>
          </a:prstGeom>
          <a:noFill/>
          <a:ln/>
        </p:spPr>
        <p:txBody>
          <a:bodyPr wrap="square" lIns="0" tIns="0" rIns="0" bIns="0" rtlCol="0" anchor="ctr"/>
          <a:lstStyle/>
          <a:p>
            <a:pPr algn="l" indent="0" marL="0">
              <a:buNone/>
            </a:pPr>
            <a:r>
              <a:rPr lang="en-US" sz="1550" dirty="0">
                <a:solidFill>
                  <a:schemeClr val="tx2"/>
                </a:solidFill>
              </a:rPr>
              <a:t>Removes the item </a:t>
            </a:r>
            <a:r>
              <a:rPr lang="en-US" sz="1550" dirty="0">
                <a:solidFill>
                  <a:schemeClr val="accent2"/>
                </a:solidFill>
                <a:latin typeface="Consolas" pitchFamily="34" charset="0"/>
                <a:ea typeface="Consolas" pitchFamily="34" charset="-122"/>
                <a:cs typeface="Consolas" pitchFamily="34" charset="-120"/>
              </a:rPr>
              <a:t>next()</a:t>
            </a:r>
            <a:r>
              <a:rPr lang="en-US" sz="1550" dirty="0">
                <a:solidFill>
                  <a:schemeClr val="tx2"/>
                </a:solidFill>
              </a:rPr>
              <a:t> gave back last. This one is optional.</a:t>
            </a:r>
            <a:endParaRPr lang="en-US" sz="1550" dirty="0"/>
          </a:p>
        </p:txBody>
      </p:sp>
      <p:sp>
        <p:nvSpPr>
          <p:cNvPr id="22" name="Code chip"/>
          <p:cNvSpPr/>
          <p:nvPr/>
        </p:nvSpPr>
        <p:spPr>
          <a:xfrm>
            <a:off x="7802575" y="3899916"/>
            <a:ext cx="356616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it.remove();</a:t>
            </a:r>
            <a:endParaRPr lang="en-US" sz="1400" dirty="0"/>
          </a:p>
        </p:txBody>
      </p:sp>
      <p:sp>
        <p:nvSpPr>
          <p:cNvPr id="23" name="Note"/>
          <p:cNvSpPr/>
          <p:nvPr/>
        </p:nvSpPr>
        <p:spPr>
          <a:xfrm>
            <a:off x="548640" y="4983480"/>
            <a:ext cx="5410505" cy="1051560"/>
          </a:xfrm>
          <a:prstGeom prst="roundRect">
            <a:avLst>
              <a:gd name="adj" fmla="val 10435"/>
            </a:avLst>
          </a:prstGeom>
          <a:solidFill>
            <a:schemeClr val="bg2"/>
          </a:solidFill>
          <a:ln/>
        </p:spPr>
      </p:sp>
      <p:sp>
        <p:nvSpPr>
          <p:cNvPr id="24" name="Icon tile"/>
          <p:cNvSpPr/>
          <p:nvPr/>
        </p:nvSpPr>
        <p:spPr>
          <a:xfrm>
            <a:off x="822960" y="5244084"/>
            <a:ext cx="530352" cy="530352"/>
          </a:xfrm>
          <a:prstGeom prst="roundRect">
            <a:avLst>
              <a:gd name="adj" fmla="val 24000"/>
            </a:avLst>
          </a:prstGeom>
          <a:solidFill>
            <a:schemeClr val="accent2">
              <a:alpha val="14000"/>
            </a:schemeClr>
          </a:solidFill>
          <a:ln/>
        </p:spPr>
      </p:sp>
      <p:pic>
        <p:nvPicPr>
          <p:cNvPr id="25" name="Image 3" descr="package icon">    </p:cNvPr>
          <p:cNvPicPr>
            <a:picLocks noChangeAspect="1"/>
          </p:cNvPicPr>
          <p:nvPr/>
        </p:nvPicPr>
        <p:blipFill>
          <a:blip r:embed="rId4"/>
          <a:stretch>
            <a:fillRect/>
          </a:stretch>
        </p:blipFill>
        <p:spPr>
          <a:xfrm>
            <a:off x="934334" y="5355458"/>
            <a:ext cx="307604" cy="307604"/>
          </a:xfrm>
          <a:prstGeom prst="rect">
            <a:avLst/>
          </a:prstGeom>
        </p:spPr>
      </p:pic>
      <p:sp>
        <p:nvSpPr>
          <p:cNvPr id="26" name="Text 19"/>
          <p:cNvSpPr txBox="1"/>
          <p:nvPr/>
        </p:nvSpPr>
        <p:spPr>
          <a:xfrm>
            <a:off x="1572768" y="4983480"/>
            <a:ext cx="4130345" cy="1051560"/>
          </a:xfrm>
          <a:prstGeom prst="rect">
            <a:avLst/>
          </a:prstGeom>
          <a:noFill/>
          <a:ln/>
        </p:spPr>
        <p:txBody>
          <a:bodyPr wrap="square" lIns="0" tIns="0" rIns="0" bIns="0" rtlCol="0" anchor="ctr"/>
          <a:lstStyle/>
          <a:p>
            <a:pPr algn="l" indent="0" marL="0">
              <a:buNone/>
            </a:pPr>
            <a:r>
              <a:rPr lang="en-US" sz="1500" dirty="0">
                <a:solidFill>
                  <a:schemeClr val="tx1"/>
                </a:solidFill>
              </a:rPr>
              <a:t>We import it with </a:t>
            </a:r>
            <a:r>
              <a:rPr lang="en-US" sz="1500" dirty="0">
                <a:solidFill>
                  <a:schemeClr val="accent2"/>
                </a:solidFill>
                <a:latin typeface="Consolas" pitchFamily="34" charset="0"/>
                <a:ea typeface="Consolas" pitchFamily="34" charset="-122"/>
                <a:cs typeface="Consolas" pitchFamily="34" charset="-120"/>
              </a:rPr>
              <a:t>import java.util.Iterator</a:t>
            </a:r>
            <a:r>
              <a:rPr lang="en-US" sz="1500" dirty="0">
                <a:solidFill>
                  <a:schemeClr val="tx1"/>
                </a:solidFill>
              </a:rPr>
              <a:t>, or with </a:t>
            </a:r>
            <a:r>
              <a:rPr lang="en-US" sz="1500" dirty="0">
                <a:solidFill>
                  <a:schemeClr val="accent2"/>
                </a:solidFill>
                <a:latin typeface="Consolas" pitchFamily="34" charset="0"/>
                <a:ea typeface="Consolas" pitchFamily="34" charset="-122"/>
                <a:cs typeface="Consolas" pitchFamily="34" charset="-120"/>
              </a:rPr>
              <a:t>java.util.*</a:t>
            </a:r>
            <a:r>
              <a:rPr lang="en-US" sz="1500" dirty="0">
                <a:solidFill>
                  <a:schemeClr val="tx1"/>
                </a:solidFill>
              </a:rPr>
              <a:t> for the whole package.</a:t>
            </a:r>
            <a:endParaRPr lang="en-US" sz="1500" dirty="0"/>
          </a:p>
        </p:txBody>
      </p:sp>
      <p:sp>
        <p:nvSpPr>
          <p:cNvPr id="27" name="Note"/>
          <p:cNvSpPr/>
          <p:nvPr/>
        </p:nvSpPr>
        <p:spPr>
          <a:xfrm>
            <a:off x="6233465" y="4983480"/>
            <a:ext cx="5409590" cy="1051560"/>
          </a:xfrm>
          <a:prstGeom prst="roundRect">
            <a:avLst>
              <a:gd name="adj" fmla="val 10435"/>
            </a:avLst>
          </a:prstGeom>
          <a:solidFill>
            <a:schemeClr val="bg2"/>
          </a:solidFill>
          <a:ln/>
        </p:spPr>
      </p:sp>
      <p:sp>
        <p:nvSpPr>
          <p:cNvPr id="28" name="Icon tile"/>
          <p:cNvSpPr/>
          <p:nvPr/>
        </p:nvSpPr>
        <p:spPr>
          <a:xfrm>
            <a:off x="6507785" y="5244084"/>
            <a:ext cx="530352" cy="530352"/>
          </a:xfrm>
          <a:prstGeom prst="roundRect">
            <a:avLst>
              <a:gd name="adj" fmla="val 24000"/>
            </a:avLst>
          </a:prstGeom>
          <a:solidFill>
            <a:schemeClr val="accent4">
              <a:alpha val="14000"/>
            </a:schemeClr>
          </a:solidFill>
          <a:ln/>
        </p:spPr>
      </p:sp>
      <p:pic>
        <p:nvPicPr>
          <p:cNvPr id="29" name="Image 4" descr="arrow bend down right icon">    </p:cNvPr>
          <p:cNvPicPr>
            <a:picLocks noChangeAspect="1"/>
          </p:cNvPicPr>
          <p:nvPr/>
        </p:nvPicPr>
        <p:blipFill>
          <a:blip r:embed="rId5"/>
          <a:stretch>
            <a:fillRect/>
          </a:stretch>
        </p:blipFill>
        <p:spPr>
          <a:xfrm>
            <a:off x="6619159" y="5355458"/>
            <a:ext cx="307604" cy="307604"/>
          </a:xfrm>
          <a:prstGeom prst="rect">
            <a:avLst/>
          </a:prstGeom>
        </p:spPr>
      </p:pic>
      <p:sp>
        <p:nvSpPr>
          <p:cNvPr id="30" name="Text 22"/>
          <p:cNvSpPr txBox="1"/>
          <p:nvPr/>
        </p:nvSpPr>
        <p:spPr>
          <a:xfrm>
            <a:off x="7257593" y="4983480"/>
            <a:ext cx="4129430" cy="1051560"/>
          </a:xfrm>
          <a:prstGeom prst="rect">
            <a:avLst/>
          </a:prstGeom>
          <a:noFill/>
          <a:ln/>
        </p:spPr>
        <p:txBody>
          <a:bodyPr wrap="square" lIns="0" tIns="0" rIns="0" bIns="0" rtlCol="0" anchor="ctr"/>
          <a:lstStyle/>
          <a:p>
            <a:pPr algn="l" indent="0" marL="0">
              <a:buNone/>
            </a:pPr>
            <a:r>
              <a:rPr lang="en-US" sz="1500" dirty="0">
                <a:solidFill>
                  <a:schemeClr val="tx1"/>
                </a:solidFill>
              </a:rPr>
              <a:t>We get an iterator from the collection itself: </a:t>
            </a:r>
            <a:r>
              <a:rPr lang="en-US" sz="1500" dirty="0">
                <a:solidFill>
                  <a:schemeClr val="accent2"/>
                </a:solidFill>
                <a:latin typeface="Consolas" pitchFamily="34" charset="0"/>
                <a:ea typeface="Consolas" pitchFamily="34" charset="-122"/>
                <a:cs typeface="Consolas" pitchFamily="34" charset="-120"/>
              </a:rPr>
              <a:t>setA.iterator()</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21</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Iterator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a:t>
            </a:r>
            <a:r>
              <a:rPr lang="en-US" sz="2800" b="1" dirty="0">
                <a:solidFill>
                  <a:schemeClr val="accent2"/>
                </a:solidFill>
                <a:latin typeface="Consolas" pitchFamily="34" charset="0"/>
                <a:ea typeface="Consolas" pitchFamily="34" charset="-122"/>
                <a:cs typeface="Consolas" pitchFamily="34" charset="-120"/>
              </a:rPr>
              <a:t>Iterator</a:t>
            </a:r>
            <a:r>
              <a:rPr lang="en-US" sz="2800" b="1" dirty="0">
                <a:solidFill>
                  <a:schemeClr val="tx1"/>
                </a:solidFill>
              </a:rPr>
              <a:t> method gives back the next item and moves the iterator on?</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hasNext()</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iterator()</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next()</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remove()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21</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Iterator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a:t>
            </a:r>
            <a:r>
              <a:rPr lang="en-US" sz="2000" b="1" dirty="0">
                <a:solidFill>
                  <a:schemeClr val="tx2"/>
                </a:solidFill>
                <a:latin typeface="Consolas" pitchFamily="34" charset="0"/>
                <a:ea typeface="Consolas" pitchFamily="34" charset="-122"/>
                <a:cs typeface="Consolas" pitchFamily="34" charset="-120"/>
              </a:rPr>
              <a:t>Iterator</a:t>
            </a:r>
            <a:r>
              <a:rPr lang="en-US" sz="2000" b="1" dirty="0">
                <a:solidFill>
                  <a:schemeClr val="tx2"/>
                </a:solidFill>
              </a:rPr>
              <a:t> method gives back the next item and moves the iterator on?</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hasNext()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iterator()</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next()</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remove()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next()</a:t>
            </a:r>
            <a:r>
              <a:rPr lang="en-US" sz="1800" dirty="0">
                <a:solidFill>
                  <a:schemeClr val="tx1"/>
                </a:solidFill>
              </a:rPr>
              <a:t> gives back the next item and moves on, so each call gives a new item. </a:t>
            </a:r>
            <a:r>
              <a:rPr lang="en-US" sz="1800" dirty="0">
                <a:solidFill>
                  <a:schemeClr val="accent2"/>
                </a:solidFill>
                <a:latin typeface="Consolas" pitchFamily="34" charset="0"/>
                <a:ea typeface="Consolas" pitchFamily="34" charset="-122"/>
                <a:cs typeface="Consolas" pitchFamily="34" charset="-120"/>
              </a:rPr>
              <a:t>hasNext()</a:t>
            </a:r>
            <a:r>
              <a:rPr lang="en-US" sz="1800" dirty="0">
                <a:solidFill>
                  <a:schemeClr val="tx1"/>
                </a:solidFill>
              </a:rPr>
              <a:t> only checks whether there is one, </a:t>
            </a:r>
            <a:r>
              <a:rPr lang="en-US" sz="1800" dirty="0">
                <a:solidFill>
                  <a:schemeClr val="accent2"/>
                </a:solidFill>
                <a:latin typeface="Consolas" pitchFamily="34" charset="0"/>
                <a:ea typeface="Consolas" pitchFamily="34" charset="-122"/>
                <a:cs typeface="Consolas" pitchFamily="34" charset="-120"/>
              </a:rPr>
              <a:t>remove()</a:t>
            </a:r>
            <a:r>
              <a:rPr lang="en-US" sz="1800" dirty="0">
                <a:solidFill>
                  <a:schemeClr val="tx1"/>
                </a:solidFill>
              </a:rPr>
              <a:t> deletes the item </a:t>
            </a:r>
            <a:r>
              <a:rPr lang="en-US" sz="1800" dirty="0">
                <a:solidFill>
                  <a:schemeClr val="accent2"/>
                </a:solidFill>
                <a:latin typeface="Consolas" pitchFamily="34" charset="0"/>
                <a:ea typeface="Consolas" pitchFamily="34" charset="-122"/>
                <a:cs typeface="Consolas" pitchFamily="34" charset="-120"/>
              </a:rPr>
              <a:t>next()</a:t>
            </a:r>
            <a:r>
              <a:rPr lang="en-US" sz="1800" dirty="0">
                <a:solidFill>
                  <a:schemeClr val="tx1"/>
                </a:solidFill>
              </a:rPr>
              <a:t> gave last, and </a:t>
            </a:r>
            <a:r>
              <a:rPr lang="en-US" sz="1800" dirty="0">
                <a:solidFill>
                  <a:schemeClr val="accent2"/>
                </a:solidFill>
                <a:latin typeface="Consolas" pitchFamily="34" charset="0"/>
                <a:ea typeface="Consolas" pitchFamily="34" charset="-122"/>
                <a:cs typeface="Consolas" pitchFamily="34" charset="-120"/>
              </a:rPr>
              <a:t>iterator()</a:t>
            </a:r>
            <a:r>
              <a:rPr lang="en-US" sz="1800" dirty="0">
                <a:solidFill>
                  <a:schemeClr val="tx1"/>
                </a:solidFill>
              </a:rPr>
              <a:t> is the collection’s method that gives us the iterator in the first place.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ITERATING</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Removing items while we loop</a:t>
            </a:r>
            <a:endParaRPr lang="en-US" sz="3400" dirty="0"/>
          </a:p>
        </p:txBody>
      </p:sp>
      <p:sp>
        <p:nvSpPr>
          <p:cNvPr id="5" name="Print card"/>
          <p:cNvSpPr/>
          <p:nvPr/>
        </p:nvSpPr>
        <p:spPr>
          <a:xfrm>
            <a:off x="548640" y="1691640"/>
            <a:ext cx="5486400" cy="3239262"/>
          </a:xfrm>
          <a:prstGeom prst="roundRect">
            <a:avLst>
              <a:gd name="adj" fmla="val 3387"/>
            </a:avLst>
          </a:prstGeom>
          <a:solidFill>
            <a:schemeClr val="tx1"/>
          </a:solidFill>
          <a:ln/>
          <a:effectLst>
            <a:outerShdw sx="100000" sy="100000" kx="0" ky="0" algn="bl" rotWithShape="0" blurRad="114300" dist="31750" dir="5400000">
              <a:srgbClr val="1D2433">
                <a:alpha val="12000"/>
              </a:srgbClr>
            </a:outerShdw>
          </a:effectLst>
        </p:spPr>
      </p:sp>
      <p:sp>
        <p:nvSpPr>
          <p:cNvPr id="6" name="Print label"/>
          <p:cNvSpPr txBox="1"/>
          <p:nvPr/>
        </p:nvSpPr>
        <p:spPr>
          <a:xfrm>
            <a:off x="822960" y="1810512"/>
            <a:ext cx="493776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 print with an iterator</a:t>
            </a:r>
            <a:endParaRPr lang="en-US" sz="1050" dirty="0"/>
          </a:p>
        </p:txBody>
      </p:sp>
      <p:sp>
        <p:nvSpPr>
          <p:cNvPr id="7" name="Print text"/>
          <p:cNvSpPr txBox="1"/>
          <p:nvPr/>
        </p:nvSpPr>
        <p:spPr>
          <a:xfrm>
            <a:off x="822960" y="2185416"/>
            <a:ext cx="4937760" cy="2544318"/>
          </a:xfrm>
          <a:prstGeom prst="rect">
            <a:avLst/>
          </a:prstGeom>
          <a:noFill/>
          <a:ln/>
        </p:spPr>
        <p:txBody>
          <a:bodyPr wrap="square" lIns="0" tIns="0" rIns="0" bIns="0" rtlCol="0" anchor="t"/>
          <a:lstStyle/>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HashSet</a:t>
            </a:r>
            <a:r>
              <a:rPr lang="en-US" sz="1350" dirty="0">
                <a:solidFill>
                  <a:srgbClr val="E6EBF2"/>
                </a:solidFill>
                <a:latin typeface="Consolas" pitchFamily="34" charset="0"/>
                <a:ea typeface="Consolas" pitchFamily="34" charset="-122"/>
                <a:cs typeface="Consolas" pitchFamily="34" charset="-120"/>
              </a:rPr>
              <a:t>&lt;</a:t>
            </a:r>
            <a:r>
              <a:rPr lang="en-US" sz="1350" dirty="0">
                <a:solidFill>
                  <a:srgbClr val="6CC4E8"/>
                </a:solidFill>
                <a:latin typeface="Consolas" pitchFamily="34" charset="0"/>
                <a:ea typeface="Consolas" pitchFamily="34" charset="-122"/>
                <a:cs typeface="Consolas" pitchFamily="34" charset="-120"/>
              </a:rPr>
              <a:t>Integer</a:t>
            </a:r>
            <a:r>
              <a:rPr lang="en-US" sz="1350" dirty="0">
                <a:solidFill>
                  <a:srgbClr val="E6EBF2"/>
                </a:solidFill>
                <a:latin typeface="Consolas" pitchFamily="34" charset="0"/>
                <a:ea typeface="Consolas" pitchFamily="34" charset="-122"/>
                <a:cs typeface="Consolas" pitchFamily="34" charset="-120"/>
              </a:rPr>
              <a:t>&gt; setA = </a:t>
            </a:r>
            <a:r>
              <a:rPr lang="en-US" sz="1350" dirty="0">
                <a:solidFill>
                  <a:srgbClr val="FF9F5A"/>
                </a:solidFill>
                <a:latin typeface="Consolas" pitchFamily="34" charset="0"/>
                <a:ea typeface="Consolas" pitchFamily="34" charset="-122"/>
                <a:cs typeface="Consolas" pitchFamily="34" charset="-120"/>
              </a:rPr>
              <a:t>new </a:t>
            </a:r>
            <a:r>
              <a:rPr lang="en-US" sz="1350" dirty="0">
                <a:solidFill>
                  <a:srgbClr val="6CC4E8"/>
                </a:solidFill>
                <a:latin typeface="Consolas" pitchFamily="34" charset="0"/>
                <a:ea typeface="Consolas" pitchFamily="34" charset="-122"/>
                <a:cs typeface="Consolas" pitchFamily="34" charset="-120"/>
              </a:rPr>
              <a:t>HashSet</a:t>
            </a:r>
            <a:r>
              <a:rPr lang="en-US" sz="1350" dirty="0">
                <a:solidFill>
                  <a:srgbClr val="E6EBF2"/>
                </a:solidFill>
                <a:latin typeface="Consolas" pitchFamily="34" charset="0"/>
                <a:ea typeface="Consolas" pitchFamily="34" charset="-122"/>
                <a:cs typeface="Consolas" pitchFamily="34" charset="-120"/>
              </a:rPr>
              <a:t>&lt;</a:t>
            </a:r>
            <a:r>
              <a:rPr lang="en-US" sz="1350" dirty="0">
                <a:solidFill>
                  <a:srgbClr val="6CC4E8"/>
                </a:solidFill>
                <a:latin typeface="Consolas" pitchFamily="34" charset="0"/>
                <a:ea typeface="Consolas" pitchFamily="34" charset="-122"/>
                <a:cs typeface="Consolas" pitchFamily="34" charset="-120"/>
              </a:rPr>
              <a:t>Integer</a:t>
            </a:r>
            <a:r>
              <a:rPr lang="en-US" sz="1350" dirty="0">
                <a:solidFill>
                  <a:srgbClr val="E6EBF2"/>
                </a:solidFill>
                <a:latin typeface="Consolas" pitchFamily="34" charset="0"/>
                <a:ea typeface="Consolas" pitchFamily="34" charset="-122"/>
                <a:cs typeface="Consolas" pitchFamily="34" charset="-120"/>
              </a:rPr>
              <a:t>&gt;();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setA.</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F2C14E"/>
                </a:solidFill>
                <a:latin typeface="Consolas" pitchFamily="34" charset="0"/>
                <a:ea typeface="Consolas" pitchFamily="34" charset="-122"/>
                <a:cs typeface="Consolas" pitchFamily="34" charset="-120"/>
              </a:rPr>
              <a:t>3</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setA.</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F2C14E"/>
                </a:solidFill>
                <a:latin typeface="Consolas" pitchFamily="34" charset="0"/>
                <a:ea typeface="Consolas" pitchFamily="34" charset="-122"/>
                <a:cs typeface="Consolas" pitchFamily="34" charset="-120"/>
              </a:rPr>
              <a:t>5</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setA.</a:t>
            </a:r>
            <a:r>
              <a:rPr lang="en-US" sz="1350" dirty="0">
                <a:solidFill>
                  <a:srgbClr val="C9B0FF"/>
                </a:solidFill>
                <a:latin typeface="Consolas" pitchFamily="34" charset="0"/>
                <a:ea typeface="Consolas" pitchFamily="34" charset="-122"/>
                <a:cs typeface="Consolas" pitchFamily="34" charset="-120"/>
              </a:rPr>
              <a:t>add</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F2C14E"/>
                </a:solidFill>
                <a:latin typeface="Consolas" pitchFamily="34" charset="0"/>
                <a:ea typeface="Consolas" pitchFamily="34" charset="-122"/>
                <a:cs typeface="Consolas" pitchFamily="34" charset="-120"/>
              </a:rPr>
              <a:t>2</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endParaRPr lang="en-US" sz="1350" dirty="0"/>
          </a:p>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Iterator</a:t>
            </a:r>
            <a:r>
              <a:rPr lang="en-US" sz="1350" dirty="0">
                <a:solidFill>
                  <a:srgbClr val="E6EBF2"/>
                </a:solidFill>
                <a:latin typeface="Consolas" pitchFamily="34" charset="0"/>
                <a:ea typeface="Consolas" pitchFamily="34" charset="-122"/>
                <a:cs typeface="Consolas" pitchFamily="34" charset="-120"/>
              </a:rPr>
              <a:t>&lt;</a:t>
            </a:r>
            <a:r>
              <a:rPr lang="en-US" sz="1350" dirty="0">
                <a:solidFill>
                  <a:srgbClr val="6CC4E8"/>
                </a:solidFill>
                <a:latin typeface="Consolas" pitchFamily="34" charset="0"/>
                <a:ea typeface="Consolas" pitchFamily="34" charset="-122"/>
                <a:cs typeface="Consolas" pitchFamily="34" charset="-120"/>
              </a:rPr>
              <a:t>Integer</a:t>
            </a:r>
            <a:r>
              <a:rPr lang="en-US" sz="1350" dirty="0">
                <a:solidFill>
                  <a:srgbClr val="E6EBF2"/>
                </a:solidFill>
                <a:latin typeface="Consolas" pitchFamily="34" charset="0"/>
                <a:ea typeface="Consolas" pitchFamily="34" charset="-122"/>
                <a:cs typeface="Consolas" pitchFamily="34" charset="-120"/>
              </a:rPr>
              <a:t>&gt; it = setA.</a:t>
            </a:r>
            <a:r>
              <a:rPr lang="en-US" sz="1350" dirty="0">
                <a:solidFill>
                  <a:srgbClr val="C9B0FF"/>
                </a:solidFill>
                <a:latin typeface="Consolas" pitchFamily="34" charset="0"/>
                <a:ea typeface="Consolas" pitchFamily="34" charset="-122"/>
                <a:cs typeface="Consolas" pitchFamily="34" charset="-120"/>
              </a:rPr>
              <a:t>iterator</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 "</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FF9F5A"/>
                </a:solidFill>
                <a:latin typeface="Consolas" pitchFamily="34" charset="0"/>
                <a:ea typeface="Consolas" pitchFamily="34" charset="-122"/>
                <a:cs typeface="Consolas" pitchFamily="34" charset="-120"/>
              </a:rPr>
              <a:t>while </a:t>
            </a:r>
            <a:r>
              <a:rPr lang="en-US" sz="1350" dirty="0">
                <a:solidFill>
                  <a:srgbClr val="E6EBF2"/>
                </a:solidFill>
                <a:latin typeface="Consolas" pitchFamily="34" charset="0"/>
                <a:ea typeface="Consolas" pitchFamily="34" charset="-122"/>
                <a:cs typeface="Consolas" pitchFamily="34" charset="-120"/>
              </a:rPr>
              <a:t>(it.</a:t>
            </a:r>
            <a:r>
              <a:rPr lang="en-US" sz="1350" dirty="0">
                <a:solidFill>
                  <a:srgbClr val="C9B0FF"/>
                </a:solidFill>
                <a:latin typeface="Consolas" pitchFamily="34" charset="0"/>
                <a:ea typeface="Consolas" pitchFamily="34" charset="-122"/>
                <a:cs typeface="Consolas" pitchFamily="34" charset="-120"/>
              </a:rPr>
              <a:t>hasNext</a:t>
            </a:r>
            <a:r>
              <a:rPr lang="en-US" sz="1350" dirty="0">
                <a:solidFill>
                  <a:srgbClr val="E6EBF2"/>
                </a:solidFill>
                <a:latin typeface="Consolas" pitchFamily="34" charset="0"/>
                <a:ea typeface="Consolas" pitchFamily="34" charset="-122"/>
                <a:cs typeface="Consolas" pitchFamily="34" charset="-120"/>
              </a:rPr>
              <a:t>())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a:t>
            </a:r>
            <a:r>
              <a:rPr lang="en-US" sz="1350" dirty="0">
                <a:solidFill>
                  <a:srgbClr val="E6EBF2"/>
                </a:solidFill>
                <a:latin typeface="Consolas" pitchFamily="34" charset="0"/>
                <a:ea typeface="Consolas" pitchFamily="34" charset="-122"/>
                <a:cs typeface="Consolas" pitchFamily="34" charset="-120"/>
              </a:rPr>
              <a:t>(it.</a:t>
            </a:r>
            <a:r>
              <a:rPr lang="en-US" sz="1350" dirty="0">
                <a:solidFill>
                  <a:srgbClr val="C9B0FF"/>
                </a:solidFill>
                <a:latin typeface="Consolas" pitchFamily="34" charset="0"/>
                <a:ea typeface="Consolas" pitchFamily="34" charset="-122"/>
                <a:cs typeface="Consolas" pitchFamily="34" charset="-120"/>
              </a:rPr>
              <a:t>next</a:t>
            </a:r>
            <a:r>
              <a:rPr lang="en-US" sz="1350" dirty="0">
                <a:solidFill>
                  <a:srgbClr val="E6EBF2"/>
                </a:solidFill>
                <a:latin typeface="Consolas" pitchFamily="34" charset="0"/>
                <a:ea typeface="Consolas" pitchFamily="34" charset="-122"/>
                <a:cs typeface="Consolas" pitchFamily="34" charset="-120"/>
              </a:rPr>
              <a:t>() + </a:t>
            </a:r>
            <a:r>
              <a:rPr lang="en-US" sz="1350" dirty="0">
                <a:solidFill>
                  <a:srgbClr val="A9DB8C"/>
                </a:solidFill>
                <a:latin typeface="Consolas" pitchFamily="34" charset="0"/>
                <a:ea typeface="Consolas" pitchFamily="34" charset="-122"/>
                <a:cs typeface="Consolas" pitchFamily="34" charset="-120"/>
              </a:rPr>
              <a:t>" "</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a:t>
            </a:r>
            <a:r>
              <a:rPr lang="en-US" sz="1350" dirty="0">
                <a:solidFill>
                  <a:srgbClr val="E6EBF2"/>
                </a:solidFill>
                <a:latin typeface="Consolas" pitchFamily="34" charset="0"/>
                <a:ea typeface="Consolas" pitchFamily="34" charset="-122"/>
                <a:cs typeface="Consolas" pitchFamily="34" charset="-120"/>
              </a:rPr>
              <a:t>);</a:t>
            </a:r>
            <a:endParaRPr lang="en-US" sz="1350" dirty="0"/>
          </a:p>
        </p:txBody>
      </p:sp>
      <p:sp>
        <p:nvSpPr>
          <p:cNvPr id="8" name="Remove card"/>
          <p:cNvSpPr/>
          <p:nvPr/>
        </p:nvSpPr>
        <p:spPr>
          <a:xfrm>
            <a:off x="6309360" y="1691640"/>
            <a:ext cx="5333695" cy="2560320"/>
          </a:xfrm>
          <a:prstGeom prst="roundRect">
            <a:avLst>
              <a:gd name="adj" fmla="val 4286"/>
            </a:avLst>
          </a:prstGeom>
          <a:solidFill>
            <a:schemeClr val="tx1"/>
          </a:solidFill>
          <a:ln/>
          <a:effectLst>
            <a:outerShdw sx="100000" sy="100000" kx="0" ky="0" algn="bl" rotWithShape="0" blurRad="114300" dist="31750" dir="5400000">
              <a:srgbClr val="1D2433">
                <a:alpha val="12000"/>
              </a:srgbClr>
            </a:outerShdw>
          </a:effectLst>
        </p:spPr>
      </p:sp>
      <p:sp>
        <p:nvSpPr>
          <p:cNvPr id="9" name="Remove label"/>
          <p:cNvSpPr txBox="1"/>
          <p:nvPr/>
        </p:nvSpPr>
        <p:spPr>
          <a:xfrm>
            <a:off x="6583680" y="1810512"/>
            <a:ext cx="478505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 remove the even values</a:t>
            </a:r>
            <a:endParaRPr lang="en-US" sz="1050" dirty="0"/>
          </a:p>
        </p:txBody>
      </p:sp>
      <p:sp>
        <p:nvSpPr>
          <p:cNvPr id="10" name="Remove text"/>
          <p:cNvSpPr txBox="1"/>
          <p:nvPr/>
        </p:nvSpPr>
        <p:spPr>
          <a:xfrm>
            <a:off x="6583680" y="2185416"/>
            <a:ext cx="4785055" cy="1865376"/>
          </a:xfrm>
          <a:prstGeom prst="rect">
            <a:avLst/>
          </a:prstGeom>
          <a:noFill/>
          <a:ln/>
        </p:spPr>
        <p:txBody>
          <a:bodyPr wrap="square" lIns="0" tIns="0" rIns="0" bIns="0" rtlCol="0" anchor="t"/>
          <a:lstStyle/>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it = setA.</a:t>
            </a:r>
            <a:r>
              <a:rPr lang="en-US" sz="1350" dirty="0">
                <a:solidFill>
                  <a:srgbClr val="C9B0FF"/>
                </a:solidFill>
                <a:latin typeface="Consolas" pitchFamily="34" charset="0"/>
                <a:ea typeface="Consolas" pitchFamily="34" charset="-122"/>
                <a:cs typeface="Consolas" pitchFamily="34" charset="-120"/>
              </a:rPr>
              <a:t>iterator</a:t>
            </a:r>
            <a:r>
              <a:rPr lang="en-US" sz="1350" dirty="0">
                <a:solidFill>
                  <a:srgbClr val="E6EBF2"/>
                </a:solidFill>
                <a:latin typeface="Consolas" pitchFamily="34" charset="0"/>
                <a:ea typeface="Consolas" pitchFamily="34" charset="-122"/>
                <a:cs typeface="Consolas" pitchFamily="34" charset="-120"/>
              </a:rPr>
              <a:t>();     </a:t>
            </a:r>
            <a:r>
              <a:rPr lang="en-US" sz="1350" i="1" dirty="0">
                <a:solidFill>
                  <a:srgbClr val="A3AEC2"/>
                </a:solidFill>
                <a:latin typeface="Consolas" pitchFamily="34" charset="0"/>
                <a:ea typeface="Consolas" pitchFamily="34" charset="-122"/>
                <a:cs typeface="Consolas" pitchFamily="34" charset="-120"/>
              </a:rPr>
              <a:t>// a fresh iterator</a:t>
            </a:r>
            <a:endParaRPr lang="en-US" sz="1350" dirty="0"/>
          </a:p>
          <a:p>
            <a:pPr indent="0" marL="0">
              <a:lnSpc>
                <a:spcPts val="1780"/>
              </a:lnSpc>
              <a:buNone/>
            </a:pPr>
            <a:r>
              <a:rPr lang="en-US" sz="1350" dirty="0">
                <a:solidFill>
                  <a:srgbClr val="FF9F5A"/>
                </a:solidFill>
                <a:latin typeface="Consolas" pitchFamily="34" charset="0"/>
                <a:ea typeface="Consolas" pitchFamily="34" charset="-122"/>
                <a:cs typeface="Consolas" pitchFamily="34" charset="-120"/>
              </a:rPr>
              <a:t>while </a:t>
            </a:r>
            <a:r>
              <a:rPr lang="en-US" sz="1350" dirty="0">
                <a:solidFill>
                  <a:srgbClr val="E6EBF2"/>
                </a:solidFill>
                <a:latin typeface="Consolas" pitchFamily="34" charset="0"/>
                <a:ea typeface="Consolas" pitchFamily="34" charset="-122"/>
                <a:cs typeface="Consolas" pitchFamily="34" charset="-120"/>
              </a:rPr>
              <a:t>(it.</a:t>
            </a:r>
            <a:r>
              <a:rPr lang="en-US" sz="1350" dirty="0">
                <a:solidFill>
                  <a:srgbClr val="C9B0FF"/>
                </a:solidFill>
                <a:latin typeface="Consolas" pitchFamily="34" charset="0"/>
                <a:ea typeface="Consolas" pitchFamily="34" charset="-122"/>
                <a:cs typeface="Consolas" pitchFamily="34" charset="-120"/>
              </a:rPr>
              <a:t>hasNext</a:t>
            </a:r>
            <a:r>
              <a:rPr lang="en-US" sz="1350" dirty="0">
                <a:solidFill>
                  <a:srgbClr val="E6EBF2"/>
                </a:solidFill>
                <a:latin typeface="Consolas" pitchFamily="34" charset="0"/>
                <a:ea typeface="Consolas" pitchFamily="34" charset="-122"/>
                <a:cs typeface="Consolas" pitchFamily="34" charset="-120"/>
              </a:rPr>
              <a:t>())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Integer </a:t>
            </a:r>
            <a:r>
              <a:rPr lang="en-US" sz="1350" dirty="0">
                <a:solidFill>
                  <a:srgbClr val="E6EBF2"/>
                </a:solidFill>
                <a:latin typeface="Consolas" pitchFamily="34" charset="0"/>
                <a:ea typeface="Consolas" pitchFamily="34" charset="-122"/>
                <a:cs typeface="Consolas" pitchFamily="34" charset="-120"/>
              </a:rPr>
              <a:t>x = it.</a:t>
            </a:r>
            <a:r>
              <a:rPr lang="en-US" sz="1350" dirty="0">
                <a:solidFill>
                  <a:srgbClr val="C9B0FF"/>
                </a:solidFill>
                <a:latin typeface="Consolas" pitchFamily="34" charset="0"/>
                <a:ea typeface="Consolas" pitchFamily="34" charset="-122"/>
                <a:cs typeface="Consolas" pitchFamily="34" charset="-120"/>
              </a:rPr>
              <a:t>next</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if </a:t>
            </a:r>
            <a:r>
              <a:rPr lang="en-US" sz="1350" dirty="0">
                <a:solidFill>
                  <a:srgbClr val="E6EBF2"/>
                </a:solidFill>
                <a:latin typeface="Consolas" pitchFamily="34" charset="0"/>
                <a:ea typeface="Consolas" pitchFamily="34" charset="-122"/>
                <a:cs typeface="Consolas" pitchFamily="34" charset="-120"/>
              </a:rPr>
              <a:t>(x % </a:t>
            </a:r>
            <a:r>
              <a:rPr lang="en-US" sz="1350" dirty="0">
                <a:solidFill>
                  <a:srgbClr val="F2C14E"/>
                </a:solidFill>
                <a:latin typeface="Consolas" pitchFamily="34" charset="0"/>
                <a:ea typeface="Consolas" pitchFamily="34" charset="-122"/>
                <a:cs typeface="Consolas" pitchFamily="34" charset="-120"/>
              </a:rPr>
              <a:t>2 </a:t>
            </a: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2C14E"/>
                </a:solidFill>
                <a:latin typeface="Consolas" pitchFamily="34" charset="0"/>
                <a:ea typeface="Consolas" pitchFamily="34" charset="-122"/>
                <a:cs typeface="Consolas" pitchFamily="34" charset="-120"/>
              </a:rPr>
              <a:t>0</a:t>
            </a:r>
            <a:r>
              <a:rPr lang="en-US" sz="1350" dirty="0">
                <a:solidFill>
                  <a:srgbClr val="E6EBF2"/>
                </a:solidFill>
                <a:latin typeface="Consolas" pitchFamily="34" charset="0"/>
                <a:ea typeface="Consolas" pitchFamily="34" charset="-122"/>
                <a:cs typeface="Consolas" pitchFamily="34" charset="-120"/>
              </a:rPr>
              <a:t>)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it.</a:t>
            </a:r>
            <a:r>
              <a:rPr lang="en-US" sz="1350" dirty="0">
                <a:solidFill>
                  <a:srgbClr val="C9B0FF"/>
                </a:solidFill>
                <a:latin typeface="Consolas" pitchFamily="34" charset="0"/>
                <a:ea typeface="Consolas" pitchFamily="34" charset="-122"/>
                <a:cs typeface="Consolas" pitchFamily="34" charset="-120"/>
              </a:rPr>
              <a:t>remove</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(setA);</a:t>
            </a:r>
            <a:endParaRPr lang="en-US" sz="1350" dirty="0"/>
          </a:p>
        </p:txBody>
      </p:sp>
      <p:sp>
        <p:nvSpPr>
          <p:cNvPr id="11" name="Output card"/>
          <p:cNvSpPr/>
          <p:nvPr/>
        </p:nvSpPr>
        <p:spPr>
          <a:xfrm>
            <a:off x="6309360" y="4453128"/>
            <a:ext cx="5333695" cy="1229868"/>
          </a:xfrm>
          <a:prstGeom prst="roundRect">
            <a:avLst>
              <a:gd name="adj" fmla="val 8922"/>
            </a:avLst>
          </a:prstGeom>
          <a:solidFill>
            <a:schemeClr val="tx1"/>
          </a:solidFill>
          <a:ln/>
          <a:effectLst>
            <a:outerShdw sx="100000" sy="100000" kx="0" ky="0" algn="bl" rotWithShape="0" blurRad="114300" dist="31750" dir="5400000">
              <a:srgbClr val="1D2433">
                <a:alpha val="12000"/>
              </a:srgbClr>
            </a:outerShdw>
          </a:effectLst>
        </p:spPr>
      </p:sp>
      <p:sp>
        <p:nvSpPr>
          <p:cNvPr id="12" name="Output label"/>
          <p:cNvSpPr txBox="1"/>
          <p:nvPr/>
        </p:nvSpPr>
        <p:spPr>
          <a:xfrm>
            <a:off x="6583680" y="4572000"/>
            <a:ext cx="478505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3" name="Output text"/>
          <p:cNvSpPr txBox="1"/>
          <p:nvPr/>
        </p:nvSpPr>
        <p:spPr>
          <a:xfrm>
            <a:off x="6583680" y="4946904"/>
            <a:ext cx="4785055" cy="534924"/>
          </a:xfrm>
          <a:prstGeom prst="rect">
            <a:avLst/>
          </a:prstGeom>
          <a:noFill/>
          <a:ln/>
        </p:spPr>
        <p:txBody>
          <a:bodyPr wrap="square" lIns="0" tIns="0" rIns="0" bIns="0" rtlCol="0" anchor="t"/>
          <a:lstStyle/>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[ 2 3 5 ]</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[3, 5]</a:t>
            </a:r>
            <a:endParaRPr lang="en-US" sz="1400" dirty="0"/>
          </a:p>
        </p:txBody>
      </p:sp>
      <p:sp>
        <p:nvSpPr>
          <p:cNvPr id="14" name="Note"/>
          <p:cNvSpPr/>
          <p:nvPr/>
        </p:nvSpPr>
        <p:spPr>
          <a:xfrm>
            <a:off x="548640" y="5074920"/>
            <a:ext cx="5486400" cy="960120"/>
          </a:xfrm>
          <a:prstGeom prst="roundRect">
            <a:avLst>
              <a:gd name="adj" fmla="val 11429"/>
            </a:avLst>
          </a:prstGeom>
          <a:solidFill>
            <a:schemeClr val="bg2"/>
          </a:solidFill>
          <a:ln/>
        </p:spPr>
      </p:sp>
      <p:sp>
        <p:nvSpPr>
          <p:cNvPr id="15" name="Icon tile"/>
          <p:cNvSpPr/>
          <p:nvPr/>
        </p:nvSpPr>
        <p:spPr>
          <a:xfrm>
            <a:off x="822960" y="5289804"/>
            <a:ext cx="530352" cy="530352"/>
          </a:xfrm>
          <a:prstGeom prst="roundRect">
            <a:avLst>
              <a:gd name="adj" fmla="val 24000"/>
            </a:avLst>
          </a:prstGeom>
          <a:solidFill>
            <a:srgbClr val="C0392B">
              <a:alpha val="14000"/>
            </a:srgbClr>
          </a:solidFill>
          <a:ln/>
        </p:spPr>
      </p:sp>
      <p:pic>
        <p:nvPicPr>
          <p:cNvPr id="16" name="Image 0" descr="trash icon">    </p:cNvPr>
          <p:cNvPicPr>
            <a:picLocks noChangeAspect="1"/>
          </p:cNvPicPr>
          <p:nvPr/>
        </p:nvPicPr>
        <p:blipFill>
          <a:blip r:embed="rId1"/>
          <a:stretch>
            <a:fillRect/>
          </a:stretch>
        </p:blipFill>
        <p:spPr>
          <a:xfrm>
            <a:off x="934334" y="5401178"/>
            <a:ext cx="307604" cy="307604"/>
          </a:xfrm>
          <a:prstGeom prst="rect">
            <a:avLst/>
          </a:prstGeom>
        </p:spPr>
      </p:pic>
      <p:sp>
        <p:nvSpPr>
          <p:cNvPr id="17" name="Text 13"/>
          <p:cNvSpPr txBox="1"/>
          <p:nvPr/>
        </p:nvSpPr>
        <p:spPr>
          <a:xfrm>
            <a:off x="1572768" y="5074920"/>
            <a:ext cx="4206240" cy="960120"/>
          </a:xfrm>
          <a:prstGeom prst="rect">
            <a:avLst/>
          </a:prstGeom>
          <a:noFill/>
          <a:ln/>
        </p:spPr>
        <p:txBody>
          <a:bodyPr wrap="square" lIns="0" tIns="0" rIns="0" bIns="0" rtlCol="0" anchor="ctr"/>
          <a:lstStyle/>
          <a:p>
            <a:pPr algn="l" indent="0" marL="0">
              <a:buNone/>
            </a:pPr>
            <a:r>
              <a:rPr lang="en-US" sz="1500" dirty="0">
                <a:solidFill>
                  <a:schemeClr val="accent2"/>
                </a:solidFill>
                <a:latin typeface="Consolas" pitchFamily="34" charset="0"/>
                <a:ea typeface="Consolas" pitchFamily="34" charset="-122"/>
                <a:cs typeface="Consolas" pitchFamily="34" charset="-120"/>
              </a:rPr>
              <a:t>it.remove()</a:t>
            </a:r>
            <a:r>
              <a:rPr lang="en-US" sz="1500" dirty="0">
                <a:solidFill>
                  <a:schemeClr val="tx1"/>
                </a:solidFill>
              </a:rPr>
              <a:t> takes out the item </a:t>
            </a:r>
            <a:r>
              <a:rPr lang="en-US" sz="1500" dirty="0">
                <a:solidFill>
                  <a:schemeClr val="accent2"/>
                </a:solidFill>
                <a:latin typeface="Consolas" pitchFamily="34" charset="0"/>
                <a:ea typeface="Consolas" pitchFamily="34" charset="-122"/>
                <a:cs typeface="Consolas" pitchFamily="34" charset="-120"/>
              </a:rPr>
              <a:t>next()</a:t>
            </a:r>
            <a:r>
              <a:rPr lang="en-US" sz="1500" dirty="0">
                <a:solidFill>
                  <a:schemeClr val="tx1"/>
                </a:solidFill>
              </a:rPr>
              <a:t> just gave back.</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22</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Iterator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the last line print?</a:t>
            </a:r>
            <a:endParaRPr lang="en-US" sz="2800" dirty="0"/>
          </a:p>
        </p:txBody>
      </p:sp>
      <p:sp>
        <p:nvSpPr>
          <p:cNvPr id="5" name="Question code card"/>
          <p:cNvSpPr/>
          <p:nvPr/>
        </p:nvSpPr>
        <p:spPr>
          <a:xfrm>
            <a:off x="548640" y="2219706"/>
            <a:ext cx="6035040" cy="3515868"/>
          </a:xfrm>
          <a:prstGeom prst="roundRect">
            <a:avLst>
              <a:gd name="adj" fmla="val 3121"/>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338578"/>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2713482"/>
            <a:ext cx="5486400" cy="2820924"/>
          </a:xfrm>
          <a:prstGeom prst="rect">
            <a:avLst/>
          </a:prstGeom>
          <a:noFill/>
          <a:ln/>
        </p:spPr>
        <p:txBody>
          <a:bodyPr wrap="square" lIns="0" tIns="0" rIns="0" bIns="0" rtlCol="0" anchor="t"/>
          <a:lstStyle/>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HashSet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&gt; nums = </a:t>
            </a:r>
            <a:r>
              <a:rPr lang="en-US" sz="1500" dirty="0">
                <a:solidFill>
                  <a:srgbClr val="FF9F5A"/>
                </a:solidFill>
                <a:latin typeface="Consolas" pitchFamily="34" charset="0"/>
                <a:ea typeface="Consolas" pitchFamily="34" charset="-122"/>
                <a:cs typeface="Consolas" pitchFamily="34" charset="-120"/>
              </a:rPr>
              <a:t>new </a:t>
            </a:r>
            <a:r>
              <a:rPr lang="en-US" sz="1500" dirty="0">
                <a:solidFill>
                  <a:srgbClr val="6CC4E8"/>
                </a:solidFill>
                <a:latin typeface="Consolas" pitchFamily="34" charset="0"/>
                <a:ea typeface="Consolas" pitchFamily="34" charset="-122"/>
                <a:cs typeface="Consolas" pitchFamily="34" charset="-120"/>
              </a:rPr>
              <a:t>HashSet</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&gt;();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nums.</a:t>
            </a:r>
            <a:r>
              <a:rPr lang="en-US" sz="1500" dirty="0">
                <a:solidFill>
                  <a:srgbClr val="C9B0FF"/>
                </a:solidFill>
                <a:latin typeface="Consolas" pitchFamily="34" charset="0"/>
                <a:ea typeface="Consolas" pitchFamily="34" charset="-122"/>
                <a:cs typeface="Consolas" pitchFamily="34" charset="-120"/>
              </a:rPr>
              <a:t>add</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F2C14E"/>
                </a:solidFill>
                <a:latin typeface="Consolas" pitchFamily="34" charset="0"/>
                <a:ea typeface="Consolas" pitchFamily="34" charset="-122"/>
                <a:cs typeface="Consolas" pitchFamily="34" charset="-120"/>
              </a:rPr>
              <a:t>4</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nums.</a:t>
            </a:r>
            <a:r>
              <a:rPr lang="en-US" sz="1500" dirty="0">
                <a:solidFill>
                  <a:srgbClr val="C9B0FF"/>
                </a:solidFill>
                <a:latin typeface="Consolas" pitchFamily="34" charset="0"/>
                <a:ea typeface="Consolas" pitchFamily="34" charset="-122"/>
                <a:cs typeface="Consolas" pitchFamily="34" charset="-120"/>
              </a:rPr>
              <a:t>add</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F2C14E"/>
                </a:solidFill>
                <a:latin typeface="Consolas" pitchFamily="34" charset="0"/>
                <a:ea typeface="Consolas" pitchFamily="34" charset="-122"/>
                <a:cs typeface="Consolas" pitchFamily="34" charset="-120"/>
              </a:rPr>
              <a:t>7</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nums.</a:t>
            </a:r>
            <a:r>
              <a:rPr lang="en-US" sz="1500" dirty="0">
                <a:solidFill>
                  <a:srgbClr val="C9B0FF"/>
                </a:solidFill>
                <a:latin typeface="Consolas" pitchFamily="34" charset="0"/>
                <a:ea typeface="Consolas" pitchFamily="34" charset="-122"/>
                <a:cs typeface="Consolas" pitchFamily="34" charset="-120"/>
              </a:rPr>
              <a:t>add</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F2C14E"/>
                </a:solidFill>
                <a:latin typeface="Consolas" pitchFamily="34" charset="0"/>
                <a:ea typeface="Consolas" pitchFamily="34" charset="-122"/>
                <a:cs typeface="Consolas" pitchFamily="34" charset="-120"/>
              </a:rPr>
              <a:t>10</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Iterator</a:t>
            </a:r>
            <a:r>
              <a:rPr lang="en-US" sz="1500" dirty="0">
                <a:solidFill>
                  <a:srgbClr val="E6EBF2"/>
                </a:solidFill>
                <a:latin typeface="Consolas" pitchFamily="34" charset="0"/>
                <a:ea typeface="Consolas" pitchFamily="34" charset="-122"/>
                <a:cs typeface="Consolas" pitchFamily="34" charset="-120"/>
              </a:rPr>
              <a:t>&lt;</a:t>
            </a:r>
            <a:r>
              <a:rPr lang="en-US" sz="1500" dirty="0">
                <a:solidFill>
                  <a:srgbClr val="6CC4E8"/>
                </a:solidFill>
                <a:latin typeface="Consolas" pitchFamily="34" charset="0"/>
                <a:ea typeface="Consolas" pitchFamily="34" charset="-122"/>
                <a:cs typeface="Consolas" pitchFamily="34" charset="-120"/>
              </a:rPr>
              <a:t>Integer</a:t>
            </a:r>
            <a:r>
              <a:rPr lang="en-US" sz="1500" dirty="0">
                <a:solidFill>
                  <a:srgbClr val="E6EBF2"/>
                </a:solidFill>
                <a:latin typeface="Consolas" pitchFamily="34" charset="0"/>
                <a:ea typeface="Consolas" pitchFamily="34" charset="-122"/>
                <a:cs typeface="Consolas" pitchFamily="34" charset="-120"/>
              </a:rPr>
              <a:t>&gt; it = nums.</a:t>
            </a:r>
            <a:r>
              <a:rPr lang="en-US" sz="1500" dirty="0">
                <a:solidFill>
                  <a:srgbClr val="C9B0FF"/>
                </a:solidFill>
                <a:latin typeface="Consolas" pitchFamily="34" charset="0"/>
                <a:ea typeface="Consolas" pitchFamily="34" charset="-122"/>
                <a:cs typeface="Consolas" pitchFamily="34" charset="-120"/>
              </a:rPr>
              <a:t>iterator</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FF9F5A"/>
                </a:solidFill>
                <a:latin typeface="Consolas" pitchFamily="34" charset="0"/>
                <a:ea typeface="Consolas" pitchFamily="34" charset="-122"/>
                <a:cs typeface="Consolas" pitchFamily="34" charset="-120"/>
              </a:rPr>
              <a:t>while </a:t>
            </a:r>
            <a:r>
              <a:rPr lang="en-US" sz="1500" dirty="0">
                <a:solidFill>
                  <a:srgbClr val="E6EBF2"/>
                </a:solidFill>
                <a:latin typeface="Consolas" pitchFamily="34" charset="0"/>
                <a:ea typeface="Consolas" pitchFamily="34" charset="-122"/>
                <a:cs typeface="Consolas" pitchFamily="34" charset="-120"/>
              </a:rPr>
              <a:t>(it.</a:t>
            </a:r>
            <a:r>
              <a:rPr lang="en-US" sz="1500" dirty="0">
                <a:solidFill>
                  <a:srgbClr val="C9B0FF"/>
                </a:solidFill>
                <a:latin typeface="Consolas" pitchFamily="34" charset="0"/>
                <a:ea typeface="Consolas" pitchFamily="34" charset="-122"/>
                <a:cs typeface="Consolas" pitchFamily="34" charset="-120"/>
              </a:rPr>
              <a:t>hasNext</a:t>
            </a: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if </a:t>
            </a:r>
            <a:r>
              <a:rPr lang="en-US" sz="1500" dirty="0">
                <a:solidFill>
                  <a:srgbClr val="E6EBF2"/>
                </a:solidFill>
                <a:latin typeface="Consolas" pitchFamily="34" charset="0"/>
                <a:ea typeface="Consolas" pitchFamily="34" charset="-122"/>
                <a:cs typeface="Consolas" pitchFamily="34" charset="-120"/>
              </a:rPr>
              <a:t>(it.</a:t>
            </a:r>
            <a:r>
              <a:rPr lang="en-US" sz="1500" dirty="0">
                <a:solidFill>
                  <a:srgbClr val="C9B0FF"/>
                </a:solidFill>
                <a:latin typeface="Consolas" pitchFamily="34" charset="0"/>
                <a:ea typeface="Consolas" pitchFamily="34" charset="-122"/>
                <a:cs typeface="Consolas" pitchFamily="34" charset="-120"/>
              </a:rPr>
              <a:t>next</a:t>
            </a:r>
            <a:r>
              <a:rPr lang="en-US" sz="1500" dirty="0">
                <a:solidFill>
                  <a:srgbClr val="E6EBF2"/>
                </a:solidFill>
                <a:latin typeface="Consolas" pitchFamily="34" charset="0"/>
                <a:ea typeface="Consolas" pitchFamily="34" charset="-122"/>
                <a:cs typeface="Consolas" pitchFamily="34" charset="-120"/>
              </a:rPr>
              <a:t>() &gt; </a:t>
            </a:r>
            <a:r>
              <a:rPr lang="en-US" sz="1500" dirty="0">
                <a:solidFill>
                  <a:srgbClr val="F2C14E"/>
                </a:solidFill>
                <a:latin typeface="Consolas" pitchFamily="34" charset="0"/>
                <a:ea typeface="Consolas" pitchFamily="34" charset="-122"/>
                <a:cs typeface="Consolas" pitchFamily="34" charset="-120"/>
              </a:rPr>
              <a:t>5</a:t>
            </a: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it.</a:t>
            </a:r>
            <a:r>
              <a:rPr lang="en-US" sz="1500" dirty="0">
                <a:solidFill>
                  <a:srgbClr val="C9B0FF"/>
                </a:solidFill>
                <a:latin typeface="Consolas" pitchFamily="34" charset="0"/>
                <a:ea typeface="Consolas" pitchFamily="34" charset="-122"/>
                <a:cs typeface="Consolas" pitchFamily="34" charset="-120"/>
              </a:rPr>
              <a:t>remove</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(nums);</a:t>
            </a:r>
            <a:endParaRPr lang="en-US"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[7, 10]</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[4]</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[4, 7, 10]</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22</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Iterator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the last line print?</a:t>
            </a:r>
            <a:endParaRPr lang="en-US" sz="2000" dirty="0"/>
          </a:p>
        </p:txBody>
      </p:sp>
      <p:sp>
        <p:nvSpPr>
          <p:cNvPr id="5" name="Answer code card"/>
          <p:cNvSpPr/>
          <p:nvPr/>
        </p:nvSpPr>
        <p:spPr>
          <a:xfrm>
            <a:off x="548640" y="1874520"/>
            <a:ext cx="5623560" cy="1261872"/>
          </a:xfrm>
          <a:prstGeom prst="roundRect">
            <a:avLst>
              <a:gd name="adj" fmla="val 8696"/>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59536"/>
          </a:xfrm>
          <a:prstGeom prst="rect">
            <a:avLst/>
          </a:prstGeom>
          <a:noFill/>
          <a:ln/>
        </p:spPr>
        <p:txBody>
          <a:bodyPr wrap="square" lIns="0" tIns="0" rIns="0" bIns="0" rtlCol="0" anchor="t"/>
          <a:lstStyle/>
          <a:p>
            <a:pPr indent="0" marL="0">
              <a:lnSpc>
                <a:spcPts val="2110"/>
              </a:lnSpc>
              <a:buNone/>
            </a:pPr>
            <a:r>
              <a:rPr lang="en-US" sz="1600" dirty="0">
                <a:solidFill>
                  <a:srgbClr val="F2C14E"/>
                </a:solidFill>
                <a:latin typeface="Consolas" pitchFamily="34" charset="0"/>
                <a:ea typeface="Consolas" pitchFamily="34" charset="-122"/>
                <a:cs typeface="Consolas" pitchFamily="34" charset="-120"/>
              </a:rPr>
              <a:t>4    </a:t>
            </a:r>
            <a:r>
              <a:rPr lang="en-US" sz="1600" i="1" dirty="0">
                <a:solidFill>
                  <a:srgbClr val="A3AEC2"/>
                </a:solidFill>
                <a:latin typeface="Consolas" pitchFamily="34" charset="0"/>
                <a:ea typeface="Consolas" pitchFamily="34" charset="-122"/>
                <a:cs typeface="Consolas" pitchFamily="34" charset="-120"/>
              </a:rPr>
              <a:t>// not greater than 5: stays</a:t>
            </a:r>
            <a:endParaRPr lang="en-US" sz="1600" dirty="0"/>
          </a:p>
          <a:p>
            <a:pPr indent="0" marL="0">
              <a:lnSpc>
                <a:spcPts val="2110"/>
              </a:lnSpc>
              <a:buNone/>
            </a:pPr>
            <a:r>
              <a:rPr lang="en-US" sz="1600" dirty="0">
                <a:solidFill>
                  <a:srgbClr val="F2C14E"/>
                </a:solidFill>
                <a:latin typeface="Consolas" pitchFamily="34" charset="0"/>
                <a:ea typeface="Consolas" pitchFamily="34" charset="-122"/>
                <a:cs typeface="Consolas" pitchFamily="34" charset="-120"/>
              </a:rPr>
              <a:t>7    </a:t>
            </a:r>
            <a:r>
              <a:rPr lang="en-US" sz="1600" i="1" dirty="0">
                <a:solidFill>
                  <a:srgbClr val="A3AEC2"/>
                </a:solidFill>
                <a:latin typeface="Consolas" pitchFamily="34" charset="0"/>
                <a:ea typeface="Consolas" pitchFamily="34" charset="-122"/>
                <a:cs typeface="Consolas" pitchFamily="34" charset="-120"/>
              </a:rPr>
              <a:t>// greater than 5: removed</a:t>
            </a:r>
            <a:endParaRPr lang="en-US" sz="1600" dirty="0"/>
          </a:p>
          <a:p>
            <a:pPr indent="0" marL="0">
              <a:lnSpc>
                <a:spcPts val="2110"/>
              </a:lnSpc>
              <a:buNone/>
            </a:pPr>
            <a:r>
              <a:rPr lang="en-US" sz="1600" dirty="0">
                <a:solidFill>
                  <a:srgbClr val="F2C14E"/>
                </a:solidFill>
                <a:latin typeface="Consolas" pitchFamily="34" charset="0"/>
                <a:ea typeface="Consolas" pitchFamily="34" charset="-122"/>
                <a:cs typeface="Consolas" pitchFamily="34" charset="-120"/>
              </a:rPr>
              <a:t>10   </a:t>
            </a:r>
            <a:r>
              <a:rPr lang="en-US" sz="1600" i="1" dirty="0">
                <a:solidFill>
                  <a:srgbClr val="A3AEC2"/>
                </a:solidFill>
                <a:latin typeface="Consolas" pitchFamily="34" charset="0"/>
                <a:ea typeface="Consolas" pitchFamily="34" charset="-122"/>
                <a:cs typeface="Consolas" pitchFamily="34" charset="-120"/>
              </a:rPr>
              <a:t>// greater than 5: removed</a:t>
            </a:r>
            <a:endParaRPr lang="en-US" sz="1600" dirty="0"/>
          </a:p>
        </p:txBody>
      </p:sp>
      <p:sp>
        <p:nvSpPr>
          <p:cNvPr id="7" name="Option A"/>
          <p:cNvSpPr/>
          <p:nvPr/>
        </p:nvSpPr>
        <p:spPr>
          <a:xfrm>
            <a:off x="548640" y="3364992"/>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439287"/>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364992"/>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[7, 10]</a:t>
            </a:r>
            <a:endParaRPr lang="en-US" sz="1700" dirty="0"/>
          </a:p>
        </p:txBody>
      </p:sp>
      <p:sp>
        <p:nvSpPr>
          <p:cNvPr id="10" name="Option B (correct)"/>
          <p:cNvSpPr/>
          <p:nvPr/>
        </p:nvSpPr>
        <p:spPr>
          <a:xfrm>
            <a:off x="548640" y="4080510"/>
            <a:ext cx="5623560" cy="569214"/>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54805"/>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2" name="Option B text"/>
          <p:cNvSpPr txBox="1"/>
          <p:nvPr/>
        </p:nvSpPr>
        <p:spPr>
          <a:xfrm>
            <a:off x="1371600" y="4080510"/>
            <a:ext cx="4233672" cy="569214"/>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[4]</a:t>
            </a:r>
            <a:endParaRPr lang="en-US" sz="1700" dirty="0"/>
          </a:p>
        </p:txBody>
      </p:sp>
      <p:pic>
        <p:nvPicPr>
          <p:cNvPr id="13" name="Image 0" descr="Correct mark">    </p:cNvPr>
          <p:cNvPicPr>
            <a:picLocks noChangeAspect="1"/>
          </p:cNvPicPr>
          <p:nvPr/>
        </p:nvPicPr>
        <p:blipFill>
          <a:blip r:embed="rId1"/>
          <a:stretch>
            <a:fillRect/>
          </a:stretch>
        </p:blipFill>
        <p:spPr>
          <a:xfrm>
            <a:off x="5623560" y="4182237"/>
            <a:ext cx="365760" cy="365760"/>
          </a:xfrm>
          <a:prstGeom prst="rect">
            <a:avLst/>
          </a:prstGeom>
        </p:spPr>
      </p:pic>
      <p:sp>
        <p:nvSpPr>
          <p:cNvPr id="14" name="Option C"/>
          <p:cNvSpPr/>
          <p:nvPr/>
        </p:nvSpPr>
        <p:spPr>
          <a:xfrm>
            <a:off x="548640" y="4796028"/>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70323"/>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96028"/>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[4, 7, 10]</a:t>
            </a:r>
            <a:endParaRPr lang="en-US" sz="1700" dirty="0"/>
          </a:p>
        </p:txBody>
      </p:sp>
      <p:sp>
        <p:nvSpPr>
          <p:cNvPr id="17" name="Option D"/>
          <p:cNvSpPr/>
          <p:nvPr/>
        </p:nvSpPr>
        <p:spPr>
          <a:xfrm>
            <a:off x="548640" y="5511546"/>
            <a:ext cx="5623560" cy="569214"/>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85841"/>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511546"/>
            <a:ext cx="4572000" cy="569214"/>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The loop visits every item once. 7 and 10 are greater than 5, so </a:t>
            </a:r>
            <a:r>
              <a:rPr lang="en-US" sz="1800" dirty="0">
                <a:solidFill>
                  <a:schemeClr val="accent2"/>
                </a:solidFill>
                <a:latin typeface="Consolas" pitchFamily="34" charset="0"/>
                <a:ea typeface="Consolas" pitchFamily="34" charset="-122"/>
                <a:cs typeface="Consolas" pitchFamily="34" charset="-120"/>
              </a:rPr>
              <a:t>it.remove()</a:t>
            </a:r>
            <a:r>
              <a:rPr lang="en-US" sz="1800" dirty="0">
                <a:solidFill>
                  <a:schemeClr val="tx1"/>
                </a:solidFill>
              </a:rPr>
              <a:t> takes each of them out straight after </a:t>
            </a:r>
            <a:r>
              <a:rPr lang="en-US" sz="1800" dirty="0">
                <a:solidFill>
                  <a:schemeClr val="accent2"/>
                </a:solidFill>
                <a:latin typeface="Consolas" pitchFamily="34" charset="0"/>
                <a:ea typeface="Consolas" pitchFamily="34" charset="-122"/>
                <a:cs typeface="Consolas" pitchFamily="34" charset="-120"/>
              </a:rPr>
              <a:t>next()</a:t>
            </a:r>
            <a:r>
              <a:rPr lang="en-US" sz="1800" dirty="0">
                <a:solidFill>
                  <a:schemeClr val="tx1"/>
                </a:solidFill>
              </a:rPr>
              <a:t> gives it back. Only 4 is left, so it prints </a:t>
            </a:r>
            <a:r>
              <a:rPr lang="en-US" sz="1800" dirty="0">
                <a:solidFill>
                  <a:schemeClr val="accent2"/>
                </a:solidFill>
                <a:latin typeface="Consolas" pitchFamily="34" charset="0"/>
                <a:ea typeface="Consolas" pitchFamily="34" charset="-122"/>
                <a:cs typeface="Consolas" pitchFamily="34" charset="-120"/>
              </a:rPr>
              <a:t>[4]</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ITERATING</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Don’t remove inside a for-each loop</a:t>
            </a:r>
            <a:endParaRPr lang="en-US" sz="3400" dirty="0"/>
          </a:p>
        </p:txBody>
      </p:sp>
      <p:sp>
        <p:nvSpPr>
          <p:cNvPr id="5" name="Text 2"/>
          <p:cNvSpPr txBox="1"/>
          <p:nvPr/>
        </p:nvSpPr>
        <p:spPr>
          <a:xfrm>
            <a:off x="548640" y="1664208"/>
            <a:ext cx="11094415" cy="292608"/>
          </a:xfrm>
          <a:prstGeom prst="rect">
            <a:avLst/>
          </a:prstGeom>
          <a:noFill/>
          <a:ln/>
        </p:spPr>
        <p:txBody>
          <a:bodyPr wrap="square" lIns="0" tIns="0" rIns="0" bIns="0" rtlCol="0" anchor="t"/>
          <a:lstStyle/>
          <a:p>
            <a:pPr algn="l" indent="0" marL="0">
              <a:buNone/>
            </a:pPr>
            <a:r>
              <a:rPr lang="en-US" sz="1500" dirty="0">
                <a:solidFill>
                  <a:schemeClr val="accent2"/>
                </a:solidFill>
                <a:latin typeface="Consolas" pitchFamily="34" charset="0"/>
                <a:ea typeface="Consolas" pitchFamily="34" charset="-122"/>
                <a:cs typeface="Consolas" pitchFamily="34" charset="-120"/>
              </a:rPr>
              <a:t>setA</a:t>
            </a:r>
            <a:r>
              <a:rPr lang="en-US" sz="1500" dirty="0">
                <a:solidFill>
                  <a:schemeClr val="tx2"/>
                </a:solidFill>
              </a:rPr>
              <a:t> holds 3, 5 and 2, as in the Iterator example. Both loops try to remove the even values.</a:t>
            </a:r>
            <a:endParaRPr lang="en-US" sz="1500" dirty="0"/>
          </a:p>
        </p:txBody>
      </p:sp>
      <p:pic>
        <p:nvPicPr>
          <p:cNvPr id="6" name="Image 0" descr="Does not work">    </p:cNvPr>
          <p:cNvPicPr>
            <a:picLocks noChangeAspect="1"/>
          </p:cNvPicPr>
          <p:nvPr/>
        </p:nvPicPr>
        <p:blipFill>
          <a:blip r:embed="rId1"/>
          <a:stretch>
            <a:fillRect/>
          </a:stretch>
        </p:blipFill>
        <p:spPr>
          <a:xfrm>
            <a:off x="548640" y="2048256"/>
            <a:ext cx="347472" cy="347472"/>
          </a:xfrm>
          <a:prstGeom prst="rect">
            <a:avLst/>
          </a:prstGeom>
        </p:spPr>
      </p:pic>
      <p:sp>
        <p:nvSpPr>
          <p:cNvPr id="7" name="Text 3"/>
          <p:cNvSpPr txBox="1"/>
          <p:nvPr/>
        </p:nvSpPr>
        <p:spPr>
          <a:xfrm>
            <a:off x="1005840" y="2029968"/>
            <a:ext cx="4937760" cy="384048"/>
          </a:xfrm>
          <a:prstGeom prst="rect">
            <a:avLst/>
          </a:prstGeom>
          <a:noFill/>
          <a:ln/>
        </p:spPr>
        <p:txBody>
          <a:bodyPr wrap="square" lIns="0" tIns="0" rIns="0" bIns="0" rtlCol="0" anchor="ctr"/>
          <a:lstStyle/>
          <a:p>
            <a:pPr algn="l" indent="0" marL="0">
              <a:buNone/>
            </a:pPr>
            <a:r>
              <a:rPr lang="en-US" sz="1500" b="1" dirty="0">
                <a:solidFill>
                  <a:srgbClr val="C0392B"/>
                </a:solidFill>
              </a:rPr>
              <a:t>The set’s own remove, inside for-each</a:t>
            </a:r>
            <a:endParaRPr lang="en-US" sz="1500" dirty="0"/>
          </a:p>
        </p:txBody>
      </p:sp>
      <p:sp>
        <p:nvSpPr>
          <p:cNvPr id="8" name="Wrong card"/>
          <p:cNvSpPr/>
          <p:nvPr/>
        </p:nvSpPr>
        <p:spPr>
          <a:xfrm>
            <a:off x="548640" y="2487168"/>
            <a:ext cx="5394960"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9" name="Wrong label"/>
          <p:cNvSpPr txBox="1"/>
          <p:nvPr/>
        </p:nvSpPr>
        <p:spPr>
          <a:xfrm>
            <a:off x="822960" y="2606040"/>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0" name="Wrong text"/>
          <p:cNvSpPr txBox="1"/>
          <p:nvPr/>
        </p:nvSpPr>
        <p:spPr>
          <a:xfrm>
            <a:off x="822960" y="2980944"/>
            <a:ext cx="4846320" cy="1060704"/>
          </a:xfrm>
          <a:prstGeom prst="rect">
            <a:avLst/>
          </a:prstGeom>
          <a:noFill/>
          <a:ln/>
        </p:spPr>
        <p:txBody>
          <a:bodyPr wrap="square" lIns="0" tIns="0" rIns="0" bIns="0" rtlCol="0" anchor="t"/>
          <a:lstStyle/>
          <a:p>
            <a:pPr indent="0" marL="0">
              <a:lnSpc>
                <a:spcPts val="1580"/>
              </a:lnSpc>
              <a:buNone/>
            </a:pPr>
            <a:r>
              <a:rPr lang="en-US" sz="1200" dirty="0">
                <a:solidFill>
                  <a:srgbClr val="FF9F5A"/>
                </a:solidFill>
                <a:latin typeface="Consolas" pitchFamily="34" charset="0"/>
                <a:ea typeface="Consolas" pitchFamily="34" charset="-122"/>
                <a:cs typeface="Consolas" pitchFamily="34" charset="-120"/>
              </a:rPr>
              <a:t>for </a:t>
            </a:r>
            <a:r>
              <a:rPr lang="en-US" sz="1200" dirty="0">
                <a:solidFill>
                  <a:srgbClr val="E6EBF2"/>
                </a:solidFill>
                <a:latin typeface="Consolas" pitchFamily="34" charset="0"/>
                <a:ea typeface="Consolas" pitchFamily="34" charset="-122"/>
                <a:cs typeface="Consolas" pitchFamily="34" charset="-120"/>
              </a:rPr>
              <a:t>(</a:t>
            </a:r>
            <a:r>
              <a:rPr lang="en-US" sz="1200" dirty="0">
                <a:solidFill>
                  <a:srgbClr val="6CC4E8"/>
                </a:solidFill>
                <a:latin typeface="Consolas" pitchFamily="34" charset="0"/>
                <a:ea typeface="Consolas" pitchFamily="34" charset="-122"/>
                <a:cs typeface="Consolas" pitchFamily="34" charset="-120"/>
              </a:rPr>
              <a:t>Integer </a:t>
            </a:r>
            <a:r>
              <a:rPr lang="en-US" sz="1200" dirty="0">
                <a:solidFill>
                  <a:srgbClr val="E6EBF2"/>
                </a:solidFill>
                <a:latin typeface="Consolas" pitchFamily="34" charset="0"/>
                <a:ea typeface="Consolas" pitchFamily="34" charset="-122"/>
                <a:cs typeface="Consolas" pitchFamily="34" charset="-120"/>
              </a:rPr>
              <a:t>x : setA)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FF9F5A"/>
                </a:solidFill>
                <a:latin typeface="Consolas" pitchFamily="34" charset="0"/>
                <a:ea typeface="Consolas" pitchFamily="34" charset="-122"/>
                <a:cs typeface="Consolas" pitchFamily="34" charset="-120"/>
              </a:rPr>
              <a:t>if </a:t>
            </a:r>
            <a:r>
              <a:rPr lang="en-US" sz="1200" dirty="0">
                <a:solidFill>
                  <a:srgbClr val="E6EBF2"/>
                </a:solidFill>
                <a:latin typeface="Consolas" pitchFamily="34" charset="0"/>
                <a:ea typeface="Consolas" pitchFamily="34" charset="-122"/>
                <a:cs typeface="Consolas" pitchFamily="34" charset="-120"/>
              </a:rPr>
              <a:t>(x % </a:t>
            </a:r>
            <a:r>
              <a:rPr lang="en-US" sz="1200" dirty="0">
                <a:solidFill>
                  <a:srgbClr val="F2C14E"/>
                </a:solidFill>
                <a:latin typeface="Consolas" pitchFamily="34" charset="0"/>
                <a:ea typeface="Consolas" pitchFamily="34" charset="-122"/>
                <a:cs typeface="Consolas" pitchFamily="34" charset="-120"/>
              </a:rPr>
              <a:t>2 </a:t>
            </a: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F2C14E"/>
                </a:solidFill>
                <a:latin typeface="Consolas" pitchFamily="34" charset="0"/>
                <a:ea typeface="Consolas" pitchFamily="34" charset="-122"/>
                <a:cs typeface="Consolas" pitchFamily="34" charset="-120"/>
              </a:rPr>
              <a:t>0</a:t>
            </a: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setA.</a:t>
            </a:r>
            <a:r>
              <a:rPr lang="en-US" sz="1200" dirty="0">
                <a:solidFill>
                  <a:srgbClr val="C9B0FF"/>
                </a:solidFill>
                <a:latin typeface="Consolas" pitchFamily="34" charset="0"/>
                <a:ea typeface="Consolas" pitchFamily="34" charset="-122"/>
                <a:cs typeface="Consolas" pitchFamily="34" charset="-120"/>
              </a:rPr>
              <a:t>remove</a:t>
            </a:r>
            <a:r>
              <a:rPr lang="en-US" sz="1200" dirty="0">
                <a:solidFill>
                  <a:srgbClr val="E6EBF2"/>
                </a:solidFill>
                <a:latin typeface="Consolas" pitchFamily="34" charset="0"/>
                <a:ea typeface="Consolas" pitchFamily="34" charset="-122"/>
                <a:cs typeface="Consolas" pitchFamily="34" charset="-120"/>
              </a:rPr>
              <a:t>(x);    </a:t>
            </a:r>
            <a:r>
              <a:rPr lang="en-US" sz="1200" i="1" dirty="0">
                <a:solidFill>
                  <a:srgbClr val="A3AEC2"/>
                </a:solidFill>
                <a:latin typeface="Consolas" pitchFamily="34" charset="0"/>
                <a:ea typeface="Consolas" pitchFamily="34" charset="-122"/>
                <a:cs typeface="Consolas" pitchFamily="34" charset="-120"/>
              </a:rPr>
              <a:t>// changes the set</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a:t>
            </a:r>
            <a:endParaRPr lang="en-US" sz="1200" dirty="0"/>
          </a:p>
        </p:txBody>
      </p:sp>
      <p:sp>
        <p:nvSpPr>
          <p:cNvPr id="11" name="Output card"/>
          <p:cNvSpPr/>
          <p:nvPr/>
        </p:nvSpPr>
        <p:spPr>
          <a:xfrm>
            <a:off x="548640" y="4379976"/>
            <a:ext cx="5394960" cy="1161288"/>
          </a:xfrm>
          <a:prstGeom prst="roundRect">
            <a:avLst>
              <a:gd name="adj" fmla="val 9449"/>
            </a:avLst>
          </a:prstGeom>
          <a:solidFill>
            <a:schemeClr val="tx1"/>
          </a:solidFill>
          <a:ln/>
          <a:effectLst>
            <a:outerShdw sx="100000" sy="100000" kx="0" ky="0" algn="bl" rotWithShape="0" blurRad="114300" dist="31750" dir="5400000">
              <a:srgbClr val="1D2433">
                <a:alpha val="12000"/>
              </a:srgbClr>
            </a:outerShdw>
          </a:effectLst>
        </p:spPr>
      </p:sp>
      <p:sp>
        <p:nvSpPr>
          <p:cNvPr id="12" name="Output label"/>
          <p:cNvSpPr txBox="1"/>
          <p:nvPr/>
        </p:nvSpPr>
        <p:spPr>
          <a:xfrm>
            <a:off x="822960" y="4498848"/>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(first line wrapped)</a:t>
            </a:r>
            <a:endParaRPr lang="en-US" sz="1050" dirty="0"/>
          </a:p>
        </p:txBody>
      </p:sp>
      <p:sp>
        <p:nvSpPr>
          <p:cNvPr id="13" name="Output text"/>
          <p:cNvSpPr txBox="1"/>
          <p:nvPr/>
        </p:nvSpPr>
        <p:spPr>
          <a:xfrm>
            <a:off x="822960" y="4873752"/>
            <a:ext cx="4846320" cy="466344"/>
          </a:xfrm>
          <a:prstGeom prst="rect">
            <a:avLst/>
          </a:prstGeom>
          <a:noFill/>
          <a:ln/>
        </p:spPr>
        <p:txBody>
          <a:bodyPr wrap="square" lIns="0" tIns="0" rIns="0" bIns="0" rtlCol="0" anchor="t"/>
          <a:lstStyle/>
          <a:p>
            <a:pPr indent="0" marL="0">
              <a:lnSpc>
                <a:spcPts val="1620"/>
              </a:lnSpc>
              <a:buNone/>
            </a:pPr>
            <a:r>
              <a:rPr lang="en-US" sz="1200" dirty="0">
                <a:solidFill>
                  <a:srgbClr val="FF8A80"/>
                </a:solidFill>
                <a:latin typeface="Consolas" pitchFamily="34" charset="0"/>
                <a:ea typeface="Consolas" pitchFamily="34" charset="-122"/>
                <a:cs typeface="Consolas" pitchFamily="34" charset="-120"/>
              </a:rPr>
              <a:t>Exception in thread "main"</a:t>
            </a:r>
            <a:endParaRPr lang="en-US" sz="1200" dirty="0"/>
          </a:p>
          <a:p>
            <a:pPr indent="0" marL="0">
              <a:lnSpc>
                <a:spcPts val="1620"/>
              </a:lnSpc>
              <a:buNone/>
            </a:pPr>
            <a:r>
              <a:rPr lang="en-US" sz="1200" dirty="0">
                <a:solidFill>
                  <a:srgbClr val="FF8A80"/>
                </a:solidFill>
                <a:latin typeface="Consolas" pitchFamily="34" charset="0"/>
                <a:ea typeface="Consolas" pitchFamily="34" charset="-122"/>
                <a:cs typeface="Consolas" pitchFamily="34" charset="-120"/>
              </a:rPr>
              <a:t>java.util.ConcurrentModificationException</a:t>
            </a:r>
            <a:endParaRPr lang="en-US" sz="1200" dirty="0"/>
          </a:p>
        </p:txBody>
      </p:sp>
      <p:pic>
        <p:nvPicPr>
          <p:cNvPr id="14" name="Image 1" descr="Works">    </p:cNvPr>
          <p:cNvPicPr>
            <a:picLocks noChangeAspect="1"/>
          </p:cNvPicPr>
          <p:nvPr/>
        </p:nvPicPr>
        <p:blipFill>
          <a:blip r:embed="rId2"/>
          <a:stretch>
            <a:fillRect/>
          </a:stretch>
        </p:blipFill>
        <p:spPr>
          <a:xfrm>
            <a:off x="6248095" y="2048256"/>
            <a:ext cx="347472" cy="347472"/>
          </a:xfrm>
          <a:prstGeom prst="rect">
            <a:avLst/>
          </a:prstGeom>
        </p:spPr>
      </p:pic>
      <p:sp>
        <p:nvSpPr>
          <p:cNvPr id="15" name="Text 10"/>
          <p:cNvSpPr txBox="1"/>
          <p:nvPr/>
        </p:nvSpPr>
        <p:spPr>
          <a:xfrm>
            <a:off x="6705295" y="2029968"/>
            <a:ext cx="4937760" cy="384048"/>
          </a:xfrm>
          <a:prstGeom prst="rect">
            <a:avLst/>
          </a:prstGeom>
          <a:noFill/>
          <a:ln/>
        </p:spPr>
        <p:txBody>
          <a:bodyPr wrap="square" lIns="0" tIns="0" rIns="0" bIns="0" rtlCol="0" anchor="ctr"/>
          <a:lstStyle/>
          <a:p>
            <a:pPr algn="l" indent="0" marL="0">
              <a:buNone/>
            </a:pPr>
            <a:r>
              <a:rPr lang="en-US" sz="1500" b="1" dirty="0">
                <a:solidFill>
                  <a:schemeClr val="accent3"/>
                </a:solidFill>
              </a:rPr>
              <a:t>The iterator’s remove</a:t>
            </a:r>
            <a:endParaRPr lang="en-US" sz="1500" dirty="0"/>
          </a:p>
        </p:txBody>
      </p:sp>
      <p:sp>
        <p:nvSpPr>
          <p:cNvPr id="16" name="Right card"/>
          <p:cNvSpPr/>
          <p:nvPr/>
        </p:nvSpPr>
        <p:spPr>
          <a:xfrm>
            <a:off x="6248095" y="2487168"/>
            <a:ext cx="5394960" cy="1956816"/>
          </a:xfrm>
          <a:prstGeom prst="roundRect">
            <a:avLst>
              <a:gd name="adj" fmla="val 5607"/>
            </a:avLst>
          </a:prstGeom>
          <a:solidFill>
            <a:schemeClr val="tx1"/>
          </a:solidFill>
          <a:ln/>
          <a:effectLst>
            <a:outerShdw sx="100000" sy="100000" kx="0" ky="0" algn="bl" rotWithShape="0" blurRad="114300" dist="31750" dir="5400000">
              <a:srgbClr val="1D2433">
                <a:alpha val="12000"/>
              </a:srgbClr>
            </a:outerShdw>
          </a:effectLst>
        </p:spPr>
      </p:sp>
      <p:sp>
        <p:nvSpPr>
          <p:cNvPr id="17" name="Right label"/>
          <p:cNvSpPr txBox="1"/>
          <p:nvPr/>
        </p:nvSpPr>
        <p:spPr>
          <a:xfrm>
            <a:off x="6522415" y="2606040"/>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8" name="Right text"/>
          <p:cNvSpPr txBox="1"/>
          <p:nvPr/>
        </p:nvSpPr>
        <p:spPr>
          <a:xfrm>
            <a:off x="6522415" y="2980944"/>
            <a:ext cx="4846320" cy="1261872"/>
          </a:xfrm>
          <a:prstGeom prst="rect">
            <a:avLst/>
          </a:prstGeom>
          <a:noFill/>
          <a:ln/>
        </p:spPr>
        <p:txBody>
          <a:bodyPr wrap="square" lIns="0" tIns="0" rIns="0" bIns="0" rtlCol="0" anchor="t"/>
          <a:lstStyle/>
          <a:p>
            <a:pPr indent="0" marL="0">
              <a:lnSpc>
                <a:spcPts val="1580"/>
              </a:lnSpc>
              <a:buNone/>
            </a:pPr>
            <a:r>
              <a:rPr lang="en-US" sz="1200" dirty="0">
                <a:solidFill>
                  <a:srgbClr val="6CC4E8"/>
                </a:solidFill>
                <a:latin typeface="Consolas" pitchFamily="34" charset="0"/>
                <a:ea typeface="Consolas" pitchFamily="34" charset="-122"/>
                <a:cs typeface="Consolas" pitchFamily="34" charset="-120"/>
              </a:rPr>
              <a:t>Iterator</a:t>
            </a:r>
            <a:r>
              <a:rPr lang="en-US" sz="1200" dirty="0">
                <a:solidFill>
                  <a:srgbClr val="E6EBF2"/>
                </a:solidFill>
                <a:latin typeface="Consolas" pitchFamily="34" charset="0"/>
                <a:ea typeface="Consolas" pitchFamily="34" charset="-122"/>
                <a:cs typeface="Consolas" pitchFamily="34" charset="-120"/>
              </a:rPr>
              <a:t>&lt;</a:t>
            </a:r>
            <a:r>
              <a:rPr lang="en-US" sz="1200" dirty="0">
                <a:solidFill>
                  <a:srgbClr val="6CC4E8"/>
                </a:solidFill>
                <a:latin typeface="Consolas" pitchFamily="34" charset="0"/>
                <a:ea typeface="Consolas" pitchFamily="34" charset="-122"/>
                <a:cs typeface="Consolas" pitchFamily="34" charset="-120"/>
              </a:rPr>
              <a:t>Integer</a:t>
            </a:r>
            <a:r>
              <a:rPr lang="en-US" sz="1200" dirty="0">
                <a:solidFill>
                  <a:srgbClr val="E6EBF2"/>
                </a:solidFill>
                <a:latin typeface="Consolas" pitchFamily="34" charset="0"/>
                <a:ea typeface="Consolas" pitchFamily="34" charset="-122"/>
                <a:cs typeface="Consolas" pitchFamily="34" charset="-120"/>
              </a:rPr>
              <a:t>&gt; it = setA.</a:t>
            </a:r>
            <a:r>
              <a:rPr lang="en-US" sz="1200" dirty="0">
                <a:solidFill>
                  <a:srgbClr val="C9B0FF"/>
                </a:solidFill>
                <a:latin typeface="Consolas" pitchFamily="34" charset="0"/>
                <a:ea typeface="Consolas" pitchFamily="34" charset="-122"/>
                <a:cs typeface="Consolas" pitchFamily="34" charset="-120"/>
              </a:rPr>
              <a:t>iterator</a:t>
            </a:r>
            <a:r>
              <a:rPr lang="en-US" sz="1200" dirty="0">
                <a:solidFill>
                  <a:srgbClr val="E6EBF2"/>
                </a:solidFill>
                <a:latin typeface="Consolas" pitchFamily="34" charset="0"/>
                <a:ea typeface="Consolas" pitchFamily="34" charset="-122"/>
                <a:cs typeface="Consolas" pitchFamily="34" charset="-120"/>
              </a:rPr>
              <a:t>();</a:t>
            </a:r>
            <a:endParaRPr lang="en-US" sz="1200" dirty="0"/>
          </a:p>
          <a:p>
            <a:pPr indent="0" marL="0">
              <a:lnSpc>
                <a:spcPts val="1580"/>
              </a:lnSpc>
              <a:buNone/>
            </a:pPr>
            <a:r>
              <a:rPr lang="en-US" sz="1200" dirty="0">
                <a:solidFill>
                  <a:srgbClr val="FF9F5A"/>
                </a:solidFill>
                <a:latin typeface="Consolas" pitchFamily="34" charset="0"/>
                <a:ea typeface="Consolas" pitchFamily="34" charset="-122"/>
                <a:cs typeface="Consolas" pitchFamily="34" charset="-120"/>
              </a:rPr>
              <a:t>while </a:t>
            </a:r>
            <a:r>
              <a:rPr lang="en-US" sz="1200" dirty="0">
                <a:solidFill>
                  <a:srgbClr val="E6EBF2"/>
                </a:solidFill>
                <a:latin typeface="Consolas" pitchFamily="34" charset="0"/>
                <a:ea typeface="Consolas" pitchFamily="34" charset="-122"/>
                <a:cs typeface="Consolas" pitchFamily="34" charset="-120"/>
              </a:rPr>
              <a:t>(it.</a:t>
            </a:r>
            <a:r>
              <a:rPr lang="en-US" sz="1200" dirty="0">
                <a:solidFill>
                  <a:srgbClr val="C9B0FF"/>
                </a:solidFill>
                <a:latin typeface="Consolas" pitchFamily="34" charset="0"/>
                <a:ea typeface="Consolas" pitchFamily="34" charset="-122"/>
                <a:cs typeface="Consolas" pitchFamily="34" charset="-120"/>
              </a:rPr>
              <a:t>hasNext</a:t>
            </a: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FF9F5A"/>
                </a:solidFill>
                <a:latin typeface="Consolas" pitchFamily="34" charset="0"/>
                <a:ea typeface="Consolas" pitchFamily="34" charset="-122"/>
                <a:cs typeface="Consolas" pitchFamily="34" charset="-120"/>
              </a:rPr>
              <a:t>if </a:t>
            </a:r>
            <a:r>
              <a:rPr lang="en-US" sz="1200" dirty="0">
                <a:solidFill>
                  <a:srgbClr val="E6EBF2"/>
                </a:solidFill>
                <a:latin typeface="Consolas" pitchFamily="34" charset="0"/>
                <a:ea typeface="Consolas" pitchFamily="34" charset="-122"/>
                <a:cs typeface="Consolas" pitchFamily="34" charset="-120"/>
              </a:rPr>
              <a:t>(it.</a:t>
            </a:r>
            <a:r>
              <a:rPr lang="en-US" sz="1200" dirty="0">
                <a:solidFill>
                  <a:srgbClr val="C9B0FF"/>
                </a:solidFill>
                <a:latin typeface="Consolas" pitchFamily="34" charset="0"/>
                <a:ea typeface="Consolas" pitchFamily="34" charset="-122"/>
                <a:cs typeface="Consolas" pitchFamily="34" charset="-120"/>
              </a:rPr>
              <a:t>next</a:t>
            </a:r>
            <a:r>
              <a:rPr lang="en-US" sz="1200" dirty="0">
                <a:solidFill>
                  <a:srgbClr val="E6EBF2"/>
                </a:solidFill>
                <a:latin typeface="Consolas" pitchFamily="34" charset="0"/>
                <a:ea typeface="Consolas" pitchFamily="34" charset="-122"/>
                <a:cs typeface="Consolas" pitchFamily="34" charset="-120"/>
              </a:rPr>
              <a:t>() % </a:t>
            </a:r>
            <a:r>
              <a:rPr lang="en-US" sz="1200" dirty="0">
                <a:solidFill>
                  <a:srgbClr val="F2C14E"/>
                </a:solidFill>
                <a:latin typeface="Consolas" pitchFamily="34" charset="0"/>
                <a:ea typeface="Consolas" pitchFamily="34" charset="-122"/>
                <a:cs typeface="Consolas" pitchFamily="34" charset="-120"/>
              </a:rPr>
              <a:t>2 </a:t>
            </a:r>
            <a:r>
              <a:rPr lang="en-US" sz="1200" dirty="0">
                <a:solidFill>
                  <a:srgbClr val="E6EBF2"/>
                </a:solidFill>
                <a:latin typeface="Consolas" pitchFamily="34" charset="0"/>
                <a:ea typeface="Consolas" pitchFamily="34" charset="-122"/>
                <a:cs typeface="Consolas" pitchFamily="34" charset="-120"/>
              </a:rPr>
              <a:t>== </a:t>
            </a:r>
            <a:r>
              <a:rPr lang="en-US" sz="1200" dirty="0">
                <a:solidFill>
                  <a:srgbClr val="F2C14E"/>
                </a:solidFill>
                <a:latin typeface="Consolas" pitchFamily="34" charset="0"/>
                <a:ea typeface="Consolas" pitchFamily="34" charset="-122"/>
                <a:cs typeface="Consolas" pitchFamily="34" charset="-120"/>
              </a:rPr>
              <a:t>0</a:t>
            </a: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it.</a:t>
            </a:r>
            <a:r>
              <a:rPr lang="en-US" sz="1200" dirty="0">
                <a:solidFill>
                  <a:srgbClr val="C9B0FF"/>
                </a:solidFill>
                <a:latin typeface="Consolas" pitchFamily="34" charset="0"/>
                <a:ea typeface="Consolas" pitchFamily="34" charset="-122"/>
                <a:cs typeface="Consolas" pitchFamily="34" charset="-120"/>
              </a:rPr>
              <a:t>remove</a:t>
            </a:r>
            <a:r>
              <a:rPr lang="en-US" sz="1200" dirty="0">
                <a:solidFill>
                  <a:srgbClr val="E6EBF2"/>
                </a:solidFill>
                <a:latin typeface="Consolas" pitchFamily="34" charset="0"/>
                <a:ea typeface="Consolas" pitchFamily="34" charset="-122"/>
                <a:cs typeface="Consolas" pitchFamily="34" charset="-120"/>
              </a:rPr>
              <a:t>();       </a:t>
            </a:r>
            <a:r>
              <a:rPr lang="en-US" sz="1200" i="1" dirty="0">
                <a:solidFill>
                  <a:srgbClr val="A3AEC2"/>
                </a:solidFill>
                <a:latin typeface="Consolas" pitchFamily="34" charset="0"/>
                <a:ea typeface="Consolas" pitchFamily="34" charset="-122"/>
                <a:cs typeface="Consolas" pitchFamily="34" charset="-120"/>
              </a:rPr>
              <a:t>// safe</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    }</a:t>
            </a:r>
            <a:endParaRPr lang="en-US" sz="1200" dirty="0"/>
          </a:p>
          <a:p>
            <a:pPr indent="0" marL="0">
              <a:lnSpc>
                <a:spcPts val="1580"/>
              </a:lnSpc>
              <a:buNone/>
            </a:pPr>
            <a:r>
              <a:rPr lang="en-US" sz="1200" dirty="0">
                <a:solidFill>
                  <a:srgbClr val="E6EBF2"/>
                </a:solidFill>
                <a:latin typeface="Consolas" pitchFamily="34" charset="0"/>
                <a:ea typeface="Consolas" pitchFamily="34" charset="-122"/>
                <a:cs typeface="Consolas" pitchFamily="34" charset="-120"/>
              </a:rPr>
              <a:t>}</a:t>
            </a:r>
            <a:endParaRPr lang="en-US" sz="1200" dirty="0"/>
          </a:p>
        </p:txBody>
      </p:sp>
      <p:sp>
        <p:nvSpPr>
          <p:cNvPr id="19" name="Output card"/>
          <p:cNvSpPr/>
          <p:nvPr/>
        </p:nvSpPr>
        <p:spPr>
          <a:xfrm>
            <a:off x="6248095" y="4581144"/>
            <a:ext cx="5394960" cy="964121"/>
          </a:xfrm>
          <a:prstGeom prst="roundRect">
            <a:avLst>
              <a:gd name="adj" fmla="val 11381"/>
            </a:avLst>
          </a:prstGeom>
          <a:solidFill>
            <a:schemeClr val="tx1"/>
          </a:solidFill>
          <a:ln/>
          <a:effectLst>
            <a:outerShdw sx="100000" sy="100000" kx="0" ky="0" algn="bl" rotWithShape="0" blurRad="114300" dist="31750" dir="5400000">
              <a:srgbClr val="1D2433">
                <a:alpha val="12000"/>
              </a:srgbClr>
            </a:outerShdw>
          </a:effectLst>
        </p:spPr>
      </p:sp>
      <p:sp>
        <p:nvSpPr>
          <p:cNvPr id="20" name="Output label"/>
          <p:cNvSpPr txBox="1"/>
          <p:nvPr/>
        </p:nvSpPr>
        <p:spPr>
          <a:xfrm>
            <a:off x="6522415" y="4700016"/>
            <a:ext cx="48463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21" name="Output text"/>
          <p:cNvSpPr txBox="1"/>
          <p:nvPr/>
        </p:nvSpPr>
        <p:spPr>
          <a:xfrm>
            <a:off x="6522415" y="5074920"/>
            <a:ext cx="4846320" cy="269177"/>
          </a:xfrm>
          <a:prstGeom prst="rect">
            <a:avLst/>
          </a:prstGeom>
          <a:noFill/>
          <a:ln/>
        </p:spPr>
        <p:txBody>
          <a:bodyPr wrap="square" lIns="0" tIns="0" rIns="0" bIns="0" rtlCol="0" anchor="t"/>
          <a:lstStyle/>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[3, 5]</a:t>
            </a:r>
            <a:endParaRPr lang="en-US" sz="1250" dirty="0"/>
          </a:p>
        </p:txBody>
      </p:sp>
      <p:sp>
        <p:nvSpPr>
          <p:cNvPr id="22" name="Note"/>
          <p:cNvSpPr/>
          <p:nvPr/>
        </p:nvSpPr>
        <p:spPr>
          <a:xfrm>
            <a:off x="548640" y="5596128"/>
            <a:ext cx="11094415" cy="566928"/>
          </a:xfrm>
          <a:prstGeom prst="roundRect">
            <a:avLst>
              <a:gd name="adj" fmla="val 19355"/>
            </a:avLst>
          </a:prstGeom>
          <a:solidFill>
            <a:schemeClr val="bg2"/>
          </a:solidFill>
          <a:ln/>
        </p:spPr>
      </p:sp>
      <p:sp>
        <p:nvSpPr>
          <p:cNvPr id="23" name="Icon tile"/>
          <p:cNvSpPr/>
          <p:nvPr/>
        </p:nvSpPr>
        <p:spPr>
          <a:xfrm>
            <a:off x="822960" y="5705856"/>
            <a:ext cx="347472" cy="347472"/>
          </a:xfrm>
          <a:prstGeom prst="roundRect">
            <a:avLst>
              <a:gd name="adj" fmla="val 24000"/>
            </a:avLst>
          </a:prstGeom>
          <a:solidFill>
            <a:schemeClr val="accent1">
              <a:alpha val="14000"/>
            </a:schemeClr>
          </a:solidFill>
          <a:ln/>
        </p:spPr>
      </p:sp>
      <p:pic>
        <p:nvPicPr>
          <p:cNvPr id="24" name="Image 2" descr="warning icon">    </p:cNvPr>
          <p:cNvPicPr>
            <a:picLocks noChangeAspect="1"/>
          </p:cNvPicPr>
          <p:nvPr/>
        </p:nvPicPr>
        <p:blipFill>
          <a:blip r:embed="rId3"/>
          <a:stretch>
            <a:fillRect/>
          </a:stretch>
        </p:blipFill>
        <p:spPr>
          <a:xfrm>
            <a:off x="895929" y="5778825"/>
            <a:ext cx="201534" cy="201534"/>
          </a:xfrm>
          <a:prstGeom prst="rect">
            <a:avLst/>
          </a:prstGeom>
        </p:spPr>
      </p:pic>
      <p:sp>
        <p:nvSpPr>
          <p:cNvPr id="25" name="Text 19"/>
          <p:cNvSpPr txBox="1"/>
          <p:nvPr/>
        </p:nvSpPr>
        <p:spPr>
          <a:xfrm>
            <a:off x="1389888" y="5596128"/>
            <a:ext cx="9997135" cy="566928"/>
          </a:xfrm>
          <a:prstGeom prst="rect">
            <a:avLst/>
          </a:prstGeom>
          <a:noFill/>
          <a:ln/>
        </p:spPr>
        <p:txBody>
          <a:bodyPr wrap="square" lIns="0" tIns="0" rIns="0" bIns="0" rtlCol="0" anchor="ctr"/>
          <a:lstStyle/>
          <a:p>
            <a:pPr algn="l" indent="0" marL="0">
              <a:buNone/>
            </a:pPr>
            <a:r>
              <a:rPr lang="en-US" sz="1450" dirty="0">
                <a:solidFill>
                  <a:schemeClr val="tx1"/>
                </a:solidFill>
              </a:rPr>
              <a:t>The for-each loop’s hidden iterator notices the change, so the next step usually throws an exception.</a:t>
            </a:r>
            <a:endParaRPr lang="en-US"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23</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Removing safely</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What’s the safe way to remove items from a collection while we loop through it?</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Call the collection’s </a:t>
            </a:r>
            <a:r>
              <a:rPr lang="en-US" sz="1900" dirty="0">
                <a:solidFill>
                  <a:schemeClr val="accent2"/>
                </a:solidFill>
                <a:latin typeface="Consolas" pitchFamily="34" charset="0"/>
                <a:ea typeface="Consolas" pitchFamily="34" charset="-122"/>
                <a:cs typeface="Consolas" pitchFamily="34" charset="-120"/>
              </a:rPr>
              <a:t>remove</a:t>
            </a:r>
            <a:r>
              <a:rPr lang="en-US" sz="1900" dirty="0">
                <a:solidFill>
                  <a:schemeClr val="tx1"/>
                </a:solidFill>
              </a:rPr>
              <a:t> inside a for-each loop</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Catch the </a:t>
            </a:r>
            <a:r>
              <a:rPr lang="en-US" sz="1900" dirty="0">
                <a:solidFill>
                  <a:schemeClr val="accent2"/>
                </a:solidFill>
                <a:latin typeface="Consolas" pitchFamily="34" charset="0"/>
                <a:ea typeface="Consolas" pitchFamily="34" charset="-122"/>
                <a:cs typeface="Consolas" pitchFamily="34" charset="-120"/>
              </a:rPr>
              <a:t>ConcurrentModificationException</a:t>
            </a:r>
            <a:r>
              <a:rPr lang="en-US" sz="1900" dirty="0">
                <a:solidFill>
                  <a:schemeClr val="tx1"/>
                </a:solidFill>
              </a:rPr>
              <a:t> and carry on</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Use </a:t>
            </a:r>
            <a:r>
              <a:rPr lang="en-US" sz="1900" dirty="0">
                <a:solidFill>
                  <a:schemeClr val="accent2"/>
                </a:solidFill>
                <a:latin typeface="Consolas" pitchFamily="34" charset="0"/>
                <a:ea typeface="Consolas" pitchFamily="34" charset="-122"/>
                <a:cs typeface="Consolas" pitchFamily="34" charset="-120"/>
              </a:rPr>
              <a:t>forEach</a:t>
            </a:r>
            <a:r>
              <a:rPr lang="en-US" sz="1900" dirty="0">
                <a:solidFill>
                  <a:schemeClr val="tx1"/>
                </a:solidFill>
              </a:rPr>
              <a:t> and remove inside the action</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Use an </a:t>
            </a:r>
            <a:r>
              <a:rPr lang="en-US" sz="1900" dirty="0">
                <a:solidFill>
                  <a:schemeClr val="accent2"/>
                </a:solidFill>
                <a:latin typeface="Consolas" pitchFamily="34" charset="0"/>
                <a:ea typeface="Consolas" pitchFamily="34" charset="-122"/>
                <a:cs typeface="Consolas" pitchFamily="34" charset="-120"/>
              </a:rPr>
              <a:t>Iterator</a:t>
            </a:r>
            <a:r>
              <a:rPr lang="en-US" sz="1900" dirty="0">
                <a:solidFill>
                  <a:schemeClr val="tx1"/>
                </a:solidFill>
              </a:rPr>
              <a:t> and call its </a:t>
            </a:r>
            <a:r>
              <a:rPr lang="en-US" sz="1900" dirty="0">
                <a:solidFill>
                  <a:schemeClr val="accent2"/>
                </a:solidFill>
                <a:latin typeface="Consolas" pitchFamily="34" charset="0"/>
                <a:ea typeface="Consolas" pitchFamily="34" charset="-122"/>
                <a:cs typeface="Consolas" pitchFamily="34" charset="-120"/>
              </a:rPr>
              <a:t>remove()</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23</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Removing safely</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What’s the safe way to remove items from a collection while we loop through it?</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rPr>
              <a:t>Call the collection’s </a:t>
            </a:r>
            <a:r>
              <a:rPr lang="en-US" sz="1700" dirty="0">
                <a:solidFill>
                  <a:schemeClr val="tx2"/>
                </a:solidFill>
                <a:latin typeface="Consolas" pitchFamily="34" charset="0"/>
                <a:ea typeface="Consolas" pitchFamily="34" charset="-122"/>
                <a:cs typeface="Consolas" pitchFamily="34" charset="-120"/>
              </a:rPr>
              <a:t>remove</a:t>
            </a:r>
            <a:r>
              <a:rPr lang="en-US" sz="1700" dirty="0">
                <a:solidFill>
                  <a:schemeClr val="tx2"/>
                </a:solidFill>
              </a:rPr>
              <a:t> inside a for-each loop</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rPr>
              <a:t>Catch the </a:t>
            </a:r>
            <a:r>
              <a:rPr lang="en-US" sz="1700" dirty="0">
                <a:solidFill>
                  <a:schemeClr val="tx2"/>
                </a:solidFill>
                <a:latin typeface="Consolas" pitchFamily="34" charset="0"/>
                <a:ea typeface="Consolas" pitchFamily="34" charset="-122"/>
                <a:cs typeface="Consolas" pitchFamily="34" charset="-120"/>
              </a:rPr>
              <a:t>ConcurrentModificationException</a:t>
            </a:r>
            <a:r>
              <a:rPr lang="en-US" sz="1700" dirty="0">
                <a:solidFill>
                  <a:schemeClr val="tx2"/>
                </a:solidFill>
              </a:rPr>
              <a:t> and carry on</a:t>
            </a:r>
            <a:endParaRPr lang="en-US"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Use </a:t>
            </a:r>
            <a:r>
              <a:rPr lang="en-US" sz="1700" dirty="0">
                <a:solidFill>
                  <a:schemeClr val="tx2"/>
                </a:solidFill>
                <a:latin typeface="Consolas" pitchFamily="34" charset="0"/>
                <a:ea typeface="Consolas" pitchFamily="34" charset="-122"/>
                <a:cs typeface="Consolas" pitchFamily="34" charset="-120"/>
              </a:rPr>
              <a:t>forEach</a:t>
            </a:r>
            <a:r>
              <a:rPr lang="en-US" sz="1700" dirty="0">
                <a:solidFill>
                  <a:schemeClr val="tx2"/>
                </a:solidFill>
              </a:rPr>
              <a:t> and remove inside the action</a:t>
            </a:r>
            <a:endParaRPr lang="en-US"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3941064"/>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Use an </a:t>
            </a:r>
            <a:r>
              <a:rPr lang="en-US" sz="1700" b="1" dirty="0">
                <a:solidFill>
                  <a:schemeClr val="bg1"/>
                </a:solidFill>
                <a:latin typeface="Consolas" pitchFamily="34" charset="0"/>
                <a:ea typeface="Consolas" pitchFamily="34" charset="-122"/>
                <a:cs typeface="Consolas" pitchFamily="34" charset="-120"/>
              </a:rPr>
              <a:t>Iterator</a:t>
            </a:r>
            <a:r>
              <a:rPr lang="en-US" sz="1700" b="1" dirty="0">
                <a:solidFill>
                  <a:schemeClr val="bg1"/>
                </a:solidFill>
              </a:rPr>
              <a:t> and call its </a:t>
            </a:r>
            <a:r>
              <a:rPr lang="en-US" sz="1700" b="1" dirty="0">
                <a:solidFill>
                  <a:schemeClr val="bg1"/>
                </a:solidFill>
                <a:latin typeface="Consolas" pitchFamily="34" charset="0"/>
                <a:ea typeface="Consolas" pitchFamily="34" charset="-122"/>
                <a:cs typeface="Consolas" pitchFamily="34" charset="-120"/>
              </a:rPr>
              <a:t>remove()</a:t>
            </a:r>
            <a:endParaRPr lang="en-US" sz="1700" dirty="0"/>
          </a:p>
        </p:txBody>
      </p:sp>
      <p:pic>
        <p:nvPicPr>
          <p:cNvPr id="17" name="Image 0"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The iterator’s </a:t>
            </a:r>
            <a:r>
              <a:rPr lang="en-US" sz="1600" dirty="0">
                <a:solidFill>
                  <a:schemeClr val="accent2"/>
                </a:solidFill>
                <a:latin typeface="Consolas" pitchFamily="34" charset="0"/>
                <a:ea typeface="Consolas" pitchFamily="34" charset="-122"/>
                <a:cs typeface="Consolas" pitchFamily="34" charset="-120"/>
              </a:rPr>
              <a:t>remove()</a:t>
            </a:r>
            <a:r>
              <a:rPr lang="en-US" sz="1600" dirty="0">
                <a:solidFill>
                  <a:schemeClr val="tx1"/>
                </a:solidFill>
              </a:rPr>
              <a:t> takes out the item </a:t>
            </a:r>
            <a:r>
              <a:rPr lang="en-US" sz="1600" dirty="0">
                <a:solidFill>
                  <a:schemeClr val="accent2"/>
                </a:solidFill>
                <a:latin typeface="Consolas" pitchFamily="34" charset="0"/>
                <a:ea typeface="Consolas" pitchFamily="34" charset="-122"/>
                <a:cs typeface="Consolas" pitchFamily="34" charset="-120"/>
              </a:rPr>
              <a:t>next()</a:t>
            </a:r>
            <a:r>
              <a:rPr lang="en-US" sz="1600" dirty="0">
                <a:solidFill>
                  <a:schemeClr val="tx1"/>
                </a:solidFill>
              </a:rPr>
              <a:t> just gave back and keeps the iterator in step with the collection. Removing through the collection itself during a for-each or </a:t>
            </a:r>
            <a:r>
              <a:rPr lang="en-US" sz="1600" dirty="0">
                <a:solidFill>
                  <a:schemeClr val="accent2"/>
                </a:solidFill>
                <a:latin typeface="Consolas" pitchFamily="34" charset="0"/>
                <a:ea typeface="Consolas" pitchFamily="34" charset="-122"/>
                <a:cs typeface="Consolas" pitchFamily="34" charset="-120"/>
              </a:rPr>
              <a:t>forEach</a:t>
            </a:r>
            <a:r>
              <a:rPr lang="en-US" sz="1600" dirty="0">
                <a:solidFill>
                  <a:schemeClr val="tx1"/>
                </a:solidFill>
              </a:rPr>
              <a:t> loop usually throws a ConcurrentModificationException, and when it doesn’t, items can be skipped. Catching it doesn’t fix the loop.</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WRAP-UP</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Lecture 10 at a glance</a:t>
            </a:r>
            <a:endParaRPr lang="en-US" sz="3400" dirty="0"/>
          </a:p>
        </p:txBody>
      </p:sp>
      <p:sp>
        <p:nvSpPr>
          <p:cNvPr id="4" name="Card"/>
          <p:cNvSpPr/>
          <p:nvPr/>
        </p:nvSpPr>
        <p:spPr>
          <a:xfrm>
            <a:off x="548640"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5" name="Icon tile"/>
          <p:cNvSpPr/>
          <p:nvPr/>
        </p:nvSpPr>
        <p:spPr>
          <a:xfrm>
            <a:off x="804672" y="2039112"/>
            <a:ext cx="548640" cy="548640"/>
          </a:xfrm>
          <a:prstGeom prst="roundRect">
            <a:avLst>
              <a:gd name="adj" fmla="val 24000"/>
            </a:avLst>
          </a:prstGeom>
          <a:solidFill>
            <a:schemeClr val="accent2">
              <a:alpha val="14000"/>
            </a:schemeClr>
          </a:solidFill>
          <a:ln/>
        </p:spPr>
      </p:sp>
      <p:pic>
        <p:nvPicPr>
          <p:cNvPr id="6" name="Image 0" descr="tree structure icon">    </p:cNvPr>
          <p:cNvPicPr>
            <a:picLocks noChangeAspect="1"/>
          </p:cNvPicPr>
          <p:nvPr/>
        </p:nvPicPr>
        <p:blipFill>
          <a:blip r:embed="rId1"/>
          <a:stretch>
            <a:fillRect/>
          </a:stretch>
        </p:blipFill>
        <p:spPr>
          <a:xfrm>
            <a:off x="919886" y="2154326"/>
            <a:ext cx="318211" cy="318211"/>
          </a:xfrm>
          <a:prstGeom prst="rect">
            <a:avLst/>
          </a:prstGeom>
        </p:spPr>
      </p:pic>
      <p:sp>
        <p:nvSpPr>
          <p:cNvPr id="7" name="Text 4"/>
          <p:cNvSpPr txBox="1"/>
          <p:nvPr/>
        </p:nvSpPr>
        <p:spPr>
          <a:xfrm>
            <a:off x="1481328"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Data structures</a:t>
            </a:r>
            <a:endParaRPr lang="en-US" sz="1900" dirty="0"/>
          </a:p>
        </p:txBody>
      </p:sp>
      <p:sp>
        <p:nvSpPr>
          <p:cNvPr id="8" name="Text 5"/>
          <p:cNvSpPr txBox="1"/>
          <p:nvPr/>
        </p:nvSpPr>
        <p:spPr>
          <a:xfrm>
            <a:off x="804672"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Linear: one line of items. Non-linear: several links each.</a:t>
            </a:r>
            <a:endParaRPr lang="en-US" sz="1500" dirty="0"/>
          </a:p>
        </p:txBody>
      </p:sp>
      <p:sp>
        <p:nvSpPr>
          <p:cNvPr id="9" name="Card"/>
          <p:cNvSpPr/>
          <p:nvPr/>
        </p:nvSpPr>
        <p:spPr>
          <a:xfrm>
            <a:off x="3379622"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0" name="Icon tile"/>
          <p:cNvSpPr/>
          <p:nvPr/>
        </p:nvSpPr>
        <p:spPr>
          <a:xfrm>
            <a:off x="3635654" y="2039112"/>
            <a:ext cx="548640" cy="548640"/>
          </a:xfrm>
          <a:prstGeom prst="roundRect">
            <a:avLst>
              <a:gd name="adj" fmla="val 24000"/>
            </a:avLst>
          </a:prstGeom>
          <a:solidFill>
            <a:schemeClr val="accent4">
              <a:alpha val="14000"/>
            </a:schemeClr>
          </a:solidFill>
          <a:ln/>
        </p:spPr>
      </p:sp>
      <p:pic>
        <p:nvPicPr>
          <p:cNvPr id="11" name="Image 1" descr="hash icon">    </p:cNvPr>
          <p:cNvPicPr>
            <a:picLocks noChangeAspect="1"/>
          </p:cNvPicPr>
          <p:nvPr/>
        </p:nvPicPr>
        <p:blipFill>
          <a:blip r:embed="rId2"/>
          <a:stretch>
            <a:fillRect/>
          </a:stretch>
        </p:blipFill>
        <p:spPr>
          <a:xfrm>
            <a:off x="3750869" y="2154326"/>
            <a:ext cx="318211" cy="318211"/>
          </a:xfrm>
          <a:prstGeom prst="rect">
            <a:avLst/>
          </a:prstGeom>
        </p:spPr>
      </p:pic>
      <p:sp>
        <p:nvSpPr>
          <p:cNvPr id="12" name="Text 8"/>
          <p:cNvSpPr txBox="1"/>
          <p:nvPr/>
        </p:nvSpPr>
        <p:spPr>
          <a:xfrm>
            <a:off x="4312310"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Hash tables</a:t>
            </a:r>
            <a:endParaRPr lang="en-US" sz="1900" dirty="0"/>
          </a:p>
        </p:txBody>
      </p:sp>
      <p:sp>
        <p:nvSpPr>
          <p:cNvPr id="13" name="Text 9"/>
          <p:cNvSpPr txBox="1"/>
          <p:nvPr/>
        </p:nvSpPr>
        <p:spPr>
          <a:xfrm>
            <a:off x="3635654"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A hash function turns each key into an index.</a:t>
            </a:r>
            <a:endParaRPr lang="en-US" sz="1500" dirty="0"/>
          </a:p>
        </p:txBody>
      </p:sp>
      <p:sp>
        <p:nvSpPr>
          <p:cNvPr id="14" name="Card"/>
          <p:cNvSpPr/>
          <p:nvPr/>
        </p:nvSpPr>
        <p:spPr>
          <a:xfrm>
            <a:off x="6210605"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6466637" y="2039112"/>
            <a:ext cx="548640" cy="548640"/>
          </a:xfrm>
          <a:prstGeom prst="roundRect">
            <a:avLst>
              <a:gd name="adj" fmla="val 24000"/>
            </a:avLst>
          </a:prstGeom>
          <a:solidFill>
            <a:schemeClr val="accent5">
              <a:alpha val="14000"/>
            </a:schemeClr>
          </a:solidFill>
          <a:ln/>
        </p:spPr>
      </p:sp>
      <p:pic>
        <p:nvPicPr>
          <p:cNvPr id="16" name="Image 2" descr="key icon">    </p:cNvPr>
          <p:cNvPicPr>
            <a:picLocks noChangeAspect="1"/>
          </p:cNvPicPr>
          <p:nvPr/>
        </p:nvPicPr>
        <p:blipFill>
          <a:blip r:embed="rId3"/>
          <a:stretch>
            <a:fillRect/>
          </a:stretch>
        </p:blipFill>
        <p:spPr>
          <a:xfrm>
            <a:off x="6581851" y="2154326"/>
            <a:ext cx="318211" cy="318211"/>
          </a:xfrm>
          <a:prstGeom prst="rect">
            <a:avLst/>
          </a:prstGeom>
        </p:spPr>
      </p:pic>
      <p:sp>
        <p:nvSpPr>
          <p:cNvPr id="17" name="Text 12"/>
          <p:cNvSpPr txBox="1"/>
          <p:nvPr/>
        </p:nvSpPr>
        <p:spPr>
          <a:xfrm>
            <a:off x="7143293" y="203911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HashMap</a:t>
            </a:r>
            <a:endParaRPr lang="en-US" sz="1700" dirty="0"/>
          </a:p>
        </p:txBody>
      </p:sp>
      <p:sp>
        <p:nvSpPr>
          <p:cNvPr id="18" name="Text 13"/>
          <p:cNvSpPr txBox="1"/>
          <p:nvPr/>
        </p:nvSpPr>
        <p:spPr>
          <a:xfrm>
            <a:off x="6466637"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Key-value pairs. </a:t>
            </a:r>
            <a:r>
              <a:rPr lang="en-US" sz="1500" dirty="0">
                <a:solidFill>
                  <a:schemeClr val="tx2"/>
                </a:solidFill>
                <a:latin typeface="Consolas" pitchFamily="34" charset="0"/>
                <a:ea typeface="Consolas" pitchFamily="34" charset="-122"/>
                <a:cs typeface="Consolas" pitchFamily="34" charset="-120"/>
              </a:rPr>
              <a:t>put</a:t>
            </a:r>
            <a:r>
              <a:rPr lang="en-US" sz="1500" dirty="0">
                <a:solidFill>
                  <a:schemeClr val="tx2"/>
                </a:solidFill>
              </a:rPr>
              <a:t> adds or replaces; </a:t>
            </a:r>
            <a:r>
              <a:rPr lang="en-US" sz="1500" dirty="0">
                <a:solidFill>
                  <a:schemeClr val="tx2"/>
                </a:solidFill>
                <a:latin typeface="Consolas" pitchFamily="34" charset="0"/>
                <a:ea typeface="Consolas" pitchFamily="34" charset="-122"/>
                <a:cs typeface="Consolas" pitchFamily="34" charset="-120"/>
              </a:rPr>
              <a:t>get</a:t>
            </a:r>
            <a:r>
              <a:rPr lang="en-US" sz="1500" dirty="0">
                <a:solidFill>
                  <a:schemeClr val="tx2"/>
                </a:solidFill>
              </a:rPr>
              <a:t> looks up.</a:t>
            </a:r>
            <a:endParaRPr lang="en-US" sz="1500" dirty="0"/>
          </a:p>
        </p:txBody>
      </p:sp>
      <p:sp>
        <p:nvSpPr>
          <p:cNvPr id="19" name="Card"/>
          <p:cNvSpPr/>
          <p:nvPr/>
        </p:nvSpPr>
        <p:spPr>
          <a:xfrm>
            <a:off x="9041587"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0" name="Icon tile"/>
          <p:cNvSpPr/>
          <p:nvPr/>
        </p:nvSpPr>
        <p:spPr>
          <a:xfrm>
            <a:off x="9297619" y="2039112"/>
            <a:ext cx="548640" cy="548640"/>
          </a:xfrm>
          <a:prstGeom prst="roundRect">
            <a:avLst>
              <a:gd name="adj" fmla="val 24000"/>
            </a:avLst>
          </a:prstGeom>
          <a:solidFill>
            <a:schemeClr val="accent3">
              <a:alpha val="14000"/>
            </a:schemeClr>
          </a:solidFill>
          <a:ln/>
        </p:spPr>
      </p:sp>
      <p:pic>
        <p:nvPicPr>
          <p:cNvPr id="21" name="Image 3" descr="circles three icon">    </p:cNvPr>
          <p:cNvPicPr>
            <a:picLocks noChangeAspect="1"/>
          </p:cNvPicPr>
          <p:nvPr/>
        </p:nvPicPr>
        <p:blipFill>
          <a:blip r:embed="rId4"/>
          <a:stretch>
            <a:fillRect/>
          </a:stretch>
        </p:blipFill>
        <p:spPr>
          <a:xfrm>
            <a:off x="9412834" y="2154326"/>
            <a:ext cx="318211" cy="318211"/>
          </a:xfrm>
          <a:prstGeom prst="rect">
            <a:avLst/>
          </a:prstGeom>
        </p:spPr>
      </p:pic>
      <p:sp>
        <p:nvSpPr>
          <p:cNvPr id="22" name="Text 16"/>
          <p:cNvSpPr txBox="1"/>
          <p:nvPr/>
        </p:nvSpPr>
        <p:spPr>
          <a:xfrm>
            <a:off x="9974275" y="203911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HashSet</a:t>
            </a:r>
            <a:endParaRPr lang="en-US" sz="1700" dirty="0"/>
          </a:p>
        </p:txBody>
      </p:sp>
      <p:sp>
        <p:nvSpPr>
          <p:cNvPr id="23" name="Text 17"/>
          <p:cNvSpPr txBox="1"/>
          <p:nvPr/>
        </p:nvSpPr>
        <p:spPr>
          <a:xfrm>
            <a:off x="9297619"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No duplicates and no promised order.</a:t>
            </a:r>
            <a:endParaRPr lang="en-US" sz="1500" dirty="0"/>
          </a:p>
        </p:txBody>
      </p:sp>
      <p:sp>
        <p:nvSpPr>
          <p:cNvPr id="24" name="Card"/>
          <p:cNvSpPr/>
          <p:nvPr/>
        </p:nvSpPr>
        <p:spPr>
          <a:xfrm>
            <a:off x="548640"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5" name="Icon tile"/>
          <p:cNvSpPr/>
          <p:nvPr/>
        </p:nvSpPr>
        <p:spPr>
          <a:xfrm>
            <a:off x="804672" y="4279392"/>
            <a:ext cx="548640" cy="548640"/>
          </a:xfrm>
          <a:prstGeom prst="roundRect">
            <a:avLst>
              <a:gd name="adj" fmla="val 24000"/>
            </a:avLst>
          </a:prstGeom>
          <a:solidFill>
            <a:schemeClr val="accent1">
              <a:alpha val="14000"/>
            </a:schemeClr>
          </a:solidFill>
          <a:ln/>
        </p:spPr>
      </p:sp>
      <p:pic>
        <p:nvPicPr>
          <p:cNvPr id="26" name="Image 4" descr="link icon">    </p:cNvPr>
          <p:cNvPicPr>
            <a:picLocks noChangeAspect="1"/>
          </p:cNvPicPr>
          <p:nvPr/>
        </p:nvPicPr>
        <p:blipFill>
          <a:blip r:embed="rId5"/>
          <a:stretch>
            <a:fillRect/>
          </a:stretch>
        </p:blipFill>
        <p:spPr>
          <a:xfrm>
            <a:off x="919886" y="4394606"/>
            <a:ext cx="318211" cy="318211"/>
          </a:xfrm>
          <a:prstGeom prst="rect">
            <a:avLst/>
          </a:prstGeom>
        </p:spPr>
      </p:pic>
      <p:sp>
        <p:nvSpPr>
          <p:cNvPr id="27" name="Text 20"/>
          <p:cNvSpPr txBox="1"/>
          <p:nvPr/>
        </p:nvSpPr>
        <p:spPr>
          <a:xfrm>
            <a:off x="1481328" y="4279392"/>
            <a:ext cx="1550822" cy="548640"/>
          </a:xfrm>
          <a:prstGeom prst="rect">
            <a:avLst/>
          </a:prstGeom>
          <a:noFill/>
          <a:ln/>
        </p:spPr>
        <p:txBody>
          <a:bodyPr wrap="square" lIns="0" tIns="0" rIns="0" bIns="0" rtlCol="0" anchor="ctr"/>
          <a:lstStyle/>
          <a:p>
            <a:pPr indent="0" marL="0">
              <a:buNone/>
            </a:pPr>
            <a:r>
              <a:rPr lang="en-US" sz="1400" b="1" dirty="0">
                <a:solidFill>
                  <a:schemeClr val="tx1"/>
                </a:solidFill>
                <a:latin typeface="Consolas" pitchFamily="34" charset="0"/>
                <a:ea typeface="Consolas" pitchFamily="34" charset="-122"/>
                <a:cs typeface="Consolas" pitchFamily="34" charset="-120"/>
              </a:rPr>
              <a:t>LinkedHashSet</a:t>
            </a:r>
            <a:endParaRPr lang="en-US" sz="1400" dirty="0"/>
          </a:p>
        </p:txBody>
      </p:sp>
      <p:sp>
        <p:nvSpPr>
          <p:cNvPr id="28" name="Text 21"/>
          <p:cNvSpPr txBox="1"/>
          <p:nvPr/>
        </p:nvSpPr>
        <p:spPr>
          <a:xfrm>
            <a:off x="804672"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No duplicates, in the order they were added.</a:t>
            </a:r>
            <a:endParaRPr lang="en-US" sz="1500" dirty="0"/>
          </a:p>
        </p:txBody>
      </p:sp>
      <p:sp>
        <p:nvSpPr>
          <p:cNvPr id="29" name="Card"/>
          <p:cNvSpPr/>
          <p:nvPr/>
        </p:nvSpPr>
        <p:spPr>
          <a:xfrm>
            <a:off x="3379622"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3635654" y="4279392"/>
            <a:ext cx="548640" cy="548640"/>
          </a:xfrm>
          <a:prstGeom prst="roundRect">
            <a:avLst>
              <a:gd name="adj" fmla="val 24000"/>
            </a:avLst>
          </a:prstGeom>
          <a:solidFill>
            <a:schemeClr val="accent3">
              <a:alpha val="14000"/>
            </a:schemeClr>
          </a:solidFill>
          <a:ln/>
        </p:spPr>
      </p:sp>
      <p:pic>
        <p:nvPicPr>
          <p:cNvPr id="31" name="Image 5" descr="tree icon">    </p:cNvPr>
          <p:cNvPicPr>
            <a:picLocks noChangeAspect="1"/>
          </p:cNvPicPr>
          <p:nvPr/>
        </p:nvPicPr>
        <p:blipFill>
          <a:blip r:embed="rId6"/>
          <a:stretch>
            <a:fillRect/>
          </a:stretch>
        </p:blipFill>
        <p:spPr>
          <a:xfrm>
            <a:off x="3750869" y="4394606"/>
            <a:ext cx="318211" cy="318211"/>
          </a:xfrm>
          <a:prstGeom prst="rect">
            <a:avLst/>
          </a:prstGeom>
        </p:spPr>
      </p:pic>
      <p:sp>
        <p:nvSpPr>
          <p:cNvPr id="32" name="Text 24"/>
          <p:cNvSpPr txBox="1"/>
          <p:nvPr/>
        </p:nvSpPr>
        <p:spPr>
          <a:xfrm>
            <a:off x="4312310" y="427939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TreeSet</a:t>
            </a:r>
            <a:endParaRPr lang="en-US" sz="1700" dirty="0"/>
          </a:p>
        </p:txBody>
      </p:sp>
      <p:sp>
        <p:nvSpPr>
          <p:cNvPr id="33" name="Text 25"/>
          <p:cNvSpPr txBox="1"/>
          <p:nvPr/>
        </p:nvSpPr>
        <p:spPr>
          <a:xfrm>
            <a:off x="3635654"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No duplicates, kept sorted. No null.</a:t>
            </a:r>
            <a:endParaRPr lang="en-US" sz="1500" dirty="0"/>
          </a:p>
        </p:txBody>
      </p:sp>
      <p:sp>
        <p:nvSpPr>
          <p:cNvPr id="34" name="Card"/>
          <p:cNvSpPr/>
          <p:nvPr/>
        </p:nvSpPr>
        <p:spPr>
          <a:xfrm>
            <a:off x="6210605"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5" name="Icon tile"/>
          <p:cNvSpPr/>
          <p:nvPr/>
        </p:nvSpPr>
        <p:spPr>
          <a:xfrm>
            <a:off x="6466637" y="4279392"/>
            <a:ext cx="548640" cy="548640"/>
          </a:xfrm>
          <a:prstGeom prst="roundRect">
            <a:avLst>
              <a:gd name="adj" fmla="val 24000"/>
            </a:avLst>
          </a:prstGeom>
          <a:solidFill>
            <a:schemeClr val="accent4">
              <a:alpha val="14000"/>
            </a:schemeClr>
          </a:solidFill>
          <a:ln/>
        </p:spPr>
      </p:sp>
      <p:pic>
        <p:nvPicPr>
          <p:cNvPr id="36" name="Image 6" descr="intersect icon">    </p:cNvPr>
          <p:cNvPicPr>
            <a:picLocks noChangeAspect="1"/>
          </p:cNvPicPr>
          <p:nvPr/>
        </p:nvPicPr>
        <p:blipFill>
          <a:blip r:embed="rId7"/>
          <a:stretch>
            <a:fillRect/>
          </a:stretch>
        </p:blipFill>
        <p:spPr>
          <a:xfrm>
            <a:off x="6581851" y="4394606"/>
            <a:ext cx="318211" cy="318211"/>
          </a:xfrm>
          <a:prstGeom prst="rect">
            <a:avLst/>
          </a:prstGeom>
        </p:spPr>
      </p:pic>
      <p:sp>
        <p:nvSpPr>
          <p:cNvPr id="37" name="Text 28"/>
          <p:cNvSpPr txBox="1"/>
          <p:nvPr/>
        </p:nvSpPr>
        <p:spPr>
          <a:xfrm>
            <a:off x="7143293"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Set operations</a:t>
            </a:r>
            <a:endParaRPr lang="en-US" sz="1900" dirty="0"/>
          </a:p>
        </p:txBody>
      </p:sp>
      <p:sp>
        <p:nvSpPr>
          <p:cNvPr id="38" name="Text 29"/>
          <p:cNvSpPr txBox="1"/>
          <p:nvPr/>
        </p:nvSpPr>
        <p:spPr>
          <a:xfrm>
            <a:off x="6466637"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latin typeface="Consolas" pitchFamily="34" charset="0"/>
                <a:ea typeface="Consolas" pitchFamily="34" charset="-122"/>
                <a:cs typeface="Consolas" pitchFamily="34" charset="-120"/>
              </a:rPr>
              <a:t>addAll</a:t>
            </a:r>
            <a:r>
              <a:rPr lang="en-US" sz="1500" dirty="0">
                <a:solidFill>
                  <a:schemeClr val="tx2"/>
                </a:solidFill>
              </a:rPr>
              <a:t>, </a:t>
            </a:r>
            <a:r>
              <a:rPr lang="en-US" sz="1500" dirty="0">
                <a:solidFill>
                  <a:schemeClr val="tx2"/>
                </a:solidFill>
                <a:latin typeface="Consolas" pitchFamily="34" charset="0"/>
                <a:ea typeface="Consolas" pitchFamily="34" charset="-122"/>
                <a:cs typeface="Consolas" pitchFamily="34" charset="-120"/>
              </a:rPr>
              <a:t>retainAll</a:t>
            </a:r>
            <a:r>
              <a:rPr lang="en-US" sz="1500" dirty="0">
                <a:solidFill>
                  <a:schemeClr val="tx2"/>
                </a:solidFill>
              </a:rPr>
              <a:t> and </a:t>
            </a:r>
            <a:r>
              <a:rPr lang="en-US" sz="1500" dirty="0">
                <a:solidFill>
                  <a:schemeClr val="tx2"/>
                </a:solidFill>
                <a:latin typeface="Consolas" pitchFamily="34" charset="0"/>
                <a:ea typeface="Consolas" pitchFamily="34" charset="-122"/>
                <a:cs typeface="Consolas" pitchFamily="34" charset="-120"/>
              </a:rPr>
              <a:t>removeAll</a:t>
            </a:r>
            <a:r>
              <a:rPr lang="en-US" sz="1500" dirty="0">
                <a:solidFill>
                  <a:schemeClr val="tx2"/>
                </a:solidFill>
              </a:rPr>
              <a:t> change the set.</a:t>
            </a:r>
            <a:endParaRPr lang="en-US" sz="1500" dirty="0"/>
          </a:p>
        </p:txBody>
      </p:sp>
      <p:sp>
        <p:nvSpPr>
          <p:cNvPr id="39" name="Card"/>
          <p:cNvSpPr/>
          <p:nvPr/>
        </p:nvSpPr>
        <p:spPr>
          <a:xfrm>
            <a:off x="9041587"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0" name="Icon tile"/>
          <p:cNvSpPr/>
          <p:nvPr/>
        </p:nvSpPr>
        <p:spPr>
          <a:xfrm>
            <a:off x="9297619" y="4279392"/>
            <a:ext cx="548640" cy="548640"/>
          </a:xfrm>
          <a:prstGeom prst="roundRect">
            <a:avLst>
              <a:gd name="adj" fmla="val 24000"/>
            </a:avLst>
          </a:prstGeom>
          <a:solidFill>
            <a:schemeClr val="accent2">
              <a:alpha val="14000"/>
            </a:schemeClr>
          </a:solidFill>
          <a:ln/>
        </p:spPr>
      </p:sp>
      <p:pic>
        <p:nvPicPr>
          <p:cNvPr id="41" name="Image 7" descr="arrows clockwise icon">    </p:cNvPr>
          <p:cNvPicPr>
            <a:picLocks noChangeAspect="1"/>
          </p:cNvPicPr>
          <p:nvPr/>
        </p:nvPicPr>
        <p:blipFill>
          <a:blip r:embed="rId8"/>
          <a:stretch>
            <a:fillRect/>
          </a:stretch>
        </p:blipFill>
        <p:spPr>
          <a:xfrm>
            <a:off x="9412834" y="4394606"/>
            <a:ext cx="318211" cy="318211"/>
          </a:xfrm>
          <a:prstGeom prst="rect">
            <a:avLst/>
          </a:prstGeom>
        </p:spPr>
      </p:pic>
      <p:sp>
        <p:nvSpPr>
          <p:cNvPr id="42" name="Text 32"/>
          <p:cNvSpPr txBox="1"/>
          <p:nvPr/>
        </p:nvSpPr>
        <p:spPr>
          <a:xfrm>
            <a:off x="9974275" y="427939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Iterator</a:t>
            </a:r>
            <a:endParaRPr lang="en-US" sz="1700" dirty="0"/>
          </a:p>
        </p:txBody>
      </p:sp>
      <p:sp>
        <p:nvSpPr>
          <p:cNvPr id="43" name="Text 33"/>
          <p:cNvSpPr txBox="1"/>
          <p:nvPr/>
        </p:nvSpPr>
        <p:spPr>
          <a:xfrm>
            <a:off x="9297619"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latin typeface="Consolas" pitchFamily="34" charset="0"/>
                <a:ea typeface="Consolas" pitchFamily="34" charset="-122"/>
                <a:cs typeface="Consolas" pitchFamily="34" charset="-120"/>
              </a:rPr>
              <a:t>hasNext</a:t>
            </a:r>
            <a:r>
              <a:rPr lang="en-US" sz="1500" dirty="0">
                <a:solidFill>
                  <a:schemeClr val="tx2"/>
                </a:solidFill>
              </a:rPr>
              <a:t>, </a:t>
            </a:r>
            <a:r>
              <a:rPr lang="en-US" sz="1500" dirty="0">
                <a:solidFill>
                  <a:schemeClr val="tx2"/>
                </a:solidFill>
                <a:latin typeface="Consolas" pitchFamily="34" charset="0"/>
                <a:ea typeface="Consolas" pitchFamily="34" charset="-122"/>
                <a:cs typeface="Consolas" pitchFamily="34" charset="-120"/>
              </a:rPr>
              <a:t>next</a:t>
            </a:r>
            <a:r>
              <a:rPr lang="en-US" sz="1500" dirty="0">
                <a:solidFill>
                  <a:schemeClr val="tx2"/>
                </a:solidFill>
              </a:rPr>
              <a:t>, and a safe </a:t>
            </a:r>
            <a:r>
              <a:rPr lang="en-US" sz="1500" dirty="0">
                <a:solidFill>
                  <a:schemeClr val="tx2"/>
                </a:solidFill>
                <a:latin typeface="Consolas" pitchFamily="34" charset="0"/>
                <a:ea typeface="Consolas" pitchFamily="34" charset="-122"/>
                <a:cs typeface="Consolas" pitchFamily="34" charset="-120"/>
              </a:rPr>
              <a:t>remove</a:t>
            </a:r>
            <a:r>
              <a:rPr lang="en-US" sz="1500" dirty="0">
                <a:solidFill>
                  <a:schemeClr val="tx2"/>
                </a:solidFill>
              </a:rPr>
              <a:t> mid-loop.</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US" sz="6400" b="1" dirty="0">
                <a:solidFill>
                  <a:schemeClr val="bg1"/>
                </a:solidFill>
              </a:rPr>
              <a:t>Questions?</a:t>
            </a: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US" sz="2200" dirty="0">
                <a:solidFill>
                  <a:schemeClr val="bg2"/>
                </a:solidFill>
              </a:rPr>
              <a:t>Object-Oriented Programming  ·  Lecture 10</a:t>
            </a:r>
            <a:endParaRPr lang="en-US" sz="2200" dirty="0"/>
          </a:p>
        </p:txBody>
      </p:sp>
      <p:pic>
        <p:nvPicPr>
          <p:cNvPr id="4" name="Image 0"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10, Collections: Sets, Maps and Iterable</dc:title>
  <dc:subject>Lecture 10 ideas in plain words, with quick checks</dc:subject>
  <dc:creator>Saeid Rezaei</dc:creator>
  <cp:lastModifiedBy>Saeid Rezaei</cp:lastModifiedBy>
  <cp:revision>1</cp:revision>
  <dcterms:created xsi:type="dcterms:W3CDTF">2026-10-17T23:54:15Z</dcterms:created>
  <dcterms:modified xsi:type="dcterms:W3CDTF">2026-10-17T23:54:15Z</dcterms:modified>
</cp:coreProperties>
</file>
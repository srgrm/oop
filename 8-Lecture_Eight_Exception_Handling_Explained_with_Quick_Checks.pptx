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Lst>
  <p:notesMasterIdLst>
    <p:notesMasterId r:id="rId8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7a0f93f-d321-7e67-6688-3ae25f298be4}">
          <p14:sldIdLst>
            <p14:sldId id="256"/>
            <p14:sldId id="257"/>
          </p14:sldIdLst>
        </p14:section>
        <p14:section name="1. Errors and exceptions" id="{3e024902-15d4-3505-49ea-09c78ef70daa}">
          <p14:sldIdLst>
            <p14:sldId id="258"/>
            <p14:sldId id="259"/>
            <p14:sldId id="260"/>
            <p14:sldId id="261"/>
            <p14:sldId id="262"/>
            <p14:sldId id="263"/>
            <p14:sldId id="264"/>
            <p14:sldId id="265"/>
            <p14:sldId id="266"/>
            <p14:sldId id="267"/>
            <p14:sldId id="268"/>
            <p14:sldId id="269"/>
            <p14:sldId id="270"/>
            <p14:sldId id="271"/>
            <p14:sldId id="272"/>
            <p14:sldId id="273"/>
          </p14:sldIdLst>
        </p14:section>
        <p14:section name="2. try, catch and finally" id="{295e5624-2d38-feb8-10c3-0b320f82f5f4}">
          <p14:sldIdLst>
            <p14:sldId id="274"/>
            <p14:sldId id="275"/>
            <p14:sldId id="276"/>
            <p14:sldId id="277"/>
            <p14:sldId id="278"/>
            <p14:sldId id="279"/>
            <p14:sldId id="280"/>
            <p14:sldId id="281"/>
            <p14:sldId id="282"/>
            <p14:sldId id="283"/>
            <p14:sldId id="284"/>
            <p14:sldId id="285"/>
            <p14:sldId id="286"/>
            <p14:sldId id="287"/>
            <p14:sldId id="288"/>
            <p14:sldId id="289"/>
            <p14:sldId id="290"/>
            <p14:sldId id="291"/>
          </p14:sldIdLst>
        </p14:section>
        <p14:section name="3. throw, throws and custom exceptions" id="{e7a209f0-7a0d-a6fd-a496-e717cb99d922}">
          <p14:sldIdLst>
            <p14:sldId id="292"/>
            <p14:sldId id="293"/>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Lst>
        </p14:section>
        <p14:section name="4. assert and safe input" id="{192a508a-0d56-503f-a84c-bde267ffb9a7}">
          <p14:sldIdLst>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Lst>
        </p14:section>
        <p14:section name="Wrap-up" id="{e4eb3e3d-a6dd-cd2d-a37f-97b1dc25787a}">
          <p14:sldIdLst>
            <p14:sldId id="339"/>
            <p14:sldId id="3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notesMaster" Target="notesMasters/notesMaster1.xml"/><Relationship Id="rId88" Type="http://schemas.openxmlformats.org/officeDocument/2006/relationships/presProps" Target="presProps.xml"/><Relationship Id="rId89" Type="http://schemas.openxmlformats.org/officeDocument/2006/relationships/viewProps" Target="viewProps.xml"/><Relationship Id="rId90" Type="http://schemas.openxmlformats.org/officeDocument/2006/relationships/theme" Target="theme/theme1.xml"/><Relationship Id="rId9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8 is about what happens when something goes wrong while a program runs, and how we stop it crashing. The picture on the right is where we’re heading: a risky line throws an exception, a catch block deals with it, and the program carries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today. After each idea there’s a quick check with four options. Give everyone about 30 seconds, take a show of hands for A, B, C and D, then go to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the three kinds of error, what an exception is, the difference between checked and unchecked exceptions, and how Java’s exception classes fit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error is anything that breaks our code, and there are three kinds. A syntax error breaks the rules of the language, like a missing semicolon or a misspelt keyword, and the compiler refuses to build the program. A logic error compiles and runs, but the answer is wrong: here a + b / 2 only divides b, so 4 and 6 give 7 instead of 5. A runtime error only shows up while the program runs, when it tries something impossible, like dividing by zero, and the program crashes. A small fix to the lecture slide, which says syntax and logic errors can be caught before compiling: the compiler finds syntax errors, but it can’t see logic errors. We find those by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“A logic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“A logic error”.
The code is valid Java and nothing crashes, so it isn’t a syntax or runtime error. Java works out / before +, so this adds 4 and 6 / 2. The program runs but does the wrong sum, which is a logic error. (a + b) / 2 fixes it.
Ask how they would catch this kind of mistake: by testing with values where we already know the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 errors happen when the program tries something impossible: reading past the end of an array, dividing by zero, or opening a file that isn’t there. Often an if statement can check first, as in these three rows. But some problems can’t be checked in advance. Our program runs at the same time as other programs, and a user might open, lock or delete the file just after we checked. That’s what exception handling is for: if the file is missing or locked, we skip the code that needs it and carry on with something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“Another program can lock or delete the file after our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“Another program can lock or delete the file after our check”.
Our program runs alongside other programs. Between our check and the moment we open the file, a user could open it somewhere else, lock it or delete it. We can’t predict that, so we handle the exception if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 is short for exceptional event. It breaks the normal flow of the program: when Java meets something it can’t deal with, it throws an exception, and the lines after that point don’t run. If we catch it, we decide what happens instead, and the program recovers and carries on. The diagram shows that: step 2 goes wrong, step 3 is skipped, the catch deals with it, and the program continues. Errors are different. In Java an Error, like OutOfMemoryError or StackOverflowError, is a serious problem that a program isn’t expected to catch or recover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“We can recover from an exception; an Error is too serious”.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“We can recover from an exception; an Error is too serious”.
Both happen while the program runs. An exception, like a missing file, is something a program can catch and recover from. An Error, such as OutOfMemoryError, is a serious problem that programs aren’t expected to catch or recover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Exceptions come in two kinds. Checked exceptions are problems we can expect in advance, like a file that isn’t there, and the compiler won’t build our code until we deal with them. Unchecked exceptions show up only while the program runs, often from bad data or a slip in our logic, like dividing by zero or using an index that’s too big. The compiler leaves those to us. A small fix to the lecture slide, which says a checked exception always needs a try catch: the compiler accepts either a try/catch or throws on the method header, which passes the job to whoever calls the method. We’ll see throws in part 3. And another: the slide says there’s no way to predict an unchecked exception, such as an ArithmeticException, before the program runs. Often we can, and we saw how to prevent one with if (count != 0). What makes it unchecked is that the compiler doesn’t force us to handle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“FileNotFoundException”.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“FileNotFoundException”.
FileNotFoundException is checked: opening a file is something we can plan for, so the compiler won’t build the code until we catch it or declare it with throws. The other three are RuntimeExceptions, so they’re unchecked.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puts the lecture’s two overview diagrams together. Everything that can be thrown comes from Throwable, which comes from Object. Throwable has two branches: Error, for serious problems a program isn’t expected to recover from, and Exception, for the problems programs deal with. RuntimeException and everything under it is unchecked, shown in orange. IOException and its family, for input and output, are checked, shown in navy. ArrayIndexOutOfBoundsException, which we meet a lot with arrays, is a kind of IndexOutOfBoundsException. Each branch has many more classes than fit here; the lecture’s longer diagram also shows ClassNotFoundException, for example. A small fix to the lecture’s simple overview, which draws java.lang above Object as if it were a class: java.lang is the package these classes live in, and Object is the root class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“RuntimeException”.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“RuntimeException”.
ArithmeticException extends RuntimeException, which extends Exception, then Throwable, then Object. Being under RuntimeException is what makes it unchecked. It isn’t an Error, and IOException is a separate branch for input and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putting risky code in a try block, catching what goes wrong, the finally block, what the exception object tells us, and catching more than one kind of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that is likely to throw an exception goes in a try block: file handling, sums with numbers the user typed, working with arrays. Straight after it, a catch block says what to do if that exception happens, usually a clear message for the user. In the example, marks has three elements, so marks[3] doesn’t exist. Java throws an ArrayIndexOutOfBoundsException, skips the rest of the try block, so End of try never prints, runs the catch, and then the program carries on. Correction to the lecture slides: the catch line is written catch(Exeception e). That spelling won’t compile; Java says it cannot find the class Exeception. It should be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“One, Three,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“One, Three, Four”.
One prints, then scores[2] is outside the array, so an exception is thrown. The rest of the try block, Two, is skipped. The catch prints Three, and the program carries on with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Catching an exception means either handling it here, or re-throwing it so another part of the program deals with it. Handling can mean ignoring it, dealing with it sensibly and carrying on, or exiting the program. Ignoring it is rarely a good idea: the user never finds out something went wrong, and neither do we. Most of the time we deal with it and carry on: a clear message, a default value, or asking again. Exiting makes sense when the program can’t do anything useful without the thing that failed. Re-throwing passes the problem up to the code that called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“Show a message and ask for the age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“Show a message and ask for the age again”.
All four are possible, but only B handles the problem and keeps going. An empty catch hides it, so the user never finds out what went wrong. Exiting stops the whole program over one typo, and re-throwing leaves the problem for other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we want something to happen whether or not an exception was thrown. That goes in a finally block, after the catch. In the example, with 5 / 0 the exception is caught and then finally prints Closing; with 5 / 1 there’s no exception, the catch is skipped, and finally still prints Closing. That makes finally the place for tidying up, such as closing a file or a Scanner, so it happens whatever went on in the 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“1, 2,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“1, 2, 4”.
10 / 2 is fine, so no exception is thrown and the try block runs to the end, printing 1 and 2. The catch is skipped, as there’s nothing to catch. finally always runs, so 4 comes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catch (Exception e) catches any exception at all, because every exception class is a subclass of Exception. e is the exception object that was thrown, and it carries information. Printing e gives its type and message. getMessage gives only the message. printStackTrace prints the type, the message and the line it came from. It writes to the error output, which is why Eclipse shows it in red. A small fix to the lecture slide, which says Exception e is returned for any type of exception: nothing is returned. catch (Exception e) catches any kind of exception, and e is the object that was thrown. The tip on the lecture slide is a good one: if you’re not sure which exception to catch, run the code without a try/catch and read the first line of the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“java.lang.NumberFormatException: For input string: "abc"”.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“java.lang.NumberFormatException: For input string: "abc"”.
Printing an exception object prints its type, with its package, then its message. "abc" isn’t a number, so parseInt throws a NumberFormatException. e.getMessage() would give just the message, and it never prints the variable’s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try can have several catch blocks, one for each kind of exception we expect. Java checks them from the top and runs only the first one that matches. In the example, typing 1 works: nums[1] is 20 and 20 / 1 is 20. Typing 5 fails at nums[5], so the first catch runs. Either way, finally prints Done. The lecture slide shows the pattern in shorthand, Try{} Catch(EOFException e) {} Catch(ArrayIndexOutOfBounds e) {} Finally{}. In real Java the keywords are lower case and the class is ArrayIndexOutOfBoundsException. And one thing that surprises people if they try it: with an empty try block, catch (EOFException e) won’t compile, because EOFException is checked, and Java won’t let us catch a checked exception that the try block can’t throw. EOF stands for end of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“Can't divide by zero and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“Can't divide by zero and Done”.
nums[0] is 10, so the array part works. Then 10 / 0 throws an ArithmeticException. Java skips the first catch, which doesn’t match, runs the second, and then finally prints Done, as it always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“Exception comes first, so the second catch can never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“Exception comes first, so the second catch can never run”.
Exception catches every exception, ArithmeticException included, so the second catch could never run. Java treats that as a mistake: exception ArithmeticException has already been caught. Swap them, so the specific catch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throwing exceptions ourselves, passing them on to the caller with throws, what the compiler insists on for checked exceptions, and writing our own exception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throw an exception ourselves. throw tells Java that an exception has happened right here, and from then on it’s treated like any other exception: if nothing catches it, Java stops the program and prints the error. In the lecture’s example, checkNum(4) prints the square, and checkNum(-3) throws. Three small notes on the example. The lecture’s message starts with \n, which just puts the message on a new line in the output; I’ve left it out. The test is num &lt; 1, which is also true for 0, and 0 isn’t negative, so the message is a little misleading. And for a bad argument like this, Java programmers usually throw IllegalArgumentException, but ArithmeticException works the same way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“Throws an ArithmeticException”.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“Throws an ArithmeticException”.
The test is num &lt; 1, and 0 is less than 1, so the method throws an ArithmeticException. Its message, “Number is negative”, is misleading for 0: the test should be num &lt; 0, or the message should say the number must be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when writing a method, we’re not sure how the exception should be dealt with, we can declare it with throws instead. throws goes at the end of the method header and lists the exceptions the method might throw; several can be listed, separated by commas. It then becomes the job of whoever calls the method to decide what to do. Correction to the lecture’s example: divide isn’t static, but main is, so main can’t call it directly. The compiler says non-static method divide(int,int) cannot be referenced from a static context. Making divide static fixes it, as here. Also, the lecture says the caller then needs a try catch. The compiler only insists on that for checked exceptions. ArithmeticException is unchecked, so the try/catch in main is our choice, and throws ArithmeticException is optional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“Catch FileNotFoundException, or declare throws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“Catch FileNotFoundException, or declare throws itself”.
FileNotFoundException is checked, so the job passes to the caller. It must catch it in a try/catch, or add throws FileNotFoundException to its own header and pass it further up. Otherwise the compiler stops: unreported exception FileNotFoundException; must be caught or declared to be thrown.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words look alike but do different jobs. throw sends one exception object to Java right now, from inside a method. throws, in the method header, warns that the method might throw certain exceptions and hands the job of dealing with them to the caller. That’s the lecture’s picture: throw goes to the JVM, throws goes to the calling method. One row of the lecture’s table says a checked exception cannot be propagated using throw only. That means: if a method throws a checked exception with throw and doesn’t catch it, the method also needs throws in its header, or it won’t compile.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“throw new ArithmeticException("Bad");”.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“throw new ArithmeticException("Bad");”.
throw is followed by an exception object, made with new. A uses throws, which only belongs in a method header. C names the class without making an object, so Java looks for a variable called ArithmeticException. D has throw where the header needs throws.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Java library classes, like FileWriter for writing files, declare throws IOException. IOException is checked, so the compiler won’t build our code until we deal with it: unreported exception IOException; must be caught or declared to be thrown. There are two fixes. Fix 1 catches it, so we can tell the user the file couldn’t be saved. Fix 2 adds throws IOException to main, which passes it on; if it happens, the program stops with the error. Fix 1 is usually kinder to the user. One thing to notice in Fix 1: if write fails, the close line is skipped, which is exactly the kind of tidying up that belongs in a finally block. Both versions need import java.io.FileWriter and import java.io.IOException at the top of the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“It won’t build until IOException is caught or declared”.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“It won’t build until IOException is caught or declared”.
FileWriter’s constructor declares throws IOException, a checked exception. The compiler stops with unreported exception IOException; must be caught or declared to be thrown. Add a try/catch, or throws IOException on the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create our own exceptions by extending the Exception class, which lives in java.lang, so there’s nothing to import. The constructor takes a message and passes it up to Exception with super, which is where getMessage and println find it later. Because it extends Exception, and not RuntimeException, it’s a checked exception. Two notes on the lecture’s examples. The first, IncorrectValueException, takes errorMessage but never uses it: it always passes “The value is incorrect” to super, so whatever message we give it is lost. The month version does use it. And its code says super("Error in months input :" + errorMessage), while the output on the lecture’s next slide says “Months input error:”, so that output came from a slightly different version. I’ve used the wording from the output, so the code and the output in this deck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“It extends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“It extends Exception”.
A class becomes an exception by extending Exception, or another exception class. The name is only a helpful habit, and super(...) just passes the message on. Extending Exception, not RuntimeException, also makes it a checked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lecture’s example reads a date in dd/mm/yyyy format. split("/") cuts the String at each slash, so 12/14/1996 becomes three parts: 12, 14 and 1996. datePart[1] is the second part, the month, here 14. parseInt turns it into a number. If it’s higher than 12, we throw our own exception with a clear message, and the catch block straight after prints it. Notice the user typed the month and day the wrong way round. The check spots it here only because 14 can’t be a month: 12/05/2024 typed the wrong way round would pass, and so would a month of 0, since the code doesn’t test month &lt;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Printing the exception prints its full class name, including the package, griffith in the lecture’s project, then a colon and the message. The message is built in two parts: “Months input error: ” comes from our constructor’s call to super, and “Month is higher than 12” is what we passed in with new. Together they’re the message, which is what getMessage gives back. The next two quick checks try the same code with different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“No exception, as 12 is a valid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“No exception, as 12 is a valid month”.
datePart[1] is "12", so month is 12. The test is month &gt; 12, and 12 isn’t higher than 12, so nothing is thrown and the catch block never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“The program crashes with an ArrayIndexOutOfBoundsException”.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“The program crashes with an ArrayIndexOutOfBoundsException”.
split("/") finds no slashes, so datePart holds one part, "2024". datePart[1] is outside the array and throws an ArrayIndexOutOfBoundsException. Our catch only handles IncorrectMonthException, so nothing catches it and the program stops.
Ask how they would make the program safe: check datePart.length before using datePart[1], or add a catch for ArrayIndexOutOfBoundsException. A letter in the month would do the same with a NumberFormatException from parseInt.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assert, for checking our own logic while we test, then input validation and sanitization, and defending against code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test code we want to try a range of cases: if a method can return true or false, we test both. assert lets us put a quick check inside the program itself: while it runs, it checks that something we expect is true. The format is assert, the condition, a colon and a message. If the condition is false, Java throws an AssertionError with our message, and that tells us something is wrong in our logic. Correction to the lecture slide, which calls it an assertion exception: it’s an AssertionError, and AssertionError is an Error, not an Exception. So catch (Exception e) won’t catch it, which is the point: asserts are for finding our own bugs while testing, not for handling problems users cause. Checking what users type is validation, coming up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“AssertionError”.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“AssertionError”.
A false assert throws an AssertionError, with our message after the colon. It’s an Error, not an Exception, a reminder that it signals a bug in our own code. There’s no class called AssertException.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Assertions are turned off by default, and while they’re off, Java skips every assert line completely. To turn them on in Eclipse: Run, Run Configurations, pick the program, open the Arguments tab and type -ea in VM arguments, then Apply and Run. ea stands for enable assertions. Two small fixes to the lecture slide. It mentions the build configuration file; in Eclipse it’s the Run Configuration, as here. And it shows –ea with a dash rather than a hyphen, probably from PowerPoint’s AutoCorrect. Type an ordinary hyphen, or Java won’t recognise it. Outside Eclipse, it’s java -ea followed by the class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“The assert is skipped and Other code 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“The assert is skipped and Other code prints”.
Assertions are off by default, and while they’re off, Java skips every assert line completely. The program carries on and prints Other code, as if the assert wasn’t there. To make it check, run with -ea in the VM arguments.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lecture’s two runs, both with -ea switched on. With an array of 5, the condition is true, the assert does nothing, and the program prints Other code. With an array of 6, the condition is false, Java throws an AssertionError with our message, and the program stops before Other code. In Eclipse that line appears in red, followed by the line number where the assert is. Without -ea, both versions would just print Other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“Other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B, “Other code”.
The array has 4 elements, and 4 &gt; 2 is true, so the assert passes without a sound. The message is only used when the condition is false. The program carries on and prints Other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 validation means testing what the user typed against rules we set for our application, and only accepting input that’s known to be good. The lecture lists four kinds of check: the type of data, its size or length, its range and whether it’s plausible, and its content, meaning which characters are allowed. One of the lecture’s examples is checking that a String has no single quotation marks on their own. It also lists four ways of checking: conditionals, Scanner’s hasNext methods, regular expressions, and try/catch. A regular expression, or regex, is a pattern for text: matches("[A-Za-z' -]+") is true only when the String is made of letters, apostrophes, spaces and hyphens, so O’Brien and Mary-Kate pass. A real name check would also need letters with a fada, like Seán.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“Range: is the value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“Range: is the value possible?”.
250 is a whole number, it’s short, and it only uses digits, so the type, length and content checks all pass. But nobody is 250 years old: the range check, from 0 to 120, should reject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validation with Scanner, one of the lecture’s four ways. hasNextInt looks at what the user typed without reading it, and is true only if it’s a whole number. If it isn’t, in.next reads that word and throws it away, and we ask again. Without that line, the bad input would stay there and the loop would never end. Once we have a number, we still check the range, because a whole number can still be impossible. In the output, the yellow text is what the user typed: abc, then 250.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“Returns false, without reading the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“Returns false, without reading the input”.
hasNextInt() only looks at the next input. abc isn’t a whole number, so it returns false and leaves abc waiting to be read. It’s nextInt() that would throw an InputMismatchException, which is why we check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checks the input and accepts or rejects it. Sanitization changes the input so it’s safe to use, and keeps it. The lecture’s example is doubling single quotes: in SQL, text goes between single quotes, so a quote inside a name like O’Brien would end the text early. Writing it as two quotes, O’’Brien, is how SQL stores one quote inside text. In defensive programming we use the two together, so a problem that gets past one is stopped by the other. That’s what the lecture means by in-depth defence.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“Sanitization”.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“Sanitization”.
The input isn’t rejected; it’s changed into a safe form, and that’s sanitization. Validation would only check it and accept or reject it. Doubling the quote stops it from ending the text early inside an SQL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code injection is a security problem where an attacker manages to get their own code run by our application, alongside our code. It happens when user input is pasted straight into a command. SQL databases are particularly at risk. In the example, the program glues the user’s text into the middle of an SQL query. A normal name works fine. But this input closes the quote early, adds a second command, DROP TABLE, and the two dashes turn the rest of the line into an SQL comment. The database then runs both commands. That’s the DROP TABLE danger the lecture mentions, and it’s why the next slide’s rules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“The input can change the command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C, “The input can change the command itself”.
If the input goes straight into the command, the database can’t tell our command from the user’s text. Input with quotes and SQL keywords can end our command and add one of its own, like DROP TABLE. That’s a code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lecture’s rules for input that will go near a database: no special characters such as = and /, no SQL keywords, and no OR or AND. If we need to keep exactly what the user typed, quotes and all, we encode it before storing it and decode it when we read it back; the same is often done for quotation marks and escape sequences. Be careful how the checks are written: a check for the letters OR anywhere in the text would also reject a name like George. One more thing worth knowing for later: when you connect Java to a database, the standard fix is a PreparedStatement, where the SQL has ? placeholders and the input is sent separately, so it can never become part of the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D, “Tom; DROP TABLE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“Tom; DROP TABLE students”.
It contains DROP, one of the SQL keywords the rules don’t allow in input. The other three are ordinary data, made of letters, spaces and digits, so they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words from today on one slide. A good one to leave up while taking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The summary slide before this one is a good one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Slide-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Header-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Closing-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rtlCol="0"/>
          <a:lstStyle>
            <a:lvl1pPr indent="0" marL="0">
              <a:buNone/>
              <a:defRPr lang="en-US" sz="1400" b="1" spc="300" kern="0" dirty="0">
                <a:solidFill>
                  <a:schemeClr val="accent6"/>
                </a:solidFill>
              </a:defRPr>
            </a:lvl1pPr>
          </a:lstStyle>
          <a:p>
            <a:pPr indent="0" marL="0">
              <a:buNone/>
            </a:pPr>
            <a:endParaRPr lang="en-US" sz="1400" dirty="0"/>
          </a:p>
        </p:txBody>
      </p:sp>
      <p:sp>
        <p:nvSpPr>
          <p:cNvPr id="3" name="Text 0"/>
          <p:cNvSpPr/>
          <p:nvPr>
            <p:ph idx="101" type="title" hasCustomPrompt="1"/>
          </p:nvPr>
        </p:nvSpPr>
        <p:spPr>
          <a:xfrm>
            <a:off x="822960" y="2011680"/>
            <a:ext cx="6035040" cy="178308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
        <p:nvSpPr>
          <p:cNvPr id="4" name="Text 0"/>
          <p:cNvSpPr/>
          <p:nvPr>
            <p:ph idx="102" type="body" hasCustomPrompt="1"/>
          </p:nvPr>
        </p:nvSpPr>
        <p:spPr>
          <a:xfrm>
            <a:off x="822960" y="3794760"/>
            <a:ext cx="5669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rtlCol="0"/>
          <a:lstStyle>
            <a:lvl1pPr indent="0" marL="0">
              <a:buNone/>
              <a:defRPr lang="en-US" sz="9600" b="1" dirty="0">
                <a:solidFill>
                  <a:schemeClr val="accent1"/>
                </a:solidFill>
              </a:defRPr>
            </a:lvl1pPr>
          </a:lstStyle>
          <a:p>
            <a:pPr indent="0" marL="0">
              <a:buNone/>
            </a:pP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rtlCol="0"/>
          <a:lstStyle>
            <a:lvl1pPr indent="0" marL="0">
              <a:buNone/>
              <a:defRPr lang="en-US" sz="1200" b="1" spc="150" kern="0" dirty="0">
                <a:solidFill>
                  <a:schemeClr val="tx2"/>
                </a:solidFill>
              </a:defRPr>
            </a:lvl1pPr>
          </a:lstStyle>
          <a:p>
            <a:pPr indent="0" marL="0">
              <a:buNone/>
            </a:pP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4"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US" sz="1000" dirty="0">
                <a:solidFill>
                  <a:schemeClr val="tx2"/>
                </a:solidFill>
              </a:rPr>
              <a:t>Object-Oriented Programming  ·  Lecture 8</a:t>
            </a:r>
            <a:endParaRPr lang="en-US"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Quick Check">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14400"/>
            <a:ext cx="11091672" cy="11430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US" sz="1000" dirty="0">
                <a:solidFill>
                  <a:schemeClr val="tx2"/>
                </a:solidFill>
              </a:rPr>
              <a:t>Object-Oriented Programming  ·  Lecture 8</a:t>
            </a:r>
            <a:endParaRPr lang="en-US"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nswer">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96112"/>
            <a:ext cx="11091672" cy="777240"/>
          </a:xfrm>
          <a:prstGeom prst="rect">
            <a:avLst/>
          </a:prstGeom>
          <a:noFill/>
          <a:ln/>
        </p:spPr>
        <p:txBody>
          <a:bodyPr wrap="square" rtlCol="0"/>
          <a:lstStyle>
            <a:lvl1pPr algn="l" indent="0" marL="0">
              <a:buNone/>
              <a:defRPr lang="en-US" sz="2000" b="1" dirty="0">
                <a:solidFill>
                  <a:schemeClr val="tx2"/>
                </a:solidFill>
              </a:defRPr>
            </a:lvl1pPr>
          </a:lstStyle>
          <a:p>
            <a:pPr algn="l" indent="0" marL="0">
              <a:buNone/>
            </a:pPr>
            <a:endParaRPr lang="en-US" sz="2000" dirty="0"/>
          </a:p>
        </p:txBody>
      </p:sp>
      <p:sp>
        <p:nvSpPr>
          <p:cNvPr id="3" name="Text 0"/>
          <p:cNvSpPr/>
          <p:nvPr/>
        </p:nvSpPr>
        <p:spPr>
          <a:xfrm>
            <a:off x="548640" y="6400800"/>
            <a:ext cx="5486400" cy="256032"/>
          </a:xfrm>
          <a:prstGeom prst="rect">
            <a:avLst/>
          </a:prstGeom>
          <a:noFill/>
          <a:ln/>
        </p:spPr>
        <p:txBody>
          <a:bodyPr wrap="square" lIns="0" tIns="0" rIns="0" bIns="0" rtlCol="0" anchor="ctr"/>
          <a:lstStyle/>
          <a:p>
            <a:pPr indent="0" marL="0">
              <a:buNone/>
            </a:pPr>
            <a:r>
              <a:rPr lang="en-US" sz="1000" dirty="0">
                <a:solidFill>
                  <a:schemeClr val="tx2"/>
                </a:solidFill>
              </a:rPr>
              <a:t>Object-Oriented Programming  ·  Lecture 8</a:t>
            </a:r>
            <a:endParaRPr lang="en-US" sz="1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rtlCol="0"/>
          <a:lstStyle>
            <a:lvl1pPr algn="l" indent="0" marL="0">
              <a:buNone/>
              <a:defRPr lang="en-US" sz="6400" b="1" dirty="0">
                <a:solidFill>
                  <a:schemeClr val="bg1"/>
                </a:solidFill>
              </a:defRPr>
            </a:lvl1pPr>
          </a:lstStyle>
          <a:p>
            <a:pPr algn="l" indent="0" marL="0">
              <a:buNone/>
            </a:pPr>
            <a:endParaRPr lang="en-US" sz="6400" dirty="0"/>
          </a:p>
        </p:txBody>
      </p:sp>
      <p:sp>
        <p:nvSpPr>
          <p:cNvPr id="3" name="Text 0"/>
          <p:cNvSpPr/>
          <p:nvPr>
            <p:ph idx="101" type="body" hasCustomPrompt="1"/>
          </p:nvPr>
        </p:nvSpPr>
        <p:spPr>
          <a:xfrm>
            <a:off x="822960" y="3611880"/>
            <a:ext cx="6766560" cy="82296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4.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6.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6.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6.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6.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6.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4.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6.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6.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6.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4.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6.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6.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6.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6.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6.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6.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6.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4.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6.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6.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6.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6.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4.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6.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slideLayout" Target="../slideLayouts/slideLayout4.xml"/><Relationship Id="rId6"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6.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slideLayout" Target="../slideLayouts/slideLayout6.xml"/><Relationship Id="rId4"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slideLayout" Target="../slideLayouts/slideLayout4.xml"/><Relationship Id="rId6"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6.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slideLayout" Target="../slideLayouts/slideLayout4.xml"/><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6.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image" Target="../media/image-81-5.png"/><Relationship Id="rId6" Type="http://schemas.openxmlformats.org/officeDocument/2006/relationships/slideLayout" Target="../slideLayouts/slideLayout4.xml"/><Relationship Id="rId7"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slideLayout" Target="../slideLayouts/slideLayout6.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image" Target="../media/image-84-3.png"/><Relationship Id="rId4" Type="http://schemas.openxmlformats.org/officeDocument/2006/relationships/image" Target="../media/image-84-4.png"/><Relationship Id="rId5" Type="http://schemas.openxmlformats.org/officeDocument/2006/relationships/image" Target="../media/image-84-5.png"/><Relationship Id="rId6" Type="http://schemas.openxmlformats.org/officeDocument/2006/relationships/image" Target="../media/image-84-6.png"/><Relationship Id="rId7" Type="http://schemas.openxmlformats.org/officeDocument/2006/relationships/image" Target="../media/image-84-7.png"/><Relationship Id="rId8" Type="http://schemas.openxmlformats.org/officeDocument/2006/relationships/image" Target="../media/image-84-8.png"/><Relationship Id="rId9" Type="http://schemas.openxmlformats.org/officeDocument/2006/relationships/slideLayout" Target="../slideLayouts/slideLayout4.xml"/><Relationship Id="rId10"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7.xml"/><Relationship Id="rId3" Type="http://schemas.openxmlformats.org/officeDocument/2006/relationships/notesSlide" Target="../notesSlides/notesSlide8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822960" y="1600200"/>
            <a:ext cx="5486400" cy="365760"/>
          </a:xfrm>
          <a:prstGeom prst="rect">
            <a:avLst/>
          </a:prstGeom>
          <a:noFill/>
          <a:ln/>
        </p:spPr>
        <p:txBody>
          <a:bodyPr wrap="square" lIns="0" tIns="0" rIns="0" bIns="0" rtlCol="0" anchor="ctr"/>
          <a:lstStyle/>
          <a:p>
            <a:pPr indent="0" marL="0">
              <a:buNone/>
            </a:pPr>
            <a:r>
              <a:rPr lang="en-US" sz="1400" b="1" spc="300" kern="0" dirty="0">
                <a:solidFill>
                  <a:schemeClr val="accent6"/>
                </a:solidFill>
              </a:rPr>
              <a:t>LECTURE 8</a:t>
            </a:r>
            <a:endParaRPr lang="en-US" sz="1400" dirty="0"/>
          </a:p>
        </p:txBody>
      </p:sp>
      <p:sp>
        <p:nvSpPr>
          <p:cNvPr id="3" name="Text 0"/>
          <p:cNvSpPr/>
          <p:nvPr>
            <p:ph idx="101" type="title" hasCustomPrompt="1"/>
          </p:nvPr>
        </p:nvSpPr>
        <p:spPr>
          <a:xfrm>
            <a:off x="822960" y="2011680"/>
            <a:ext cx="6035040" cy="1783080"/>
          </a:xfrm>
          <a:prstGeom prst="rect">
            <a:avLst/>
          </a:prstGeom>
          <a:noFill/>
          <a:ln/>
        </p:spPr>
        <p:txBody>
          <a:bodyPr wrap="square" lIns="0" tIns="0" rIns="0" bIns="0" rtlCol="0" anchor="t"/>
          <a:lstStyle/>
          <a:p>
            <a:pPr algn="l" indent="0" marL="0">
              <a:buNone/>
            </a:pPr>
            <a:r>
              <a:rPr lang="en-US" sz="5200" b="1" dirty="0">
                <a:solidFill>
                  <a:schemeClr val="bg1"/>
                </a:solidFill>
              </a:rPr>
              <a:t>Exception</a:t>
            </a:r>
            <a:endParaRPr lang="en-US" sz="5200" dirty="0"/>
          </a:p>
          <a:p>
            <a:pPr algn="l" indent="0" marL="0">
              <a:buNone/>
            </a:pPr>
            <a:r>
              <a:rPr lang="en-US" sz="5200" b="1" dirty="0">
                <a:solidFill>
                  <a:schemeClr val="bg1"/>
                </a:solidFill>
              </a:rPr>
              <a:t>Handling</a:t>
            </a:r>
            <a:endParaRPr lang="en-US" sz="5200" dirty="0"/>
          </a:p>
        </p:txBody>
      </p:sp>
      <p:sp>
        <p:nvSpPr>
          <p:cNvPr id="4" name="Text 0"/>
          <p:cNvSpPr/>
          <p:nvPr>
            <p:ph idx="102" type="body" hasCustomPrompt="1"/>
          </p:nvPr>
        </p:nvSpPr>
        <p:spPr>
          <a:xfrm>
            <a:off x="822960" y="3794760"/>
            <a:ext cx="5669280" cy="914400"/>
          </a:xfrm>
          <a:prstGeom prst="rect">
            <a:avLst/>
          </a:prstGeom>
          <a:noFill/>
          <a:ln/>
        </p:spPr>
        <p:txBody>
          <a:bodyPr wrap="square" lIns="0" tIns="0" rIns="0" bIns="0" rtlCol="0" anchor="t"/>
          <a:lstStyle/>
          <a:p>
            <a:pPr indent="0" marL="0">
              <a:buNone/>
            </a:pPr>
            <a:r>
              <a:rPr lang="en-US" sz="2000" dirty="0">
                <a:solidFill>
                  <a:schemeClr val="bg2"/>
                </a:solidFill>
              </a:rPr>
              <a:t>try, catch and finally, throw and throws, custom exceptions, assert and safe input</a:t>
            </a:r>
            <a:endParaRPr lang="en-US" sz="2000" dirty="0"/>
          </a:p>
        </p:txBody>
      </p:sp>
      <p:sp>
        <p:nvSpPr>
          <p:cNvPr id="6" name="Text 3"/>
          <p:cNvSpPr txBox="1"/>
          <p:nvPr/>
        </p:nvSpPr>
        <p:spPr>
          <a:xfrm>
            <a:off x="6903720" y="1298448"/>
            <a:ext cx="4718304" cy="292608"/>
          </a:xfrm>
          <a:prstGeom prst="rect">
            <a:avLst/>
          </a:prstGeom>
          <a:noFill/>
          <a:ln/>
        </p:spPr>
        <p:txBody>
          <a:bodyPr wrap="square" lIns="0" tIns="0" rIns="0" bIns="0" rtlCol="0" anchor="t"/>
          <a:lstStyle/>
          <a:p>
            <a:pPr algn="l" indent="0" marL="0">
              <a:buNone/>
            </a:pPr>
            <a:r>
              <a:rPr lang="en-US" sz="1300" i="1" dirty="0">
                <a:solidFill>
                  <a:schemeClr val="bg2"/>
                </a:solidFill>
              </a:rPr>
              <a:t>a risky line inside try</a:t>
            </a:r>
            <a:endParaRPr lang="en-US" sz="1300" dirty="0"/>
          </a:p>
        </p:txBody>
      </p:sp>
      <p:sp>
        <p:nvSpPr>
          <p:cNvPr id="7" name="Shape 4"/>
          <p:cNvSpPr/>
          <p:nvPr/>
        </p:nvSpPr>
        <p:spPr>
          <a:xfrm>
            <a:off x="6903720" y="1645920"/>
            <a:ext cx="4718304" cy="566928"/>
          </a:xfrm>
          <a:prstGeom prst="roundRect">
            <a:avLst>
              <a:gd name="adj" fmla="val 12903"/>
            </a:avLst>
          </a:prstGeom>
          <a:solidFill>
            <a:schemeClr val="bg1">
              <a:alpha val="12000"/>
            </a:schemeClr>
          </a:solidFill>
          <a:ln w="19050">
            <a:solidFill>
              <a:schemeClr val="bg1"/>
            </a:solidFill>
            <a:prstDash val="solid"/>
          </a:ln>
        </p:spPr>
      </p:sp>
      <p:sp>
        <p:nvSpPr>
          <p:cNvPr id="8" name="Text 5"/>
          <p:cNvSpPr txBox="1"/>
          <p:nvPr/>
        </p:nvSpPr>
        <p:spPr>
          <a:xfrm>
            <a:off x="6903720" y="1645920"/>
            <a:ext cx="4718304"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onsolas" pitchFamily="34" charset="0"/>
                <a:ea typeface="Consolas" pitchFamily="34" charset="-122"/>
                <a:cs typeface="Consolas" pitchFamily="34" charset="-120"/>
              </a:rPr>
              <a:t>try { int x = 10 / 0; }</a:t>
            </a:r>
            <a:endParaRPr lang="en-US" sz="1500" dirty="0"/>
          </a:p>
        </p:txBody>
      </p:sp>
      <p:sp>
        <p:nvSpPr>
          <p:cNvPr id="9" name="Shape 6"/>
          <p:cNvSpPr/>
          <p:nvPr/>
        </p:nvSpPr>
        <p:spPr>
          <a:xfrm>
            <a:off x="9262872" y="2286000"/>
            <a:ext cx="0" cy="411480"/>
          </a:xfrm>
          <a:prstGeom prst="line">
            <a:avLst/>
          </a:prstGeom>
          <a:noFill/>
          <a:ln w="22225">
            <a:solidFill>
              <a:schemeClr val="bg1"/>
            </a:solidFill>
            <a:prstDash val="solid"/>
            <a:tailEnd type="triangle"/>
          </a:ln>
        </p:spPr>
      </p:sp>
      <p:sp>
        <p:nvSpPr>
          <p:cNvPr id="10" name="Shape 7"/>
          <p:cNvSpPr/>
          <p:nvPr/>
        </p:nvSpPr>
        <p:spPr>
          <a:xfrm>
            <a:off x="9262872" y="3182112"/>
            <a:ext cx="0" cy="457200"/>
          </a:xfrm>
          <a:prstGeom prst="line">
            <a:avLst/>
          </a:prstGeom>
          <a:noFill/>
          <a:ln w="22225">
            <a:solidFill>
              <a:schemeClr val="bg1"/>
            </a:solidFill>
            <a:prstDash val="solid"/>
            <a:tailEnd type="triangle"/>
          </a:ln>
        </p:spPr>
      </p:sp>
      <p:sp>
        <p:nvSpPr>
          <p:cNvPr id="11" name="Shape 8"/>
          <p:cNvSpPr/>
          <p:nvPr/>
        </p:nvSpPr>
        <p:spPr>
          <a:xfrm>
            <a:off x="7708392" y="2724912"/>
            <a:ext cx="3108960" cy="438912"/>
          </a:xfrm>
          <a:prstGeom prst="roundRect">
            <a:avLst>
              <a:gd name="adj" fmla="val 16667"/>
            </a:avLst>
          </a:prstGeom>
          <a:solidFill>
            <a:schemeClr val="accent1"/>
          </a:solidFill>
          <a:ln/>
        </p:spPr>
      </p:sp>
      <p:sp>
        <p:nvSpPr>
          <p:cNvPr id="12" name="Text 9"/>
          <p:cNvSpPr txBox="1"/>
          <p:nvPr/>
        </p:nvSpPr>
        <p:spPr>
          <a:xfrm>
            <a:off x="7708392" y="2724912"/>
            <a:ext cx="3108960" cy="438912"/>
          </a:xfrm>
          <a:prstGeom prst="rect">
            <a:avLst/>
          </a:prstGeom>
          <a:noFill/>
          <a:ln/>
        </p:spPr>
        <p:txBody>
          <a:bodyPr wrap="square" lIns="0" tIns="0" rIns="0" bIns="0" rtlCol="0" anchor="ctr"/>
          <a:lstStyle/>
          <a:p>
            <a:pPr algn="ctr" indent="0" marL="0">
              <a:buNone/>
            </a:pPr>
            <a:r>
              <a:rPr lang="en-US" sz="1400" b="1" dirty="0">
                <a:solidFill>
                  <a:schemeClr val="bg1"/>
                </a:solidFill>
                <a:latin typeface="Consolas" pitchFamily="34" charset="0"/>
                <a:ea typeface="Consolas" pitchFamily="34" charset="-122"/>
                <a:cs typeface="Consolas" pitchFamily="34" charset="-120"/>
              </a:rPr>
              <a:t>ArithmeticException</a:t>
            </a:r>
            <a:endParaRPr lang="en-US" sz="1400" dirty="0"/>
          </a:p>
        </p:txBody>
      </p:sp>
      <p:sp>
        <p:nvSpPr>
          <p:cNvPr id="13" name="Shape 10"/>
          <p:cNvSpPr/>
          <p:nvPr/>
        </p:nvSpPr>
        <p:spPr>
          <a:xfrm>
            <a:off x="6903720" y="3703320"/>
            <a:ext cx="4718304" cy="566928"/>
          </a:xfrm>
          <a:prstGeom prst="roundRect">
            <a:avLst>
              <a:gd name="adj" fmla="val 12903"/>
            </a:avLst>
          </a:prstGeom>
          <a:solidFill>
            <a:schemeClr val="accent6"/>
          </a:solidFill>
          <a:ln/>
        </p:spPr>
      </p:sp>
      <p:sp>
        <p:nvSpPr>
          <p:cNvPr id="14" name="Text 11"/>
          <p:cNvSpPr txBox="1"/>
          <p:nvPr/>
        </p:nvSpPr>
        <p:spPr>
          <a:xfrm>
            <a:off x="6903720" y="3703320"/>
            <a:ext cx="4718304" cy="566928"/>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catch: "Can't divide by zero"</a:t>
            </a:r>
            <a:endParaRPr lang="en-US" sz="1500" dirty="0"/>
          </a:p>
        </p:txBody>
      </p:sp>
      <p:sp>
        <p:nvSpPr>
          <p:cNvPr id="15" name="Text 12"/>
          <p:cNvSpPr txBox="1"/>
          <p:nvPr/>
        </p:nvSpPr>
        <p:spPr>
          <a:xfrm>
            <a:off x="6903720" y="4370832"/>
            <a:ext cx="4718304" cy="292608"/>
          </a:xfrm>
          <a:prstGeom prst="rect">
            <a:avLst/>
          </a:prstGeom>
          <a:noFill/>
          <a:ln/>
        </p:spPr>
        <p:txBody>
          <a:bodyPr wrap="square" lIns="0" tIns="0" rIns="0" bIns="0" rtlCol="0" anchor="t"/>
          <a:lstStyle/>
          <a:p>
            <a:pPr algn="ctr" indent="0" marL="0">
              <a:buNone/>
            </a:pPr>
            <a:r>
              <a:rPr lang="en-US" sz="1300" i="1" dirty="0">
                <a:solidFill>
                  <a:schemeClr val="bg2"/>
                </a:solidFill>
              </a:rPr>
              <a:t>caught, so the program carries 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LECTURE 8</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What we cover today</a:t>
            </a:r>
            <a:endParaRPr lang="en-US" sz="3400" dirty="0"/>
          </a:p>
        </p:txBody>
      </p:sp>
      <p:sp>
        <p:nvSpPr>
          <p:cNvPr id="4" name="Text 2"/>
          <p:cNvSpPr txBox="1"/>
          <p:nvPr/>
        </p:nvSpPr>
        <p:spPr>
          <a:xfrm>
            <a:off x="548640" y="1746504"/>
            <a:ext cx="868680" cy="548640"/>
          </a:xfrm>
          <a:prstGeom prst="rect">
            <a:avLst/>
          </a:prstGeom>
          <a:noFill/>
          <a:ln/>
        </p:spPr>
        <p:txBody>
          <a:bodyPr wrap="square" lIns="0" tIns="0" rIns="0" bIns="0" rtlCol="0" anchor="t"/>
          <a:lstStyle/>
          <a:p>
            <a:pPr algn="l" indent="0" marL="0">
              <a:buNone/>
            </a:pPr>
            <a:r>
              <a:rPr lang="en-US" sz="3000" b="1" dirty="0">
                <a:solidFill>
                  <a:schemeClr val="accent1"/>
                </a:solidFill>
              </a:rPr>
              <a:t>01</a:t>
            </a:r>
            <a:endParaRPr lang="en-US" sz="3000" dirty="0"/>
          </a:p>
        </p:txBody>
      </p:sp>
      <p:sp>
        <p:nvSpPr>
          <p:cNvPr id="5" name="Text 3"/>
          <p:cNvSpPr txBox="1"/>
          <p:nvPr/>
        </p:nvSpPr>
        <p:spPr>
          <a:xfrm>
            <a:off x="1463040" y="1783080"/>
            <a:ext cx="5577840" cy="384048"/>
          </a:xfrm>
          <a:prstGeom prst="rect">
            <a:avLst/>
          </a:prstGeom>
          <a:noFill/>
          <a:ln/>
        </p:spPr>
        <p:txBody>
          <a:bodyPr wrap="square" lIns="0" tIns="0" rIns="0" bIns="0" rtlCol="0" anchor="t"/>
          <a:lstStyle/>
          <a:p>
            <a:pPr algn="l" indent="0" marL="0">
              <a:buNone/>
            </a:pPr>
            <a:r>
              <a:rPr lang="en-US" sz="2100" b="1" dirty="0">
                <a:solidFill>
                  <a:schemeClr val="tx1"/>
                </a:solidFill>
              </a:rPr>
              <a:t>Errors and exceptions</a:t>
            </a:r>
            <a:endParaRPr lang="en-US" sz="2100" dirty="0"/>
          </a:p>
        </p:txBody>
      </p:sp>
      <p:sp>
        <p:nvSpPr>
          <p:cNvPr id="6" name="Text 4"/>
          <p:cNvSpPr txBox="1"/>
          <p:nvPr/>
        </p:nvSpPr>
        <p:spPr>
          <a:xfrm>
            <a:off x="1463040" y="2194560"/>
            <a:ext cx="5577840" cy="365760"/>
          </a:xfrm>
          <a:prstGeom prst="rect">
            <a:avLst/>
          </a:prstGeom>
          <a:noFill/>
          <a:ln/>
        </p:spPr>
        <p:txBody>
          <a:bodyPr wrap="square" lIns="0" tIns="0" rIns="0" bIns="0" rtlCol="0" anchor="t"/>
          <a:lstStyle/>
          <a:p>
            <a:pPr algn="l" indent="0" marL="0">
              <a:buNone/>
            </a:pPr>
            <a:r>
              <a:rPr lang="en-US" sz="1500" dirty="0">
                <a:solidFill>
                  <a:schemeClr val="tx2"/>
                </a:solidFill>
              </a:rPr>
              <a:t>What goes wrong, and how Java reports it</a:t>
            </a:r>
            <a:endParaRPr lang="en-US" sz="1500" dirty="0"/>
          </a:p>
        </p:txBody>
      </p:sp>
      <p:sp>
        <p:nvSpPr>
          <p:cNvPr id="7" name="Text 5"/>
          <p:cNvSpPr txBox="1"/>
          <p:nvPr/>
        </p:nvSpPr>
        <p:spPr>
          <a:xfrm>
            <a:off x="548640" y="2816352"/>
            <a:ext cx="868680" cy="548640"/>
          </a:xfrm>
          <a:prstGeom prst="rect">
            <a:avLst/>
          </a:prstGeom>
          <a:noFill/>
          <a:ln/>
        </p:spPr>
        <p:txBody>
          <a:bodyPr wrap="square" lIns="0" tIns="0" rIns="0" bIns="0" rtlCol="0" anchor="t"/>
          <a:lstStyle/>
          <a:p>
            <a:pPr algn="l" indent="0" marL="0">
              <a:buNone/>
            </a:pPr>
            <a:r>
              <a:rPr lang="en-US" sz="3000" b="1" dirty="0">
                <a:solidFill>
                  <a:schemeClr val="accent1"/>
                </a:solidFill>
              </a:rPr>
              <a:t>02</a:t>
            </a:r>
            <a:endParaRPr lang="en-US" sz="3000" dirty="0"/>
          </a:p>
        </p:txBody>
      </p:sp>
      <p:sp>
        <p:nvSpPr>
          <p:cNvPr id="8" name="Text 6"/>
          <p:cNvSpPr txBox="1"/>
          <p:nvPr/>
        </p:nvSpPr>
        <p:spPr>
          <a:xfrm>
            <a:off x="1463040" y="2852928"/>
            <a:ext cx="5577840" cy="384048"/>
          </a:xfrm>
          <a:prstGeom prst="rect">
            <a:avLst/>
          </a:prstGeom>
          <a:noFill/>
          <a:ln/>
        </p:spPr>
        <p:txBody>
          <a:bodyPr wrap="square" lIns="0" tIns="0" rIns="0" bIns="0" rtlCol="0" anchor="t"/>
          <a:lstStyle/>
          <a:p>
            <a:pPr algn="l" indent="0" marL="0">
              <a:buNone/>
            </a:pPr>
            <a:r>
              <a:rPr lang="en-US" sz="2100" b="1" dirty="0">
                <a:solidFill>
                  <a:schemeClr val="tx1"/>
                </a:solidFill>
              </a:rPr>
              <a:t>try, catch and finally</a:t>
            </a:r>
            <a:endParaRPr lang="en-US" sz="2100" dirty="0"/>
          </a:p>
        </p:txBody>
      </p:sp>
      <p:sp>
        <p:nvSpPr>
          <p:cNvPr id="9" name="Text 7"/>
          <p:cNvSpPr txBox="1"/>
          <p:nvPr/>
        </p:nvSpPr>
        <p:spPr>
          <a:xfrm>
            <a:off x="1463040" y="3264408"/>
            <a:ext cx="5577840" cy="365760"/>
          </a:xfrm>
          <a:prstGeom prst="rect">
            <a:avLst/>
          </a:prstGeom>
          <a:noFill/>
          <a:ln/>
        </p:spPr>
        <p:txBody>
          <a:bodyPr wrap="square" lIns="0" tIns="0" rIns="0" bIns="0" rtlCol="0" anchor="t"/>
          <a:lstStyle/>
          <a:p>
            <a:pPr algn="l" indent="0" marL="0">
              <a:buNone/>
            </a:pPr>
            <a:r>
              <a:rPr lang="en-US" sz="1500" dirty="0">
                <a:solidFill>
                  <a:schemeClr val="tx2"/>
                </a:solidFill>
              </a:rPr>
              <a:t>Catching an exception so the program carries on</a:t>
            </a:r>
            <a:endParaRPr lang="en-US" sz="1500" dirty="0"/>
          </a:p>
        </p:txBody>
      </p:sp>
      <p:sp>
        <p:nvSpPr>
          <p:cNvPr id="10" name="Text 8"/>
          <p:cNvSpPr txBox="1"/>
          <p:nvPr/>
        </p:nvSpPr>
        <p:spPr>
          <a:xfrm>
            <a:off x="548640" y="3886200"/>
            <a:ext cx="868680" cy="548640"/>
          </a:xfrm>
          <a:prstGeom prst="rect">
            <a:avLst/>
          </a:prstGeom>
          <a:noFill/>
          <a:ln/>
        </p:spPr>
        <p:txBody>
          <a:bodyPr wrap="square" lIns="0" tIns="0" rIns="0" bIns="0" rtlCol="0" anchor="t"/>
          <a:lstStyle/>
          <a:p>
            <a:pPr algn="l" indent="0" marL="0">
              <a:buNone/>
            </a:pPr>
            <a:r>
              <a:rPr lang="en-US" sz="3000" b="1" dirty="0">
                <a:solidFill>
                  <a:schemeClr val="accent1"/>
                </a:solidFill>
              </a:rPr>
              <a:t>03</a:t>
            </a:r>
            <a:endParaRPr lang="en-US" sz="3000" dirty="0"/>
          </a:p>
        </p:txBody>
      </p:sp>
      <p:sp>
        <p:nvSpPr>
          <p:cNvPr id="11" name="Text 9"/>
          <p:cNvSpPr txBox="1"/>
          <p:nvPr/>
        </p:nvSpPr>
        <p:spPr>
          <a:xfrm>
            <a:off x="1463040" y="3922776"/>
            <a:ext cx="5577840" cy="384048"/>
          </a:xfrm>
          <a:prstGeom prst="rect">
            <a:avLst/>
          </a:prstGeom>
          <a:noFill/>
          <a:ln/>
        </p:spPr>
        <p:txBody>
          <a:bodyPr wrap="square" lIns="0" tIns="0" rIns="0" bIns="0" rtlCol="0" anchor="t"/>
          <a:lstStyle/>
          <a:p>
            <a:pPr algn="l" indent="0" marL="0">
              <a:buNone/>
            </a:pPr>
            <a:r>
              <a:rPr lang="en-US" sz="2100" b="1" dirty="0">
                <a:solidFill>
                  <a:schemeClr val="tx1"/>
                </a:solidFill>
              </a:rPr>
              <a:t>throw, throws and custom exceptions</a:t>
            </a:r>
            <a:endParaRPr lang="en-US" sz="2100" dirty="0"/>
          </a:p>
        </p:txBody>
      </p:sp>
      <p:sp>
        <p:nvSpPr>
          <p:cNvPr id="12" name="Text 10"/>
          <p:cNvSpPr txBox="1"/>
          <p:nvPr/>
        </p:nvSpPr>
        <p:spPr>
          <a:xfrm>
            <a:off x="1463040" y="4334256"/>
            <a:ext cx="5577840" cy="365760"/>
          </a:xfrm>
          <a:prstGeom prst="rect">
            <a:avLst/>
          </a:prstGeom>
          <a:noFill/>
          <a:ln/>
        </p:spPr>
        <p:txBody>
          <a:bodyPr wrap="square" lIns="0" tIns="0" rIns="0" bIns="0" rtlCol="0" anchor="t"/>
          <a:lstStyle/>
          <a:p>
            <a:pPr algn="l" indent="0" marL="0">
              <a:buNone/>
            </a:pPr>
            <a:r>
              <a:rPr lang="en-US" sz="1500" dirty="0">
                <a:solidFill>
                  <a:schemeClr val="tx2"/>
                </a:solidFill>
              </a:rPr>
              <a:t>Raising exceptions, passing them on, and making our own</a:t>
            </a:r>
            <a:endParaRPr lang="en-US" sz="1500" dirty="0"/>
          </a:p>
        </p:txBody>
      </p:sp>
      <p:sp>
        <p:nvSpPr>
          <p:cNvPr id="13" name="Text 11"/>
          <p:cNvSpPr txBox="1"/>
          <p:nvPr/>
        </p:nvSpPr>
        <p:spPr>
          <a:xfrm>
            <a:off x="548640" y="4956048"/>
            <a:ext cx="868680" cy="548640"/>
          </a:xfrm>
          <a:prstGeom prst="rect">
            <a:avLst/>
          </a:prstGeom>
          <a:noFill/>
          <a:ln/>
        </p:spPr>
        <p:txBody>
          <a:bodyPr wrap="square" lIns="0" tIns="0" rIns="0" bIns="0" rtlCol="0" anchor="t"/>
          <a:lstStyle/>
          <a:p>
            <a:pPr algn="l" indent="0" marL="0">
              <a:buNone/>
            </a:pPr>
            <a:r>
              <a:rPr lang="en-US" sz="3000" b="1" dirty="0">
                <a:solidFill>
                  <a:schemeClr val="accent1"/>
                </a:solidFill>
              </a:rPr>
              <a:t>04</a:t>
            </a:r>
            <a:endParaRPr lang="en-US" sz="3000" dirty="0"/>
          </a:p>
        </p:txBody>
      </p:sp>
      <p:sp>
        <p:nvSpPr>
          <p:cNvPr id="14" name="Text 12"/>
          <p:cNvSpPr txBox="1"/>
          <p:nvPr/>
        </p:nvSpPr>
        <p:spPr>
          <a:xfrm>
            <a:off x="1463040" y="4992624"/>
            <a:ext cx="5577840" cy="384048"/>
          </a:xfrm>
          <a:prstGeom prst="rect">
            <a:avLst/>
          </a:prstGeom>
          <a:noFill/>
          <a:ln/>
        </p:spPr>
        <p:txBody>
          <a:bodyPr wrap="square" lIns="0" tIns="0" rIns="0" bIns="0" rtlCol="0" anchor="t"/>
          <a:lstStyle/>
          <a:p>
            <a:pPr algn="l" indent="0" marL="0">
              <a:buNone/>
            </a:pPr>
            <a:r>
              <a:rPr lang="en-US" sz="2100" b="1" dirty="0">
                <a:solidFill>
                  <a:schemeClr val="tx1"/>
                </a:solidFill>
              </a:rPr>
              <a:t>assert and safe input</a:t>
            </a:r>
            <a:endParaRPr lang="en-US" sz="2100" dirty="0"/>
          </a:p>
        </p:txBody>
      </p:sp>
      <p:sp>
        <p:nvSpPr>
          <p:cNvPr id="15" name="Text 13"/>
          <p:cNvSpPr txBox="1"/>
          <p:nvPr/>
        </p:nvSpPr>
        <p:spPr>
          <a:xfrm>
            <a:off x="1463040" y="5404104"/>
            <a:ext cx="5577840" cy="365760"/>
          </a:xfrm>
          <a:prstGeom prst="rect">
            <a:avLst/>
          </a:prstGeom>
          <a:noFill/>
          <a:ln/>
        </p:spPr>
        <p:txBody>
          <a:bodyPr wrap="square" lIns="0" tIns="0" rIns="0" bIns="0" rtlCol="0" anchor="t"/>
          <a:lstStyle/>
          <a:p>
            <a:pPr algn="l" indent="0" marL="0">
              <a:buNone/>
            </a:pPr>
            <a:r>
              <a:rPr lang="en-US" sz="1500" dirty="0">
                <a:solidFill>
                  <a:schemeClr val="tx2"/>
                </a:solidFill>
              </a:rPr>
              <a:t>Checking our own logic, and the data users type</a:t>
            </a:r>
            <a:endParaRPr lang="en-US" sz="1500" dirty="0"/>
          </a:p>
        </p:txBody>
      </p:sp>
      <p:sp>
        <p:nvSpPr>
          <p:cNvPr id="16" name="How it works"/>
          <p:cNvSpPr/>
          <p:nvPr/>
        </p:nvSpPr>
        <p:spPr>
          <a:xfrm>
            <a:off x="7543800" y="1783080"/>
            <a:ext cx="4099255" cy="4160520"/>
          </a:xfrm>
          <a:prstGeom prst="roundRect">
            <a:avLst>
              <a:gd name="adj" fmla="val 2677"/>
            </a:avLst>
          </a:prstGeom>
          <a:solidFill>
            <a:schemeClr val="bg2"/>
          </a:solidFill>
          <a:ln/>
        </p:spPr>
      </p:sp>
      <p:sp>
        <p:nvSpPr>
          <p:cNvPr id="17" name="Text 15"/>
          <p:cNvSpPr txBox="1"/>
          <p:nvPr/>
        </p:nvSpPr>
        <p:spPr>
          <a:xfrm>
            <a:off x="7909560" y="2103120"/>
            <a:ext cx="3367735" cy="411480"/>
          </a:xfrm>
          <a:prstGeom prst="rect">
            <a:avLst/>
          </a:prstGeom>
          <a:noFill/>
          <a:ln/>
        </p:spPr>
        <p:txBody>
          <a:bodyPr wrap="square" lIns="0" tIns="0" rIns="0" bIns="0" rtlCol="0" anchor="t"/>
          <a:lstStyle/>
          <a:p>
            <a:pPr algn="l" indent="0" marL="0">
              <a:buNone/>
            </a:pPr>
            <a:r>
              <a:rPr lang="en-US" sz="1900" b="1" dirty="0">
                <a:solidFill>
                  <a:schemeClr val="tx1"/>
                </a:solidFill>
              </a:rPr>
              <a:t>How each topic works</a:t>
            </a:r>
            <a:endParaRPr lang="en-US" sz="1900" dirty="0"/>
          </a:p>
        </p:txBody>
      </p:sp>
      <p:sp>
        <p:nvSpPr>
          <p:cNvPr id="18" name="Icon tile"/>
          <p:cNvSpPr/>
          <p:nvPr/>
        </p:nvSpPr>
        <p:spPr>
          <a:xfrm>
            <a:off x="7909560" y="2788920"/>
            <a:ext cx="603504" cy="603504"/>
          </a:xfrm>
          <a:prstGeom prst="roundRect">
            <a:avLst>
              <a:gd name="adj" fmla="val 24000"/>
            </a:avLst>
          </a:prstGeom>
          <a:solidFill>
            <a:schemeClr val="accent2">
              <a:alpha val="14000"/>
            </a:schemeClr>
          </a:solidFill>
          <a:ln/>
        </p:spPr>
      </p:sp>
      <p:pic>
        <p:nvPicPr>
          <p:cNvPr id="19" name="Image 0" descr="book open text icon">    </p:cNvPr>
          <p:cNvPicPr>
            <a:picLocks noChangeAspect="1"/>
          </p:cNvPicPr>
          <p:nvPr/>
        </p:nvPicPr>
        <p:blipFill>
          <a:blip r:embed="rId1"/>
          <a:stretch>
            <a:fillRect/>
          </a:stretch>
        </p:blipFill>
        <p:spPr>
          <a:xfrm>
            <a:off x="8036296" y="2915656"/>
            <a:ext cx="350032" cy="350032"/>
          </a:xfrm>
          <a:prstGeom prst="rect">
            <a:avLst/>
          </a:prstGeom>
        </p:spPr>
      </p:pic>
      <p:sp>
        <p:nvSpPr>
          <p:cNvPr id="20" name="Text 17"/>
          <p:cNvSpPr txBox="1"/>
          <p:nvPr/>
        </p:nvSpPr>
        <p:spPr>
          <a:xfrm>
            <a:off x="8732520" y="2752344"/>
            <a:ext cx="2590495" cy="676656"/>
          </a:xfrm>
          <a:prstGeom prst="rect">
            <a:avLst/>
          </a:prstGeom>
          <a:noFill/>
          <a:ln/>
        </p:spPr>
        <p:txBody>
          <a:bodyPr wrap="square" lIns="0" tIns="0" rIns="0" bIns="0" rtlCol="0" anchor="ctr"/>
          <a:lstStyle/>
          <a:p>
            <a:pPr algn="l" indent="0" marL="0">
              <a:buNone/>
            </a:pPr>
            <a:r>
              <a:rPr lang="en-US" sz="1600" dirty="0">
                <a:solidFill>
                  <a:schemeClr val="tx1"/>
                </a:solidFill>
              </a:rPr>
              <a:t>Read the idea and look at the example</a:t>
            </a:r>
            <a:endParaRPr lang="en-US" sz="1600" dirty="0"/>
          </a:p>
        </p:txBody>
      </p:sp>
      <p:sp>
        <p:nvSpPr>
          <p:cNvPr id="21" name="Icon tile"/>
          <p:cNvSpPr/>
          <p:nvPr/>
        </p:nvSpPr>
        <p:spPr>
          <a:xfrm>
            <a:off x="7909560" y="3776472"/>
            <a:ext cx="603504" cy="603504"/>
          </a:xfrm>
          <a:prstGeom prst="roundRect">
            <a:avLst>
              <a:gd name="adj" fmla="val 24000"/>
            </a:avLst>
          </a:prstGeom>
          <a:solidFill>
            <a:schemeClr val="accent2">
              <a:alpha val="14000"/>
            </a:schemeClr>
          </a:solidFill>
          <a:ln/>
        </p:spPr>
      </p:sp>
      <p:pic>
        <p:nvPicPr>
          <p:cNvPr id="22" name="Image 1" descr="cursor click icon">    </p:cNvPr>
          <p:cNvPicPr>
            <a:picLocks noChangeAspect="1"/>
          </p:cNvPicPr>
          <p:nvPr/>
        </p:nvPicPr>
        <p:blipFill>
          <a:blip r:embed="rId2"/>
          <a:stretch>
            <a:fillRect/>
          </a:stretch>
        </p:blipFill>
        <p:spPr>
          <a:xfrm>
            <a:off x="8036296" y="3903208"/>
            <a:ext cx="350032" cy="350032"/>
          </a:xfrm>
          <a:prstGeom prst="rect">
            <a:avLst/>
          </a:prstGeom>
        </p:spPr>
      </p:pic>
      <p:sp>
        <p:nvSpPr>
          <p:cNvPr id="23" name="Text 19"/>
          <p:cNvSpPr txBox="1"/>
          <p:nvPr/>
        </p:nvSpPr>
        <p:spPr>
          <a:xfrm>
            <a:off x="8732520" y="3739896"/>
            <a:ext cx="2590495" cy="676656"/>
          </a:xfrm>
          <a:prstGeom prst="rect">
            <a:avLst/>
          </a:prstGeom>
          <a:noFill/>
          <a:ln/>
        </p:spPr>
        <p:txBody>
          <a:bodyPr wrap="square" lIns="0" tIns="0" rIns="0" bIns="0" rtlCol="0" anchor="ctr"/>
          <a:lstStyle/>
          <a:p>
            <a:pPr algn="l" indent="0" marL="0">
              <a:buNone/>
            </a:pPr>
            <a:r>
              <a:rPr lang="en-US" sz="1600" dirty="0">
                <a:solidFill>
                  <a:schemeClr val="tx1"/>
                </a:solidFill>
              </a:rPr>
              <a:t>Try the quick check: A, B, C or D?</a:t>
            </a:r>
            <a:endParaRPr lang="en-US" sz="1600" dirty="0"/>
          </a:p>
        </p:txBody>
      </p:sp>
      <p:sp>
        <p:nvSpPr>
          <p:cNvPr id="24" name="Icon tile"/>
          <p:cNvSpPr/>
          <p:nvPr/>
        </p:nvSpPr>
        <p:spPr>
          <a:xfrm>
            <a:off x="7909560" y="4764024"/>
            <a:ext cx="603504" cy="603504"/>
          </a:xfrm>
          <a:prstGeom prst="roundRect">
            <a:avLst>
              <a:gd name="adj" fmla="val 24000"/>
            </a:avLst>
          </a:prstGeom>
          <a:solidFill>
            <a:schemeClr val="accent2">
              <a:alpha val="14000"/>
            </a:schemeClr>
          </a:solidFill>
          <a:ln/>
        </p:spPr>
      </p:sp>
      <p:pic>
        <p:nvPicPr>
          <p:cNvPr id="25" name="Image 2" descr="check circle icon">    </p:cNvPr>
          <p:cNvPicPr>
            <a:picLocks noChangeAspect="1"/>
          </p:cNvPicPr>
          <p:nvPr/>
        </p:nvPicPr>
        <p:blipFill>
          <a:blip r:embed="rId3"/>
          <a:stretch>
            <a:fillRect/>
          </a:stretch>
        </p:blipFill>
        <p:spPr>
          <a:xfrm>
            <a:off x="8036296" y="4890760"/>
            <a:ext cx="350032" cy="350032"/>
          </a:xfrm>
          <a:prstGeom prst="rect">
            <a:avLst/>
          </a:prstGeom>
        </p:spPr>
      </p:pic>
      <p:sp>
        <p:nvSpPr>
          <p:cNvPr id="26" name="Text 21"/>
          <p:cNvSpPr txBox="1"/>
          <p:nvPr/>
        </p:nvSpPr>
        <p:spPr>
          <a:xfrm>
            <a:off x="8732520" y="4727448"/>
            <a:ext cx="2590495" cy="676656"/>
          </a:xfrm>
          <a:prstGeom prst="rect">
            <a:avLst/>
          </a:prstGeom>
          <a:noFill/>
          <a:ln/>
        </p:spPr>
        <p:txBody>
          <a:bodyPr wrap="square" lIns="0" tIns="0" rIns="0" bIns="0" rtlCol="0" anchor="ctr"/>
          <a:lstStyle/>
          <a:p>
            <a:pPr algn="l" indent="0" marL="0">
              <a:buNone/>
            </a:pPr>
            <a:r>
              <a:rPr lang="en-US" sz="1600" dirty="0">
                <a:solidFill>
                  <a:schemeClr val="tx1"/>
                </a:solidFill>
              </a:rPr>
              <a:t>See the answer, and why, on the next slide</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US" sz="9600" b="1" dirty="0">
                <a:solidFill>
                  <a:schemeClr val="accent1"/>
                </a:solidFill>
              </a:rPr>
              <a:t>01</a:t>
            </a: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US" sz="4400" b="1" dirty="0">
                <a:solidFill>
                  <a:schemeClr val="bg1"/>
                </a:solidFill>
              </a:rPr>
              <a:t>Errors and exceptions</a:t>
            </a: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US" sz="2000" dirty="0">
                <a:solidFill>
                  <a:schemeClr val="bg2"/>
                </a:solidFill>
              </a:rPr>
              <a:t>What goes wrong, and how Java reports it</a:t>
            </a:r>
            <a:endParaRPr lang="en-US" sz="2000" dirty="0"/>
          </a:p>
        </p:txBody>
      </p:sp>
      <p:sp>
        <p:nvSpPr>
          <p:cNvPr id="5" name="Topic chip"/>
          <p:cNvSpPr/>
          <p:nvPr/>
        </p:nvSpPr>
        <p:spPr>
          <a:xfrm>
            <a:off x="822960" y="4846320"/>
            <a:ext cx="1419743"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Error types</a:t>
            </a:r>
            <a:endParaRPr lang="en-US" sz="1400" dirty="0"/>
          </a:p>
        </p:txBody>
      </p:sp>
      <p:sp>
        <p:nvSpPr>
          <p:cNvPr id="6" name="Topic chip"/>
          <p:cNvSpPr/>
          <p:nvPr/>
        </p:nvSpPr>
        <p:spPr>
          <a:xfrm>
            <a:off x="2389007" y="4846320"/>
            <a:ext cx="13272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Exceptions</a:t>
            </a:r>
            <a:endParaRPr lang="en-US" sz="1400" dirty="0"/>
          </a:p>
        </p:txBody>
      </p:sp>
      <p:sp>
        <p:nvSpPr>
          <p:cNvPr id="7" name="Topic chip"/>
          <p:cNvSpPr/>
          <p:nvPr/>
        </p:nvSpPr>
        <p:spPr>
          <a:xfrm>
            <a:off x="3862563" y="4846320"/>
            <a:ext cx="1049777"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Checked</a:t>
            </a:r>
            <a:endParaRPr lang="en-US" sz="1400" dirty="0"/>
          </a:p>
        </p:txBody>
      </p:sp>
      <p:sp>
        <p:nvSpPr>
          <p:cNvPr id="8" name="Topic chip"/>
          <p:cNvSpPr/>
          <p:nvPr/>
        </p:nvSpPr>
        <p:spPr>
          <a:xfrm>
            <a:off x="5058644" y="4846320"/>
            <a:ext cx="1234760"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Unchecked</a:t>
            </a:r>
            <a:endParaRPr lang="en-US" sz="1400" dirty="0"/>
          </a:p>
        </p:txBody>
      </p:sp>
      <p:pic>
        <p:nvPicPr>
          <p:cNvPr id="9" name="Image 0"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ERRORS AND EXCEPTIONS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Three kinds of error</a:t>
            </a:r>
            <a:endParaRPr lang="en-US" sz="3400" dirty="0"/>
          </a:p>
        </p:txBody>
      </p:sp>
      <p:sp>
        <p:nvSpPr>
          <p:cNvPr id="5" name="Syntax error"/>
          <p:cNvSpPr/>
          <p:nvPr/>
        </p:nvSpPr>
        <p:spPr>
          <a:xfrm>
            <a:off x="548640" y="1737360"/>
            <a:ext cx="3514954" cy="4114800"/>
          </a:xfrm>
          <a:prstGeom prst="roundRect">
            <a:avLst>
              <a:gd name="adj" fmla="val 3122"/>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2011680"/>
            <a:ext cx="548640" cy="548640"/>
          </a:xfrm>
          <a:prstGeom prst="roundRect">
            <a:avLst>
              <a:gd name="adj" fmla="val 24000"/>
            </a:avLst>
          </a:prstGeom>
          <a:solidFill>
            <a:schemeClr val="accent5">
              <a:alpha val="14000"/>
            </a:schemeClr>
          </a:solidFill>
          <a:ln/>
        </p:spPr>
      </p:sp>
      <p:pic>
        <p:nvPicPr>
          <p:cNvPr id="7" name="Image 0" descr="code icon">    </p:cNvPr>
          <p:cNvPicPr>
            <a:picLocks noChangeAspect="1"/>
          </p:cNvPicPr>
          <p:nvPr/>
        </p:nvPicPr>
        <p:blipFill>
          <a:blip r:embed="rId1"/>
          <a:stretch>
            <a:fillRect/>
          </a:stretch>
        </p:blipFill>
        <p:spPr>
          <a:xfrm>
            <a:off x="938174" y="2126894"/>
            <a:ext cx="318211" cy="318211"/>
          </a:xfrm>
          <a:prstGeom prst="rect">
            <a:avLst/>
          </a:prstGeom>
        </p:spPr>
      </p:pic>
      <p:sp>
        <p:nvSpPr>
          <p:cNvPr id="8" name="Text 4"/>
          <p:cNvSpPr txBox="1"/>
          <p:nvPr/>
        </p:nvSpPr>
        <p:spPr>
          <a:xfrm>
            <a:off x="822960" y="2670048"/>
            <a:ext cx="2966314" cy="457200"/>
          </a:xfrm>
          <a:prstGeom prst="rect">
            <a:avLst/>
          </a:prstGeom>
          <a:noFill/>
          <a:ln/>
        </p:spPr>
        <p:txBody>
          <a:bodyPr wrap="square" lIns="0" tIns="0" rIns="0" bIns="0" rtlCol="0" anchor="ctr"/>
          <a:lstStyle/>
          <a:p>
            <a:pPr algn="l" indent="0" marL="0">
              <a:buNone/>
            </a:pPr>
            <a:r>
              <a:rPr lang="en-US" sz="1900" b="1" dirty="0">
                <a:solidFill>
                  <a:schemeClr val="tx1"/>
                </a:solidFill>
              </a:rPr>
              <a:t>Syntax error</a:t>
            </a:r>
            <a:endParaRPr lang="en-US" sz="1900" dirty="0"/>
          </a:p>
        </p:txBody>
      </p:sp>
      <p:sp>
        <p:nvSpPr>
          <p:cNvPr id="9" name="Text 5"/>
          <p:cNvSpPr txBox="1"/>
          <p:nvPr/>
        </p:nvSpPr>
        <p:spPr>
          <a:xfrm>
            <a:off x="822960" y="3172968"/>
            <a:ext cx="2966314" cy="960120"/>
          </a:xfrm>
          <a:prstGeom prst="rect">
            <a:avLst/>
          </a:prstGeom>
          <a:noFill/>
          <a:ln/>
        </p:spPr>
        <p:txBody>
          <a:bodyPr wrap="square" lIns="0" tIns="0" rIns="0" bIns="0" rtlCol="0" anchor="t"/>
          <a:lstStyle/>
          <a:p>
            <a:pPr algn="l" indent="0" marL="0">
              <a:buNone/>
            </a:pPr>
            <a:r>
              <a:rPr lang="en-US" sz="1500" dirty="0">
                <a:solidFill>
                  <a:schemeClr val="tx2"/>
                </a:solidFill>
              </a:rPr>
              <a:t>Breaks the rules of Java, like a missing semicolon. The compiler won’t build the program.</a:t>
            </a:r>
            <a:endParaRPr lang="en-US" sz="1500" dirty="0"/>
          </a:p>
        </p:txBody>
      </p:sp>
      <p:sp>
        <p:nvSpPr>
          <p:cNvPr id="10" name="Text 6"/>
          <p:cNvSpPr txBox="1"/>
          <p:nvPr/>
        </p:nvSpPr>
        <p:spPr>
          <a:xfrm>
            <a:off x="822960" y="4224528"/>
            <a:ext cx="2966314" cy="274320"/>
          </a:xfrm>
          <a:prstGeom prst="rect">
            <a:avLst/>
          </a:prstGeom>
          <a:noFill/>
          <a:ln/>
        </p:spPr>
        <p:txBody>
          <a:bodyPr wrap="square" lIns="0" tIns="0" rIns="0" bIns="0" rtlCol="0" anchor="t"/>
          <a:lstStyle/>
          <a:p>
            <a:pPr algn="l" indent="0" marL="0">
              <a:buNone/>
            </a:pPr>
            <a:r>
              <a:rPr lang="en-US" sz="1300" b="1" dirty="0">
                <a:solidFill>
                  <a:schemeClr val="tx2"/>
                </a:solidFill>
              </a:rPr>
              <a:t>Example</a:t>
            </a:r>
            <a:endParaRPr lang="en-US" sz="1300" dirty="0"/>
          </a:p>
        </p:txBody>
      </p:sp>
      <p:sp>
        <p:nvSpPr>
          <p:cNvPr id="11" name="Code chip"/>
          <p:cNvSpPr/>
          <p:nvPr/>
        </p:nvSpPr>
        <p:spPr>
          <a:xfrm>
            <a:off x="822960" y="4526280"/>
            <a:ext cx="2966314" cy="502920"/>
          </a:xfrm>
          <a:prstGeom prst="roundRect">
            <a:avLst>
              <a:gd name="adj" fmla="val 14545"/>
            </a:avLst>
          </a:prstGeom>
          <a:solidFill>
            <a:schemeClr val="bg2"/>
          </a:solidFill>
          <a:ln/>
        </p:spPr>
        <p:txBody>
          <a:bodyPr wrap="square" lIns="0" tIns="0" rIns="0" bIns="0" rtlCol="0" anchor="ctr"/>
          <a:lstStyle/>
          <a:p>
            <a:pPr algn="ctr" indent="0" marL="0">
              <a:buNone/>
            </a:pPr>
            <a:r>
              <a:rPr lang="en-US" sz="1500" dirty="0">
                <a:solidFill>
                  <a:schemeClr val="accent2"/>
                </a:solidFill>
                <a:latin typeface="Consolas" pitchFamily="34" charset="0"/>
                <a:ea typeface="Consolas" pitchFamily="34" charset="-122"/>
                <a:cs typeface="Consolas" pitchFamily="34" charset="-120"/>
              </a:rPr>
              <a:t>int x = 5</a:t>
            </a:r>
            <a:endParaRPr lang="en-US" sz="1500" dirty="0"/>
          </a:p>
        </p:txBody>
      </p:sp>
      <p:pic>
        <p:nvPicPr>
          <p:cNvPr id="12" name="Image 1" descr="Does not work">    </p:cNvPr>
          <p:cNvPicPr>
            <a:picLocks noChangeAspect="1"/>
          </p:cNvPicPr>
          <p:nvPr/>
        </p:nvPicPr>
        <p:blipFill>
          <a:blip r:embed="rId2"/>
          <a:stretch>
            <a:fillRect/>
          </a:stretch>
        </p:blipFill>
        <p:spPr>
          <a:xfrm>
            <a:off x="822960" y="5212080"/>
            <a:ext cx="347472" cy="347472"/>
          </a:xfrm>
          <a:prstGeom prst="rect">
            <a:avLst/>
          </a:prstGeom>
        </p:spPr>
      </p:pic>
      <p:sp>
        <p:nvSpPr>
          <p:cNvPr id="13" name="Text 8"/>
          <p:cNvSpPr txBox="1"/>
          <p:nvPr/>
        </p:nvSpPr>
        <p:spPr>
          <a:xfrm>
            <a:off x="1280160" y="5193792"/>
            <a:ext cx="2600554" cy="384048"/>
          </a:xfrm>
          <a:prstGeom prst="rect">
            <a:avLst/>
          </a:prstGeom>
          <a:noFill/>
          <a:ln/>
        </p:spPr>
        <p:txBody>
          <a:bodyPr wrap="square" lIns="0" tIns="0" rIns="0" bIns="0" rtlCol="0" anchor="ctr"/>
          <a:lstStyle/>
          <a:p>
            <a:pPr algn="l" indent="0" marL="0">
              <a:buNone/>
            </a:pPr>
            <a:r>
              <a:rPr lang="en-US" sz="1400" b="1" dirty="0">
                <a:solidFill>
                  <a:srgbClr val="C0392B"/>
                </a:solidFill>
              </a:rPr>
              <a:t>Compiler: ';' expected</a:t>
            </a:r>
            <a:endParaRPr lang="en-US" sz="1400" dirty="0"/>
          </a:p>
        </p:txBody>
      </p:sp>
      <p:sp>
        <p:nvSpPr>
          <p:cNvPr id="14" name="Logic error"/>
          <p:cNvSpPr/>
          <p:nvPr/>
        </p:nvSpPr>
        <p:spPr>
          <a:xfrm>
            <a:off x="4337914" y="1737360"/>
            <a:ext cx="3514954" cy="4114800"/>
          </a:xfrm>
          <a:prstGeom prst="roundRect">
            <a:avLst>
              <a:gd name="adj" fmla="val 3122"/>
            </a:avLst>
          </a:prstGeom>
          <a:solidFill>
            <a:schemeClr val="bg1"/>
          </a:solidFill>
          <a:ln/>
          <a:effectLst>
            <a:outerShdw sx="100000" sy="100000" kx="0" ky="0" algn="bl" rotWithShape="0" blurRad="114300" dist="31750" dir="5400000">
              <a:srgbClr val="1D2433">
                <a:alpha val="12000"/>
              </a:srgbClr>
            </a:outerShdw>
          </a:effectLst>
        </p:spPr>
      </p:sp>
      <p:sp>
        <p:nvSpPr>
          <p:cNvPr id="15" name="Icon tile"/>
          <p:cNvSpPr/>
          <p:nvPr/>
        </p:nvSpPr>
        <p:spPr>
          <a:xfrm>
            <a:off x="4612234" y="2011680"/>
            <a:ext cx="548640" cy="548640"/>
          </a:xfrm>
          <a:prstGeom prst="roundRect">
            <a:avLst>
              <a:gd name="adj" fmla="val 24000"/>
            </a:avLst>
          </a:prstGeom>
          <a:solidFill>
            <a:schemeClr val="accent1">
              <a:alpha val="14000"/>
            </a:schemeClr>
          </a:solidFill>
          <a:ln/>
        </p:spPr>
      </p:sp>
      <p:pic>
        <p:nvPicPr>
          <p:cNvPr id="16" name="Image 2" descr="calculator icon">    </p:cNvPr>
          <p:cNvPicPr>
            <a:picLocks noChangeAspect="1"/>
          </p:cNvPicPr>
          <p:nvPr/>
        </p:nvPicPr>
        <p:blipFill>
          <a:blip r:embed="rId3"/>
          <a:stretch>
            <a:fillRect/>
          </a:stretch>
        </p:blipFill>
        <p:spPr>
          <a:xfrm>
            <a:off x="4727448" y="2126894"/>
            <a:ext cx="318211" cy="318211"/>
          </a:xfrm>
          <a:prstGeom prst="rect">
            <a:avLst/>
          </a:prstGeom>
        </p:spPr>
      </p:pic>
      <p:sp>
        <p:nvSpPr>
          <p:cNvPr id="17" name="Text 11"/>
          <p:cNvSpPr txBox="1"/>
          <p:nvPr/>
        </p:nvSpPr>
        <p:spPr>
          <a:xfrm>
            <a:off x="4612234" y="2670048"/>
            <a:ext cx="2966314" cy="457200"/>
          </a:xfrm>
          <a:prstGeom prst="rect">
            <a:avLst/>
          </a:prstGeom>
          <a:noFill/>
          <a:ln/>
        </p:spPr>
        <p:txBody>
          <a:bodyPr wrap="square" lIns="0" tIns="0" rIns="0" bIns="0" rtlCol="0" anchor="ctr"/>
          <a:lstStyle/>
          <a:p>
            <a:pPr algn="l" indent="0" marL="0">
              <a:buNone/>
            </a:pPr>
            <a:r>
              <a:rPr lang="en-US" sz="1900" b="1" dirty="0">
                <a:solidFill>
                  <a:schemeClr val="tx1"/>
                </a:solidFill>
              </a:rPr>
              <a:t>Logic error</a:t>
            </a:r>
            <a:endParaRPr lang="en-US" sz="1900" dirty="0"/>
          </a:p>
        </p:txBody>
      </p:sp>
      <p:sp>
        <p:nvSpPr>
          <p:cNvPr id="18" name="Text 12"/>
          <p:cNvSpPr txBox="1"/>
          <p:nvPr/>
        </p:nvSpPr>
        <p:spPr>
          <a:xfrm>
            <a:off x="4612234" y="3172968"/>
            <a:ext cx="2966314" cy="960120"/>
          </a:xfrm>
          <a:prstGeom prst="rect">
            <a:avLst/>
          </a:prstGeom>
          <a:noFill/>
          <a:ln/>
        </p:spPr>
        <p:txBody>
          <a:bodyPr wrap="square" lIns="0" tIns="0" rIns="0" bIns="0" rtlCol="0" anchor="t"/>
          <a:lstStyle/>
          <a:p>
            <a:pPr algn="l" indent="0" marL="0">
              <a:buNone/>
            </a:pPr>
            <a:r>
              <a:rPr lang="en-US" sz="1500" dirty="0">
                <a:solidFill>
                  <a:schemeClr val="tx2"/>
                </a:solidFill>
              </a:rPr>
              <a:t>The program runs, but does the wrong thing. Only testing finds it.</a:t>
            </a:r>
            <a:endParaRPr lang="en-US" sz="1500" dirty="0"/>
          </a:p>
        </p:txBody>
      </p:sp>
      <p:sp>
        <p:nvSpPr>
          <p:cNvPr id="19" name="Text 13"/>
          <p:cNvSpPr txBox="1"/>
          <p:nvPr/>
        </p:nvSpPr>
        <p:spPr>
          <a:xfrm>
            <a:off x="4612234" y="4224528"/>
            <a:ext cx="2966314" cy="274320"/>
          </a:xfrm>
          <a:prstGeom prst="rect">
            <a:avLst/>
          </a:prstGeom>
          <a:noFill/>
          <a:ln/>
        </p:spPr>
        <p:txBody>
          <a:bodyPr wrap="square" lIns="0" tIns="0" rIns="0" bIns="0" rtlCol="0" anchor="t"/>
          <a:lstStyle/>
          <a:p>
            <a:pPr algn="l" indent="0" marL="0">
              <a:buNone/>
            </a:pPr>
            <a:r>
              <a:rPr lang="en-US" sz="1300" b="1" dirty="0">
                <a:solidFill>
                  <a:schemeClr val="tx2"/>
                </a:solidFill>
              </a:rPr>
              <a:t>Example</a:t>
            </a:r>
            <a:endParaRPr lang="en-US" sz="1300" dirty="0"/>
          </a:p>
        </p:txBody>
      </p:sp>
      <p:sp>
        <p:nvSpPr>
          <p:cNvPr id="20" name="Code chip"/>
          <p:cNvSpPr/>
          <p:nvPr/>
        </p:nvSpPr>
        <p:spPr>
          <a:xfrm>
            <a:off x="4612234" y="4526280"/>
            <a:ext cx="2966314" cy="502920"/>
          </a:xfrm>
          <a:prstGeom prst="roundRect">
            <a:avLst>
              <a:gd name="adj" fmla="val 14545"/>
            </a:avLst>
          </a:prstGeom>
          <a:solidFill>
            <a:schemeClr val="bg2"/>
          </a:solidFill>
          <a:ln/>
        </p:spPr>
        <p:txBody>
          <a:bodyPr wrap="square" lIns="0" tIns="0" rIns="0" bIns="0" rtlCol="0" anchor="ctr"/>
          <a:lstStyle/>
          <a:p>
            <a:pPr algn="ctr" indent="0" marL="0">
              <a:buNone/>
            </a:pPr>
            <a:r>
              <a:rPr lang="en-US" sz="1500" dirty="0">
                <a:solidFill>
                  <a:schemeClr val="accent2"/>
                </a:solidFill>
                <a:latin typeface="Consolas" pitchFamily="34" charset="0"/>
                <a:ea typeface="Consolas" pitchFamily="34" charset="-122"/>
                <a:cs typeface="Consolas" pitchFamily="34" charset="-120"/>
              </a:rPr>
              <a:t>avg = a + b / 2;</a:t>
            </a:r>
            <a:endParaRPr lang="en-US" sz="1500" dirty="0"/>
          </a:p>
        </p:txBody>
      </p:sp>
      <p:pic>
        <p:nvPicPr>
          <p:cNvPr id="21" name="Image 3" descr="Does not work">    </p:cNvPr>
          <p:cNvPicPr>
            <a:picLocks noChangeAspect="1"/>
          </p:cNvPicPr>
          <p:nvPr/>
        </p:nvPicPr>
        <p:blipFill>
          <a:blip r:embed="rId4"/>
          <a:stretch>
            <a:fillRect/>
          </a:stretch>
        </p:blipFill>
        <p:spPr>
          <a:xfrm>
            <a:off x="4612234" y="5212080"/>
            <a:ext cx="347472" cy="347472"/>
          </a:xfrm>
          <a:prstGeom prst="rect">
            <a:avLst/>
          </a:prstGeom>
        </p:spPr>
      </p:pic>
      <p:sp>
        <p:nvSpPr>
          <p:cNvPr id="22" name="Text 15"/>
          <p:cNvSpPr txBox="1"/>
          <p:nvPr/>
        </p:nvSpPr>
        <p:spPr>
          <a:xfrm>
            <a:off x="5069434" y="5193792"/>
            <a:ext cx="2600554" cy="384048"/>
          </a:xfrm>
          <a:prstGeom prst="rect">
            <a:avLst/>
          </a:prstGeom>
          <a:noFill/>
          <a:ln/>
        </p:spPr>
        <p:txBody>
          <a:bodyPr wrap="square" lIns="0" tIns="0" rIns="0" bIns="0" rtlCol="0" anchor="ctr"/>
          <a:lstStyle/>
          <a:p>
            <a:pPr algn="l" indent="0" marL="0">
              <a:buNone/>
            </a:pPr>
            <a:r>
              <a:rPr lang="en-US" sz="1400" b="1" dirty="0">
                <a:solidFill>
                  <a:srgbClr val="C0392B"/>
                </a:solidFill>
              </a:rPr>
              <a:t>4 and 6 give 7, not 5</a:t>
            </a:r>
            <a:endParaRPr lang="en-US" sz="1400" dirty="0"/>
          </a:p>
        </p:txBody>
      </p:sp>
      <p:sp>
        <p:nvSpPr>
          <p:cNvPr id="23" name="Runtime error"/>
          <p:cNvSpPr/>
          <p:nvPr/>
        </p:nvSpPr>
        <p:spPr>
          <a:xfrm>
            <a:off x="8127187" y="1737360"/>
            <a:ext cx="3514954" cy="4114800"/>
          </a:xfrm>
          <a:prstGeom prst="roundRect">
            <a:avLst>
              <a:gd name="adj" fmla="val 3122"/>
            </a:avLst>
          </a:prstGeom>
          <a:solidFill>
            <a:schemeClr val="bg1"/>
          </a:solidFill>
          <a:ln/>
          <a:effectLst>
            <a:outerShdw sx="100000" sy="100000" kx="0" ky="0" algn="bl" rotWithShape="0" blurRad="114300" dist="31750" dir="5400000">
              <a:srgbClr val="1D2433">
                <a:alpha val="12000"/>
              </a:srgbClr>
            </a:outerShdw>
          </a:effectLst>
        </p:spPr>
      </p:sp>
      <p:sp>
        <p:nvSpPr>
          <p:cNvPr id="24" name="Icon tile"/>
          <p:cNvSpPr/>
          <p:nvPr/>
        </p:nvSpPr>
        <p:spPr>
          <a:xfrm>
            <a:off x="8401507" y="2011680"/>
            <a:ext cx="548640" cy="548640"/>
          </a:xfrm>
          <a:prstGeom prst="roundRect">
            <a:avLst>
              <a:gd name="adj" fmla="val 24000"/>
            </a:avLst>
          </a:prstGeom>
          <a:solidFill>
            <a:schemeClr val="accent2">
              <a:alpha val="14000"/>
            </a:schemeClr>
          </a:solidFill>
          <a:ln/>
        </p:spPr>
      </p:sp>
      <p:pic>
        <p:nvPicPr>
          <p:cNvPr id="25" name="Image 4" descr="lightning icon">    </p:cNvPr>
          <p:cNvPicPr>
            <a:picLocks noChangeAspect="1"/>
          </p:cNvPicPr>
          <p:nvPr/>
        </p:nvPicPr>
        <p:blipFill>
          <a:blip r:embed="rId5"/>
          <a:stretch>
            <a:fillRect/>
          </a:stretch>
        </p:blipFill>
        <p:spPr>
          <a:xfrm>
            <a:off x="8516722" y="2126894"/>
            <a:ext cx="318211" cy="318211"/>
          </a:xfrm>
          <a:prstGeom prst="rect">
            <a:avLst/>
          </a:prstGeom>
        </p:spPr>
      </p:pic>
      <p:sp>
        <p:nvSpPr>
          <p:cNvPr id="26" name="Text 18"/>
          <p:cNvSpPr txBox="1"/>
          <p:nvPr/>
        </p:nvSpPr>
        <p:spPr>
          <a:xfrm>
            <a:off x="8401507" y="2670048"/>
            <a:ext cx="2966314" cy="457200"/>
          </a:xfrm>
          <a:prstGeom prst="rect">
            <a:avLst/>
          </a:prstGeom>
          <a:noFill/>
          <a:ln/>
        </p:spPr>
        <p:txBody>
          <a:bodyPr wrap="square" lIns="0" tIns="0" rIns="0" bIns="0" rtlCol="0" anchor="ctr"/>
          <a:lstStyle/>
          <a:p>
            <a:pPr algn="l" indent="0" marL="0">
              <a:buNone/>
            </a:pPr>
            <a:r>
              <a:rPr lang="en-US" sz="1900" b="1" dirty="0">
                <a:solidFill>
                  <a:schemeClr val="tx1"/>
                </a:solidFill>
              </a:rPr>
              <a:t>Runtime error</a:t>
            </a:r>
            <a:endParaRPr lang="en-US" sz="1900" dirty="0"/>
          </a:p>
        </p:txBody>
      </p:sp>
      <p:sp>
        <p:nvSpPr>
          <p:cNvPr id="27" name="Text 19"/>
          <p:cNvSpPr txBox="1"/>
          <p:nvPr/>
        </p:nvSpPr>
        <p:spPr>
          <a:xfrm>
            <a:off x="8401507" y="3172968"/>
            <a:ext cx="2966314" cy="960120"/>
          </a:xfrm>
          <a:prstGeom prst="rect">
            <a:avLst/>
          </a:prstGeom>
          <a:noFill/>
          <a:ln/>
        </p:spPr>
        <p:txBody>
          <a:bodyPr wrap="square" lIns="0" tIns="0" rIns="0" bIns="0" rtlCol="0" anchor="t"/>
          <a:lstStyle/>
          <a:p>
            <a:pPr algn="l" indent="0" marL="0">
              <a:buNone/>
            </a:pPr>
            <a:r>
              <a:rPr lang="en-US" sz="1500" dirty="0">
                <a:solidFill>
                  <a:schemeClr val="tx2"/>
                </a:solidFill>
              </a:rPr>
              <a:t>Something impossible happens while it runs, and the program crashes.</a:t>
            </a:r>
            <a:endParaRPr lang="en-US" sz="1500" dirty="0"/>
          </a:p>
        </p:txBody>
      </p:sp>
      <p:sp>
        <p:nvSpPr>
          <p:cNvPr id="28" name="Text 20"/>
          <p:cNvSpPr txBox="1"/>
          <p:nvPr/>
        </p:nvSpPr>
        <p:spPr>
          <a:xfrm>
            <a:off x="8401507" y="4224528"/>
            <a:ext cx="2966314" cy="274320"/>
          </a:xfrm>
          <a:prstGeom prst="rect">
            <a:avLst/>
          </a:prstGeom>
          <a:noFill/>
          <a:ln/>
        </p:spPr>
        <p:txBody>
          <a:bodyPr wrap="square" lIns="0" tIns="0" rIns="0" bIns="0" rtlCol="0" anchor="t"/>
          <a:lstStyle/>
          <a:p>
            <a:pPr algn="l" indent="0" marL="0">
              <a:buNone/>
            </a:pPr>
            <a:r>
              <a:rPr lang="en-US" sz="1300" b="1" dirty="0">
                <a:solidFill>
                  <a:schemeClr val="tx2"/>
                </a:solidFill>
              </a:rPr>
              <a:t>Example</a:t>
            </a:r>
            <a:endParaRPr lang="en-US" sz="1300" dirty="0"/>
          </a:p>
        </p:txBody>
      </p:sp>
      <p:sp>
        <p:nvSpPr>
          <p:cNvPr id="29" name="Code chip"/>
          <p:cNvSpPr/>
          <p:nvPr/>
        </p:nvSpPr>
        <p:spPr>
          <a:xfrm>
            <a:off x="8401507" y="4526280"/>
            <a:ext cx="2966314" cy="502920"/>
          </a:xfrm>
          <a:prstGeom prst="roundRect">
            <a:avLst>
              <a:gd name="adj" fmla="val 14545"/>
            </a:avLst>
          </a:prstGeom>
          <a:solidFill>
            <a:schemeClr val="bg2"/>
          </a:solidFill>
          <a:ln/>
        </p:spPr>
        <p:txBody>
          <a:bodyPr wrap="square" lIns="0" tIns="0" rIns="0" bIns="0" rtlCol="0" anchor="ctr"/>
          <a:lstStyle/>
          <a:p>
            <a:pPr algn="ctr" indent="0" marL="0">
              <a:buNone/>
            </a:pPr>
            <a:r>
              <a:rPr lang="en-US" sz="1500" dirty="0">
                <a:solidFill>
                  <a:schemeClr val="accent2"/>
                </a:solidFill>
                <a:latin typeface="Consolas" pitchFamily="34" charset="0"/>
                <a:ea typeface="Consolas" pitchFamily="34" charset="-122"/>
                <a:cs typeface="Consolas" pitchFamily="34" charset="-120"/>
              </a:rPr>
              <a:t>int x = 10 / 0;</a:t>
            </a:r>
            <a:endParaRPr lang="en-US" sz="1500" dirty="0"/>
          </a:p>
        </p:txBody>
      </p:sp>
      <p:pic>
        <p:nvPicPr>
          <p:cNvPr id="30" name="Image 5" descr="Does not work">    </p:cNvPr>
          <p:cNvPicPr>
            <a:picLocks noChangeAspect="1"/>
          </p:cNvPicPr>
          <p:nvPr/>
        </p:nvPicPr>
        <p:blipFill>
          <a:blip r:embed="rId6"/>
          <a:stretch>
            <a:fillRect/>
          </a:stretch>
        </p:blipFill>
        <p:spPr>
          <a:xfrm>
            <a:off x="8401507" y="5212080"/>
            <a:ext cx="347472" cy="347472"/>
          </a:xfrm>
          <a:prstGeom prst="rect">
            <a:avLst/>
          </a:prstGeom>
        </p:spPr>
      </p:pic>
      <p:sp>
        <p:nvSpPr>
          <p:cNvPr id="31" name="Text 22"/>
          <p:cNvSpPr txBox="1"/>
          <p:nvPr/>
        </p:nvSpPr>
        <p:spPr>
          <a:xfrm>
            <a:off x="8858707" y="5193792"/>
            <a:ext cx="2600554" cy="384048"/>
          </a:xfrm>
          <a:prstGeom prst="rect">
            <a:avLst/>
          </a:prstGeom>
          <a:noFill/>
          <a:ln/>
        </p:spPr>
        <p:txBody>
          <a:bodyPr wrap="square" lIns="0" tIns="0" rIns="0" bIns="0" rtlCol="0" anchor="ctr"/>
          <a:lstStyle/>
          <a:p>
            <a:pPr algn="l" indent="0" marL="0">
              <a:buNone/>
            </a:pPr>
            <a:r>
              <a:rPr lang="en-US" sz="1400" b="1" dirty="0">
                <a:solidFill>
                  <a:srgbClr val="C0392B"/>
                </a:solidFill>
              </a:rPr>
              <a:t>Crash: ArithmeticException</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Kinds of error</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This code should print the average of 4 and 6. What kind of error does it have?</a:t>
            </a:r>
            <a:endParaRPr lang="en-US" sz="2800" dirty="0"/>
          </a:p>
        </p:txBody>
      </p:sp>
      <p:sp>
        <p:nvSpPr>
          <p:cNvPr id="5" name="Question code card"/>
          <p:cNvSpPr/>
          <p:nvPr/>
        </p:nvSpPr>
        <p:spPr>
          <a:xfrm>
            <a:off x="548640" y="2240280"/>
            <a:ext cx="11094415" cy="1362456"/>
          </a:xfrm>
          <a:prstGeom prst="roundRect">
            <a:avLst>
              <a:gd name="adj" fmla="val 8054"/>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441448"/>
            <a:ext cx="10545775" cy="960120"/>
          </a:xfrm>
          <a:prstGeom prst="rect">
            <a:avLst/>
          </a:prstGeom>
          <a:noFill/>
          <a:ln/>
        </p:spPr>
        <p:txBody>
          <a:bodyPr wrap="square" lIns="0" tIns="0" rIns="0" bIns="0" rtlCol="0" anchor="t"/>
          <a:lstStyle/>
          <a:p>
            <a:pPr indent="0" marL="0">
              <a:lnSpc>
                <a:spcPts val="2380"/>
              </a:lnSpc>
              <a:buNone/>
            </a:pPr>
            <a:r>
              <a:rPr lang="en-US" sz="1800" dirty="0">
                <a:solidFill>
                  <a:srgbClr val="FF9F5A"/>
                </a:solidFill>
                <a:latin typeface="Consolas" pitchFamily="34" charset="0"/>
                <a:ea typeface="Consolas" pitchFamily="34" charset="-122"/>
                <a:cs typeface="Consolas" pitchFamily="34" charset="-120"/>
              </a:rPr>
              <a:t>int </a:t>
            </a:r>
            <a:r>
              <a:rPr lang="en-US" sz="1800" dirty="0">
                <a:solidFill>
                  <a:srgbClr val="E6EBF2"/>
                </a:solidFill>
                <a:latin typeface="Consolas" pitchFamily="34" charset="0"/>
                <a:ea typeface="Consolas" pitchFamily="34" charset="-122"/>
                <a:cs typeface="Consolas" pitchFamily="34" charset="-120"/>
              </a:rPr>
              <a:t>a = </a:t>
            </a:r>
            <a:r>
              <a:rPr lang="en-US" sz="1800" dirty="0">
                <a:solidFill>
                  <a:srgbClr val="F2C14E"/>
                </a:solidFill>
                <a:latin typeface="Consolas" pitchFamily="34" charset="0"/>
                <a:ea typeface="Consolas" pitchFamily="34" charset="-122"/>
                <a:cs typeface="Consolas" pitchFamily="34" charset="-120"/>
              </a:rPr>
              <a:t>4</a:t>
            </a:r>
            <a:r>
              <a:rPr lang="en-US" sz="1800" dirty="0">
                <a:solidFill>
                  <a:srgbClr val="E6EBF2"/>
                </a:solidFill>
                <a:latin typeface="Consolas" pitchFamily="34" charset="0"/>
                <a:ea typeface="Consolas" pitchFamily="34" charset="-122"/>
                <a:cs typeface="Consolas" pitchFamily="34" charset="-120"/>
              </a:rPr>
              <a:t>, b = </a:t>
            </a:r>
            <a:r>
              <a:rPr lang="en-US" sz="1800" dirty="0">
                <a:solidFill>
                  <a:srgbClr val="F2C14E"/>
                </a:solidFill>
                <a:latin typeface="Consolas" pitchFamily="34" charset="0"/>
                <a:ea typeface="Consolas" pitchFamily="34" charset="-122"/>
                <a:cs typeface="Consolas" pitchFamily="34" charset="-120"/>
              </a:rPr>
              <a:t>6</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FF9F5A"/>
                </a:solidFill>
                <a:latin typeface="Consolas" pitchFamily="34" charset="0"/>
                <a:ea typeface="Consolas" pitchFamily="34" charset="-122"/>
                <a:cs typeface="Consolas" pitchFamily="34" charset="-120"/>
              </a:rPr>
              <a:t>int </a:t>
            </a:r>
            <a:r>
              <a:rPr lang="en-US" sz="1800" dirty="0">
                <a:solidFill>
                  <a:srgbClr val="E6EBF2"/>
                </a:solidFill>
                <a:latin typeface="Consolas" pitchFamily="34" charset="0"/>
                <a:ea typeface="Consolas" pitchFamily="34" charset="-122"/>
                <a:cs typeface="Consolas" pitchFamily="34" charset="-120"/>
              </a:rPr>
              <a:t>average = a + b / </a:t>
            </a:r>
            <a:r>
              <a:rPr lang="en-US" sz="1800" dirty="0">
                <a:solidFill>
                  <a:srgbClr val="F2C14E"/>
                </a:solidFill>
                <a:latin typeface="Consolas" pitchFamily="34" charset="0"/>
                <a:ea typeface="Consolas" pitchFamily="34" charset="-122"/>
                <a:cs typeface="Consolas" pitchFamily="34" charset="-120"/>
              </a:rPr>
              <a:t>2</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6CC4E8"/>
                </a:solidFill>
                <a:latin typeface="Consolas" pitchFamily="34" charset="0"/>
                <a:ea typeface="Consolas" pitchFamily="34" charset="-122"/>
                <a:cs typeface="Consolas" pitchFamily="34" charset="-120"/>
              </a:rPr>
              <a:t>System</a:t>
            </a:r>
            <a:r>
              <a:rPr lang="en-US" sz="1800" dirty="0">
                <a:solidFill>
                  <a:srgbClr val="E6EBF2"/>
                </a:solidFill>
                <a:latin typeface="Consolas" pitchFamily="34" charset="0"/>
                <a:ea typeface="Consolas" pitchFamily="34" charset="-122"/>
                <a:cs typeface="Consolas" pitchFamily="34" charset="-120"/>
              </a:rPr>
              <a:t>.out.</a:t>
            </a:r>
            <a:r>
              <a:rPr lang="en-US" sz="1800" dirty="0">
                <a:solidFill>
                  <a:srgbClr val="C9B0FF"/>
                </a:solidFill>
                <a:latin typeface="Consolas" pitchFamily="34" charset="0"/>
                <a:ea typeface="Consolas" pitchFamily="34" charset="-122"/>
                <a:cs typeface="Consolas" pitchFamily="34" charset="-120"/>
              </a:rPr>
              <a:t>println</a:t>
            </a:r>
            <a:r>
              <a:rPr lang="en-US" sz="1800" dirty="0">
                <a:solidFill>
                  <a:srgbClr val="E6EBF2"/>
                </a:solidFill>
                <a:latin typeface="Consolas" pitchFamily="34" charset="0"/>
                <a:ea typeface="Consolas" pitchFamily="34" charset="-122"/>
                <a:cs typeface="Consolas" pitchFamily="34" charset="-120"/>
              </a:rPr>
              <a:t>(average);   </a:t>
            </a:r>
            <a:r>
              <a:rPr lang="en-US" sz="1800" i="1" dirty="0">
                <a:solidFill>
                  <a:srgbClr val="A3AEC2"/>
                </a:solidFill>
                <a:latin typeface="Consolas" pitchFamily="34" charset="0"/>
                <a:ea typeface="Consolas" pitchFamily="34" charset="-122"/>
                <a:cs typeface="Consolas" pitchFamily="34" charset="-120"/>
              </a:rPr>
              <a:t>// prints 7</a:t>
            </a:r>
            <a:endParaRPr lang="en-US" sz="1800" dirty="0"/>
          </a:p>
        </p:txBody>
      </p:sp>
      <p:sp>
        <p:nvSpPr>
          <p:cNvPr id="7" name="Option A"/>
          <p:cNvSpPr/>
          <p:nvPr/>
        </p:nvSpPr>
        <p:spPr>
          <a:xfrm>
            <a:off x="548640" y="3922776"/>
            <a:ext cx="5410505" cy="950976"/>
          </a:xfrm>
          <a:prstGeom prst="roundRect">
            <a:avLst>
              <a:gd name="adj" fmla="val 13462"/>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4114800"/>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9" name="Option A text"/>
          <p:cNvSpPr txBox="1"/>
          <p:nvPr/>
        </p:nvSpPr>
        <p:spPr>
          <a:xfrm>
            <a:off x="1645920" y="3968496"/>
            <a:ext cx="4038905" cy="859536"/>
          </a:xfrm>
          <a:prstGeom prst="rect">
            <a:avLst/>
          </a:prstGeom>
          <a:noFill/>
          <a:ln/>
        </p:spPr>
        <p:txBody>
          <a:bodyPr wrap="square" lIns="0" tIns="0" rIns="0" bIns="0" rtlCol="0" anchor="ctr"/>
          <a:lstStyle/>
          <a:p>
            <a:pPr indent="0" marL="0">
              <a:buNone/>
            </a:pPr>
            <a:r>
              <a:rPr lang="en-US" sz="2000" dirty="0">
                <a:solidFill>
                  <a:schemeClr val="tx1"/>
                </a:solidFill>
              </a:rPr>
              <a:t>A syntax error</a:t>
            </a:r>
            <a:endParaRPr lang="en-US" sz="2000" dirty="0"/>
          </a:p>
        </p:txBody>
      </p:sp>
      <p:sp>
        <p:nvSpPr>
          <p:cNvPr id="10" name="Option B"/>
          <p:cNvSpPr/>
          <p:nvPr/>
        </p:nvSpPr>
        <p:spPr>
          <a:xfrm>
            <a:off x="6233465" y="3922776"/>
            <a:ext cx="5410505" cy="950976"/>
          </a:xfrm>
          <a:prstGeom prst="roundRect">
            <a:avLst>
              <a:gd name="adj" fmla="val 13462"/>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785" y="4114800"/>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2" name="Option B text"/>
          <p:cNvSpPr txBox="1"/>
          <p:nvPr/>
        </p:nvSpPr>
        <p:spPr>
          <a:xfrm>
            <a:off x="7330745" y="3968496"/>
            <a:ext cx="4038905" cy="859536"/>
          </a:xfrm>
          <a:prstGeom prst="rect">
            <a:avLst/>
          </a:prstGeom>
          <a:noFill/>
          <a:ln/>
        </p:spPr>
        <p:txBody>
          <a:bodyPr wrap="square" lIns="0" tIns="0" rIns="0" bIns="0" rtlCol="0" anchor="ctr"/>
          <a:lstStyle/>
          <a:p>
            <a:pPr indent="0" marL="0">
              <a:buNone/>
            </a:pPr>
            <a:r>
              <a:rPr lang="en-US" sz="2000" dirty="0">
                <a:solidFill>
                  <a:schemeClr val="tx1"/>
                </a:solidFill>
              </a:rPr>
              <a:t>A runtime error</a:t>
            </a:r>
            <a:endParaRPr lang="en-US" sz="2000" dirty="0"/>
          </a:p>
        </p:txBody>
      </p:sp>
      <p:sp>
        <p:nvSpPr>
          <p:cNvPr id="13" name="Option C"/>
          <p:cNvSpPr/>
          <p:nvPr/>
        </p:nvSpPr>
        <p:spPr>
          <a:xfrm>
            <a:off x="548640" y="5102352"/>
            <a:ext cx="5410505" cy="950976"/>
          </a:xfrm>
          <a:prstGeom prst="roundRect">
            <a:avLst>
              <a:gd name="adj" fmla="val 13462"/>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52943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5" name="Option C text"/>
          <p:cNvSpPr txBox="1"/>
          <p:nvPr/>
        </p:nvSpPr>
        <p:spPr>
          <a:xfrm>
            <a:off x="1645920" y="5148072"/>
            <a:ext cx="4038905" cy="859536"/>
          </a:xfrm>
          <a:prstGeom prst="rect">
            <a:avLst/>
          </a:prstGeom>
          <a:noFill/>
          <a:ln/>
        </p:spPr>
        <p:txBody>
          <a:bodyPr wrap="square" lIns="0" tIns="0" rIns="0" bIns="0" rtlCol="0" anchor="ctr"/>
          <a:lstStyle/>
          <a:p>
            <a:pPr indent="0" marL="0">
              <a:buNone/>
            </a:pPr>
            <a:r>
              <a:rPr lang="en-US" sz="2000" dirty="0">
                <a:solidFill>
                  <a:schemeClr val="tx1"/>
                </a:solidFill>
              </a:rPr>
              <a:t>A logic error</a:t>
            </a:r>
            <a:endParaRPr lang="en-US" sz="2000" dirty="0"/>
          </a:p>
        </p:txBody>
      </p:sp>
      <p:sp>
        <p:nvSpPr>
          <p:cNvPr id="16" name="Option D"/>
          <p:cNvSpPr/>
          <p:nvPr/>
        </p:nvSpPr>
        <p:spPr>
          <a:xfrm>
            <a:off x="6233465" y="5102352"/>
            <a:ext cx="5410505" cy="950976"/>
          </a:xfrm>
          <a:prstGeom prst="roundRect">
            <a:avLst>
              <a:gd name="adj" fmla="val 13462"/>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785" y="52943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8" name="Option D text"/>
          <p:cNvSpPr txBox="1"/>
          <p:nvPr/>
        </p:nvSpPr>
        <p:spPr>
          <a:xfrm>
            <a:off x="7330745" y="5148072"/>
            <a:ext cx="4038905" cy="859536"/>
          </a:xfrm>
          <a:prstGeom prst="rect">
            <a:avLst/>
          </a:prstGeom>
          <a:noFill/>
          <a:ln/>
        </p:spPr>
        <p:txBody>
          <a:bodyPr wrap="square" lIns="0" tIns="0" rIns="0" bIns="0" rtlCol="0" anchor="ctr"/>
          <a:lstStyle/>
          <a:p>
            <a:pPr indent="0" marL="0">
              <a:buNone/>
            </a:pPr>
            <a:r>
              <a:rPr lang="en-US" sz="2000" dirty="0">
                <a:solidFill>
                  <a:schemeClr val="tx1"/>
                </a:solidFill>
              </a:rPr>
              <a:t>No error, the average is 7</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Kinds of error</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This code should print the average of 4 and 6. What kind of error does it have?</a:t>
            </a:r>
            <a:endParaRPr lang="en-US" sz="2000" dirty="0"/>
          </a:p>
        </p:txBody>
      </p:sp>
      <p:sp>
        <p:nvSpPr>
          <p:cNvPr id="5" name="Answer code card"/>
          <p:cNvSpPr/>
          <p:nvPr/>
        </p:nvSpPr>
        <p:spPr>
          <a:xfrm>
            <a:off x="548640" y="1874520"/>
            <a:ext cx="5623560" cy="993648"/>
          </a:xfrm>
          <a:prstGeom prst="roundRect">
            <a:avLst>
              <a:gd name="adj" fmla="val 11043"/>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591312"/>
          </a:xfrm>
          <a:prstGeom prst="rect">
            <a:avLst/>
          </a:prstGeom>
          <a:noFill/>
          <a:ln/>
        </p:spPr>
        <p:txBody>
          <a:bodyPr wrap="square" lIns="0" tIns="0" rIns="0" bIns="0" rtlCol="0" anchor="t"/>
          <a:lstStyle/>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a + b / </a:t>
            </a:r>
            <a:r>
              <a:rPr lang="en-US" sz="1600" dirty="0">
                <a:solidFill>
                  <a:srgbClr val="F2C14E"/>
                </a:solidFill>
                <a:latin typeface="Consolas" pitchFamily="34" charset="0"/>
                <a:ea typeface="Consolas" pitchFamily="34" charset="-122"/>
                <a:cs typeface="Consolas" pitchFamily="34" charset="-120"/>
              </a:rPr>
              <a:t>2      </a:t>
            </a:r>
            <a:r>
              <a:rPr lang="en-US" sz="1600" i="1" dirty="0">
                <a:solidFill>
                  <a:srgbClr val="A3AEC2"/>
                </a:solidFill>
                <a:latin typeface="Consolas" pitchFamily="34" charset="0"/>
                <a:ea typeface="Consolas" pitchFamily="34" charset="-122"/>
                <a:cs typeface="Consolas" pitchFamily="34" charset="-120"/>
              </a:rPr>
              <a:t>// 4 + 3 = 7</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(a + b) / </a:t>
            </a:r>
            <a:r>
              <a:rPr lang="en-US" sz="1600" dirty="0">
                <a:solidFill>
                  <a:srgbClr val="F2C14E"/>
                </a:solidFill>
                <a:latin typeface="Consolas" pitchFamily="34" charset="0"/>
                <a:ea typeface="Consolas" pitchFamily="34" charset="-122"/>
                <a:cs typeface="Consolas" pitchFamily="34" charset="-120"/>
              </a:rPr>
              <a:t>2    </a:t>
            </a:r>
            <a:r>
              <a:rPr lang="en-US" sz="1600" i="1" dirty="0">
                <a:solidFill>
                  <a:srgbClr val="A3AEC2"/>
                </a:solidFill>
                <a:latin typeface="Consolas" pitchFamily="34" charset="0"/>
                <a:ea typeface="Consolas" pitchFamily="34" charset="-122"/>
                <a:cs typeface="Consolas" pitchFamily="34" charset="-120"/>
              </a:rPr>
              <a:t>// 10 / 2 = 5</a:t>
            </a:r>
            <a:endParaRPr lang="en-US" sz="1600" dirty="0"/>
          </a:p>
        </p:txBody>
      </p:sp>
      <p:sp>
        <p:nvSpPr>
          <p:cNvPr id="7" name="Option A"/>
          <p:cNvSpPr/>
          <p:nvPr/>
        </p:nvSpPr>
        <p:spPr>
          <a:xfrm>
            <a:off x="548640" y="3096768"/>
            <a:ext cx="5623560" cy="636270"/>
          </a:xfrm>
          <a:prstGeom prst="roundRect">
            <a:avLst>
              <a:gd name="adj" fmla="val 17246"/>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204591"/>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9" name="Option A text"/>
          <p:cNvSpPr txBox="1"/>
          <p:nvPr/>
        </p:nvSpPr>
        <p:spPr>
          <a:xfrm>
            <a:off x="1371600" y="3096768"/>
            <a:ext cx="4572000" cy="636270"/>
          </a:xfrm>
          <a:prstGeom prst="rect">
            <a:avLst/>
          </a:prstGeom>
          <a:noFill/>
          <a:ln/>
        </p:spPr>
        <p:txBody>
          <a:bodyPr wrap="square" lIns="0" tIns="0" rIns="0" bIns="0" rtlCol="0" anchor="ctr"/>
          <a:lstStyle/>
          <a:p>
            <a:pPr indent="0" marL="0">
              <a:buNone/>
            </a:pPr>
            <a:r>
              <a:rPr lang="en-US" sz="1700" dirty="0">
                <a:solidFill>
                  <a:schemeClr val="tx2"/>
                </a:solidFill>
              </a:rPr>
              <a:t>A syntax error</a:t>
            </a:r>
            <a:endParaRPr lang="en-US" sz="1700" dirty="0"/>
          </a:p>
        </p:txBody>
      </p:sp>
      <p:sp>
        <p:nvSpPr>
          <p:cNvPr id="10" name="Option B"/>
          <p:cNvSpPr/>
          <p:nvPr/>
        </p:nvSpPr>
        <p:spPr>
          <a:xfrm>
            <a:off x="548640" y="3879342"/>
            <a:ext cx="5623560" cy="636270"/>
          </a:xfrm>
          <a:prstGeom prst="roundRect">
            <a:avLst>
              <a:gd name="adj" fmla="val 17246"/>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3987165"/>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2" name="Option B text"/>
          <p:cNvSpPr txBox="1"/>
          <p:nvPr/>
        </p:nvSpPr>
        <p:spPr>
          <a:xfrm>
            <a:off x="1371600" y="3879342"/>
            <a:ext cx="4572000" cy="636270"/>
          </a:xfrm>
          <a:prstGeom prst="rect">
            <a:avLst/>
          </a:prstGeom>
          <a:noFill/>
          <a:ln/>
        </p:spPr>
        <p:txBody>
          <a:bodyPr wrap="square" lIns="0" tIns="0" rIns="0" bIns="0" rtlCol="0" anchor="ctr"/>
          <a:lstStyle/>
          <a:p>
            <a:pPr indent="0" marL="0">
              <a:buNone/>
            </a:pPr>
            <a:r>
              <a:rPr lang="en-US" sz="1700" dirty="0">
                <a:solidFill>
                  <a:schemeClr val="tx2"/>
                </a:solidFill>
              </a:rPr>
              <a:t>A runtime error</a:t>
            </a:r>
            <a:endParaRPr lang="en-US" sz="1700" dirty="0"/>
          </a:p>
        </p:txBody>
      </p:sp>
      <p:sp>
        <p:nvSpPr>
          <p:cNvPr id="13" name="Option C (correct)"/>
          <p:cNvSpPr/>
          <p:nvPr/>
        </p:nvSpPr>
        <p:spPr>
          <a:xfrm>
            <a:off x="548640" y="4661916"/>
            <a:ext cx="5623560" cy="636270"/>
          </a:xfrm>
          <a:prstGeom prst="roundRect">
            <a:avLst>
              <a:gd name="adj" fmla="val 17246"/>
            </a:avLst>
          </a:prstGeom>
          <a:solidFill>
            <a:schemeClr val="accent3"/>
          </a:solidFill>
          <a:ln/>
          <a:effectLst>
            <a:outerShdw sx="100000" sy="100000" kx="0" ky="0" algn="bl" rotWithShape="0" blurRad="114300" dist="31750" dir="5400000">
              <a:srgbClr val="1D2433">
                <a:alpha val="12000"/>
              </a:srgbClr>
            </a:outerShdw>
          </a:effectLst>
        </p:spPr>
      </p:sp>
      <p:sp>
        <p:nvSpPr>
          <p:cNvPr id="14" name="Letter C"/>
          <p:cNvSpPr/>
          <p:nvPr/>
        </p:nvSpPr>
        <p:spPr>
          <a:xfrm>
            <a:off x="749808" y="4769739"/>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5" name="Option C text"/>
          <p:cNvSpPr txBox="1"/>
          <p:nvPr/>
        </p:nvSpPr>
        <p:spPr>
          <a:xfrm>
            <a:off x="1371600" y="4661916"/>
            <a:ext cx="4233672" cy="636270"/>
          </a:xfrm>
          <a:prstGeom prst="rect">
            <a:avLst/>
          </a:prstGeom>
          <a:noFill/>
          <a:ln/>
        </p:spPr>
        <p:txBody>
          <a:bodyPr wrap="square" lIns="0" tIns="0" rIns="0" bIns="0" rtlCol="0" anchor="ctr"/>
          <a:lstStyle/>
          <a:p>
            <a:pPr indent="0" marL="0">
              <a:buNone/>
            </a:pPr>
            <a:r>
              <a:rPr lang="en-US" sz="1700" b="1" dirty="0">
                <a:solidFill>
                  <a:schemeClr val="bg1"/>
                </a:solidFill>
              </a:rPr>
              <a:t>A logic error</a:t>
            </a:r>
            <a:endParaRPr lang="en-US" sz="1700" dirty="0"/>
          </a:p>
        </p:txBody>
      </p:sp>
      <p:pic>
        <p:nvPicPr>
          <p:cNvPr id="16" name="Image 0" descr="Correct mark">    </p:cNvPr>
          <p:cNvPicPr>
            <a:picLocks noChangeAspect="1"/>
          </p:cNvPicPr>
          <p:nvPr/>
        </p:nvPicPr>
        <p:blipFill>
          <a:blip r:embed="rId1"/>
          <a:stretch>
            <a:fillRect/>
          </a:stretch>
        </p:blipFill>
        <p:spPr>
          <a:xfrm>
            <a:off x="5623560" y="4797171"/>
            <a:ext cx="365760" cy="365760"/>
          </a:xfrm>
          <a:prstGeom prst="rect">
            <a:avLst/>
          </a:prstGeom>
        </p:spPr>
      </p:pic>
      <p:sp>
        <p:nvSpPr>
          <p:cNvPr id="17" name="Option D"/>
          <p:cNvSpPr/>
          <p:nvPr/>
        </p:nvSpPr>
        <p:spPr>
          <a:xfrm>
            <a:off x="548640" y="5444490"/>
            <a:ext cx="5623560" cy="636270"/>
          </a:xfrm>
          <a:prstGeom prst="roundRect">
            <a:avLst>
              <a:gd name="adj" fmla="val 17246"/>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52313"/>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9" name="Option D text"/>
          <p:cNvSpPr txBox="1"/>
          <p:nvPr/>
        </p:nvSpPr>
        <p:spPr>
          <a:xfrm>
            <a:off x="1371600" y="5444490"/>
            <a:ext cx="4572000" cy="636270"/>
          </a:xfrm>
          <a:prstGeom prst="rect">
            <a:avLst/>
          </a:prstGeom>
          <a:noFill/>
          <a:ln/>
        </p:spPr>
        <p:txBody>
          <a:bodyPr wrap="square" lIns="0" tIns="0" rIns="0" bIns="0" rtlCol="0" anchor="ctr"/>
          <a:lstStyle/>
          <a:p>
            <a:pPr indent="0" marL="0">
              <a:buNone/>
            </a:pPr>
            <a:r>
              <a:rPr lang="en-US" sz="1700" dirty="0">
                <a:solidFill>
                  <a:schemeClr val="tx2"/>
                </a:solidFill>
              </a:rPr>
              <a:t>No error, the average is 7</a:t>
            </a:r>
            <a:endParaRPr lang="en-US"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tx1"/>
                </a:solidFill>
              </a:rPr>
              <a:t>The code is valid Java and nothing crashes, so it isn’t a syntax or runtime error. Java works out </a:t>
            </a:r>
            <a:r>
              <a:rPr lang="en-US" sz="1800" dirty="0">
                <a:solidFill>
                  <a:schemeClr val="accent2"/>
                </a:solidFill>
                <a:latin typeface="Consolas" pitchFamily="34" charset="0"/>
                <a:ea typeface="Consolas" pitchFamily="34" charset="-122"/>
                <a:cs typeface="Consolas" pitchFamily="34" charset="-120"/>
              </a:rPr>
              <a:t>/</a:t>
            </a:r>
            <a:r>
              <a:rPr lang="en-US" sz="1800" dirty="0">
                <a:solidFill>
                  <a:schemeClr val="tx1"/>
                </a:solidFill>
              </a:rPr>
              <a:t> before </a:t>
            </a:r>
            <a:r>
              <a:rPr lang="en-US" sz="1800" dirty="0">
                <a:solidFill>
                  <a:schemeClr val="accent2"/>
                </a:solidFill>
                <a:latin typeface="Consolas" pitchFamily="34" charset="0"/>
                <a:ea typeface="Consolas" pitchFamily="34" charset="-122"/>
                <a:cs typeface="Consolas" pitchFamily="34" charset="-120"/>
              </a:rPr>
              <a:t>+</a:t>
            </a:r>
            <a:r>
              <a:rPr lang="en-US" sz="1800" dirty="0">
                <a:solidFill>
                  <a:schemeClr val="tx1"/>
                </a:solidFill>
              </a:rPr>
              <a:t>, so this adds 4 and 6 / 2. The program runs but does the wrong sum, which is a logic error. </a:t>
            </a:r>
            <a:r>
              <a:rPr lang="en-US" sz="1800" dirty="0">
                <a:solidFill>
                  <a:schemeClr val="accent2"/>
                </a:solidFill>
                <a:latin typeface="Consolas" pitchFamily="34" charset="0"/>
                <a:ea typeface="Consolas" pitchFamily="34" charset="-122"/>
                <a:cs typeface="Consolas" pitchFamily="34" charset="-120"/>
              </a:rPr>
              <a:t>(a + b) / 2</a:t>
            </a:r>
            <a:r>
              <a:rPr lang="en-US" sz="1800" dirty="0">
                <a:solidFill>
                  <a:schemeClr val="tx1"/>
                </a:solidFill>
              </a:rPr>
              <a:t> fixes it.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ERRORS AND EXCEPTIONS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Checking first, and when we can’t</a:t>
            </a:r>
            <a:endParaRPr lang="en-US" sz="3400" dirty="0"/>
          </a:p>
        </p:txBody>
      </p:sp>
      <p:sp>
        <p:nvSpPr>
          <p:cNvPr id="5" name="Opening a file"/>
          <p:cNvSpPr/>
          <p:nvPr/>
        </p:nvSpPr>
        <p:spPr>
          <a:xfrm>
            <a:off x="548640" y="1691640"/>
            <a:ext cx="11094415" cy="868680"/>
          </a:xfrm>
          <a:prstGeom prst="roundRect">
            <a:avLst>
              <a:gd name="adj" fmla="val 12632"/>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749808" y="1869948"/>
            <a:ext cx="512064" cy="512064"/>
          </a:xfrm>
          <a:prstGeom prst="roundRect">
            <a:avLst>
              <a:gd name="adj" fmla="val 24000"/>
            </a:avLst>
          </a:prstGeom>
          <a:solidFill>
            <a:schemeClr val="accent2">
              <a:alpha val="14000"/>
            </a:schemeClr>
          </a:solidFill>
          <a:ln/>
        </p:spPr>
      </p:sp>
      <p:pic>
        <p:nvPicPr>
          <p:cNvPr id="7" name="Image 0" descr="file icon">    </p:cNvPr>
          <p:cNvPicPr>
            <a:picLocks noChangeAspect="1"/>
          </p:cNvPicPr>
          <p:nvPr/>
        </p:nvPicPr>
        <p:blipFill>
          <a:blip r:embed="rId1"/>
          <a:stretch>
            <a:fillRect/>
          </a:stretch>
        </p:blipFill>
        <p:spPr>
          <a:xfrm>
            <a:off x="857341" y="1977481"/>
            <a:ext cx="296997" cy="296997"/>
          </a:xfrm>
          <a:prstGeom prst="rect">
            <a:avLst/>
          </a:prstGeom>
        </p:spPr>
      </p:pic>
      <p:sp>
        <p:nvSpPr>
          <p:cNvPr id="8" name="Text 4"/>
          <p:cNvSpPr txBox="1"/>
          <p:nvPr/>
        </p:nvSpPr>
        <p:spPr>
          <a:xfrm>
            <a:off x="1463040" y="1691640"/>
            <a:ext cx="2468880" cy="868680"/>
          </a:xfrm>
          <a:prstGeom prst="rect">
            <a:avLst/>
          </a:prstGeom>
          <a:noFill/>
          <a:ln/>
        </p:spPr>
        <p:txBody>
          <a:bodyPr wrap="square" lIns="0" tIns="0" rIns="0" bIns="0" rtlCol="0" anchor="ctr"/>
          <a:lstStyle/>
          <a:p>
            <a:pPr algn="l" indent="0" marL="0">
              <a:buNone/>
            </a:pPr>
            <a:r>
              <a:rPr lang="en-US" sz="1900" b="1" dirty="0">
                <a:solidFill>
                  <a:schemeClr val="tx1"/>
                </a:solidFill>
              </a:rPr>
              <a:t>Opening a file</a:t>
            </a:r>
            <a:endParaRPr lang="en-US" sz="1900" dirty="0"/>
          </a:p>
        </p:txBody>
      </p:sp>
      <p:sp>
        <p:nvSpPr>
          <p:cNvPr id="9" name="Text 5"/>
          <p:cNvSpPr txBox="1"/>
          <p:nvPr/>
        </p:nvSpPr>
        <p:spPr>
          <a:xfrm>
            <a:off x="3931920" y="1691640"/>
            <a:ext cx="3367735" cy="868680"/>
          </a:xfrm>
          <a:prstGeom prst="rect">
            <a:avLst/>
          </a:prstGeom>
          <a:noFill/>
          <a:ln/>
        </p:spPr>
        <p:txBody>
          <a:bodyPr wrap="square" lIns="0" tIns="0" rIns="0" bIns="0" rtlCol="0" anchor="ctr"/>
          <a:lstStyle/>
          <a:p>
            <a:pPr algn="l" indent="0" marL="0">
              <a:buNone/>
            </a:pPr>
            <a:r>
              <a:rPr lang="en-US" sz="1600" dirty="0">
                <a:solidFill>
                  <a:schemeClr val="tx2"/>
                </a:solidFill>
              </a:rPr>
              <a:t>Check the file exists before using it</a:t>
            </a:r>
            <a:endParaRPr lang="en-US" sz="1600" dirty="0"/>
          </a:p>
        </p:txBody>
      </p:sp>
      <p:sp>
        <p:nvSpPr>
          <p:cNvPr id="10" name="Code chip"/>
          <p:cNvSpPr/>
          <p:nvPr/>
        </p:nvSpPr>
        <p:spPr>
          <a:xfrm>
            <a:off x="7436815" y="1888236"/>
            <a:ext cx="393192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50" dirty="0">
                <a:solidFill>
                  <a:schemeClr val="accent2"/>
                </a:solidFill>
                <a:latin typeface="Consolas" pitchFamily="34" charset="0"/>
                <a:ea typeface="Consolas" pitchFamily="34" charset="-122"/>
                <a:cs typeface="Consolas" pitchFamily="34" charset="-120"/>
              </a:rPr>
              <a:t>if (file.exists())</a:t>
            </a:r>
            <a:endParaRPr lang="en-US" sz="1450" dirty="0"/>
          </a:p>
        </p:txBody>
      </p:sp>
      <p:sp>
        <p:nvSpPr>
          <p:cNvPr id="11" name="Using an array"/>
          <p:cNvSpPr/>
          <p:nvPr/>
        </p:nvSpPr>
        <p:spPr>
          <a:xfrm>
            <a:off x="548640" y="2743200"/>
            <a:ext cx="11094415" cy="868680"/>
          </a:xfrm>
          <a:prstGeom prst="roundRect">
            <a:avLst>
              <a:gd name="adj" fmla="val 12632"/>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749808" y="2921508"/>
            <a:ext cx="512064" cy="512064"/>
          </a:xfrm>
          <a:prstGeom prst="roundRect">
            <a:avLst>
              <a:gd name="adj" fmla="val 24000"/>
            </a:avLst>
          </a:prstGeom>
          <a:solidFill>
            <a:schemeClr val="accent4">
              <a:alpha val="14000"/>
            </a:schemeClr>
          </a:solidFill>
          <a:ln/>
        </p:spPr>
      </p:sp>
      <p:pic>
        <p:nvPicPr>
          <p:cNvPr id="13" name="Image 1" descr="brackets square icon">    </p:cNvPr>
          <p:cNvPicPr>
            <a:picLocks noChangeAspect="1"/>
          </p:cNvPicPr>
          <p:nvPr/>
        </p:nvPicPr>
        <p:blipFill>
          <a:blip r:embed="rId2"/>
          <a:stretch>
            <a:fillRect/>
          </a:stretch>
        </p:blipFill>
        <p:spPr>
          <a:xfrm>
            <a:off x="857341" y="3029041"/>
            <a:ext cx="296997" cy="296997"/>
          </a:xfrm>
          <a:prstGeom prst="rect">
            <a:avLst/>
          </a:prstGeom>
        </p:spPr>
      </p:pic>
      <p:sp>
        <p:nvSpPr>
          <p:cNvPr id="14" name="Text 9"/>
          <p:cNvSpPr txBox="1"/>
          <p:nvPr/>
        </p:nvSpPr>
        <p:spPr>
          <a:xfrm>
            <a:off x="1463040" y="2743200"/>
            <a:ext cx="2468880" cy="868680"/>
          </a:xfrm>
          <a:prstGeom prst="rect">
            <a:avLst/>
          </a:prstGeom>
          <a:noFill/>
          <a:ln/>
        </p:spPr>
        <p:txBody>
          <a:bodyPr wrap="square" lIns="0" tIns="0" rIns="0" bIns="0" rtlCol="0" anchor="ctr"/>
          <a:lstStyle/>
          <a:p>
            <a:pPr algn="l" indent="0" marL="0">
              <a:buNone/>
            </a:pPr>
            <a:r>
              <a:rPr lang="en-US" sz="1900" b="1" dirty="0">
                <a:solidFill>
                  <a:schemeClr val="tx1"/>
                </a:solidFill>
              </a:rPr>
              <a:t>Using an array</a:t>
            </a:r>
            <a:endParaRPr lang="en-US" sz="1900" dirty="0"/>
          </a:p>
        </p:txBody>
      </p:sp>
      <p:sp>
        <p:nvSpPr>
          <p:cNvPr id="15" name="Text 10"/>
          <p:cNvSpPr txBox="1"/>
          <p:nvPr/>
        </p:nvSpPr>
        <p:spPr>
          <a:xfrm>
            <a:off x="3931920" y="2743200"/>
            <a:ext cx="3367735" cy="868680"/>
          </a:xfrm>
          <a:prstGeom prst="rect">
            <a:avLst/>
          </a:prstGeom>
          <a:noFill/>
          <a:ln/>
        </p:spPr>
        <p:txBody>
          <a:bodyPr wrap="square" lIns="0" tIns="0" rIns="0" bIns="0" rtlCol="0" anchor="ctr"/>
          <a:lstStyle/>
          <a:p>
            <a:pPr algn="l" indent="0" marL="0">
              <a:buNone/>
            </a:pPr>
            <a:r>
              <a:rPr lang="en-US" sz="1600" dirty="0">
                <a:solidFill>
                  <a:schemeClr val="tx2"/>
                </a:solidFill>
              </a:rPr>
              <a:t>Check the index is inside the array</a:t>
            </a:r>
            <a:endParaRPr lang="en-US" sz="1600" dirty="0"/>
          </a:p>
        </p:txBody>
      </p:sp>
      <p:sp>
        <p:nvSpPr>
          <p:cNvPr id="16" name="Code chip"/>
          <p:cNvSpPr/>
          <p:nvPr/>
        </p:nvSpPr>
        <p:spPr>
          <a:xfrm>
            <a:off x="7436815" y="2939796"/>
            <a:ext cx="393192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50" dirty="0">
                <a:solidFill>
                  <a:schemeClr val="accent2"/>
                </a:solidFill>
                <a:latin typeface="Consolas" pitchFamily="34" charset="0"/>
                <a:ea typeface="Consolas" pitchFamily="34" charset="-122"/>
                <a:cs typeface="Consolas" pitchFamily="34" charset="-120"/>
              </a:rPr>
              <a:t>if (i &gt;= 0 &amp;&amp; i &lt; marks.length)</a:t>
            </a:r>
            <a:endParaRPr lang="en-US" sz="1450" dirty="0"/>
          </a:p>
        </p:txBody>
      </p:sp>
      <p:sp>
        <p:nvSpPr>
          <p:cNvPr id="17" name="Dividing"/>
          <p:cNvSpPr/>
          <p:nvPr/>
        </p:nvSpPr>
        <p:spPr>
          <a:xfrm>
            <a:off x="548640" y="3794760"/>
            <a:ext cx="11094415" cy="868680"/>
          </a:xfrm>
          <a:prstGeom prst="roundRect">
            <a:avLst>
              <a:gd name="adj" fmla="val 12632"/>
            </a:avLst>
          </a:prstGeom>
          <a:solidFill>
            <a:schemeClr val="bg1"/>
          </a:solidFill>
          <a:ln/>
          <a:effectLst>
            <a:outerShdw sx="100000" sy="100000" kx="0" ky="0" algn="bl" rotWithShape="0" blurRad="114300" dist="31750" dir="5400000">
              <a:srgbClr val="1D2433">
                <a:alpha val="12000"/>
              </a:srgbClr>
            </a:outerShdw>
          </a:effectLst>
        </p:spPr>
      </p:sp>
      <p:sp>
        <p:nvSpPr>
          <p:cNvPr id="18" name="Icon tile"/>
          <p:cNvSpPr/>
          <p:nvPr/>
        </p:nvSpPr>
        <p:spPr>
          <a:xfrm>
            <a:off x="749808" y="3973068"/>
            <a:ext cx="512064" cy="512064"/>
          </a:xfrm>
          <a:prstGeom prst="roundRect">
            <a:avLst>
              <a:gd name="adj" fmla="val 24000"/>
            </a:avLst>
          </a:prstGeom>
          <a:solidFill>
            <a:schemeClr val="accent5">
              <a:alpha val="14000"/>
            </a:schemeClr>
          </a:solidFill>
          <a:ln/>
        </p:spPr>
      </p:sp>
      <p:pic>
        <p:nvPicPr>
          <p:cNvPr id="19" name="Image 2" descr="divide icon">    </p:cNvPr>
          <p:cNvPicPr>
            <a:picLocks noChangeAspect="1"/>
          </p:cNvPicPr>
          <p:nvPr/>
        </p:nvPicPr>
        <p:blipFill>
          <a:blip r:embed="rId3"/>
          <a:stretch>
            <a:fillRect/>
          </a:stretch>
        </p:blipFill>
        <p:spPr>
          <a:xfrm>
            <a:off x="857341" y="4080601"/>
            <a:ext cx="296997" cy="296997"/>
          </a:xfrm>
          <a:prstGeom prst="rect">
            <a:avLst/>
          </a:prstGeom>
        </p:spPr>
      </p:pic>
      <p:sp>
        <p:nvSpPr>
          <p:cNvPr id="20" name="Text 14"/>
          <p:cNvSpPr txBox="1"/>
          <p:nvPr/>
        </p:nvSpPr>
        <p:spPr>
          <a:xfrm>
            <a:off x="1463040" y="3794760"/>
            <a:ext cx="2468880" cy="868680"/>
          </a:xfrm>
          <a:prstGeom prst="rect">
            <a:avLst/>
          </a:prstGeom>
          <a:noFill/>
          <a:ln/>
        </p:spPr>
        <p:txBody>
          <a:bodyPr wrap="square" lIns="0" tIns="0" rIns="0" bIns="0" rtlCol="0" anchor="ctr"/>
          <a:lstStyle/>
          <a:p>
            <a:pPr algn="l" indent="0" marL="0">
              <a:buNone/>
            </a:pPr>
            <a:r>
              <a:rPr lang="en-US" sz="1900" b="1" dirty="0">
                <a:solidFill>
                  <a:schemeClr val="tx1"/>
                </a:solidFill>
              </a:rPr>
              <a:t>Dividing</a:t>
            </a:r>
            <a:endParaRPr lang="en-US" sz="1900" dirty="0"/>
          </a:p>
        </p:txBody>
      </p:sp>
      <p:sp>
        <p:nvSpPr>
          <p:cNvPr id="21" name="Text 15"/>
          <p:cNvSpPr txBox="1"/>
          <p:nvPr/>
        </p:nvSpPr>
        <p:spPr>
          <a:xfrm>
            <a:off x="3931920" y="3794760"/>
            <a:ext cx="3367735" cy="868680"/>
          </a:xfrm>
          <a:prstGeom prst="rect">
            <a:avLst/>
          </a:prstGeom>
          <a:noFill/>
          <a:ln/>
        </p:spPr>
        <p:txBody>
          <a:bodyPr wrap="square" lIns="0" tIns="0" rIns="0" bIns="0" rtlCol="0" anchor="ctr"/>
          <a:lstStyle/>
          <a:p>
            <a:pPr algn="l" indent="0" marL="0">
              <a:buNone/>
            </a:pPr>
            <a:r>
              <a:rPr lang="en-US" sz="1600" dirty="0">
                <a:solidFill>
                  <a:schemeClr val="tx2"/>
                </a:solidFill>
              </a:rPr>
              <a:t>Check we’re not dividing by zero</a:t>
            </a:r>
            <a:endParaRPr lang="en-US" sz="1600" dirty="0"/>
          </a:p>
        </p:txBody>
      </p:sp>
      <p:sp>
        <p:nvSpPr>
          <p:cNvPr id="22" name="Code chip"/>
          <p:cNvSpPr/>
          <p:nvPr/>
        </p:nvSpPr>
        <p:spPr>
          <a:xfrm>
            <a:off x="7436815" y="3991356"/>
            <a:ext cx="393192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50" dirty="0">
                <a:solidFill>
                  <a:schemeClr val="accent2"/>
                </a:solidFill>
                <a:latin typeface="Consolas" pitchFamily="34" charset="0"/>
                <a:ea typeface="Consolas" pitchFamily="34" charset="-122"/>
                <a:cs typeface="Consolas" pitchFamily="34" charset="-120"/>
              </a:rPr>
              <a:t>if (count != 0)</a:t>
            </a:r>
            <a:endParaRPr lang="en-US" sz="1450" dirty="0"/>
          </a:p>
        </p:txBody>
      </p:sp>
      <p:sp>
        <p:nvSpPr>
          <p:cNvPr id="23" name="Note"/>
          <p:cNvSpPr/>
          <p:nvPr/>
        </p:nvSpPr>
        <p:spPr>
          <a:xfrm>
            <a:off x="548640" y="4983480"/>
            <a:ext cx="11094415" cy="1051560"/>
          </a:xfrm>
          <a:prstGeom prst="roundRect">
            <a:avLst>
              <a:gd name="adj" fmla="val 10435"/>
            </a:avLst>
          </a:prstGeom>
          <a:solidFill>
            <a:schemeClr val="bg2"/>
          </a:solidFill>
          <a:ln/>
        </p:spPr>
      </p:sp>
      <p:sp>
        <p:nvSpPr>
          <p:cNvPr id="24" name="Icon tile"/>
          <p:cNvSpPr/>
          <p:nvPr/>
        </p:nvSpPr>
        <p:spPr>
          <a:xfrm>
            <a:off x="822960" y="5244084"/>
            <a:ext cx="530352" cy="530352"/>
          </a:xfrm>
          <a:prstGeom prst="roundRect">
            <a:avLst>
              <a:gd name="adj" fmla="val 24000"/>
            </a:avLst>
          </a:prstGeom>
          <a:solidFill>
            <a:schemeClr val="accent1">
              <a:alpha val="14000"/>
            </a:schemeClr>
          </a:solidFill>
          <a:ln/>
        </p:spPr>
      </p:sp>
      <p:pic>
        <p:nvPicPr>
          <p:cNvPr id="25" name="Image 3" descr="warning icon">    </p:cNvPr>
          <p:cNvPicPr>
            <a:picLocks noChangeAspect="1"/>
          </p:cNvPicPr>
          <p:nvPr/>
        </p:nvPicPr>
        <p:blipFill>
          <a:blip r:embed="rId4"/>
          <a:stretch>
            <a:fillRect/>
          </a:stretch>
        </p:blipFill>
        <p:spPr>
          <a:xfrm>
            <a:off x="934334" y="5355458"/>
            <a:ext cx="307604" cy="307604"/>
          </a:xfrm>
          <a:prstGeom prst="rect">
            <a:avLst/>
          </a:prstGeom>
        </p:spPr>
      </p:pic>
      <p:sp>
        <p:nvSpPr>
          <p:cNvPr id="26" name="Text 19"/>
          <p:cNvSpPr txBox="1"/>
          <p:nvPr/>
        </p:nvSpPr>
        <p:spPr>
          <a:xfrm>
            <a:off x="1572768" y="4983480"/>
            <a:ext cx="9814255" cy="1051560"/>
          </a:xfrm>
          <a:prstGeom prst="rect">
            <a:avLst/>
          </a:prstGeom>
          <a:noFill/>
          <a:ln/>
        </p:spPr>
        <p:txBody>
          <a:bodyPr wrap="square" lIns="0" tIns="0" rIns="0" bIns="0" rtlCol="0" anchor="ctr"/>
          <a:lstStyle/>
          <a:p>
            <a:pPr algn="l" indent="0" marL="0">
              <a:buNone/>
            </a:pPr>
            <a:r>
              <a:rPr lang="en-US" sz="1600" dirty="0">
                <a:solidFill>
                  <a:schemeClr val="tx1"/>
                </a:solidFill>
              </a:rPr>
              <a:t>We can’t always check first. Our program runs alongside others, and a user might open, lock or delete the file just after our check. Exception handling covers those cases: we skip the code that needs the file and carry on.</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Runtime errors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Why can’t an if statement always stop a runtime error when we open a file?</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if</a:t>
            </a:r>
            <a:r>
              <a:rPr lang="en-US" sz="2000" dirty="0">
                <a:solidFill>
                  <a:schemeClr val="tx1"/>
                </a:solidFill>
              </a:rPr>
              <a:t> statements can’t check files</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Another program can lock or delete the file after our check</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Files can only be opened inside a loop</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The compiler removes checks it doesn’t need</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Runtime errors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Why can’t an if statement always stop a runtime error when we open a file?</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if</a:t>
            </a:r>
            <a:r>
              <a:rPr lang="en-US" sz="1700" dirty="0">
                <a:solidFill>
                  <a:schemeClr val="tx2"/>
                </a:solidFill>
              </a:rPr>
              <a:t> statements can’t check files</a:t>
            </a:r>
            <a:endParaRPr lang="en-US"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0" name="Option B text"/>
          <p:cNvSpPr txBox="1"/>
          <p:nvPr/>
        </p:nvSpPr>
        <p:spPr>
          <a:xfrm>
            <a:off x="1371600" y="2798064"/>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Another program can lock or delete the file after our check</a:t>
            </a:r>
            <a:endParaRPr lang="en-US" sz="1700" dirty="0"/>
          </a:p>
        </p:txBody>
      </p:sp>
      <p:pic>
        <p:nvPicPr>
          <p:cNvPr id="11" name="Image 0"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Files can only be opened inside a loop</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The compiler removes checks it doesn’t need</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Our program runs alongside other programs. Between our check and the moment we open the file, a user could open it somewhere else, lock it or delete it. We can’t predict that, so we handle the exception if it happens.</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ERRORS AND EXCEPTIONS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What an exception is</a:t>
            </a:r>
            <a:endParaRPr lang="en-US" sz="3400" dirty="0"/>
          </a:p>
        </p:txBody>
      </p:sp>
      <p:sp>
        <p:nvSpPr>
          <p:cNvPr id="5" name="Text 2"/>
          <p:cNvSpPr txBox="1"/>
          <p:nvPr/>
        </p:nvSpPr>
        <p:spPr>
          <a:xfrm>
            <a:off x="548640" y="1783080"/>
            <a:ext cx="5212080" cy="429768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tx1"/>
                </a:solidFill>
              </a:rPr>
              <a:t>Exception is short for </a:t>
            </a:r>
            <a:r>
              <a:rPr lang="en-US" sz="1800" b="1" dirty="0">
                <a:solidFill>
                  <a:schemeClr val="tx1"/>
                </a:solidFill>
              </a:rPr>
              <a:t>exceptional event</a:t>
            </a:r>
            <a:r>
              <a:rPr lang="en-US" sz="1800" dirty="0">
                <a:solidFill>
                  <a:schemeClr val="tx1"/>
                </a:solidFill>
              </a:rPr>
              <a:t>: something unusual that breaks the normal flow of the program.</a:t>
            </a:r>
            <a:endParaRPr lang="en-US" sz="1800" dirty="0"/>
          </a:p>
          <a:p>
            <a:pPr marL="228600" indent="-228600">
              <a:spcAft>
                <a:spcPts val="1200"/>
              </a:spcAft>
              <a:buSzPct val="100000"/>
              <a:buChar char="•"/>
            </a:pPr>
            <a:r>
              <a:rPr lang="en-US" sz="1800" dirty="0">
                <a:solidFill>
                  <a:schemeClr val="tx1"/>
                </a:solidFill>
              </a:rPr>
              <a:t>When Java meets something it can’t deal with, it </a:t>
            </a:r>
            <a:r>
              <a:rPr lang="en-US" sz="1800" b="1" dirty="0">
                <a:solidFill>
                  <a:schemeClr val="tx1"/>
                </a:solidFill>
              </a:rPr>
              <a:t>throws</a:t>
            </a:r>
            <a:r>
              <a:rPr lang="en-US" sz="1800" dirty="0">
                <a:solidFill>
                  <a:schemeClr val="tx1"/>
                </a:solidFill>
              </a:rPr>
              <a:t> an exception.</a:t>
            </a:r>
            <a:endParaRPr lang="en-US" sz="1800" dirty="0"/>
          </a:p>
          <a:p>
            <a:pPr marL="228600" indent="-228600">
              <a:spcAft>
                <a:spcPts val="1200"/>
              </a:spcAft>
              <a:buSzPct val="100000"/>
              <a:buChar char="•"/>
            </a:pPr>
            <a:r>
              <a:rPr lang="en-US" sz="1800" dirty="0">
                <a:solidFill>
                  <a:schemeClr val="tx1"/>
                </a:solidFill>
              </a:rPr>
              <a:t>We can </a:t>
            </a:r>
            <a:r>
              <a:rPr lang="en-US" sz="1800" b="1" dirty="0">
                <a:solidFill>
                  <a:schemeClr val="tx1"/>
                </a:solidFill>
              </a:rPr>
              <a:t>catch</a:t>
            </a:r>
            <a:r>
              <a:rPr lang="en-US" sz="1800" dirty="0">
                <a:solidFill>
                  <a:schemeClr val="tx1"/>
                </a:solidFill>
              </a:rPr>
              <a:t> it and say what to do instead, so the program recovers.</a:t>
            </a:r>
            <a:endParaRPr lang="en-US" sz="1800" dirty="0"/>
          </a:p>
          <a:p>
            <a:pPr marL="228600" indent="-228600">
              <a:buSzPct val="100000"/>
              <a:buChar char="•"/>
            </a:pPr>
            <a:r>
              <a:rPr lang="en-US" sz="1800" dirty="0">
                <a:solidFill>
                  <a:schemeClr val="tx1"/>
                </a:solidFill>
              </a:rPr>
              <a:t>An </a:t>
            </a:r>
            <a:r>
              <a:rPr lang="en-US" sz="1800" b="1" dirty="0">
                <a:solidFill>
                  <a:schemeClr val="tx1"/>
                </a:solidFill>
              </a:rPr>
              <a:t>Error</a:t>
            </a:r>
            <a:r>
              <a:rPr lang="en-US" sz="1800" dirty="0">
                <a:solidFill>
                  <a:schemeClr val="tx1"/>
                </a:solidFill>
              </a:rPr>
              <a:t> is different: a serious problem, like running out of memory, that a program isn’t expected to recover from.</a:t>
            </a:r>
            <a:endParaRPr lang="en-US" sz="1800" dirty="0"/>
          </a:p>
        </p:txBody>
      </p:sp>
      <p:sp>
        <p:nvSpPr>
          <p:cNvPr id="6" name="Text 3"/>
          <p:cNvSpPr txBox="1"/>
          <p:nvPr/>
        </p:nvSpPr>
        <p:spPr>
          <a:xfrm>
            <a:off x="6172200" y="1463040"/>
            <a:ext cx="2743200" cy="274320"/>
          </a:xfrm>
          <a:prstGeom prst="rect">
            <a:avLst/>
          </a:prstGeom>
          <a:noFill/>
          <a:ln/>
        </p:spPr>
        <p:txBody>
          <a:bodyPr wrap="square" lIns="0" tIns="0" rIns="0" bIns="0" rtlCol="0" anchor="t"/>
          <a:lstStyle/>
          <a:p>
            <a:pPr algn="l" indent="0" marL="0">
              <a:buNone/>
            </a:pPr>
            <a:r>
              <a:rPr lang="en-US" sz="1300" i="1" dirty="0">
                <a:solidFill>
                  <a:schemeClr val="tx2"/>
                </a:solidFill>
              </a:rPr>
              <a:t>the normal flow</a:t>
            </a:r>
            <a:endParaRPr lang="en-US" sz="1300" dirty="0"/>
          </a:p>
        </p:txBody>
      </p:sp>
      <p:sp>
        <p:nvSpPr>
          <p:cNvPr id="7" name="Shape 4"/>
          <p:cNvSpPr/>
          <p:nvPr/>
        </p:nvSpPr>
        <p:spPr>
          <a:xfrm>
            <a:off x="6172200" y="1828800"/>
            <a:ext cx="2743200" cy="566928"/>
          </a:xfrm>
          <a:prstGeom prst="roundRect">
            <a:avLst>
              <a:gd name="adj" fmla="val 16129"/>
            </a:avLst>
          </a:prstGeom>
          <a:solidFill>
            <a:schemeClr val="bg1"/>
          </a:solidFill>
          <a:ln w="19050">
            <a:solidFill>
              <a:schemeClr val="accent2"/>
            </a:solidFill>
            <a:prstDash val="solid"/>
          </a:ln>
        </p:spPr>
      </p:sp>
      <p:sp>
        <p:nvSpPr>
          <p:cNvPr id="8" name="Text 5"/>
          <p:cNvSpPr txBox="1"/>
          <p:nvPr/>
        </p:nvSpPr>
        <p:spPr>
          <a:xfrm>
            <a:off x="6172200" y="1828800"/>
            <a:ext cx="2743200" cy="566928"/>
          </a:xfrm>
          <a:prstGeom prst="rect">
            <a:avLst/>
          </a:prstGeom>
          <a:noFill/>
          <a:ln/>
        </p:spPr>
        <p:txBody>
          <a:bodyPr wrap="square" lIns="0" tIns="0" rIns="0" bIns="0" rtlCol="0" anchor="ctr"/>
          <a:lstStyle/>
          <a:p>
            <a:pPr algn="ctr" indent="0" marL="0">
              <a:buNone/>
            </a:pPr>
            <a:r>
              <a:rPr lang="en-US" sz="1500" b="1" dirty="0">
                <a:solidFill>
                  <a:schemeClr val="tx1"/>
                </a:solidFill>
              </a:rPr>
              <a:t>Step 1 runs</a:t>
            </a:r>
            <a:endParaRPr lang="en-US" sz="1500" dirty="0"/>
          </a:p>
        </p:txBody>
      </p:sp>
      <p:sp>
        <p:nvSpPr>
          <p:cNvPr id="9" name="Shape 6"/>
          <p:cNvSpPr/>
          <p:nvPr/>
        </p:nvSpPr>
        <p:spPr>
          <a:xfrm>
            <a:off x="7543800" y="2395728"/>
            <a:ext cx="0" cy="347472"/>
          </a:xfrm>
          <a:prstGeom prst="line">
            <a:avLst/>
          </a:prstGeom>
          <a:noFill/>
          <a:ln w="22225">
            <a:solidFill>
              <a:schemeClr val="accent2"/>
            </a:solidFill>
            <a:prstDash val="solid"/>
            <a:tailEnd type="triangle"/>
          </a:ln>
        </p:spPr>
      </p:sp>
      <p:sp>
        <p:nvSpPr>
          <p:cNvPr id="10" name="Shape 7"/>
          <p:cNvSpPr/>
          <p:nvPr/>
        </p:nvSpPr>
        <p:spPr>
          <a:xfrm>
            <a:off x="6172200" y="2743200"/>
            <a:ext cx="2743200" cy="566928"/>
          </a:xfrm>
          <a:prstGeom prst="roundRect">
            <a:avLst>
              <a:gd name="adj" fmla="val 16129"/>
            </a:avLst>
          </a:prstGeom>
          <a:solidFill>
            <a:srgbClr val="C0392B">
              <a:alpha val="10000"/>
            </a:srgbClr>
          </a:solidFill>
          <a:ln w="19050">
            <a:solidFill>
              <a:srgbClr val="C0392B"/>
            </a:solidFill>
            <a:prstDash val="solid"/>
          </a:ln>
        </p:spPr>
      </p:sp>
      <p:sp>
        <p:nvSpPr>
          <p:cNvPr id="11" name="Text 8"/>
          <p:cNvSpPr txBox="1"/>
          <p:nvPr/>
        </p:nvSpPr>
        <p:spPr>
          <a:xfrm>
            <a:off x="6172200" y="2743200"/>
            <a:ext cx="2743200" cy="566928"/>
          </a:xfrm>
          <a:prstGeom prst="rect">
            <a:avLst/>
          </a:prstGeom>
          <a:noFill/>
          <a:ln/>
        </p:spPr>
        <p:txBody>
          <a:bodyPr wrap="square" lIns="0" tIns="0" rIns="0" bIns="0" rtlCol="0" anchor="ctr"/>
          <a:lstStyle/>
          <a:p>
            <a:pPr algn="ctr" indent="0" marL="0">
              <a:buNone/>
            </a:pPr>
            <a:r>
              <a:rPr lang="en-US" sz="1500" b="1" dirty="0">
                <a:solidFill>
                  <a:schemeClr val="tx1"/>
                </a:solidFill>
              </a:rPr>
              <a:t>Step 2: </a:t>
            </a:r>
            <a:r>
              <a:rPr lang="en-US" sz="1500" b="1" dirty="0">
                <a:solidFill>
                  <a:schemeClr val="tx1"/>
                </a:solidFill>
                <a:latin typeface="Consolas" pitchFamily="34" charset="0"/>
                <a:ea typeface="Consolas" pitchFamily="34" charset="-122"/>
                <a:cs typeface="Consolas" pitchFamily="34" charset="-120"/>
              </a:rPr>
              <a:t>10 / 0</a:t>
            </a:r>
            <a:endParaRPr lang="en-US" sz="1500" dirty="0"/>
          </a:p>
        </p:txBody>
      </p:sp>
      <p:sp>
        <p:nvSpPr>
          <p:cNvPr id="12" name="Shape 9"/>
          <p:cNvSpPr/>
          <p:nvPr/>
        </p:nvSpPr>
        <p:spPr>
          <a:xfrm>
            <a:off x="7543800" y="3310128"/>
            <a:ext cx="0" cy="347472"/>
          </a:xfrm>
          <a:prstGeom prst="line">
            <a:avLst/>
          </a:prstGeom>
          <a:noFill/>
          <a:ln w="22225">
            <a:solidFill>
              <a:schemeClr val="tx2"/>
            </a:solidFill>
            <a:prstDash val="dash"/>
            <a:tailEnd type="triangle"/>
          </a:ln>
        </p:spPr>
      </p:sp>
      <p:sp>
        <p:nvSpPr>
          <p:cNvPr id="13" name="Shape 10"/>
          <p:cNvSpPr/>
          <p:nvPr/>
        </p:nvSpPr>
        <p:spPr>
          <a:xfrm>
            <a:off x="6172200" y="3657600"/>
            <a:ext cx="2743200" cy="566928"/>
          </a:xfrm>
          <a:prstGeom prst="roundRect">
            <a:avLst>
              <a:gd name="adj" fmla="val 16129"/>
            </a:avLst>
          </a:prstGeom>
          <a:solidFill>
            <a:schemeClr val="bg2"/>
          </a:solidFill>
          <a:ln w="19050">
            <a:solidFill>
              <a:schemeClr val="tx2"/>
            </a:solidFill>
            <a:prstDash val="dash"/>
          </a:ln>
        </p:spPr>
      </p:sp>
      <p:sp>
        <p:nvSpPr>
          <p:cNvPr id="14" name="Text 11"/>
          <p:cNvSpPr txBox="1"/>
          <p:nvPr/>
        </p:nvSpPr>
        <p:spPr>
          <a:xfrm>
            <a:off x="6172200" y="3657600"/>
            <a:ext cx="2743200" cy="566928"/>
          </a:xfrm>
          <a:prstGeom prst="rect">
            <a:avLst/>
          </a:prstGeom>
          <a:noFill/>
          <a:ln/>
        </p:spPr>
        <p:txBody>
          <a:bodyPr wrap="square" lIns="0" tIns="0" rIns="0" bIns="0" rtlCol="0" anchor="ctr"/>
          <a:lstStyle/>
          <a:p>
            <a:pPr algn="ctr" indent="0" marL="0">
              <a:buNone/>
            </a:pPr>
            <a:r>
              <a:rPr lang="en-US" sz="1500" b="1" dirty="0">
                <a:solidFill>
                  <a:schemeClr val="tx2"/>
                </a:solidFill>
              </a:rPr>
              <a:t>Step 3 is skipped</a:t>
            </a:r>
            <a:endParaRPr lang="en-US" sz="1500" dirty="0"/>
          </a:p>
        </p:txBody>
      </p:sp>
      <p:sp>
        <p:nvSpPr>
          <p:cNvPr id="15" name="Shape 12"/>
          <p:cNvSpPr/>
          <p:nvPr/>
        </p:nvSpPr>
        <p:spPr>
          <a:xfrm>
            <a:off x="8915400" y="3026664"/>
            <a:ext cx="411480" cy="0"/>
          </a:xfrm>
          <a:prstGeom prst="line">
            <a:avLst/>
          </a:prstGeom>
          <a:noFill/>
          <a:ln w="22225">
            <a:solidFill>
              <a:schemeClr val="accent1"/>
            </a:solidFill>
            <a:prstDash val="solid"/>
            <a:tailEnd type="triangle"/>
          </a:ln>
        </p:spPr>
      </p:sp>
      <p:sp>
        <p:nvSpPr>
          <p:cNvPr id="16" name="Text 13"/>
          <p:cNvSpPr txBox="1"/>
          <p:nvPr/>
        </p:nvSpPr>
        <p:spPr>
          <a:xfrm>
            <a:off x="9372600" y="2377440"/>
            <a:ext cx="2267712" cy="274320"/>
          </a:xfrm>
          <a:prstGeom prst="rect">
            <a:avLst/>
          </a:prstGeom>
          <a:noFill/>
          <a:ln/>
        </p:spPr>
        <p:txBody>
          <a:bodyPr wrap="square" lIns="0" tIns="0" rIns="0" bIns="0" rtlCol="0" anchor="t"/>
          <a:lstStyle/>
          <a:p>
            <a:pPr algn="l" indent="0" marL="0">
              <a:buNone/>
            </a:pPr>
            <a:r>
              <a:rPr lang="en-US" sz="1300" i="1" dirty="0">
                <a:solidFill>
                  <a:schemeClr val="tx2"/>
                </a:solidFill>
              </a:rPr>
              <a:t>something goes wrong</a:t>
            </a:r>
            <a:endParaRPr lang="en-US" sz="1300" dirty="0"/>
          </a:p>
        </p:txBody>
      </p:sp>
      <p:sp>
        <p:nvSpPr>
          <p:cNvPr id="17" name="Shape 14"/>
          <p:cNvSpPr/>
          <p:nvPr/>
        </p:nvSpPr>
        <p:spPr>
          <a:xfrm>
            <a:off x="9372600" y="2743200"/>
            <a:ext cx="2267712" cy="566928"/>
          </a:xfrm>
          <a:prstGeom prst="roundRect">
            <a:avLst>
              <a:gd name="adj" fmla="val 16129"/>
            </a:avLst>
          </a:prstGeom>
          <a:solidFill>
            <a:schemeClr val="accent1"/>
          </a:solidFill>
          <a:ln/>
        </p:spPr>
      </p:sp>
      <p:sp>
        <p:nvSpPr>
          <p:cNvPr id="18" name="Text 15"/>
          <p:cNvSpPr txBox="1"/>
          <p:nvPr/>
        </p:nvSpPr>
        <p:spPr>
          <a:xfrm>
            <a:off x="9372600" y="2743200"/>
            <a:ext cx="2267712" cy="566928"/>
          </a:xfrm>
          <a:prstGeom prst="rect">
            <a:avLst/>
          </a:prstGeom>
          <a:noFill/>
          <a:ln/>
        </p:spPr>
        <p:txBody>
          <a:bodyPr wrap="square" lIns="0" tIns="0" rIns="0" bIns="0" rtlCol="0" anchor="ctr"/>
          <a:lstStyle/>
          <a:p>
            <a:pPr algn="ctr" indent="0" marL="0">
              <a:buNone/>
            </a:pPr>
            <a:r>
              <a:rPr lang="en-US" sz="1500" b="1" dirty="0">
                <a:solidFill>
                  <a:schemeClr val="bg1"/>
                </a:solidFill>
              </a:rPr>
              <a:t>exception thrown</a:t>
            </a:r>
            <a:endParaRPr lang="en-US" sz="1500" dirty="0"/>
          </a:p>
        </p:txBody>
      </p:sp>
      <p:sp>
        <p:nvSpPr>
          <p:cNvPr id="19" name="Shape 16"/>
          <p:cNvSpPr/>
          <p:nvPr/>
        </p:nvSpPr>
        <p:spPr>
          <a:xfrm>
            <a:off x="10506456" y="3310128"/>
            <a:ext cx="0" cy="347472"/>
          </a:xfrm>
          <a:prstGeom prst="line">
            <a:avLst/>
          </a:prstGeom>
          <a:noFill/>
          <a:ln w="22225">
            <a:solidFill>
              <a:schemeClr val="accent3"/>
            </a:solidFill>
            <a:prstDash val="solid"/>
            <a:tailEnd type="triangle"/>
          </a:ln>
        </p:spPr>
      </p:sp>
      <p:sp>
        <p:nvSpPr>
          <p:cNvPr id="20" name="Shape 17"/>
          <p:cNvSpPr/>
          <p:nvPr/>
        </p:nvSpPr>
        <p:spPr>
          <a:xfrm>
            <a:off x="9372600" y="3657600"/>
            <a:ext cx="2267712" cy="566928"/>
          </a:xfrm>
          <a:prstGeom prst="roundRect">
            <a:avLst>
              <a:gd name="adj" fmla="val 16129"/>
            </a:avLst>
          </a:prstGeom>
          <a:solidFill>
            <a:schemeClr val="accent3">
              <a:alpha val="14000"/>
            </a:schemeClr>
          </a:solidFill>
          <a:ln w="19050">
            <a:solidFill>
              <a:schemeClr val="accent3"/>
            </a:solidFill>
            <a:prstDash val="solid"/>
          </a:ln>
        </p:spPr>
      </p:sp>
      <p:sp>
        <p:nvSpPr>
          <p:cNvPr id="21" name="Text 18"/>
          <p:cNvSpPr txBox="1"/>
          <p:nvPr/>
        </p:nvSpPr>
        <p:spPr>
          <a:xfrm>
            <a:off x="9372600" y="3657600"/>
            <a:ext cx="2267712" cy="566928"/>
          </a:xfrm>
          <a:prstGeom prst="rect">
            <a:avLst/>
          </a:prstGeom>
          <a:noFill/>
          <a:ln/>
        </p:spPr>
        <p:txBody>
          <a:bodyPr wrap="square" lIns="0" tIns="0" rIns="0" bIns="0" rtlCol="0" anchor="ctr"/>
          <a:lstStyle/>
          <a:p>
            <a:pPr algn="ctr" indent="0" marL="0">
              <a:buNone/>
            </a:pPr>
            <a:r>
              <a:rPr lang="en-US" sz="1500" b="1" dirty="0">
                <a:solidFill>
                  <a:schemeClr val="accent3"/>
                </a:solidFill>
              </a:rPr>
              <a:t>catch: recover</a:t>
            </a:r>
            <a:endParaRPr lang="en-US" sz="1500" dirty="0"/>
          </a:p>
        </p:txBody>
      </p:sp>
      <p:sp>
        <p:nvSpPr>
          <p:cNvPr id="22" name="Shape 19"/>
          <p:cNvSpPr/>
          <p:nvPr/>
        </p:nvSpPr>
        <p:spPr>
          <a:xfrm>
            <a:off x="10506456" y="4224528"/>
            <a:ext cx="0" cy="393192"/>
          </a:xfrm>
          <a:prstGeom prst="line">
            <a:avLst/>
          </a:prstGeom>
          <a:noFill/>
          <a:ln w="22225">
            <a:solidFill>
              <a:schemeClr val="accent3"/>
            </a:solidFill>
            <a:prstDash val="solid"/>
            <a:tailEnd type="triangle"/>
          </a:ln>
        </p:spPr>
      </p:sp>
      <p:sp>
        <p:nvSpPr>
          <p:cNvPr id="23" name="Shape 20"/>
          <p:cNvSpPr/>
          <p:nvPr/>
        </p:nvSpPr>
        <p:spPr>
          <a:xfrm>
            <a:off x="6172200" y="4617720"/>
            <a:ext cx="5468112" cy="566928"/>
          </a:xfrm>
          <a:prstGeom prst="roundRect">
            <a:avLst>
              <a:gd name="adj" fmla="val 16129"/>
            </a:avLst>
          </a:prstGeom>
          <a:solidFill>
            <a:schemeClr val="accent6"/>
          </a:solidFill>
          <a:ln/>
        </p:spPr>
      </p:sp>
      <p:sp>
        <p:nvSpPr>
          <p:cNvPr id="24" name="Text 21"/>
          <p:cNvSpPr txBox="1"/>
          <p:nvPr/>
        </p:nvSpPr>
        <p:spPr>
          <a:xfrm>
            <a:off x="6172200" y="4617720"/>
            <a:ext cx="5468112" cy="566928"/>
          </a:xfrm>
          <a:prstGeom prst="rect">
            <a:avLst/>
          </a:prstGeom>
          <a:noFill/>
          <a:ln/>
        </p:spPr>
        <p:txBody>
          <a:bodyPr wrap="square" lIns="0" tIns="0" rIns="0" bIns="0" rtlCol="0" anchor="ctr"/>
          <a:lstStyle/>
          <a:p>
            <a:pPr algn="ctr" indent="0" marL="0">
              <a:buNone/>
            </a:pPr>
            <a:r>
              <a:rPr lang="en-US" sz="1500" b="1" dirty="0">
                <a:solidFill>
                  <a:schemeClr val="tx1"/>
                </a:solidFill>
              </a:rPr>
              <a:t>The program carries on</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3</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Exceptions and errors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What’s the difference between an exception and an Error in Java?</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An exception stops the compiler; an Error doesn’t</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An Error is just a checked exception</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We can recover from an exception; an Error is too serious</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They’re two names for the same thing</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3</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Exceptions and errors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What’s the difference between an exception and an Error in Java?</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An exception stops the compiler; an Error doesn’t</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An Error is just a checked exception</a:t>
            </a:r>
            <a:endParaRPr lang="en-US"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3" name="Option C text"/>
          <p:cNvSpPr txBox="1"/>
          <p:nvPr/>
        </p:nvSpPr>
        <p:spPr>
          <a:xfrm>
            <a:off x="1371600" y="3721608"/>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We can recover from an exception; an Error is too serious</a:t>
            </a:r>
            <a:endParaRPr lang="en-US" sz="1700" dirty="0"/>
          </a:p>
        </p:txBody>
      </p:sp>
      <p:pic>
        <p:nvPicPr>
          <p:cNvPr id="14" name="Image 0"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They’re two names for the same thing</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Both happen while the program runs. An exception, like a missing file, is something a program can catch and recover from. An </a:t>
            </a:r>
            <a:r>
              <a:rPr lang="en-US" sz="1800" dirty="0">
                <a:solidFill>
                  <a:schemeClr val="accent2"/>
                </a:solidFill>
                <a:latin typeface="Consolas" pitchFamily="34" charset="0"/>
                <a:ea typeface="Consolas" pitchFamily="34" charset="-122"/>
                <a:cs typeface="Consolas" pitchFamily="34" charset="-120"/>
              </a:rPr>
              <a:t>Error</a:t>
            </a:r>
            <a:r>
              <a:rPr lang="en-US" sz="1800" dirty="0">
                <a:solidFill>
                  <a:schemeClr val="tx1"/>
                </a:solidFill>
              </a:rPr>
              <a:t>, such as </a:t>
            </a:r>
            <a:r>
              <a:rPr lang="en-US" sz="1800" dirty="0">
                <a:solidFill>
                  <a:schemeClr val="accent2"/>
                </a:solidFill>
                <a:latin typeface="Consolas" pitchFamily="34" charset="0"/>
                <a:ea typeface="Consolas" pitchFamily="34" charset="-122"/>
                <a:cs typeface="Consolas" pitchFamily="34" charset="-120"/>
              </a:rPr>
              <a:t>OutOfMemoryError</a:t>
            </a:r>
            <a:r>
              <a:rPr lang="en-US" sz="1800" dirty="0">
                <a:solidFill>
                  <a:schemeClr val="tx1"/>
                </a:solidFill>
              </a:rPr>
              <a:t>, is a serious problem that programs aren’t expected to catch or recover from.</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ERRORS AND EXCEPTIONS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Checked and unchecked exceptions</a:t>
            </a:r>
            <a:endParaRPr lang="en-US" sz="3400" dirty="0"/>
          </a:p>
        </p:txBody>
      </p:sp>
      <p:sp>
        <p:nvSpPr>
          <p:cNvPr id="5" name="Checked"/>
          <p:cNvSpPr/>
          <p:nvPr/>
        </p:nvSpPr>
        <p:spPr>
          <a:xfrm>
            <a:off x="548640" y="1691640"/>
            <a:ext cx="5387188" cy="3566160"/>
          </a:xfrm>
          <a:prstGeom prst="roundRect">
            <a:avLst>
              <a:gd name="adj" fmla="val 3077"/>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1965960"/>
            <a:ext cx="640080" cy="640080"/>
          </a:xfrm>
          <a:prstGeom prst="roundRect">
            <a:avLst>
              <a:gd name="adj" fmla="val 24000"/>
            </a:avLst>
          </a:prstGeom>
          <a:solidFill>
            <a:schemeClr val="accent2">
              <a:alpha val="14000"/>
            </a:schemeClr>
          </a:solidFill>
          <a:ln/>
        </p:spPr>
      </p:sp>
      <p:pic>
        <p:nvPicPr>
          <p:cNvPr id="7" name="Image 0" descr="list checks icon">    </p:cNvPr>
          <p:cNvPicPr>
            <a:picLocks noChangeAspect="1"/>
          </p:cNvPicPr>
          <p:nvPr/>
        </p:nvPicPr>
        <p:blipFill>
          <a:blip r:embed="rId1"/>
          <a:stretch>
            <a:fillRect/>
          </a:stretch>
        </p:blipFill>
        <p:spPr>
          <a:xfrm>
            <a:off x="957377" y="2100377"/>
            <a:ext cx="371246" cy="371246"/>
          </a:xfrm>
          <a:prstGeom prst="rect">
            <a:avLst/>
          </a:prstGeom>
        </p:spPr>
      </p:pic>
      <p:sp>
        <p:nvSpPr>
          <p:cNvPr id="8" name="Text 4"/>
          <p:cNvSpPr txBox="1"/>
          <p:nvPr/>
        </p:nvSpPr>
        <p:spPr>
          <a:xfrm>
            <a:off x="1600200" y="1965960"/>
            <a:ext cx="4107028" cy="640080"/>
          </a:xfrm>
          <a:prstGeom prst="rect">
            <a:avLst/>
          </a:prstGeom>
          <a:noFill/>
          <a:ln/>
        </p:spPr>
        <p:txBody>
          <a:bodyPr wrap="square" lIns="0" tIns="0" rIns="0" bIns="0" rtlCol="0" anchor="ctr"/>
          <a:lstStyle/>
          <a:p>
            <a:pPr algn="l" indent="0" marL="0">
              <a:buNone/>
            </a:pPr>
            <a:r>
              <a:rPr lang="en-US" sz="2400" b="1" dirty="0">
                <a:solidFill>
                  <a:schemeClr val="accent2"/>
                </a:solidFill>
              </a:rPr>
              <a:t>Checked</a:t>
            </a:r>
            <a:endParaRPr lang="en-US" sz="2400" dirty="0"/>
          </a:p>
        </p:txBody>
      </p:sp>
      <p:sp>
        <p:nvSpPr>
          <p:cNvPr id="9" name="Text 5"/>
          <p:cNvSpPr txBox="1"/>
          <p:nvPr/>
        </p:nvSpPr>
        <p:spPr>
          <a:xfrm>
            <a:off x="868680" y="2880360"/>
            <a:ext cx="4747108" cy="210312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Problems we can expect in advance, like a missing file.</a:t>
            </a:r>
            <a:endParaRPr lang="en-US" sz="1700" dirty="0"/>
          </a:p>
          <a:p>
            <a:pPr marL="228600" indent="-228600">
              <a:spcAft>
                <a:spcPts val="1000"/>
              </a:spcAft>
              <a:buSzPct val="100000"/>
              <a:buChar char="•"/>
            </a:pPr>
            <a:r>
              <a:rPr lang="en-US" sz="1700" dirty="0">
                <a:solidFill>
                  <a:schemeClr val="tx1"/>
                </a:solidFill>
              </a:rPr>
              <a:t>The compiler makes us deal with them: a try/catch, or </a:t>
            </a:r>
            <a:r>
              <a:rPr lang="en-US" sz="1700" dirty="0">
                <a:solidFill>
                  <a:schemeClr val="accent2"/>
                </a:solidFill>
                <a:latin typeface="Consolas" pitchFamily="34" charset="0"/>
                <a:ea typeface="Consolas" pitchFamily="34" charset="-122"/>
                <a:cs typeface="Consolas" pitchFamily="34" charset="-120"/>
              </a:rPr>
              <a:t>throws</a:t>
            </a:r>
            <a:r>
              <a:rPr lang="en-US" sz="1700" dirty="0">
                <a:solidFill>
                  <a:schemeClr val="tx1"/>
                </a:solidFill>
              </a:rPr>
              <a:t> on the method.</a:t>
            </a:r>
            <a:endParaRPr lang="en-US" sz="1700" dirty="0"/>
          </a:p>
          <a:p>
            <a:pPr marL="228600" indent="-228600">
              <a:buSzPct val="100000"/>
              <a:buChar char="•"/>
            </a:pPr>
            <a:r>
              <a:rPr lang="en-US" sz="1700" dirty="0">
                <a:solidFill>
                  <a:schemeClr val="tx1"/>
                </a:solidFill>
              </a:rPr>
              <a:t>For example </a:t>
            </a:r>
            <a:r>
              <a:rPr lang="en-US" sz="1700" dirty="0">
                <a:solidFill>
                  <a:schemeClr val="accent2"/>
                </a:solidFill>
                <a:latin typeface="Consolas" pitchFamily="34" charset="0"/>
                <a:ea typeface="Consolas" pitchFamily="34" charset="-122"/>
                <a:cs typeface="Consolas" pitchFamily="34" charset="-120"/>
              </a:rPr>
              <a:t>FileNotFoundException</a:t>
            </a:r>
            <a:r>
              <a:rPr lang="en-US" sz="1700" dirty="0">
                <a:solidFill>
                  <a:schemeClr val="tx1"/>
                </a:solidFill>
              </a:rPr>
              <a:t> and </a:t>
            </a:r>
            <a:r>
              <a:rPr lang="en-US" sz="1700" dirty="0">
                <a:solidFill>
                  <a:schemeClr val="accent2"/>
                </a:solidFill>
                <a:latin typeface="Consolas" pitchFamily="34" charset="0"/>
                <a:ea typeface="Consolas" pitchFamily="34" charset="-122"/>
                <a:cs typeface="Consolas" pitchFamily="34" charset="-120"/>
              </a:rPr>
              <a:t>IOException</a:t>
            </a:r>
            <a:r>
              <a:rPr lang="en-US" sz="1700" dirty="0">
                <a:solidFill>
                  <a:schemeClr val="tx1"/>
                </a:solidFill>
              </a:rPr>
              <a:t>.</a:t>
            </a:r>
            <a:endParaRPr lang="en-US" sz="1700" dirty="0"/>
          </a:p>
        </p:txBody>
      </p:sp>
      <p:sp>
        <p:nvSpPr>
          <p:cNvPr id="10" name="Unchecked"/>
          <p:cNvSpPr/>
          <p:nvPr/>
        </p:nvSpPr>
        <p:spPr>
          <a:xfrm>
            <a:off x="6255868" y="1691640"/>
            <a:ext cx="5387188" cy="3566160"/>
          </a:xfrm>
          <a:prstGeom prst="roundRect">
            <a:avLst>
              <a:gd name="adj" fmla="val 3077"/>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6530188" y="1965960"/>
            <a:ext cx="640080" cy="640080"/>
          </a:xfrm>
          <a:prstGeom prst="roundRect">
            <a:avLst>
              <a:gd name="adj" fmla="val 24000"/>
            </a:avLst>
          </a:prstGeom>
          <a:solidFill>
            <a:schemeClr val="accent1">
              <a:alpha val="14000"/>
            </a:schemeClr>
          </a:solidFill>
          <a:ln/>
        </p:spPr>
      </p:sp>
      <p:pic>
        <p:nvPicPr>
          <p:cNvPr id="12" name="Image 1" descr="lightning icon">    </p:cNvPr>
          <p:cNvPicPr>
            <a:picLocks noChangeAspect="1"/>
          </p:cNvPicPr>
          <p:nvPr/>
        </p:nvPicPr>
        <p:blipFill>
          <a:blip r:embed="rId2"/>
          <a:stretch>
            <a:fillRect/>
          </a:stretch>
        </p:blipFill>
        <p:spPr>
          <a:xfrm>
            <a:off x="6664604" y="2100377"/>
            <a:ext cx="371246" cy="371246"/>
          </a:xfrm>
          <a:prstGeom prst="rect">
            <a:avLst/>
          </a:prstGeom>
        </p:spPr>
      </p:pic>
      <p:sp>
        <p:nvSpPr>
          <p:cNvPr id="13" name="Text 8"/>
          <p:cNvSpPr txBox="1"/>
          <p:nvPr/>
        </p:nvSpPr>
        <p:spPr>
          <a:xfrm>
            <a:off x="7307428" y="1965960"/>
            <a:ext cx="4107028" cy="640080"/>
          </a:xfrm>
          <a:prstGeom prst="rect">
            <a:avLst/>
          </a:prstGeom>
          <a:noFill/>
          <a:ln/>
        </p:spPr>
        <p:txBody>
          <a:bodyPr wrap="square" lIns="0" tIns="0" rIns="0" bIns="0" rtlCol="0" anchor="ctr"/>
          <a:lstStyle/>
          <a:p>
            <a:pPr algn="l" indent="0" marL="0">
              <a:buNone/>
            </a:pPr>
            <a:r>
              <a:rPr lang="en-US" sz="2400" b="1" dirty="0">
                <a:solidFill>
                  <a:schemeClr val="accent1"/>
                </a:solidFill>
              </a:rPr>
              <a:t>Unchecked</a:t>
            </a:r>
            <a:endParaRPr lang="en-US" sz="2400" dirty="0"/>
          </a:p>
        </p:txBody>
      </p:sp>
      <p:sp>
        <p:nvSpPr>
          <p:cNvPr id="14" name="Text 9"/>
          <p:cNvSpPr txBox="1"/>
          <p:nvPr/>
        </p:nvSpPr>
        <p:spPr>
          <a:xfrm>
            <a:off x="6575908" y="2880360"/>
            <a:ext cx="4747108" cy="210312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Usually a slip in our own code or bad data, like dividing by zero or a wrong index.</a:t>
            </a:r>
            <a:endParaRPr lang="en-US" sz="1700" dirty="0"/>
          </a:p>
          <a:p>
            <a:pPr marL="228600" indent="-228600">
              <a:spcAft>
                <a:spcPts val="1000"/>
              </a:spcAft>
              <a:buSzPct val="100000"/>
              <a:buChar char="•"/>
            </a:pPr>
            <a:r>
              <a:rPr lang="en-US" sz="1700" dirty="0">
                <a:solidFill>
                  <a:schemeClr val="tx1"/>
                </a:solidFill>
              </a:rPr>
              <a:t>The compiler doesn’t make us handle them, but we can.</a:t>
            </a:r>
            <a:endParaRPr lang="en-US" sz="1700" dirty="0"/>
          </a:p>
          <a:p>
            <a:pPr marL="228600" indent="-228600">
              <a:buSzPct val="100000"/>
              <a:buChar char="•"/>
            </a:pPr>
            <a:r>
              <a:rPr lang="en-US" sz="1700" dirty="0">
                <a:solidFill>
                  <a:schemeClr val="tx1"/>
                </a:solidFill>
              </a:rPr>
              <a:t>For example </a:t>
            </a:r>
            <a:r>
              <a:rPr lang="en-US" sz="1700" dirty="0">
                <a:solidFill>
                  <a:schemeClr val="accent2"/>
                </a:solidFill>
                <a:latin typeface="Consolas" pitchFamily="34" charset="0"/>
                <a:ea typeface="Consolas" pitchFamily="34" charset="-122"/>
                <a:cs typeface="Consolas" pitchFamily="34" charset="-120"/>
              </a:rPr>
              <a:t>ArithmeticException</a:t>
            </a:r>
            <a:r>
              <a:rPr lang="en-US" sz="1700" dirty="0">
                <a:solidFill>
                  <a:schemeClr val="tx1"/>
                </a:solidFill>
              </a:rPr>
              <a:t> and </a:t>
            </a:r>
            <a:r>
              <a:rPr lang="en-US" sz="1700" dirty="0">
                <a:solidFill>
                  <a:schemeClr val="accent2"/>
                </a:solidFill>
                <a:latin typeface="Consolas" pitchFamily="34" charset="0"/>
                <a:ea typeface="Consolas" pitchFamily="34" charset="-122"/>
                <a:cs typeface="Consolas" pitchFamily="34" charset="-120"/>
              </a:rPr>
              <a:t>NullPointerException</a:t>
            </a:r>
            <a:r>
              <a:rPr lang="en-US" sz="1700" dirty="0">
                <a:solidFill>
                  <a:schemeClr val="tx1"/>
                </a:solidFill>
              </a:rPr>
              <a:t>.</a:t>
            </a:r>
            <a:endParaRPr lang="en-US" sz="1700" dirty="0"/>
          </a:p>
        </p:txBody>
      </p:sp>
      <p:sp>
        <p:nvSpPr>
          <p:cNvPr id="15" name="Note"/>
          <p:cNvSpPr/>
          <p:nvPr/>
        </p:nvSpPr>
        <p:spPr>
          <a:xfrm>
            <a:off x="548640" y="5486400"/>
            <a:ext cx="11094415" cy="685800"/>
          </a:xfrm>
          <a:prstGeom prst="roundRect">
            <a:avLst>
              <a:gd name="adj" fmla="val 16000"/>
            </a:avLst>
          </a:prstGeom>
          <a:solidFill>
            <a:schemeClr val="bg2"/>
          </a:solidFill>
          <a:ln/>
        </p:spPr>
      </p:sp>
      <p:sp>
        <p:nvSpPr>
          <p:cNvPr id="16" name="Icon tile"/>
          <p:cNvSpPr/>
          <p:nvPr/>
        </p:nvSpPr>
        <p:spPr>
          <a:xfrm>
            <a:off x="822960" y="5596128"/>
            <a:ext cx="466344" cy="466344"/>
          </a:xfrm>
          <a:prstGeom prst="roundRect">
            <a:avLst>
              <a:gd name="adj" fmla="val 24000"/>
            </a:avLst>
          </a:prstGeom>
          <a:solidFill>
            <a:schemeClr val="accent2">
              <a:alpha val="14000"/>
            </a:schemeClr>
          </a:solidFill>
          <a:ln/>
        </p:spPr>
      </p:sp>
      <p:pic>
        <p:nvPicPr>
          <p:cNvPr id="17" name="Image 2" descr="signpost icon">    </p:cNvPr>
          <p:cNvPicPr>
            <a:picLocks noChangeAspect="1"/>
          </p:cNvPicPr>
          <p:nvPr/>
        </p:nvPicPr>
        <p:blipFill>
          <a:blip r:embed="rId3"/>
          <a:stretch>
            <a:fillRect/>
          </a:stretch>
        </p:blipFill>
        <p:spPr>
          <a:xfrm>
            <a:off x="920892" y="5694060"/>
            <a:ext cx="270480" cy="270480"/>
          </a:xfrm>
          <a:prstGeom prst="rect">
            <a:avLst/>
          </a:prstGeom>
        </p:spPr>
      </p:pic>
      <p:sp>
        <p:nvSpPr>
          <p:cNvPr id="18" name="Text 12"/>
          <p:cNvSpPr txBox="1"/>
          <p:nvPr/>
        </p:nvSpPr>
        <p:spPr>
          <a:xfrm>
            <a:off x="1508760" y="5486400"/>
            <a:ext cx="9878263" cy="685800"/>
          </a:xfrm>
          <a:prstGeom prst="rect">
            <a:avLst/>
          </a:prstGeom>
          <a:noFill/>
          <a:ln/>
        </p:spPr>
        <p:txBody>
          <a:bodyPr wrap="square" lIns="0" tIns="0" rIns="0" bIns="0" rtlCol="0" anchor="ctr"/>
          <a:lstStyle/>
          <a:p>
            <a:pPr algn="l" indent="0" marL="0">
              <a:buNone/>
            </a:pPr>
            <a:r>
              <a:rPr lang="en-US" sz="1600" dirty="0">
                <a:solidFill>
                  <a:schemeClr val="tx1"/>
                </a:solidFill>
              </a:rPr>
              <a:t>Everything under </a:t>
            </a:r>
            <a:r>
              <a:rPr lang="en-US" sz="1600" dirty="0">
                <a:solidFill>
                  <a:schemeClr val="accent2"/>
                </a:solidFill>
                <a:latin typeface="Consolas" pitchFamily="34" charset="0"/>
                <a:ea typeface="Consolas" pitchFamily="34" charset="-122"/>
                <a:cs typeface="Consolas" pitchFamily="34" charset="-120"/>
              </a:rPr>
              <a:t>RuntimeException</a:t>
            </a:r>
            <a:r>
              <a:rPr lang="en-US" sz="1600" dirty="0">
                <a:solidFill>
                  <a:schemeClr val="tx1"/>
                </a:solidFill>
              </a:rPr>
              <a:t>, and </a:t>
            </a:r>
            <a:r>
              <a:rPr lang="en-US" sz="1600" dirty="0">
                <a:solidFill>
                  <a:schemeClr val="accent2"/>
                </a:solidFill>
                <a:latin typeface="Consolas" pitchFamily="34" charset="0"/>
                <a:ea typeface="Consolas" pitchFamily="34" charset="-122"/>
                <a:cs typeface="Consolas" pitchFamily="34" charset="-120"/>
              </a:rPr>
              <a:t>Error</a:t>
            </a:r>
            <a:r>
              <a:rPr lang="en-US" sz="1600" dirty="0">
                <a:solidFill>
                  <a:schemeClr val="tx1"/>
                </a:solidFill>
              </a:rPr>
              <a:t>, is unchecked. Every other exception is checked.</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4</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Checked exceptions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Which of these is a checked exception, one the compiler makes us deal with?</a:t>
            </a:r>
            <a:endParaRPr lang="en-US" sz="2800" dirty="0"/>
          </a:p>
        </p:txBody>
      </p:sp>
      <p:sp>
        <p:nvSpPr>
          <p:cNvPr id="5" name="Option A"/>
          <p:cNvSpPr/>
          <p:nvPr/>
        </p:nvSpPr>
        <p:spPr>
          <a:xfrm>
            <a:off x="548640" y="233172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48716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377440"/>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ArithmeticException</a:t>
            </a:r>
            <a:endParaRPr lang="en-US" sz="1900" dirty="0"/>
          </a:p>
        </p:txBody>
      </p:sp>
      <p:sp>
        <p:nvSpPr>
          <p:cNvPr id="8" name="Option B"/>
          <p:cNvSpPr/>
          <p:nvPr/>
        </p:nvSpPr>
        <p:spPr>
          <a:xfrm>
            <a:off x="548640" y="331927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47472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364992"/>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NullPointerException</a:t>
            </a:r>
            <a:endParaRPr lang="en-US" sz="1900" dirty="0"/>
          </a:p>
        </p:txBody>
      </p:sp>
      <p:sp>
        <p:nvSpPr>
          <p:cNvPr id="11" name="Option C"/>
          <p:cNvSpPr/>
          <p:nvPr/>
        </p:nvSpPr>
        <p:spPr>
          <a:xfrm>
            <a:off x="548640" y="430682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622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352544"/>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ArrayIndexOutOfBoundsException</a:t>
            </a:r>
            <a:endParaRPr lang="en-US" sz="1900" dirty="0"/>
          </a:p>
        </p:txBody>
      </p:sp>
      <p:sp>
        <p:nvSpPr>
          <p:cNvPr id="14" name="Option D"/>
          <p:cNvSpPr/>
          <p:nvPr/>
        </p:nvSpPr>
        <p:spPr>
          <a:xfrm>
            <a:off x="548640" y="529437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44982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340096"/>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FileNotFoundException</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4</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Checked exceptions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Which of these is a checked exception, one the compiler makes us deal with?</a:t>
            </a:r>
            <a:endParaRPr lang="en-US"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ArithmeticException</a:t>
            </a:r>
            <a:endParaRPr lang="en-US"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NullPointerException</a:t>
            </a:r>
            <a:endParaRPr lang="en-US" sz="1700" dirty="0"/>
          </a:p>
        </p:txBody>
      </p:sp>
      <p:sp>
        <p:nvSpPr>
          <p:cNvPr id="11"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3"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ArrayIndexOutOfBoundsException</a:t>
            </a:r>
            <a:endParaRPr lang="en-US" sz="1700" dirty="0"/>
          </a:p>
        </p:txBody>
      </p:sp>
      <p:sp>
        <p:nvSpPr>
          <p:cNvPr id="14" name="Option D (correct)"/>
          <p:cNvSpPr/>
          <p:nvPr/>
        </p:nvSpPr>
        <p:spPr>
          <a:xfrm>
            <a:off x="548640" y="3941064"/>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023360"/>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6" name="Option D text"/>
          <p:cNvSpPr txBox="1"/>
          <p:nvPr/>
        </p:nvSpPr>
        <p:spPr>
          <a:xfrm>
            <a:off x="1371600" y="3941064"/>
            <a:ext cx="9704527" cy="585216"/>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FileNotFoundException</a:t>
            </a:r>
            <a:endParaRPr lang="en-US" sz="1700" dirty="0"/>
          </a:p>
        </p:txBody>
      </p:sp>
      <p:pic>
        <p:nvPicPr>
          <p:cNvPr id="17" name="Image 0" descr="Correct mark">    </p:cNvPr>
          <p:cNvPicPr>
            <a:picLocks noChangeAspect="1"/>
          </p:cNvPicPr>
          <p:nvPr/>
        </p:nvPicPr>
        <p:blipFill>
          <a:blip r:embed="rId1"/>
          <a:stretch>
            <a:fillRect/>
          </a:stretch>
        </p:blipFill>
        <p:spPr>
          <a:xfrm>
            <a:off x="11094415" y="4050792"/>
            <a:ext cx="365760" cy="365760"/>
          </a:xfrm>
          <a:prstGeom prst="rect">
            <a:avLst/>
          </a:prstGeom>
        </p:spPr>
      </p:pic>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algn="l" indent="0" marL="0">
              <a:buNone/>
            </a:pPr>
            <a:r>
              <a:rPr lang="en-US" sz="1600" dirty="0">
                <a:solidFill>
                  <a:schemeClr val="accent2"/>
                </a:solidFill>
                <a:latin typeface="Consolas" pitchFamily="34" charset="0"/>
                <a:ea typeface="Consolas" pitchFamily="34" charset="-122"/>
                <a:cs typeface="Consolas" pitchFamily="34" charset="-120"/>
              </a:rPr>
              <a:t>FileNotFoundException</a:t>
            </a:r>
            <a:r>
              <a:rPr lang="en-US" sz="1600" dirty="0">
                <a:solidFill>
                  <a:schemeClr val="tx1"/>
                </a:solidFill>
              </a:rPr>
              <a:t> is checked: opening a file is something we can plan for, so the compiler won’t build the code until we catch it or declare it with throws. The other three are </a:t>
            </a:r>
            <a:r>
              <a:rPr lang="en-US" sz="1600" dirty="0">
                <a:solidFill>
                  <a:schemeClr val="accent2"/>
                </a:solidFill>
                <a:latin typeface="Consolas" pitchFamily="34" charset="0"/>
                <a:ea typeface="Consolas" pitchFamily="34" charset="-122"/>
                <a:cs typeface="Consolas" pitchFamily="34" charset="-120"/>
              </a:rPr>
              <a:t>RuntimeException</a:t>
            </a:r>
            <a:r>
              <a:rPr lang="en-US" sz="1600" dirty="0">
                <a:solidFill>
                  <a:schemeClr val="tx1"/>
                </a:solidFill>
              </a:rPr>
              <a:t>s, so they’re unchecked.</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ERRORS AND EXCEPTIONS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The exception family tree</a:t>
            </a:r>
            <a:endParaRPr lang="en-US" sz="3400" dirty="0"/>
          </a:p>
        </p:txBody>
      </p:sp>
      <p:sp>
        <p:nvSpPr>
          <p:cNvPr id="5" name="Shape 2"/>
          <p:cNvSpPr/>
          <p:nvPr/>
        </p:nvSpPr>
        <p:spPr>
          <a:xfrm>
            <a:off x="548640" y="1847088"/>
            <a:ext cx="457200" cy="274320"/>
          </a:xfrm>
          <a:prstGeom prst="roundRect">
            <a:avLst>
              <a:gd name="adj" fmla="val 20000"/>
            </a:avLst>
          </a:prstGeom>
          <a:solidFill>
            <a:schemeClr val="accent2">
              <a:alpha val="10000"/>
            </a:schemeClr>
          </a:solidFill>
          <a:ln w="15875">
            <a:solidFill>
              <a:schemeClr val="accent2"/>
            </a:solidFill>
            <a:prstDash val="solid"/>
          </a:ln>
        </p:spPr>
      </p:sp>
      <p:sp>
        <p:nvSpPr>
          <p:cNvPr id="6" name="Text 3"/>
          <p:cNvSpPr txBox="1"/>
          <p:nvPr/>
        </p:nvSpPr>
        <p:spPr>
          <a:xfrm>
            <a:off x="1143000" y="1810512"/>
            <a:ext cx="2468880" cy="347472"/>
          </a:xfrm>
          <a:prstGeom prst="rect">
            <a:avLst/>
          </a:prstGeom>
          <a:noFill/>
          <a:ln/>
        </p:spPr>
        <p:txBody>
          <a:bodyPr wrap="square" lIns="0" tIns="0" rIns="0" bIns="0" rtlCol="0" anchor="ctr"/>
          <a:lstStyle/>
          <a:p>
            <a:pPr algn="l" indent="0" marL="0">
              <a:buNone/>
            </a:pPr>
            <a:r>
              <a:rPr lang="en-US" sz="1300" dirty="0">
                <a:solidFill>
                  <a:schemeClr val="tx2"/>
                </a:solidFill>
              </a:rPr>
              <a:t>Checked: must be handled</a:t>
            </a:r>
            <a:endParaRPr lang="en-US" sz="1300" dirty="0"/>
          </a:p>
        </p:txBody>
      </p:sp>
      <p:sp>
        <p:nvSpPr>
          <p:cNvPr id="7" name="Shape 4"/>
          <p:cNvSpPr/>
          <p:nvPr/>
        </p:nvSpPr>
        <p:spPr>
          <a:xfrm>
            <a:off x="548640" y="2276856"/>
            <a:ext cx="457200" cy="274320"/>
          </a:xfrm>
          <a:prstGeom prst="roundRect">
            <a:avLst>
              <a:gd name="adj" fmla="val 20000"/>
            </a:avLst>
          </a:prstGeom>
          <a:solidFill>
            <a:schemeClr val="accent1">
              <a:alpha val="14000"/>
            </a:schemeClr>
          </a:solidFill>
          <a:ln w="15875">
            <a:solidFill>
              <a:schemeClr val="accent1"/>
            </a:solidFill>
            <a:prstDash val="solid"/>
          </a:ln>
        </p:spPr>
      </p:sp>
      <p:sp>
        <p:nvSpPr>
          <p:cNvPr id="8" name="Text 5"/>
          <p:cNvSpPr txBox="1"/>
          <p:nvPr/>
        </p:nvSpPr>
        <p:spPr>
          <a:xfrm>
            <a:off x="1143000" y="2240280"/>
            <a:ext cx="2468880" cy="347472"/>
          </a:xfrm>
          <a:prstGeom prst="rect">
            <a:avLst/>
          </a:prstGeom>
          <a:noFill/>
          <a:ln/>
        </p:spPr>
        <p:txBody>
          <a:bodyPr wrap="square" lIns="0" tIns="0" rIns="0" bIns="0" rtlCol="0" anchor="ctr"/>
          <a:lstStyle/>
          <a:p>
            <a:pPr algn="l" indent="0" marL="0">
              <a:buNone/>
            </a:pPr>
            <a:r>
              <a:rPr lang="en-US" sz="1300" dirty="0">
                <a:solidFill>
                  <a:schemeClr val="tx2"/>
                </a:solidFill>
              </a:rPr>
              <a:t>Unchecked: our choice</a:t>
            </a:r>
            <a:endParaRPr lang="en-US" sz="1300" dirty="0"/>
          </a:p>
        </p:txBody>
      </p:sp>
      <p:sp>
        <p:nvSpPr>
          <p:cNvPr id="9" name="Shape 6"/>
          <p:cNvSpPr/>
          <p:nvPr/>
        </p:nvSpPr>
        <p:spPr>
          <a:xfrm>
            <a:off x="548640" y="2706624"/>
            <a:ext cx="457200" cy="274320"/>
          </a:xfrm>
          <a:prstGeom prst="roundRect">
            <a:avLst>
              <a:gd name="adj" fmla="val 20000"/>
            </a:avLst>
          </a:prstGeom>
          <a:solidFill>
            <a:srgbClr val="C0392B">
              <a:alpha val="10000"/>
            </a:srgbClr>
          </a:solidFill>
          <a:ln w="15875">
            <a:solidFill>
              <a:srgbClr val="C0392B"/>
            </a:solidFill>
            <a:prstDash val="solid"/>
          </a:ln>
        </p:spPr>
      </p:sp>
      <p:sp>
        <p:nvSpPr>
          <p:cNvPr id="10" name="Text 7"/>
          <p:cNvSpPr txBox="1"/>
          <p:nvPr/>
        </p:nvSpPr>
        <p:spPr>
          <a:xfrm>
            <a:off x="1143000" y="2670048"/>
            <a:ext cx="2468880" cy="347472"/>
          </a:xfrm>
          <a:prstGeom prst="rect">
            <a:avLst/>
          </a:prstGeom>
          <a:noFill/>
          <a:ln/>
        </p:spPr>
        <p:txBody>
          <a:bodyPr wrap="square" lIns="0" tIns="0" rIns="0" bIns="0" rtlCol="0" anchor="ctr"/>
          <a:lstStyle/>
          <a:p>
            <a:pPr algn="l" indent="0" marL="0">
              <a:buNone/>
            </a:pPr>
            <a:r>
              <a:rPr lang="en-US" sz="1300" dirty="0">
                <a:solidFill>
                  <a:schemeClr val="tx2"/>
                </a:solidFill>
              </a:rPr>
              <a:t>Error (unchecked): too serious</a:t>
            </a:r>
            <a:endParaRPr lang="en-US" sz="1300" dirty="0"/>
          </a:p>
        </p:txBody>
      </p:sp>
      <p:sp>
        <p:nvSpPr>
          <p:cNvPr id="11" name="Shape 8"/>
          <p:cNvSpPr/>
          <p:nvPr/>
        </p:nvSpPr>
        <p:spPr>
          <a:xfrm>
            <a:off x="8732520" y="1783080"/>
            <a:ext cx="2907792" cy="402336"/>
          </a:xfrm>
          <a:prstGeom prst="roundRect">
            <a:avLst>
              <a:gd name="adj" fmla="val 18182"/>
            </a:avLst>
          </a:prstGeom>
          <a:solidFill>
            <a:schemeClr val="accent1">
              <a:alpha val="14000"/>
            </a:schemeClr>
          </a:solidFill>
          <a:ln w="15875">
            <a:solidFill>
              <a:schemeClr val="accent1"/>
            </a:solidFill>
            <a:prstDash val="solid"/>
          </a:ln>
        </p:spPr>
      </p:sp>
      <p:sp>
        <p:nvSpPr>
          <p:cNvPr id="12" name="Text 9"/>
          <p:cNvSpPr txBox="1"/>
          <p:nvPr/>
        </p:nvSpPr>
        <p:spPr>
          <a:xfrm>
            <a:off x="8732520" y="1783080"/>
            <a:ext cx="2907792"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ArithmeticException</a:t>
            </a:r>
            <a:endParaRPr lang="en-US" sz="1300" dirty="0"/>
          </a:p>
        </p:txBody>
      </p:sp>
      <p:sp>
        <p:nvSpPr>
          <p:cNvPr id="13" name="Shape 10"/>
          <p:cNvSpPr/>
          <p:nvPr/>
        </p:nvSpPr>
        <p:spPr>
          <a:xfrm>
            <a:off x="8732520" y="2286000"/>
            <a:ext cx="2907792" cy="402336"/>
          </a:xfrm>
          <a:prstGeom prst="roundRect">
            <a:avLst>
              <a:gd name="adj" fmla="val 18182"/>
            </a:avLst>
          </a:prstGeom>
          <a:solidFill>
            <a:schemeClr val="accent1">
              <a:alpha val="14000"/>
            </a:schemeClr>
          </a:solidFill>
          <a:ln w="15875">
            <a:solidFill>
              <a:schemeClr val="accent1"/>
            </a:solidFill>
            <a:prstDash val="solid"/>
          </a:ln>
        </p:spPr>
      </p:sp>
      <p:sp>
        <p:nvSpPr>
          <p:cNvPr id="14" name="Text 11"/>
          <p:cNvSpPr txBox="1"/>
          <p:nvPr/>
        </p:nvSpPr>
        <p:spPr>
          <a:xfrm>
            <a:off x="8732520" y="2286000"/>
            <a:ext cx="2907792"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NullPointerException</a:t>
            </a:r>
            <a:endParaRPr lang="en-US" sz="1300" dirty="0"/>
          </a:p>
        </p:txBody>
      </p:sp>
      <p:sp>
        <p:nvSpPr>
          <p:cNvPr id="15" name="Shape 12"/>
          <p:cNvSpPr/>
          <p:nvPr/>
        </p:nvSpPr>
        <p:spPr>
          <a:xfrm>
            <a:off x="8732520" y="2788920"/>
            <a:ext cx="2907792" cy="402336"/>
          </a:xfrm>
          <a:prstGeom prst="roundRect">
            <a:avLst>
              <a:gd name="adj" fmla="val 18182"/>
            </a:avLst>
          </a:prstGeom>
          <a:solidFill>
            <a:schemeClr val="accent1">
              <a:alpha val="14000"/>
            </a:schemeClr>
          </a:solidFill>
          <a:ln w="15875">
            <a:solidFill>
              <a:schemeClr val="accent1"/>
            </a:solidFill>
            <a:prstDash val="solid"/>
          </a:ln>
        </p:spPr>
      </p:sp>
      <p:sp>
        <p:nvSpPr>
          <p:cNvPr id="16" name="Text 13"/>
          <p:cNvSpPr txBox="1"/>
          <p:nvPr/>
        </p:nvSpPr>
        <p:spPr>
          <a:xfrm>
            <a:off x="8732520" y="2788920"/>
            <a:ext cx="2907792"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IndexOutOfBoundsException</a:t>
            </a:r>
            <a:endParaRPr lang="en-US" sz="1300" dirty="0"/>
          </a:p>
        </p:txBody>
      </p:sp>
      <p:sp>
        <p:nvSpPr>
          <p:cNvPr id="17" name="Shape 14"/>
          <p:cNvSpPr/>
          <p:nvPr/>
        </p:nvSpPr>
        <p:spPr>
          <a:xfrm>
            <a:off x="8732520" y="3291840"/>
            <a:ext cx="2907792" cy="402336"/>
          </a:xfrm>
          <a:prstGeom prst="roundRect">
            <a:avLst>
              <a:gd name="adj" fmla="val 18182"/>
            </a:avLst>
          </a:prstGeom>
          <a:solidFill>
            <a:schemeClr val="accent1">
              <a:alpha val="14000"/>
            </a:schemeClr>
          </a:solidFill>
          <a:ln w="15875">
            <a:solidFill>
              <a:schemeClr val="accent1"/>
            </a:solidFill>
            <a:prstDash val="solid"/>
          </a:ln>
        </p:spPr>
      </p:sp>
      <p:sp>
        <p:nvSpPr>
          <p:cNvPr id="18" name="Text 15"/>
          <p:cNvSpPr txBox="1"/>
          <p:nvPr/>
        </p:nvSpPr>
        <p:spPr>
          <a:xfrm>
            <a:off x="8732520" y="3291840"/>
            <a:ext cx="2907792"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IllegalArgumentException</a:t>
            </a:r>
            <a:endParaRPr lang="en-US" sz="1300" dirty="0"/>
          </a:p>
        </p:txBody>
      </p:sp>
      <p:sp>
        <p:nvSpPr>
          <p:cNvPr id="19" name="Shape 16"/>
          <p:cNvSpPr/>
          <p:nvPr/>
        </p:nvSpPr>
        <p:spPr>
          <a:xfrm>
            <a:off x="5669280" y="2537460"/>
            <a:ext cx="2606040" cy="402336"/>
          </a:xfrm>
          <a:prstGeom prst="roundRect">
            <a:avLst>
              <a:gd name="adj" fmla="val 18182"/>
            </a:avLst>
          </a:prstGeom>
          <a:solidFill>
            <a:schemeClr val="accent1">
              <a:alpha val="14000"/>
            </a:schemeClr>
          </a:solidFill>
          <a:ln w="15875">
            <a:solidFill>
              <a:schemeClr val="accent1"/>
            </a:solidFill>
            <a:prstDash val="solid"/>
          </a:ln>
        </p:spPr>
      </p:sp>
      <p:sp>
        <p:nvSpPr>
          <p:cNvPr id="20" name="Text 17"/>
          <p:cNvSpPr txBox="1"/>
          <p:nvPr/>
        </p:nvSpPr>
        <p:spPr>
          <a:xfrm>
            <a:off x="5669280" y="2537460"/>
            <a:ext cx="260604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RuntimeException</a:t>
            </a:r>
            <a:endParaRPr lang="en-US" sz="1300" dirty="0"/>
          </a:p>
        </p:txBody>
      </p:sp>
      <p:sp>
        <p:nvSpPr>
          <p:cNvPr id="21" name="Shape 18"/>
          <p:cNvSpPr/>
          <p:nvPr/>
        </p:nvSpPr>
        <p:spPr>
          <a:xfrm>
            <a:off x="8732520" y="3931920"/>
            <a:ext cx="2907792" cy="402336"/>
          </a:xfrm>
          <a:prstGeom prst="roundRect">
            <a:avLst>
              <a:gd name="adj" fmla="val 18182"/>
            </a:avLst>
          </a:prstGeom>
          <a:solidFill>
            <a:schemeClr val="accent2">
              <a:alpha val="10000"/>
            </a:schemeClr>
          </a:solidFill>
          <a:ln w="15875">
            <a:solidFill>
              <a:schemeClr val="accent2"/>
            </a:solidFill>
            <a:prstDash val="solid"/>
          </a:ln>
        </p:spPr>
      </p:sp>
      <p:sp>
        <p:nvSpPr>
          <p:cNvPr id="22" name="Text 19"/>
          <p:cNvSpPr txBox="1"/>
          <p:nvPr/>
        </p:nvSpPr>
        <p:spPr>
          <a:xfrm>
            <a:off x="8732520" y="3931920"/>
            <a:ext cx="2907792" cy="402336"/>
          </a:xfrm>
          <a:prstGeom prst="rect">
            <a:avLst/>
          </a:prstGeom>
          <a:noFill/>
          <a:ln/>
        </p:spPr>
        <p:txBody>
          <a:bodyPr wrap="square" lIns="0" tIns="0" rIns="0" bIns="0" rtlCol="0" anchor="ctr"/>
          <a:lstStyle/>
          <a:p>
            <a:pPr algn="ctr" indent="0" marL="0">
              <a:buNone/>
            </a:pPr>
            <a:r>
              <a:rPr lang="en-US" sz="1300" b="1" dirty="0">
                <a:solidFill>
                  <a:schemeClr val="accent2"/>
                </a:solidFill>
                <a:latin typeface="Consolas" pitchFamily="34" charset="0"/>
                <a:ea typeface="Consolas" pitchFamily="34" charset="-122"/>
                <a:cs typeface="Consolas" pitchFamily="34" charset="-120"/>
              </a:rPr>
              <a:t>FileNotFoundException</a:t>
            </a:r>
            <a:endParaRPr lang="en-US" sz="1300" dirty="0"/>
          </a:p>
        </p:txBody>
      </p:sp>
      <p:sp>
        <p:nvSpPr>
          <p:cNvPr id="23" name="Shape 20"/>
          <p:cNvSpPr/>
          <p:nvPr/>
        </p:nvSpPr>
        <p:spPr>
          <a:xfrm>
            <a:off x="8732520" y="4434840"/>
            <a:ext cx="2907792" cy="402336"/>
          </a:xfrm>
          <a:prstGeom prst="roundRect">
            <a:avLst>
              <a:gd name="adj" fmla="val 18182"/>
            </a:avLst>
          </a:prstGeom>
          <a:solidFill>
            <a:schemeClr val="accent2">
              <a:alpha val="10000"/>
            </a:schemeClr>
          </a:solidFill>
          <a:ln w="15875">
            <a:solidFill>
              <a:schemeClr val="accent2"/>
            </a:solidFill>
            <a:prstDash val="solid"/>
          </a:ln>
        </p:spPr>
      </p:sp>
      <p:sp>
        <p:nvSpPr>
          <p:cNvPr id="24" name="Text 21"/>
          <p:cNvSpPr txBox="1"/>
          <p:nvPr/>
        </p:nvSpPr>
        <p:spPr>
          <a:xfrm>
            <a:off x="8732520" y="4434840"/>
            <a:ext cx="2907792" cy="402336"/>
          </a:xfrm>
          <a:prstGeom prst="rect">
            <a:avLst/>
          </a:prstGeom>
          <a:noFill/>
          <a:ln/>
        </p:spPr>
        <p:txBody>
          <a:bodyPr wrap="square" lIns="0" tIns="0" rIns="0" bIns="0" rtlCol="0" anchor="ctr"/>
          <a:lstStyle/>
          <a:p>
            <a:pPr algn="ctr" indent="0" marL="0">
              <a:buNone/>
            </a:pPr>
            <a:r>
              <a:rPr lang="en-US" sz="1300" b="1" dirty="0">
                <a:solidFill>
                  <a:schemeClr val="accent2"/>
                </a:solidFill>
                <a:latin typeface="Consolas" pitchFamily="34" charset="0"/>
                <a:ea typeface="Consolas" pitchFamily="34" charset="-122"/>
                <a:cs typeface="Consolas" pitchFamily="34" charset="-120"/>
              </a:rPr>
              <a:t>EOFException</a:t>
            </a:r>
            <a:endParaRPr lang="en-US" sz="1300" dirty="0"/>
          </a:p>
        </p:txBody>
      </p:sp>
      <p:sp>
        <p:nvSpPr>
          <p:cNvPr id="25" name="Shape 22"/>
          <p:cNvSpPr/>
          <p:nvPr/>
        </p:nvSpPr>
        <p:spPr>
          <a:xfrm>
            <a:off x="5669280" y="4183380"/>
            <a:ext cx="2606040" cy="402336"/>
          </a:xfrm>
          <a:prstGeom prst="roundRect">
            <a:avLst>
              <a:gd name="adj" fmla="val 18182"/>
            </a:avLst>
          </a:prstGeom>
          <a:solidFill>
            <a:schemeClr val="accent2">
              <a:alpha val="10000"/>
            </a:schemeClr>
          </a:solidFill>
          <a:ln w="15875">
            <a:solidFill>
              <a:schemeClr val="accent2"/>
            </a:solidFill>
            <a:prstDash val="solid"/>
          </a:ln>
        </p:spPr>
      </p:sp>
      <p:sp>
        <p:nvSpPr>
          <p:cNvPr id="26" name="Text 23"/>
          <p:cNvSpPr txBox="1"/>
          <p:nvPr/>
        </p:nvSpPr>
        <p:spPr>
          <a:xfrm>
            <a:off x="5669280" y="4183380"/>
            <a:ext cx="2606040" cy="402336"/>
          </a:xfrm>
          <a:prstGeom prst="rect">
            <a:avLst/>
          </a:prstGeom>
          <a:noFill/>
          <a:ln/>
        </p:spPr>
        <p:txBody>
          <a:bodyPr wrap="square" lIns="0" tIns="0" rIns="0" bIns="0" rtlCol="0" anchor="ctr"/>
          <a:lstStyle/>
          <a:p>
            <a:pPr algn="ctr" indent="0" marL="0">
              <a:buNone/>
            </a:pPr>
            <a:r>
              <a:rPr lang="en-US" sz="1300" b="1" dirty="0">
                <a:solidFill>
                  <a:schemeClr val="accent2"/>
                </a:solidFill>
                <a:latin typeface="Consolas" pitchFamily="34" charset="0"/>
                <a:ea typeface="Consolas" pitchFamily="34" charset="-122"/>
                <a:cs typeface="Consolas" pitchFamily="34" charset="-120"/>
              </a:rPr>
              <a:t>IOException</a:t>
            </a:r>
            <a:endParaRPr lang="en-US" sz="1300" dirty="0"/>
          </a:p>
        </p:txBody>
      </p:sp>
      <p:sp>
        <p:nvSpPr>
          <p:cNvPr id="27" name="Shape 24"/>
          <p:cNvSpPr/>
          <p:nvPr/>
        </p:nvSpPr>
        <p:spPr>
          <a:xfrm>
            <a:off x="3794760" y="3360420"/>
            <a:ext cx="1463040" cy="402336"/>
          </a:xfrm>
          <a:prstGeom prst="roundRect">
            <a:avLst>
              <a:gd name="adj" fmla="val 18182"/>
            </a:avLst>
          </a:prstGeom>
          <a:solidFill>
            <a:schemeClr val="accent2">
              <a:alpha val="10000"/>
            </a:schemeClr>
          </a:solidFill>
          <a:ln w="15875">
            <a:solidFill>
              <a:schemeClr val="accent2"/>
            </a:solidFill>
            <a:prstDash val="solid"/>
          </a:ln>
        </p:spPr>
      </p:sp>
      <p:sp>
        <p:nvSpPr>
          <p:cNvPr id="28" name="Text 25"/>
          <p:cNvSpPr txBox="1"/>
          <p:nvPr/>
        </p:nvSpPr>
        <p:spPr>
          <a:xfrm>
            <a:off x="3794760" y="3360420"/>
            <a:ext cx="1463040" cy="402336"/>
          </a:xfrm>
          <a:prstGeom prst="rect">
            <a:avLst/>
          </a:prstGeom>
          <a:noFill/>
          <a:ln/>
        </p:spPr>
        <p:txBody>
          <a:bodyPr wrap="square" lIns="0" tIns="0" rIns="0" bIns="0" rtlCol="0" anchor="ctr"/>
          <a:lstStyle/>
          <a:p>
            <a:pPr algn="ctr" indent="0" marL="0">
              <a:buNone/>
            </a:pPr>
            <a:r>
              <a:rPr lang="en-US" sz="1300" b="1" dirty="0">
                <a:solidFill>
                  <a:schemeClr val="accent2"/>
                </a:solidFill>
                <a:latin typeface="Consolas" pitchFamily="34" charset="0"/>
                <a:ea typeface="Consolas" pitchFamily="34" charset="-122"/>
                <a:cs typeface="Consolas" pitchFamily="34" charset="-120"/>
              </a:rPr>
              <a:t>Exception</a:t>
            </a:r>
            <a:endParaRPr lang="en-US" sz="1300" dirty="0"/>
          </a:p>
        </p:txBody>
      </p:sp>
      <p:sp>
        <p:nvSpPr>
          <p:cNvPr id="29" name="Shape 26"/>
          <p:cNvSpPr/>
          <p:nvPr/>
        </p:nvSpPr>
        <p:spPr>
          <a:xfrm>
            <a:off x="5669280" y="5166360"/>
            <a:ext cx="2606040" cy="402336"/>
          </a:xfrm>
          <a:prstGeom prst="roundRect">
            <a:avLst>
              <a:gd name="adj" fmla="val 18182"/>
            </a:avLst>
          </a:prstGeom>
          <a:solidFill>
            <a:srgbClr val="C0392B">
              <a:alpha val="10000"/>
            </a:srgbClr>
          </a:solidFill>
          <a:ln w="15875">
            <a:solidFill>
              <a:srgbClr val="C0392B"/>
            </a:solidFill>
            <a:prstDash val="solid"/>
          </a:ln>
        </p:spPr>
      </p:sp>
      <p:sp>
        <p:nvSpPr>
          <p:cNvPr id="30" name="Text 27"/>
          <p:cNvSpPr txBox="1"/>
          <p:nvPr/>
        </p:nvSpPr>
        <p:spPr>
          <a:xfrm>
            <a:off x="5669280" y="5166360"/>
            <a:ext cx="2606040" cy="402336"/>
          </a:xfrm>
          <a:prstGeom prst="rect">
            <a:avLst/>
          </a:prstGeom>
          <a:noFill/>
          <a:ln/>
        </p:spPr>
        <p:txBody>
          <a:bodyPr wrap="square" lIns="0" tIns="0" rIns="0" bIns="0" rtlCol="0" anchor="ctr"/>
          <a:lstStyle/>
          <a:p>
            <a:pPr algn="ctr" indent="0" marL="0">
              <a:buNone/>
            </a:pPr>
            <a:r>
              <a:rPr lang="en-US" sz="1300" b="1" dirty="0">
                <a:solidFill>
                  <a:srgbClr val="C0392B"/>
                </a:solidFill>
                <a:latin typeface="Consolas" pitchFamily="34" charset="0"/>
                <a:ea typeface="Consolas" pitchFamily="34" charset="-122"/>
                <a:cs typeface="Consolas" pitchFamily="34" charset="-120"/>
              </a:rPr>
              <a:t>LinkageError</a:t>
            </a:r>
            <a:endParaRPr lang="en-US" sz="1300" dirty="0"/>
          </a:p>
        </p:txBody>
      </p:sp>
      <p:sp>
        <p:nvSpPr>
          <p:cNvPr id="31" name="Shape 28"/>
          <p:cNvSpPr/>
          <p:nvPr/>
        </p:nvSpPr>
        <p:spPr>
          <a:xfrm>
            <a:off x="5669280" y="5669280"/>
            <a:ext cx="2606040" cy="402336"/>
          </a:xfrm>
          <a:prstGeom prst="roundRect">
            <a:avLst>
              <a:gd name="adj" fmla="val 18182"/>
            </a:avLst>
          </a:prstGeom>
          <a:solidFill>
            <a:srgbClr val="C0392B">
              <a:alpha val="10000"/>
            </a:srgbClr>
          </a:solidFill>
          <a:ln w="15875">
            <a:solidFill>
              <a:srgbClr val="C0392B"/>
            </a:solidFill>
            <a:prstDash val="solid"/>
          </a:ln>
        </p:spPr>
      </p:sp>
      <p:sp>
        <p:nvSpPr>
          <p:cNvPr id="32" name="Text 29"/>
          <p:cNvSpPr txBox="1"/>
          <p:nvPr/>
        </p:nvSpPr>
        <p:spPr>
          <a:xfrm>
            <a:off x="5669280" y="5669280"/>
            <a:ext cx="2606040" cy="402336"/>
          </a:xfrm>
          <a:prstGeom prst="rect">
            <a:avLst/>
          </a:prstGeom>
          <a:noFill/>
          <a:ln/>
        </p:spPr>
        <p:txBody>
          <a:bodyPr wrap="square" lIns="0" tIns="0" rIns="0" bIns="0" rtlCol="0" anchor="ctr"/>
          <a:lstStyle/>
          <a:p>
            <a:pPr algn="ctr" indent="0" marL="0">
              <a:buNone/>
            </a:pPr>
            <a:r>
              <a:rPr lang="en-US" sz="1300" b="1" dirty="0">
                <a:solidFill>
                  <a:srgbClr val="C0392B"/>
                </a:solidFill>
                <a:latin typeface="Consolas" pitchFamily="34" charset="0"/>
                <a:ea typeface="Consolas" pitchFamily="34" charset="-122"/>
                <a:cs typeface="Consolas" pitchFamily="34" charset="-120"/>
              </a:rPr>
              <a:t>VirtualMachineError</a:t>
            </a:r>
            <a:endParaRPr lang="en-US" sz="1300" dirty="0"/>
          </a:p>
        </p:txBody>
      </p:sp>
      <p:sp>
        <p:nvSpPr>
          <p:cNvPr id="33" name="Shape 30"/>
          <p:cNvSpPr/>
          <p:nvPr/>
        </p:nvSpPr>
        <p:spPr>
          <a:xfrm>
            <a:off x="3794760" y="5417820"/>
            <a:ext cx="1463040" cy="402336"/>
          </a:xfrm>
          <a:prstGeom prst="roundRect">
            <a:avLst>
              <a:gd name="adj" fmla="val 18182"/>
            </a:avLst>
          </a:prstGeom>
          <a:solidFill>
            <a:srgbClr val="C0392B">
              <a:alpha val="10000"/>
            </a:srgbClr>
          </a:solidFill>
          <a:ln w="15875">
            <a:solidFill>
              <a:srgbClr val="C0392B"/>
            </a:solidFill>
            <a:prstDash val="solid"/>
          </a:ln>
        </p:spPr>
      </p:sp>
      <p:sp>
        <p:nvSpPr>
          <p:cNvPr id="34" name="Text 31"/>
          <p:cNvSpPr txBox="1"/>
          <p:nvPr/>
        </p:nvSpPr>
        <p:spPr>
          <a:xfrm>
            <a:off x="3794760" y="5417820"/>
            <a:ext cx="1463040" cy="402336"/>
          </a:xfrm>
          <a:prstGeom prst="rect">
            <a:avLst/>
          </a:prstGeom>
          <a:noFill/>
          <a:ln/>
        </p:spPr>
        <p:txBody>
          <a:bodyPr wrap="square" lIns="0" tIns="0" rIns="0" bIns="0" rtlCol="0" anchor="ctr"/>
          <a:lstStyle/>
          <a:p>
            <a:pPr algn="ctr" indent="0" marL="0">
              <a:buNone/>
            </a:pPr>
            <a:r>
              <a:rPr lang="en-US" sz="1300" b="1" dirty="0">
                <a:solidFill>
                  <a:srgbClr val="C0392B"/>
                </a:solidFill>
                <a:latin typeface="Consolas" pitchFamily="34" charset="0"/>
                <a:ea typeface="Consolas" pitchFamily="34" charset="-122"/>
                <a:cs typeface="Consolas" pitchFamily="34" charset="-120"/>
              </a:rPr>
              <a:t>Error</a:t>
            </a:r>
            <a:endParaRPr lang="en-US" sz="1300" dirty="0"/>
          </a:p>
        </p:txBody>
      </p:sp>
      <p:sp>
        <p:nvSpPr>
          <p:cNvPr id="35" name="Shape 32"/>
          <p:cNvSpPr/>
          <p:nvPr/>
        </p:nvSpPr>
        <p:spPr>
          <a:xfrm>
            <a:off x="2057400" y="4389120"/>
            <a:ext cx="1417320" cy="402336"/>
          </a:xfrm>
          <a:prstGeom prst="roundRect">
            <a:avLst>
              <a:gd name="adj" fmla="val 18182"/>
            </a:avLst>
          </a:prstGeom>
          <a:solidFill>
            <a:schemeClr val="bg2"/>
          </a:solidFill>
          <a:ln w="15875">
            <a:solidFill>
              <a:schemeClr val="tx2"/>
            </a:solidFill>
            <a:prstDash val="solid"/>
          </a:ln>
        </p:spPr>
      </p:sp>
      <p:sp>
        <p:nvSpPr>
          <p:cNvPr id="36" name="Text 33"/>
          <p:cNvSpPr txBox="1"/>
          <p:nvPr/>
        </p:nvSpPr>
        <p:spPr>
          <a:xfrm>
            <a:off x="2057400" y="4389120"/>
            <a:ext cx="141732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Throwable</a:t>
            </a:r>
            <a:endParaRPr lang="en-US" sz="1300" dirty="0"/>
          </a:p>
        </p:txBody>
      </p:sp>
      <p:sp>
        <p:nvSpPr>
          <p:cNvPr id="37" name="Shape 34"/>
          <p:cNvSpPr/>
          <p:nvPr/>
        </p:nvSpPr>
        <p:spPr>
          <a:xfrm>
            <a:off x="548640" y="4389120"/>
            <a:ext cx="1143000" cy="402336"/>
          </a:xfrm>
          <a:prstGeom prst="roundRect">
            <a:avLst>
              <a:gd name="adj" fmla="val 18182"/>
            </a:avLst>
          </a:prstGeom>
          <a:solidFill>
            <a:schemeClr val="bg2"/>
          </a:solidFill>
          <a:ln w="15875">
            <a:solidFill>
              <a:schemeClr val="tx2"/>
            </a:solidFill>
            <a:prstDash val="solid"/>
          </a:ln>
        </p:spPr>
      </p:sp>
      <p:sp>
        <p:nvSpPr>
          <p:cNvPr id="38" name="Text 35"/>
          <p:cNvSpPr txBox="1"/>
          <p:nvPr/>
        </p:nvSpPr>
        <p:spPr>
          <a:xfrm>
            <a:off x="548640" y="4389120"/>
            <a:ext cx="1143000" cy="402336"/>
          </a:xfrm>
          <a:prstGeom prst="rect">
            <a:avLst/>
          </a:prstGeom>
          <a:noFill/>
          <a:ln/>
        </p:spPr>
        <p:txBody>
          <a:bodyPr wrap="square" lIns="0" tIns="0" rIns="0" bIns="0" rtlCol="0" anchor="ctr"/>
          <a:lstStyle/>
          <a:p>
            <a:pPr algn="ctr" indent="0" marL="0">
              <a:buNone/>
            </a:pPr>
            <a:r>
              <a:rPr lang="en-US" sz="1300" b="1" dirty="0">
                <a:solidFill>
                  <a:schemeClr val="tx1"/>
                </a:solidFill>
                <a:latin typeface="Consolas" pitchFamily="34" charset="0"/>
                <a:ea typeface="Consolas" pitchFamily="34" charset="-122"/>
                <a:cs typeface="Consolas" pitchFamily="34" charset="-120"/>
              </a:rPr>
              <a:t>Object</a:t>
            </a:r>
            <a:endParaRPr lang="en-US" sz="1300" dirty="0"/>
          </a:p>
        </p:txBody>
      </p:sp>
      <p:sp>
        <p:nvSpPr>
          <p:cNvPr id="39" name="Shape 36"/>
          <p:cNvSpPr/>
          <p:nvPr/>
        </p:nvSpPr>
        <p:spPr>
          <a:xfrm>
            <a:off x="1691640" y="4590288"/>
            <a:ext cx="182880" cy="0"/>
          </a:xfrm>
          <a:prstGeom prst="line">
            <a:avLst/>
          </a:prstGeom>
          <a:noFill/>
          <a:ln w="15875">
            <a:solidFill>
              <a:schemeClr val="tx2"/>
            </a:solidFill>
            <a:prstDash val="solid"/>
          </a:ln>
        </p:spPr>
      </p:sp>
      <p:sp>
        <p:nvSpPr>
          <p:cNvPr id="40" name="Shape 37"/>
          <p:cNvSpPr/>
          <p:nvPr/>
        </p:nvSpPr>
        <p:spPr>
          <a:xfrm>
            <a:off x="1874520" y="4590288"/>
            <a:ext cx="182880" cy="0"/>
          </a:xfrm>
          <a:prstGeom prst="line">
            <a:avLst/>
          </a:prstGeom>
          <a:noFill/>
          <a:ln w="15875">
            <a:solidFill>
              <a:schemeClr val="tx2"/>
            </a:solidFill>
            <a:prstDash val="solid"/>
          </a:ln>
        </p:spPr>
      </p:sp>
      <p:sp>
        <p:nvSpPr>
          <p:cNvPr id="41" name="Shape 38"/>
          <p:cNvSpPr/>
          <p:nvPr/>
        </p:nvSpPr>
        <p:spPr>
          <a:xfrm>
            <a:off x="3474720" y="4590288"/>
            <a:ext cx="182880" cy="0"/>
          </a:xfrm>
          <a:prstGeom prst="line">
            <a:avLst/>
          </a:prstGeom>
          <a:noFill/>
          <a:ln w="15875">
            <a:solidFill>
              <a:schemeClr val="tx2"/>
            </a:solidFill>
            <a:prstDash val="solid"/>
          </a:ln>
        </p:spPr>
      </p:sp>
      <p:sp>
        <p:nvSpPr>
          <p:cNvPr id="42" name="Shape 39"/>
          <p:cNvSpPr/>
          <p:nvPr/>
        </p:nvSpPr>
        <p:spPr>
          <a:xfrm>
            <a:off x="3657600" y="3561588"/>
            <a:ext cx="0" cy="2057400"/>
          </a:xfrm>
          <a:prstGeom prst="line">
            <a:avLst/>
          </a:prstGeom>
          <a:noFill/>
          <a:ln w="15875">
            <a:solidFill>
              <a:schemeClr val="tx2"/>
            </a:solidFill>
            <a:prstDash val="solid"/>
          </a:ln>
        </p:spPr>
      </p:sp>
      <p:sp>
        <p:nvSpPr>
          <p:cNvPr id="43" name="Shape 40"/>
          <p:cNvSpPr/>
          <p:nvPr/>
        </p:nvSpPr>
        <p:spPr>
          <a:xfrm>
            <a:off x="3657600" y="3561588"/>
            <a:ext cx="137160" cy="0"/>
          </a:xfrm>
          <a:prstGeom prst="line">
            <a:avLst/>
          </a:prstGeom>
          <a:noFill/>
          <a:ln w="15875">
            <a:solidFill>
              <a:schemeClr val="tx2"/>
            </a:solidFill>
            <a:prstDash val="solid"/>
          </a:ln>
        </p:spPr>
      </p:sp>
      <p:sp>
        <p:nvSpPr>
          <p:cNvPr id="44" name="Shape 41"/>
          <p:cNvSpPr/>
          <p:nvPr/>
        </p:nvSpPr>
        <p:spPr>
          <a:xfrm>
            <a:off x="3657600" y="5618988"/>
            <a:ext cx="137160" cy="0"/>
          </a:xfrm>
          <a:prstGeom prst="line">
            <a:avLst/>
          </a:prstGeom>
          <a:noFill/>
          <a:ln w="15875">
            <a:solidFill>
              <a:schemeClr val="tx2"/>
            </a:solidFill>
            <a:prstDash val="solid"/>
          </a:ln>
        </p:spPr>
      </p:sp>
      <p:sp>
        <p:nvSpPr>
          <p:cNvPr id="45" name="Shape 42"/>
          <p:cNvSpPr/>
          <p:nvPr/>
        </p:nvSpPr>
        <p:spPr>
          <a:xfrm>
            <a:off x="5257800" y="3561588"/>
            <a:ext cx="182880" cy="0"/>
          </a:xfrm>
          <a:prstGeom prst="line">
            <a:avLst/>
          </a:prstGeom>
          <a:noFill/>
          <a:ln w="15875">
            <a:solidFill>
              <a:schemeClr val="tx2"/>
            </a:solidFill>
            <a:prstDash val="solid"/>
          </a:ln>
        </p:spPr>
      </p:sp>
      <p:sp>
        <p:nvSpPr>
          <p:cNvPr id="46" name="Shape 43"/>
          <p:cNvSpPr/>
          <p:nvPr/>
        </p:nvSpPr>
        <p:spPr>
          <a:xfrm>
            <a:off x="5440680" y="2738628"/>
            <a:ext cx="0" cy="1645920"/>
          </a:xfrm>
          <a:prstGeom prst="line">
            <a:avLst/>
          </a:prstGeom>
          <a:noFill/>
          <a:ln w="15875">
            <a:solidFill>
              <a:schemeClr val="tx2"/>
            </a:solidFill>
            <a:prstDash val="solid"/>
          </a:ln>
        </p:spPr>
      </p:sp>
      <p:sp>
        <p:nvSpPr>
          <p:cNvPr id="47" name="Shape 44"/>
          <p:cNvSpPr/>
          <p:nvPr/>
        </p:nvSpPr>
        <p:spPr>
          <a:xfrm>
            <a:off x="5440680" y="2738628"/>
            <a:ext cx="228600" cy="0"/>
          </a:xfrm>
          <a:prstGeom prst="line">
            <a:avLst/>
          </a:prstGeom>
          <a:noFill/>
          <a:ln w="15875">
            <a:solidFill>
              <a:schemeClr val="tx2"/>
            </a:solidFill>
            <a:prstDash val="solid"/>
          </a:ln>
        </p:spPr>
      </p:sp>
      <p:sp>
        <p:nvSpPr>
          <p:cNvPr id="48" name="Shape 45"/>
          <p:cNvSpPr/>
          <p:nvPr/>
        </p:nvSpPr>
        <p:spPr>
          <a:xfrm>
            <a:off x="5440680" y="4384548"/>
            <a:ext cx="228600" cy="0"/>
          </a:xfrm>
          <a:prstGeom prst="line">
            <a:avLst/>
          </a:prstGeom>
          <a:noFill/>
          <a:ln w="15875">
            <a:solidFill>
              <a:schemeClr val="tx2"/>
            </a:solidFill>
            <a:prstDash val="solid"/>
          </a:ln>
        </p:spPr>
      </p:sp>
      <p:sp>
        <p:nvSpPr>
          <p:cNvPr id="49" name="Shape 46"/>
          <p:cNvSpPr/>
          <p:nvPr/>
        </p:nvSpPr>
        <p:spPr>
          <a:xfrm>
            <a:off x="8275320" y="2738628"/>
            <a:ext cx="182880" cy="0"/>
          </a:xfrm>
          <a:prstGeom prst="line">
            <a:avLst/>
          </a:prstGeom>
          <a:noFill/>
          <a:ln w="15875">
            <a:solidFill>
              <a:schemeClr val="tx2"/>
            </a:solidFill>
            <a:prstDash val="solid"/>
          </a:ln>
        </p:spPr>
      </p:sp>
      <p:sp>
        <p:nvSpPr>
          <p:cNvPr id="50" name="Shape 47"/>
          <p:cNvSpPr/>
          <p:nvPr/>
        </p:nvSpPr>
        <p:spPr>
          <a:xfrm>
            <a:off x="8458200" y="1984248"/>
            <a:ext cx="0" cy="1508760"/>
          </a:xfrm>
          <a:prstGeom prst="line">
            <a:avLst/>
          </a:prstGeom>
          <a:noFill/>
          <a:ln w="15875">
            <a:solidFill>
              <a:schemeClr val="tx2"/>
            </a:solidFill>
            <a:prstDash val="solid"/>
          </a:ln>
        </p:spPr>
      </p:sp>
      <p:sp>
        <p:nvSpPr>
          <p:cNvPr id="51" name="Shape 48"/>
          <p:cNvSpPr/>
          <p:nvPr/>
        </p:nvSpPr>
        <p:spPr>
          <a:xfrm>
            <a:off x="8458200" y="1984248"/>
            <a:ext cx="274320" cy="0"/>
          </a:xfrm>
          <a:prstGeom prst="line">
            <a:avLst/>
          </a:prstGeom>
          <a:noFill/>
          <a:ln w="15875">
            <a:solidFill>
              <a:schemeClr val="tx2"/>
            </a:solidFill>
            <a:prstDash val="solid"/>
          </a:ln>
        </p:spPr>
      </p:sp>
      <p:sp>
        <p:nvSpPr>
          <p:cNvPr id="52" name="Shape 49"/>
          <p:cNvSpPr/>
          <p:nvPr/>
        </p:nvSpPr>
        <p:spPr>
          <a:xfrm>
            <a:off x="8458200" y="2487168"/>
            <a:ext cx="274320" cy="0"/>
          </a:xfrm>
          <a:prstGeom prst="line">
            <a:avLst/>
          </a:prstGeom>
          <a:noFill/>
          <a:ln w="15875">
            <a:solidFill>
              <a:schemeClr val="tx2"/>
            </a:solidFill>
            <a:prstDash val="solid"/>
          </a:ln>
        </p:spPr>
      </p:sp>
      <p:sp>
        <p:nvSpPr>
          <p:cNvPr id="53" name="Shape 50"/>
          <p:cNvSpPr/>
          <p:nvPr/>
        </p:nvSpPr>
        <p:spPr>
          <a:xfrm>
            <a:off x="8458200" y="2990088"/>
            <a:ext cx="274320" cy="0"/>
          </a:xfrm>
          <a:prstGeom prst="line">
            <a:avLst/>
          </a:prstGeom>
          <a:noFill/>
          <a:ln w="15875">
            <a:solidFill>
              <a:schemeClr val="tx2"/>
            </a:solidFill>
            <a:prstDash val="solid"/>
          </a:ln>
        </p:spPr>
      </p:sp>
      <p:sp>
        <p:nvSpPr>
          <p:cNvPr id="54" name="Shape 51"/>
          <p:cNvSpPr/>
          <p:nvPr/>
        </p:nvSpPr>
        <p:spPr>
          <a:xfrm>
            <a:off x="8458200" y="3493008"/>
            <a:ext cx="274320" cy="0"/>
          </a:xfrm>
          <a:prstGeom prst="line">
            <a:avLst/>
          </a:prstGeom>
          <a:noFill/>
          <a:ln w="15875">
            <a:solidFill>
              <a:schemeClr val="tx2"/>
            </a:solidFill>
            <a:prstDash val="solid"/>
          </a:ln>
        </p:spPr>
      </p:sp>
      <p:sp>
        <p:nvSpPr>
          <p:cNvPr id="55" name="Shape 52"/>
          <p:cNvSpPr/>
          <p:nvPr/>
        </p:nvSpPr>
        <p:spPr>
          <a:xfrm>
            <a:off x="8275320" y="4384548"/>
            <a:ext cx="182880" cy="0"/>
          </a:xfrm>
          <a:prstGeom prst="line">
            <a:avLst/>
          </a:prstGeom>
          <a:noFill/>
          <a:ln w="15875">
            <a:solidFill>
              <a:schemeClr val="tx2"/>
            </a:solidFill>
            <a:prstDash val="solid"/>
          </a:ln>
        </p:spPr>
      </p:sp>
      <p:sp>
        <p:nvSpPr>
          <p:cNvPr id="56" name="Shape 53"/>
          <p:cNvSpPr/>
          <p:nvPr/>
        </p:nvSpPr>
        <p:spPr>
          <a:xfrm>
            <a:off x="8458200" y="4133088"/>
            <a:ext cx="0" cy="502920"/>
          </a:xfrm>
          <a:prstGeom prst="line">
            <a:avLst/>
          </a:prstGeom>
          <a:noFill/>
          <a:ln w="15875">
            <a:solidFill>
              <a:schemeClr val="tx2"/>
            </a:solidFill>
            <a:prstDash val="solid"/>
          </a:ln>
        </p:spPr>
      </p:sp>
      <p:sp>
        <p:nvSpPr>
          <p:cNvPr id="57" name="Shape 54"/>
          <p:cNvSpPr/>
          <p:nvPr/>
        </p:nvSpPr>
        <p:spPr>
          <a:xfrm>
            <a:off x="8458200" y="4133088"/>
            <a:ext cx="274320" cy="0"/>
          </a:xfrm>
          <a:prstGeom prst="line">
            <a:avLst/>
          </a:prstGeom>
          <a:noFill/>
          <a:ln w="15875">
            <a:solidFill>
              <a:schemeClr val="tx2"/>
            </a:solidFill>
            <a:prstDash val="solid"/>
          </a:ln>
        </p:spPr>
      </p:sp>
      <p:sp>
        <p:nvSpPr>
          <p:cNvPr id="58" name="Shape 55"/>
          <p:cNvSpPr/>
          <p:nvPr/>
        </p:nvSpPr>
        <p:spPr>
          <a:xfrm>
            <a:off x="8458200" y="4636008"/>
            <a:ext cx="274320" cy="0"/>
          </a:xfrm>
          <a:prstGeom prst="line">
            <a:avLst/>
          </a:prstGeom>
          <a:noFill/>
          <a:ln w="15875">
            <a:solidFill>
              <a:schemeClr val="tx2"/>
            </a:solidFill>
            <a:prstDash val="solid"/>
          </a:ln>
        </p:spPr>
      </p:sp>
      <p:sp>
        <p:nvSpPr>
          <p:cNvPr id="59" name="Shape 56"/>
          <p:cNvSpPr/>
          <p:nvPr/>
        </p:nvSpPr>
        <p:spPr>
          <a:xfrm>
            <a:off x="5257800" y="5618988"/>
            <a:ext cx="182880" cy="0"/>
          </a:xfrm>
          <a:prstGeom prst="line">
            <a:avLst/>
          </a:prstGeom>
          <a:noFill/>
          <a:ln w="15875">
            <a:solidFill>
              <a:schemeClr val="tx2"/>
            </a:solidFill>
            <a:prstDash val="solid"/>
          </a:ln>
        </p:spPr>
      </p:sp>
      <p:sp>
        <p:nvSpPr>
          <p:cNvPr id="60" name="Shape 57"/>
          <p:cNvSpPr/>
          <p:nvPr/>
        </p:nvSpPr>
        <p:spPr>
          <a:xfrm>
            <a:off x="5440680" y="5367528"/>
            <a:ext cx="0" cy="502920"/>
          </a:xfrm>
          <a:prstGeom prst="line">
            <a:avLst/>
          </a:prstGeom>
          <a:noFill/>
          <a:ln w="15875">
            <a:solidFill>
              <a:schemeClr val="tx2"/>
            </a:solidFill>
            <a:prstDash val="solid"/>
          </a:ln>
        </p:spPr>
      </p:sp>
      <p:sp>
        <p:nvSpPr>
          <p:cNvPr id="61" name="Shape 58"/>
          <p:cNvSpPr/>
          <p:nvPr/>
        </p:nvSpPr>
        <p:spPr>
          <a:xfrm>
            <a:off x="5440680" y="5367528"/>
            <a:ext cx="228600" cy="0"/>
          </a:xfrm>
          <a:prstGeom prst="line">
            <a:avLst/>
          </a:prstGeom>
          <a:noFill/>
          <a:ln w="15875">
            <a:solidFill>
              <a:schemeClr val="tx2"/>
            </a:solidFill>
            <a:prstDash val="solid"/>
          </a:ln>
        </p:spPr>
      </p:sp>
      <p:sp>
        <p:nvSpPr>
          <p:cNvPr id="62" name="Shape 59"/>
          <p:cNvSpPr/>
          <p:nvPr/>
        </p:nvSpPr>
        <p:spPr>
          <a:xfrm>
            <a:off x="5440680" y="5870448"/>
            <a:ext cx="228600" cy="0"/>
          </a:xfrm>
          <a:prstGeom prst="line">
            <a:avLst/>
          </a:prstGeom>
          <a:noFill/>
          <a:ln w="15875">
            <a:solidFill>
              <a:schemeClr val="tx2"/>
            </a:solidFill>
            <a:prstDash val="solid"/>
          </a:ln>
        </p:spPr>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5</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The family tree</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accent2"/>
                </a:solidFill>
                <a:latin typeface="Consolas" pitchFamily="34" charset="0"/>
                <a:ea typeface="Consolas" pitchFamily="34" charset="-122"/>
                <a:cs typeface="Consolas" pitchFamily="34" charset="-120"/>
              </a:rPr>
              <a:t>ArithmeticException</a:t>
            </a:r>
            <a:r>
              <a:rPr lang="en-US" sz="2800" b="1" dirty="0">
                <a:solidFill>
                  <a:schemeClr val="tx1"/>
                </a:solidFill>
              </a:rPr>
              <a:t> is a direct subclass of which class?</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Error</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RuntimeException</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IOException</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Object</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5</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The family tree</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latin typeface="Consolas" pitchFamily="34" charset="0"/>
                <a:ea typeface="Consolas" pitchFamily="34" charset="-122"/>
                <a:cs typeface="Consolas" pitchFamily="34" charset="-120"/>
              </a:rPr>
              <a:t>ArithmeticException</a:t>
            </a:r>
            <a:r>
              <a:rPr lang="en-US" sz="2000" b="1" dirty="0">
                <a:solidFill>
                  <a:schemeClr val="tx2"/>
                </a:solidFill>
              </a:rPr>
              <a:t> is a direct subclass of which class?</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Error</a:t>
            </a:r>
            <a:endParaRPr lang="en-US"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0" name="Option B text"/>
          <p:cNvSpPr txBox="1"/>
          <p:nvPr/>
        </p:nvSpPr>
        <p:spPr>
          <a:xfrm>
            <a:off x="1371600" y="2798064"/>
            <a:ext cx="4233672" cy="777240"/>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RuntimeException</a:t>
            </a:r>
            <a:endParaRPr lang="en-US" sz="1700" dirty="0"/>
          </a:p>
        </p:txBody>
      </p:sp>
      <p:pic>
        <p:nvPicPr>
          <p:cNvPr id="11" name="Image 0"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IOException</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Object</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ArithmeticException</a:t>
            </a:r>
            <a:r>
              <a:rPr lang="en-US" sz="1800" dirty="0">
                <a:solidFill>
                  <a:schemeClr val="tx1"/>
                </a:solidFill>
              </a:rPr>
              <a:t> extends </a:t>
            </a:r>
            <a:r>
              <a:rPr lang="en-US" sz="1800" dirty="0">
                <a:solidFill>
                  <a:schemeClr val="accent2"/>
                </a:solidFill>
                <a:latin typeface="Consolas" pitchFamily="34" charset="0"/>
                <a:ea typeface="Consolas" pitchFamily="34" charset="-122"/>
                <a:cs typeface="Consolas" pitchFamily="34" charset="-120"/>
              </a:rPr>
              <a:t>RuntimeException</a:t>
            </a:r>
            <a:r>
              <a:rPr lang="en-US" sz="1800" dirty="0">
                <a:solidFill>
                  <a:schemeClr val="tx1"/>
                </a:solidFill>
              </a:rPr>
              <a:t>, which extends </a:t>
            </a:r>
            <a:r>
              <a:rPr lang="en-US" sz="1800" dirty="0">
                <a:solidFill>
                  <a:schemeClr val="accent2"/>
                </a:solidFill>
                <a:latin typeface="Consolas" pitchFamily="34" charset="0"/>
                <a:ea typeface="Consolas" pitchFamily="34" charset="-122"/>
                <a:cs typeface="Consolas" pitchFamily="34" charset="-120"/>
              </a:rPr>
              <a:t>Exception</a:t>
            </a:r>
            <a:r>
              <a:rPr lang="en-US" sz="1800" dirty="0">
                <a:solidFill>
                  <a:schemeClr val="tx1"/>
                </a:solidFill>
              </a:rPr>
              <a:t>, then </a:t>
            </a:r>
            <a:r>
              <a:rPr lang="en-US" sz="1800" dirty="0">
                <a:solidFill>
                  <a:schemeClr val="accent2"/>
                </a:solidFill>
                <a:latin typeface="Consolas" pitchFamily="34" charset="0"/>
                <a:ea typeface="Consolas" pitchFamily="34" charset="-122"/>
                <a:cs typeface="Consolas" pitchFamily="34" charset="-120"/>
              </a:rPr>
              <a:t>Throwable</a:t>
            </a:r>
            <a:r>
              <a:rPr lang="en-US" sz="1800" dirty="0">
                <a:solidFill>
                  <a:schemeClr val="tx1"/>
                </a:solidFill>
              </a:rPr>
              <a:t>, then </a:t>
            </a:r>
            <a:r>
              <a:rPr lang="en-US" sz="1800" dirty="0">
                <a:solidFill>
                  <a:schemeClr val="accent2"/>
                </a:solidFill>
                <a:latin typeface="Consolas" pitchFamily="34" charset="0"/>
                <a:ea typeface="Consolas" pitchFamily="34" charset="-122"/>
                <a:cs typeface="Consolas" pitchFamily="34" charset="-120"/>
              </a:rPr>
              <a:t>Object</a:t>
            </a:r>
            <a:r>
              <a:rPr lang="en-US" sz="1800" dirty="0">
                <a:solidFill>
                  <a:schemeClr val="tx1"/>
                </a:solidFill>
              </a:rPr>
              <a:t>. Being under </a:t>
            </a:r>
            <a:r>
              <a:rPr lang="en-US" sz="1800" dirty="0">
                <a:solidFill>
                  <a:schemeClr val="accent2"/>
                </a:solidFill>
                <a:latin typeface="Consolas" pitchFamily="34" charset="0"/>
                <a:ea typeface="Consolas" pitchFamily="34" charset="-122"/>
                <a:cs typeface="Consolas" pitchFamily="34" charset="-120"/>
              </a:rPr>
              <a:t>RuntimeException</a:t>
            </a:r>
            <a:r>
              <a:rPr lang="en-US" sz="1800" dirty="0">
                <a:solidFill>
                  <a:schemeClr val="tx1"/>
                </a:solidFill>
              </a:rPr>
              <a:t> is what makes it unchecked. It isn’t an </a:t>
            </a:r>
            <a:r>
              <a:rPr lang="en-US" sz="1800" dirty="0">
                <a:solidFill>
                  <a:schemeClr val="accent2"/>
                </a:solidFill>
                <a:latin typeface="Consolas" pitchFamily="34" charset="0"/>
                <a:ea typeface="Consolas" pitchFamily="34" charset="-122"/>
                <a:cs typeface="Consolas" pitchFamily="34" charset="-120"/>
              </a:rPr>
              <a:t>Error</a:t>
            </a:r>
            <a:r>
              <a:rPr lang="en-US" sz="1800" dirty="0">
                <a:solidFill>
                  <a:schemeClr val="tx1"/>
                </a:solidFill>
              </a:rPr>
              <a:t>, and </a:t>
            </a:r>
            <a:r>
              <a:rPr lang="en-US" sz="1800" dirty="0">
                <a:solidFill>
                  <a:schemeClr val="accent2"/>
                </a:solidFill>
                <a:latin typeface="Consolas" pitchFamily="34" charset="0"/>
                <a:ea typeface="Consolas" pitchFamily="34" charset="-122"/>
                <a:cs typeface="Consolas" pitchFamily="34" charset="-120"/>
              </a:rPr>
              <a:t>IOException</a:t>
            </a:r>
            <a:r>
              <a:rPr lang="en-US" sz="1800" dirty="0">
                <a:solidFill>
                  <a:schemeClr val="tx1"/>
                </a:solidFill>
              </a:rPr>
              <a:t> is a separate branch for input and output.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US" sz="9600" b="1" dirty="0">
                <a:solidFill>
                  <a:schemeClr val="accent1"/>
                </a:solidFill>
              </a:rPr>
              <a:t>02</a:t>
            </a: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US" sz="4400" b="1" dirty="0">
                <a:solidFill>
                  <a:schemeClr val="bg1"/>
                </a:solidFill>
              </a:rPr>
              <a:t>try, catch and finally</a:t>
            </a: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US" sz="2000" dirty="0">
                <a:solidFill>
                  <a:schemeClr val="bg2"/>
                </a:solidFill>
              </a:rPr>
              <a:t>Catching an exception so the program carries on</a:t>
            </a:r>
            <a:endParaRPr lang="en-US" sz="2000" dirty="0"/>
          </a:p>
        </p:txBody>
      </p:sp>
      <p:sp>
        <p:nvSpPr>
          <p:cNvPr id="5" name="Topic chip"/>
          <p:cNvSpPr/>
          <p:nvPr/>
        </p:nvSpPr>
        <p:spPr>
          <a:xfrm>
            <a:off x="822960" y="4846320"/>
            <a:ext cx="679811"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try</a:t>
            </a:r>
            <a:endParaRPr lang="en-US" sz="1400" dirty="0"/>
          </a:p>
        </p:txBody>
      </p:sp>
      <p:sp>
        <p:nvSpPr>
          <p:cNvPr id="6" name="Topic chip"/>
          <p:cNvSpPr/>
          <p:nvPr/>
        </p:nvSpPr>
        <p:spPr>
          <a:xfrm>
            <a:off x="1649075" y="4846320"/>
            <a:ext cx="86479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catch</a:t>
            </a:r>
            <a:endParaRPr lang="en-US" sz="1400" dirty="0"/>
          </a:p>
        </p:txBody>
      </p:sp>
      <p:sp>
        <p:nvSpPr>
          <p:cNvPr id="7" name="Topic chip"/>
          <p:cNvSpPr/>
          <p:nvPr/>
        </p:nvSpPr>
        <p:spPr>
          <a:xfrm>
            <a:off x="2660172" y="4846320"/>
            <a:ext cx="1049777"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finally</a:t>
            </a:r>
            <a:endParaRPr lang="en-US" sz="1400" dirty="0"/>
          </a:p>
        </p:txBody>
      </p:sp>
      <p:sp>
        <p:nvSpPr>
          <p:cNvPr id="8" name="Topic chip"/>
          <p:cNvSpPr/>
          <p:nvPr/>
        </p:nvSpPr>
        <p:spPr>
          <a:xfrm>
            <a:off x="3856253" y="4846320"/>
            <a:ext cx="1419743"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Exception e</a:t>
            </a:r>
            <a:endParaRPr lang="en-US" sz="1400" dirty="0"/>
          </a:p>
        </p:txBody>
      </p:sp>
      <p:sp>
        <p:nvSpPr>
          <p:cNvPr id="9" name="Topic chip"/>
          <p:cNvSpPr/>
          <p:nvPr/>
        </p:nvSpPr>
        <p:spPr>
          <a:xfrm>
            <a:off x="5422301" y="4846320"/>
            <a:ext cx="1789709"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Several catches</a:t>
            </a:r>
            <a:endParaRPr lang="en-US" sz="1400" dirty="0"/>
          </a:p>
        </p:txBody>
      </p:sp>
      <p:pic>
        <p:nvPicPr>
          <p:cNvPr id="10" name="Image 0"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TRY, CATCH AND FINALLY</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try and catch</a:t>
            </a:r>
            <a:endParaRPr lang="en-US" sz="3400" dirty="0"/>
          </a:p>
        </p:txBody>
      </p:sp>
      <p:sp>
        <p:nvSpPr>
          <p:cNvPr id="5" name="Text 2"/>
          <p:cNvSpPr txBox="1"/>
          <p:nvPr/>
        </p:nvSpPr>
        <p:spPr>
          <a:xfrm>
            <a:off x="548640" y="1783080"/>
            <a:ext cx="5120640" cy="429768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chemeClr val="tx1"/>
                </a:solidFill>
              </a:rPr>
              <a:t>Code that might throw an exception goes in a </a:t>
            </a:r>
            <a:r>
              <a:rPr lang="en-US" sz="1700" b="1" dirty="0">
                <a:solidFill>
                  <a:schemeClr val="tx1"/>
                </a:solidFill>
              </a:rPr>
              <a:t>try</a:t>
            </a:r>
            <a:r>
              <a:rPr lang="en-US" sz="1700" dirty="0">
                <a:solidFill>
                  <a:schemeClr val="tx1"/>
                </a:solidFill>
              </a:rPr>
              <a:t> block: reading a file, sums with user input, working with arrays.</a:t>
            </a:r>
            <a:endParaRPr lang="en-US" sz="1700" dirty="0"/>
          </a:p>
          <a:p>
            <a:pPr marL="228600" indent="-228600">
              <a:spcAft>
                <a:spcPts val="1200"/>
              </a:spcAft>
              <a:buSzPct val="100000"/>
              <a:buChar char="•"/>
            </a:pPr>
            <a:r>
              <a:rPr lang="en-US" sz="1700" dirty="0">
                <a:solidFill>
                  <a:schemeClr val="tx1"/>
                </a:solidFill>
              </a:rPr>
              <a:t>A </a:t>
            </a:r>
            <a:r>
              <a:rPr lang="en-US" sz="1700" b="1" dirty="0">
                <a:solidFill>
                  <a:schemeClr val="tx1"/>
                </a:solidFill>
              </a:rPr>
              <a:t>catch</a:t>
            </a:r>
            <a:r>
              <a:rPr lang="en-US" sz="1700" dirty="0">
                <a:solidFill>
                  <a:schemeClr val="tx1"/>
                </a:solidFill>
              </a:rPr>
              <a:t> block straight after it says what to do if that exception happens, usually a clear message for the user.</a:t>
            </a:r>
            <a:endParaRPr lang="en-US" sz="1700" dirty="0"/>
          </a:p>
          <a:p>
            <a:pPr marL="228600" indent="-228600">
              <a:spcAft>
                <a:spcPts val="1200"/>
              </a:spcAft>
              <a:buSzPct val="100000"/>
              <a:buChar char="•"/>
            </a:pPr>
            <a:r>
              <a:rPr lang="en-US" sz="1700" dirty="0">
                <a:solidFill>
                  <a:schemeClr val="tx1"/>
                </a:solidFill>
              </a:rPr>
              <a:t>When an exception is thrown, the rest of the try block is skipped and Java jumps to the catch.</a:t>
            </a:r>
            <a:endParaRPr lang="en-US" sz="1700" dirty="0"/>
          </a:p>
          <a:p>
            <a:pPr marL="228600" indent="-228600">
              <a:buSzPct val="100000"/>
              <a:buChar char="•"/>
            </a:pPr>
            <a:r>
              <a:rPr lang="en-US" sz="1700" dirty="0">
                <a:solidFill>
                  <a:schemeClr val="tx1"/>
                </a:solidFill>
              </a:rPr>
              <a:t>After the catch, the program carries on.</a:t>
            </a:r>
            <a:endParaRPr lang="en-US" sz="1700" dirty="0"/>
          </a:p>
        </p:txBody>
      </p:sp>
      <p:sp>
        <p:nvSpPr>
          <p:cNvPr id="6" name="try catch card"/>
          <p:cNvSpPr/>
          <p:nvPr/>
        </p:nvSpPr>
        <p:spPr>
          <a:xfrm>
            <a:off x="6035040" y="1691640"/>
            <a:ext cx="5608015" cy="2711196"/>
          </a:xfrm>
          <a:prstGeom prst="roundRect">
            <a:avLst>
              <a:gd name="adj" fmla="val 4047"/>
            </a:avLst>
          </a:prstGeom>
          <a:solidFill>
            <a:schemeClr val="tx1"/>
          </a:solidFill>
          <a:ln/>
          <a:effectLst>
            <a:outerShdw sx="100000" sy="100000" kx="0" ky="0" algn="bl" rotWithShape="0" blurRad="114300" dist="31750" dir="5400000">
              <a:srgbClr val="1D2433">
                <a:alpha val="12000"/>
              </a:srgbClr>
            </a:outerShdw>
          </a:effectLst>
        </p:spPr>
      </p:sp>
      <p:sp>
        <p:nvSpPr>
          <p:cNvPr id="7" name="try catch label"/>
          <p:cNvSpPr txBox="1"/>
          <p:nvPr/>
        </p:nvSpPr>
        <p:spPr>
          <a:xfrm>
            <a:off x="6309360" y="1810512"/>
            <a:ext cx="505937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8" name="try catch text"/>
          <p:cNvSpPr txBox="1"/>
          <p:nvPr/>
        </p:nvSpPr>
        <p:spPr>
          <a:xfrm>
            <a:off x="6309360" y="2185416"/>
            <a:ext cx="5059375" cy="2016252"/>
          </a:xfrm>
          <a:prstGeom prst="rect">
            <a:avLst/>
          </a:prstGeom>
          <a:noFill/>
          <a:ln/>
        </p:spPr>
        <p:txBody>
          <a:bodyPr wrap="square" lIns="0" tIns="0" rIns="0" bIns="0" rtlCol="0" anchor="t"/>
          <a:lstStyle/>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try </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int</a:t>
            </a:r>
            <a:r>
              <a:rPr lang="en-US" sz="1300" dirty="0">
                <a:solidFill>
                  <a:srgbClr val="E6EBF2"/>
                </a:solidFill>
                <a:latin typeface="Consolas" pitchFamily="34" charset="0"/>
                <a:ea typeface="Consolas" pitchFamily="34" charset="-122"/>
                <a:cs typeface="Consolas" pitchFamily="34" charset="-120"/>
              </a:rPr>
              <a:t>[] marks = {</a:t>
            </a:r>
            <a:r>
              <a:rPr lang="en-US" sz="1300" dirty="0">
                <a:solidFill>
                  <a:srgbClr val="F2C14E"/>
                </a:solidFill>
                <a:latin typeface="Consolas" pitchFamily="34" charset="0"/>
                <a:ea typeface="Consolas" pitchFamily="34" charset="-122"/>
                <a:cs typeface="Consolas" pitchFamily="34" charset="-120"/>
              </a:rPr>
              <a:t>70</a:t>
            </a: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2C14E"/>
                </a:solidFill>
                <a:latin typeface="Consolas" pitchFamily="34" charset="0"/>
                <a:ea typeface="Consolas" pitchFamily="34" charset="-122"/>
                <a:cs typeface="Consolas" pitchFamily="34" charset="-120"/>
              </a:rPr>
              <a:t>85</a:t>
            </a: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2C14E"/>
                </a:solidFill>
                <a:latin typeface="Consolas" pitchFamily="34" charset="0"/>
                <a:ea typeface="Consolas" pitchFamily="34" charset="-122"/>
                <a:cs typeface="Consolas" pitchFamily="34" charset="-120"/>
              </a:rPr>
              <a:t>90</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"Start"</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(marks[</a:t>
            </a:r>
            <a:r>
              <a:rPr lang="en-US" sz="1300" dirty="0">
                <a:solidFill>
                  <a:srgbClr val="F2C14E"/>
                </a:solidFill>
                <a:latin typeface="Consolas" pitchFamily="34" charset="0"/>
                <a:ea typeface="Consolas" pitchFamily="34" charset="-122"/>
                <a:cs typeface="Consolas" pitchFamily="34" charset="-120"/>
              </a:rPr>
              <a:t>3</a:t>
            </a:r>
            <a:r>
              <a:rPr lang="en-US" sz="1300" dirty="0">
                <a:solidFill>
                  <a:srgbClr val="E6EBF2"/>
                </a:solidFill>
                <a:latin typeface="Consolas" pitchFamily="34" charset="0"/>
                <a:ea typeface="Consolas" pitchFamily="34" charset="-122"/>
                <a:cs typeface="Consolas" pitchFamily="34" charset="-120"/>
              </a:rPr>
              <a:t>]);     </a:t>
            </a:r>
            <a:r>
              <a:rPr lang="en-US" sz="1300" i="1" dirty="0">
                <a:solidFill>
                  <a:srgbClr val="A3AEC2"/>
                </a:solidFill>
                <a:latin typeface="Consolas" pitchFamily="34" charset="0"/>
                <a:ea typeface="Consolas" pitchFamily="34" charset="-122"/>
                <a:cs typeface="Consolas" pitchFamily="34" charset="-120"/>
              </a:rPr>
              <a:t>// no index 3</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"End of try"</a:t>
            </a:r>
            <a:r>
              <a:rPr lang="en-US" sz="1300" dirty="0">
                <a:solidFill>
                  <a:srgbClr val="E6EBF2"/>
                </a:solidFill>
                <a:latin typeface="Consolas" pitchFamily="34" charset="0"/>
                <a:ea typeface="Consolas" pitchFamily="34" charset="-122"/>
                <a:cs typeface="Consolas" pitchFamily="34" charset="-120"/>
              </a:rPr>
              <a:t>); </a:t>
            </a:r>
            <a:r>
              <a:rPr lang="en-US" sz="1300" i="1" dirty="0">
                <a:solidFill>
                  <a:srgbClr val="A3AEC2"/>
                </a:solidFill>
                <a:latin typeface="Consolas" pitchFamily="34" charset="0"/>
                <a:ea typeface="Consolas" pitchFamily="34" charset="-122"/>
                <a:cs typeface="Consolas" pitchFamily="34" charset="-120"/>
              </a:rPr>
              <a:t>// skipped</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catch </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6CC4E8"/>
                </a:solidFill>
                <a:latin typeface="Consolas" pitchFamily="34" charset="0"/>
                <a:ea typeface="Consolas" pitchFamily="34" charset="-122"/>
                <a:cs typeface="Consolas" pitchFamily="34" charset="-120"/>
              </a:rPr>
              <a:t>ArrayIndexOutOfBoundsException </a:t>
            </a:r>
            <a:r>
              <a:rPr lang="en-US" sz="1300" dirty="0">
                <a:solidFill>
                  <a:srgbClr val="E6EBF2"/>
                </a:solidFill>
                <a:latin typeface="Consolas" pitchFamily="34" charset="0"/>
                <a:ea typeface="Consolas" pitchFamily="34" charset="-122"/>
                <a:cs typeface="Consolas" pitchFamily="34" charset="-120"/>
              </a:rPr>
              <a:t>e) {</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"No mark at that position"</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"Program carries on"</a:t>
            </a:r>
            <a:r>
              <a:rPr lang="en-US" sz="1300" dirty="0">
                <a:solidFill>
                  <a:srgbClr val="E6EBF2"/>
                </a:solidFill>
                <a:latin typeface="Consolas" pitchFamily="34" charset="0"/>
                <a:ea typeface="Consolas" pitchFamily="34" charset="-122"/>
                <a:cs typeface="Consolas" pitchFamily="34" charset="-120"/>
              </a:rPr>
              <a:t>);</a:t>
            </a:r>
            <a:endParaRPr lang="en-US" sz="1300" dirty="0"/>
          </a:p>
        </p:txBody>
      </p:sp>
      <p:sp>
        <p:nvSpPr>
          <p:cNvPr id="9" name="Output card"/>
          <p:cNvSpPr/>
          <p:nvPr/>
        </p:nvSpPr>
        <p:spPr>
          <a:xfrm>
            <a:off x="6035040" y="4572000"/>
            <a:ext cx="5608015" cy="1418463"/>
          </a:xfrm>
          <a:prstGeom prst="roundRect">
            <a:avLst>
              <a:gd name="adj" fmla="val 7736"/>
            </a:avLst>
          </a:prstGeom>
          <a:solidFill>
            <a:schemeClr val="tx1"/>
          </a:solidFill>
          <a:ln/>
          <a:effectLst>
            <a:outerShdw sx="100000" sy="100000" kx="0" ky="0" algn="bl" rotWithShape="0" blurRad="114300" dist="31750" dir="5400000">
              <a:srgbClr val="1D2433">
                <a:alpha val="12000"/>
              </a:srgbClr>
            </a:outerShdw>
          </a:effectLst>
        </p:spPr>
      </p:sp>
      <p:sp>
        <p:nvSpPr>
          <p:cNvPr id="10" name="Output label"/>
          <p:cNvSpPr txBox="1"/>
          <p:nvPr/>
        </p:nvSpPr>
        <p:spPr>
          <a:xfrm>
            <a:off x="6309360" y="4690872"/>
            <a:ext cx="505937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a:t>
            </a:r>
            <a:endParaRPr lang="en-US" sz="1050" dirty="0"/>
          </a:p>
        </p:txBody>
      </p:sp>
      <p:sp>
        <p:nvSpPr>
          <p:cNvPr id="11" name="Output text"/>
          <p:cNvSpPr txBox="1"/>
          <p:nvPr/>
        </p:nvSpPr>
        <p:spPr>
          <a:xfrm>
            <a:off x="6309360" y="5065776"/>
            <a:ext cx="5059375" cy="723519"/>
          </a:xfrm>
          <a:prstGeom prst="rect">
            <a:avLst/>
          </a:prstGeom>
          <a:noFill/>
          <a:ln/>
        </p:spPr>
        <p:txBody>
          <a:bodyPr wrap="square" lIns="0" tIns="0" rIns="0" bIns="0" rtlCol="0" anchor="t"/>
          <a:lstStyle/>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Start</a:t>
            </a:r>
            <a:endParaRPr lang="en-US" sz="1300" dirty="0"/>
          </a:p>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No mark at that position</a:t>
            </a:r>
            <a:endParaRPr lang="en-US" sz="1300" dirty="0"/>
          </a:p>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Program carries on</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6</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try and catch</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does this code print?</a:t>
            </a:r>
            <a:endParaRPr lang="en-US" sz="2800" dirty="0"/>
          </a:p>
        </p:txBody>
      </p:sp>
      <p:sp>
        <p:nvSpPr>
          <p:cNvPr id="5" name="Question code card"/>
          <p:cNvSpPr/>
          <p:nvPr/>
        </p:nvSpPr>
        <p:spPr>
          <a:xfrm>
            <a:off x="548640" y="2395728"/>
            <a:ext cx="6035040" cy="3163824"/>
          </a:xfrm>
          <a:prstGeom prst="roundRect">
            <a:avLst>
              <a:gd name="adj" fmla="val 3468"/>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bel"/>
          <p:cNvSpPr txBox="1"/>
          <p:nvPr/>
        </p:nvSpPr>
        <p:spPr>
          <a:xfrm>
            <a:off x="822960" y="2514600"/>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Question code text"/>
          <p:cNvSpPr txBox="1"/>
          <p:nvPr/>
        </p:nvSpPr>
        <p:spPr>
          <a:xfrm>
            <a:off x="822960" y="2889504"/>
            <a:ext cx="5486400" cy="2468880"/>
          </a:xfrm>
          <a:prstGeom prst="rect">
            <a:avLst/>
          </a:prstGeom>
          <a:noFill/>
          <a:ln/>
        </p:spPr>
        <p:txBody>
          <a:bodyPr wrap="square" lIns="0" tIns="0" rIns="0" bIns="0" rtlCol="0" anchor="t"/>
          <a:lstStyle/>
          <a:p>
            <a:pPr indent="0" marL="0">
              <a:lnSpc>
                <a:spcPts val="2110"/>
              </a:lnSpc>
              <a:buNone/>
            </a:pPr>
            <a:r>
              <a:rPr lang="en-US" sz="1600" dirty="0">
                <a:solidFill>
                  <a:srgbClr val="FF9F5A"/>
                </a:solidFill>
                <a:latin typeface="Consolas" pitchFamily="34" charset="0"/>
                <a:ea typeface="Consolas" pitchFamily="34" charset="-122"/>
                <a:cs typeface="Consolas" pitchFamily="34" charset="-120"/>
              </a:rPr>
              <a:t>int</a:t>
            </a:r>
            <a:r>
              <a:rPr lang="en-US" sz="1600" dirty="0">
                <a:solidFill>
                  <a:srgbClr val="E6EBF2"/>
                </a:solidFill>
                <a:latin typeface="Consolas" pitchFamily="34" charset="0"/>
                <a:ea typeface="Consolas" pitchFamily="34" charset="-122"/>
                <a:cs typeface="Consolas" pitchFamily="34" charset="-120"/>
              </a:rPr>
              <a:t>[] scores = {</a:t>
            </a:r>
            <a:r>
              <a:rPr lang="en-US" sz="1600" dirty="0">
                <a:solidFill>
                  <a:srgbClr val="F2C14E"/>
                </a:solidFill>
                <a:latin typeface="Consolas" pitchFamily="34" charset="0"/>
                <a:ea typeface="Consolas" pitchFamily="34" charset="-122"/>
                <a:cs typeface="Consolas" pitchFamily="34" charset="-120"/>
              </a:rPr>
              <a:t>4</a:t>
            </a:r>
            <a:r>
              <a:rPr lang="en-US" sz="1600" dirty="0">
                <a:solidFill>
                  <a:srgbClr val="E6EBF2"/>
                </a:solidFill>
                <a:latin typeface="Consolas" pitchFamily="34" charset="0"/>
                <a:ea typeface="Consolas" pitchFamily="34" charset="-122"/>
                <a:cs typeface="Consolas" pitchFamily="34" charset="-120"/>
              </a:rPr>
              <a:t>, </a:t>
            </a:r>
            <a:r>
              <a:rPr lang="en-US" sz="1600" dirty="0">
                <a:solidFill>
                  <a:srgbClr val="F2C14E"/>
                </a:solidFill>
                <a:latin typeface="Consolas" pitchFamily="34" charset="0"/>
                <a:ea typeface="Consolas" pitchFamily="34" charset="-122"/>
                <a:cs typeface="Consolas" pitchFamily="34" charset="-120"/>
              </a:rPr>
              <a:t>8</a:t>
            </a: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dirty="0">
                <a:solidFill>
                  <a:srgbClr val="FF9F5A"/>
                </a:solidFill>
                <a:latin typeface="Consolas" pitchFamily="34" charset="0"/>
                <a:ea typeface="Consolas" pitchFamily="34" charset="-122"/>
                <a:cs typeface="Consolas" pitchFamily="34" charset="-120"/>
              </a:rPr>
              <a:t>try </a:t>
            </a: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    </a:t>
            </a:r>
            <a:r>
              <a:rPr lang="en-US" sz="1600" dirty="0">
                <a:solidFill>
                  <a:srgbClr val="6CC4E8"/>
                </a:solidFill>
                <a:latin typeface="Consolas" pitchFamily="34" charset="0"/>
                <a:ea typeface="Consolas" pitchFamily="34" charset="-122"/>
                <a:cs typeface="Consolas" pitchFamily="34" charset="-120"/>
              </a:rPr>
              <a:t>System</a:t>
            </a:r>
            <a:r>
              <a:rPr lang="en-US" sz="1600" dirty="0">
                <a:solidFill>
                  <a:srgbClr val="E6EBF2"/>
                </a:solidFill>
                <a:latin typeface="Consolas" pitchFamily="34" charset="0"/>
                <a:ea typeface="Consolas" pitchFamily="34" charset="-122"/>
                <a:cs typeface="Consolas" pitchFamily="34" charset="-120"/>
              </a:rPr>
              <a:t>.out.</a:t>
            </a:r>
            <a:r>
              <a:rPr lang="en-US" sz="1600" dirty="0">
                <a:solidFill>
                  <a:srgbClr val="C9B0FF"/>
                </a:solidFill>
                <a:latin typeface="Consolas" pitchFamily="34" charset="0"/>
                <a:ea typeface="Consolas" pitchFamily="34" charset="-122"/>
                <a:cs typeface="Consolas" pitchFamily="34" charset="-120"/>
              </a:rPr>
              <a:t>println</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A9DB8C"/>
                </a:solidFill>
                <a:latin typeface="Consolas" pitchFamily="34" charset="0"/>
                <a:ea typeface="Consolas" pitchFamily="34" charset="-122"/>
                <a:cs typeface="Consolas" pitchFamily="34" charset="-120"/>
              </a:rPr>
              <a:t>"One"</a:t>
            </a: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    </a:t>
            </a:r>
            <a:r>
              <a:rPr lang="en-US" sz="1600" dirty="0">
                <a:solidFill>
                  <a:srgbClr val="6CC4E8"/>
                </a:solidFill>
                <a:latin typeface="Consolas" pitchFamily="34" charset="0"/>
                <a:ea typeface="Consolas" pitchFamily="34" charset="-122"/>
                <a:cs typeface="Consolas" pitchFamily="34" charset="-120"/>
              </a:rPr>
              <a:t>System</a:t>
            </a:r>
            <a:r>
              <a:rPr lang="en-US" sz="1600" dirty="0">
                <a:solidFill>
                  <a:srgbClr val="E6EBF2"/>
                </a:solidFill>
                <a:latin typeface="Consolas" pitchFamily="34" charset="0"/>
                <a:ea typeface="Consolas" pitchFamily="34" charset="-122"/>
                <a:cs typeface="Consolas" pitchFamily="34" charset="-120"/>
              </a:rPr>
              <a:t>.out.</a:t>
            </a:r>
            <a:r>
              <a:rPr lang="en-US" sz="1600" dirty="0">
                <a:solidFill>
                  <a:srgbClr val="C9B0FF"/>
                </a:solidFill>
                <a:latin typeface="Consolas" pitchFamily="34" charset="0"/>
                <a:ea typeface="Consolas" pitchFamily="34" charset="-122"/>
                <a:cs typeface="Consolas" pitchFamily="34" charset="-120"/>
              </a:rPr>
              <a:t>println</a:t>
            </a:r>
            <a:r>
              <a:rPr lang="en-US" sz="1600" dirty="0">
                <a:solidFill>
                  <a:srgbClr val="E6EBF2"/>
                </a:solidFill>
                <a:latin typeface="Consolas" pitchFamily="34" charset="0"/>
                <a:ea typeface="Consolas" pitchFamily="34" charset="-122"/>
                <a:cs typeface="Consolas" pitchFamily="34" charset="-120"/>
              </a:rPr>
              <a:t>(scores[</a:t>
            </a:r>
            <a:r>
              <a:rPr lang="en-US" sz="1600" dirty="0">
                <a:solidFill>
                  <a:srgbClr val="F2C14E"/>
                </a:solidFill>
                <a:latin typeface="Consolas" pitchFamily="34" charset="0"/>
                <a:ea typeface="Consolas" pitchFamily="34" charset="-122"/>
                <a:cs typeface="Consolas" pitchFamily="34" charset="-120"/>
              </a:rPr>
              <a:t>2</a:t>
            </a: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    </a:t>
            </a:r>
            <a:r>
              <a:rPr lang="en-US" sz="1600" dirty="0">
                <a:solidFill>
                  <a:srgbClr val="6CC4E8"/>
                </a:solidFill>
                <a:latin typeface="Consolas" pitchFamily="34" charset="0"/>
                <a:ea typeface="Consolas" pitchFamily="34" charset="-122"/>
                <a:cs typeface="Consolas" pitchFamily="34" charset="-120"/>
              </a:rPr>
              <a:t>System</a:t>
            </a:r>
            <a:r>
              <a:rPr lang="en-US" sz="1600" dirty="0">
                <a:solidFill>
                  <a:srgbClr val="E6EBF2"/>
                </a:solidFill>
                <a:latin typeface="Consolas" pitchFamily="34" charset="0"/>
                <a:ea typeface="Consolas" pitchFamily="34" charset="-122"/>
                <a:cs typeface="Consolas" pitchFamily="34" charset="-120"/>
              </a:rPr>
              <a:t>.out.</a:t>
            </a:r>
            <a:r>
              <a:rPr lang="en-US" sz="1600" dirty="0">
                <a:solidFill>
                  <a:srgbClr val="C9B0FF"/>
                </a:solidFill>
                <a:latin typeface="Consolas" pitchFamily="34" charset="0"/>
                <a:ea typeface="Consolas" pitchFamily="34" charset="-122"/>
                <a:cs typeface="Consolas" pitchFamily="34" charset="-120"/>
              </a:rPr>
              <a:t>println</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A9DB8C"/>
                </a:solidFill>
                <a:latin typeface="Consolas" pitchFamily="34" charset="0"/>
                <a:ea typeface="Consolas" pitchFamily="34" charset="-122"/>
                <a:cs typeface="Consolas" pitchFamily="34" charset="-120"/>
              </a:rPr>
              <a:t>"Two"</a:t>
            </a: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 </a:t>
            </a:r>
            <a:r>
              <a:rPr lang="en-US" sz="1600" dirty="0">
                <a:solidFill>
                  <a:srgbClr val="FF9F5A"/>
                </a:solidFill>
                <a:latin typeface="Consolas" pitchFamily="34" charset="0"/>
                <a:ea typeface="Consolas" pitchFamily="34" charset="-122"/>
                <a:cs typeface="Consolas" pitchFamily="34" charset="-120"/>
              </a:rPr>
              <a:t>catch </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6CC4E8"/>
                </a:solidFill>
                <a:latin typeface="Consolas" pitchFamily="34" charset="0"/>
                <a:ea typeface="Consolas" pitchFamily="34" charset="-122"/>
                <a:cs typeface="Consolas" pitchFamily="34" charset="-120"/>
              </a:rPr>
              <a:t>ArrayIndexOutOfBoundsException </a:t>
            </a:r>
            <a:r>
              <a:rPr lang="en-US" sz="1600" dirty="0">
                <a:solidFill>
                  <a:srgbClr val="E6EBF2"/>
                </a:solidFill>
                <a:latin typeface="Consolas" pitchFamily="34" charset="0"/>
                <a:ea typeface="Consolas" pitchFamily="34" charset="-122"/>
                <a:cs typeface="Consolas" pitchFamily="34" charset="-120"/>
              </a:rPr>
              <a:t>e) {</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    </a:t>
            </a:r>
            <a:r>
              <a:rPr lang="en-US" sz="1600" dirty="0">
                <a:solidFill>
                  <a:srgbClr val="6CC4E8"/>
                </a:solidFill>
                <a:latin typeface="Consolas" pitchFamily="34" charset="0"/>
                <a:ea typeface="Consolas" pitchFamily="34" charset="-122"/>
                <a:cs typeface="Consolas" pitchFamily="34" charset="-120"/>
              </a:rPr>
              <a:t>System</a:t>
            </a:r>
            <a:r>
              <a:rPr lang="en-US" sz="1600" dirty="0">
                <a:solidFill>
                  <a:srgbClr val="E6EBF2"/>
                </a:solidFill>
                <a:latin typeface="Consolas" pitchFamily="34" charset="0"/>
                <a:ea typeface="Consolas" pitchFamily="34" charset="-122"/>
                <a:cs typeface="Consolas" pitchFamily="34" charset="-120"/>
              </a:rPr>
              <a:t>.out.</a:t>
            </a:r>
            <a:r>
              <a:rPr lang="en-US" sz="1600" dirty="0">
                <a:solidFill>
                  <a:srgbClr val="C9B0FF"/>
                </a:solidFill>
                <a:latin typeface="Consolas" pitchFamily="34" charset="0"/>
                <a:ea typeface="Consolas" pitchFamily="34" charset="-122"/>
                <a:cs typeface="Consolas" pitchFamily="34" charset="-120"/>
              </a:rPr>
              <a:t>println</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A9DB8C"/>
                </a:solidFill>
                <a:latin typeface="Consolas" pitchFamily="34" charset="0"/>
                <a:ea typeface="Consolas" pitchFamily="34" charset="-122"/>
                <a:cs typeface="Consolas" pitchFamily="34" charset="-120"/>
              </a:rPr>
              <a:t>"Three"</a:t>
            </a: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dirty="0">
                <a:solidFill>
                  <a:srgbClr val="E6EBF2"/>
                </a:solidFill>
                <a:latin typeface="Consolas" pitchFamily="34" charset="0"/>
                <a:ea typeface="Consolas" pitchFamily="34" charset="-122"/>
                <a:cs typeface="Consolas" pitchFamily="34" charset="-120"/>
              </a:rPr>
              <a:t>}</a:t>
            </a:r>
            <a:endParaRPr lang="en-US" sz="1600" dirty="0"/>
          </a:p>
          <a:p>
            <a:pPr indent="0" marL="0">
              <a:lnSpc>
                <a:spcPts val="2110"/>
              </a:lnSpc>
              <a:buNone/>
            </a:pPr>
            <a:r>
              <a:rPr lang="en-US" sz="1600" dirty="0">
                <a:solidFill>
                  <a:srgbClr val="6CC4E8"/>
                </a:solidFill>
                <a:latin typeface="Consolas" pitchFamily="34" charset="0"/>
                <a:ea typeface="Consolas" pitchFamily="34" charset="-122"/>
                <a:cs typeface="Consolas" pitchFamily="34" charset="-120"/>
              </a:rPr>
              <a:t>System</a:t>
            </a:r>
            <a:r>
              <a:rPr lang="en-US" sz="1600" dirty="0">
                <a:solidFill>
                  <a:srgbClr val="E6EBF2"/>
                </a:solidFill>
                <a:latin typeface="Consolas" pitchFamily="34" charset="0"/>
                <a:ea typeface="Consolas" pitchFamily="34" charset="-122"/>
                <a:cs typeface="Consolas" pitchFamily="34" charset="-120"/>
              </a:rPr>
              <a:t>.out.</a:t>
            </a:r>
            <a:r>
              <a:rPr lang="en-US" sz="1600" dirty="0">
                <a:solidFill>
                  <a:srgbClr val="C9B0FF"/>
                </a:solidFill>
                <a:latin typeface="Consolas" pitchFamily="34" charset="0"/>
                <a:ea typeface="Consolas" pitchFamily="34" charset="-122"/>
                <a:cs typeface="Consolas" pitchFamily="34" charset="-120"/>
              </a:rPr>
              <a:t>println</a:t>
            </a:r>
            <a:r>
              <a:rPr lang="en-US" sz="1600" dirty="0">
                <a:solidFill>
                  <a:srgbClr val="E6EBF2"/>
                </a:solidFill>
                <a:latin typeface="Consolas" pitchFamily="34" charset="0"/>
                <a:ea typeface="Consolas" pitchFamily="34" charset="-122"/>
                <a:cs typeface="Consolas" pitchFamily="34" charset="-120"/>
              </a:rPr>
              <a:t>(</a:t>
            </a:r>
            <a:r>
              <a:rPr lang="en-US" sz="1600" dirty="0">
                <a:solidFill>
                  <a:srgbClr val="A9DB8C"/>
                </a:solidFill>
                <a:latin typeface="Consolas" pitchFamily="34" charset="0"/>
                <a:ea typeface="Consolas" pitchFamily="34" charset="-122"/>
                <a:cs typeface="Consolas" pitchFamily="34" charset="-120"/>
              </a:rPr>
              <a:t>"Four"</a:t>
            </a:r>
            <a:r>
              <a:rPr lang="en-US" sz="1600" dirty="0">
                <a:solidFill>
                  <a:srgbClr val="E6EBF2"/>
                </a:solidFill>
                <a:latin typeface="Consolas" pitchFamily="34" charset="0"/>
                <a:ea typeface="Consolas" pitchFamily="34" charset="-122"/>
                <a:cs typeface="Consolas" pitchFamily="34" charset="-120"/>
              </a:rPr>
              <a:t>);</a:t>
            </a:r>
            <a:endParaRPr lang="en-US" sz="16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One, Three, Four</a:t>
            </a:r>
            <a:endParaRPr lang="en-US"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One, Two, Three, Four</a:t>
            </a:r>
            <a:endParaRPr lang="en-US"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One, Three</a:t>
            </a:r>
            <a:endParaRPr lang="en-US"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Three, Four</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6</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try and catch</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does this code print?</a:t>
            </a:r>
            <a:endParaRPr lang="en-US" sz="2000" dirty="0"/>
          </a:p>
        </p:txBody>
      </p:sp>
      <p:sp>
        <p:nvSpPr>
          <p:cNvPr id="5" name="Answer code card"/>
          <p:cNvSpPr/>
          <p:nvPr/>
        </p:nvSpPr>
        <p:spPr>
          <a:xfrm>
            <a:off x="548640" y="1874520"/>
            <a:ext cx="5623560" cy="1714500"/>
          </a:xfrm>
          <a:prstGeom prst="roundRect">
            <a:avLst>
              <a:gd name="adj" fmla="val 6400"/>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1312164"/>
          </a:xfrm>
          <a:prstGeom prst="rect">
            <a:avLst/>
          </a:prstGeom>
          <a:noFill/>
          <a:ln/>
        </p:spPr>
        <p:txBody>
          <a:bodyPr wrap="square" lIns="0" tIns="0" rIns="0" bIns="0" rtlCol="0" anchor="t"/>
          <a:lstStyle/>
          <a:p>
            <a:pPr indent="0" marL="0">
              <a:lnSpc>
                <a:spcPts val="1980"/>
              </a:lnSpc>
              <a:buNone/>
            </a:pPr>
            <a:r>
              <a:rPr lang="en-US" sz="1500" dirty="0">
                <a:solidFill>
                  <a:srgbClr val="A9DB8C"/>
                </a:solidFill>
                <a:latin typeface="Consolas" pitchFamily="34" charset="0"/>
                <a:ea typeface="Consolas" pitchFamily="34" charset="-122"/>
                <a:cs typeface="Consolas" pitchFamily="34" charset="-120"/>
              </a:rPr>
              <a:t>"One"         </a:t>
            </a:r>
            <a:r>
              <a:rPr lang="en-US" sz="1500" i="1" dirty="0">
                <a:solidFill>
                  <a:srgbClr val="A3AEC2"/>
                </a:solidFill>
                <a:latin typeface="Consolas" pitchFamily="34" charset="0"/>
                <a:ea typeface="Consolas" pitchFamily="34" charset="-122"/>
                <a:cs typeface="Consolas" pitchFamily="34" charset="-120"/>
              </a:rPr>
              <a:t>// printed</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scores[</a:t>
            </a:r>
            <a:r>
              <a:rPr lang="en-US" sz="1500" dirty="0">
                <a:solidFill>
                  <a:srgbClr val="F2C14E"/>
                </a:solidFill>
                <a:latin typeface="Consolas" pitchFamily="34" charset="0"/>
                <a:ea typeface="Consolas" pitchFamily="34" charset="-122"/>
                <a:cs typeface="Consolas" pitchFamily="34" charset="-120"/>
              </a:rPr>
              <a:t>2</a:t>
            </a:r>
            <a:r>
              <a:rPr lang="en-US" sz="1500" dirty="0">
                <a:solidFill>
                  <a:srgbClr val="E6EBF2"/>
                </a:solidFill>
                <a:latin typeface="Consolas" pitchFamily="34" charset="0"/>
                <a:ea typeface="Consolas" pitchFamily="34" charset="-122"/>
                <a:cs typeface="Consolas" pitchFamily="34" charset="-120"/>
              </a:rPr>
              <a:t>]     </a:t>
            </a:r>
            <a:r>
              <a:rPr lang="en-US" sz="1500" i="1" dirty="0">
                <a:solidFill>
                  <a:srgbClr val="A3AEC2"/>
                </a:solidFill>
                <a:latin typeface="Consolas" pitchFamily="34" charset="0"/>
                <a:ea typeface="Consolas" pitchFamily="34" charset="-122"/>
                <a:cs typeface="Consolas" pitchFamily="34" charset="-120"/>
              </a:rPr>
              <a:t>// throws: there's no index 2</a:t>
            </a:r>
            <a:endParaRPr lang="en-US" sz="1500" dirty="0"/>
          </a:p>
          <a:p>
            <a:pPr indent="0" marL="0">
              <a:lnSpc>
                <a:spcPts val="1980"/>
              </a:lnSpc>
              <a:buNone/>
            </a:pPr>
            <a:r>
              <a:rPr lang="en-US" sz="1500" dirty="0">
                <a:solidFill>
                  <a:srgbClr val="A9DB8C"/>
                </a:solidFill>
                <a:latin typeface="Consolas" pitchFamily="34" charset="0"/>
                <a:ea typeface="Consolas" pitchFamily="34" charset="-122"/>
                <a:cs typeface="Consolas" pitchFamily="34" charset="-120"/>
              </a:rPr>
              <a:t>"Two"         </a:t>
            </a:r>
            <a:r>
              <a:rPr lang="en-US" sz="1500" i="1" dirty="0">
                <a:solidFill>
                  <a:srgbClr val="A3AEC2"/>
                </a:solidFill>
                <a:latin typeface="Consolas" pitchFamily="34" charset="0"/>
                <a:ea typeface="Consolas" pitchFamily="34" charset="-122"/>
                <a:cs typeface="Consolas" pitchFamily="34" charset="-120"/>
              </a:rPr>
              <a:t>// skipped</a:t>
            </a:r>
            <a:endParaRPr lang="en-US" sz="1500" dirty="0"/>
          </a:p>
          <a:p>
            <a:pPr indent="0" marL="0">
              <a:lnSpc>
                <a:spcPts val="1980"/>
              </a:lnSpc>
              <a:buNone/>
            </a:pPr>
            <a:r>
              <a:rPr lang="en-US" sz="1500" dirty="0">
                <a:solidFill>
                  <a:srgbClr val="A9DB8C"/>
                </a:solidFill>
                <a:latin typeface="Consolas" pitchFamily="34" charset="0"/>
                <a:ea typeface="Consolas" pitchFamily="34" charset="-122"/>
                <a:cs typeface="Consolas" pitchFamily="34" charset="-120"/>
              </a:rPr>
              <a:t>"Three"       </a:t>
            </a:r>
            <a:r>
              <a:rPr lang="en-US" sz="1500" i="1" dirty="0">
                <a:solidFill>
                  <a:srgbClr val="A3AEC2"/>
                </a:solidFill>
                <a:latin typeface="Consolas" pitchFamily="34" charset="0"/>
                <a:ea typeface="Consolas" pitchFamily="34" charset="-122"/>
                <a:cs typeface="Consolas" pitchFamily="34" charset="-120"/>
              </a:rPr>
              <a:t>// printed by the catch</a:t>
            </a:r>
            <a:endParaRPr lang="en-US" sz="1500" dirty="0"/>
          </a:p>
          <a:p>
            <a:pPr indent="0" marL="0">
              <a:lnSpc>
                <a:spcPts val="1980"/>
              </a:lnSpc>
              <a:buNone/>
            </a:pPr>
            <a:r>
              <a:rPr lang="en-US" sz="1500" dirty="0">
                <a:solidFill>
                  <a:srgbClr val="A9DB8C"/>
                </a:solidFill>
                <a:latin typeface="Consolas" pitchFamily="34" charset="0"/>
                <a:ea typeface="Consolas" pitchFamily="34" charset="-122"/>
                <a:cs typeface="Consolas" pitchFamily="34" charset="-120"/>
              </a:rPr>
              <a:t>"Four"        </a:t>
            </a:r>
            <a:r>
              <a:rPr lang="en-US" sz="1500" i="1" dirty="0">
                <a:solidFill>
                  <a:srgbClr val="A3AEC2"/>
                </a:solidFill>
                <a:latin typeface="Consolas" pitchFamily="34" charset="0"/>
                <a:ea typeface="Consolas" pitchFamily="34" charset="-122"/>
                <a:cs typeface="Consolas" pitchFamily="34" charset="-120"/>
              </a:rPr>
              <a:t>// carries on</a:t>
            </a:r>
            <a:endParaRPr lang="en-US" sz="1500" dirty="0"/>
          </a:p>
        </p:txBody>
      </p:sp>
      <p:sp>
        <p:nvSpPr>
          <p:cNvPr id="7" name="Option A (correct)"/>
          <p:cNvSpPr/>
          <p:nvPr/>
        </p:nvSpPr>
        <p:spPr>
          <a:xfrm>
            <a:off x="548640" y="3817620"/>
            <a:ext cx="5623560" cy="456057"/>
          </a:xfrm>
          <a:prstGeom prst="roundRect">
            <a:avLst>
              <a:gd name="adj" fmla="val 19000"/>
            </a:avLst>
          </a:prstGeom>
          <a:solidFill>
            <a:schemeClr val="accent3"/>
          </a:solidFill>
          <a:ln/>
          <a:effectLst>
            <a:outerShdw sx="100000" sy="100000" kx="0" ky="0" algn="bl" rotWithShape="0" blurRad="114300" dist="31750" dir="5400000">
              <a:srgbClr val="1D2433">
                <a:alpha val="12000"/>
              </a:srgbClr>
            </a:outerShdw>
          </a:effectLst>
        </p:spPr>
      </p:sp>
      <p:sp>
        <p:nvSpPr>
          <p:cNvPr id="8" name="Letter A"/>
          <p:cNvSpPr/>
          <p:nvPr/>
        </p:nvSpPr>
        <p:spPr>
          <a:xfrm>
            <a:off x="749808" y="3835337"/>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9" name="Option A text"/>
          <p:cNvSpPr txBox="1"/>
          <p:nvPr/>
        </p:nvSpPr>
        <p:spPr>
          <a:xfrm>
            <a:off x="1371600" y="3817620"/>
            <a:ext cx="4233672" cy="456057"/>
          </a:xfrm>
          <a:prstGeom prst="rect">
            <a:avLst/>
          </a:prstGeom>
          <a:noFill/>
          <a:ln/>
        </p:spPr>
        <p:txBody>
          <a:bodyPr wrap="square" lIns="0" tIns="0" rIns="0" bIns="0" rtlCol="0" anchor="ctr"/>
          <a:lstStyle/>
          <a:p>
            <a:pPr indent="0" marL="0">
              <a:buNone/>
            </a:pPr>
            <a:r>
              <a:rPr lang="en-US" sz="1500" b="1" dirty="0">
                <a:solidFill>
                  <a:schemeClr val="bg1"/>
                </a:solidFill>
                <a:latin typeface="Consolas" pitchFamily="34" charset="0"/>
                <a:ea typeface="Consolas" pitchFamily="34" charset="-122"/>
                <a:cs typeface="Consolas" pitchFamily="34" charset="-120"/>
              </a:rPr>
              <a:t>One, Three, Four</a:t>
            </a:r>
            <a:endParaRPr lang="en-US" sz="1500" dirty="0"/>
          </a:p>
        </p:txBody>
      </p:sp>
      <p:pic>
        <p:nvPicPr>
          <p:cNvPr id="10" name="Image 0" descr="Correct mark">    </p:cNvPr>
          <p:cNvPicPr>
            <a:picLocks noChangeAspect="1"/>
          </p:cNvPicPr>
          <p:nvPr/>
        </p:nvPicPr>
        <p:blipFill>
          <a:blip r:embed="rId1"/>
          <a:stretch>
            <a:fillRect/>
          </a:stretch>
        </p:blipFill>
        <p:spPr>
          <a:xfrm>
            <a:off x="5623560" y="3862769"/>
            <a:ext cx="365760" cy="365760"/>
          </a:xfrm>
          <a:prstGeom prst="rect">
            <a:avLst/>
          </a:prstGeom>
        </p:spPr>
      </p:pic>
      <p:sp>
        <p:nvSpPr>
          <p:cNvPr id="11" name="Option B"/>
          <p:cNvSpPr/>
          <p:nvPr/>
        </p:nvSpPr>
        <p:spPr>
          <a:xfrm>
            <a:off x="548640" y="4419981"/>
            <a:ext cx="5623560" cy="456057"/>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2" name="Letter B"/>
          <p:cNvSpPr/>
          <p:nvPr/>
        </p:nvSpPr>
        <p:spPr>
          <a:xfrm>
            <a:off x="749808" y="443769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3" name="Option B text"/>
          <p:cNvSpPr txBox="1"/>
          <p:nvPr/>
        </p:nvSpPr>
        <p:spPr>
          <a:xfrm>
            <a:off x="1371600" y="4419981"/>
            <a:ext cx="4572000" cy="456057"/>
          </a:xfrm>
          <a:prstGeom prst="rect">
            <a:avLst/>
          </a:prstGeom>
          <a:noFill/>
          <a:ln/>
        </p:spPr>
        <p:txBody>
          <a:bodyPr wrap="square" lIns="0" tIns="0" rIns="0" bIns="0" rtlCol="0" anchor="ctr"/>
          <a:lstStyle/>
          <a:p>
            <a:pPr indent="0" marL="0">
              <a:buNone/>
            </a:pPr>
            <a:r>
              <a:rPr lang="en-US" sz="1500" dirty="0">
                <a:solidFill>
                  <a:schemeClr val="tx2"/>
                </a:solidFill>
                <a:latin typeface="Consolas" pitchFamily="34" charset="0"/>
                <a:ea typeface="Consolas" pitchFamily="34" charset="-122"/>
                <a:cs typeface="Consolas" pitchFamily="34" charset="-120"/>
              </a:rPr>
              <a:t>One, Two, Three, Four</a:t>
            </a:r>
            <a:endParaRPr lang="en-US" sz="1500" dirty="0"/>
          </a:p>
        </p:txBody>
      </p:sp>
      <p:sp>
        <p:nvSpPr>
          <p:cNvPr id="14" name="Option C"/>
          <p:cNvSpPr/>
          <p:nvPr/>
        </p:nvSpPr>
        <p:spPr>
          <a:xfrm>
            <a:off x="548640" y="5022342"/>
            <a:ext cx="5623560" cy="456057"/>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5040059"/>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6" name="Option C text"/>
          <p:cNvSpPr txBox="1"/>
          <p:nvPr/>
        </p:nvSpPr>
        <p:spPr>
          <a:xfrm>
            <a:off x="1371600" y="5022342"/>
            <a:ext cx="4572000" cy="456057"/>
          </a:xfrm>
          <a:prstGeom prst="rect">
            <a:avLst/>
          </a:prstGeom>
          <a:noFill/>
          <a:ln/>
        </p:spPr>
        <p:txBody>
          <a:bodyPr wrap="square" lIns="0" tIns="0" rIns="0" bIns="0" rtlCol="0" anchor="ctr"/>
          <a:lstStyle/>
          <a:p>
            <a:pPr indent="0" marL="0">
              <a:buNone/>
            </a:pPr>
            <a:r>
              <a:rPr lang="en-US" sz="1500" dirty="0">
                <a:solidFill>
                  <a:schemeClr val="tx2"/>
                </a:solidFill>
                <a:latin typeface="Consolas" pitchFamily="34" charset="0"/>
                <a:ea typeface="Consolas" pitchFamily="34" charset="-122"/>
                <a:cs typeface="Consolas" pitchFamily="34" charset="-120"/>
              </a:rPr>
              <a:t>One, Three</a:t>
            </a:r>
            <a:endParaRPr lang="en-US" sz="1500" dirty="0"/>
          </a:p>
        </p:txBody>
      </p:sp>
      <p:sp>
        <p:nvSpPr>
          <p:cNvPr id="17" name="Option D"/>
          <p:cNvSpPr/>
          <p:nvPr/>
        </p:nvSpPr>
        <p:spPr>
          <a:xfrm>
            <a:off x="548640" y="5624703"/>
            <a:ext cx="5623560" cy="456057"/>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64242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9" name="Option D text"/>
          <p:cNvSpPr txBox="1"/>
          <p:nvPr/>
        </p:nvSpPr>
        <p:spPr>
          <a:xfrm>
            <a:off x="1371600" y="5624703"/>
            <a:ext cx="4572000" cy="456057"/>
          </a:xfrm>
          <a:prstGeom prst="rect">
            <a:avLst/>
          </a:prstGeom>
          <a:noFill/>
          <a:ln/>
        </p:spPr>
        <p:txBody>
          <a:bodyPr wrap="square" lIns="0" tIns="0" rIns="0" bIns="0" rtlCol="0" anchor="ctr"/>
          <a:lstStyle/>
          <a:p>
            <a:pPr indent="0" marL="0">
              <a:buNone/>
            </a:pPr>
            <a:r>
              <a:rPr lang="en-US" sz="1500" dirty="0">
                <a:solidFill>
                  <a:schemeClr val="tx2"/>
                </a:solidFill>
                <a:latin typeface="Consolas" pitchFamily="34" charset="0"/>
                <a:ea typeface="Consolas" pitchFamily="34" charset="-122"/>
                <a:cs typeface="Consolas" pitchFamily="34" charset="-120"/>
              </a:rPr>
              <a:t>Three, Four</a:t>
            </a:r>
            <a:endParaRPr lang="en-US" sz="15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One</a:t>
            </a:r>
            <a:r>
              <a:rPr lang="en-US" sz="1800" dirty="0">
                <a:solidFill>
                  <a:schemeClr val="tx1"/>
                </a:solidFill>
              </a:rPr>
              <a:t> prints, then </a:t>
            </a:r>
            <a:r>
              <a:rPr lang="en-US" sz="1800" dirty="0">
                <a:solidFill>
                  <a:schemeClr val="accent2"/>
                </a:solidFill>
                <a:latin typeface="Consolas" pitchFamily="34" charset="0"/>
                <a:ea typeface="Consolas" pitchFamily="34" charset="-122"/>
                <a:cs typeface="Consolas" pitchFamily="34" charset="-120"/>
              </a:rPr>
              <a:t>scores[2]</a:t>
            </a:r>
            <a:r>
              <a:rPr lang="en-US" sz="1800" dirty="0">
                <a:solidFill>
                  <a:schemeClr val="tx1"/>
                </a:solidFill>
              </a:rPr>
              <a:t> is outside the array, so an exception is thrown. The rest of the try block, </a:t>
            </a:r>
            <a:r>
              <a:rPr lang="en-US" sz="1800" dirty="0">
                <a:solidFill>
                  <a:schemeClr val="accent2"/>
                </a:solidFill>
                <a:latin typeface="Consolas" pitchFamily="34" charset="0"/>
                <a:ea typeface="Consolas" pitchFamily="34" charset="-122"/>
                <a:cs typeface="Consolas" pitchFamily="34" charset="-120"/>
              </a:rPr>
              <a:t>Two</a:t>
            </a:r>
            <a:r>
              <a:rPr lang="en-US" sz="1800" dirty="0">
                <a:solidFill>
                  <a:schemeClr val="tx1"/>
                </a:solidFill>
              </a:rPr>
              <a:t>, is skipped. The catch prints </a:t>
            </a:r>
            <a:r>
              <a:rPr lang="en-US" sz="1800" dirty="0">
                <a:solidFill>
                  <a:schemeClr val="accent2"/>
                </a:solidFill>
                <a:latin typeface="Consolas" pitchFamily="34" charset="0"/>
                <a:ea typeface="Consolas" pitchFamily="34" charset="-122"/>
                <a:cs typeface="Consolas" pitchFamily="34" charset="-120"/>
              </a:rPr>
              <a:t>Three</a:t>
            </a:r>
            <a:r>
              <a:rPr lang="en-US" sz="1800" dirty="0">
                <a:solidFill>
                  <a:schemeClr val="tx1"/>
                </a:solidFill>
              </a:rPr>
              <a:t>, and the program carries on with </a:t>
            </a:r>
            <a:r>
              <a:rPr lang="en-US" sz="1800" dirty="0">
                <a:solidFill>
                  <a:schemeClr val="accent2"/>
                </a:solidFill>
                <a:latin typeface="Consolas" pitchFamily="34" charset="0"/>
                <a:ea typeface="Consolas" pitchFamily="34" charset="-122"/>
                <a:cs typeface="Consolas" pitchFamily="34" charset="-120"/>
              </a:rPr>
              <a:t>Four</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TRY, CATCH AND FINALLY</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What a catch block can do</a:t>
            </a:r>
            <a:endParaRPr lang="en-US" sz="3400" dirty="0"/>
          </a:p>
        </p:txBody>
      </p:sp>
      <p:sp>
        <p:nvSpPr>
          <p:cNvPr id="5" name="Ignore it"/>
          <p:cNvSpPr/>
          <p:nvPr/>
        </p:nvSpPr>
        <p:spPr>
          <a:xfrm>
            <a:off x="548640" y="1691640"/>
            <a:ext cx="11094415" cy="749808"/>
          </a:xfrm>
          <a:prstGeom prst="roundRect">
            <a:avLst>
              <a:gd name="adj" fmla="val 14634"/>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749808" y="1810512"/>
            <a:ext cx="512064" cy="512064"/>
          </a:xfrm>
          <a:prstGeom prst="roundRect">
            <a:avLst>
              <a:gd name="adj" fmla="val 24000"/>
            </a:avLst>
          </a:prstGeom>
          <a:solidFill>
            <a:schemeClr val="accent5">
              <a:alpha val="14000"/>
            </a:schemeClr>
          </a:solidFill>
          <a:ln/>
        </p:spPr>
      </p:sp>
      <p:pic>
        <p:nvPicPr>
          <p:cNvPr id="7" name="Image 0" descr="eye slash icon">    </p:cNvPr>
          <p:cNvPicPr>
            <a:picLocks noChangeAspect="1"/>
          </p:cNvPicPr>
          <p:nvPr/>
        </p:nvPicPr>
        <p:blipFill>
          <a:blip r:embed="rId1"/>
          <a:stretch>
            <a:fillRect/>
          </a:stretch>
        </p:blipFill>
        <p:spPr>
          <a:xfrm>
            <a:off x="857341" y="1918045"/>
            <a:ext cx="296997" cy="296997"/>
          </a:xfrm>
          <a:prstGeom prst="rect">
            <a:avLst/>
          </a:prstGeom>
        </p:spPr>
      </p:pic>
      <p:sp>
        <p:nvSpPr>
          <p:cNvPr id="8" name="Text 4"/>
          <p:cNvSpPr txBox="1"/>
          <p:nvPr/>
        </p:nvSpPr>
        <p:spPr>
          <a:xfrm>
            <a:off x="1463040" y="1691640"/>
            <a:ext cx="2743200" cy="749808"/>
          </a:xfrm>
          <a:prstGeom prst="rect">
            <a:avLst/>
          </a:prstGeom>
          <a:noFill/>
          <a:ln/>
        </p:spPr>
        <p:txBody>
          <a:bodyPr wrap="square" lIns="0" tIns="0" rIns="0" bIns="0" rtlCol="0" anchor="ctr"/>
          <a:lstStyle/>
          <a:p>
            <a:pPr algn="l" indent="0" marL="0">
              <a:buNone/>
            </a:pPr>
            <a:r>
              <a:rPr lang="en-US" sz="1800" b="1" dirty="0">
                <a:solidFill>
                  <a:schemeClr val="tx1"/>
                </a:solidFill>
              </a:rPr>
              <a:t>Ignore it</a:t>
            </a:r>
            <a:endParaRPr lang="en-US" sz="1800" dirty="0"/>
          </a:p>
        </p:txBody>
      </p:sp>
      <p:sp>
        <p:nvSpPr>
          <p:cNvPr id="9" name="Text 5"/>
          <p:cNvSpPr txBox="1"/>
          <p:nvPr/>
        </p:nvSpPr>
        <p:spPr>
          <a:xfrm>
            <a:off x="4206240" y="1691640"/>
            <a:ext cx="3184855" cy="749808"/>
          </a:xfrm>
          <a:prstGeom prst="rect">
            <a:avLst/>
          </a:prstGeom>
          <a:noFill/>
          <a:ln/>
        </p:spPr>
        <p:txBody>
          <a:bodyPr wrap="square" lIns="0" tIns="0" rIns="0" bIns="0" rtlCol="0" anchor="ctr"/>
          <a:lstStyle/>
          <a:p>
            <a:pPr algn="l" indent="0" marL="0">
              <a:buNone/>
            </a:pPr>
            <a:r>
              <a:rPr lang="en-US" sz="1500" dirty="0">
                <a:solidFill>
                  <a:schemeClr val="tx2"/>
                </a:solidFill>
              </a:rPr>
              <a:t>Do nothing. Rarely wise: the problem is hidden.</a:t>
            </a:r>
            <a:endParaRPr lang="en-US" sz="1500" dirty="0"/>
          </a:p>
        </p:txBody>
      </p:sp>
      <p:sp>
        <p:nvSpPr>
          <p:cNvPr id="10" name="Code chip"/>
          <p:cNvSpPr/>
          <p:nvPr/>
        </p:nvSpPr>
        <p:spPr>
          <a:xfrm>
            <a:off x="7528255" y="1828800"/>
            <a:ext cx="384048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catch (Exception e) { }</a:t>
            </a:r>
            <a:endParaRPr lang="en-US" sz="1400" dirty="0"/>
          </a:p>
        </p:txBody>
      </p:sp>
      <p:sp>
        <p:nvSpPr>
          <p:cNvPr id="11" name="Deal with it, carry on"/>
          <p:cNvSpPr/>
          <p:nvPr/>
        </p:nvSpPr>
        <p:spPr>
          <a:xfrm>
            <a:off x="548640" y="2551176"/>
            <a:ext cx="11094415" cy="749808"/>
          </a:xfrm>
          <a:prstGeom prst="roundRect">
            <a:avLst>
              <a:gd name="adj" fmla="val 14634"/>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749808" y="2670048"/>
            <a:ext cx="512064" cy="512064"/>
          </a:xfrm>
          <a:prstGeom prst="roundRect">
            <a:avLst>
              <a:gd name="adj" fmla="val 24000"/>
            </a:avLst>
          </a:prstGeom>
          <a:solidFill>
            <a:schemeClr val="accent3">
              <a:alpha val="14000"/>
            </a:schemeClr>
          </a:solidFill>
          <a:ln/>
        </p:spPr>
      </p:sp>
      <p:pic>
        <p:nvPicPr>
          <p:cNvPr id="13" name="Image 1" descr="wrench icon">    </p:cNvPr>
          <p:cNvPicPr>
            <a:picLocks noChangeAspect="1"/>
          </p:cNvPicPr>
          <p:nvPr/>
        </p:nvPicPr>
        <p:blipFill>
          <a:blip r:embed="rId2"/>
          <a:stretch>
            <a:fillRect/>
          </a:stretch>
        </p:blipFill>
        <p:spPr>
          <a:xfrm>
            <a:off x="857341" y="2777581"/>
            <a:ext cx="296997" cy="296997"/>
          </a:xfrm>
          <a:prstGeom prst="rect">
            <a:avLst/>
          </a:prstGeom>
        </p:spPr>
      </p:pic>
      <p:sp>
        <p:nvSpPr>
          <p:cNvPr id="14" name="Text 9"/>
          <p:cNvSpPr txBox="1"/>
          <p:nvPr/>
        </p:nvSpPr>
        <p:spPr>
          <a:xfrm>
            <a:off x="1463040" y="2551176"/>
            <a:ext cx="2743200" cy="749808"/>
          </a:xfrm>
          <a:prstGeom prst="rect">
            <a:avLst/>
          </a:prstGeom>
          <a:noFill/>
          <a:ln/>
        </p:spPr>
        <p:txBody>
          <a:bodyPr wrap="square" lIns="0" tIns="0" rIns="0" bIns="0" rtlCol="0" anchor="ctr"/>
          <a:lstStyle/>
          <a:p>
            <a:pPr algn="l" indent="0" marL="0">
              <a:buNone/>
            </a:pPr>
            <a:r>
              <a:rPr lang="en-US" sz="1800" b="1" dirty="0">
                <a:solidFill>
                  <a:schemeClr val="tx1"/>
                </a:solidFill>
              </a:rPr>
              <a:t>Deal with it, carry on</a:t>
            </a:r>
            <a:endParaRPr lang="en-US" sz="1800" dirty="0"/>
          </a:p>
        </p:txBody>
      </p:sp>
      <p:sp>
        <p:nvSpPr>
          <p:cNvPr id="15" name="Text 10"/>
          <p:cNvSpPr txBox="1"/>
          <p:nvPr/>
        </p:nvSpPr>
        <p:spPr>
          <a:xfrm>
            <a:off x="4206240" y="2551176"/>
            <a:ext cx="3184855" cy="749808"/>
          </a:xfrm>
          <a:prstGeom prst="rect">
            <a:avLst/>
          </a:prstGeom>
          <a:noFill/>
          <a:ln/>
        </p:spPr>
        <p:txBody>
          <a:bodyPr wrap="square" lIns="0" tIns="0" rIns="0" bIns="0" rtlCol="0" anchor="ctr"/>
          <a:lstStyle/>
          <a:p>
            <a:pPr algn="l" indent="0" marL="0">
              <a:buNone/>
            </a:pPr>
            <a:r>
              <a:rPr lang="en-US" sz="1500" dirty="0">
                <a:solidFill>
                  <a:schemeClr val="tx2"/>
                </a:solidFill>
              </a:rPr>
              <a:t>A clear message, a default value, or ask again.</a:t>
            </a:r>
            <a:endParaRPr lang="en-US" sz="1500" dirty="0"/>
          </a:p>
        </p:txBody>
      </p:sp>
      <p:sp>
        <p:nvSpPr>
          <p:cNvPr id="16" name="Code chip"/>
          <p:cNvSpPr/>
          <p:nvPr/>
        </p:nvSpPr>
        <p:spPr>
          <a:xfrm>
            <a:off x="7528255" y="2688336"/>
            <a:ext cx="384048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System.out.println("Try again");</a:t>
            </a:r>
            <a:endParaRPr lang="en-US" sz="1400" dirty="0"/>
          </a:p>
        </p:txBody>
      </p:sp>
      <p:sp>
        <p:nvSpPr>
          <p:cNvPr id="17" name="Exit the program"/>
          <p:cNvSpPr/>
          <p:nvPr/>
        </p:nvSpPr>
        <p:spPr>
          <a:xfrm>
            <a:off x="548640" y="3410712"/>
            <a:ext cx="11094415" cy="749808"/>
          </a:xfrm>
          <a:prstGeom prst="roundRect">
            <a:avLst>
              <a:gd name="adj" fmla="val 14634"/>
            </a:avLst>
          </a:prstGeom>
          <a:solidFill>
            <a:schemeClr val="bg1"/>
          </a:solidFill>
          <a:ln/>
          <a:effectLst>
            <a:outerShdw sx="100000" sy="100000" kx="0" ky="0" algn="bl" rotWithShape="0" blurRad="114300" dist="31750" dir="5400000">
              <a:srgbClr val="1D2433">
                <a:alpha val="12000"/>
              </a:srgbClr>
            </a:outerShdw>
          </a:effectLst>
        </p:spPr>
      </p:sp>
      <p:sp>
        <p:nvSpPr>
          <p:cNvPr id="18" name="Icon tile"/>
          <p:cNvSpPr/>
          <p:nvPr/>
        </p:nvSpPr>
        <p:spPr>
          <a:xfrm>
            <a:off x="749808" y="3529584"/>
            <a:ext cx="512064" cy="512064"/>
          </a:xfrm>
          <a:prstGeom prst="roundRect">
            <a:avLst>
              <a:gd name="adj" fmla="val 24000"/>
            </a:avLst>
          </a:prstGeom>
          <a:solidFill>
            <a:schemeClr val="accent1">
              <a:alpha val="14000"/>
            </a:schemeClr>
          </a:solidFill>
          <a:ln/>
        </p:spPr>
      </p:sp>
      <p:pic>
        <p:nvPicPr>
          <p:cNvPr id="19" name="Image 2" descr="sign out icon">    </p:cNvPr>
          <p:cNvPicPr>
            <a:picLocks noChangeAspect="1"/>
          </p:cNvPicPr>
          <p:nvPr/>
        </p:nvPicPr>
        <p:blipFill>
          <a:blip r:embed="rId3"/>
          <a:stretch>
            <a:fillRect/>
          </a:stretch>
        </p:blipFill>
        <p:spPr>
          <a:xfrm>
            <a:off x="857341" y="3637117"/>
            <a:ext cx="296997" cy="296997"/>
          </a:xfrm>
          <a:prstGeom prst="rect">
            <a:avLst/>
          </a:prstGeom>
        </p:spPr>
      </p:pic>
      <p:sp>
        <p:nvSpPr>
          <p:cNvPr id="20" name="Text 14"/>
          <p:cNvSpPr txBox="1"/>
          <p:nvPr/>
        </p:nvSpPr>
        <p:spPr>
          <a:xfrm>
            <a:off x="1463040" y="3410712"/>
            <a:ext cx="2743200" cy="749808"/>
          </a:xfrm>
          <a:prstGeom prst="rect">
            <a:avLst/>
          </a:prstGeom>
          <a:noFill/>
          <a:ln/>
        </p:spPr>
        <p:txBody>
          <a:bodyPr wrap="square" lIns="0" tIns="0" rIns="0" bIns="0" rtlCol="0" anchor="ctr"/>
          <a:lstStyle/>
          <a:p>
            <a:pPr algn="l" indent="0" marL="0">
              <a:buNone/>
            </a:pPr>
            <a:r>
              <a:rPr lang="en-US" sz="1800" b="1" dirty="0">
                <a:solidFill>
                  <a:schemeClr val="tx1"/>
                </a:solidFill>
              </a:rPr>
              <a:t>Exit the program</a:t>
            </a:r>
            <a:endParaRPr lang="en-US" sz="1800" dirty="0"/>
          </a:p>
        </p:txBody>
      </p:sp>
      <p:sp>
        <p:nvSpPr>
          <p:cNvPr id="21" name="Text 15"/>
          <p:cNvSpPr txBox="1"/>
          <p:nvPr/>
        </p:nvSpPr>
        <p:spPr>
          <a:xfrm>
            <a:off x="4206240" y="3410712"/>
            <a:ext cx="3184855" cy="749808"/>
          </a:xfrm>
          <a:prstGeom prst="rect">
            <a:avLst/>
          </a:prstGeom>
          <a:noFill/>
          <a:ln/>
        </p:spPr>
        <p:txBody>
          <a:bodyPr wrap="square" lIns="0" tIns="0" rIns="0" bIns="0" rtlCol="0" anchor="ctr"/>
          <a:lstStyle/>
          <a:p>
            <a:pPr algn="l" indent="0" marL="0">
              <a:buNone/>
            </a:pPr>
            <a:r>
              <a:rPr lang="en-US" sz="1500" dirty="0">
                <a:solidFill>
                  <a:schemeClr val="tx2"/>
                </a:solidFill>
              </a:rPr>
              <a:t>Stop cleanly, saying what went wrong.</a:t>
            </a:r>
            <a:endParaRPr lang="en-US" sz="1500" dirty="0"/>
          </a:p>
        </p:txBody>
      </p:sp>
      <p:sp>
        <p:nvSpPr>
          <p:cNvPr id="22" name="Code chip"/>
          <p:cNvSpPr/>
          <p:nvPr/>
        </p:nvSpPr>
        <p:spPr>
          <a:xfrm>
            <a:off x="7528255" y="3547872"/>
            <a:ext cx="384048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System.exit(1);</a:t>
            </a:r>
            <a:endParaRPr lang="en-US" sz="1400" dirty="0"/>
          </a:p>
        </p:txBody>
      </p:sp>
      <p:sp>
        <p:nvSpPr>
          <p:cNvPr id="23" name="Re-throw it"/>
          <p:cNvSpPr/>
          <p:nvPr/>
        </p:nvSpPr>
        <p:spPr>
          <a:xfrm>
            <a:off x="548640" y="4270248"/>
            <a:ext cx="11094415" cy="749808"/>
          </a:xfrm>
          <a:prstGeom prst="roundRect">
            <a:avLst>
              <a:gd name="adj" fmla="val 14634"/>
            </a:avLst>
          </a:prstGeom>
          <a:solidFill>
            <a:schemeClr val="bg1"/>
          </a:solidFill>
          <a:ln/>
          <a:effectLst>
            <a:outerShdw sx="100000" sy="100000" kx="0" ky="0" algn="bl" rotWithShape="0" blurRad="114300" dist="31750" dir="5400000">
              <a:srgbClr val="1D2433">
                <a:alpha val="12000"/>
              </a:srgbClr>
            </a:outerShdw>
          </a:effectLst>
        </p:spPr>
      </p:sp>
      <p:sp>
        <p:nvSpPr>
          <p:cNvPr id="24" name="Icon tile"/>
          <p:cNvSpPr/>
          <p:nvPr/>
        </p:nvSpPr>
        <p:spPr>
          <a:xfrm>
            <a:off x="749808" y="4389120"/>
            <a:ext cx="512064" cy="512064"/>
          </a:xfrm>
          <a:prstGeom prst="roundRect">
            <a:avLst>
              <a:gd name="adj" fmla="val 24000"/>
            </a:avLst>
          </a:prstGeom>
          <a:solidFill>
            <a:schemeClr val="accent2">
              <a:alpha val="14000"/>
            </a:schemeClr>
          </a:solidFill>
          <a:ln/>
        </p:spPr>
      </p:sp>
      <p:pic>
        <p:nvPicPr>
          <p:cNvPr id="25" name="Image 3" descr="arrow bend up right icon">    </p:cNvPr>
          <p:cNvPicPr>
            <a:picLocks noChangeAspect="1"/>
          </p:cNvPicPr>
          <p:nvPr/>
        </p:nvPicPr>
        <p:blipFill>
          <a:blip r:embed="rId4"/>
          <a:stretch>
            <a:fillRect/>
          </a:stretch>
        </p:blipFill>
        <p:spPr>
          <a:xfrm>
            <a:off x="857341" y="4496653"/>
            <a:ext cx="296997" cy="296997"/>
          </a:xfrm>
          <a:prstGeom prst="rect">
            <a:avLst/>
          </a:prstGeom>
        </p:spPr>
      </p:pic>
      <p:sp>
        <p:nvSpPr>
          <p:cNvPr id="26" name="Text 19"/>
          <p:cNvSpPr txBox="1"/>
          <p:nvPr/>
        </p:nvSpPr>
        <p:spPr>
          <a:xfrm>
            <a:off x="1463040" y="4270248"/>
            <a:ext cx="2743200" cy="749808"/>
          </a:xfrm>
          <a:prstGeom prst="rect">
            <a:avLst/>
          </a:prstGeom>
          <a:noFill/>
          <a:ln/>
        </p:spPr>
        <p:txBody>
          <a:bodyPr wrap="square" lIns="0" tIns="0" rIns="0" bIns="0" rtlCol="0" anchor="ctr"/>
          <a:lstStyle/>
          <a:p>
            <a:pPr algn="l" indent="0" marL="0">
              <a:buNone/>
            </a:pPr>
            <a:r>
              <a:rPr lang="en-US" sz="1800" b="1" dirty="0">
                <a:solidFill>
                  <a:schemeClr val="tx1"/>
                </a:solidFill>
              </a:rPr>
              <a:t>Re-throw it</a:t>
            </a:r>
            <a:endParaRPr lang="en-US" sz="1800" dirty="0"/>
          </a:p>
        </p:txBody>
      </p:sp>
      <p:sp>
        <p:nvSpPr>
          <p:cNvPr id="27" name="Text 20"/>
          <p:cNvSpPr txBox="1"/>
          <p:nvPr/>
        </p:nvSpPr>
        <p:spPr>
          <a:xfrm>
            <a:off x="4206240" y="4270248"/>
            <a:ext cx="3184855" cy="749808"/>
          </a:xfrm>
          <a:prstGeom prst="rect">
            <a:avLst/>
          </a:prstGeom>
          <a:noFill/>
          <a:ln/>
        </p:spPr>
        <p:txBody>
          <a:bodyPr wrap="square" lIns="0" tIns="0" rIns="0" bIns="0" rtlCol="0" anchor="ctr"/>
          <a:lstStyle/>
          <a:p>
            <a:pPr algn="l" indent="0" marL="0">
              <a:buNone/>
            </a:pPr>
            <a:r>
              <a:rPr lang="en-US" sz="1500" dirty="0">
                <a:solidFill>
                  <a:schemeClr val="tx2"/>
                </a:solidFill>
              </a:rPr>
              <a:t>Pass it on to another part of the code.</a:t>
            </a:r>
            <a:endParaRPr lang="en-US" sz="1500" dirty="0"/>
          </a:p>
        </p:txBody>
      </p:sp>
      <p:sp>
        <p:nvSpPr>
          <p:cNvPr id="28" name="Code chip"/>
          <p:cNvSpPr/>
          <p:nvPr/>
        </p:nvSpPr>
        <p:spPr>
          <a:xfrm>
            <a:off x="7528255" y="4407408"/>
            <a:ext cx="384048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400" dirty="0">
                <a:solidFill>
                  <a:schemeClr val="accent2"/>
                </a:solidFill>
                <a:latin typeface="Consolas" pitchFamily="34" charset="0"/>
                <a:ea typeface="Consolas" pitchFamily="34" charset="-122"/>
                <a:cs typeface="Consolas" pitchFamily="34" charset="-120"/>
              </a:rPr>
              <a:t>throw e;</a:t>
            </a:r>
            <a:endParaRPr lang="en-US" sz="1400" dirty="0"/>
          </a:p>
        </p:txBody>
      </p:sp>
      <p:sp>
        <p:nvSpPr>
          <p:cNvPr id="29" name="Note"/>
          <p:cNvSpPr/>
          <p:nvPr/>
        </p:nvSpPr>
        <p:spPr>
          <a:xfrm>
            <a:off x="548640" y="5303520"/>
            <a:ext cx="11094415" cy="777240"/>
          </a:xfrm>
          <a:prstGeom prst="roundRect">
            <a:avLst>
              <a:gd name="adj" fmla="val 14118"/>
            </a:avLst>
          </a:prstGeom>
          <a:solidFill>
            <a:schemeClr val="bg2"/>
          </a:solidFill>
          <a:ln/>
        </p:spPr>
      </p:sp>
      <p:sp>
        <p:nvSpPr>
          <p:cNvPr id="30" name="Icon tile"/>
          <p:cNvSpPr/>
          <p:nvPr/>
        </p:nvSpPr>
        <p:spPr>
          <a:xfrm>
            <a:off x="822960" y="5426964"/>
            <a:ext cx="530352" cy="530352"/>
          </a:xfrm>
          <a:prstGeom prst="roundRect">
            <a:avLst>
              <a:gd name="adj" fmla="val 24000"/>
            </a:avLst>
          </a:prstGeom>
          <a:solidFill>
            <a:schemeClr val="accent1">
              <a:alpha val="14000"/>
            </a:schemeClr>
          </a:solidFill>
          <a:ln/>
        </p:spPr>
      </p:sp>
      <p:pic>
        <p:nvPicPr>
          <p:cNvPr id="31" name="Image 4" descr="lightbulb icon">    </p:cNvPr>
          <p:cNvPicPr>
            <a:picLocks noChangeAspect="1"/>
          </p:cNvPicPr>
          <p:nvPr/>
        </p:nvPicPr>
        <p:blipFill>
          <a:blip r:embed="rId5"/>
          <a:stretch>
            <a:fillRect/>
          </a:stretch>
        </p:blipFill>
        <p:spPr>
          <a:xfrm>
            <a:off x="934334" y="5538338"/>
            <a:ext cx="307604" cy="307604"/>
          </a:xfrm>
          <a:prstGeom prst="rect">
            <a:avLst/>
          </a:prstGeom>
        </p:spPr>
      </p:pic>
      <p:sp>
        <p:nvSpPr>
          <p:cNvPr id="32" name="Text 24"/>
          <p:cNvSpPr txBox="1"/>
          <p:nvPr/>
        </p:nvSpPr>
        <p:spPr>
          <a:xfrm>
            <a:off x="1572768" y="5303520"/>
            <a:ext cx="9814255" cy="777240"/>
          </a:xfrm>
          <a:prstGeom prst="rect">
            <a:avLst/>
          </a:prstGeom>
          <a:noFill/>
          <a:ln/>
        </p:spPr>
        <p:txBody>
          <a:bodyPr wrap="square" lIns="0" tIns="0" rIns="0" bIns="0" rtlCol="0" anchor="ctr"/>
          <a:lstStyle/>
          <a:p>
            <a:pPr algn="l" indent="0" marL="0">
              <a:buNone/>
            </a:pPr>
            <a:r>
              <a:rPr lang="en-US" sz="1600" dirty="0">
                <a:solidFill>
                  <a:schemeClr val="tx1"/>
                </a:solidFill>
              </a:rPr>
              <a:t>The first three handle the exception here; re-throwing leaves it for someone else. Most of the time we deal with it and carry on.</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7</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Handling an exception</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The user types abc when asked for their age. Which catch block deals with it sensibly and carries on?</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An empty catch block</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Show a message and ask for the age again</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Stop the program with </a:t>
            </a:r>
            <a:r>
              <a:rPr lang="en-US" sz="2000" dirty="0">
                <a:solidFill>
                  <a:schemeClr val="accent2"/>
                </a:solidFill>
                <a:latin typeface="Consolas" pitchFamily="34" charset="0"/>
                <a:ea typeface="Consolas" pitchFamily="34" charset="-122"/>
                <a:cs typeface="Consolas" pitchFamily="34" charset="-120"/>
              </a:rPr>
              <a:t>System.exit(1)</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Re-throw the exception</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7</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Handling an exception</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The user types abc when asked for their age. Which catch block deals with it sensibly and carries on?</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An empty catch block</a:t>
            </a:r>
            <a:endParaRPr lang="en-US" sz="1700" dirty="0"/>
          </a:p>
        </p:txBody>
      </p:sp>
      <p:sp>
        <p:nvSpPr>
          <p:cNvPr id="8" name="Option B (correct)"/>
          <p:cNvSpPr/>
          <p:nvPr/>
        </p:nvSpPr>
        <p:spPr>
          <a:xfrm>
            <a:off x="548640" y="2798064"/>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976372"/>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0" name="Option B text"/>
          <p:cNvSpPr txBox="1"/>
          <p:nvPr/>
        </p:nvSpPr>
        <p:spPr>
          <a:xfrm>
            <a:off x="1371600" y="2798064"/>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Show a message and ask for the age again</a:t>
            </a:r>
            <a:endParaRPr lang="en-US" sz="1700" dirty="0"/>
          </a:p>
        </p:txBody>
      </p:sp>
      <p:pic>
        <p:nvPicPr>
          <p:cNvPr id="11" name="Image 0" descr="Correct mark">    </p:cNvPr>
          <p:cNvPicPr>
            <a:picLocks noChangeAspect="1"/>
          </p:cNvPicPr>
          <p:nvPr/>
        </p:nvPicPr>
        <p:blipFill>
          <a:blip r:embed="rId1"/>
          <a:stretch>
            <a:fillRect/>
          </a:stretch>
        </p:blipFill>
        <p:spPr>
          <a:xfrm>
            <a:off x="5623560" y="3003804"/>
            <a:ext cx="365760" cy="365760"/>
          </a:xfrm>
          <a:prstGeom prst="rect">
            <a:avLst/>
          </a:prstGeom>
        </p:spPr>
      </p:pic>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Stop the program with </a:t>
            </a:r>
            <a:r>
              <a:rPr lang="en-US" sz="1700" dirty="0">
                <a:solidFill>
                  <a:schemeClr val="tx2"/>
                </a:solidFill>
                <a:latin typeface="Consolas" pitchFamily="34" charset="0"/>
                <a:ea typeface="Consolas" pitchFamily="34" charset="-122"/>
                <a:cs typeface="Consolas" pitchFamily="34" charset="-120"/>
              </a:rPr>
              <a:t>System.exit(1)</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Re-throw the exception</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All four are possible, but only B handles the problem and keeps going. An empty catch hides it, so the user never finds out what went wrong. Exiting stops the whole program over one typo, and re-throwing leaves the problem for other code.</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TRY, CATCH AND FINALLY</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finally runs either way</a:t>
            </a:r>
            <a:endParaRPr lang="en-US" sz="3400" dirty="0"/>
          </a:p>
        </p:txBody>
      </p:sp>
      <p:sp>
        <p:nvSpPr>
          <p:cNvPr id="5" name="Text 2"/>
          <p:cNvSpPr txBox="1"/>
          <p:nvPr/>
        </p:nvSpPr>
        <p:spPr>
          <a:xfrm>
            <a:off x="548640" y="1783080"/>
            <a:ext cx="5120640" cy="265176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chemeClr val="tx1"/>
                </a:solidFill>
              </a:rPr>
              <a:t>A </a:t>
            </a:r>
            <a:r>
              <a:rPr lang="en-US" sz="1700" b="1" dirty="0">
                <a:solidFill>
                  <a:schemeClr val="tx1"/>
                </a:solidFill>
              </a:rPr>
              <a:t>finally</a:t>
            </a:r>
            <a:r>
              <a:rPr lang="en-US" sz="1700" dirty="0">
                <a:solidFill>
                  <a:schemeClr val="tx1"/>
                </a:solidFill>
              </a:rPr>
              <a:t> block comes after the catch.</a:t>
            </a:r>
            <a:endParaRPr lang="en-US" sz="1700" dirty="0"/>
          </a:p>
          <a:p>
            <a:pPr marL="228600" indent="-228600">
              <a:spcAft>
                <a:spcPts val="1200"/>
              </a:spcAft>
              <a:buSzPct val="100000"/>
              <a:buChar char="•"/>
            </a:pPr>
            <a:r>
              <a:rPr lang="en-US" sz="1700" dirty="0">
                <a:solidFill>
                  <a:schemeClr val="tx1"/>
                </a:solidFill>
              </a:rPr>
              <a:t>It runs whether an exception was thrown or not, and whether or not it was caught.</a:t>
            </a:r>
            <a:endParaRPr lang="en-US" sz="1700" dirty="0"/>
          </a:p>
          <a:p>
            <a:pPr marL="228600" indent="-228600">
              <a:buSzPct val="100000"/>
              <a:buChar char="•"/>
            </a:pPr>
            <a:r>
              <a:rPr lang="en-US" sz="1700" dirty="0">
                <a:solidFill>
                  <a:schemeClr val="tx1"/>
                </a:solidFill>
              </a:rPr>
              <a:t>It’s the place to tidy up: close a file or a Scanner, or tell the user we’re done.</a:t>
            </a:r>
            <a:endParaRPr lang="en-US" sz="1700" dirty="0"/>
          </a:p>
        </p:txBody>
      </p:sp>
      <p:sp>
        <p:nvSpPr>
          <p:cNvPr id="6" name="Note"/>
          <p:cNvSpPr/>
          <p:nvPr/>
        </p:nvSpPr>
        <p:spPr>
          <a:xfrm>
            <a:off x="548640" y="4572000"/>
            <a:ext cx="5120640" cy="1417320"/>
          </a:xfrm>
          <a:prstGeom prst="roundRect">
            <a:avLst>
              <a:gd name="adj" fmla="val 7742"/>
            </a:avLst>
          </a:prstGeom>
          <a:solidFill>
            <a:schemeClr val="bg2"/>
          </a:solidFill>
          <a:ln/>
        </p:spPr>
      </p:sp>
      <p:sp>
        <p:nvSpPr>
          <p:cNvPr id="7" name="Icon tile"/>
          <p:cNvSpPr/>
          <p:nvPr/>
        </p:nvSpPr>
        <p:spPr>
          <a:xfrm>
            <a:off x="822960" y="5015484"/>
            <a:ext cx="530352" cy="530352"/>
          </a:xfrm>
          <a:prstGeom prst="roundRect">
            <a:avLst>
              <a:gd name="adj" fmla="val 24000"/>
            </a:avLst>
          </a:prstGeom>
          <a:solidFill>
            <a:schemeClr val="accent4">
              <a:alpha val="14000"/>
            </a:schemeClr>
          </a:solidFill>
          <a:ln/>
        </p:spPr>
      </p:sp>
      <p:pic>
        <p:nvPicPr>
          <p:cNvPr id="8" name="Image 0" descr="flag checkered icon">    </p:cNvPr>
          <p:cNvPicPr>
            <a:picLocks noChangeAspect="1"/>
          </p:cNvPicPr>
          <p:nvPr/>
        </p:nvPicPr>
        <p:blipFill>
          <a:blip r:embed="rId1"/>
          <a:stretch>
            <a:fillRect/>
          </a:stretch>
        </p:blipFill>
        <p:spPr>
          <a:xfrm>
            <a:off x="934334" y="5126858"/>
            <a:ext cx="307604" cy="307604"/>
          </a:xfrm>
          <a:prstGeom prst="rect">
            <a:avLst/>
          </a:prstGeom>
        </p:spPr>
      </p:pic>
      <p:sp>
        <p:nvSpPr>
          <p:cNvPr id="9" name="Text 5"/>
          <p:cNvSpPr txBox="1"/>
          <p:nvPr/>
        </p:nvSpPr>
        <p:spPr>
          <a:xfrm>
            <a:off x="1572768" y="4572000"/>
            <a:ext cx="3840480" cy="1417320"/>
          </a:xfrm>
          <a:prstGeom prst="rect">
            <a:avLst/>
          </a:prstGeom>
          <a:noFill/>
          <a:ln/>
        </p:spPr>
        <p:txBody>
          <a:bodyPr wrap="square" lIns="0" tIns="0" rIns="0" bIns="0" rtlCol="0" anchor="ctr"/>
          <a:lstStyle/>
          <a:p>
            <a:pPr algn="l" indent="0" marL="0">
              <a:buNone/>
            </a:pPr>
            <a:r>
              <a:rPr lang="en-US" sz="1500" dirty="0">
                <a:solidFill>
                  <a:schemeClr val="tx1"/>
                </a:solidFill>
              </a:rPr>
              <a:t>Working or Problem caught depends on the division. finally prints Closing in both runs.</a:t>
            </a:r>
            <a:endParaRPr lang="en-US" sz="1500" dirty="0"/>
          </a:p>
        </p:txBody>
      </p:sp>
      <p:sp>
        <p:nvSpPr>
          <p:cNvPr id="10" name="finally card"/>
          <p:cNvSpPr/>
          <p:nvPr/>
        </p:nvSpPr>
        <p:spPr>
          <a:xfrm>
            <a:off x="6035040" y="1691640"/>
            <a:ext cx="5608015" cy="2711196"/>
          </a:xfrm>
          <a:prstGeom prst="roundRect">
            <a:avLst>
              <a:gd name="adj" fmla="val 4047"/>
            </a:avLst>
          </a:prstGeom>
          <a:solidFill>
            <a:schemeClr val="tx1"/>
          </a:solidFill>
          <a:ln/>
          <a:effectLst>
            <a:outerShdw sx="100000" sy="100000" kx="0" ky="0" algn="bl" rotWithShape="0" blurRad="114300" dist="31750" dir="5400000">
              <a:srgbClr val="1D2433">
                <a:alpha val="12000"/>
              </a:srgbClr>
            </a:outerShdw>
          </a:effectLst>
        </p:spPr>
      </p:sp>
      <p:sp>
        <p:nvSpPr>
          <p:cNvPr id="11" name="finally label"/>
          <p:cNvSpPr txBox="1"/>
          <p:nvPr/>
        </p:nvSpPr>
        <p:spPr>
          <a:xfrm>
            <a:off x="6309360" y="1810512"/>
            <a:ext cx="505937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12" name="finally text"/>
          <p:cNvSpPr txBox="1"/>
          <p:nvPr/>
        </p:nvSpPr>
        <p:spPr>
          <a:xfrm>
            <a:off x="6309360" y="2185416"/>
            <a:ext cx="5059375" cy="2016252"/>
          </a:xfrm>
          <a:prstGeom prst="rect">
            <a:avLst/>
          </a:prstGeom>
          <a:noFill/>
          <a:ln/>
        </p:spPr>
        <p:txBody>
          <a:bodyPr wrap="square" lIns="0" tIns="0" rIns="0" bIns="0" rtlCol="0" anchor="t"/>
          <a:lstStyle/>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try </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"Opening"</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int </a:t>
            </a:r>
            <a:r>
              <a:rPr lang="en-US" sz="1300" dirty="0">
                <a:solidFill>
                  <a:srgbClr val="E6EBF2"/>
                </a:solidFill>
                <a:latin typeface="Consolas" pitchFamily="34" charset="0"/>
                <a:ea typeface="Consolas" pitchFamily="34" charset="-122"/>
                <a:cs typeface="Consolas" pitchFamily="34" charset="-120"/>
              </a:rPr>
              <a:t>x = </a:t>
            </a:r>
            <a:r>
              <a:rPr lang="en-US" sz="1300" dirty="0">
                <a:solidFill>
                  <a:srgbClr val="F2C14E"/>
                </a:solidFill>
                <a:latin typeface="Consolas" pitchFamily="34" charset="0"/>
                <a:ea typeface="Consolas" pitchFamily="34" charset="-122"/>
                <a:cs typeface="Consolas" pitchFamily="34" charset="-120"/>
              </a:rPr>
              <a:t>5 </a:t>
            </a: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2C14E"/>
                </a:solidFill>
                <a:latin typeface="Consolas" pitchFamily="34" charset="0"/>
                <a:ea typeface="Consolas" pitchFamily="34" charset="-122"/>
                <a:cs typeface="Consolas" pitchFamily="34" charset="-120"/>
              </a:rPr>
              <a:t>0</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"Working"</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catch </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6CC4E8"/>
                </a:solidFill>
                <a:latin typeface="Consolas" pitchFamily="34" charset="0"/>
                <a:ea typeface="Consolas" pitchFamily="34" charset="-122"/>
                <a:cs typeface="Consolas" pitchFamily="34" charset="-120"/>
              </a:rPr>
              <a:t>ArithmeticException </a:t>
            </a:r>
            <a:r>
              <a:rPr lang="en-US" sz="1300" dirty="0">
                <a:solidFill>
                  <a:srgbClr val="E6EBF2"/>
                </a:solidFill>
                <a:latin typeface="Consolas" pitchFamily="34" charset="0"/>
                <a:ea typeface="Consolas" pitchFamily="34" charset="-122"/>
                <a:cs typeface="Consolas" pitchFamily="34" charset="-120"/>
              </a:rPr>
              <a:t>e) {</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"Problem caught"</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finally </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"Closing"</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a:t>
            </a:r>
            <a:endParaRPr lang="en-US" sz="1300" dirty="0"/>
          </a:p>
        </p:txBody>
      </p:sp>
      <p:sp>
        <p:nvSpPr>
          <p:cNvPr id="13" name="Output card"/>
          <p:cNvSpPr/>
          <p:nvPr/>
        </p:nvSpPr>
        <p:spPr>
          <a:xfrm>
            <a:off x="6035040" y="4572000"/>
            <a:ext cx="2697480" cy="1418463"/>
          </a:xfrm>
          <a:prstGeom prst="roundRect">
            <a:avLst>
              <a:gd name="adj" fmla="val 7736"/>
            </a:avLst>
          </a:prstGeom>
          <a:solidFill>
            <a:schemeClr val="tx1"/>
          </a:solidFill>
          <a:ln/>
          <a:effectLst>
            <a:outerShdw sx="100000" sy="100000" kx="0" ky="0" algn="bl" rotWithShape="0" blurRad="114300" dist="31750" dir="5400000">
              <a:srgbClr val="1D2433">
                <a:alpha val="12000"/>
              </a:srgbClr>
            </a:outerShdw>
          </a:effectLst>
        </p:spPr>
      </p:sp>
      <p:sp>
        <p:nvSpPr>
          <p:cNvPr id="14" name="Output label"/>
          <p:cNvSpPr txBox="1"/>
          <p:nvPr/>
        </p:nvSpPr>
        <p:spPr>
          <a:xfrm>
            <a:off x="6309360" y="4690872"/>
            <a:ext cx="214884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With 5 / 0</a:t>
            </a:r>
            <a:endParaRPr lang="en-US" sz="1050" dirty="0"/>
          </a:p>
        </p:txBody>
      </p:sp>
      <p:sp>
        <p:nvSpPr>
          <p:cNvPr id="15" name="Output text"/>
          <p:cNvSpPr txBox="1"/>
          <p:nvPr/>
        </p:nvSpPr>
        <p:spPr>
          <a:xfrm>
            <a:off x="6309360" y="5065776"/>
            <a:ext cx="2148840" cy="723519"/>
          </a:xfrm>
          <a:prstGeom prst="rect">
            <a:avLst/>
          </a:prstGeom>
          <a:noFill/>
          <a:ln/>
        </p:spPr>
        <p:txBody>
          <a:bodyPr wrap="square" lIns="0" tIns="0" rIns="0" bIns="0" rtlCol="0" anchor="t"/>
          <a:lstStyle/>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Opening</a:t>
            </a:r>
            <a:endParaRPr lang="en-US" sz="1300" dirty="0"/>
          </a:p>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Problem caught</a:t>
            </a:r>
            <a:endParaRPr lang="en-US" sz="1300" dirty="0"/>
          </a:p>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Closing</a:t>
            </a:r>
            <a:endParaRPr lang="en-US" sz="1300" dirty="0"/>
          </a:p>
        </p:txBody>
      </p:sp>
      <p:sp>
        <p:nvSpPr>
          <p:cNvPr id="16" name="Output card"/>
          <p:cNvSpPr/>
          <p:nvPr/>
        </p:nvSpPr>
        <p:spPr>
          <a:xfrm>
            <a:off x="8945575" y="4572000"/>
            <a:ext cx="2697480" cy="1418463"/>
          </a:xfrm>
          <a:prstGeom prst="roundRect">
            <a:avLst>
              <a:gd name="adj" fmla="val 7736"/>
            </a:avLst>
          </a:prstGeom>
          <a:solidFill>
            <a:schemeClr val="tx1"/>
          </a:solidFill>
          <a:ln/>
          <a:effectLst>
            <a:outerShdw sx="100000" sy="100000" kx="0" ky="0" algn="bl" rotWithShape="0" blurRad="114300" dist="31750" dir="5400000">
              <a:srgbClr val="1D2433">
                <a:alpha val="12000"/>
              </a:srgbClr>
            </a:outerShdw>
          </a:effectLst>
        </p:spPr>
      </p:sp>
      <p:sp>
        <p:nvSpPr>
          <p:cNvPr id="17" name="Output label"/>
          <p:cNvSpPr txBox="1"/>
          <p:nvPr/>
        </p:nvSpPr>
        <p:spPr>
          <a:xfrm>
            <a:off x="9219895" y="4690872"/>
            <a:ext cx="214884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With 5 / 1</a:t>
            </a:r>
            <a:endParaRPr lang="en-US" sz="1050" dirty="0"/>
          </a:p>
        </p:txBody>
      </p:sp>
      <p:sp>
        <p:nvSpPr>
          <p:cNvPr id="18" name="Output text"/>
          <p:cNvSpPr txBox="1"/>
          <p:nvPr/>
        </p:nvSpPr>
        <p:spPr>
          <a:xfrm>
            <a:off x="9219895" y="5065776"/>
            <a:ext cx="2148840" cy="723519"/>
          </a:xfrm>
          <a:prstGeom prst="rect">
            <a:avLst/>
          </a:prstGeom>
          <a:noFill/>
          <a:ln/>
        </p:spPr>
        <p:txBody>
          <a:bodyPr wrap="square" lIns="0" tIns="0" rIns="0" bIns="0" rtlCol="0" anchor="t"/>
          <a:lstStyle/>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Opening</a:t>
            </a:r>
            <a:endParaRPr lang="en-US" sz="1300" dirty="0"/>
          </a:p>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Working</a:t>
            </a:r>
            <a:endParaRPr lang="en-US" sz="1300" dirty="0"/>
          </a:p>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Closing</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8</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finally</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does this code print?</a:t>
            </a:r>
            <a:endParaRPr lang="en-US" sz="2800" dirty="0"/>
          </a:p>
        </p:txBody>
      </p:sp>
      <p:sp>
        <p:nvSpPr>
          <p:cNvPr id="5" name="Question code card"/>
          <p:cNvSpPr/>
          <p:nvPr/>
        </p:nvSpPr>
        <p:spPr>
          <a:xfrm>
            <a:off x="548640" y="2244852"/>
            <a:ext cx="6035040" cy="3465576"/>
          </a:xfrm>
          <a:prstGeom prst="roundRect">
            <a:avLst>
              <a:gd name="adj" fmla="val 3166"/>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bel"/>
          <p:cNvSpPr txBox="1"/>
          <p:nvPr/>
        </p:nvSpPr>
        <p:spPr>
          <a:xfrm>
            <a:off x="822960" y="2363724"/>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Question code text"/>
          <p:cNvSpPr txBox="1"/>
          <p:nvPr/>
        </p:nvSpPr>
        <p:spPr>
          <a:xfrm>
            <a:off x="822960" y="2738628"/>
            <a:ext cx="5486400" cy="2770632"/>
          </a:xfrm>
          <a:prstGeom prst="rect">
            <a:avLst/>
          </a:prstGeom>
          <a:noFill/>
          <a:ln/>
        </p:spPr>
        <p:txBody>
          <a:bodyPr wrap="square" lIns="0" tIns="0" rIns="0" bIns="0" rtlCol="0" anchor="t"/>
          <a:lstStyle/>
          <a:p>
            <a:pPr indent="0" marL="0">
              <a:lnSpc>
                <a:spcPts val="2380"/>
              </a:lnSpc>
              <a:buNone/>
            </a:pPr>
            <a:r>
              <a:rPr lang="en-US" sz="1800" dirty="0">
                <a:solidFill>
                  <a:srgbClr val="FF9F5A"/>
                </a:solidFill>
                <a:latin typeface="Consolas" pitchFamily="34" charset="0"/>
                <a:ea typeface="Consolas" pitchFamily="34" charset="-122"/>
                <a:cs typeface="Consolas" pitchFamily="34" charset="-120"/>
              </a:rPr>
              <a:t>try </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E6EBF2"/>
                </a:solidFill>
                <a:latin typeface="Consolas" pitchFamily="34" charset="0"/>
                <a:ea typeface="Consolas" pitchFamily="34" charset="-122"/>
                <a:cs typeface="Consolas" pitchFamily="34" charset="-120"/>
              </a:rPr>
              <a:t>    </a:t>
            </a:r>
            <a:r>
              <a:rPr lang="en-US" sz="1800" dirty="0">
                <a:solidFill>
                  <a:srgbClr val="6CC4E8"/>
                </a:solidFill>
                <a:latin typeface="Consolas" pitchFamily="34" charset="0"/>
                <a:ea typeface="Consolas" pitchFamily="34" charset="-122"/>
                <a:cs typeface="Consolas" pitchFamily="34" charset="-120"/>
              </a:rPr>
              <a:t>System</a:t>
            </a:r>
            <a:r>
              <a:rPr lang="en-US" sz="1800" dirty="0">
                <a:solidFill>
                  <a:srgbClr val="E6EBF2"/>
                </a:solidFill>
                <a:latin typeface="Consolas" pitchFamily="34" charset="0"/>
                <a:ea typeface="Consolas" pitchFamily="34" charset="-122"/>
                <a:cs typeface="Consolas" pitchFamily="34" charset="-120"/>
              </a:rPr>
              <a:t>.out.</a:t>
            </a:r>
            <a:r>
              <a:rPr lang="en-US" sz="1800" dirty="0">
                <a:solidFill>
                  <a:srgbClr val="C9B0FF"/>
                </a:solidFill>
                <a:latin typeface="Consolas" pitchFamily="34" charset="0"/>
                <a:ea typeface="Consolas" pitchFamily="34" charset="-122"/>
                <a:cs typeface="Consolas" pitchFamily="34" charset="-120"/>
              </a:rPr>
              <a:t>println</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A9DB8C"/>
                </a:solidFill>
                <a:latin typeface="Consolas" pitchFamily="34" charset="0"/>
                <a:ea typeface="Consolas" pitchFamily="34" charset="-122"/>
                <a:cs typeface="Consolas" pitchFamily="34" charset="-120"/>
              </a:rPr>
              <a:t>"1"</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E6EBF2"/>
                </a:solidFill>
                <a:latin typeface="Consolas" pitchFamily="34" charset="0"/>
                <a:ea typeface="Consolas" pitchFamily="34" charset="-122"/>
                <a:cs typeface="Consolas" pitchFamily="34" charset="-120"/>
              </a:rPr>
              <a:t>    </a:t>
            </a:r>
            <a:r>
              <a:rPr lang="en-US" sz="1800" dirty="0">
                <a:solidFill>
                  <a:srgbClr val="FF9F5A"/>
                </a:solidFill>
                <a:latin typeface="Consolas" pitchFamily="34" charset="0"/>
                <a:ea typeface="Consolas" pitchFamily="34" charset="-122"/>
                <a:cs typeface="Consolas" pitchFamily="34" charset="-120"/>
              </a:rPr>
              <a:t>int </a:t>
            </a:r>
            <a:r>
              <a:rPr lang="en-US" sz="1800" dirty="0">
                <a:solidFill>
                  <a:srgbClr val="E6EBF2"/>
                </a:solidFill>
                <a:latin typeface="Consolas" pitchFamily="34" charset="0"/>
                <a:ea typeface="Consolas" pitchFamily="34" charset="-122"/>
                <a:cs typeface="Consolas" pitchFamily="34" charset="-120"/>
              </a:rPr>
              <a:t>x = </a:t>
            </a:r>
            <a:r>
              <a:rPr lang="en-US" sz="1800" dirty="0">
                <a:solidFill>
                  <a:srgbClr val="F2C14E"/>
                </a:solidFill>
                <a:latin typeface="Consolas" pitchFamily="34" charset="0"/>
                <a:ea typeface="Consolas" pitchFamily="34" charset="-122"/>
                <a:cs typeface="Consolas" pitchFamily="34" charset="-120"/>
              </a:rPr>
              <a:t>10 </a:t>
            </a:r>
            <a:r>
              <a:rPr lang="en-US" sz="1800" dirty="0">
                <a:solidFill>
                  <a:srgbClr val="E6EBF2"/>
                </a:solidFill>
                <a:latin typeface="Consolas" pitchFamily="34" charset="0"/>
                <a:ea typeface="Consolas" pitchFamily="34" charset="-122"/>
                <a:cs typeface="Consolas" pitchFamily="34" charset="-120"/>
              </a:rPr>
              <a:t>/ </a:t>
            </a:r>
            <a:r>
              <a:rPr lang="en-US" sz="1800" dirty="0">
                <a:solidFill>
                  <a:srgbClr val="F2C14E"/>
                </a:solidFill>
                <a:latin typeface="Consolas" pitchFamily="34" charset="0"/>
                <a:ea typeface="Consolas" pitchFamily="34" charset="-122"/>
                <a:cs typeface="Consolas" pitchFamily="34" charset="-120"/>
              </a:rPr>
              <a:t>2</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E6EBF2"/>
                </a:solidFill>
                <a:latin typeface="Consolas" pitchFamily="34" charset="0"/>
                <a:ea typeface="Consolas" pitchFamily="34" charset="-122"/>
                <a:cs typeface="Consolas" pitchFamily="34" charset="-120"/>
              </a:rPr>
              <a:t>    </a:t>
            </a:r>
            <a:r>
              <a:rPr lang="en-US" sz="1800" dirty="0">
                <a:solidFill>
                  <a:srgbClr val="6CC4E8"/>
                </a:solidFill>
                <a:latin typeface="Consolas" pitchFamily="34" charset="0"/>
                <a:ea typeface="Consolas" pitchFamily="34" charset="-122"/>
                <a:cs typeface="Consolas" pitchFamily="34" charset="-120"/>
              </a:rPr>
              <a:t>System</a:t>
            </a:r>
            <a:r>
              <a:rPr lang="en-US" sz="1800" dirty="0">
                <a:solidFill>
                  <a:srgbClr val="E6EBF2"/>
                </a:solidFill>
                <a:latin typeface="Consolas" pitchFamily="34" charset="0"/>
                <a:ea typeface="Consolas" pitchFamily="34" charset="-122"/>
                <a:cs typeface="Consolas" pitchFamily="34" charset="-120"/>
              </a:rPr>
              <a:t>.out.</a:t>
            </a:r>
            <a:r>
              <a:rPr lang="en-US" sz="1800" dirty="0">
                <a:solidFill>
                  <a:srgbClr val="C9B0FF"/>
                </a:solidFill>
                <a:latin typeface="Consolas" pitchFamily="34" charset="0"/>
                <a:ea typeface="Consolas" pitchFamily="34" charset="-122"/>
                <a:cs typeface="Consolas" pitchFamily="34" charset="-120"/>
              </a:rPr>
              <a:t>println</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A9DB8C"/>
                </a:solidFill>
                <a:latin typeface="Consolas" pitchFamily="34" charset="0"/>
                <a:ea typeface="Consolas" pitchFamily="34" charset="-122"/>
                <a:cs typeface="Consolas" pitchFamily="34" charset="-120"/>
              </a:rPr>
              <a:t>"2"</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E6EBF2"/>
                </a:solidFill>
                <a:latin typeface="Consolas" pitchFamily="34" charset="0"/>
                <a:ea typeface="Consolas" pitchFamily="34" charset="-122"/>
                <a:cs typeface="Consolas" pitchFamily="34" charset="-120"/>
              </a:rPr>
              <a:t>} </a:t>
            </a:r>
            <a:r>
              <a:rPr lang="en-US" sz="1800" dirty="0">
                <a:solidFill>
                  <a:srgbClr val="FF9F5A"/>
                </a:solidFill>
                <a:latin typeface="Consolas" pitchFamily="34" charset="0"/>
                <a:ea typeface="Consolas" pitchFamily="34" charset="-122"/>
                <a:cs typeface="Consolas" pitchFamily="34" charset="-120"/>
              </a:rPr>
              <a:t>catch </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6CC4E8"/>
                </a:solidFill>
                <a:latin typeface="Consolas" pitchFamily="34" charset="0"/>
                <a:ea typeface="Consolas" pitchFamily="34" charset="-122"/>
                <a:cs typeface="Consolas" pitchFamily="34" charset="-120"/>
              </a:rPr>
              <a:t>ArithmeticException </a:t>
            </a:r>
            <a:r>
              <a:rPr lang="en-US" sz="1800" dirty="0">
                <a:solidFill>
                  <a:srgbClr val="E6EBF2"/>
                </a:solidFill>
                <a:latin typeface="Consolas" pitchFamily="34" charset="0"/>
                <a:ea typeface="Consolas" pitchFamily="34" charset="-122"/>
                <a:cs typeface="Consolas" pitchFamily="34" charset="-120"/>
              </a:rPr>
              <a:t>e) {</a:t>
            </a:r>
            <a:endParaRPr lang="en-US" sz="1800" dirty="0"/>
          </a:p>
          <a:p>
            <a:pPr indent="0" marL="0">
              <a:lnSpc>
                <a:spcPts val="2380"/>
              </a:lnSpc>
              <a:buNone/>
            </a:pPr>
            <a:r>
              <a:rPr lang="en-US" sz="1800" dirty="0">
                <a:solidFill>
                  <a:srgbClr val="E6EBF2"/>
                </a:solidFill>
                <a:latin typeface="Consolas" pitchFamily="34" charset="0"/>
                <a:ea typeface="Consolas" pitchFamily="34" charset="-122"/>
                <a:cs typeface="Consolas" pitchFamily="34" charset="-120"/>
              </a:rPr>
              <a:t>    </a:t>
            </a:r>
            <a:r>
              <a:rPr lang="en-US" sz="1800" dirty="0">
                <a:solidFill>
                  <a:srgbClr val="6CC4E8"/>
                </a:solidFill>
                <a:latin typeface="Consolas" pitchFamily="34" charset="0"/>
                <a:ea typeface="Consolas" pitchFamily="34" charset="-122"/>
                <a:cs typeface="Consolas" pitchFamily="34" charset="-120"/>
              </a:rPr>
              <a:t>System</a:t>
            </a:r>
            <a:r>
              <a:rPr lang="en-US" sz="1800" dirty="0">
                <a:solidFill>
                  <a:srgbClr val="E6EBF2"/>
                </a:solidFill>
                <a:latin typeface="Consolas" pitchFamily="34" charset="0"/>
                <a:ea typeface="Consolas" pitchFamily="34" charset="-122"/>
                <a:cs typeface="Consolas" pitchFamily="34" charset="-120"/>
              </a:rPr>
              <a:t>.out.</a:t>
            </a:r>
            <a:r>
              <a:rPr lang="en-US" sz="1800" dirty="0">
                <a:solidFill>
                  <a:srgbClr val="C9B0FF"/>
                </a:solidFill>
                <a:latin typeface="Consolas" pitchFamily="34" charset="0"/>
                <a:ea typeface="Consolas" pitchFamily="34" charset="-122"/>
                <a:cs typeface="Consolas" pitchFamily="34" charset="-120"/>
              </a:rPr>
              <a:t>println</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A9DB8C"/>
                </a:solidFill>
                <a:latin typeface="Consolas" pitchFamily="34" charset="0"/>
                <a:ea typeface="Consolas" pitchFamily="34" charset="-122"/>
                <a:cs typeface="Consolas" pitchFamily="34" charset="-120"/>
              </a:rPr>
              <a:t>"3"</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E6EBF2"/>
                </a:solidFill>
                <a:latin typeface="Consolas" pitchFamily="34" charset="0"/>
                <a:ea typeface="Consolas" pitchFamily="34" charset="-122"/>
                <a:cs typeface="Consolas" pitchFamily="34" charset="-120"/>
              </a:rPr>
              <a:t>} </a:t>
            </a:r>
            <a:r>
              <a:rPr lang="en-US" sz="1800" dirty="0">
                <a:solidFill>
                  <a:srgbClr val="FF9F5A"/>
                </a:solidFill>
                <a:latin typeface="Consolas" pitchFamily="34" charset="0"/>
                <a:ea typeface="Consolas" pitchFamily="34" charset="-122"/>
                <a:cs typeface="Consolas" pitchFamily="34" charset="-120"/>
              </a:rPr>
              <a:t>finally </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E6EBF2"/>
                </a:solidFill>
                <a:latin typeface="Consolas" pitchFamily="34" charset="0"/>
                <a:ea typeface="Consolas" pitchFamily="34" charset="-122"/>
                <a:cs typeface="Consolas" pitchFamily="34" charset="-120"/>
              </a:rPr>
              <a:t>    </a:t>
            </a:r>
            <a:r>
              <a:rPr lang="en-US" sz="1800" dirty="0">
                <a:solidFill>
                  <a:srgbClr val="6CC4E8"/>
                </a:solidFill>
                <a:latin typeface="Consolas" pitchFamily="34" charset="0"/>
                <a:ea typeface="Consolas" pitchFamily="34" charset="-122"/>
                <a:cs typeface="Consolas" pitchFamily="34" charset="-120"/>
              </a:rPr>
              <a:t>System</a:t>
            </a:r>
            <a:r>
              <a:rPr lang="en-US" sz="1800" dirty="0">
                <a:solidFill>
                  <a:srgbClr val="E6EBF2"/>
                </a:solidFill>
                <a:latin typeface="Consolas" pitchFamily="34" charset="0"/>
                <a:ea typeface="Consolas" pitchFamily="34" charset="-122"/>
                <a:cs typeface="Consolas" pitchFamily="34" charset="-120"/>
              </a:rPr>
              <a:t>.out.</a:t>
            </a:r>
            <a:r>
              <a:rPr lang="en-US" sz="1800" dirty="0">
                <a:solidFill>
                  <a:srgbClr val="C9B0FF"/>
                </a:solidFill>
                <a:latin typeface="Consolas" pitchFamily="34" charset="0"/>
                <a:ea typeface="Consolas" pitchFamily="34" charset="-122"/>
                <a:cs typeface="Consolas" pitchFamily="34" charset="-120"/>
              </a:rPr>
              <a:t>println</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A9DB8C"/>
                </a:solidFill>
                <a:latin typeface="Consolas" pitchFamily="34" charset="0"/>
                <a:ea typeface="Consolas" pitchFamily="34" charset="-122"/>
                <a:cs typeface="Consolas" pitchFamily="34" charset="-120"/>
              </a:rPr>
              <a:t>"4"</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E6EBF2"/>
                </a:solidFill>
                <a:latin typeface="Consolas" pitchFamily="34" charset="0"/>
                <a:ea typeface="Consolas" pitchFamily="34" charset="-122"/>
                <a:cs typeface="Consolas" pitchFamily="34" charset="-120"/>
              </a:rPr>
              <a:t>}</a:t>
            </a:r>
            <a:endParaRPr lang="en-US" sz="18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1, 2, 4</a:t>
            </a:r>
            <a:endParaRPr lang="en-US"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1, 2, 3, 4</a:t>
            </a:r>
            <a:endParaRPr lang="en-US"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1, 3, 4</a:t>
            </a:r>
            <a:endParaRPr lang="en-US"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1, 2</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8</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finally</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does this code print?</a:t>
            </a:r>
            <a:endParaRPr lang="en-US" sz="2000" dirty="0"/>
          </a:p>
        </p:txBody>
      </p:sp>
      <p:sp>
        <p:nvSpPr>
          <p:cNvPr id="5" name="Answer code card"/>
          <p:cNvSpPr/>
          <p:nvPr/>
        </p:nvSpPr>
        <p:spPr>
          <a:xfrm>
            <a:off x="548640" y="1874520"/>
            <a:ext cx="5623560" cy="1530096"/>
          </a:xfrm>
          <a:prstGeom prst="roundRect">
            <a:avLst>
              <a:gd name="adj" fmla="val 7171"/>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1127760"/>
          </a:xfrm>
          <a:prstGeom prst="rect">
            <a:avLst/>
          </a:prstGeom>
          <a:noFill/>
          <a:ln/>
        </p:spPr>
        <p:txBody>
          <a:bodyPr wrap="square" lIns="0" tIns="0" rIns="0" bIns="0" rtlCol="0" anchor="t"/>
          <a:lstStyle/>
          <a:p>
            <a:pPr indent="0" marL="0">
              <a:lnSpc>
                <a:spcPts val="2110"/>
              </a:lnSpc>
              <a:buNone/>
            </a:pPr>
            <a:r>
              <a:rPr lang="en-US" sz="1600" dirty="0">
                <a:solidFill>
                  <a:srgbClr val="A9DB8C"/>
                </a:solidFill>
                <a:latin typeface="Consolas" pitchFamily="34" charset="0"/>
                <a:ea typeface="Consolas" pitchFamily="34" charset="-122"/>
                <a:cs typeface="Consolas" pitchFamily="34" charset="-120"/>
              </a:rPr>
              <a:t>"1"   </a:t>
            </a:r>
            <a:r>
              <a:rPr lang="en-US" sz="1600" i="1" dirty="0">
                <a:solidFill>
                  <a:srgbClr val="A3AEC2"/>
                </a:solidFill>
                <a:latin typeface="Consolas" pitchFamily="34" charset="0"/>
                <a:ea typeface="Consolas" pitchFamily="34" charset="-122"/>
                <a:cs typeface="Consolas" pitchFamily="34" charset="-120"/>
              </a:rPr>
              <a:t>// try runs</a:t>
            </a:r>
            <a:endParaRPr lang="en-US" sz="1600" dirty="0"/>
          </a:p>
          <a:p>
            <a:pPr indent="0" marL="0">
              <a:lnSpc>
                <a:spcPts val="2110"/>
              </a:lnSpc>
              <a:buNone/>
            </a:pPr>
            <a:r>
              <a:rPr lang="en-US" sz="1600" dirty="0">
                <a:solidFill>
                  <a:srgbClr val="A9DB8C"/>
                </a:solidFill>
                <a:latin typeface="Consolas" pitchFamily="34" charset="0"/>
                <a:ea typeface="Consolas" pitchFamily="34" charset="-122"/>
                <a:cs typeface="Consolas" pitchFamily="34" charset="-120"/>
              </a:rPr>
              <a:t>"2"   </a:t>
            </a:r>
            <a:r>
              <a:rPr lang="en-US" sz="1600" i="1" dirty="0">
                <a:solidFill>
                  <a:srgbClr val="A3AEC2"/>
                </a:solidFill>
                <a:latin typeface="Consolas" pitchFamily="34" charset="0"/>
                <a:ea typeface="Consolas" pitchFamily="34" charset="-122"/>
                <a:cs typeface="Consolas" pitchFamily="34" charset="-120"/>
              </a:rPr>
              <a:t>// no exception, so try finishes</a:t>
            </a:r>
            <a:endParaRPr lang="en-US" sz="1600" dirty="0"/>
          </a:p>
          <a:p>
            <a:pPr indent="0" marL="0">
              <a:lnSpc>
                <a:spcPts val="2110"/>
              </a:lnSpc>
              <a:buNone/>
            </a:pPr>
            <a:r>
              <a:rPr lang="en-US" sz="1600" dirty="0">
                <a:solidFill>
                  <a:srgbClr val="A9DB8C"/>
                </a:solidFill>
                <a:latin typeface="Consolas" pitchFamily="34" charset="0"/>
                <a:ea typeface="Consolas" pitchFamily="34" charset="-122"/>
                <a:cs typeface="Consolas" pitchFamily="34" charset="-120"/>
              </a:rPr>
              <a:t>"3"   </a:t>
            </a:r>
            <a:r>
              <a:rPr lang="en-US" sz="1600" i="1" dirty="0">
                <a:solidFill>
                  <a:srgbClr val="A3AEC2"/>
                </a:solidFill>
                <a:latin typeface="Consolas" pitchFamily="34" charset="0"/>
                <a:ea typeface="Consolas" pitchFamily="34" charset="-122"/>
                <a:cs typeface="Consolas" pitchFamily="34" charset="-120"/>
              </a:rPr>
              <a:t>// skipped: nothing to catch</a:t>
            </a:r>
            <a:endParaRPr lang="en-US" sz="1600" dirty="0"/>
          </a:p>
          <a:p>
            <a:pPr indent="0" marL="0">
              <a:lnSpc>
                <a:spcPts val="2110"/>
              </a:lnSpc>
              <a:buNone/>
            </a:pPr>
            <a:r>
              <a:rPr lang="en-US" sz="1600" dirty="0">
                <a:solidFill>
                  <a:srgbClr val="A9DB8C"/>
                </a:solidFill>
                <a:latin typeface="Consolas" pitchFamily="34" charset="0"/>
                <a:ea typeface="Consolas" pitchFamily="34" charset="-122"/>
                <a:cs typeface="Consolas" pitchFamily="34" charset="-120"/>
              </a:rPr>
              <a:t>"4"   </a:t>
            </a:r>
            <a:r>
              <a:rPr lang="en-US" sz="1600" i="1" dirty="0">
                <a:solidFill>
                  <a:srgbClr val="A3AEC2"/>
                </a:solidFill>
                <a:latin typeface="Consolas" pitchFamily="34" charset="0"/>
                <a:ea typeface="Consolas" pitchFamily="34" charset="-122"/>
                <a:cs typeface="Consolas" pitchFamily="34" charset="-120"/>
              </a:rPr>
              <a:t>// finally always runs</a:t>
            </a:r>
            <a:endParaRPr lang="en-US" sz="1600" dirty="0"/>
          </a:p>
        </p:txBody>
      </p:sp>
      <p:sp>
        <p:nvSpPr>
          <p:cNvPr id="7" name="Option A (correct)"/>
          <p:cNvSpPr/>
          <p:nvPr/>
        </p:nvSpPr>
        <p:spPr>
          <a:xfrm>
            <a:off x="548640" y="3633216"/>
            <a:ext cx="5623560" cy="502158"/>
          </a:xfrm>
          <a:prstGeom prst="roundRect">
            <a:avLst>
              <a:gd name="adj" fmla="val 19000"/>
            </a:avLst>
          </a:prstGeom>
          <a:solidFill>
            <a:schemeClr val="accent3"/>
          </a:solidFill>
          <a:ln/>
          <a:effectLst>
            <a:outerShdw sx="100000" sy="100000" kx="0" ky="0" algn="bl" rotWithShape="0" blurRad="114300" dist="31750" dir="5400000">
              <a:srgbClr val="1D2433">
                <a:alpha val="12000"/>
              </a:srgbClr>
            </a:outerShdw>
          </a:effectLst>
        </p:spPr>
      </p:sp>
      <p:sp>
        <p:nvSpPr>
          <p:cNvPr id="8" name="Letter A"/>
          <p:cNvSpPr/>
          <p:nvPr/>
        </p:nvSpPr>
        <p:spPr>
          <a:xfrm>
            <a:off x="749808" y="3673983"/>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9" name="Option A text"/>
          <p:cNvSpPr txBox="1"/>
          <p:nvPr/>
        </p:nvSpPr>
        <p:spPr>
          <a:xfrm>
            <a:off x="1371600" y="3633216"/>
            <a:ext cx="4233672" cy="502158"/>
          </a:xfrm>
          <a:prstGeom prst="rect">
            <a:avLst/>
          </a:prstGeom>
          <a:noFill/>
          <a:ln/>
        </p:spPr>
        <p:txBody>
          <a:bodyPr wrap="square" lIns="0" tIns="0" rIns="0" bIns="0" rtlCol="0" anchor="ctr"/>
          <a:lstStyle/>
          <a:p>
            <a:pPr indent="0" marL="0">
              <a:buNone/>
            </a:pPr>
            <a:r>
              <a:rPr lang="en-US" sz="1500" b="1" dirty="0">
                <a:solidFill>
                  <a:schemeClr val="bg1"/>
                </a:solidFill>
                <a:latin typeface="Consolas" pitchFamily="34" charset="0"/>
                <a:ea typeface="Consolas" pitchFamily="34" charset="-122"/>
                <a:cs typeface="Consolas" pitchFamily="34" charset="-120"/>
              </a:rPr>
              <a:t>1, 2, 4</a:t>
            </a:r>
            <a:endParaRPr lang="en-US" sz="1500" dirty="0"/>
          </a:p>
        </p:txBody>
      </p:sp>
      <p:pic>
        <p:nvPicPr>
          <p:cNvPr id="10" name="Image 0" descr="Correct mark">    </p:cNvPr>
          <p:cNvPicPr>
            <a:picLocks noChangeAspect="1"/>
          </p:cNvPicPr>
          <p:nvPr/>
        </p:nvPicPr>
        <p:blipFill>
          <a:blip r:embed="rId1"/>
          <a:stretch>
            <a:fillRect/>
          </a:stretch>
        </p:blipFill>
        <p:spPr>
          <a:xfrm>
            <a:off x="5623560" y="3701415"/>
            <a:ext cx="365760" cy="365760"/>
          </a:xfrm>
          <a:prstGeom prst="rect">
            <a:avLst/>
          </a:prstGeom>
        </p:spPr>
      </p:pic>
      <p:sp>
        <p:nvSpPr>
          <p:cNvPr id="11" name="Option B"/>
          <p:cNvSpPr/>
          <p:nvPr/>
        </p:nvSpPr>
        <p:spPr>
          <a:xfrm>
            <a:off x="548640" y="4281678"/>
            <a:ext cx="5623560" cy="502158"/>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2" name="Letter B"/>
          <p:cNvSpPr/>
          <p:nvPr/>
        </p:nvSpPr>
        <p:spPr>
          <a:xfrm>
            <a:off x="749808" y="4322445"/>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3" name="Option B text"/>
          <p:cNvSpPr txBox="1"/>
          <p:nvPr/>
        </p:nvSpPr>
        <p:spPr>
          <a:xfrm>
            <a:off x="1371600" y="4281678"/>
            <a:ext cx="4572000" cy="502158"/>
          </a:xfrm>
          <a:prstGeom prst="rect">
            <a:avLst/>
          </a:prstGeom>
          <a:noFill/>
          <a:ln/>
        </p:spPr>
        <p:txBody>
          <a:bodyPr wrap="square" lIns="0" tIns="0" rIns="0" bIns="0" rtlCol="0" anchor="ctr"/>
          <a:lstStyle/>
          <a:p>
            <a:pPr indent="0" marL="0">
              <a:buNone/>
            </a:pPr>
            <a:r>
              <a:rPr lang="en-US" sz="1500" dirty="0">
                <a:solidFill>
                  <a:schemeClr val="tx2"/>
                </a:solidFill>
                <a:latin typeface="Consolas" pitchFamily="34" charset="0"/>
                <a:ea typeface="Consolas" pitchFamily="34" charset="-122"/>
                <a:cs typeface="Consolas" pitchFamily="34" charset="-120"/>
              </a:rPr>
              <a:t>1, 2, 3, 4</a:t>
            </a:r>
            <a:endParaRPr lang="en-US" sz="1500" dirty="0"/>
          </a:p>
        </p:txBody>
      </p:sp>
      <p:sp>
        <p:nvSpPr>
          <p:cNvPr id="14" name="Option C"/>
          <p:cNvSpPr/>
          <p:nvPr/>
        </p:nvSpPr>
        <p:spPr>
          <a:xfrm>
            <a:off x="548640" y="4930140"/>
            <a:ext cx="5623560" cy="502158"/>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970907"/>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6" name="Option C text"/>
          <p:cNvSpPr txBox="1"/>
          <p:nvPr/>
        </p:nvSpPr>
        <p:spPr>
          <a:xfrm>
            <a:off x="1371600" y="4930140"/>
            <a:ext cx="4572000" cy="502158"/>
          </a:xfrm>
          <a:prstGeom prst="rect">
            <a:avLst/>
          </a:prstGeom>
          <a:noFill/>
          <a:ln/>
        </p:spPr>
        <p:txBody>
          <a:bodyPr wrap="square" lIns="0" tIns="0" rIns="0" bIns="0" rtlCol="0" anchor="ctr"/>
          <a:lstStyle/>
          <a:p>
            <a:pPr indent="0" marL="0">
              <a:buNone/>
            </a:pPr>
            <a:r>
              <a:rPr lang="en-US" sz="1500" dirty="0">
                <a:solidFill>
                  <a:schemeClr val="tx2"/>
                </a:solidFill>
                <a:latin typeface="Consolas" pitchFamily="34" charset="0"/>
                <a:ea typeface="Consolas" pitchFamily="34" charset="-122"/>
                <a:cs typeface="Consolas" pitchFamily="34" charset="-120"/>
              </a:rPr>
              <a:t>1, 3, 4</a:t>
            </a:r>
            <a:endParaRPr lang="en-US" sz="1500" dirty="0"/>
          </a:p>
        </p:txBody>
      </p:sp>
      <p:sp>
        <p:nvSpPr>
          <p:cNvPr id="17" name="Option D"/>
          <p:cNvSpPr/>
          <p:nvPr/>
        </p:nvSpPr>
        <p:spPr>
          <a:xfrm>
            <a:off x="548640" y="5578602"/>
            <a:ext cx="5623560" cy="502158"/>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619369"/>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9" name="Option D text"/>
          <p:cNvSpPr txBox="1"/>
          <p:nvPr/>
        </p:nvSpPr>
        <p:spPr>
          <a:xfrm>
            <a:off x="1371600" y="5578602"/>
            <a:ext cx="4572000" cy="502158"/>
          </a:xfrm>
          <a:prstGeom prst="rect">
            <a:avLst/>
          </a:prstGeom>
          <a:noFill/>
          <a:ln/>
        </p:spPr>
        <p:txBody>
          <a:bodyPr wrap="square" lIns="0" tIns="0" rIns="0" bIns="0" rtlCol="0" anchor="ctr"/>
          <a:lstStyle/>
          <a:p>
            <a:pPr indent="0" marL="0">
              <a:buNone/>
            </a:pPr>
            <a:r>
              <a:rPr lang="en-US" sz="1500" dirty="0">
                <a:solidFill>
                  <a:schemeClr val="tx2"/>
                </a:solidFill>
                <a:latin typeface="Consolas" pitchFamily="34" charset="0"/>
                <a:ea typeface="Consolas" pitchFamily="34" charset="-122"/>
                <a:cs typeface="Consolas" pitchFamily="34" charset="-120"/>
              </a:rPr>
              <a:t>1, 2</a:t>
            </a:r>
            <a:endParaRPr lang="en-US" sz="15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10 / 2</a:t>
            </a:r>
            <a:r>
              <a:rPr lang="en-US" sz="1800" dirty="0">
                <a:solidFill>
                  <a:schemeClr val="tx1"/>
                </a:solidFill>
              </a:rPr>
              <a:t> is fine, so no exception is thrown and the try block runs to the end, printing </a:t>
            </a:r>
            <a:r>
              <a:rPr lang="en-US" sz="1800" dirty="0">
                <a:solidFill>
                  <a:schemeClr val="accent2"/>
                </a:solidFill>
                <a:latin typeface="Consolas" pitchFamily="34" charset="0"/>
                <a:ea typeface="Consolas" pitchFamily="34" charset="-122"/>
                <a:cs typeface="Consolas" pitchFamily="34" charset="-120"/>
              </a:rPr>
              <a:t>1</a:t>
            </a:r>
            <a:r>
              <a:rPr lang="en-US" sz="1800" dirty="0">
                <a:solidFill>
                  <a:schemeClr val="tx1"/>
                </a:solidFill>
              </a:rPr>
              <a:t> and </a:t>
            </a:r>
            <a:r>
              <a:rPr lang="en-US" sz="1800" dirty="0">
                <a:solidFill>
                  <a:schemeClr val="accent2"/>
                </a:solidFill>
                <a:latin typeface="Consolas" pitchFamily="34" charset="0"/>
                <a:ea typeface="Consolas" pitchFamily="34" charset="-122"/>
                <a:cs typeface="Consolas" pitchFamily="34" charset="-120"/>
              </a:rPr>
              <a:t>2</a:t>
            </a:r>
            <a:r>
              <a:rPr lang="en-US" sz="1800" dirty="0">
                <a:solidFill>
                  <a:schemeClr val="tx1"/>
                </a:solidFill>
              </a:rPr>
              <a:t>. The catch is skipped, as there’s nothing to catch. finally always runs, so </a:t>
            </a:r>
            <a:r>
              <a:rPr lang="en-US" sz="1800" dirty="0">
                <a:solidFill>
                  <a:schemeClr val="accent2"/>
                </a:solidFill>
                <a:latin typeface="Consolas" pitchFamily="34" charset="0"/>
                <a:ea typeface="Consolas" pitchFamily="34" charset="-122"/>
                <a:cs typeface="Consolas" pitchFamily="34" charset="-120"/>
              </a:rPr>
              <a:t>4</a:t>
            </a:r>
            <a:r>
              <a:rPr lang="en-US" sz="1800" dirty="0">
                <a:solidFill>
                  <a:schemeClr val="tx1"/>
                </a:solidFill>
              </a:rPr>
              <a:t> comes last.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TRY, CATCH AND FINALLY</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What the exception object tells us</a:t>
            </a:r>
            <a:endParaRPr lang="en-US" sz="3400" dirty="0"/>
          </a:p>
        </p:txBody>
      </p:sp>
      <p:sp>
        <p:nvSpPr>
          <p:cNvPr id="5" name="Text 2"/>
          <p:cNvSpPr txBox="1"/>
          <p:nvPr/>
        </p:nvSpPr>
        <p:spPr>
          <a:xfrm>
            <a:off x="548640" y="1783080"/>
            <a:ext cx="5120640" cy="292608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chemeClr val="accent2"/>
                </a:solidFill>
                <a:latin typeface="Consolas" pitchFamily="34" charset="0"/>
                <a:ea typeface="Consolas" pitchFamily="34" charset="-122"/>
                <a:cs typeface="Consolas" pitchFamily="34" charset="-120"/>
              </a:rPr>
              <a:t>catch (Exception e)</a:t>
            </a:r>
            <a:r>
              <a:rPr lang="en-US" sz="1700" dirty="0">
                <a:solidFill>
                  <a:schemeClr val="tx1"/>
                </a:solidFill>
              </a:rPr>
              <a:t> catches any exception, since every exception class is a kind of Exception.</a:t>
            </a:r>
            <a:endParaRPr lang="en-US" sz="1700" dirty="0"/>
          </a:p>
          <a:p>
            <a:pPr marL="228600" indent="-228600">
              <a:spcAft>
                <a:spcPts val="1200"/>
              </a:spcAft>
              <a:buSzPct val="100000"/>
              <a:buChar char="•"/>
            </a:pPr>
            <a:r>
              <a:rPr lang="en-US" sz="1700" dirty="0">
                <a:solidFill>
                  <a:schemeClr val="accent2"/>
                </a:solidFill>
                <a:latin typeface="Consolas" pitchFamily="34" charset="0"/>
                <a:ea typeface="Consolas" pitchFamily="34" charset="-122"/>
                <a:cs typeface="Consolas" pitchFamily="34" charset="-120"/>
              </a:rPr>
              <a:t>e</a:t>
            </a:r>
            <a:r>
              <a:rPr lang="en-US" sz="1700" dirty="0">
                <a:solidFill>
                  <a:schemeClr val="tx1"/>
                </a:solidFill>
              </a:rPr>
              <a:t> is the exception object that was thrown. It knows its type, its message and where it happened.</a:t>
            </a:r>
            <a:endParaRPr lang="en-US" sz="1700" dirty="0"/>
          </a:p>
          <a:p>
            <a:pPr marL="228600" indent="-228600">
              <a:buSzPct val="100000"/>
              <a:buChar char="•"/>
            </a:pPr>
            <a:r>
              <a:rPr lang="en-US" sz="1700" dirty="0">
                <a:solidFill>
                  <a:schemeClr val="accent2"/>
                </a:solidFill>
                <a:latin typeface="Consolas" pitchFamily="34" charset="0"/>
                <a:ea typeface="Consolas" pitchFamily="34" charset="-122"/>
                <a:cs typeface="Consolas" pitchFamily="34" charset="-120"/>
              </a:rPr>
              <a:t>e.printStackTrace()</a:t>
            </a:r>
            <a:r>
              <a:rPr lang="en-US" sz="1700" dirty="0">
                <a:solidFill>
                  <a:schemeClr val="tx1"/>
                </a:solidFill>
              </a:rPr>
              <a:t> shows the type, the message and the line it came from.</a:t>
            </a:r>
            <a:endParaRPr lang="en-US" sz="1700" dirty="0"/>
          </a:p>
        </p:txBody>
      </p:sp>
      <p:sp>
        <p:nvSpPr>
          <p:cNvPr id="6" name="Note"/>
          <p:cNvSpPr/>
          <p:nvPr/>
        </p:nvSpPr>
        <p:spPr>
          <a:xfrm>
            <a:off x="548640" y="4754880"/>
            <a:ext cx="5120640" cy="1234440"/>
          </a:xfrm>
          <a:prstGeom prst="roundRect">
            <a:avLst>
              <a:gd name="adj" fmla="val 8889"/>
            </a:avLst>
          </a:prstGeom>
          <a:solidFill>
            <a:schemeClr val="bg2"/>
          </a:solidFill>
          <a:ln/>
        </p:spPr>
      </p:sp>
      <p:sp>
        <p:nvSpPr>
          <p:cNvPr id="7" name="Icon tile"/>
          <p:cNvSpPr/>
          <p:nvPr/>
        </p:nvSpPr>
        <p:spPr>
          <a:xfrm>
            <a:off x="822960" y="5106924"/>
            <a:ext cx="530352" cy="530352"/>
          </a:xfrm>
          <a:prstGeom prst="roundRect">
            <a:avLst>
              <a:gd name="adj" fmla="val 24000"/>
            </a:avLst>
          </a:prstGeom>
          <a:solidFill>
            <a:schemeClr val="accent2">
              <a:alpha val="14000"/>
            </a:schemeClr>
          </a:solidFill>
          <a:ln/>
        </p:spPr>
      </p:sp>
      <p:pic>
        <p:nvPicPr>
          <p:cNvPr id="8" name="Image 0" descr="magnifying glass icon">    </p:cNvPr>
          <p:cNvPicPr>
            <a:picLocks noChangeAspect="1"/>
          </p:cNvPicPr>
          <p:nvPr/>
        </p:nvPicPr>
        <p:blipFill>
          <a:blip r:embed="rId1"/>
          <a:stretch>
            <a:fillRect/>
          </a:stretch>
        </p:blipFill>
        <p:spPr>
          <a:xfrm>
            <a:off x="934334" y="5218298"/>
            <a:ext cx="307604" cy="307604"/>
          </a:xfrm>
          <a:prstGeom prst="rect">
            <a:avLst/>
          </a:prstGeom>
        </p:spPr>
      </p:pic>
      <p:sp>
        <p:nvSpPr>
          <p:cNvPr id="9" name="Text 5"/>
          <p:cNvSpPr txBox="1"/>
          <p:nvPr/>
        </p:nvSpPr>
        <p:spPr>
          <a:xfrm>
            <a:off x="1572768" y="4754880"/>
            <a:ext cx="3840480" cy="1234440"/>
          </a:xfrm>
          <a:prstGeom prst="rect">
            <a:avLst/>
          </a:prstGeom>
          <a:noFill/>
          <a:ln/>
        </p:spPr>
        <p:txBody>
          <a:bodyPr wrap="square" lIns="0" tIns="0" rIns="0" bIns="0" rtlCol="0" anchor="ctr"/>
          <a:lstStyle/>
          <a:p>
            <a:pPr algn="l" indent="0" marL="0">
              <a:buNone/>
            </a:pPr>
            <a:r>
              <a:rPr lang="en-US" sz="1500" dirty="0">
                <a:solidFill>
                  <a:schemeClr val="tx1"/>
                </a:solidFill>
              </a:rPr>
              <a:t>Not sure which exception to catch? Run the code without a try/catch: the first line of the error names it.</a:t>
            </a:r>
            <a:endParaRPr lang="en-US" sz="1500" dirty="0"/>
          </a:p>
        </p:txBody>
      </p:sp>
      <p:sp>
        <p:nvSpPr>
          <p:cNvPr id="10" name="Exception e card"/>
          <p:cNvSpPr/>
          <p:nvPr/>
        </p:nvSpPr>
        <p:spPr>
          <a:xfrm>
            <a:off x="6035040" y="1691640"/>
            <a:ext cx="5608015" cy="2275332"/>
          </a:xfrm>
          <a:prstGeom prst="roundRect">
            <a:avLst>
              <a:gd name="adj" fmla="val 4823"/>
            </a:avLst>
          </a:prstGeom>
          <a:solidFill>
            <a:schemeClr val="tx1"/>
          </a:solidFill>
          <a:ln/>
          <a:effectLst>
            <a:outerShdw sx="100000" sy="100000" kx="0" ky="0" algn="bl" rotWithShape="0" blurRad="114300" dist="31750" dir="5400000">
              <a:srgbClr val="1D2433">
                <a:alpha val="12000"/>
              </a:srgbClr>
            </a:outerShdw>
          </a:effectLst>
        </p:spPr>
      </p:sp>
      <p:sp>
        <p:nvSpPr>
          <p:cNvPr id="11" name="Exception e label"/>
          <p:cNvSpPr txBox="1"/>
          <p:nvPr/>
        </p:nvSpPr>
        <p:spPr>
          <a:xfrm>
            <a:off x="6309360" y="1810512"/>
            <a:ext cx="505937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12" name="Exception e text"/>
          <p:cNvSpPr txBox="1"/>
          <p:nvPr/>
        </p:nvSpPr>
        <p:spPr>
          <a:xfrm>
            <a:off x="6309360" y="2185416"/>
            <a:ext cx="5059375" cy="1580388"/>
          </a:xfrm>
          <a:prstGeom prst="rect">
            <a:avLst/>
          </a:prstGeom>
          <a:noFill/>
          <a:ln/>
        </p:spPr>
        <p:txBody>
          <a:bodyPr wrap="square" lIns="0" tIns="0" rIns="0" bIns="0" rtlCol="0" anchor="t"/>
          <a:lstStyle/>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try </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int </a:t>
            </a:r>
            <a:r>
              <a:rPr lang="en-US" sz="1300" dirty="0">
                <a:solidFill>
                  <a:srgbClr val="E6EBF2"/>
                </a:solidFill>
                <a:latin typeface="Consolas" pitchFamily="34" charset="0"/>
                <a:ea typeface="Consolas" pitchFamily="34" charset="-122"/>
                <a:cs typeface="Consolas" pitchFamily="34" charset="-120"/>
              </a:rPr>
              <a:t>result = </a:t>
            </a:r>
            <a:r>
              <a:rPr lang="en-US" sz="1300" dirty="0">
                <a:solidFill>
                  <a:srgbClr val="F2C14E"/>
                </a:solidFill>
                <a:latin typeface="Consolas" pitchFamily="34" charset="0"/>
                <a:ea typeface="Consolas" pitchFamily="34" charset="-122"/>
                <a:cs typeface="Consolas" pitchFamily="34" charset="-120"/>
              </a:rPr>
              <a:t>10 </a:t>
            </a: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2C14E"/>
                </a:solidFill>
                <a:latin typeface="Consolas" pitchFamily="34" charset="0"/>
                <a:ea typeface="Consolas" pitchFamily="34" charset="-122"/>
                <a:cs typeface="Consolas" pitchFamily="34" charset="-120"/>
              </a:rPr>
              <a:t>0</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catch </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6CC4E8"/>
                </a:solidFill>
                <a:latin typeface="Consolas" pitchFamily="34" charset="0"/>
                <a:ea typeface="Consolas" pitchFamily="34" charset="-122"/>
                <a:cs typeface="Consolas" pitchFamily="34" charset="-120"/>
              </a:rPr>
              <a:t>Exception </a:t>
            </a:r>
            <a:r>
              <a:rPr lang="en-US" sz="1300" dirty="0">
                <a:solidFill>
                  <a:srgbClr val="E6EBF2"/>
                </a:solidFill>
                <a:latin typeface="Consolas" pitchFamily="34" charset="0"/>
                <a:ea typeface="Consolas" pitchFamily="34" charset="-122"/>
                <a:cs typeface="Consolas" pitchFamily="34" charset="-120"/>
              </a:rPr>
              <a:t>e) {</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(e);</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(e.</a:t>
            </a:r>
            <a:r>
              <a:rPr lang="en-US" sz="1300" dirty="0">
                <a:solidFill>
                  <a:srgbClr val="C9B0FF"/>
                </a:solidFill>
                <a:latin typeface="Consolas" pitchFamily="34" charset="0"/>
                <a:ea typeface="Consolas" pitchFamily="34" charset="-122"/>
                <a:cs typeface="Consolas" pitchFamily="34" charset="-120"/>
              </a:rPr>
              <a:t>getMessage</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e.</a:t>
            </a:r>
            <a:r>
              <a:rPr lang="en-US" sz="1300" dirty="0">
                <a:solidFill>
                  <a:srgbClr val="C9B0FF"/>
                </a:solidFill>
                <a:latin typeface="Consolas" pitchFamily="34" charset="0"/>
                <a:ea typeface="Consolas" pitchFamily="34" charset="-122"/>
                <a:cs typeface="Consolas" pitchFamily="34" charset="-120"/>
              </a:rPr>
              <a:t>printStackTrace</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a:t>
            </a:r>
            <a:endParaRPr lang="en-US" sz="1300" dirty="0"/>
          </a:p>
        </p:txBody>
      </p:sp>
      <p:sp>
        <p:nvSpPr>
          <p:cNvPr id="13" name="Output card"/>
          <p:cNvSpPr/>
          <p:nvPr/>
        </p:nvSpPr>
        <p:spPr>
          <a:xfrm>
            <a:off x="6035040" y="4206240"/>
            <a:ext cx="5608015" cy="1641348"/>
          </a:xfrm>
          <a:prstGeom prst="roundRect">
            <a:avLst>
              <a:gd name="adj" fmla="val 6685"/>
            </a:avLst>
          </a:prstGeom>
          <a:solidFill>
            <a:schemeClr val="tx1"/>
          </a:solidFill>
          <a:ln/>
          <a:effectLst>
            <a:outerShdw sx="100000" sy="100000" kx="0" ky="0" algn="bl" rotWithShape="0" blurRad="114300" dist="31750" dir="5400000">
              <a:srgbClr val="1D2433">
                <a:alpha val="12000"/>
              </a:srgbClr>
            </a:outerShdw>
          </a:effectLst>
        </p:spPr>
      </p:sp>
      <p:sp>
        <p:nvSpPr>
          <p:cNvPr id="14" name="Output label"/>
          <p:cNvSpPr txBox="1"/>
          <p:nvPr/>
        </p:nvSpPr>
        <p:spPr>
          <a:xfrm>
            <a:off x="6309360" y="4325112"/>
            <a:ext cx="505937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a:t>
            </a:r>
            <a:endParaRPr lang="en-US" sz="1050" dirty="0"/>
          </a:p>
        </p:txBody>
      </p:sp>
      <p:sp>
        <p:nvSpPr>
          <p:cNvPr id="15" name="Output text"/>
          <p:cNvSpPr txBox="1"/>
          <p:nvPr/>
        </p:nvSpPr>
        <p:spPr>
          <a:xfrm>
            <a:off x="6309360" y="4700016"/>
            <a:ext cx="5059375" cy="946404"/>
          </a:xfrm>
          <a:prstGeom prst="rect">
            <a:avLst/>
          </a:prstGeom>
          <a:noFill/>
          <a:ln/>
        </p:spPr>
        <p:txBody>
          <a:bodyPr wrap="square" lIns="0" tIns="0" rIns="0" bIns="0" rtlCol="0" anchor="t"/>
          <a:lstStyle/>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java.lang.ArithmeticException: / by zero</a:t>
            </a:r>
            <a:endParaRPr lang="en-US" sz="1300" dirty="0"/>
          </a:p>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 by zero</a:t>
            </a:r>
            <a:endParaRPr lang="en-US" sz="1300" dirty="0"/>
          </a:p>
          <a:p>
            <a:pPr indent="0" marL="0">
              <a:lnSpc>
                <a:spcPts val="1760"/>
              </a:lnSpc>
              <a:buNone/>
            </a:pPr>
            <a:r>
              <a:rPr lang="en-US" sz="1300" dirty="0">
                <a:solidFill>
                  <a:srgbClr val="FF8A80"/>
                </a:solidFill>
                <a:latin typeface="Consolas" pitchFamily="34" charset="0"/>
                <a:ea typeface="Consolas" pitchFamily="34" charset="-122"/>
                <a:cs typeface="Consolas" pitchFamily="34" charset="-120"/>
              </a:rPr>
              <a:t>java.lang.ArithmeticException: / by zero</a:t>
            </a:r>
            <a:endParaRPr lang="en-US" sz="1300" dirty="0"/>
          </a:p>
          <a:p>
            <a:pPr indent="0" marL="0">
              <a:lnSpc>
                <a:spcPts val="1760"/>
              </a:lnSpc>
              <a:buNone/>
            </a:pPr>
            <a:r>
              <a:rPr lang="en-US" sz="1300" dirty="0">
                <a:solidFill>
                  <a:srgbClr val="FF8A80"/>
                </a:solidFill>
                <a:latin typeface="Consolas" pitchFamily="34" charset="0"/>
                <a:ea typeface="Consolas" pitchFamily="34" charset="-122"/>
                <a:cs typeface="Consolas" pitchFamily="34" charset="-120"/>
              </a:rPr>
              <a:t>    at Main.main(Main.java:4)</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Label"/>
          <p:cNvSpPr/>
          <p:nvPr/>
        </p:nvSpPr>
        <p:spPr>
          <a:xfrm>
            <a:off x="548640" y="384048"/>
            <a:ext cx="2037283"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9</a:t>
            </a:r>
            <a:endParaRPr lang="en-US" sz="1400" dirty="0"/>
          </a:p>
        </p:txBody>
      </p:sp>
      <p:sp>
        <p:nvSpPr>
          <p:cNvPr id="3" name="Text 1"/>
          <p:cNvSpPr txBox="1"/>
          <p:nvPr/>
        </p:nvSpPr>
        <p:spPr>
          <a:xfrm>
            <a:off x="2768803"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The exception object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does this code print?</a:t>
            </a:r>
            <a:endParaRPr lang="en-US" sz="2800" dirty="0"/>
          </a:p>
        </p:txBody>
      </p:sp>
      <p:sp>
        <p:nvSpPr>
          <p:cNvPr id="5" name="Question code card"/>
          <p:cNvSpPr/>
          <p:nvPr/>
        </p:nvSpPr>
        <p:spPr>
          <a:xfrm>
            <a:off x="548640" y="1965960"/>
            <a:ext cx="11094415" cy="1060704"/>
          </a:xfrm>
          <a:prstGeom prst="roundRect">
            <a:avLst>
              <a:gd name="adj" fmla="val 10345"/>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658368"/>
          </a:xfrm>
          <a:prstGeom prst="rect">
            <a:avLst/>
          </a:prstGeom>
          <a:noFill/>
          <a:ln/>
        </p:spPr>
        <p:txBody>
          <a:bodyPr wrap="square" lIns="0" tIns="0" rIns="0" bIns="0" rtlCol="0" anchor="t"/>
          <a:lstStyle/>
          <a:p>
            <a:pPr indent="0" marL="0">
              <a:lnSpc>
                <a:spcPts val="2380"/>
              </a:lnSpc>
              <a:buNone/>
            </a:pPr>
            <a:r>
              <a:rPr lang="en-US" sz="1800" dirty="0">
                <a:solidFill>
                  <a:srgbClr val="FF9F5A"/>
                </a:solidFill>
                <a:latin typeface="Consolas" pitchFamily="34" charset="0"/>
                <a:ea typeface="Consolas" pitchFamily="34" charset="-122"/>
                <a:cs typeface="Consolas" pitchFamily="34" charset="-120"/>
              </a:rPr>
              <a:t>try </a:t>
            </a:r>
            <a:r>
              <a:rPr lang="en-US" sz="1800" dirty="0">
                <a:solidFill>
                  <a:srgbClr val="E6EBF2"/>
                </a:solidFill>
                <a:latin typeface="Consolas" pitchFamily="34" charset="0"/>
                <a:ea typeface="Consolas" pitchFamily="34" charset="-122"/>
                <a:cs typeface="Consolas" pitchFamily="34" charset="-120"/>
              </a:rPr>
              <a:t>{ </a:t>
            </a:r>
            <a:r>
              <a:rPr lang="en-US" sz="1800" dirty="0">
                <a:solidFill>
                  <a:srgbClr val="FF9F5A"/>
                </a:solidFill>
                <a:latin typeface="Consolas" pitchFamily="34" charset="0"/>
                <a:ea typeface="Consolas" pitchFamily="34" charset="-122"/>
                <a:cs typeface="Consolas" pitchFamily="34" charset="-120"/>
              </a:rPr>
              <a:t>int </a:t>
            </a:r>
            <a:r>
              <a:rPr lang="en-US" sz="1800" dirty="0">
                <a:solidFill>
                  <a:srgbClr val="E6EBF2"/>
                </a:solidFill>
                <a:latin typeface="Consolas" pitchFamily="34" charset="0"/>
                <a:ea typeface="Consolas" pitchFamily="34" charset="-122"/>
                <a:cs typeface="Consolas" pitchFamily="34" charset="-120"/>
              </a:rPr>
              <a:t>n = </a:t>
            </a:r>
            <a:r>
              <a:rPr lang="en-US" sz="1800" dirty="0">
                <a:solidFill>
                  <a:srgbClr val="6CC4E8"/>
                </a:solidFill>
                <a:latin typeface="Consolas" pitchFamily="34" charset="0"/>
                <a:ea typeface="Consolas" pitchFamily="34" charset="-122"/>
                <a:cs typeface="Consolas" pitchFamily="34" charset="-120"/>
              </a:rPr>
              <a:t>Integer</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C9B0FF"/>
                </a:solidFill>
                <a:latin typeface="Consolas" pitchFamily="34" charset="0"/>
                <a:ea typeface="Consolas" pitchFamily="34" charset="-122"/>
                <a:cs typeface="Consolas" pitchFamily="34" charset="-120"/>
              </a:rPr>
              <a:t>parseInt</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A9DB8C"/>
                </a:solidFill>
                <a:latin typeface="Consolas" pitchFamily="34" charset="0"/>
                <a:ea typeface="Consolas" pitchFamily="34" charset="-122"/>
                <a:cs typeface="Consolas" pitchFamily="34" charset="-120"/>
              </a:rPr>
              <a:t>"abc"</a:t>
            </a:r>
            <a:r>
              <a:rPr lang="en-US" sz="1800" dirty="0">
                <a:solidFill>
                  <a:srgbClr val="E6EBF2"/>
                </a:solidFill>
                <a:latin typeface="Consolas" pitchFamily="34" charset="0"/>
                <a:ea typeface="Consolas" pitchFamily="34" charset="-122"/>
                <a:cs typeface="Consolas" pitchFamily="34" charset="-120"/>
              </a:rPr>
              <a:t>); }</a:t>
            </a:r>
            <a:endParaRPr lang="en-US" sz="1800" dirty="0"/>
          </a:p>
          <a:p>
            <a:pPr indent="0" marL="0">
              <a:lnSpc>
                <a:spcPts val="2380"/>
              </a:lnSpc>
              <a:buNone/>
            </a:pPr>
            <a:r>
              <a:rPr lang="en-US" sz="1800" dirty="0">
                <a:solidFill>
                  <a:srgbClr val="FF9F5A"/>
                </a:solidFill>
                <a:latin typeface="Consolas" pitchFamily="34" charset="0"/>
                <a:ea typeface="Consolas" pitchFamily="34" charset="-122"/>
                <a:cs typeface="Consolas" pitchFamily="34" charset="-120"/>
              </a:rPr>
              <a:t>catch </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6CC4E8"/>
                </a:solidFill>
                <a:latin typeface="Consolas" pitchFamily="34" charset="0"/>
                <a:ea typeface="Consolas" pitchFamily="34" charset="-122"/>
                <a:cs typeface="Consolas" pitchFamily="34" charset="-120"/>
              </a:rPr>
              <a:t>Exception </a:t>
            </a:r>
            <a:r>
              <a:rPr lang="en-US" sz="1800" dirty="0">
                <a:solidFill>
                  <a:srgbClr val="E6EBF2"/>
                </a:solidFill>
                <a:latin typeface="Consolas" pitchFamily="34" charset="0"/>
                <a:ea typeface="Consolas" pitchFamily="34" charset="-122"/>
                <a:cs typeface="Consolas" pitchFamily="34" charset="-120"/>
              </a:rPr>
              <a:t>e) { </a:t>
            </a:r>
            <a:r>
              <a:rPr lang="en-US" sz="1800" dirty="0">
                <a:solidFill>
                  <a:srgbClr val="6CC4E8"/>
                </a:solidFill>
                <a:latin typeface="Consolas" pitchFamily="34" charset="0"/>
                <a:ea typeface="Consolas" pitchFamily="34" charset="-122"/>
                <a:cs typeface="Consolas" pitchFamily="34" charset="-120"/>
              </a:rPr>
              <a:t>System</a:t>
            </a:r>
            <a:r>
              <a:rPr lang="en-US" sz="1800" dirty="0">
                <a:solidFill>
                  <a:srgbClr val="E6EBF2"/>
                </a:solidFill>
                <a:latin typeface="Consolas" pitchFamily="34" charset="0"/>
                <a:ea typeface="Consolas" pitchFamily="34" charset="-122"/>
                <a:cs typeface="Consolas" pitchFamily="34" charset="-120"/>
              </a:rPr>
              <a:t>.out.</a:t>
            </a:r>
            <a:r>
              <a:rPr lang="en-US" sz="1800" dirty="0">
                <a:solidFill>
                  <a:srgbClr val="C9B0FF"/>
                </a:solidFill>
                <a:latin typeface="Consolas" pitchFamily="34" charset="0"/>
                <a:ea typeface="Consolas" pitchFamily="34" charset="-122"/>
                <a:cs typeface="Consolas" pitchFamily="34" charset="-120"/>
              </a:rPr>
              <a:t>println</a:t>
            </a:r>
            <a:r>
              <a:rPr lang="en-US" sz="1800" dirty="0">
                <a:solidFill>
                  <a:srgbClr val="E6EBF2"/>
                </a:solidFill>
                <a:latin typeface="Consolas" pitchFamily="34" charset="0"/>
                <a:ea typeface="Consolas" pitchFamily="34" charset="-122"/>
                <a:cs typeface="Consolas" pitchFamily="34" charset="-120"/>
              </a:rPr>
              <a:t>(e); }</a:t>
            </a:r>
            <a:endParaRPr lang="en-US" sz="1800" dirty="0"/>
          </a:p>
        </p:txBody>
      </p:sp>
      <p:sp>
        <p:nvSpPr>
          <p:cNvPr id="7" name="Option A"/>
          <p:cNvSpPr/>
          <p:nvPr/>
        </p:nvSpPr>
        <p:spPr>
          <a:xfrm>
            <a:off x="548640" y="3300984"/>
            <a:ext cx="11094415" cy="578358"/>
          </a:xfrm>
          <a:prstGeom prst="roundRect">
            <a:avLst>
              <a:gd name="adj" fmla="val 16000"/>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3343275"/>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9" name="Option A text"/>
          <p:cNvSpPr txBox="1"/>
          <p:nvPr/>
        </p:nvSpPr>
        <p:spPr>
          <a:xfrm>
            <a:off x="1572768" y="3346704"/>
            <a:ext cx="9795967" cy="486918"/>
          </a:xfrm>
          <a:prstGeom prst="rect">
            <a:avLst/>
          </a:prstGeom>
          <a:noFill/>
          <a:ln/>
        </p:spPr>
        <p:txBody>
          <a:bodyPr wrap="square" lIns="0" tIns="0" rIns="0" bIns="0" rtlCol="0" anchor="ctr"/>
          <a:lstStyle/>
          <a:p>
            <a:pPr indent="0" marL="0">
              <a:buNone/>
            </a:pPr>
            <a:r>
              <a:rPr lang="en-US" sz="1700" dirty="0">
                <a:solidFill>
                  <a:schemeClr val="tx1"/>
                </a:solidFill>
                <a:latin typeface="Consolas" pitchFamily="34" charset="0"/>
                <a:ea typeface="Consolas" pitchFamily="34" charset="-122"/>
                <a:cs typeface="Consolas" pitchFamily="34" charset="-120"/>
              </a:rPr>
              <a:t>For input string: "abc"</a:t>
            </a:r>
            <a:endParaRPr lang="en-US" sz="1700" dirty="0"/>
          </a:p>
        </p:txBody>
      </p:sp>
      <p:sp>
        <p:nvSpPr>
          <p:cNvPr id="10" name="Option B"/>
          <p:cNvSpPr/>
          <p:nvPr/>
        </p:nvSpPr>
        <p:spPr>
          <a:xfrm>
            <a:off x="548640" y="4025646"/>
            <a:ext cx="11094415" cy="578358"/>
          </a:xfrm>
          <a:prstGeom prst="roundRect">
            <a:avLst>
              <a:gd name="adj" fmla="val 16000"/>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822960" y="4067937"/>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2" name="Option B text"/>
          <p:cNvSpPr txBox="1"/>
          <p:nvPr/>
        </p:nvSpPr>
        <p:spPr>
          <a:xfrm>
            <a:off x="1572768" y="4071366"/>
            <a:ext cx="9795967" cy="486918"/>
          </a:xfrm>
          <a:prstGeom prst="rect">
            <a:avLst/>
          </a:prstGeom>
          <a:noFill/>
          <a:ln/>
        </p:spPr>
        <p:txBody>
          <a:bodyPr wrap="square" lIns="0" tIns="0" rIns="0" bIns="0" rtlCol="0" anchor="ctr"/>
          <a:lstStyle/>
          <a:p>
            <a:pPr indent="0" marL="0">
              <a:buNone/>
            </a:pPr>
            <a:r>
              <a:rPr lang="en-US" sz="1700" dirty="0">
                <a:solidFill>
                  <a:schemeClr val="tx1"/>
                </a:solidFill>
                <a:latin typeface="Consolas" pitchFamily="34" charset="0"/>
                <a:ea typeface="Consolas" pitchFamily="34" charset="-122"/>
                <a:cs typeface="Consolas" pitchFamily="34" charset="-120"/>
              </a:rPr>
              <a:t>Exception e</a:t>
            </a:r>
            <a:endParaRPr lang="en-US" sz="1700" dirty="0"/>
          </a:p>
        </p:txBody>
      </p:sp>
      <p:sp>
        <p:nvSpPr>
          <p:cNvPr id="13" name="Option C"/>
          <p:cNvSpPr/>
          <p:nvPr/>
        </p:nvSpPr>
        <p:spPr>
          <a:xfrm>
            <a:off x="548640" y="4750308"/>
            <a:ext cx="11094415" cy="578358"/>
          </a:xfrm>
          <a:prstGeom prst="roundRect">
            <a:avLst>
              <a:gd name="adj" fmla="val 16000"/>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4792599"/>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5" name="Option C text"/>
          <p:cNvSpPr txBox="1"/>
          <p:nvPr/>
        </p:nvSpPr>
        <p:spPr>
          <a:xfrm>
            <a:off x="1572768" y="4796028"/>
            <a:ext cx="9795967" cy="486918"/>
          </a:xfrm>
          <a:prstGeom prst="rect">
            <a:avLst/>
          </a:prstGeom>
          <a:noFill/>
          <a:ln/>
        </p:spPr>
        <p:txBody>
          <a:bodyPr wrap="square" lIns="0" tIns="0" rIns="0" bIns="0" rtlCol="0" anchor="ctr"/>
          <a:lstStyle/>
          <a:p>
            <a:pPr indent="0" marL="0">
              <a:buNone/>
            </a:pPr>
            <a:r>
              <a:rPr lang="en-US" sz="1700" dirty="0">
                <a:solidFill>
                  <a:schemeClr val="tx1"/>
                </a:solidFill>
                <a:latin typeface="Consolas" pitchFamily="34" charset="0"/>
                <a:ea typeface="Consolas" pitchFamily="34" charset="-122"/>
                <a:cs typeface="Consolas" pitchFamily="34" charset="-120"/>
              </a:rPr>
              <a:t>java.lang.NumberFormatException: For input string: "abc"</a:t>
            </a:r>
            <a:endParaRPr lang="en-US" sz="1700" dirty="0"/>
          </a:p>
        </p:txBody>
      </p:sp>
      <p:sp>
        <p:nvSpPr>
          <p:cNvPr id="16" name="Option D"/>
          <p:cNvSpPr/>
          <p:nvPr/>
        </p:nvSpPr>
        <p:spPr>
          <a:xfrm>
            <a:off x="548640" y="5474970"/>
            <a:ext cx="11094415" cy="578358"/>
          </a:xfrm>
          <a:prstGeom prst="roundRect">
            <a:avLst>
              <a:gd name="adj" fmla="val 16000"/>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822960" y="5517261"/>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8" name="Option D text"/>
          <p:cNvSpPr txBox="1"/>
          <p:nvPr/>
        </p:nvSpPr>
        <p:spPr>
          <a:xfrm>
            <a:off x="1572768" y="5520690"/>
            <a:ext cx="9795967" cy="486918"/>
          </a:xfrm>
          <a:prstGeom prst="rect">
            <a:avLst/>
          </a:prstGeom>
          <a:noFill/>
          <a:ln/>
        </p:spPr>
        <p:txBody>
          <a:bodyPr wrap="square" lIns="0" tIns="0" rIns="0" bIns="0" rtlCol="0" anchor="ctr"/>
          <a:lstStyle/>
          <a:p>
            <a:pPr indent="0" marL="0">
              <a:buNone/>
            </a:pPr>
            <a:r>
              <a:rPr lang="en-US" sz="1700" dirty="0">
                <a:solidFill>
                  <a:schemeClr val="tx1"/>
                </a:solidFill>
                <a:latin typeface="Consolas" pitchFamily="34" charset="0"/>
                <a:ea typeface="Consolas" pitchFamily="34" charset="-122"/>
                <a:cs typeface="Consolas" pitchFamily="34" charset="-120"/>
              </a:rPr>
              <a:t>abc</a:t>
            </a:r>
            <a:endParaRPr lang="en-US"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Label"/>
          <p:cNvSpPr/>
          <p:nvPr/>
        </p:nvSpPr>
        <p:spPr>
          <a:xfrm>
            <a:off x="548640" y="384048"/>
            <a:ext cx="144018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9</a:t>
            </a:r>
            <a:endParaRPr lang="en-US" sz="1400" dirty="0"/>
          </a:p>
        </p:txBody>
      </p:sp>
      <p:sp>
        <p:nvSpPr>
          <p:cNvPr id="3" name="Text 1"/>
          <p:cNvSpPr txBox="1"/>
          <p:nvPr/>
        </p:nvSpPr>
        <p:spPr>
          <a:xfrm>
            <a:off x="2171700"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The exception object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does this code print?</a:t>
            </a:r>
            <a:endParaRPr lang="en-US"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For input string: "abc"</a:t>
            </a:r>
            <a:endParaRPr lang="en-US"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Exception e</a:t>
            </a:r>
            <a:endParaRPr lang="en-US" sz="1700" dirty="0"/>
          </a:p>
        </p:txBody>
      </p:sp>
      <p:sp>
        <p:nvSpPr>
          <p:cNvPr id="11" name="Option C (correct)"/>
          <p:cNvSpPr/>
          <p:nvPr/>
        </p:nvSpPr>
        <p:spPr>
          <a:xfrm>
            <a:off x="548640" y="3236976"/>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319272"/>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3" name="Option C text"/>
          <p:cNvSpPr txBox="1"/>
          <p:nvPr/>
        </p:nvSpPr>
        <p:spPr>
          <a:xfrm>
            <a:off x="1371600" y="3236976"/>
            <a:ext cx="9704527" cy="585216"/>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java.lang.NumberFormatException: For input string: "abc"</a:t>
            </a:r>
            <a:endParaRPr lang="en-US" sz="1700" dirty="0"/>
          </a:p>
        </p:txBody>
      </p:sp>
      <p:pic>
        <p:nvPicPr>
          <p:cNvPr id="14" name="Image 0" descr="Correct mark">    </p:cNvPr>
          <p:cNvPicPr>
            <a:picLocks noChangeAspect="1"/>
          </p:cNvPicPr>
          <p:nvPr/>
        </p:nvPicPr>
        <p:blipFill>
          <a:blip r:embed="rId1"/>
          <a:stretch>
            <a:fillRect/>
          </a:stretch>
        </p:blipFill>
        <p:spPr>
          <a:xfrm>
            <a:off x="11094415" y="3346704"/>
            <a:ext cx="365760" cy="365760"/>
          </a:xfrm>
          <a:prstGeom prst="rect">
            <a:avLst/>
          </a:prstGeom>
        </p:spPr>
      </p:pic>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abc</a:t>
            </a:r>
            <a:endParaRPr lang="en-US"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algn="l" indent="0" marL="0">
              <a:buNone/>
            </a:pPr>
            <a:r>
              <a:rPr lang="en-US" sz="1600" dirty="0">
                <a:solidFill>
                  <a:schemeClr val="tx1"/>
                </a:solidFill>
              </a:rPr>
              <a:t>Printing an exception object prints its type, with its package, then its message. </a:t>
            </a:r>
            <a:r>
              <a:rPr lang="en-US" sz="1600" dirty="0">
                <a:solidFill>
                  <a:schemeClr val="accent2"/>
                </a:solidFill>
                <a:latin typeface="Consolas" pitchFamily="34" charset="0"/>
                <a:ea typeface="Consolas" pitchFamily="34" charset="-122"/>
                <a:cs typeface="Consolas" pitchFamily="34" charset="-120"/>
              </a:rPr>
              <a:t>"abc"</a:t>
            </a:r>
            <a:r>
              <a:rPr lang="en-US" sz="1600" dirty="0">
                <a:solidFill>
                  <a:schemeClr val="tx1"/>
                </a:solidFill>
              </a:rPr>
              <a:t> isn’t a number, so </a:t>
            </a:r>
            <a:r>
              <a:rPr lang="en-US" sz="1600" dirty="0">
                <a:solidFill>
                  <a:schemeClr val="accent2"/>
                </a:solidFill>
                <a:latin typeface="Consolas" pitchFamily="34" charset="0"/>
                <a:ea typeface="Consolas" pitchFamily="34" charset="-122"/>
                <a:cs typeface="Consolas" pitchFamily="34" charset="-120"/>
              </a:rPr>
              <a:t>parseInt</a:t>
            </a:r>
            <a:r>
              <a:rPr lang="en-US" sz="1600" dirty="0">
                <a:solidFill>
                  <a:schemeClr val="tx1"/>
                </a:solidFill>
              </a:rPr>
              <a:t> throws a </a:t>
            </a:r>
            <a:r>
              <a:rPr lang="en-US" sz="1600" dirty="0">
                <a:solidFill>
                  <a:schemeClr val="accent2"/>
                </a:solidFill>
                <a:latin typeface="Consolas" pitchFamily="34" charset="0"/>
                <a:ea typeface="Consolas" pitchFamily="34" charset="-122"/>
                <a:cs typeface="Consolas" pitchFamily="34" charset="-120"/>
              </a:rPr>
              <a:t>NumberFormatException</a:t>
            </a:r>
            <a:r>
              <a:rPr lang="en-US" sz="1600" dirty="0">
                <a:solidFill>
                  <a:schemeClr val="tx1"/>
                </a:solidFill>
              </a:rPr>
              <a:t>. </a:t>
            </a:r>
            <a:r>
              <a:rPr lang="en-US" sz="1600" dirty="0">
                <a:solidFill>
                  <a:schemeClr val="accent2"/>
                </a:solidFill>
                <a:latin typeface="Consolas" pitchFamily="34" charset="0"/>
                <a:ea typeface="Consolas" pitchFamily="34" charset="-122"/>
                <a:cs typeface="Consolas" pitchFamily="34" charset="-120"/>
              </a:rPr>
              <a:t>e.getMessage()</a:t>
            </a:r>
            <a:r>
              <a:rPr lang="en-US" sz="1600" dirty="0">
                <a:solidFill>
                  <a:schemeClr val="tx1"/>
                </a:solidFill>
              </a:rPr>
              <a:t> would give just the message, and it never prints the variable’s name.</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TRY, CATCH AND FINALLY</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More than one catch</a:t>
            </a:r>
            <a:endParaRPr lang="en-US" sz="3400" dirty="0"/>
          </a:p>
        </p:txBody>
      </p:sp>
      <p:sp>
        <p:nvSpPr>
          <p:cNvPr id="5" name="Several catches card"/>
          <p:cNvSpPr/>
          <p:nvPr/>
        </p:nvSpPr>
        <p:spPr>
          <a:xfrm>
            <a:off x="548640" y="1691640"/>
            <a:ext cx="5852160" cy="3465576"/>
          </a:xfrm>
          <a:prstGeom prst="roundRect">
            <a:avLst>
              <a:gd name="adj" fmla="val 3166"/>
            </a:avLst>
          </a:prstGeom>
          <a:solidFill>
            <a:schemeClr val="tx1"/>
          </a:solidFill>
          <a:ln/>
          <a:effectLst>
            <a:outerShdw sx="100000" sy="100000" kx="0" ky="0" algn="bl" rotWithShape="0" blurRad="114300" dist="31750" dir="5400000">
              <a:srgbClr val="1D2433">
                <a:alpha val="12000"/>
              </a:srgbClr>
            </a:outerShdw>
          </a:effectLst>
        </p:spPr>
      </p:sp>
      <p:sp>
        <p:nvSpPr>
          <p:cNvPr id="6" name="Several catches label"/>
          <p:cNvSpPr txBox="1"/>
          <p:nvPr/>
        </p:nvSpPr>
        <p:spPr>
          <a:xfrm>
            <a:off x="822960" y="1810512"/>
            <a:ext cx="530352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Several catches text"/>
          <p:cNvSpPr txBox="1"/>
          <p:nvPr/>
        </p:nvSpPr>
        <p:spPr>
          <a:xfrm>
            <a:off x="822960" y="2185416"/>
            <a:ext cx="5303520" cy="2770632"/>
          </a:xfrm>
          <a:prstGeom prst="rect">
            <a:avLst/>
          </a:prstGeom>
          <a:noFill/>
          <a:ln/>
        </p:spPr>
        <p:txBody>
          <a:bodyPr wrap="square" lIns="0" tIns="0" rIns="0" bIns="0" rtlCol="0" anchor="t"/>
          <a:lstStyle/>
          <a:p>
            <a:pPr indent="0" marL="0">
              <a:lnSpc>
                <a:spcPts val="1780"/>
              </a:lnSpc>
              <a:buNone/>
            </a:pPr>
            <a:r>
              <a:rPr lang="en-US" sz="1350" dirty="0">
                <a:solidFill>
                  <a:srgbClr val="6CC4E8"/>
                </a:solidFill>
                <a:latin typeface="Consolas" pitchFamily="34" charset="0"/>
                <a:ea typeface="Consolas" pitchFamily="34" charset="-122"/>
                <a:cs typeface="Consolas" pitchFamily="34" charset="-120"/>
              </a:rPr>
              <a:t>Scanner </a:t>
            </a:r>
            <a:r>
              <a:rPr lang="en-US" sz="1350" dirty="0">
                <a:solidFill>
                  <a:srgbClr val="E6EBF2"/>
                </a:solidFill>
                <a:latin typeface="Consolas" pitchFamily="34" charset="0"/>
                <a:ea typeface="Consolas" pitchFamily="34" charset="-122"/>
                <a:cs typeface="Consolas" pitchFamily="34" charset="-120"/>
              </a:rPr>
              <a:t>in = </a:t>
            </a:r>
            <a:r>
              <a:rPr lang="en-US" sz="1350" dirty="0">
                <a:solidFill>
                  <a:srgbClr val="FF9F5A"/>
                </a:solidFill>
                <a:latin typeface="Consolas" pitchFamily="34" charset="0"/>
                <a:ea typeface="Consolas" pitchFamily="34" charset="-122"/>
                <a:cs typeface="Consolas" pitchFamily="34" charset="-120"/>
              </a:rPr>
              <a:t>new </a:t>
            </a:r>
            <a:r>
              <a:rPr lang="en-US" sz="1350" dirty="0">
                <a:solidFill>
                  <a:srgbClr val="C9B0FF"/>
                </a:solidFill>
                <a:latin typeface="Consolas" pitchFamily="34" charset="0"/>
                <a:ea typeface="Consolas" pitchFamily="34" charset="-122"/>
                <a:cs typeface="Consolas" pitchFamily="34" charset="-120"/>
              </a:rPr>
              <a:t>Scanner</a:t>
            </a:r>
            <a:r>
              <a:rPr lang="en-US" sz="1350" dirty="0">
                <a:solidFill>
                  <a:srgbClr val="E6EBF2"/>
                </a:solidFill>
                <a:latin typeface="Consolas" pitchFamily="34" charset="0"/>
                <a:ea typeface="Consolas" pitchFamily="34" charset="-122"/>
                <a:cs typeface="Consolas" pitchFamily="34" charset="-120"/>
              </a:rPr>
              <a:t>(</a:t>
            </a:r>
            <a:r>
              <a:rPr lang="en-US" sz="1350" dirty="0">
                <a:solidFill>
                  <a:srgbClr val="6CC4E8"/>
                </a:solidFill>
                <a:latin typeface="Consolas" pitchFamily="34" charset="0"/>
                <a:ea typeface="Consolas" pitchFamily="34" charset="-122"/>
                <a:cs typeface="Consolas" pitchFamily="34" charset="-120"/>
              </a:rPr>
              <a:t>System</a:t>
            </a:r>
            <a:r>
              <a:rPr lang="en-US" sz="1350" dirty="0">
                <a:solidFill>
                  <a:srgbClr val="E6EBF2"/>
                </a:solidFill>
                <a:latin typeface="Consolas" pitchFamily="34" charset="0"/>
                <a:ea typeface="Consolas" pitchFamily="34" charset="-122"/>
                <a:cs typeface="Consolas" pitchFamily="34" charset="-120"/>
              </a:rPr>
              <a:t>.in);</a:t>
            </a:r>
            <a:endParaRPr lang="en-US" sz="1350" dirty="0"/>
          </a:p>
          <a:p>
            <a:pPr indent="0" marL="0">
              <a:lnSpc>
                <a:spcPts val="1780"/>
              </a:lnSpc>
              <a:buNone/>
            </a:pPr>
            <a:r>
              <a:rPr lang="en-US" sz="1350" dirty="0">
                <a:solidFill>
                  <a:srgbClr val="FF9F5A"/>
                </a:solidFill>
                <a:latin typeface="Consolas" pitchFamily="34" charset="0"/>
                <a:ea typeface="Consolas" pitchFamily="34" charset="-122"/>
                <a:cs typeface="Consolas" pitchFamily="34" charset="-120"/>
              </a:rPr>
              <a:t>try </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a:t>
            </a:r>
            <a:r>
              <a:rPr lang="en-US" sz="1350" dirty="0">
                <a:solidFill>
                  <a:srgbClr val="FF9F5A"/>
                </a:solidFill>
                <a:latin typeface="Consolas" pitchFamily="34" charset="0"/>
                <a:ea typeface="Consolas" pitchFamily="34" charset="-122"/>
                <a:cs typeface="Consolas" pitchFamily="34" charset="-120"/>
              </a:rPr>
              <a:t>int</a:t>
            </a:r>
            <a:r>
              <a:rPr lang="en-US" sz="1350" dirty="0">
                <a:solidFill>
                  <a:srgbClr val="E6EBF2"/>
                </a:solidFill>
                <a:latin typeface="Consolas" pitchFamily="34" charset="0"/>
                <a:ea typeface="Consolas" pitchFamily="34" charset="-122"/>
                <a:cs typeface="Consolas" pitchFamily="34" charset="-120"/>
              </a:rPr>
              <a:t>[] nums = {</a:t>
            </a:r>
            <a:r>
              <a:rPr lang="en-US" sz="1350" dirty="0">
                <a:solidFill>
                  <a:srgbClr val="F2C14E"/>
                </a:solidFill>
                <a:latin typeface="Consolas" pitchFamily="34" charset="0"/>
                <a:ea typeface="Consolas" pitchFamily="34" charset="-122"/>
                <a:cs typeface="Consolas" pitchFamily="34" charset="-120"/>
              </a:rPr>
              <a:t>10</a:t>
            </a:r>
            <a:r>
              <a:rPr lang="en-US" sz="1350" dirty="0">
                <a:solidFill>
                  <a:srgbClr val="E6EBF2"/>
                </a:solidFill>
                <a:latin typeface="Consolas" pitchFamily="34" charset="0"/>
                <a:ea typeface="Consolas" pitchFamily="34" charset="-122"/>
                <a:cs typeface="Consolas" pitchFamily="34" charset="-120"/>
              </a:rPr>
              <a:t>, </a:t>
            </a:r>
            <a:r>
              <a:rPr lang="en-US" sz="1350" dirty="0">
                <a:solidFill>
                  <a:srgbClr val="F2C14E"/>
                </a:solidFill>
                <a:latin typeface="Consolas" pitchFamily="34" charset="0"/>
                <a:ea typeface="Consolas" pitchFamily="34" charset="-122"/>
                <a:cs typeface="Consolas" pitchFamily="34" charset="-120"/>
              </a:rPr>
              <a:t>20</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a:t>
            </a:r>
            <a:r>
              <a:rPr lang="en-US" sz="1350" dirty="0">
                <a:solidFill>
                  <a:srgbClr val="FF9F5A"/>
                </a:solidFill>
                <a:latin typeface="Consolas" pitchFamily="34" charset="0"/>
                <a:ea typeface="Consolas" pitchFamily="34" charset="-122"/>
                <a:cs typeface="Consolas" pitchFamily="34" charset="-120"/>
              </a:rPr>
              <a:t>int </a:t>
            </a:r>
            <a:r>
              <a:rPr lang="en-US" sz="1350" dirty="0">
                <a:solidFill>
                  <a:srgbClr val="E6EBF2"/>
                </a:solidFill>
                <a:latin typeface="Consolas" pitchFamily="34" charset="0"/>
                <a:ea typeface="Consolas" pitchFamily="34" charset="-122"/>
                <a:cs typeface="Consolas" pitchFamily="34" charset="-120"/>
              </a:rPr>
              <a:t>i = in.</a:t>
            </a:r>
            <a:r>
              <a:rPr lang="en-US" sz="1350" dirty="0">
                <a:solidFill>
                  <a:srgbClr val="C9B0FF"/>
                </a:solidFill>
                <a:latin typeface="Consolas" pitchFamily="34" charset="0"/>
                <a:ea typeface="Consolas" pitchFamily="34" charset="-122"/>
                <a:cs typeface="Consolas" pitchFamily="34" charset="-120"/>
              </a:rPr>
              <a:t>nextInt</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a:t>
            </a:r>
            <a:r>
              <a:rPr lang="en-US" sz="1350" dirty="0">
                <a:solidFill>
                  <a:srgbClr val="6CC4E8"/>
                </a:solidFill>
                <a:latin typeface="Consolas" pitchFamily="34" charset="0"/>
                <a:ea typeface="Consolas" pitchFamily="34" charset="-122"/>
                <a:cs typeface="Consolas" pitchFamily="34" charset="-120"/>
              </a:rPr>
              <a:t>System</a:t>
            </a:r>
            <a:r>
              <a:rPr lang="en-US" sz="1350" dirty="0">
                <a:solidFill>
                  <a:srgbClr val="E6EBF2"/>
                </a:solidFill>
                <a:latin typeface="Consolas" pitchFamily="34" charset="0"/>
                <a:ea typeface="Consolas" pitchFamily="34" charset="-122"/>
                <a:cs typeface="Consolas" pitchFamily="34" charset="-120"/>
              </a:rPr>
              <a:t>.out.</a:t>
            </a:r>
            <a:r>
              <a:rPr lang="en-US" sz="1350" dirty="0">
                <a:solidFill>
                  <a:srgbClr val="C9B0FF"/>
                </a:solidFill>
                <a:latin typeface="Consolas" pitchFamily="34" charset="0"/>
                <a:ea typeface="Consolas" pitchFamily="34" charset="-122"/>
                <a:cs typeface="Consolas" pitchFamily="34" charset="-120"/>
              </a:rPr>
              <a:t>println</a:t>
            </a:r>
            <a:r>
              <a:rPr lang="en-US" sz="1350" dirty="0">
                <a:solidFill>
                  <a:srgbClr val="E6EBF2"/>
                </a:solidFill>
                <a:latin typeface="Consolas" pitchFamily="34" charset="0"/>
                <a:ea typeface="Consolas" pitchFamily="34" charset="-122"/>
                <a:cs typeface="Consolas" pitchFamily="34" charset="-120"/>
              </a:rPr>
              <a:t>(nums[i] / i);</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a:t>
            </a:r>
            <a:r>
              <a:rPr lang="en-US" sz="1350" dirty="0">
                <a:solidFill>
                  <a:srgbClr val="FF9F5A"/>
                </a:solidFill>
                <a:latin typeface="Consolas" pitchFamily="34" charset="0"/>
                <a:ea typeface="Consolas" pitchFamily="34" charset="-122"/>
                <a:cs typeface="Consolas" pitchFamily="34" charset="-120"/>
              </a:rPr>
              <a:t>catch </a:t>
            </a:r>
            <a:r>
              <a:rPr lang="en-US" sz="1350" dirty="0">
                <a:solidFill>
                  <a:srgbClr val="E6EBF2"/>
                </a:solidFill>
                <a:latin typeface="Consolas" pitchFamily="34" charset="0"/>
                <a:ea typeface="Consolas" pitchFamily="34" charset="-122"/>
                <a:cs typeface="Consolas" pitchFamily="34" charset="-120"/>
              </a:rPr>
              <a:t>(</a:t>
            </a:r>
            <a:r>
              <a:rPr lang="en-US" sz="1350" dirty="0">
                <a:solidFill>
                  <a:srgbClr val="6CC4E8"/>
                </a:solidFill>
                <a:latin typeface="Consolas" pitchFamily="34" charset="0"/>
                <a:ea typeface="Consolas" pitchFamily="34" charset="-122"/>
                <a:cs typeface="Consolas" pitchFamily="34" charset="-120"/>
              </a:rPr>
              <a:t>ArrayIndexOutOfBoundsException </a:t>
            </a:r>
            <a:r>
              <a:rPr lang="en-US" sz="1350" dirty="0">
                <a:solidFill>
                  <a:srgbClr val="E6EBF2"/>
                </a:solidFill>
                <a:latin typeface="Consolas" pitchFamily="34" charset="0"/>
                <a:ea typeface="Consolas" pitchFamily="34" charset="-122"/>
                <a:cs typeface="Consolas" pitchFamily="34" charset="-120"/>
              </a:rPr>
              <a:t>e) {</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a:t>
            </a:r>
            <a:r>
              <a:rPr lang="en-US" sz="1350" dirty="0">
                <a:solidFill>
                  <a:srgbClr val="6CC4E8"/>
                </a:solidFill>
                <a:latin typeface="Consolas" pitchFamily="34" charset="0"/>
                <a:ea typeface="Consolas" pitchFamily="34" charset="-122"/>
                <a:cs typeface="Consolas" pitchFamily="34" charset="-120"/>
              </a:rPr>
              <a:t>System</a:t>
            </a:r>
            <a:r>
              <a:rPr lang="en-US" sz="1350" dirty="0">
                <a:solidFill>
                  <a:srgbClr val="E6EBF2"/>
                </a:solidFill>
                <a:latin typeface="Consolas" pitchFamily="34" charset="0"/>
                <a:ea typeface="Consolas" pitchFamily="34" charset="-122"/>
                <a:cs typeface="Consolas" pitchFamily="34" charset="-120"/>
              </a:rPr>
              <a:t>.out.</a:t>
            </a:r>
            <a:r>
              <a:rPr lang="en-US" sz="1350" dirty="0">
                <a:solidFill>
                  <a:srgbClr val="C9B0FF"/>
                </a:solidFill>
                <a:latin typeface="Consolas" pitchFamily="34" charset="0"/>
                <a:ea typeface="Consolas" pitchFamily="34" charset="-122"/>
                <a:cs typeface="Consolas" pitchFamily="34" charset="-120"/>
              </a:rPr>
              <a:t>println</a:t>
            </a:r>
            <a:r>
              <a:rPr lang="en-US" sz="1350" dirty="0">
                <a:solidFill>
                  <a:srgbClr val="E6EBF2"/>
                </a:solidFill>
                <a:latin typeface="Consolas" pitchFamily="34" charset="0"/>
                <a:ea typeface="Consolas" pitchFamily="34" charset="-122"/>
                <a:cs typeface="Consolas" pitchFamily="34" charset="-120"/>
              </a:rPr>
              <a:t>(</a:t>
            </a:r>
            <a:r>
              <a:rPr lang="en-US" sz="1350" dirty="0">
                <a:solidFill>
                  <a:srgbClr val="A9DB8C"/>
                </a:solidFill>
                <a:latin typeface="Consolas" pitchFamily="34" charset="0"/>
                <a:ea typeface="Consolas" pitchFamily="34" charset="-122"/>
                <a:cs typeface="Consolas" pitchFamily="34" charset="-120"/>
              </a:rPr>
              <a:t>"No such position"</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a:t>
            </a:r>
            <a:r>
              <a:rPr lang="en-US" sz="1350" dirty="0">
                <a:solidFill>
                  <a:srgbClr val="FF9F5A"/>
                </a:solidFill>
                <a:latin typeface="Consolas" pitchFamily="34" charset="0"/>
                <a:ea typeface="Consolas" pitchFamily="34" charset="-122"/>
                <a:cs typeface="Consolas" pitchFamily="34" charset="-120"/>
              </a:rPr>
              <a:t>catch </a:t>
            </a:r>
            <a:r>
              <a:rPr lang="en-US" sz="1350" dirty="0">
                <a:solidFill>
                  <a:srgbClr val="E6EBF2"/>
                </a:solidFill>
                <a:latin typeface="Consolas" pitchFamily="34" charset="0"/>
                <a:ea typeface="Consolas" pitchFamily="34" charset="-122"/>
                <a:cs typeface="Consolas" pitchFamily="34" charset="-120"/>
              </a:rPr>
              <a:t>(</a:t>
            </a:r>
            <a:r>
              <a:rPr lang="en-US" sz="1350" dirty="0">
                <a:solidFill>
                  <a:srgbClr val="6CC4E8"/>
                </a:solidFill>
                <a:latin typeface="Consolas" pitchFamily="34" charset="0"/>
                <a:ea typeface="Consolas" pitchFamily="34" charset="-122"/>
                <a:cs typeface="Consolas" pitchFamily="34" charset="-120"/>
              </a:rPr>
              <a:t>ArithmeticException </a:t>
            </a:r>
            <a:r>
              <a:rPr lang="en-US" sz="1350" dirty="0">
                <a:solidFill>
                  <a:srgbClr val="E6EBF2"/>
                </a:solidFill>
                <a:latin typeface="Consolas" pitchFamily="34" charset="0"/>
                <a:ea typeface="Consolas" pitchFamily="34" charset="-122"/>
                <a:cs typeface="Consolas" pitchFamily="34" charset="-120"/>
              </a:rPr>
              <a:t>e) {</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a:t>
            </a:r>
            <a:r>
              <a:rPr lang="en-US" sz="1350" dirty="0">
                <a:solidFill>
                  <a:srgbClr val="6CC4E8"/>
                </a:solidFill>
                <a:latin typeface="Consolas" pitchFamily="34" charset="0"/>
                <a:ea typeface="Consolas" pitchFamily="34" charset="-122"/>
                <a:cs typeface="Consolas" pitchFamily="34" charset="-120"/>
              </a:rPr>
              <a:t>System</a:t>
            </a:r>
            <a:r>
              <a:rPr lang="en-US" sz="1350" dirty="0">
                <a:solidFill>
                  <a:srgbClr val="E6EBF2"/>
                </a:solidFill>
                <a:latin typeface="Consolas" pitchFamily="34" charset="0"/>
                <a:ea typeface="Consolas" pitchFamily="34" charset="-122"/>
                <a:cs typeface="Consolas" pitchFamily="34" charset="-120"/>
              </a:rPr>
              <a:t>.out.</a:t>
            </a:r>
            <a:r>
              <a:rPr lang="en-US" sz="1350" dirty="0">
                <a:solidFill>
                  <a:srgbClr val="C9B0FF"/>
                </a:solidFill>
                <a:latin typeface="Consolas" pitchFamily="34" charset="0"/>
                <a:ea typeface="Consolas" pitchFamily="34" charset="-122"/>
                <a:cs typeface="Consolas" pitchFamily="34" charset="-120"/>
              </a:rPr>
              <a:t>println</a:t>
            </a:r>
            <a:r>
              <a:rPr lang="en-US" sz="1350" dirty="0">
                <a:solidFill>
                  <a:srgbClr val="E6EBF2"/>
                </a:solidFill>
                <a:latin typeface="Consolas" pitchFamily="34" charset="0"/>
                <a:ea typeface="Consolas" pitchFamily="34" charset="-122"/>
                <a:cs typeface="Consolas" pitchFamily="34" charset="-120"/>
              </a:rPr>
              <a:t>(</a:t>
            </a:r>
            <a:r>
              <a:rPr lang="en-US" sz="1350" dirty="0">
                <a:solidFill>
                  <a:srgbClr val="A9DB8C"/>
                </a:solidFill>
                <a:latin typeface="Consolas" pitchFamily="34" charset="0"/>
                <a:ea typeface="Consolas" pitchFamily="34" charset="-122"/>
                <a:cs typeface="Consolas" pitchFamily="34" charset="-120"/>
              </a:rPr>
              <a:t>"Can't divide by zero"</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a:t>
            </a:r>
            <a:r>
              <a:rPr lang="en-US" sz="1350" dirty="0">
                <a:solidFill>
                  <a:srgbClr val="FF9F5A"/>
                </a:solidFill>
                <a:latin typeface="Consolas" pitchFamily="34" charset="0"/>
                <a:ea typeface="Consolas" pitchFamily="34" charset="-122"/>
                <a:cs typeface="Consolas" pitchFamily="34" charset="-120"/>
              </a:rPr>
              <a:t>finally </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    </a:t>
            </a:r>
            <a:r>
              <a:rPr lang="en-US" sz="1350" dirty="0">
                <a:solidFill>
                  <a:srgbClr val="6CC4E8"/>
                </a:solidFill>
                <a:latin typeface="Consolas" pitchFamily="34" charset="0"/>
                <a:ea typeface="Consolas" pitchFamily="34" charset="-122"/>
                <a:cs typeface="Consolas" pitchFamily="34" charset="-120"/>
              </a:rPr>
              <a:t>System</a:t>
            </a:r>
            <a:r>
              <a:rPr lang="en-US" sz="1350" dirty="0">
                <a:solidFill>
                  <a:srgbClr val="E6EBF2"/>
                </a:solidFill>
                <a:latin typeface="Consolas" pitchFamily="34" charset="0"/>
                <a:ea typeface="Consolas" pitchFamily="34" charset="-122"/>
                <a:cs typeface="Consolas" pitchFamily="34" charset="-120"/>
              </a:rPr>
              <a:t>.out.</a:t>
            </a:r>
            <a:r>
              <a:rPr lang="en-US" sz="1350" dirty="0">
                <a:solidFill>
                  <a:srgbClr val="C9B0FF"/>
                </a:solidFill>
                <a:latin typeface="Consolas" pitchFamily="34" charset="0"/>
                <a:ea typeface="Consolas" pitchFamily="34" charset="-122"/>
                <a:cs typeface="Consolas" pitchFamily="34" charset="-120"/>
              </a:rPr>
              <a:t>println</a:t>
            </a:r>
            <a:r>
              <a:rPr lang="en-US" sz="1350" dirty="0">
                <a:solidFill>
                  <a:srgbClr val="E6EBF2"/>
                </a:solidFill>
                <a:latin typeface="Consolas" pitchFamily="34" charset="0"/>
                <a:ea typeface="Consolas" pitchFamily="34" charset="-122"/>
                <a:cs typeface="Consolas" pitchFamily="34" charset="-120"/>
              </a:rPr>
              <a:t>(</a:t>
            </a:r>
            <a:r>
              <a:rPr lang="en-US" sz="1350" dirty="0">
                <a:solidFill>
                  <a:srgbClr val="A9DB8C"/>
                </a:solidFill>
                <a:latin typeface="Consolas" pitchFamily="34" charset="0"/>
                <a:ea typeface="Consolas" pitchFamily="34" charset="-122"/>
                <a:cs typeface="Consolas" pitchFamily="34" charset="-120"/>
              </a:rPr>
              <a:t>"Done"</a:t>
            </a:r>
            <a:r>
              <a:rPr lang="en-US" sz="1350" dirty="0">
                <a:solidFill>
                  <a:srgbClr val="E6EBF2"/>
                </a:solidFill>
                <a:latin typeface="Consolas" pitchFamily="34" charset="0"/>
                <a:ea typeface="Consolas" pitchFamily="34" charset="-122"/>
                <a:cs typeface="Consolas" pitchFamily="34" charset="-120"/>
              </a:rPr>
              <a:t>);</a:t>
            </a:r>
            <a:endParaRPr lang="en-US" sz="1350" dirty="0"/>
          </a:p>
          <a:p>
            <a:pPr indent="0" marL="0">
              <a:lnSpc>
                <a:spcPts val="1780"/>
              </a:lnSpc>
              <a:buNone/>
            </a:pPr>
            <a:r>
              <a:rPr lang="en-US" sz="1350" dirty="0">
                <a:solidFill>
                  <a:srgbClr val="E6EBF2"/>
                </a:solidFill>
                <a:latin typeface="Consolas" pitchFamily="34" charset="0"/>
                <a:ea typeface="Consolas" pitchFamily="34" charset="-122"/>
                <a:cs typeface="Consolas" pitchFamily="34" charset="-120"/>
              </a:rPr>
              <a:t>}</a:t>
            </a:r>
            <a:endParaRPr lang="en-US" sz="1350" dirty="0"/>
          </a:p>
        </p:txBody>
      </p:sp>
      <p:sp>
        <p:nvSpPr>
          <p:cNvPr id="8" name="Note"/>
          <p:cNvSpPr/>
          <p:nvPr/>
        </p:nvSpPr>
        <p:spPr>
          <a:xfrm>
            <a:off x="548640" y="5349240"/>
            <a:ext cx="5852160" cy="777240"/>
          </a:xfrm>
          <a:prstGeom prst="roundRect">
            <a:avLst>
              <a:gd name="adj" fmla="val 14118"/>
            </a:avLst>
          </a:prstGeom>
          <a:solidFill>
            <a:schemeClr val="bg2"/>
          </a:solidFill>
          <a:ln/>
        </p:spPr>
      </p:sp>
      <p:sp>
        <p:nvSpPr>
          <p:cNvPr id="9" name="Icon tile"/>
          <p:cNvSpPr/>
          <p:nvPr/>
        </p:nvSpPr>
        <p:spPr>
          <a:xfrm>
            <a:off x="822960" y="5472684"/>
            <a:ext cx="530352" cy="530352"/>
          </a:xfrm>
          <a:prstGeom prst="roundRect">
            <a:avLst>
              <a:gd name="adj" fmla="val 24000"/>
            </a:avLst>
          </a:prstGeom>
          <a:solidFill>
            <a:schemeClr val="accent2">
              <a:alpha val="14000"/>
            </a:schemeClr>
          </a:solidFill>
          <a:ln/>
        </p:spPr>
      </p:sp>
      <p:pic>
        <p:nvPicPr>
          <p:cNvPr id="10" name="Image 0" descr="info icon">    </p:cNvPr>
          <p:cNvPicPr>
            <a:picLocks noChangeAspect="1"/>
          </p:cNvPicPr>
          <p:nvPr/>
        </p:nvPicPr>
        <p:blipFill>
          <a:blip r:embed="rId1"/>
          <a:stretch>
            <a:fillRect/>
          </a:stretch>
        </p:blipFill>
        <p:spPr>
          <a:xfrm>
            <a:off x="934334" y="5584058"/>
            <a:ext cx="307604" cy="307604"/>
          </a:xfrm>
          <a:prstGeom prst="rect">
            <a:avLst/>
          </a:prstGeom>
        </p:spPr>
      </p:pic>
      <p:sp>
        <p:nvSpPr>
          <p:cNvPr id="11" name="Text 7"/>
          <p:cNvSpPr txBox="1"/>
          <p:nvPr/>
        </p:nvSpPr>
        <p:spPr>
          <a:xfrm>
            <a:off x="1572768" y="5349240"/>
            <a:ext cx="4572000" cy="777240"/>
          </a:xfrm>
          <a:prstGeom prst="rect">
            <a:avLst/>
          </a:prstGeom>
          <a:noFill/>
          <a:ln/>
        </p:spPr>
        <p:txBody>
          <a:bodyPr wrap="square" lIns="0" tIns="0" rIns="0" bIns="0" rtlCol="0" anchor="ctr"/>
          <a:lstStyle/>
          <a:p>
            <a:pPr algn="l" indent="0" marL="0">
              <a:buNone/>
            </a:pPr>
            <a:r>
              <a:rPr lang="en-US" sz="1500" dirty="0">
                <a:solidFill>
                  <a:schemeClr val="tx1"/>
                </a:solidFill>
              </a:rPr>
              <a:t>Order matters: specific exceptions first. A catch for Exception goes last, if we use one.</a:t>
            </a:r>
            <a:endParaRPr lang="en-US" sz="1500" dirty="0"/>
          </a:p>
        </p:txBody>
      </p:sp>
      <p:sp>
        <p:nvSpPr>
          <p:cNvPr id="12" name="Text 8"/>
          <p:cNvSpPr txBox="1"/>
          <p:nvPr/>
        </p:nvSpPr>
        <p:spPr>
          <a:xfrm>
            <a:off x="6720840" y="1783080"/>
            <a:ext cx="4922215" cy="274320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chemeClr val="tx1"/>
                </a:solidFill>
              </a:rPr>
              <a:t>One try can have several catch blocks, one for each kind of exception.</a:t>
            </a:r>
            <a:endParaRPr lang="en-US" sz="1700" dirty="0"/>
          </a:p>
          <a:p>
            <a:pPr marL="228600" indent="-228600">
              <a:spcAft>
                <a:spcPts val="1200"/>
              </a:spcAft>
              <a:buSzPct val="100000"/>
              <a:buChar char="•"/>
            </a:pPr>
            <a:r>
              <a:rPr lang="en-US" sz="1700" dirty="0">
                <a:solidFill>
                  <a:schemeClr val="tx1"/>
                </a:solidFill>
              </a:rPr>
              <a:t>Java checks them in order and runs only the first one that matches.</a:t>
            </a:r>
            <a:endParaRPr lang="en-US" sz="1700" dirty="0"/>
          </a:p>
          <a:p>
            <a:pPr marL="228600" indent="-228600">
              <a:buSzPct val="100000"/>
              <a:buChar char="•"/>
            </a:pPr>
            <a:r>
              <a:rPr lang="en-US" sz="1700" dirty="0">
                <a:solidFill>
                  <a:schemeClr val="tx1"/>
                </a:solidFill>
              </a:rPr>
              <a:t>finally still comes at the very end.</a:t>
            </a:r>
            <a:endParaRPr lang="en-US" sz="1700" dirty="0"/>
          </a:p>
        </p:txBody>
      </p:sp>
      <p:sp>
        <p:nvSpPr>
          <p:cNvPr id="13" name="Output card"/>
          <p:cNvSpPr/>
          <p:nvPr/>
        </p:nvSpPr>
        <p:spPr>
          <a:xfrm>
            <a:off x="6720840" y="4846320"/>
            <a:ext cx="2350008" cy="1195578"/>
          </a:xfrm>
          <a:prstGeom prst="roundRect">
            <a:avLst>
              <a:gd name="adj" fmla="val 9178"/>
            </a:avLst>
          </a:prstGeom>
          <a:solidFill>
            <a:schemeClr val="tx1"/>
          </a:solidFill>
          <a:ln/>
          <a:effectLst>
            <a:outerShdw sx="100000" sy="100000" kx="0" ky="0" algn="bl" rotWithShape="0" blurRad="114300" dist="31750" dir="5400000">
              <a:srgbClr val="1D2433">
                <a:alpha val="12000"/>
              </a:srgbClr>
            </a:outerShdw>
          </a:effectLst>
        </p:spPr>
      </p:sp>
      <p:sp>
        <p:nvSpPr>
          <p:cNvPr id="14" name="Output label"/>
          <p:cNvSpPr txBox="1"/>
          <p:nvPr/>
        </p:nvSpPr>
        <p:spPr>
          <a:xfrm>
            <a:off x="6995160" y="4965192"/>
            <a:ext cx="1801368"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User types 1</a:t>
            </a:r>
            <a:endParaRPr lang="en-US" sz="1050" dirty="0"/>
          </a:p>
        </p:txBody>
      </p:sp>
      <p:sp>
        <p:nvSpPr>
          <p:cNvPr id="15" name="Output text"/>
          <p:cNvSpPr txBox="1"/>
          <p:nvPr/>
        </p:nvSpPr>
        <p:spPr>
          <a:xfrm>
            <a:off x="6995160" y="5340096"/>
            <a:ext cx="1801368" cy="500634"/>
          </a:xfrm>
          <a:prstGeom prst="rect">
            <a:avLst/>
          </a:prstGeom>
          <a:noFill/>
          <a:ln/>
        </p:spPr>
        <p:txBody>
          <a:bodyPr wrap="square" lIns="0" tIns="0" rIns="0" bIns="0" rtlCol="0" anchor="t"/>
          <a:lstStyle/>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20</a:t>
            </a:r>
            <a:endParaRPr lang="en-US" sz="1300" dirty="0"/>
          </a:p>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Done</a:t>
            </a:r>
            <a:endParaRPr lang="en-US" sz="1300" dirty="0"/>
          </a:p>
        </p:txBody>
      </p:sp>
      <p:sp>
        <p:nvSpPr>
          <p:cNvPr id="16" name="Output card"/>
          <p:cNvSpPr/>
          <p:nvPr/>
        </p:nvSpPr>
        <p:spPr>
          <a:xfrm>
            <a:off x="9293047" y="4846320"/>
            <a:ext cx="2350008" cy="1195578"/>
          </a:xfrm>
          <a:prstGeom prst="roundRect">
            <a:avLst>
              <a:gd name="adj" fmla="val 9178"/>
            </a:avLst>
          </a:prstGeom>
          <a:solidFill>
            <a:schemeClr val="tx1"/>
          </a:solidFill>
          <a:ln/>
          <a:effectLst>
            <a:outerShdw sx="100000" sy="100000" kx="0" ky="0" algn="bl" rotWithShape="0" blurRad="114300" dist="31750" dir="5400000">
              <a:srgbClr val="1D2433">
                <a:alpha val="12000"/>
              </a:srgbClr>
            </a:outerShdw>
          </a:effectLst>
        </p:spPr>
      </p:sp>
      <p:sp>
        <p:nvSpPr>
          <p:cNvPr id="17" name="Output label"/>
          <p:cNvSpPr txBox="1"/>
          <p:nvPr/>
        </p:nvSpPr>
        <p:spPr>
          <a:xfrm>
            <a:off x="9567367" y="4965192"/>
            <a:ext cx="1801368"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User types 5</a:t>
            </a:r>
            <a:endParaRPr lang="en-US" sz="1050" dirty="0"/>
          </a:p>
        </p:txBody>
      </p:sp>
      <p:sp>
        <p:nvSpPr>
          <p:cNvPr id="18" name="Output text"/>
          <p:cNvSpPr txBox="1"/>
          <p:nvPr/>
        </p:nvSpPr>
        <p:spPr>
          <a:xfrm>
            <a:off x="9567367" y="5340096"/>
            <a:ext cx="1801368" cy="500634"/>
          </a:xfrm>
          <a:prstGeom prst="rect">
            <a:avLst/>
          </a:prstGeom>
          <a:noFill/>
          <a:ln/>
        </p:spPr>
        <p:txBody>
          <a:bodyPr wrap="square" lIns="0" tIns="0" rIns="0" bIns="0" rtlCol="0" anchor="t"/>
          <a:lstStyle/>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No such position</a:t>
            </a:r>
            <a:endParaRPr lang="en-US" sz="1300" dirty="0"/>
          </a:p>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Done</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10</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Several catch blocks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The user types 0. What does this code print?</a:t>
            </a:r>
            <a:endParaRPr lang="en-US" sz="2800" dirty="0"/>
          </a:p>
        </p:txBody>
      </p:sp>
      <p:sp>
        <p:nvSpPr>
          <p:cNvPr id="5" name="Question code card"/>
          <p:cNvSpPr/>
          <p:nvPr/>
        </p:nvSpPr>
        <p:spPr>
          <a:xfrm>
            <a:off x="548640" y="2093976"/>
            <a:ext cx="6035040" cy="3767328"/>
          </a:xfrm>
          <a:prstGeom prst="roundRect">
            <a:avLst>
              <a:gd name="adj" fmla="val 2913"/>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bel"/>
          <p:cNvSpPr txBox="1"/>
          <p:nvPr/>
        </p:nvSpPr>
        <p:spPr>
          <a:xfrm>
            <a:off x="822960" y="2212848"/>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Question code text"/>
          <p:cNvSpPr txBox="1"/>
          <p:nvPr/>
        </p:nvSpPr>
        <p:spPr>
          <a:xfrm>
            <a:off x="822960" y="2587752"/>
            <a:ext cx="5486400" cy="3072384"/>
          </a:xfrm>
          <a:prstGeom prst="rect">
            <a:avLst/>
          </a:prstGeom>
          <a:noFill/>
          <a:ln/>
        </p:spPr>
        <p:txBody>
          <a:bodyPr wrap="square" lIns="0" tIns="0" rIns="0" bIns="0" rtlCol="0" anchor="t"/>
          <a:lstStyle/>
          <a:p>
            <a:pPr indent="0" marL="0">
              <a:lnSpc>
                <a:spcPts val="1980"/>
              </a:lnSpc>
              <a:buNone/>
            </a:pPr>
            <a:r>
              <a:rPr lang="en-US" sz="1500" dirty="0">
                <a:solidFill>
                  <a:srgbClr val="6CC4E8"/>
                </a:solidFill>
                <a:latin typeface="Consolas" pitchFamily="34" charset="0"/>
                <a:ea typeface="Consolas" pitchFamily="34" charset="-122"/>
                <a:cs typeface="Consolas" pitchFamily="34" charset="-120"/>
              </a:rPr>
              <a:t>Scanner </a:t>
            </a:r>
            <a:r>
              <a:rPr lang="en-US" sz="1500" dirty="0">
                <a:solidFill>
                  <a:srgbClr val="E6EBF2"/>
                </a:solidFill>
                <a:latin typeface="Consolas" pitchFamily="34" charset="0"/>
                <a:ea typeface="Consolas" pitchFamily="34" charset="-122"/>
                <a:cs typeface="Consolas" pitchFamily="34" charset="-120"/>
              </a:rPr>
              <a:t>in = </a:t>
            </a:r>
            <a:r>
              <a:rPr lang="en-US" sz="1500" dirty="0">
                <a:solidFill>
                  <a:srgbClr val="FF9F5A"/>
                </a:solidFill>
                <a:latin typeface="Consolas" pitchFamily="34" charset="0"/>
                <a:ea typeface="Consolas" pitchFamily="34" charset="-122"/>
                <a:cs typeface="Consolas" pitchFamily="34" charset="-120"/>
              </a:rPr>
              <a:t>new </a:t>
            </a:r>
            <a:r>
              <a:rPr lang="en-US" sz="1500" dirty="0">
                <a:solidFill>
                  <a:srgbClr val="C9B0FF"/>
                </a:solidFill>
                <a:latin typeface="Consolas" pitchFamily="34" charset="0"/>
                <a:ea typeface="Consolas" pitchFamily="34" charset="-122"/>
                <a:cs typeface="Consolas" pitchFamily="34" charset="-120"/>
              </a:rPr>
              <a:t>Scanner</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6CC4E8"/>
                </a:solidFill>
                <a:latin typeface="Consolas" pitchFamily="34" charset="0"/>
                <a:ea typeface="Consolas" pitchFamily="34" charset="-122"/>
                <a:cs typeface="Consolas" pitchFamily="34" charset="-120"/>
              </a:rPr>
              <a:t>System</a:t>
            </a:r>
            <a:r>
              <a:rPr lang="en-US" sz="1500" dirty="0">
                <a:solidFill>
                  <a:srgbClr val="E6EBF2"/>
                </a:solidFill>
                <a:latin typeface="Consolas" pitchFamily="34" charset="0"/>
                <a:ea typeface="Consolas" pitchFamily="34" charset="-122"/>
                <a:cs typeface="Consolas" pitchFamily="34" charset="-120"/>
              </a:rPr>
              <a:t>.in);</a:t>
            </a:r>
            <a:endParaRPr lang="en-US" sz="1500" dirty="0"/>
          </a:p>
          <a:p>
            <a:pPr indent="0" marL="0">
              <a:lnSpc>
                <a:spcPts val="1980"/>
              </a:lnSpc>
              <a:buNone/>
            </a:pPr>
            <a:r>
              <a:rPr lang="en-US" sz="1500" dirty="0">
                <a:solidFill>
                  <a:srgbClr val="FF9F5A"/>
                </a:solidFill>
                <a:latin typeface="Consolas" pitchFamily="34" charset="0"/>
                <a:ea typeface="Consolas" pitchFamily="34" charset="-122"/>
                <a:cs typeface="Consolas" pitchFamily="34" charset="-120"/>
              </a:rPr>
              <a:t>try </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F9F5A"/>
                </a:solidFill>
                <a:latin typeface="Consolas" pitchFamily="34" charset="0"/>
                <a:ea typeface="Consolas" pitchFamily="34" charset="-122"/>
                <a:cs typeface="Consolas" pitchFamily="34" charset="-120"/>
              </a:rPr>
              <a:t>int</a:t>
            </a:r>
            <a:r>
              <a:rPr lang="en-US" sz="1500" dirty="0">
                <a:solidFill>
                  <a:srgbClr val="E6EBF2"/>
                </a:solidFill>
                <a:latin typeface="Consolas" pitchFamily="34" charset="0"/>
                <a:ea typeface="Consolas" pitchFamily="34" charset="-122"/>
                <a:cs typeface="Consolas" pitchFamily="34" charset="-120"/>
              </a:rPr>
              <a:t>[] nums = {</a:t>
            </a:r>
            <a:r>
              <a:rPr lang="en-US" sz="1500" dirty="0">
                <a:solidFill>
                  <a:srgbClr val="F2C14E"/>
                </a:solidFill>
                <a:latin typeface="Consolas" pitchFamily="34" charset="0"/>
                <a:ea typeface="Consolas" pitchFamily="34" charset="-122"/>
                <a:cs typeface="Consolas" pitchFamily="34" charset="-120"/>
              </a:rPr>
              <a:t>10</a:t>
            </a: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2C14E"/>
                </a:solidFill>
                <a:latin typeface="Consolas" pitchFamily="34" charset="0"/>
                <a:ea typeface="Consolas" pitchFamily="34" charset="-122"/>
                <a:cs typeface="Consolas" pitchFamily="34" charset="-120"/>
              </a:rPr>
              <a:t>20</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F9F5A"/>
                </a:solidFill>
                <a:latin typeface="Consolas" pitchFamily="34" charset="0"/>
                <a:ea typeface="Consolas" pitchFamily="34" charset="-122"/>
                <a:cs typeface="Consolas" pitchFamily="34" charset="-120"/>
              </a:rPr>
              <a:t>int </a:t>
            </a:r>
            <a:r>
              <a:rPr lang="en-US" sz="1500" dirty="0">
                <a:solidFill>
                  <a:srgbClr val="E6EBF2"/>
                </a:solidFill>
                <a:latin typeface="Consolas" pitchFamily="34" charset="0"/>
                <a:ea typeface="Consolas" pitchFamily="34" charset="-122"/>
                <a:cs typeface="Consolas" pitchFamily="34" charset="-120"/>
              </a:rPr>
              <a:t>i = in.</a:t>
            </a:r>
            <a:r>
              <a:rPr lang="en-US" sz="1500" dirty="0">
                <a:solidFill>
                  <a:srgbClr val="C9B0FF"/>
                </a:solidFill>
                <a:latin typeface="Consolas" pitchFamily="34" charset="0"/>
                <a:ea typeface="Consolas" pitchFamily="34" charset="-122"/>
                <a:cs typeface="Consolas" pitchFamily="34" charset="-120"/>
              </a:rPr>
              <a:t>nextInt</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6CC4E8"/>
                </a:solidFill>
                <a:latin typeface="Consolas" pitchFamily="34" charset="0"/>
                <a:ea typeface="Consolas" pitchFamily="34" charset="-122"/>
                <a:cs typeface="Consolas" pitchFamily="34" charset="-120"/>
              </a:rPr>
              <a:t>System</a:t>
            </a:r>
            <a:r>
              <a:rPr lang="en-US" sz="1500" dirty="0">
                <a:solidFill>
                  <a:srgbClr val="E6EBF2"/>
                </a:solidFill>
                <a:latin typeface="Consolas" pitchFamily="34" charset="0"/>
                <a:ea typeface="Consolas" pitchFamily="34" charset="-122"/>
                <a:cs typeface="Consolas" pitchFamily="34" charset="-120"/>
              </a:rPr>
              <a:t>.out.</a:t>
            </a:r>
            <a:r>
              <a:rPr lang="en-US" sz="1500" dirty="0">
                <a:solidFill>
                  <a:srgbClr val="C9B0FF"/>
                </a:solidFill>
                <a:latin typeface="Consolas" pitchFamily="34" charset="0"/>
                <a:ea typeface="Consolas" pitchFamily="34" charset="-122"/>
                <a:cs typeface="Consolas" pitchFamily="34" charset="-120"/>
              </a:rPr>
              <a:t>println</a:t>
            </a:r>
            <a:r>
              <a:rPr lang="en-US" sz="1500" dirty="0">
                <a:solidFill>
                  <a:srgbClr val="E6EBF2"/>
                </a:solidFill>
                <a:latin typeface="Consolas" pitchFamily="34" charset="0"/>
                <a:ea typeface="Consolas" pitchFamily="34" charset="-122"/>
                <a:cs typeface="Consolas" pitchFamily="34" charset="-120"/>
              </a:rPr>
              <a:t>(nums[i] / i);</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F9F5A"/>
                </a:solidFill>
                <a:latin typeface="Consolas" pitchFamily="34" charset="0"/>
                <a:ea typeface="Consolas" pitchFamily="34" charset="-122"/>
                <a:cs typeface="Consolas" pitchFamily="34" charset="-120"/>
              </a:rPr>
              <a:t>catch </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6CC4E8"/>
                </a:solidFill>
                <a:latin typeface="Consolas" pitchFamily="34" charset="0"/>
                <a:ea typeface="Consolas" pitchFamily="34" charset="-122"/>
                <a:cs typeface="Consolas" pitchFamily="34" charset="-120"/>
              </a:rPr>
              <a:t>ArrayIndexOutOfBoundsException </a:t>
            </a:r>
            <a:r>
              <a:rPr lang="en-US" sz="1500" dirty="0">
                <a:solidFill>
                  <a:srgbClr val="E6EBF2"/>
                </a:solidFill>
                <a:latin typeface="Consolas" pitchFamily="34" charset="0"/>
                <a:ea typeface="Consolas" pitchFamily="34" charset="-122"/>
                <a:cs typeface="Consolas" pitchFamily="34" charset="-120"/>
              </a:rPr>
              <a:t>e) {</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6CC4E8"/>
                </a:solidFill>
                <a:latin typeface="Consolas" pitchFamily="34" charset="0"/>
                <a:ea typeface="Consolas" pitchFamily="34" charset="-122"/>
                <a:cs typeface="Consolas" pitchFamily="34" charset="-120"/>
              </a:rPr>
              <a:t>System</a:t>
            </a:r>
            <a:r>
              <a:rPr lang="en-US" sz="1500" dirty="0">
                <a:solidFill>
                  <a:srgbClr val="E6EBF2"/>
                </a:solidFill>
                <a:latin typeface="Consolas" pitchFamily="34" charset="0"/>
                <a:ea typeface="Consolas" pitchFamily="34" charset="-122"/>
                <a:cs typeface="Consolas" pitchFamily="34" charset="-120"/>
              </a:rPr>
              <a:t>.out.</a:t>
            </a:r>
            <a:r>
              <a:rPr lang="en-US" sz="1500" dirty="0">
                <a:solidFill>
                  <a:srgbClr val="C9B0FF"/>
                </a:solidFill>
                <a:latin typeface="Consolas" pitchFamily="34" charset="0"/>
                <a:ea typeface="Consolas" pitchFamily="34" charset="-122"/>
                <a:cs typeface="Consolas" pitchFamily="34" charset="-120"/>
              </a:rPr>
              <a:t>println</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A9DB8C"/>
                </a:solidFill>
                <a:latin typeface="Consolas" pitchFamily="34" charset="0"/>
                <a:ea typeface="Consolas" pitchFamily="34" charset="-122"/>
                <a:cs typeface="Consolas" pitchFamily="34" charset="-120"/>
              </a:rPr>
              <a:t>"No such position"</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F9F5A"/>
                </a:solidFill>
                <a:latin typeface="Consolas" pitchFamily="34" charset="0"/>
                <a:ea typeface="Consolas" pitchFamily="34" charset="-122"/>
                <a:cs typeface="Consolas" pitchFamily="34" charset="-120"/>
              </a:rPr>
              <a:t>catch </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6CC4E8"/>
                </a:solidFill>
                <a:latin typeface="Consolas" pitchFamily="34" charset="0"/>
                <a:ea typeface="Consolas" pitchFamily="34" charset="-122"/>
                <a:cs typeface="Consolas" pitchFamily="34" charset="-120"/>
              </a:rPr>
              <a:t>ArithmeticException </a:t>
            </a:r>
            <a:r>
              <a:rPr lang="en-US" sz="1500" dirty="0">
                <a:solidFill>
                  <a:srgbClr val="E6EBF2"/>
                </a:solidFill>
                <a:latin typeface="Consolas" pitchFamily="34" charset="0"/>
                <a:ea typeface="Consolas" pitchFamily="34" charset="-122"/>
                <a:cs typeface="Consolas" pitchFamily="34" charset="-120"/>
              </a:rPr>
              <a:t>e) {</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6CC4E8"/>
                </a:solidFill>
                <a:latin typeface="Consolas" pitchFamily="34" charset="0"/>
                <a:ea typeface="Consolas" pitchFamily="34" charset="-122"/>
                <a:cs typeface="Consolas" pitchFamily="34" charset="-120"/>
              </a:rPr>
              <a:t>System</a:t>
            </a:r>
            <a:r>
              <a:rPr lang="en-US" sz="1500" dirty="0">
                <a:solidFill>
                  <a:srgbClr val="E6EBF2"/>
                </a:solidFill>
                <a:latin typeface="Consolas" pitchFamily="34" charset="0"/>
                <a:ea typeface="Consolas" pitchFamily="34" charset="-122"/>
                <a:cs typeface="Consolas" pitchFamily="34" charset="-120"/>
              </a:rPr>
              <a:t>.out.</a:t>
            </a:r>
            <a:r>
              <a:rPr lang="en-US" sz="1500" dirty="0">
                <a:solidFill>
                  <a:srgbClr val="C9B0FF"/>
                </a:solidFill>
                <a:latin typeface="Consolas" pitchFamily="34" charset="0"/>
                <a:ea typeface="Consolas" pitchFamily="34" charset="-122"/>
                <a:cs typeface="Consolas" pitchFamily="34" charset="-120"/>
              </a:rPr>
              <a:t>println</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A9DB8C"/>
                </a:solidFill>
                <a:latin typeface="Consolas" pitchFamily="34" charset="0"/>
                <a:ea typeface="Consolas" pitchFamily="34" charset="-122"/>
                <a:cs typeface="Consolas" pitchFamily="34" charset="-120"/>
              </a:rPr>
              <a:t>"Can't divide by zero"</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F9F5A"/>
                </a:solidFill>
                <a:latin typeface="Consolas" pitchFamily="34" charset="0"/>
                <a:ea typeface="Consolas" pitchFamily="34" charset="-122"/>
                <a:cs typeface="Consolas" pitchFamily="34" charset="-120"/>
              </a:rPr>
              <a:t>finally </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6CC4E8"/>
                </a:solidFill>
                <a:latin typeface="Consolas" pitchFamily="34" charset="0"/>
                <a:ea typeface="Consolas" pitchFamily="34" charset="-122"/>
                <a:cs typeface="Consolas" pitchFamily="34" charset="-120"/>
              </a:rPr>
              <a:t>System</a:t>
            </a:r>
            <a:r>
              <a:rPr lang="en-US" sz="1500" dirty="0">
                <a:solidFill>
                  <a:srgbClr val="E6EBF2"/>
                </a:solidFill>
                <a:latin typeface="Consolas" pitchFamily="34" charset="0"/>
                <a:ea typeface="Consolas" pitchFamily="34" charset="-122"/>
                <a:cs typeface="Consolas" pitchFamily="34" charset="-120"/>
              </a:rPr>
              <a:t>.out.</a:t>
            </a:r>
            <a:r>
              <a:rPr lang="en-US" sz="1500" dirty="0">
                <a:solidFill>
                  <a:srgbClr val="C9B0FF"/>
                </a:solidFill>
                <a:latin typeface="Consolas" pitchFamily="34" charset="0"/>
                <a:ea typeface="Consolas" pitchFamily="34" charset="-122"/>
                <a:cs typeface="Consolas" pitchFamily="34" charset="-120"/>
              </a:rPr>
              <a:t>println</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A9DB8C"/>
                </a:solidFill>
                <a:latin typeface="Consolas" pitchFamily="34" charset="0"/>
                <a:ea typeface="Consolas" pitchFamily="34" charset="-122"/>
                <a:cs typeface="Consolas" pitchFamily="34" charset="-120"/>
              </a:rPr>
              <a:t>"Done"</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a:t>
            </a:r>
            <a:endParaRPr lang="en-US" sz="15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20</a:t>
            </a:r>
            <a:r>
              <a:rPr lang="en-US" sz="2000" dirty="0">
                <a:solidFill>
                  <a:schemeClr val="tx1"/>
                </a:solidFill>
              </a:rPr>
              <a:t> and </a:t>
            </a:r>
            <a:r>
              <a:rPr lang="en-US" sz="2000" dirty="0">
                <a:solidFill>
                  <a:schemeClr val="accent2"/>
                </a:solidFill>
                <a:latin typeface="Consolas" pitchFamily="34" charset="0"/>
                <a:ea typeface="Consolas" pitchFamily="34" charset="-122"/>
                <a:cs typeface="Consolas" pitchFamily="34" charset="-120"/>
              </a:rPr>
              <a:t>Done</a:t>
            </a:r>
            <a:endParaRPr lang="en-US" sz="20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No such position</a:t>
            </a:r>
            <a:r>
              <a:rPr lang="en-US" sz="2000" dirty="0">
                <a:solidFill>
                  <a:schemeClr val="tx1"/>
                </a:solidFill>
              </a:rPr>
              <a:t> and </a:t>
            </a:r>
            <a:r>
              <a:rPr lang="en-US" sz="2000" dirty="0">
                <a:solidFill>
                  <a:schemeClr val="accent2"/>
                </a:solidFill>
                <a:latin typeface="Consolas" pitchFamily="34" charset="0"/>
                <a:ea typeface="Consolas" pitchFamily="34" charset="-122"/>
                <a:cs typeface="Consolas" pitchFamily="34" charset="-120"/>
              </a:rPr>
              <a:t>Done</a:t>
            </a:r>
            <a:endParaRPr lang="en-US" sz="20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Can't divide by zero</a:t>
            </a:r>
            <a:r>
              <a:rPr lang="en-US" sz="2000" dirty="0">
                <a:solidFill>
                  <a:schemeClr val="tx1"/>
                </a:solidFill>
              </a:rPr>
              <a:t> only</a:t>
            </a:r>
            <a:endParaRPr lang="en-US" sz="20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US" sz="2000" dirty="0">
                <a:solidFill>
                  <a:schemeClr val="accent2"/>
                </a:solidFill>
                <a:latin typeface="Consolas" pitchFamily="34" charset="0"/>
                <a:ea typeface="Consolas" pitchFamily="34" charset="-122"/>
                <a:cs typeface="Consolas" pitchFamily="34" charset="-120"/>
              </a:rPr>
              <a:t>Can't divide by zero</a:t>
            </a:r>
            <a:r>
              <a:rPr lang="en-US" sz="2000" dirty="0">
                <a:solidFill>
                  <a:schemeClr val="tx1"/>
                </a:solidFill>
              </a:rPr>
              <a:t> and </a:t>
            </a:r>
            <a:r>
              <a:rPr lang="en-US" sz="2000" dirty="0">
                <a:solidFill>
                  <a:schemeClr val="accent2"/>
                </a:solidFill>
                <a:latin typeface="Consolas" pitchFamily="34" charset="0"/>
                <a:ea typeface="Consolas" pitchFamily="34" charset="-122"/>
                <a:cs typeface="Consolas" pitchFamily="34" charset="-120"/>
              </a:rPr>
              <a:t>Done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10</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Several catch blocks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The user types 0. What does this code print?</a:t>
            </a:r>
            <a:endParaRPr lang="en-US" sz="2000" dirty="0"/>
          </a:p>
        </p:txBody>
      </p:sp>
      <p:sp>
        <p:nvSpPr>
          <p:cNvPr id="5" name="Answer code card"/>
          <p:cNvSpPr/>
          <p:nvPr/>
        </p:nvSpPr>
        <p:spPr>
          <a:xfrm>
            <a:off x="548640" y="1874520"/>
            <a:ext cx="5623560" cy="1161288"/>
          </a:xfrm>
          <a:prstGeom prst="roundRect">
            <a:avLst>
              <a:gd name="adj" fmla="val 9449"/>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758952"/>
          </a:xfrm>
          <a:prstGeom prst="rect">
            <a:avLst/>
          </a:prstGeom>
          <a:noFill/>
          <a:ln/>
        </p:spPr>
        <p:txBody>
          <a:bodyPr wrap="square" lIns="0" tIns="0" rIns="0" bIns="0" rtlCol="0" anchor="t"/>
          <a:lstStyle/>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nums[</a:t>
            </a:r>
            <a:r>
              <a:rPr lang="en-US" sz="1400" dirty="0">
                <a:solidFill>
                  <a:srgbClr val="F2C14E"/>
                </a:solidFill>
                <a:latin typeface="Consolas" pitchFamily="34" charset="0"/>
                <a:ea typeface="Consolas" pitchFamily="34" charset="-122"/>
                <a:cs typeface="Consolas" pitchFamily="34" charset="-120"/>
              </a:rPr>
              <a:t>0</a:t>
            </a:r>
            <a:r>
              <a:rPr lang="en-US" sz="1400" dirty="0">
                <a:solidFill>
                  <a:srgbClr val="E6EBF2"/>
                </a:solidFill>
                <a:latin typeface="Consolas" pitchFamily="34" charset="0"/>
                <a:ea typeface="Consolas" pitchFamily="34" charset="-122"/>
                <a:cs typeface="Consolas" pitchFamily="34" charset="-120"/>
              </a:rPr>
              <a:t>]    </a:t>
            </a:r>
            <a:r>
              <a:rPr lang="en-US" sz="1400" i="1" dirty="0">
                <a:solidFill>
                  <a:srgbClr val="A3AEC2"/>
                </a:solidFill>
                <a:latin typeface="Consolas" pitchFamily="34" charset="0"/>
                <a:ea typeface="Consolas" pitchFamily="34" charset="-122"/>
                <a:cs typeface="Consolas" pitchFamily="34" charset="-120"/>
              </a:rPr>
              <a:t>// 10: index 0 is fine</a:t>
            </a:r>
            <a:endParaRPr lang="en-US" sz="1400" dirty="0"/>
          </a:p>
          <a:p>
            <a:pPr indent="0" marL="0">
              <a:lnSpc>
                <a:spcPts val="1850"/>
              </a:lnSpc>
              <a:buNone/>
            </a:pPr>
            <a:r>
              <a:rPr lang="en-US" sz="1400" dirty="0">
                <a:solidFill>
                  <a:srgbClr val="F2C14E"/>
                </a:solidFill>
                <a:latin typeface="Consolas" pitchFamily="34" charset="0"/>
                <a:ea typeface="Consolas" pitchFamily="34" charset="-122"/>
                <a:cs typeface="Consolas" pitchFamily="34" charset="-120"/>
              </a:rPr>
              <a:t>10 </a:t>
            </a:r>
            <a:r>
              <a:rPr lang="en-US" sz="1400" dirty="0">
                <a:solidFill>
                  <a:srgbClr val="E6EBF2"/>
                </a:solidFill>
                <a:latin typeface="Consolas" pitchFamily="34" charset="0"/>
                <a:ea typeface="Consolas" pitchFamily="34" charset="-122"/>
                <a:cs typeface="Consolas" pitchFamily="34" charset="-120"/>
              </a:rPr>
              <a:t>/ </a:t>
            </a:r>
            <a:r>
              <a:rPr lang="en-US" sz="1400" dirty="0">
                <a:solidFill>
                  <a:srgbClr val="F2C14E"/>
                </a:solidFill>
                <a:latin typeface="Consolas" pitchFamily="34" charset="0"/>
                <a:ea typeface="Consolas" pitchFamily="34" charset="-122"/>
                <a:cs typeface="Consolas" pitchFamily="34" charset="-120"/>
              </a:rPr>
              <a:t>0     </a:t>
            </a:r>
            <a:r>
              <a:rPr lang="en-US" sz="1400" i="1" dirty="0">
                <a:solidFill>
                  <a:srgbClr val="A3AEC2"/>
                </a:solidFill>
                <a:latin typeface="Consolas" pitchFamily="34" charset="0"/>
                <a:ea typeface="Consolas" pitchFamily="34" charset="-122"/>
                <a:cs typeface="Consolas" pitchFamily="34" charset="-120"/>
              </a:rPr>
              <a:t>// ArithmeticException</a:t>
            </a:r>
            <a:endParaRPr lang="en-US" sz="1400" dirty="0"/>
          </a:p>
          <a:p>
            <a:pPr indent="0" marL="0">
              <a:lnSpc>
                <a:spcPts val="1850"/>
              </a:lnSpc>
              <a:buNone/>
            </a:pPr>
            <a:r>
              <a:rPr lang="en-US" sz="1400" i="1" dirty="0">
                <a:solidFill>
                  <a:srgbClr val="A3AEC2"/>
                </a:solidFill>
                <a:latin typeface="Consolas" pitchFamily="34" charset="0"/>
                <a:ea typeface="Consolas" pitchFamily="34" charset="-122"/>
                <a:cs typeface="Consolas" pitchFamily="34" charset="-120"/>
              </a:rPr>
              <a:t>// the second catch matches, then finally runs</a:t>
            </a:r>
            <a:endParaRPr lang="en-US" sz="1400" dirty="0"/>
          </a:p>
        </p:txBody>
      </p:sp>
      <p:sp>
        <p:nvSpPr>
          <p:cNvPr id="7" name="Option A"/>
          <p:cNvSpPr/>
          <p:nvPr/>
        </p:nvSpPr>
        <p:spPr>
          <a:xfrm>
            <a:off x="548640" y="3264408"/>
            <a:ext cx="5623560" cy="594360"/>
          </a:xfrm>
          <a:prstGeom prst="roundRect">
            <a:avLst>
              <a:gd name="adj" fmla="val 18462"/>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35127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9" name="Option A text"/>
          <p:cNvSpPr txBox="1"/>
          <p:nvPr/>
        </p:nvSpPr>
        <p:spPr>
          <a:xfrm>
            <a:off x="1371600" y="3264408"/>
            <a:ext cx="4572000" cy="59436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20</a:t>
            </a:r>
            <a:r>
              <a:rPr lang="en-US" sz="1700" dirty="0">
                <a:solidFill>
                  <a:schemeClr val="tx2"/>
                </a:solidFill>
              </a:rPr>
              <a:t> and </a:t>
            </a:r>
            <a:r>
              <a:rPr lang="en-US" sz="1700" dirty="0">
                <a:solidFill>
                  <a:schemeClr val="tx2"/>
                </a:solidFill>
                <a:latin typeface="Consolas" pitchFamily="34" charset="0"/>
                <a:ea typeface="Consolas" pitchFamily="34" charset="-122"/>
                <a:cs typeface="Consolas" pitchFamily="34" charset="-120"/>
              </a:rPr>
              <a:t>Done</a:t>
            </a:r>
            <a:endParaRPr lang="en-US" sz="1700" dirty="0"/>
          </a:p>
        </p:txBody>
      </p:sp>
      <p:sp>
        <p:nvSpPr>
          <p:cNvPr id="10" name="Option B"/>
          <p:cNvSpPr/>
          <p:nvPr/>
        </p:nvSpPr>
        <p:spPr>
          <a:xfrm>
            <a:off x="548640" y="4005072"/>
            <a:ext cx="5623560" cy="594360"/>
          </a:xfrm>
          <a:prstGeom prst="roundRect">
            <a:avLst>
              <a:gd name="adj" fmla="val 18462"/>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409194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2" name="Option B text"/>
          <p:cNvSpPr txBox="1"/>
          <p:nvPr/>
        </p:nvSpPr>
        <p:spPr>
          <a:xfrm>
            <a:off x="1371600" y="4005072"/>
            <a:ext cx="4572000" cy="59436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No such position</a:t>
            </a:r>
            <a:r>
              <a:rPr lang="en-US" sz="1700" dirty="0">
                <a:solidFill>
                  <a:schemeClr val="tx2"/>
                </a:solidFill>
              </a:rPr>
              <a:t> and </a:t>
            </a:r>
            <a:r>
              <a:rPr lang="en-US" sz="1700" dirty="0">
                <a:solidFill>
                  <a:schemeClr val="tx2"/>
                </a:solidFill>
                <a:latin typeface="Consolas" pitchFamily="34" charset="0"/>
                <a:ea typeface="Consolas" pitchFamily="34" charset="-122"/>
                <a:cs typeface="Consolas" pitchFamily="34" charset="-120"/>
              </a:rPr>
              <a:t>Done</a:t>
            </a:r>
            <a:endParaRPr lang="en-US" sz="1700" dirty="0"/>
          </a:p>
        </p:txBody>
      </p:sp>
      <p:sp>
        <p:nvSpPr>
          <p:cNvPr id="13" name="Option C"/>
          <p:cNvSpPr/>
          <p:nvPr/>
        </p:nvSpPr>
        <p:spPr>
          <a:xfrm>
            <a:off x="548640" y="4745736"/>
            <a:ext cx="5623560" cy="594360"/>
          </a:xfrm>
          <a:prstGeom prst="roundRect">
            <a:avLst>
              <a:gd name="adj" fmla="val 18462"/>
            </a:avLst>
          </a:prstGeom>
          <a:solidFill>
            <a:schemeClr val="bg1"/>
          </a:solidFill>
          <a:ln/>
          <a:effectLst>
            <a:outerShdw sx="100000" sy="100000" kx="0" ky="0" algn="bl" rotWithShape="0" blurRad="76200" dist="19050" dir="5400000">
              <a:srgbClr val="1D2433">
                <a:alpha val="8000"/>
              </a:srgbClr>
            </a:outerShdw>
          </a:effectLst>
        </p:spPr>
      </p:sp>
      <p:sp>
        <p:nvSpPr>
          <p:cNvPr id="14" name="Letter C"/>
          <p:cNvSpPr/>
          <p:nvPr/>
        </p:nvSpPr>
        <p:spPr>
          <a:xfrm>
            <a:off x="749808" y="483260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5" name="Option C text"/>
          <p:cNvSpPr txBox="1"/>
          <p:nvPr/>
        </p:nvSpPr>
        <p:spPr>
          <a:xfrm>
            <a:off x="1371600" y="4745736"/>
            <a:ext cx="4572000" cy="59436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Can't divide by zero</a:t>
            </a:r>
            <a:r>
              <a:rPr lang="en-US" sz="1700" dirty="0">
                <a:solidFill>
                  <a:schemeClr val="tx2"/>
                </a:solidFill>
              </a:rPr>
              <a:t> only</a:t>
            </a:r>
            <a:endParaRPr lang="en-US" sz="1700" dirty="0"/>
          </a:p>
        </p:txBody>
      </p:sp>
      <p:sp>
        <p:nvSpPr>
          <p:cNvPr id="16" name="Option D (correct)"/>
          <p:cNvSpPr/>
          <p:nvPr/>
        </p:nvSpPr>
        <p:spPr>
          <a:xfrm>
            <a:off x="548640" y="5486400"/>
            <a:ext cx="5623560" cy="594360"/>
          </a:xfrm>
          <a:prstGeom prst="roundRect">
            <a:avLst>
              <a:gd name="adj" fmla="val 18462"/>
            </a:avLst>
          </a:prstGeom>
          <a:solidFill>
            <a:schemeClr val="accent3"/>
          </a:solidFill>
          <a:ln/>
          <a:effectLst>
            <a:outerShdw sx="100000" sy="100000" kx="0" ky="0" algn="bl" rotWithShape="0" blurRad="114300" dist="31750" dir="5400000">
              <a:srgbClr val="1D2433">
                <a:alpha val="12000"/>
              </a:srgbClr>
            </a:outerShdw>
          </a:effectLst>
        </p:spPr>
      </p:sp>
      <p:sp>
        <p:nvSpPr>
          <p:cNvPr id="17" name="Letter D"/>
          <p:cNvSpPr/>
          <p:nvPr/>
        </p:nvSpPr>
        <p:spPr>
          <a:xfrm>
            <a:off x="749808" y="5573268"/>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8" name="Option D text"/>
          <p:cNvSpPr txBox="1"/>
          <p:nvPr/>
        </p:nvSpPr>
        <p:spPr>
          <a:xfrm>
            <a:off x="1371600" y="5486400"/>
            <a:ext cx="4233672" cy="594360"/>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Can't divide by zero</a:t>
            </a:r>
            <a:r>
              <a:rPr lang="en-US" sz="1700" b="1" dirty="0">
                <a:solidFill>
                  <a:schemeClr val="bg1"/>
                </a:solidFill>
              </a:rPr>
              <a:t> and </a:t>
            </a:r>
            <a:r>
              <a:rPr lang="en-US" sz="1700" b="1" dirty="0">
                <a:solidFill>
                  <a:schemeClr val="bg1"/>
                </a:solidFill>
                <a:latin typeface="Consolas" pitchFamily="34" charset="0"/>
                <a:ea typeface="Consolas" pitchFamily="34" charset="-122"/>
                <a:cs typeface="Consolas" pitchFamily="34" charset="-120"/>
              </a:rPr>
              <a:t>Done</a:t>
            </a:r>
            <a:endParaRPr lang="en-US" sz="1700" dirty="0"/>
          </a:p>
        </p:txBody>
      </p:sp>
      <p:pic>
        <p:nvPicPr>
          <p:cNvPr id="19" name="Image 0" descr="Correct mark">    </p:cNvPr>
          <p:cNvPicPr>
            <a:picLocks noChangeAspect="1"/>
          </p:cNvPicPr>
          <p:nvPr/>
        </p:nvPicPr>
        <p:blipFill>
          <a:blip r:embed="rId1"/>
          <a:stretch>
            <a:fillRect/>
          </a:stretch>
        </p:blipFill>
        <p:spPr>
          <a:xfrm>
            <a:off x="5623560" y="5600700"/>
            <a:ext cx="365760" cy="365760"/>
          </a:xfrm>
          <a:prstGeom prst="rect">
            <a:avLst/>
          </a:prstGeom>
        </p:spPr>
      </p:pic>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nums[0]</a:t>
            </a:r>
            <a:r>
              <a:rPr lang="en-US" sz="1800" dirty="0">
                <a:solidFill>
                  <a:schemeClr val="tx1"/>
                </a:solidFill>
              </a:rPr>
              <a:t> is 10, so the array part works. Then </a:t>
            </a:r>
            <a:r>
              <a:rPr lang="en-US" sz="1800" dirty="0">
                <a:solidFill>
                  <a:schemeClr val="accent2"/>
                </a:solidFill>
                <a:latin typeface="Consolas" pitchFamily="34" charset="0"/>
                <a:ea typeface="Consolas" pitchFamily="34" charset="-122"/>
                <a:cs typeface="Consolas" pitchFamily="34" charset="-120"/>
              </a:rPr>
              <a:t>10 / 0</a:t>
            </a:r>
            <a:r>
              <a:rPr lang="en-US" sz="1800" dirty="0">
                <a:solidFill>
                  <a:schemeClr val="tx1"/>
                </a:solidFill>
              </a:rPr>
              <a:t> throws an </a:t>
            </a:r>
            <a:r>
              <a:rPr lang="en-US" sz="1800" dirty="0">
                <a:solidFill>
                  <a:schemeClr val="accent2"/>
                </a:solidFill>
                <a:latin typeface="Consolas" pitchFamily="34" charset="0"/>
                <a:ea typeface="Consolas" pitchFamily="34" charset="-122"/>
                <a:cs typeface="Consolas" pitchFamily="34" charset="-120"/>
              </a:rPr>
              <a:t>ArithmeticException</a:t>
            </a:r>
            <a:r>
              <a:rPr lang="en-US" sz="1800" dirty="0">
                <a:solidFill>
                  <a:schemeClr val="tx1"/>
                </a:solidFill>
              </a:rPr>
              <a:t>. Java skips the first catch, which doesn’t match, runs the second, and then finally prints </a:t>
            </a:r>
            <a:r>
              <a:rPr lang="en-US" sz="1800" dirty="0">
                <a:solidFill>
                  <a:schemeClr val="accent2"/>
                </a:solidFill>
                <a:latin typeface="Consolas" pitchFamily="34" charset="0"/>
                <a:ea typeface="Consolas" pitchFamily="34" charset="-122"/>
                <a:cs typeface="Consolas" pitchFamily="34" charset="-120"/>
              </a:rPr>
              <a:t>Done</a:t>
            </a:r>
            <a:r>
              <a:rPr lang="en-US" sz="1800" dirty="0">
                <a:solidFill>
                  <a:schemeClr val="tx1"/>
                </a:solidFill>
              </a:rPr>
              <a:t>, as it always does.</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11</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Several catch blocks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Why won’t this code compile?</a:t>
            </a:r>
            <a:endParaRPr lang="en-US" sz="2800" dirty="0"/>
          </a:p>
        </p:txBody>
      </p:sp>
      <p:sp>
        <p:nvSpPr>
          <p:cNvPr id="5" name="Question code card"/>
          <p:cNvSpPr/>
          <p:nvPr/>
        </p:nvSpPr>
        <p:spPr>
          <a:xfrm>
            <a:off x="548640" y="2722626"/>
            <a:ext cx="6035040" cy="2510028"/>
          </a:xfrm>
          <a:prstGeom prst="roundRect">
            <a:avLst>
              <a:gd name="adj" fmla="val 4372"/>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bel"/>
          <p:cNvSpPr txBox="1"/>
          <p:nvPr/>
        </p:nvSpPr>
        <p:spPr>
          <a:xfrm>
            <a:off x="822960" y="2841498"/>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Question code text"/>
          <p:cNvSpPr txBox="1"/>
          <p:nvPr/>
        </p:nvSpPr>
        <p:spPr>
          <a:xfrm>
            <a:off x="822960" y="3216402"/>
            <a:ext cx="5486400" cy="1815084"/>
          </a:xfrm>
          <a:prstGeom prst="rect">
            <a:avLst/>
          </a:prstGeom>
          <a:noFill/>
          <a:ln/>
        </p:spPr>
        <p:txBody>
          <a:bodyPr wrap="square" lIns="0" tIns="0" rIns="0" bIns="0" rtlCol="0" anchor="t"/>
          <a:lstStyle/>
          <a:p>
            <a:pPr indent="0" marL="0">
              <a:lnSpc>
                <a:spcPts val="1980"/>
              </a:lnSpc>
              <a:buNone/>
            </a:pPr>
            <a:r>
              <a:rPr lang="en-US" sz="1500" dirty="0">
                <a:solidFill>
                  <a:srgbClr val="FF9F5A"/>
                </a:solidFill>
                <a:latin typeface="Consolas" pitchFamily="34" charset="0"/>
                <a:ea typeface="Consolas" pitchFamily="34" charset="-122"/>
                <a:cs typeface="Consolas" pitchFamily="34" charset="-120"/>
              </a:rPr>
              <a:t>try </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F9F5A"/>
                </a:solidFill>
                <a:latin typeface="Consolas" pitchFamily="34" charset="0"/>
                <a:ea typeface="Consolas" pitchFamily="34" charset="-122"/>
                <a:cs typeface="Consolas" pitchFamily="34" charset="-120"/>
              </a:rPr>
              <a:t>int </a:t>
            </a:r>
            <a:r>
              <a:rPr lang="en-US" sz="1500" dirty="0">
                <a:solidFill>
                  <a:srgbClr val="E6EBF2"/>
                </a:solidFill>
                <a:latin typeface="Consolas" pitchFamily="34" charset="0"/>
                <a:ea typeface="Consolas" pitchFamily="34" charset="-122"/>
                <a:cs typeface="Consolas" pitchFamily="34" charset="-120"/>
              </a:rPr>
              <a:t>x = </a:t>
            </a:r>
            <a:r>
              <a:rPr lang="en-US" sz="1500" dirty="0">
                <a:solidFill>
                  <a:srgbClr val="F2C14E"/>
                </a:solidFill>
                <a:latin typeface="Consolas" pitchFamily="34" charset="0"/>
                <a:ea typeface="Consolas" pitchFamily="34" charset="-122"/>
                <a:cs typeface="Consolas" pitchFamily="34" charset="-120"/>
              </a:rPr>
              <a:t>10 </a:t>
            </a: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2C14E"/>
                </a:solidFill>
                <a:latin typeface="Consolas" pitchFamily="34" charset="0"/>
                <a:ea typeface="Consolas" pitchFamily="34" charset="-122"/>
                <a:cs typeface="Consolas" pitchFamily="34" charset="-120"/>
              </a:rPr>
              <a:t>0</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F9F5A"/>
                </a:solidFill>
                <a:latin typeface="Consolas" pitchFamily="34" charset="0"/>
                <a:ea typeface="Consolas" pitchFamily="34" charset="-122"/>
                <a:cs typeface="Consolas" pitchFamily="34" charset="-120"/>
              </a:rPr>
              <a:t>catch </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6CC4E8"/>
                </a:solidFill>
                <a:latin typeface="Consolas" pitchFamily="34" charset="0"/>
                <a:ea typeface="Consolas" pitchFamily="34" charset="-122"/>
                <a:cs typeface="Consolas" pitchFamily="34" charset="-120"/>
              </a:rPr>
              <a:t>Exception </a:t>
            </a:r>
            <a:r>
              <a:rPr lang="en-US" sz="1500" dirty="0">
                <a:solidFill>
                  <a:srgbClr val="E6EBF2"/>
                </a:solidFill>
                <a:latin typeface="Consolas" pitchFamily="34" charset="0"/>
                <a:ea typeface="Consolas" pitchFamily="34" charset="-122"/>
                <a:cs typeface="Consolas" pitchFamily="34" charset="-120"/>
              </a:rPr>
              <a:t>e) {</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6CC4E8"/>
                </a:solidFill>
                <a:latin typeface="Consolas" pitchFamily="34" charset="0"/>
                <a:ea typeface="Consolas" pitchFamily="34" charset="-122"/>
                <a:cs typeface="Consolas" pitchFamily="34" charset="-120"/>
              </a:rPr>
              <a:t>System</a:t>
            </a:r>
            <a:r>
              <a:rPr lang="en-US" sz="1500" dirty="0">
                <a:solidFill>
                  <a:srgbClr val="E6EBF2"/>
                </a:solidFill>
                <a:latin typeface="Consolas" pitchFamily="34" charset="0"/>
                <a:ea typeface="Consolas" pitchFamily="34" charset="-122"/>
                <a:cs typeface="Consolas" pitchFamily="34" charset="-120"/>
              </a:rPr>
              <a:t>.out.</a:t>
            </a:r>
            <a:r>
              <a:rPr lang="en-US" sz="1500" dirty="0">
                <a:solidFill>
                  <a:srgbClr val="C9B0FF"/>
                </a:solidFill>
                <a:latin typeface="Consolas" pitchFamily="34" charset="0"/>
                <a:ea typeface="Consolas" pitchFamily="34" charset="-122"/>
                <a:cs typeface="Consolas" pitchFamily="34" charset="-120"/>
              </a:rPr>
              <a:t>println</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A9DB8C"/>
                </a:solidFill>
                <a:latin typeface="Consolas" pitchFamily="34" charset="0"/>
                <a:ea typeface="Consolas" pitchFamily="34" charset="-122"/>
                <a:cs typeface="Consolas" pitchFamily="34" charset="-120"/>
              </a:rPr>
              <a:t>"Something went wrong"</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FF9F5A"/>
                </a:solidFill>
                <a:latin typeface="Consolas" pitchFamily="34" charset="0"/>
                <a:ea typeface="Consolas" pitchFamily="34" charset="-122"/>
                <a:cs typeface="Consolas" pitchFamily="34" charset="-120"/>
              </a:rPr>
              <a:t>catch </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6CC4E8"/>
                </a:solidFill>
                <a:latin typeface="Consolas" pitchFamily="34" charset="0"/>
                <a:ea typeface="Consolas" pitchFamily="34" charset="-122"/>
                <a:cs typeface="Consolas" pitchFamily="34" charset="-120"/>
              </a:rPr>
              <a:t>ArithmeticException </a:t>
            </a:r>
            <a:r>
              <a:rPr lang="en-US" sz="1500" dirty="0">
                <a:solidFill>
                  <a:srgbClr val="E6EBF2"/>
                </a:solidFill>
                <a:latin typeface="Consolas" pitchFamily="34" charset="0"/>
                <a:ea typeface="Consolas" pitchFamily="34" charset="-122"/>
                <a:cs typeface="Consolas" pitchFamily="34" charset="-120"/>
              </a:rPr>
              <a:t>e) {</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    </a:t>
            </a:r>
            <a:r>
              <a:rPr lang="en-US" sz="1500" dirty="0">
                <a:solidFill>
                  <a:srgbClr val="6CC4E8"/>
                </a:solidFill>
                <a:latin typeface="Consolas" pitchFamily="34" charset="0"/>
                <a:ea typeface="Consolas" pitchFamily="34" charset="-122"/>
                <a:cs typeface="Consolas" pitchFamily="34" charset="-120"/>
              </a:rPr>
              <a:t>System</a:t>
            </a:r>
            <a:r>
              <a:rPr lang="en-US" sz="1500" dirty="0">
                <a:solidFill>
                  <a:srgbClr val="E6EBF2"/>
                </a:solidFill>
                <a:latin typeface="Consolas" pitchFamily="34" charset="0"/>
                <a:ea typeface="Consolas" pitchFamily="34" charset="-122"/>
                <a:cs typeface="Consolas" pitchFamily="34" charset="-120"/>
              </a:rPr>
              <a:t>.out.</a:t>
            </a:r>
            <a:r>
              <a:rPr lang="en-US" sz="1500" dirty="0">
                <a:solidFill>
                  <a:srgbClr val="C9B0FF"/>
                </a:solidFill>
                <a:latin typeface="Consolas" pitchFamily="34" charset="0"/>
                <a:ea typeface="Consolas" pitchFamily="34" charset="-122"/>
                <a:cs typeface="Consolas" pitchFamily="34" charset="-120"/>
              </a:rPr>
              <a:t>println</a:t>
            </a:r>
            <a:r>
              <a:rPr lang="en-US" sz="1500" dirty="0">
                <a:solidFill>
                  <a:srgbClr val="E6EBF2"/>
                </a:solidFill>
                <a:latin typeface="Consolas" pitchFamily="34" charset="0"/>
                <a:ea typeface="Consolas" pitchFamily="34" charset="-122"/>
                <a:cs typeface="Consolas" pitchFamily="34" charset="-120"/>
              </a:rPr>
              <a:t>(</a:t>
            </a:r>
            <a:r>
              <a:rPr lang="en-US" sz="1500" dirty="0">
                <a:solidFill>
                  <a:srgbClr val="A9DB8C"/>
                </a:solidFill>
                <a:latin typeface="Consolas" pitchFamily="34" charset="0"/>
                <a:ea typeface="Consolas" pitchFamily="34" charset="-122"/>
                <a:cs typeface="Consolas" pitchFamily="34" charset="-120"/>
              </a:rPr>
              <a:t>"Can't divide by zero"</a:t>
            </a:r>
            <a:r>
              <a:rPr lang="en-US" sz="1500" dirty="0">
                <a:solidFill>
                  <a:srgbClr val="E6EBF2"/>
                </a:solidFill>
                <a:latin typeface="Consolas" pitchFamily="34" charset="0"/>
                <a:ea typeface="Consolas" pitchFamily="34" charset="-122"/>
                <a:cs typeface="Consolas" pitchFamily="34" charset="-120"/>
              </a:rPr>
              <a:t>);</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a:t>
            </a:r>
            <a:endParaRPr lang="en-US" sz="15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US" sz="1800" dirty="0">
                <a:solidFill>
                  <a:schemeClr val="accent2"/>
                </a:solidFill>
                <a:latin typeface="Consolas" pitchFamily="34" charset="0"/>
                <a:ea typeface="Consolas" pitchFamily="34" charset="-122"/>
                <a:cs typeface="Consolas" pitchFamily="34" charset="-120"/>
              </a:rPr>
              <a:t>ArithmeticException</a:t>
            </a:r>
            <a:r>
              <a:rPr lang="en-US" sz="1800" dirty="0">
                <a:solidFill>
                  <a:schemeClr val="tx1"/>
                </a:solidFill>
              </a:rPr>
              <a:t> can’t be caught</a:t>
            </a:r>
            <a:endParaRPr lang="en-US" sz="18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US" sz="1800" dirty="0">
                <a:solidFill>
                  <a:schemeClr val="tx1"/>
                </a:solidFill>
              </a:rPr>
              <a:t>Exception comes first, so the second catch can never run</a:t>
            </a:r>
            <a:endParaRPr lang="en-US" sz="18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US" sz="1800" dirty="0">
                <a:solidFill>
                  <a:schemeClr val="tx1"/>
                </a:solidFill>
              </a:rPr>
              <a:t>Two catch blocks can’t both use the name </a:t>
            </a:r>
            <a:r>
              <a:rPr lang="en-US" sz="1800" dirty="0">
                <a:solidFill>
                  <a:schemeClr val="accent2"/>
                </a:solidFill>
                <a:latin typeface="Consolas" pitchFamily="34" charset="0"/>
                <a:ea typeface="Consolas" pitchFamily="34" charset="-122"/>
                <a:cs typeface="Consolas" pitchFamily="34" charset="-120"/>
              </a:rPr>
              <a:t>e</a:t>
            </a:r>
            <a:endParaRPr lang="en-US" sz="18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US" sz="1800" dirty="0">
                <a:solidFill>
                  <a:schemeClr val="tx1"/>
                </a:solidFill>
              </a:rPr>
              <a:t>Every try needs a finally block</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11</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Several catch blocks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Why won’t this code compile?</a:t>
            </a:r>
            <a:endParaRPr lang="en-US" sz="2000" dirty="0"/>
          </a:p>
        </p:txBody>
      </p:sp>
      <p:sp>
        <p:nvSpPr>
          <p:cNvPr id="5" name="Answer code card"/>
          <p:cNvSpPr/>
          <p:nvPr/>
        </p:nvSpPr>
        <p:spPr>
          <a:xfrm>
            <a:off x="548640" y="1874520"/>
            <a:ext cx="5623560" cy="1504950"/>
          </a:xfrm>
          <a:prstGeom prst="roundRect">
            <a:avLst>
              <a:gd name="adj" fmla="val 7291"/>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1102614"/>
          </a:xfrm>
          <a:prstGeom prst="rect">
            <a:avLst/>
          </a:prstGeom>
          <a:noFill/>
          <a:ln/>
        </p:spPr>
        <p:txBody>
          <a:bodyPr wrap="square" lIns="0" tIns="0" rIns="0" bIns="0" rtlCol="0" anchor="t"/>
          <a:lstStyle/>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FF9F5A"/>
                </a:solidFill>
                <a:latin typeface="Consolas" pitchFamily="34" charset="0"/>
                <a:ea typeface="Consolas" pitchFamily="34" charset="-122"/>
                <a:cs typeface="Consolas" pitchFamily="34" charset="-120"/>
              </a:rPr>
              <a:t>catch </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6CC4E8"/>
                </a:solidFill>
                <a:latin typeface="Consolas" pitchFamily="34" charset="0"/>
                <a:ea typeface="Consolas" pitchFamily="34" charset="-122"/>
                <a:cs typeface="Consolas" pitchFamily="34" charset="-120"/>
              </a:rPr>
              <a:t>ArithmeticException </a:t>
            </a:r>
            <a:r>
              <a:rPr lang="en-US" sz="1250" dirty="0">
                <a:solidFill>
                  <a:srgbClr val="E6EBF2"/>
                </a:solidFill>
                <a:latin typeface="Consolas" pitchFamily="34" charset="0"/>
                <a:ea typeface="Consolas" pitchFamily="34" charset="-122"/>
                <a:cs typeface="Consolas" pitchFamily="34" charset="-120"/>
              </a:rPr>
              <a:t>e) {   </a:t>
            </a:r>
            <a:r>
              <a:rPr lang="en-US" sz="1250" i="1" dirty="0">
                <a:solidFill>
                  <a:srgbClr val="A3AEC2"/>
                </a:solidFill>
                <a:latin typeface="Consolas" pitchFamily="34" charset="0"/>
                <a:ea typeface="Consolas" pitchFamily="34" charset="-122"/>
                <a:cs typeface="Consolas" pitchFamily="34" charset="-120"/>
              </a:rPr>
              <a:t>// specific first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FF9F5A"/>
                </a:solidFill>
                <a:latin typeface="Consolas" pitchFamily="34" charset="0"/>
                <a:ea typeface="Consolas" pitchFamily="34" charset="-122"/>
                <a:cs typeface="Consolas" pitchFamily="34" charset="-120"/>
              </a:rPr>
              <a:t>catch </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6CC4E8"/>
                </a:solidFill>
                <a:latin typeface="Consolas" pitchFamily="34" charset="0"/>
                <a:ea typeface="Consolas" pitchFamily="34" charset="-122"/>
                <a:cs typeface="Consolas" pitchFamily="34" charset="-120"/>
              </a:rPr>
              <a:t>Exception </a:t>
            </a:r>
            <a:r>
              <a:rPr lang="en-US" sz="1250" dirty="0">
                <a:solidFill>
                  <a:srgbClr val="E6EBF2"/>
                </a:solidFill>
                <a:latin typeface="Consolas" pitchFamily="34" charset="0"/>
                <a:ea typeface="Consolas" pitchFamily="34" charset="-122"/>
                <a:cs typeface="Consolas" pitchFamily="34" charset="-120"/>
              </a:rPr>
              <a:t>e) {             </a:t>
            </a:r>
            <a:r>
              <a:rPr lang="en-US" sz="1250" i="1" dirty="0">
                <a:solidFill>
                  <a:srgbClr val="A3AEC2"/>
                </a:solidFill>
                <a:latin typeface="Consolas" pitchFamily="34" charset="0"/>
                <a:ea typeface="Consolas" pitchFamily="34" charset="-122"/>
                <a:cs typeface="Consolas" pitchFamily="34" charset="-120"/>
              </a:rPr>
              <a:t>// general last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a:t>
            </a:r>
            <a:endParaRPr lang="en-US" sz="1250" dirty="0"/>
          </a:p>
        </p:txBody>
      </p:sp>
      <p:sp>
        <p:nvSpPr>
          <p:cNvPr id="7" name="Option A"/>
          <p:cNvSpPr/>
          <p:nvPr/>
        </p:nvSpPr>
        <p:spPr>
          <a:xfrm>
            <a:off x="548640" y="3608070"/>
            <a:ext cx="5623560" cy="508445"/>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65198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9" name="Option A text"/>
          <p:cNvSpPr txBox="1"/>
          <p:nvPr/>
        </p:nvSpPr>
        <p:spPr>
          <a:xfrm>
            <a:off x="1371600" y="3608070"/>
            <a:ext cx="4572000" cy="508445"/>
          </a:xfrm>
          <a:prstGeom prst="rect">
            <a:avLst/>
          </a:prstGeom>
          <a:noFill/>
          <a:ln/>
        </p:spPr>
        <p:txBody>
          <a:bodyPr wrap="square" lIns="0" tIns="0" rIns="0" bIns="0" rtlCol="0" anchor="ctr"/>
          <a:lstStyle/>
          <a:p>
            <a:pPr indent="0" marL="0">
              <a:buNone/>
            </a:pPr>
            <a:r>
              <a:rPr lang="en-US" sz="1500" dirty="0">
                <a:solidFill>
                  <a:schemeClr val="tx2"/>
                </a:solidFill>
                <a:latin typeface="Consolas" pitchFamily="34" charset="0"/>
                <a:ea typeface="Consolas" pitchFamily="34" charset="-122"/>
                <a:cs typeface="Consolas" pitchFamily="34" charset="-120"/>
              </a:rPr>
              <a:t>ArithmeticException</a:t>
            </a:r>
            <a:r>
              <a:rPr lang="en-US" sz="1500" dirty="0">
                <a:solidFill>
                  <a:schemeClr val="tx2"/>
                </a:solidFill>
              </a:rPr>
              <a:t> can’t be caught</a:t>
            </a:r>
            <a:endParaRPr lang="en-US" sz="1500" dirty="0"/>
          </a:p>
        </p:txBody>
      </p:sp>
      <p:sp>
        <p:nvSpPr>
          <p:cNvPr id="10" name="Option B (correct)"/>
          <p:cNvSpPr/>
          <p:nvPr/>
        </p:nvSpPr>
        <p:spPr>
          <a:xfrm>
            <a:off x="548640" y="4262819"/>
            <a:ext cx="5623560" cy="508445"/>
          </a:xfrm>
          <a:prstGeom prst="roundRect">
            <a:avLst>
              <a:gd name="adj" fmla="val 19000"/>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4306729"/>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2" name="Option B text"/>
          <p:cNvSpPr txBox="1"/>
          <p:nvPr/>
        </p:nvSpPr>
        <p:spPr>
          <a:xfrm>
            <a:off x="1371600" y="4262819"/>
            <a:ext cx="4233672" cy="508445"/>
          </a:xfrm>
          <a:prstGeom prst="rect">
            <a:avLst/>
          </a:prstGeom>
          <a:noFill/>
          <a:ln/>
        </p:spPr>
        <p:txBody>
          <a:bodyPr wrap="square" lIns="0" tIns="0" rIns="0" bIns="0" rtlCol="0" anchor="ctr"/>
          <a:lstStyle/>
          <a:p>
            <a:pPr indent="0" marL="0">
              <a:buNone/>
            </a:pPr>
            <a:r>
              <a:rPr lang="en-US" sz="1500" b="1" dirty="0">
                <a:solidFill>
                  <a:schemeClr val="bg1"/>
                </a:solidFill>
              </a:rPr>
              <a:t>Exception comes first, so the second catch can never run</a:t>
            </a:r>
            <a:endParaRPr lang="en-US" sz="1500" dirty="0"/>
          </a:p>
        </p:txBody>
      </p:sp>
      <p:pic>
        <p:nvPicPr>
          <p:cNvPr id="13" name="Image 0" descr="Correct mark">    </p:cNvPr>
          <p:cNvPicPr>
            <a:picLocks noChangeAspect="1"/>
          </p:cNvPicPr>
          <p:nvPr/>
        </p:nvPicPr>
        <p:blipFill>
          <a:blip r:embed="rId1"/>
          <a:stretch>
            <a:fillRect/>
          </a:stretch>
        </p:blipFill>
        <p:spPr>
          <a:xfrm>
            <a:off x="5623560" y="4334161"/>
            <a:ext cx="365760" cy="365760"/>
          </a:xfrm>
          <a:prstGeom prst="rect">
            <a:avLst/>
          </a:prstGeom>
        </p:spPr>
      </p:pic>
      <p:sp>
        <p:nvSpPr>
          <p:cNvPr id="14" name="Option C"/>
          <p:cNvSpPr/>
          <p:nvPr/>
        </p:nvSpPr>
        <p:spPr>
          <a:xfrm>
            <a:off x="548640" y="4917567"/>
            <a:ext cx="5623560" cy="508445"/>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961477"/>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6" name="Option C text"/>
          <p:cNvSpPr txBox="1"/>
          <p:nvPr/>
        </p:nvSpPr>
        <p:spPr>
          <a:xfrm>
            <a:off x="1371600" y="4917567"/>
            <a:ext cx="4572000" cy="508445"/>
          </a:xfrm>
          <a:prstGeom prst="rect">
            <a:avLst/>
          </a:prstGeom>
          <a:noFill/>
          <a:ln/>
        </p:spPr>
        <p:txBody>
          <a:bodyPr wrap="square" lIns="0" tIns="0" rIns="0" bIns="0" rtlCol="0" anchor="ctr"/>
          <a:lstStyle/>
          <a:p>
            <a:pPr indent="0" marL="0">
              <a:buNone/>
            </a:pPr>
            <a:r>
              <a:rPr lang="en-US" sz="1500" dirty="0">
                <a:solidFill>
                  <a:schemeClr val="tx2"/>
                </a:solidFill>
              </a:rPr>
              <a:t>Two catch blocks can’t both use the name </a:t>
            </a:r>
            <a:r>
              <a:rPr lang="en-US" sz="1500" dirty="0">
                <a:solidFill>
                  <a:schemeClr val="tx2"/>
                </a:solidFill>
                <a:latin typeface="Consolas" pitchFamily="34" charset="0"/>
                <a:ea typeface="Consolas" pitchFamily="34" charset="-122"/>
                <a:cs typeface="Consolas" pitchFamily="34" charset="-120"/>
              </a:rPr>
              <a:t>e</a:t>
            </a:r>
            <a:endParaRPr lang="en-US" sz="1500" dirty="0"/>
          </a:p>
        </p:txBody>
      </p:sp>
      <p:sp>
        <p:nvSpPr>
          <p:cNvPr id="17" name="Option D"/>
          <p:cNvSpPr/>
          <p:nvPr/>
        </p:nvSpPr>
        <p:spPr>
          <a:xfrm>
            <a:off x="548640" y="5572316"/>
            <a:ext cx="5623560" cy="508445"/>
          </a:xfrm>
          <a:prstGeom prst="roundRect">
            <a:avLst>
              <a:gd name="adj" fmla="val 19000"/>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61622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9" name="Option D text"/>
          <p:cNvSpPr txBox="1"/>
          <p:nvPr/>
        </p:nvSpPr>
        <p:spPr>
          <a:xfrm>
            <a:off x="1371600" y="5572316"/>
            <a:ext cx="4572000" cy="508445"/>
          </a:xfrm>
          <a:prstGeom prst="rect">
            <a:avLst/>
          </a:prstGeom>
          <a:noFill/>
          <a:ln/>
        </p:spPr>
        <p:txBody>
          <a:bodyPr wrap="square" lIns="0" tIns="0" rIns="0" bIns="0" rtlCol="0" anchor="ctr"/>
          <a:lstStyle/>
          <a:p>
            <a:pPr indent="0" marL="0">
              <a:buNone/>
            </a:pPr>
            <a:r>
              <a:rPr lang="en-US" sz="1500" dirty="0">
                <a:solidFill>
                  <a:schemeClr val="tx2"/>
                </a:solidFill>
              </a:rPr>
              <a:t>Every try needs a finally block</a:t>
            </a:r>
            <a:endParaRPr lang="en-US" sz="15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Exception</a:t>
            </a:r>
            <a:r>
              <a:rPr lang="en-US" sz="1800" dirty="0">
                <a:solidFill>
                  <a:schemeClr val="tx1"/>
                </a:solidFill>
              </a:rPr>
              <a:t> catches every exception, </a:t>
            </a:r>
            <a:r>
              <a:rPr lang="en-US" sz="1800" dirty="0">
                <a:solidFill>
                  <a:schemeClr val="accent2"/>
                </a:solidFill>
                <a:latin typeface="Consolas" pitchFamily="34" charset="0"/>
                <a:ea typeface="Consolas" pitchFamily="34" charset="-122"/>
                <a:cs typeface="Consolas" pitchFamily="34" charset="-120"/>
              </a:rPr>
              <a:t>ArithmeticException</a:t>
            </a:r>
            <a:r>
              <a:rPr lang="en-US" sz="1800" dirty="0">
                <a:solidFill>
                  <a:schemeClr val="tx1"/>
                </a:solidFill>
              </a:rPr>
              <a:t> included, so the second catch could never run. Java treats that as a mistake: exception ArithmeticException has already been caught. Swap them, so the specific catch comes first.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US" sz="9600" b="1" dirty="0">
                <a:solidFill>
                  <a:schemeClr val="accent1"/>
                </a:solidFill>
              </a:rPr>
              <a:t>03</a:t>
            </a: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US" sz="3400" b="1" dirty="0">
                <a:solidFill>
                  <a:schemeClr val="bg1"/>
                </a:solidFill>
              </a:rPr>
              <a:t>throw, throws and custom exceptions</a:t>
            </a: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US" sz="2000" dirty="0">
                <a:solidFill>
                  <a:schemeClr val="bg2"/>
                </a:solidFill>
              </a:rPr>
              <a:t>Raising exceptions, passing them on, and making our own</a:t>
            </a:r>
            <a:endParaRPr lang="en-US" sz="2000" dirty="0"/>
          </a:p>
        </p:txBody>
      </p:sp>
      <p:sp>
        <p:nvSpPr>
          <p:cNvPr id="5" name="Topic chip"/>
          <p:cNvSpPr/>
          <p:nvPr/>
        </p:nvSpPr>
        <p:spPr>
          <a:xfrm>
            <a:off x="822960" y="4846320"/>
            <a:ext cx="86479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throw</a:t>
            </a:r>
            <a:endParaRPr lang="en-US" sz="1400" dirty="0"/>
          </a:p>
        </p:txBody>
      </p:sp>
      <p:sp>
        <p:nvSpPr>
          <p:cNvPr id="6" name="Topic chip"/>
          <p:cNvSpPr/>
          <p:nvPr/>
        </p:nvSpPr>
        <p:spPr>
          <a:xfrm>
            <a:off x="1834058" y="4846320"/>
            <a:ext cx="957285"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throws</a:t>
            </a:r>
            <a:endParaRPr lang="en-US" sz="1400" dirty="0"/>
          </a:p>
        </p:txBody>
      </p:sp>
      <p:sp>
        <p:nvSpPr>
          <p:cNvPr id="7" name="Topic chip"/>
          <p:cNvSpPr/>
          <p:nvPr/>
        </p:nvSpPr>
        <p:spPr>
          <a:xfrm>
            <a:off x="2937647" y="4846320"/>
            <a:ext cx="1604726"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Checked rules</a:t>
            </a:r>
            <a:endParaRPr lang="en-US" sz="1400" dirty="0"/>
          </a:p>
        </p:txBody>
      </p:sp>
      <p:sp>
        <p:nvSpPr>
          <p:cNvPr id="8" name="Topic chip"/>
          <p:cNvSpPr/>
          <p:nvPr/>
        </p:nvSpPr>
        <p:spPr>
          <a:xfrm>
            <a:off x="4688677" y="4846320"/>
            <a:ext cx="2067184"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Our own exceptions</a:t>
            </a:r>
            <a:endParaRPr lang="en-US" sz="1400" dirty="0"/>
          </a:p>
        </p:txBody>
      </p:sp>
      <p:pic>
        <p:nvPicPr>
          <p:cNvPr id="9" name="Image 0"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THROW, THROWS AND CUSTOM EXCEPTIONS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throw: raising an exception ourselves</a:t>
            </a:r>
            <a:endParaRPr lang="en-US" sz="3400" dirty="0"/>
          </a:p>
        </p:txBody>
      </p:sp>
      <p:sp>
        <p:nvSpPr>
          <p:cNvPr id="5" name="throw card"/>
          <p:cNvSpPr/>
          <p:nvPr/>
        </p:nvSpPr>
        <p:spPr>
          <a:xfrm>
            <a:off x="548640" y="1691640"/>
            <a:ext cx="6812280" cy="2493264"/>
          </a:xfrm>
          <a:prstGeom prst="roundRect">
            <a:avLst>
              <a:gd name="adj" fmla="val 4401"/>
            </a:avLst>
          </a:prstGeom>
          <a:solidFill>
            <a:schemeClr val="tx1"/>
          </a:solidFill>
          <a:ln/>
          <a:effectLst>
            <a:outerShdw sx="100000" sy="100000" kx="0" ky="0" algn="bl" rotWithShape="0" blurRad="114300" dist="31750" dir="5400000">
              <a:srgbClr val="1D2433">
                <a:alpha val="12000"/>
              </a:srgbClr>
            </a:outerShdw>
          </a:effectLst>
        </p:spPr>
      </p:sp>
      <p:sp>
        <p:nvSpPr>
          <p:cNvPr id="6" name="throw label"/>
          <p:cNvSpPr txBox="1"/>
          <p:nvPr/>
        </p:nvSpPr>
        <p:spPr>
          <a:xfrm>
            <a:off x="822960" y="1810512"/>
            <a:ext cx="626364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throw text"/>
          <p:cNvSpPr txBox="1"/>
          <p:nvPr/>
        </p:nvSpPr>
        <p:spPr>
          <a:xfrm>
            <a:off x="822960" y="2185416"/>
            <a:ext cx="6263640" cy="1798320"/>
          </a:xfrm>
          <a:prstGeom prst="rect">
            <a:avLst/>
          </a:prstGeom>
          <a:noFill/>
          <a:ln/>
        </p:spPr>
        <p:txBody>
          <a:bodyPr wrap="square" lIns="0" tIns="0" rIns="0" bIns="0" rtlCol="0" anchor="t"/>
          <a:lstStyle/>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public static void </a:t>
            </a:r>
            <a:r>
              <a:rPr lang="en-US" sz="1300" dirty="0">
                <a:solidFill>
                  <a:srgbClr val="C9B0FF"/>
                </a:solidFill>
                <a:latin typeface="Consolas" pitchFamily="34" charset="0"/>
                <a:ea typeface="Consolas" pitchFamily="34" charset="-122"/>
                <a:cs typeface="Consolas" pitchFamily="34" charset="-120"/>
              </a:rPr>
              <a:t>checkNum</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FF9F5A"/>
                </a:solidFill>
                <a:latin typeface="Consolas" pitchFamily="34" charset="0"/>
                <a:ea typeface="Consolas" pitchFamily="34" charset="-122"/>
                <a:cs typeface="Consolas" pitchFamily="34" charset="-120"/>
              </a:rPr>
              <a:t>int </a:t>
            </a:r>
            <a:r>
              <a:rPr lang="en-US" sz="1300" dirty="0">
                <a:solidFill>
                  <a:srgbClr val="E6EBF2"/>
                </a:solidFill>
                <a:latin typeface="Consolas" pitchFamily="34" charset="0"/>
                <a:ea typeface="Consolas" pitchFamily="34" charset="-122"/>
                <a:cs typeface="Consolas" pitchFamily="34" charset="-120"/>
              </a:rPr>
              <a:t>num) {</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if </a:t>
            </a:r>
            <a:r>
              <a:rPr lang="en-US" sz="1300" dirty="0">
                <a:solidFill>
                  <a:srgbClr val="E6EBF2"/>
                </a:solidFill>
                <a:latin typeface="Consolas" pitchFamily="34" charset="0"/>
                <a:ea typeface="Consolas" pitchFamily="34" charset="-122"/>
                <a:cs typeface="Consolas" pitchFamily="34" charset="-120"/>
              </a:rPr>
              <a:t>(num &lt; </a:t>
            </a:r>
            <a:r>
              <a:rPr lang="en-US" sz="1300" dirty="0">
                <a:solidFill>
                  <a:srgbClr val="F2C14E"/>
                </a:solidFill>
                <a:latin typeface="Consolas" pitchFamily="34" charset="0"/>
                <a:ea typeface="Consolas" pitchFamily="34" charset="-122"/>
                <a:cs typeface="Consolas" pitchFamily="34" charset="-120"/>
              </a:rPr>
              <a:t>1</a:t>
            </a:r>
            <a:r>
              <a:rPr lang="en-US" sz="1300" dirty="0">
                <a:solidFill>
                  <a:srgbClr val="E6EBF2"/>
                </a:solidFill>
                <a:latin typeface="Consolas" pitchFamily="34" charset="0"/>
                <a:ea typeface="Consolas" pitchFamily="34" charset="-122"/>
                <a:cs typeface="Consolas" pitchFamily="34" charset="-120"/>
              </a:rPr>
              <a:t>) {</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throw new </a:t>
            </a:r>
            <a:r>
              <a:rPr lang="en-US" sz="1300" dirty="0">
                <a:solidFill>
                  <a:srgbClr val="C9B0FF"/>
                </a:solidFill>
                <a:latin typeface="Consolas" pitchFamily="34" charset="0"/>
                <a:ea typeface="Consolas" pitchFamily="34" charset="-122"/>
                <a:cs typeface="Consolas" pitchFamily="34" charset="-120"/>
              </a:rPr>
              <a:t>ArithmeticException</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"Number is negative"</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 </a:t>
            </a:r>
            <a:r>
              <a:rPr lang="en-US" sz="1300" dirty="0">
                <a:solidFill>
                  <a:srgbClr val="FF9F5A"/>
                </a:solidFill>
                <a:latin typeface="Consolas" pitchFamily="34" charset="0"/>
                <a:ea typeface="Consolas" pitchFamily="34" charset="-122"/>
                <a:cs typeface="Consolas" pitchFamily="34" charset="-120"/>
              </a:rPr>
              <a:t>else </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"Square of " </a:t>
            </a:r>
            <a:r>
              <a:rPr lang="en-US" sz="1300" dirty="0">
                <a:solidFill>
                  <a:srgbClr val="E6EBF2"/>
                </a:solidFill>
                <a:latin typeface="Consolas" pitchFamily="34" charset="0"/>
                <a:ea typeface="Consolas" pitchFamily="34" charset="-122"/>
                <a:cs typeface="Consolas" pitchFamily="34" charset="-120"/>
              </a:rPr>
              <a:t>+ num</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 </a:t>
            </a:r>
            <a:r>
              <a:rPr lang="en-US" sz="1300" dirty="0">
                <a:solidFill>
                  <a:srgbClr val="A9DB8C"/>
                </a:solidFill>
                <a:latin typeface="Consolas" pitchFamily="34" charset="0"/>
                <a:ea typeface="Consolas" pitchFamily="34" charset="-122"/>
                <a:cs typeface="Consolas" pitchFamily="34" charset="-120"/>
              </a:rPr>
              <a:t>" is " </a:t>
            </a:r>
            <a:r>
              <a:rPr lang="en-US" sz="1300" dirty="0">
                <a:solidFill>
                  <a:srgbClr val="E6EBF2"/>
                </a:solidFill>
                <a:latin typeface="Consolas" pitchFamily="34" charset="0"/>
                <a:ea typeface="Consolas" pitchFamily="34" charset="-122"/>
                <a:cs typeface="Consolas" pitchFamily="34" charset="-120"/>
              </a:rPr>
              <a:t>+ (num * num));</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a:t>
            </a:r>
            <a:endParaRPr lang="en-US" sz="1300" dirty="0"/>
          </a:p>
        </p:txBody>
      </p:sp>
      <p:sp>
        <p:nvSpPr>
          <p:cNvPr id="8" name="Text 5"/>
          <p:cNvSpPr txBox="1"/>
          <p:nvPr/>
        </p:nvSpPr>
        <p:spPr>
          <a:xfrm>
            <a:off x="7680960" y="1783080"/>
            <a:ext cx="3962095" cy="256032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We use </a:t>
            </a:r>
            <a:r>
              <a:rPr lang="en-US" sz="1700" b="1" dirty="0">
                <a:solidFill>
                  <a:schemeClr val="tx1"/>
                </a:solidFill>
              </a:rPr>
              <a:t>throw</a:t>
            </a:r>
            <a:r>
              <a:rPr lang="en-US" sz="1700" dirty="0">
                <a:solidFill>
                  <a:schemeClr val="tx1"/>
                </a:solidFill>
              </a:rPr>
              <a:t> with a new exception object to raise an exception ourselves.</a:t>
            </a:r>
            <a:endParaRPr lang="en-US" sz="1700" dirty="0"/>
          </a:p>
          <a:p>
            <a:pPr marL="228600" indent="-228600">
              <a:spcAft>
                <a:spcPts val="1000"/>
              </a:spcAft>
              <a:buSzPct val="100000"/>
              <a:buChar char="•"/>
            </a:pPr>
            <a:r>
              <a:rPr lang="en-US" sz="1700" dirty="0">
                <a:solidFill>
                  <a:schemeClr val="tx1"/>
                </a:solidFill>
              </a:rPr>
              <a:t>It tells Java something has gone wrong right here.</a:t>
            </a:r>
            <a:endParaRPr lang="en-US" sz="1700" dirty="0"/>
          </a:p>
          <a:p>
            <a:pPr marL="228600" indent="-228600">
              <a:buSzPct val="100000"/>
              <a:buChar char="•"/>
            </a:pPr>
            <a:r>
              <a:rPr lang="en-US" sz="1700" dirty="0">
                <a:solidFill>
                  <a:schemeClr val="tx1"/>
                </a:solidFill>
              </a:rPr>
              <a:t>If nothing catches it, the program stops and prints the error.</a:t>
            </a:r>
            <a:endParaRPr lang="en-US" sz="1700" dirty="0"/>
          </a:p>
        </p:txBody>
      </p:sp>
      <p:sp>
        <p:nvSpPr>
          <p:cNvPr id="9" name="Output card"/>
          <p:cNvSpPr/>
          <p:nvPr/>
        </p:nvSpPr>
        <p:spPr>
          <a:xfrm>
            <a:off x="548640" y="4434840"/>
            <a:ext cx="11094415" cy="1641348"/>
          </a:xfrm>
          <a:prstGeom prst="roundRect">
            <a:avLst>
              <a:gd name="adj" fmla="val 6685"/>
            </a:avLst>
          </a:prstGeom>
          <a:solidFill>
            <a:schemeClr val="tx1"/>
          </a:solidFill>
          <a:ln/>
          <a:effectLst>
            <a:outerShdw sx="100000" sy="100000" kx="0" ky="0" algn="bl" rotWithShape="0" blurRad="114300" dist="31750" dir="5400000">
              <a:srgbClr val="1D2433">
                <a:alpha val="12000"/>
              </a:srgbClr>
            </a:outerShdw>
          </a:effectLst>
        </p:spPr>
      </p:sp>
      <p:sp>
        <p:nvSpPr>
          <p:cNvPr id="10" name="Output label"/>
          <p:cNvSpPr txBox="1"/>
          <p:nvPr/>
        </p:nvSpPr>
        <p:spPr>
          <a:xfrm>
            <a:off x="822960" y="4553712"/>
            <a:ext cx="1054577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 checkNum(4), then checkNum(-3)</a:t>
            </a:r>
            <a:endParaRPr lang="en-US" sz="1050" dirty="0"/>
          </a:p>
        </p:txBody>
      </p:sp>
      <p:sp>
        <p:nvSpPr>
          <p:cNvPr id="11" name="Output text"/>
          <p:cNvSpPr txBox="1"/>
          <p:nvPr/>
        </p:nvSpPr>
        <p:spPr>
          <a:xfrm>
            <a:off x="822960" y="4928616"/>
            <a:ext cx="10545775" cy="946404"/>
          </a:xfrm>
          <a:prstGeom prst="rect">
            <a:avLst/>
          </a:prstGeom>
          <a:noFill/>
          <a:ln/>
        </p:spPr>
        <p:txBody>
          <a:bodyPr wrap="square" lIns="0" tIns="0" rIns="0" bIns="0" rtlCol="0" anchor="t"/>
          <a:lstStyle/>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Square of 4 is 16</a:t>
            </a:r>
            <a:endParaRPr lang="en-US" sz="1300" dirty="0"/>
          </a:p>
          <a:p>
            <a:pPr indent="0" marL="0">
              <a:lnSpc>
                <a:spcPts val="1760"/>
              </a:lnSpc>
              <a:buNone/>
            </a:pPr>
            <a:r>
              <a:rPr lang="en-US" sz="1300" dirty="0">
                <a:solidFill>
                  <a:srgbClr val="FF8A80"/>
                </a:solidFill>
                <a:latin typeface="Consolas" pitchFamily="34" charset="0"/>
                <a:ea typeface="Consolas" pitchFamily="34" charset="-122"/>
                <a:cs typeface="Consolas" pitchFamily="34" charset="-120"/>
              </a:rPr>
              <a:t>Exception in thread "main" java.lang.ArithmeticException: Number is negative</a:t>
            </a:r>
            <a:endParaRPr lang="en-US" sz="1300" dirty="0"/>
          </a:p>
          <a:p>
            <a:pPr indent="0" marL="0">
              <a:lnSpc>
                <a:spcPts val="1760"/>
              </a:lnSpc>
              <a:buNone/>
            </a:pPr>
            <a:r>
              <a:rPr lang="en-US" sz="1300" dirty="0">
                <a:solidFill>
                  <a:srgbClr val="FF8A80"/>
                </a:solidFill>
                <a:latin typeface="Consolas" pitchFamily="34" charset="0"/>
                <a:ea typeface="Consolas" pitchFamily="34" charset="-122"/>
                <a:cs typeface="Consolas" pitchFamily="34" charset="-120"/>
              </a:rPr>
              <a:t>    at Main.checkNum(Main.java:4)</a:t>
            </a:r>
            <a:endParaRPr lang="en-US" sz="1300" dirty="0"/>
          </a:p>
          <a:p>
            <a:pPr indent="0" marL="0">
              <a:lnSpc>
                <a:spcPts val="1760"/>
              </a:lnSpc>
              <a:buNone/>
            </a:pPr>
            <a:r>
              <a:rPr lang="en-US" sz="1300" dirty="0">
                <a:solidFill>
                  <a:srgbClr val="FF8A80"/>
                </a:solidFill>
                <a:latin typeface="Consolas" pitchFamily="34" charset="0"/>
                <a:ea typeface="Consolas" pitchFamily="34" charset="-122"/>
                <a:cs typeface="Consolas" pitchFamily="34" charset="-120"/>
              </a:rPr>
              <a:t>    at Main.main(Main.java:12)</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12</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throw</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Using </a:t>
            </a:r>
            <a:r>
              <a:rPr lang="en-US" sz="2800" b="1" dirty="0">
                <a:solidFill>
                  <a:schemeClr val="accent2"/>
                </a:solidFill>
                <a:latin typeface="Consolas" pitchFamily="34" charset="0"/>
                <a:ea typeface="Consolas" pitchFamily="34" charset="-122"/>
                <a:cs typeface="Consolas" pitchFamily="34" charset="-120"/>
              </a:rPr>
              <a:t>checkNum</a:t>
            </a:r>
            <a:r>
              <a:rPr lang="en-US" sz="2800" b="1" dirty="0">
                <a:solidFill>
                  <a:schemeClr val="tx1"/>
                </a:solidFill>
              </a:rPr>
              <a:t> from the last slide, what does </a:t>
            </a:r>
            <a:r>
              <a:rPr lang="en-US" sz="2800" b="1" dirty="0">
                <a:solidFill>
                  <a:schemeClr val="accent2"/>
                </a:solidFill>
                <a:latin typeface="Consolas" pitchFamily="34" charset="0"/>
                <a:ea typeface="Consolas" pitchFamily="34" charset="-122"/>
                <a:cs typeface="Consolas" pitchFamily="34" charset="-120"/>
              </a:rPr>
              <a:t>checkNum(0)</a:t>
            </a:r>
            <a:r>
              <a:rPr lang="en-US" sz="2800" b="1" dirty="0">
                <a:solidFill>
                  <a:schemeClr val="tx1"/>
                </a:solidFill>
              </a:rPr>
              <a:t> do?</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Throws an </a:t>
            </a:r>
            <a:r>
              <a:rPr lang="en-US" sz="2000" dirty="0">
                <a:solidFill>
                  <a:schemeClr val="accent2"/>
                </a:solidFill>
                <a:latin typeface="Consolas" pitchFamily="34" charset="0"/>
                <a:ea typeface="Consolas" pitchFamily="34" charset="-122"/>
                <a:cs typeface="Consolas" pitchFamily="34" charset="-120"/>
              </a:rPr>
              <a:t>ArithmeticException</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Prints </a:t>
            </a:r>
            <a:r>
              <a:rPr lang="en-US" sz="2000" dirty="0">
                <a:solidFill>
                  <a:schemeClr val="accent2"/>
                </a:solidFill>
                <a:latin typeface="Consolas" pitchFamily="34" charset="0"/>
                <a:ea typeface="Consolas" pitchFamily="34" charset="-122"/>
                <a:cs typeface="Consolas" pitchFamily="34" charset="-120"/>
              </a:rPr>
              <a:t>Square of 0 is 0</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Returns </a:t>
            </a:r>
            <a:r>
              <a:rPr lang="en-US" sz="2000" dirty="0">
                <a:solidFill>
                  <a:schemeClr val="accent2"/>
                </a:solidFill>
                <a:latin typeface="Consolas" pitchFamily="34" charset="0"/>
                <a:ea typeface="Consolas" pitchFamily="34" charset="-122"/>
                <a:cs typeface="Consolas" pitchFamily="34" charset="-120"/>
              </a:rPr>
              <a:t>false</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won’t compile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12</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throw</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Using </a:t>
            </a:r>
            <a:r>
              <a:rPr lang="en-US" sz="2000" b="1" dirty="0">
                <a:solidFill>
                  <a:schemeClr val="tx2"/>
                </a:solidFill>
                <a:latin typeface="Consolas" pitchFamily="34" charset="0"/>
                <a:ea typeface="Consolas" pitchFamily="34" charset="-122"/>
                <a:cs typeface="Consolas" pitchFamily="34" charset="-120"/>
              </a:rPr>
              <a:t>checkNum</a:t>
            </a:r>
            <a:r>
              <a:rPr lang="en-US" sz="2000" b="1" dirty="0">
                <a:solidFill>
                  <a:schemeClr val="tx2"/>
                </a:solidFill>
              </a:rPr>
              <a:t> from the last slide, what does </a:t>
            </a:r>
            <a:r>
              <a:rPr lang="en-US" sz="2000" b="1" dirty="0">
                <a:solidFill>
                  <a:schemeClr val="tx2"/>
                </a:solidFill>
                <a:latin typeface="Consolas" pitchFamily="34" charset="0"/>
                <a:ea typeface="Consolas" pitchFamily="34" charset="-122"/>
                <a:cs typeface="Consolas" pitchFamily="34" charset="-120"/>
              </a:rPr>
              <a:t>checkNum(0)</a:t>
            </a:r>
            <a:r>
              <a:rPr lang="en-US" sz="2000" b="1" dirty="0">
                <a:solidFill>
                  <a:schemeClr val="tx2"/>
                </a:solidFill>
              </a:rPr>
              <a:t> do?</a:t>
            </a:r>
            <a:endParaRPr lang="en-US"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7" name="Option A text"/>
          <p:cNvSpPr txBox="1"/>
          <p:nvPr/>
        </p:nvSpPr>
        <p:spPr>
          <a:xfrm>
            <a:off x="1371600" y="1874520"/>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Throws an </a:t>
            </a:r>
            <a:r>
              <a:rPr lang="en-US" sz="1700" b="1" dirty="0">
                <a:solidFill>
                  <a:schemeClr val="bg1"/>
                </a:solidFill>
                <a:latin typeface="Consolas" pitchFamily="34" charset="0"/>
                <a:ea typeface="Consolas" pitchFamily="34" charset="-122"/>
                <a:cs typeface="Consolas" pitchFamily="34" charset="-120"/>
              </a:rPr>
              <a:t>ArithmeticException</a:t>
            </a:r>
            <a:endParaRPr lang="en-US" sz="1700" dirty="0"/>
          </a:p>
        </p:txBody>
      </p:sp>
      <p:pic>
        <p:nvPicPr>
          <p:cNvPr id="8" name="Image 0"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Prints </a:t>
            </a:r>
            <a:r>
              <a:rPr lang="en-US" sz="1700" dirty="0">
                <a:solidFill>
                  <a:schemeClr val="tx2"/>
                </a:solidFill>
                <a:latin typeface="Consolas" pitchFamily="34" charset="0"/>
                <a:ea typeface="Consolas" pitchFamily="34" charset="-122"/>
                <a:cs typeface="Consolas" pitchFamily="34" charset="-120"/>
              </a:rPr>
              <a:t>Square of 0 is 0</a:t>
            </a:r>
            <a:endParaRPr lang="en-US"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Returns </a:t>
            </a:r>
            <a:r>
              <a:rPr lang="en-US" sz="1700" dirty="0">
                <a:solidFill>
                  <a:schemeClr val="tx2"/>
                </a:solidFill>
                <a:latin typeface="Consolas" pitchFamily="34" charset="0"/>
                <a:ea typeface="Consolas" pitchFamily="34" charset="-122"/>
                <a:cs typeface="Consolas" pitchFamily="34" charset="-120"/>
              </a:rPr>
              <a:t>false</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It won’t compile</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The test is </a:t>
            </a:r>
            <a:r>
              <a:rPr lang="en-US" sz="1800" dirty="0">
                <a:solidFill>
                  <a:schemeClr val="accent2"/>
                </a:solidFill>
                <a:latin typeface="Consolas" pitchFamily="34" charset="0"/>
                <a:ea typeface="Consolas" pitchFamily="34" charset="-122"/>
                <a:cs typeface="Consolas" pitchFamily="34" charset="-120"/>
              </a:rPr>
              <a:t>num &lt; 1</a:t>
            </a:r>
            <a:r>
              <a:rPr lang="en-US" sz="1800" dirty="0">
                <a:solidFill>
                  <a:schemeClr val="tx1"/>
                </a:solidFill>
              </a:rPr>
              <a:t>, and 0 is less than 1, so the method throws an </a:t>
            </a:r>
            <a:r>
              <a:rPr lang="en-US" sz="1800" dirty="0">
                <a:solidFill>
                  <a:schemeClr val="accent2"/>
                </a:solidFill>
                <a:latin typeface="Consolas" pitchFamily="34" charset="0"/>
                <a:ea typeface="Consolas" pitchFamily="34" charset="-122"/>
                <a:cs typeface="Consolas" pitchFamily="34" charset="-120"/>
              </a:rPr>
              <a:t>ArithmeticException</a:t>
            </a:r>
            <a:r>
              <a:rPr lang="en-US" sz="1800" dirty="0">
                <a:solidFill>
                  <a:schemeClr val="tx1"/>
                </a:solidFill>
              </a:rPr>
              <a:t>. Its message, “Number is negative”, is misleading for 0: the test should be </a:t>
            </a:r>
            <a:r>
              <a:rPr lang="en-US" sz="1800" dirty="0">
                <a:solidFill>
                  <a:schemeClr val="accent2"/>
                </a:solidFill>
                <a:latin typeface="Consolas" pitchFamily="34" charset="0"/>
                <a:ea typeface="Consolas" pitchFamily="34" charset="-122"/>
                <a:cs typeface="Consolas" pitchFamily="34" charset="-120"/>
              </a:rPr>
              <a:t>num &lt; 0</a:t>
            </a:r>
            <a:r>
              <a:rPr lang="en-US" sz="1800" dirty="0">
                <a:solidFill>
                  <a:schemeClr val="tx1"/>
                </a:solidFill>
              </a:rPr>
              <a:t>, or the message should say the number must be positive.</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THROW, THROWS AND CUSTOM EXCEPTIONS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throws: passing the exception on</a:t>
            </a:r>
            <a:endParaRPr lang="en-US" sz="3400" dirty="0"/>
          </a:p>
        </p:txBody>
      </p:sp>
      <p:sp>
        <p:nvSpPr>
          <p:cNvPr id="5" name="Text 2"/>
          <p:cNvSpPr txBox="1"/>
          <p:nvPr/>
        </p:nvSpPr>
        <p:spPr>
          <a:xfrm>
            <a:off x="548640" y="1783080"/>
            <a:ext cx="5120640" cy="3108960"/>
          </a:xfrm>
          <a:prstGeom prst="rect">
            <a:avLst/>
          </a:prstGeom>
          <a:noFill/>
          <a:ln/>
        </p:spPr>
        <p:txBody>
          <a:bodyPr wrap="square" lIns="0" tIns="0" rIns="0" bIns="0" rtlCol="0" anchor="t"/>
          <a:lstStyle/>
          <a:p>
            <a:pPr marL="228600" indent="-228600">
              <a:spcAft>
                <a:spcPts val="1000"/>
              </a:spcAft>
              <a:buSzPct val="100000"/>
              <a:buChar char="•"/>
            </a:pPr>
            <a:r>
              <a:rPr lang="en-US" sz="1650" b="1" dirty="0">
                <a:solidFill>
                  <a:schemeClr val="tx1"/>
                </a:solidFill>
              </a:rPr>
              <a:t>throws</a:t>
            </a:r>
            <a:r>
              <a:rPr lang="en-US" sz="1650" dirty="0">
                <a:solidFill>
                  <a:schemeClr val="tx1"/>
                </a:solidFill>
              </a:rPr>
              <a:t> goes at the end of a method header and lists the exceptions the method might throw.</a:t>
            </a:r>
            <a:endParaRPr lang="en-US" sz="1650" dirty="0"/>
          </a:p>
          <a:p>
            <a:pPr marL="228600" indent="-228600">
              <a:spcAft>
                <a:spcPts val="1000"/>
              </a:spcAft>
              <a:buSzPct val="100000"/>
              <a:buChar char="•"/>
            </a:pPr>
            <a:r>
              <a:rPr lang="en-US" sz="1650" dirty="0">
                <a:solidFill>
                  <a:schemeClr val="tx1"/>
                </a:solidFill>
              </a:rPr>
              <a:t>The method doesn’t handle them; whoever calls it decides what to do.</a:t>
            </a:r>
            <a:endParaRPr lang="en-US" sz="1650" dirty="0"/>
          </a:p>
          <a:p>
            <a:pPr marL="228600" indent="-228600">
              <a:spcAft>
                <a:spcPts val="1000"/>
              </a:spcAft>
              <a:buSzPct val="100000"/>
              <a:buChar char="•"/>
            </a:pPr>
            <a:r>
              <a:rPr lang="en-US" sz="1650" dirty="0">
                <a:solidFill>
                  <a:schemeClr val="tx1"/>
                </a:solidFill>
              </a:rPr>
              <a:t>Several can be listed: </a:t>
            </a:r>
            <a:r>
              <a:rPr lang="en-US" sz="1650" dirty="0">
                <a:solidFill>
                  <a:schemeClr val="accent2"/>
                </a:solidFill>
                <a:latin typeface="Consolas" pitchFamily="34" charset="0"/>
                <a:ea typeface="Consolas" pitchFamily="34" charset="-122"/>
                <a:cs typeface="Consolas" pitchFamily="34" charset="-120"/>
              </a:rPr>
              <a:t>throws IOException, SQLException</a:t>
            </a:r>
            <a:r>
              <a:rPr lang="en-US" sz="1650" dirty="0">
                <a:solidFill>
                  <a:schemeClr val="tx1"/>
                </a:solidFill>
              </a:rPr>
              <a:t>.</a:t>
            </a:r>
            <a:endParaRPr lang="en-US" sz="1650" dirty="0"/>
          </a:p>
          <a:p>
            <a:pPr marL="228600" indent="-228600">
              <a:buSzPct val="100000"/>
              <a:buChar char="•"/>
            </a:pPr>
            <a:r>
              <a:rPr lang="en-US" sz="1650" dirty="0">
                <a:solidFill>
                  <a:schemeClr val="tx1"/>
                </a:solidFill>
              </a:rPr>
              <a:t>For checked exceptions, the caller must catch them or declare throws too.</a:t>
            </a:r>
            <a:endParaRPr lang="en-US" sz="1650" dirty="0"/>
          </a:p>
        </p:txBody>
      </p:sp>
      <p:sp>
        <p:nvSpPr>
          <p:cNvPr id="6" name="Output card"/>
          <p:cNvSpPr/>
          <p:nvPr/>
        </p:nvSpPr>
        <p:spPr>
          <a:xfrm>
            <a:off x="548640" y="5074920"/>
            <a:ext cx="5120640" cy="972693"/>
          </a:xfrm>
          <a:prstGeom prst="roundRect">
            <a:avLst>
              <a:gd name="adj" fmla="val 11281"/>
            </a:avLst>
          </a:prstGeom>
          <a:solidFill>
            <a:schemeClr val="tx1"/>
          </a:solidFill>
          <a:ln/>
          <a:effectLst>
            <a:outerShdw sx="100000" sy="100000" kx="0" ky="0" algn="bl" rotWithShape="0" blurRad="114300" dist="31750" dir="5400000">
              <a:srgbClr val="1D2433">
                <a:alpha val="12000"/>
              </a:srgbClr>
            </a:outerShdw>
          </a:effectLst>
        </p:spPr>
      </p:sp>
      <p:sp>
        <p:nvSpPr>
          <p:cNvPr id="7" name="Output label"/>
          <p:cNvSpPr txBox="1"/>
          <p:nvPr/>
        </p:nvSpPr>
        <p:spPr>
          <a:xfrm>
            <a:off x="822960" y="5193792"/>
            <a:ext cx="45720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a:t>
            </a:r>
            <a:endParaRPr lang="en-US" sz="1050" dirty="0"/>
          </a:p>
        </p:txBody>
      </p:sp>
      <p:sp>
        <p:nvSpPr>
          <p:cNvPr id="8" name="Output text"/>
          <p:cNvSpPr txBox="1"/>
          <p:nvPr/>
        </p:nvSpPr>
        <p:spPr>
          <a:xfrm>
            <a:off x="822960" y="5568696"/>
            <a:ext cx="4572000" cy="277749"/>
          </a:xfrm>
          <a:prstGeom prst="rect">
            <a:avLst/>
          </a:prstGeom>
          <a:noFill/>
          <a:ln/>
        </p:spPr>
        <p:txBody>
          <a:bodyPr wrap="square" lIns="0" tIns="0" rIns="0" bIns="0" rtlCol="0" anchor="t"/>
          <a:lstStyle/>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java.lang.ArithmeticException: / by zero</a:t>
            </a:r>
            <a:endParaRPr lang="en-US" sz="1300" dirty="0"/>
          </a:p>
        </p:txBody>
      </p:sp>
      <p:sp>
        <p:nvSpPr>
          <p:cNvPr id="9" name="throws card"/>
          <p:cNvSpPr/>
          <p:nvPr/>
        </p:nvSpPr>
        <p:spPr>
          <a:xfrm>
            <a:off x="6035040" y="1691640"/>
            <a:ext cx="5608015" cy="3582924"/>
          </a:xfrm>
          <a:prstGeom prst="roundRect">
            <a:avLst>
              <a:gd name="adj" fmla="val 3063"/>
            </a:avLst>
          </a:prstGeom>
          <a:solidFill>
            <a:schemeClr val="tx1"/>
          </a:solidFill>
          <a:ln/>
          <a:effectLst>
            <a:outerShdw sx="100000" sy="100000" kx="0" ky="0" algn="bl" rotWithShape="0" blurRad="114300" dist="31750" dir="5400000">
              <a:srgbClr val="1D2433">
                <a:alpha val="12000"/>
              </a:srgbClr>
            </a:outerShdw>
          </a:effectLst>
        </p:spPr>
      </p:sp>
      <p:sp>
        <p:nvSpPr>
          <p:cNvPr id="10" name="throws label"/>
          <p:cNvSpPr txBox="1"/>
          <p:nvPr/>
        </p:nvSpPr>
        <p:spPr>
          <a:xfrm>
            <a:off x="6309360" y="1810512"/>
            <a:ext cx="505937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11" name="throws text"/>
          <p:cNvSpPr txBox="1"/>
          <p:nvPr/>
        </p:nvSpPr>
        <p:spPr>
          <a:xfrm>
            <a:off x="6309360" y="2185416"/>
            <a:ext cx="5059375" cy="2887980"/>
          </a:xfrm>
          <a:prstGeom prst="rect">
            <a:avLst/>
          </a:prstGeom>
          <a:noFill/>
          <a:ln/>
        </p:spPr>
        <p:txBody>
          <a:bodyPr wrap="square" lIns="0" tIns="0" rIns="0" bIns="0" rtlCol="0" anchor="t"/>
          <a:lstStyle/>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public static void </a:t>
            </a:r>
            <a:r>
              <a:rPr lang="en-US" sz="1300" dirty="0">
                <a:solidFill>
                  <a:srgbClr val="C9B0FF"/>
                </a:solidFill>
                <a:latin typeface="Consolas" pitchFamily="34" charset="0"/>
                <a:ea typeface="Consolas" pitchFamily="34" charset="-122"/>
                <a:cs typeface="Consolas" pitchFamily="34" charset="-120"/>
              </a:rPr>
              <a:t>divide</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FF9F5A"/>
                </a:solidFill>
                <a:latin typeface="Consolas" pitchFamily="34" charset="0"/>
                <a:ea typeface="Consolas" pitchFamily="34" charset="-122"/>
                <a:cs typeface="Consolas" pitchFamily="34" charset="-120"/>
              </a:rPr>
              <a:t>int </a:t>
            </a:r>
            <a:r>
              <a:rPr lang="en-US" sz="1300" dirty="0">
                <a:solidFill>
                  <a:srgbClr val="E6EBF2"/>
                </a:solidFill>
                <a:latin typeface="Consolas" pitchFamily="34" charset="0"/>
                <a:ea typeface="Consolas" pitchFamily="34" charset="-122"/>
                <a:cs typeface="Consolas" pitchFamily="34" charset="-120"/>
              </a:rPr>
              <a:t>num, </a:t>
            </a:r>
            <a:r>
              <a:rPr lang="en-US" sz="1300" dirty="0">
                <a:solidFill>
                  <a:srgbClr val="FF9F5A"/>
                </a:solidFill>
                <a:latin typeface="Consolas" pitchFamily="34" charset="0"/>
                <a:ea typeface="Consolas" pitchFamily="34" charset="-122"/>
                <a:cs typeface="Consolas" pitchFamily="34" charset="-120"/>
              </a:rPr>
              <a:t>int </a:t>
            </a:r>
            <a:r>
              <a:rPr lang="en-US" sz="1300" dirty="0">
                <a:solidFill>
                  <a:srgbClr val="E6EBF2"/>
                </a:solidFill>
                <a:latin typeface="Consolas" pitchFamily="34" charset="0"/>
                <a:ea typeface="Consolas" pitchFamily="34" charset="-122"/>
                <a:cs typeface="Consolas" pitchFamily="34" charset="-120"/>
              </a:rPr>
              <a:t>num2)</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throws </a:t>
            </a:r>
            <a:r>
              <a:rPr lang="en-US" sz="1300" dirty="0">
                <a:solidFill>
                  <a:srgbClr val="6CC4E8"/>
                </a:solidFill>
                <a:latin typeface="Consolas" pitchFamily="34" charset="0"/>
                <a:ea typeface="Consolas" pitchFamily="34" charset="-122"/>
                <a:cs typeface="Consolas" pitchFamily="34" charset="-120"/>
              </a:rPr>
              <a:t>ArithmeticException </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int </a:t>
            </a:r>
            <a:r>
              <a:rPr lang="en-US" sz="1300" dirty="0">
                <a:solidFill>
                  <a:srgbClr val="E6EBF2"/>
                </a:solidFill>
                <a:latin typeface="Consolas" pitchFamily="34" charset="0"/>
                <a:ea typeface="Consolas" pitchFamily="34" charset="-122"/>
                <a:cs typeface="Consolas" pitchFamily="34" charset="-120"/>
              </a:rPr>
              <a:t>result = num / num2;</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(result);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endParaRPr lang="en-US" sz="1300" dirty="0"/>
          </a:p>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public static void </a:t>
            </a:r>
            <a:r>
              <a:rPr lang="en-US" sz="1300" dirty="0">
                <a:solidFill>
                  <a:srgbClr val="C9B0FF"/>
                </a:solidFill>
                <a:latin typeface="Consolas" pitchFamily="34" charset="0"/>
                <a:ea typeface="Consolas" pitchFamily="34" charset="-122"/>
                <a:cs typeface="Consolas" pitchFamily="34" charset="-120"/>
              </a:rPr>
              <a:t>main</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 args) {</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try </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C9B0FF"/>
                </a:solidFill>
                <a:latin typeface="Consolas" pitchFamily="34" charset="0"/>
                <a:ea typeface="Consolas" pitchFamily="34" charset="-122"/>
                <a:cs typeface="Consolas" pitchFamily="34" charset="-120"/>
              </a:rPr>
              <a:t>divide</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F2C14E"/>
                </a:solidFill>
                <a:latin typeface="Consolas" pitchFamily="34" charset="0"/>
                <a:ea typeface="Consolas" pitchFamily="34" charset="-122"/>
                <a:cs typeface="Consolas" pitchFamily="34" charset="-120"/>
              </a:rPr>
              <a:t>4</a:t>
            </a: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2C14E"/>
                </a:solidFill>
                <a:latin typeface="Consolas" pitchFamily="34" charset="0"/>
                <a:ea typeface="Consolas" pitchFamily="34" charset="-122"/>
                <a:cs typeface="Consolas" pitchFamily="34" charset="-120"/>
              </a:rPr>
              <a:t>0</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 </a:t>
            </a:r>
            <a:r>
              <a:rPr lang="en-US" sz="1300" dirty="0">
                <a:solidFill>
                  <a:srgbClr val="FF9F5A"/>
                </a:solidFill>
                <a:latin typeface="Consolas" pitchFamily="34" charset="0"/>
                <a:ea typeface="Consolas" pitchFamily="34" charset="-122"/>
                <a:cs typeface="Consolas" pitchFamily="34" charset="-120"/>
              </a:rPr>
              <a:t>catch </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6CC4E8"/>
                </a:solidFill>
                <a:latin typeface="Consolas" pitchFamily="34" charset="0"/>
                <a:ea typeface="Consolas" pitchFamily="34" charset="-122"/>
                <a:cs typeface="Consolas" pitchFamily="34" charset="-120"/>
              </a:rPr>
              <a:t>ArithmeticException </a:t>
            </a:r>
            <a:r>
              <a:rPr lang="en-US" sz="1300" dirty="0">
                <a:solidFill>
                  <a:srgbClr val="E6EBF2"/>
                </a:solidFill>
                <a:latin typeface="Consolas" pitchFamily="34" charset="0"/>
                <a:ea typeface="Consolas" pitchFamily="34" charset="-122"/>
                <a:cs typeface="Consolas" pitchFamily="34" charset="-120"/>
              </a:rPr>
              <a:t>e) {</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(e);</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13</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throws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accent2"/>
                </a:solidFill>
                <a:latin typeface="Consolas" pitchFamily="34" charset="0"/>
                <a:ea typeface="Consolas" pitchFamily="34" charset="-122"/>
                <a:cs typeface="Consolas" pitchFamily="34" charset="-120"/>
              </a:rPr>
              <a:t>load()</a:t>
            </a:r>
            <a:r>
              <a:rPr lang="en-US" sz="2800" b="1" dirty="0">
                <a:solidFill>
                  <a:schemeClr val="tx1"/>
                </a:solidFill>
              </a:rPr>
              <a:t> is declared </a:t>
            </a:r>
            <a:r>
              <a:rPr lang="en-US" sz="2800" b="1" dirty="0">
                <a:solidFill>
                  <a:schemeClr val="accent2"/>
                </a:solidFill>
                <a:latin typeface="Consolas" pitchFamily="34" charset="0"/>
                <a:ea typeface="Consolas" pitchFamily="34" charset="-122"/>
                <a:cs typeface="Consolas" pitchFamily="34" charset="-120"/>
              </a:rPr>
              <a:t>void load() throws FileNotFoundException</a:t>
            </a:r>
            <a:r>
              <a:rPr lang="en-US" sz="2800" b="1" dirty="0">
                <a:solidFill>
                  <a:schemeClr val="tx1"/>
                </a:solidFill>
              </a:rPr>
              <a:t>. What must the code that calls it do?</a:t>
            </a:r>
            <a:endParaRPr lang="en-US" sz="2800" dirty="0"/>
          </a:p>
        </p:txBody>
      </p:sp>
      <p:sp>
        <p:nvSpPr>
          <p:cNvPr id="5" name="Option A"/>
          <p:cNvSpPr/>
          <p:nvPr/>
        </p:nvSpPr>
        <p:spPr>
          <a:xfrm>
            <a:off x="548640" y="233172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48716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377440"/>
            <a:ext cx="9795967" cy="713232"/>
          </a:xfrm>
          <a:prstGeom prst="rect">
            <a:avLst/>
          </a:prstGeom>
          <a:noFill/>
          <a:ln/>
        </p:spPr>
        <p:txBody>
          <a:bodyPr wrap="square" lIns="0" tIns="0" rIns="0" bIns="0" rtlCol="0" anchor="ctr"/>
          <a:lstStyle/>
          <a:p>
            <a:pPr indent="0" marL="0">
              <a:buNone/>
            </a:pPr>
            <a:r>
              <a:rPr lang="en-US" sz="1900" dirty="0">
                <a:solidFill>
                  <a:schemeClr val="tx1"/>
                </a:solidFill>
              </a:rPr>
              <a:t>Nothing, because throws already handles it</a:t>
            </a:r>
            <a:endParaRPr lang="en-US" sz="1900" dirty="0"/>
          </a:p>
        </p:txBody>
      </p:sp>
      <p:sp>
        <p:nvSpPr>
          <p:cNvPr id="8" name="Option B"/>
          <p:cNvSpPr/>
          <p:nvPr/>
        </p:nvSpPr>
        <p:spPr>
          <a:xfrm>
            <a:off x="548640" y="331927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47472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364992"/>
            <a:ext cx="9795967" cy="713232"/>
          </a:xfrm>
          <a:prstGeom prst="rect">
            <a:avLst/>
          </a:prstGeom>
          <a:noFill/>
          <a:ln/>
        </p:spPr>
        <p:txBody>
          <a:bodyPr wrap="square" lIns="0" tIns="0" rIns="0" bIns="0" rtlCol="0" anchor="ctr"/>
          <a:lstStyle/>
          <a:p>
            <a:pPr indent="0" marL="0">
              <a:buNone/>
            </a:pPr>
            <a:r>
              <a:rPr lang="en-US" sz="1900" dirty="0">
                <a:solidFill>
                  <a:schemeClr val="tx1"/>
                </a:solidFill>
              </a:rPr>
              <a:t>Call </a:t>
            </a:r>
            <a:r>
              <a:rPr lang="en-US" sz="1900" dirty="0">
                <a:solidFill>
                  <a:schemeClr val="accent2"/>
                </a:solidFill>
                <a:latin typeface="Consolas" pitchFamily="34" charset="0"/>
                <a:ea typeface="Consolas" pitchFamily="34" charset="-122"/>
                <a:cs typeface="Consolas" pitchFamily="34" charset="-120"/>
              </a:rPr>
              <a:t>load()</a:t>
            </a:r>
            <a:r>
              <a:rPr lang="en-US" sz="1900" dirty="0">
                <a:solidFill>
                  <a:schemeClr val="tx1"/>
                </a:solidFill>
              </a:rPr>
              <a:t> inside a finally block</a:t>
            </a:r>
            <a:endParaRPr lang="en-US" sz="1900" dirty="0"/>
          </a:p>
        </p:txBody>
      </p:sp>
      <p:sp>
        <p:nvSpPr>
          <p:cNvPr id="11" name="Option C"/>
          <p:cNvSpPr/>
          <p:nvPr/>
        </p:nvSpPr>
        <p:spPr>
          <a:xfrm>
            <a:off x="548640" y="430682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622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352544"/>
            <a:ext cx="9795967" cy="713232"/>
          </a:xfrm>
          <a:prstGeom prst="rect">
            <a:avLst/>
          </a:prstGeom>
          <a:noFill/>
          <a:ln/>
        </p:spPr>
        <p:txBody>
          <a:bodyPr wrap="square" lIns="0" tIns="0" rIns="0" bIns="0" rtlCol="0" anchor="ctr"/>
          <a:lstStyle/>
          <a:p>
            <a:pPr indent="0" marL="0">
              <a:buNone/>
            </a:pPr>
            <a:r>
              <a:rPr lang="en-US" sz="1900" dirty="0">
                <a:solidFill>
                  <a:schemeClr val="tx1"/>
                </a:solidFill>
              </a:rPr>
              <a:t>Create the file before calling </a:t>
            </a:r>
            <a:r>
              <a:rPr lang="en-US" sz="1900" dirty="0">
                <a:solidFill>
                  <a:schemeClr val="accent2"/>
                </a:solidFill>
                <a:latin typeface="Consolas" pitchFamily="34" charset="0"/>
                <a:ea typeface="Consolas" pitchFamily="34" charset="-122"/>
                <a:cs typeface="Consolas" pitchFamily="34" charset="-120"/>
              </a:rPr>
              <a:t>load()</a:t>
            </a:r>
            <a:endParaRPr lang="en-US" sz="1900" dirty="0"/>
          </a:p>
        </p:txBody>
      </p:sp>
      <p:sp>
        <p:nvSpPr>
          <p:cNvPr id="14" name="Option D"/>
          <p:cNvSpPr/>
          <p:nvPr/>
        </p:nvSpPr>
        <p:spPr>
          <a:xfrm>
            <a:off x="548640" y="529437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44982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340096"/>
            <a:ext cx="9795967" cy="713232"/>
          </a:xfrm>
          <a:prstGeom prst="rect">
            <a:avLst/>
          </a:prstGeom>
          <a:noFill/>
          <a:ln/>
        </p:spPr>
        <p:txBody>
          <a:bodyPr wrap="square" lIns="0" tIns="0" rIns="0" bIns="0" rtlCol="0" anchor="ctr"/>
          <a:lstStyle/>
          <a:p>
            <a:pPr indent="0" marL="0">
              <a:buNone/>
            </a:pPr>
            <a:r>
              <a:rPr lang="en-US" sz="1900" dirty="0">
                <a:solidFill>
                  <a:schemeClr val="tx1"/>
                </a:solidFill>
              </a:rPr>
              <a:t>Catch </a:t>
            </a:r>
            <a:r>
              <a:rPr lang="en-US" sz="1900" dirty="0">
                <a:solidFill>
                  <a:schemeClr val="accent2"/>
                </a:solidFill>
                <a:latin typeface="Consolas" pitchFamily="34" charset="0"/>
                <a:ea typeface="Consolas" pitchFamily="34" charset="-122"/>
                <a:cs typeface="Consolas" pitchFamily="34" charset="-120"/>
              </a:rPr>
              <a:t>FileNotFoundException</a:t>
            </a:r>
            <a:r>
              <a:rPr lang="en-US" sz="1900" dirty="0">
                <a:solidFill>
                  <a:schemeClr val="tx1"/>
                </a:solidFill>
              </a:rPr>
              <a:t>, or declare throws itself</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13</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throws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latin typeface="Consolas" pitchFamily="34" charset="0"/>
                <a:ea typeface="Consolas" pitchFamily="34" charset="-122"/>
                <a:cs typeface="Consolas" pitchFamily="34" charset="-120"/>
              </a:rPr>
              <a:t>load()</a:t>
            </a:r>
            <a:r>
              <a:rPr lang="en-US" sz="2000" b="1" dirty="0">
                <a:solidFill>
                  <a:schemeClr val="tx2"/>
                </a:solidFill>
              </a:rPr>
              <a:t> is declared </a:t>
            </a:r>
            <a:r>
              <a:rPr lang="en-US" sz="2000" b="1" dirty="0">
                <a:solidFill>
                  <a:schemeClr val="tx2"/>
                </a:solidFill>
                <a:latin typeface="Consolas" pitchFamily="34" charset="0"/>
                <a:ea typeface="Consolas" pitchFamily="34" charset="-122"/>
                <a:cs typeface="Consolas" pitchFamily="34" charset="-120"/>
              </a:rPr>
              <a:t>void load() throws FileNotFoundException</a:t>
            </a:r>
            <a:r>
              <a:rPr lang="en-US" sz="2000" b="1" dirty="0">
                <a:solidFill>
                  <a:schemeClr val="tx2"/>
                </a:solidFill>
              </a:rPr>
              <a:t>. What must the code that calls it do?</a:t>
            </a:r>
            <a:endParaRPr lang="en-US"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US" sz="1700" dirty="0">
                <a:solidFill>
                  <a:schemeClr val="tx2"/>
                </a:solidFill>
              </a:rPr>
              <a:t>Nothing, because throws already handles it</a:t>
            </a:r>
            <a:endParaRPr lang="en-US" sz="1700" dirty="0"/>
          </a:p>
        </p:txBody>
      </p:sp>
      <p:sp>
        <p:nvSpPr>
          <p:cNvPr id="8" name="Option B"/>
          <p:cNvSpPr/>
          <p:nvPr/>
        </p:nvSpPr>
        <p:spPr>
          <a:xfrm>
            <a:off x="548640" y="2532888"/>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61518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532888"/>
            <a:ext cx="10042855" cy="585216"/>
          </a:xfrm>
          <a:prstGeom prst="rect">
            <a:avLst/>
          </a:prstGeom>
          <a:noFill/>
          <a:ln/>
        </p:spPr>
        <p:txBody>
          <a:bodyPr wrap="square" lIns="0" tIns="0" rIns="0" bIns="0" rtlCol="0" anchor="ctr"/>
          <a:lstStyle/>
          <a:p>
            <a:pPr indent="0" marL="0">
              <a:buNone/>
            </a:pPr>
            <a:r>
              <a:rPr lang="en-US" sz="1700" dirty="0">
                <a:solidFill>
                  <a:schemeClr val="tx2"/>
                </a:solidFill>
              </a:rPr>
              <a:t>Call </a:t>
            </a:r>
            <a:r>
              <a:rPr lang="en-US" sz="1700" dirty="0">
                <a:solidFill>
                  <a:schemeClr val="tx2"/>
                </a:solidFill>
                <a:latin typeface="Consolas" pitchFamily="34" charset="0"/>
                <a:ea typeface="Consolas" pitchFamily="34" charset="-122"/>
                <a:cs typeface="Consolas" pitchFamily="34" charset="-120"/>
              </a:rPr>
              <a:t>load()</a:t>
            </a:r>
            <a:r>
              <a:rPr lang="en-US" sz="1700" dirty="0">
                <a:solidFill>
                  <a:schemeClr val="tx2"/>
                </a:solidFill>
              </a:rPr>
              <a:t> inside a finally block</a:t>
            </a:r>
            <a:endParaRPr lang="en-US" sz="1700" dirty="0"/>
          </a:p>
        </p:txBody>
      </p:sp>
      <p:sp>
        <p:nvSpPr>
          <p:cNvPr id="11"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3"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US" sz="1700" dirty="0">
                <a:solidFill>
                  <a:schemeClr val="tx2"/>
                </a:solidFill>
              </a:rPr>
              <a:t>Create the file before calling </a:t>
            </a:r>
            <a:r>
              <a:rPr lang="en-US" sz="1700" dirty="0">
                <a:solidFill>
                  <a:schemeClr val="tx2"/>
                </a:solidFill>
                <a:latin typeface="Consolas" pitchFamily="34" charset="0"/>
                <a:ea typeface="Consolas" pitchFamily="34" charset="-122"/>
                <a:cs typeface="Consolas" pitchFamily="34" charset="-120"/>
              </a:rPr>
              <a:t>load()</a:t>
            </a:r>
            <a:endParaRPr lang="en-US" sz="1700" dirty="0"/>
          </a:p>
        </p:txBody>
      </p:sp>
      <p:sp>
        <p:nvSpPr>
          <p:cNvPr id="14" name="Option D (correct)"/>
          <p:cNvSpPr/>
          <p:nvPr/>
        </p:nvSpPr>
        <p:spPr>
          <a:xfrm>
            <a:off x="548640" y="3941064"/>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023360"/>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6" name="Option D text"/>
          <p:cNvSpPr txBox="1"/>
          <p:nvPr/>
        </p:nvSpPr>
        <p:spPr>
          <a:xfrm>
            <a:off x="1371600" y="3941064"/>
            <a:ext cx="9704527" cy="585216"/>
          </a:xfrm>
          <a:prstGeom prst="rect">
            <a:avLst/>
          </a:prstGeom>
          <a:noFill/>
          <a:ln/>
        </p:spPr>
        <p:txBody>
          <a:bodyPr wrap="square" lIns="0" tIns="0" rIns="0" bIns="0" rtlCol="0" anchor="ctr"/>
          <a:lstStyle/>
          <a:p>
            <a:pPr indent="0" marL="0">
              <a:buNone/>
            </a:pPr>
            <a:r>
              <a:rPr lang="en-US" sz="1700" b="1" dirty="0">
                <a:solidFill>
                  <a:schemeClr val="bg1"/>
                </a:solidFill>
              </a:rPr>
              <a:t>Catch </a:t>
            </a:r>
            <a:r>
              <a:rPr lang="en-US" sz="1700" b="1" dirty="0">
                <a:solidFill>
                  <a:schemeClr val="bg1"/>
                </a:solidFill>
                <a:latin typeface="Consolas" pitchFamily="34" charset="0"/>
                <a:ea typeface="Consolas" pitchFamily="34" charset="-122"/>
                <a:cs typeface="Consolas" pitchFamily="34" charset="-120"/>
              </a:rPr>
              <a:t>FileNotFoundException</a:t>
            </a:r>
            <a:r>
              <a:rPr lang="en-US" sz="1700" b="1" dirty="0">
                <a:solidFill>
                  <a:schemeClr val="bg1"/>
                </a:solidFill>
              </a:rPr>
              <a:t>, or declare throws itself</a:t>
            </a:r>
            <a:endParaRPr lang="en-US" sz="1700" dirty="0"/>
          </a:p>
        </p:txBody>
      </p:sp>
      <p:pic>
        <p:nvPicPr>
          <p:cNvPr id="17" name="Image 0" descr="Correct mark">    </p:cNvPr>
          <p:cNvPicPr>
            <a:picLocks noChangeAspect="1"/>
          </p:cNvPicPr>
          <p:nvPr/>
        </p:nvPicPr>
        <p:blipFill>
          <a:blip r:embed="rId1"/>
          <a:stretch>
            <a:fillRect/>
          </a:stretch>
        </p:blipFill>
        <p:spPr>
          <a:xfrm>
            <a:off x="11094415" y="4050792"/>
            <a:ext cx="365760" cy="365760"/>
          </a:xfrm>
          <a:prstGeom prst="rect">
            <a:avLst/>
          </a:prstGeom>
        </p:spPr>
      </p:pic>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algn="l" indent="0" marL="0">
              <a:buNone/>
            </a:pPr>
            <a:r>
              <a:rPr lang="en-US" sz="1600" dirty="0">
                <a:solidFill>
                  <a:schemeClr val="accent2"/>
                </a:solidFill>
                <a:latin typeface="Consolas" pitchFamily="34" charset="0"/>
                <a:ea typeface="Consolas" pitchFamily="34" charset="-122"/>
                <a:cs typeface="Consolas" pitchFamily="34" charset="-120"/>
              </a:rPr>
              <a:t>FileNotFoundException</a:t>
            </a:r>
            <a:r>
              <a:rPr lang="en-US" sz="1600" dirty="0">
                <a:solidFill>
                  <a:schemeClr val="tx1"/>
                </a:solidFill>
              </a:rPr>
              <a:t> is checked, so the job passes to the caller. It must catch it in a try/catch, or add </a:t>
            </a:r>
            <a:r>
              <a:rPr lang="en-US" sz="1600" dirty="0">
                <a:solidFill>
                  <a:schemeClr val="accent2"/>
                </a:solidFill>
                <a:latin typeface="Consolas" pitchFamily="34" charset="0"/>
                <a:ea typeface="Consolas" pitchFamily="34" charset="-122"/>
                <a:cs typeface="Consolas" pitchFamily="34" charset="-120"/>
              </a:rPr>
              <a:t>throws FileNotFoundException</a:t>
            </a:r>
            <a:r>
              <a:rPr lang="en-US" sz="1600" dirty="0">
                <a:solidFill>
                  <a:schemeClr val="tx1"/>
                </a:solidFill>
              </a:rPr>
              <a:t> to its own header and pass it further up. Otherwise the compiler stops: unreported exception FileNotFoundException; must be caught or declared to be thrown.</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THROW, THROWS AND CUSTOM EXCEPTIONS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throw or throws?</a:t>
            </a:r>
            <a:endParaRPr lang="en-US" sz="3400" dirty="0"/>
          </a:p>
        </p:txBody>
      </p:sp>
      <p:sp>
        <p:nvSpPr>
          <p:cNvPr id="5" name="Shape 2"/>
          <p:cNvSpPr/>
          <p:nvPr/>
        </p:nvSpPr>
        <p:spPr>
          <a:xfrm>
            <a:off x="548640" y="1737360"/>
            <a:ext cx="1463040" cy="457200"/>
          </a:xfrm>
          <a:prstGeom prst="roundRect">
            <a:avLst>
              <a:gd name="adj" fmla="val 20000"/>
            </a:avLst>
          </a:prstGeom>
          <a:solidFill>
            <a:schemeClr val="accent1"/>
          </a:solidFill>
          <a:ln/>
        </p:spPr>
      </p:sp>
      <p:sp>
        <p:nvSpPr>
          <p:cNvPr id="6" name="Text 3"/>
          <p:cNvSpPr txBox="1"/>
          <p:nvPr/>
        </p:nvSpPr>
        <p:spPr>
          <a:xfrm>
            <a:off x="548640" y="1737360"/>
            <a:ext cx="146304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throw</a:t>
            </a:r>
            <a:endParaRPr lang="en-US" sz="1600" dirty="0"/>
          </a:p>
        </p:txBody>
      </p:sp>
      <p:sp>
        <p:nvSpPr>
          <p:cNvPr id="7" name="Shape 4"/>
          <p:cNvSpPr/>
          <p:nvPr/>
        </p:nvSpPr>
        <p:spPr>
          <a:xfrm>
            <a:off x="2057400" y="1965960"/>
            <a:ext cx="548640" cy="0"/>
          </a:xfrm>
          <a:prstGeom prst="line">
            <a:avLst/>
          </a:prstGeom>
          <a:noFill/>
          <a:ln w="22225">
            <a:solidFill>
              <a:schemeClr val="accent1"/>
            </a:solidFill>
            <a:prstDash val="solid"/>
            <a:tailEnd type="triangle"/>
          </a:ln>
        </p:spPr>
      </p:sp>
      <p:sp>
        <p:nvSpPr>
          <p:cNvPr id="8" name="Shape 5"/>
          <p:cNvSpPr/>
          <p:nvPr/>
        </p:nvSpPr>
        <p:spPr>
          <a:xfrm>
            <a:off x="2651760" y="1737360"/>
            <a:ext cx="4023360" cy="457200"/>
          </a:xfrm>
          <a:prstGeom prst="roundRect">
            <a:avLst>
              <a:gd name="adj" fmla="val 20000"/>
            </a:avLst>
          </a:prstGeom>
          <a:solidFill>
            <a:schemeClr val="accent1">
              <a:alpha val="14000"/>
            </a:schemeClr>
          </a:solidFill>
          <a:ln w="19050">
            <a:solidFill>
              <a:schemeClr val="accent1"/>
            </a:solidFill>
            <a:prstDash val="solid"/>
          </a:ln>
        </p:spPr>
      </p:sp>
      <p:sp>
        <p:nvSpPr>
          <p:cNvPr id="9" name="Text 6"/>
          <p:cNvSpPr txBox="1"/>
          <p:nvPr/>
        </p:nvSpPr>
        <p:spPr>
          <a:xfrm>
            <a:off x="2651760" y="1737360"/>
            <a:ext cx="4023360" cy="457200"/>
          </a:xfrm>
          <a:prstGeom prst="rect">
            <a:avLst/>
          </a:prstGeom>
          <a:noFill/>
          <a:ln/>
        </p:spPr>
        <p:txBody>
          <a:bodyPr wrap="square" lIns="0" tIns="0" rIns="0" bIns="0" rtlCol="0" anchor="ctr"/>
          <a:lstStyle/>
          <a:p>
            <a:pPr algn="ctr" indent="0" marL="0">
              <a:buNone/>
            </a:pPr>
            <a:r>
              <a:rPr lang="en-US" sz="1500" b="1" dirty="0">
                <a:solidFill>
                  <a:schemeClr val="tx1"/>
                </a:solidFill>
              </a:rPr>
              <a:t>an exception object</a:t>
            </a:r>
            <a:endParaRPr lang="en-US" sz="1500" dirty="0"/>
          </a:p>
        </p:txBody>
      </p:sp>
      <p:sp>
        <p:nvSpPr>
          <p:cNvPr id="10" name="Shape 7"/>
          <p:cNvSpPr/>
          <p:nvPr/>
        </p:nvSpPr>
        <p:spPr>
          <a:xfrm>
            <a:off x="6720840" y="1965960"/>
            <a:ext cx="548640" cy="0"/>
          </a:xfrm>
          <a:prstGeom prst="line">
            <a:avLst/>
          </a:prstGeom>
          <a:noFill/>
          <a:ln w="22225">
            <a:solidFill>
              <a:schemeClr val="accent1"/>
            </a:solidFill>
            <a:prstDash val="solid"/>
            <a:tailEnd type="triangle"/>
          </a:ln>
        </p:spPr>
      </p:sp>
      <p:sp>
        <p:nvSpPr>
          <p:cNvPr id="11" name="Shape 8"/>
          <p:cNvSpPr/>
          <p:nvPr/>
        </p:nvSpPr>
        <p:spPr>
          <a:xfrm>
            <a:off x="7315200" y="1737360"/>
            <a:ext cx="4327855" cy="457200"/>
          </a:xfrm>
          <a:prstGeom prst="roundRect">
            <a:avLst>
              <a:gd name="adj" fmla="val 20000"/>
            </a:avLst>
          </a:prstGeom>
          <a:solidFill>
            <a:schemeClr val="accent1">
              <a:alpha val="14000"/>
            </a:schemeClr>
          </a:solidFill>
          <a:ln w="19050">
            <a:solidFill>
              <a:schemeClr val="accent1"/>
            </a:solidFill>
            <a:prstDash val="solid"/>
          </a:ln>
        </p:spPr>
      </p:sp>
      <p:sp>
        <p:nvSpPr>
          <p:cNvPr id="12" name="Text 9"/>
          <p:cNvSpPr txBox="1"/>
          <p:nvPr/>
        </p:nvSpPr>
        <p:spPr>
          <a:xfrm>
            <a:off x="7315200" y="1737360"/>
            <a:ext cx="4327855" cy="457200"/>
          </a:xfrm>
          <a:prstGeom prst="rect">
            <a:avLst/>
          </a:prstGeom>
          <a:noFill/>
          <a:ln/>
        </p:spPr>
        <p:txBody>
          <a:bodyPr wrap="square" lIns="0" tIns="0" rIns="0" bIns="0" rtlCol="0" anchor="ctr"/>
          <a:lstStyle/>
          <a:p>
            <a:pPr algn="ctr" indent="0" marL="0">
              <a:buNone/>
            </a:pPr>
            <a:r>
              <a:rPr lang="en-US" sz="1500" b="1" dirty="0">
                <a:solidFill>
                  <a:schemeClr val="tx1"/>
                </a:solidFill>
              </a:rPr>
              <a:t>Java (the JVM), now</a:t>
            </a:r>
            <a:endParaRPr lang="en-US" sz="1500" dirty="0"/>
          </a:p>
        </p:txBody>
      </p:sp>
      <p:sp>
        <p:nvSpPr>
          <p:cNvPr id="13" name="Shape 10"/>
          <p:cNvSpPr/>
          <p:nvPr/>
        </p:nvSpPr>
        <p:spPr>
          <a:xfrm>
            <a:off x="548640" y="2377440"/>
            <a:ext cx="1463040" cy="457200"/>
          </a:xfrm>
          <a:prstGeom prst="roundRect">
            <a:avLst>
              <a:gd name="adj" fmla="val 20000"/>
            </a:avLst>
          </a:prstGeom>
          <a:solidFill>
            <a:schemeClr val="accent2"/>
          </a:solidFill>
          <a:ln/>
        </p:spPr>
      </p:sp>
      <p:sp>
        <p:nvSpPr>
          <p:cNvPr id="14" name="Text 11"/>
          <p:cNvSpPr txBox="1"/>
          <p:nvPr/>
        </p:nvSpPr>
        <p:spPr>
          <a:xfrm>
            <a:off x="548640" y="2377440"/>
            <a:ext cx="146304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nsolas" pitchFamily="34" charset="0"/>
                <a:ea typeface="Consolas" pitchFamily="34" charset="-122"/>
                <a:cs typeface="Consolas" pitchFamily="34" charset="-120"/>
              </a:rPr>
              <a:t>throws</a:t>
            </a:r>
            <a:endParaRPr lang="en-US" sz="1600" dirty="0"/>
          </a:p>
        </p:txBody>
      </p:sp>
      <p:sp>
        <p:nvSpPr>
          <p:cNvPr id="15" name="Shape 12"/>
          <p:cNvSpPr/>
          <p:nvPr/>
        </p:nvSpPr>
        <p:spPr>
          <a:xfrm>
            <a:off x="2057400" y="2606040"/>
            <a:ext cx="548640" cy="0"/>
          </a:xfrm>
          <a:prstGeom prst="line">
            <a:avLst/>
          </a:prstGeom>
          <a:noFill/>
          <a:ln w="22225">
            <a:solidFill>
              <a:schemeClr val="accent2"/>
            </a:solidFill>
            <a:prstDash val="solid"/>
            <a:tailEnd type="triangle"/>
          </a:ln>
        </p:spPr>
      </p:sp>
      <p:sp>
        <p:nvSpPr>
          <p:cNvPr id="16" name="Shape 13"/>
          <p:cNvSpPr/>
          <p:nvPr/>
        </p:nvSpPr>
        <p:spPr>
          <a:xfrm>
            <a:off x="2651760" y="2377440"/>
            <a:ext cx="4023360" cy="457200"/>
          </a:xfrm>
          <a:prstGeom prst="roundRect">
            <a:avLst>
              <a:gd name="adj" fmla="val 20000"/>
            </a:avLst>
          </a:prstGeom>
          <a:solidFill>
            <a:schemeClr val="accent2">
              <a:alpha val="12000"/>
            </a:schemeClr>
          </a:solidFill>
          <a:ln w="19050">
            <a:solidFill>
              <a:schemeClr val="accent2"/>
            </a:solidFill>
            <a:prstDash val="solid"/>
          </a:ln>
        </p:spPr>
      </p:sp>
      <p:sp>
        <p:nvSpPr>
          <p:cNvPr id="17" name="Text 14"/>
          <p:cNvSpPr txBox="1"/>
          <p:nvPr/>
        </p:nvSpPr>
        <p:spPr>
          <a:xfrm>
            <a:off x="2651760" y="2377440"/>
            <a:ext cx="4023360" cy="457200"/>
          </a:xfrm>
          <a:prstGeom prst="rect">
            <a:avLst/>
          </a:prstGeom>
          <a:noFill/>
          <a:ln/>
        </p:spPr>
        <p:txBody>
          <a:bodyPr wrap="square" lIns="0" tIns="0" rIns="0" bIns="0" rtlCol="0" anchor="ctr"/>
          <a:lstStyle/>
          <a:p>
            <a:pPr algn="ctr" indent="0" marL="0">
              <a:buNone/>
            </a:pPr>
            <a:r>
              <a:rPr lang="en-US" sz="1500" b="1" dirty="0">
                <a:solidFill>
                  <a:schemeClr val="tx1"/>
                </a:solidFill>
              </a:rPr>
              <a:t>the job of handling it</a:t>
            </a:r>
            <a:endParaRPr lang="en-US" sz="1500" dirty="0"/>
          </a:p>
        </p:txBody>
      </p:sp>
      <p:sp>
        <p:nvSpPr>
          <p:cNvPr id="18" name="Shape 15"/>
          <p:cNvSpPr/>
          <p:nvPr/>
        </p:nvSpPr>
        <p:spPr>
          <a:xfrm>
            <a:off x="6720840" y="2606040"/>
            <a:ext cx="548640" cy="0"/>
          </a:xfrm>
          <a:prstGeom prst="line">
            <a:avLst/>
          </a:prstGeom>
          <a:noFill/>
          <a:ln w="22225">
            <a:solidFill>
              <a:schemeClr val="accent2"/>
            </a:solidFill>
            <a:prstDash val="solid"/>
            <a:tailEnd type="triangle"/>
          </a:ln>
        </p:spPr>
      </p:sp>
      <p:sp>
        <p:nvSpPr>
          <p:cNvPr id="19" name="Shape 16"/>
          <p:cNvSpPr/>
          <p:nvPr/>
        </p:nvSpPr>
        <p:spPr>
          <a:xfrm>
            <a:off x="7315200" y="2377440"/>
            <a:ext cx="4327855" cy="457200"/>
          </a:xfrm>
          <a:prstGeom prst="roundRect">
            <a:avLst>
              <a:gd name="adj" fmla="val 20000"/>
            </a:avLst>
          </a:prstGeom>
          <a:solidFill>
            <a:schemeClr val="accent2">
              <a:alpha val="12000"/>
            </a:schemeClr>
          </a:solidFill>
          <a:ln w="19050">
            <a:solidFill>
              <a:schemeClr val="accent2"/>
            </a:solidFill>
            <a:prstDash val="solid"/>
          </a:ln>
        </p:spPr>
      </p:sp>
      <p:sp>
        <p:nvSpPr>
          <p:cNvPr id="20" name="Text 17"/>
          <p:cNvSpPr txBox="1"/>
          <p:nvPr/>
        </p:nvSpPr>
        <p:spPr>
          <a:xfrm>
            <a:off x="7315200" y="2377440"/>
            <a:ext cx="4327855" cy="457200"/>
          </a:xfrm>
          <a:prstGeom prst="rect">
            <a:avLst/>
          </a:prstGeom>
          <a:noFill/>
          <a:ln/>
        </p:spPr>
        <p:txBody>
          <a:bodyPr wrap="square" lIns="0" tIns="0" rIns="0" bIns="0" rtlCol="0" anchor="ctr"/>
          <a:lstStyle/>
          <a:p>
            <a:pPr algn="ctr" indent="0" marL="0">
              <a:buNone/>
            </a:pPr>
            <a:r>
              <a:rPr lang="en-US" sz="1500" b="1" dirty="0">
                <a:solidFill>
                  <a:schemeClr val="tx1"/>
                </a:solidFill>
              </a:rPr>
              <a:t>the calling method</a:t>
            </a:r>
            <a:endParaRPr lang="en-US" sz="1500" dirty="0"/>
          </a:p>
        </p:txBody>
      </p:sp>
      <p:graphicFrame>
        <p:nvGraphicFramePr>
          <p:cNvPr id="45" name="Table"/>
          <p:cNvGraphicFramePr>
            <a:graphicFrameLocks noGrp="1"/>
          </p:cNvGraphicFramePr>
          <p:nvPr>
            <p:extLst>
              <p:ext uri="{D42A27DB-BD31-4B8C-83A1-F6EECF244321}">
                <p14:modId xmlns:p14="http://schemas.microsoft.com/office/powerpoint/2010/main" val="1579011935"/>
              </p:ext>
            </p:extLst>
          </p:nvPr>
        </p:nvGraphicFramePr>
        <p:xfrm>
          <a:off x="548640" y="3154680"/>
          <a:ext cx="11094415" cy="914400"/>
        </p:xfrm>
        <a:graphic>
          <a:graphicData uri="http://schemas.openxmlformats.org/drawingml/2006/table">
            <a:tbl>
              <a:tblPr/>
              <a:tblGrid>
                <a:gridCol w="2194560"/>
                <a:gridCol w="4526280"/>
                <a:gridCol w="4373575"/>
              </a:tblGrid>
              <a:tr h="457200">
                <a:tc>
                  <a:txBody>
                    <a:bodyPr/>
                    <a:lstStyle/>
                    <a:p>
                      <a:pPr indent="0" marL="0">
                        <a:buNone/>
                      </a:pPr>
                      <a:endParaRPr lang="en-US" sz="145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50" b="1" dirty="0">
                          <a:solidFill>
                            <a:srgbClr val="FFFFFF"/>
                          </a:solidFill>
                          <a:latin typeface="Consolas" pitchFamily="34" charset="0"/>
                          <a:ea typeface="Consolas" pitchFamily="34" charset="-122"/>
                          <a:cs typeface="Consolas" pitchFamily="34" charset="-120"/>
                        </a:rPr>
                        <a:t>throw</a:t>
                      </a:r>
                      <a:endParaRPr lang="en-US" sz="145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c>
                  <a:txBody>
                    <a:bodyPr/>
                    <a:lstStyle/>
                    <a:p>
                      <a:pPr indent="0" marL="0">
                        <a:buNone/>
                      </a:pPr>
                      <a:r>
                        <a:rPr lang="en-US" sz="1450" b="1" dirty="0">
                          <a:solidFill>
                            <a:srgbClr val="FFFFFF"/>
                          </a:solidFill>
                          <a:latin typeface="Consolas" pitchFamily="34" charset="0"/>
                          <a:ea typeface="Consolas" pitchFamily="34" charset="-122"/>
                          <a:cs typeface="Consolas" pitchFamily="34" charset="-120"/>
                        </a:rPr>
                        <a:t>throws</a:t>
                      </a:r>
                      <a:endParaRPr lang="en-US" sz="145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1F3F6B"/>
                    </a:solidFill>
                  </a:tcPr>
                </a:tc>
              </a:tr>
              <a:tr h="457200">
                <a:tc>
                  <a:txBody>
                    <a:bodyPr/>
                    <a:lstStyle/>
                    <a:p>
                      <a:pPr indent="0" marL="0">
                        <a:buNone/>
                      </a:pPr>
                      <a:r>
                        <a:rPr lang="en-US" sz="1450" b="1" dirty="0">
                          <a:solidFill>
                            <a:srgbClr val="1D2433"/>
                          </a:solidFill>
                        </a:rPr>
                        <a:t>What it does</a:t>
                      </a:r>
                      <a:endParaRPr lang="en-US" sz="145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indent="0" marL="0">
                        <a:buNone/>
                      </a:pPr>
                      <a:r>
                        <a:rPr lang="en-US" sz="1450" dirty="0">
                          <a:solidFill>
                            <a:srgbClr val="1D2433"/>
                          </a:solidFill>
                        </a:rPr>
                        <a:t>Throws one exception, right now</a:t>
                      </a:r>
                      <a:endParaRPr lang="en-US" sz="145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50" dirty="0">
                          <a:solidFill>
                            <a:srgbClr val="1D2433"/>
                          </a:solidFill>
                        </a:rPr>
                        <a:t>Warns that a method might throw</a:t>
                      </a:r>
                      <a:endParaRPr lang="en-US" sz="145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1D2433"/>
                          </a:solidFill>
                        </a:rPr>
                        <a:t>Followed by</a:t>
                      </a:r>
                      <a:endParaRPr lang="en-US" sz="145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indent="0" marL="0">
                        <a:buNone/>
                      </a:pPr>
                      <a:r>
                        <a:rPr lang="en-US" sz="1450" dirty="0">
                          <a:solidFill>
                            <a:srgbClr val="1D2433"/>
                          </a:solidFill>
                        </a:rPr>
                        <a:t>An exception object</a:t>
                      </a:r>
                      <a:endParaRPr lang="en-US" sz="145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50" dirty="0">
                          <a:solidFill>
                            <a:srgbClr val="1D2433"/>
                          </a:solidFill>
                        </a:rPr>
                        <a:t>Exception class names</a:t>
                      </a:r>
                      <a:endParaRPr lang="en-US" sz="145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1D2433"/>
                          </a:solidFill>
                        </a:rPr>
                        <a:t>Where it goes</a:t>
                      </a:r>
                      <a:endParaRPr lang="en-US" sz="145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indent="0" marL="0">
                        <a:buNone/>
                      </a:pPr>
                      <a:r>
                        <a:rPr lang="en-US" sz="1450" dirty="0">
                          <a:solidFill>
                            <a:srgbClr val="1D2433"/>
                          </a:solidFill>
                        </a:rPr>
                        <a:t>Inside the method body</a:t>
                      </a:r>
                      <a:endParaRPr lang="en-US" sz="145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50" dirty="0">
                          <a:solidFill>
                            <a:srgbClr val="1D2433"/>
                          </a:solidFill>
                        </a:rPr>
                        <a:t>At the end of the method header</a:t>
                      </a:r>
                      <a:endParaRPr lang="en-US" sz="145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1D2433"/>
                          </a:solidFill>
                        </a:rPr>
                        <a:t>How many</a:t>
                      </a:r>
                      <a:endParaRPr lang="en-US" sz="145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indent="0" marL="0">
                        <a:buNone/>
                      </a:pPr>
                      <a:r>
                        <a:rPr lang="en-US" sz="1450" dirty="0">
                          <a:solidFill>
                            <a:srgbClr val="1D2433"/>
                          </a:solidFill>
                        </a:rPr>
                        <a:t>One at a time</a:t>
                      </a:r>
                      <a:endParaRPr lang="en-US" sz="145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50" dirty="0">
                          <a:solidFill>
                            <a:srgbClr val="1D2433"/>
                          </a:solidFill>
                        </a:rPr>
                        <a:t>Several, separated by commas</a:t>
                      </a:r>
                      <a:endParaRPr lang="en-US" sz="145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1D2433"/>
                          </a:solidFill>
                        </a:rPr>
                        <a:t>Example</a:t>
                      </a:r>
                      <a:endParaRPr lang="en-US" sz="1450" dirty="0"/>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2F5F9"/>
                    </a:solidFill>
                  </a:tcPr>
                </a:tc>
                <a:tc>
                  <a:txBody>
                    <a:bodyPr/>
                    <a:lstStyle/>
                    <a:p>
                      <a:pPr indent="0" marL="0">
                        <a:buNone/>
                      </a:pPr>
                      <a:r>
                        <a:rPr lang="en-US" sz="1450" dirty="0">
                          <a:solidFill>
                            <a:srgbClr val="1D2433"/>
                          </a:solidFill>
                          <a:latin typeface="Consolas" pitchFamily="34" charset="0"/>
                          <a:ea typeface="Consolas" pitchFamily="34" charset="-122"/>
                          <a:cs typeface="Consolas" pitchFamily="34" charset="-120"/>
                        </a:rPr>
                        <a:t>throw new ArithmeticException("...");</a:t>
                      </a:r>
                      <a:endParaRPr lang="en-US" sz="145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c>
                  <a:txBody>
                    <a:bodyPr/>
                    <a:lstStyle/>
                    <a:p>
                      <a:pPr indent="0" marL="0">
                        <a:buNone/>
                      </a:pPr>
                      <a:r>
                        <a:rPr lang="en-US" sz="1450" dirty="0">
                          <a:solidFill>
                            <a:srgbClr val="1D2433"/>
                          </a:solidFill>
                          <a:latin typeface="Consolas" pitchFamily="34" charset="0"/>
                          <a:ea typeface="Consolas" pitchFamily="34" charset="-122"/>
                          <a:cs typeface="Consolas" pitchFamily="34" charset="-120"/>
                        </a:rPr>
                        <a:t>void save() throws IOException</a:t>
                      </a:r>
                      <a:endParaRPr lang="en-US" sz="1450" dirty="0">
                        <a:latin typeface="Consolas" charset="0"/>
                        <a:ea typeface="Consolas" charset="0"/>
                        <a:cs typeface="Consolas" charset="0"/>
                      </a:endParaRPr>
                    </a:p>
                  </a:txBody>
                  <a:tcPr marL="109728" marR="109728" marT="0" marB="0" anchor="ctr">
                    <a:lnL w="12700" cap="flat" cmpd="sng" algn="ctr">
                      <a:solidFill>
                        <a:srgbClr val="E3E8EF"/>
                      </a:solidFill>
                      <a:prstDash val="solid"/>
                      <a:round/>
                      <a:headEnd type="none" w="med" len="med"/>
                      <a:tailEnd type="none" w="med" len="med"/>
                    </a:lnL>
                    <a:lnR w="12700" cap="flat" cmpd="sng" algn="ctr">
                      <a:solidFill>
                        <a:srgbClr val="E3E8EF"/>
                      </a:solidFill>
                      <a:prstDash val="solid"/>
                      <a:round/>
                      <a:headEnd type="none" w="med" len="med"/>
                      <a:tailEnd type="none" w="med" len="med"/>
                    </a:lnR>
                    <a:lnT w="12700" cap="flat" cmpd="sng" algn="ctr">
                      <a:solidFill>
                        <a:srgbClr val="E3E8EF"/>
                      </a:solidFill>
                      <a:prstDash val="solid"/>
                      <a:round/>
                      <a:headEnd type="none" w="med" len="med"/>
                      <a:tailEnd type="none" w="med" len="med"/>
                    </a:lnT>
                    <a:lnB w="12700" cap="flat" cmpd="sng" algn="ctr">
                      <a:solidFill>
                        <a:srgbClr val="E3E8E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14</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throw or throws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Which of these lines is correct Java?</a:t>
            </a:r>
            <a:endParaRPr lang="en-US"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throws new ArithmeticException("Bad");</a:t>
            </a:r>
            <a:endParaRPr lang="en-US"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throw new ArithmeticException("Bad");</a:t>
            </a:r>
            <a:endParaRPr lang="en-US"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throw ArithmeticException;</a:t>
            </a:r>
            <a:endParaRPr lang="en-US"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US" sz="1900" dirty="0">
                <a:solidFill>
                  <a:schemeClr val="tx1"/>
                </a:solidFill>
                <a:latin typeface="Consolas" pitchFamily="34" charset="0"/>
                <a:ea typeface="Consolas" pitchFamily="34" charset="-122"/>
                <a:cs typeface="Consolas" pitchFamily="34" charset="-120"/>
              </a:rPr>
              <a:t>public void f() throw IOException {</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14</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throw or throws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Which of these lines is correct Java?</a:t>
            </a:r>
            <a:endParaRPr lang="en-US" sz="2000" dirty="0"/>
          </a:p>
        </p:txBody>
      </p:sp>
      <p:sp>
        <p:nvSpPr>
          <p:cNvPr id="5" name="Option A"/>
          <p:cNvSpPr/>
          <p:nvPr/>
        </p:nvSpPr>
        <p:spPr>
          <a:xfrm>
            <a:off x="548640" y="1828800"/>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191109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28800"/>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throws new ArithmeticException("Bad");</a:t>
            </a:r>
            <a:endParaRPr lang="en-US" sz="1700" dirty="0"/>
          </a:p>
        </p:txBody>
      </p:sp>
      <p:sp>
        <p:nvSpPr>
          <p:cNvPr id="8" name="Option B (correct)"/>
          <p:cNvSpPr/>
          <p:nvPr/>
        </p:nvSpPr>
        <p:spPr>
          <a:xfrm>
            <a:off x="548640" y="2532888"/>
            <a:ext cx="11094415" cy="585216"/>
          </a:xfrm>
          <a:prstGeom prst="roundRect">
            <a:avLst>
              <a:gd name="adj" fmla="val 18750"/>
            </a:avLst>
          </a:prstGeom>
          <a:solidFill>
            <a:schemeClr val="accent3"/>
          </a:solidFill>
          <a:ln/>
          <a:effectLst>
            <a:outerShdw sx="100000" sy="100000" kx="0" ky="0" algn="bl" rotWithShape="0" blurRad="114300" dist="31750" dir="5400000">
              <a:srgbClr val="1D2433">
                <a:alpha val="12000"/>
              </a:srgbClr>
            </a:outerShdw>
          </a:effectLst>
        </p:spPr>
      </p:sp>
      <p:sp>
        <p:nvSpPr>
          <p:cNvPr id="9" name="Letter B"/>
          <p:cNvSpPr/>
          <p:nvPr/>
        </p:nvSpPr>
        <p:spPr>
          <a:xfrm>
            <a:off x="749808" y="2615184"/>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0" name="Option B text"/>
          <p:cNvSpPr txBox="1"/>
          <p:nvPr/>
        </p:nvSpPr>
        <p:spPr>
          <a:xfrm>
            <a:off x="1371600" y="2532888"/>
            <a:ext cx="9704527" cy="585216"/>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throw new ArithmeticException("Bad");</a:t>
            </a:r>
            <a:endParaRPr lang="en-US" sz="1700" dirty="0"/>
          </a:p>
        </p:txBody>
      </p:sp>
      <p:pic>
        <p:nvPicPr>
          <p:cNvPr id="11" name="Image 0" descr="Correct mark">    </p:cNvPr>
          <p:cNvPicPr>
            <a:picLocks noChangeAspect="1"/>
          </p:cNvPicPr>
          <p:nvPr/>
        </p:nvPicPr>
        <p:blipFill>
          <a:blip r:embed="rId1"/>
          <a:stretch>
            <a:fillRect/>
          </a:stretch>
        </p:blipFill>
        <p:spPr>
          <a:xfrm>
            <a:off x="11094415" y="2642616"/>
            <a:ext cx="365760" cy="365760"/>
          </a:xfrm>
          <a:prstGeom prst="rect">
            <a:avLst/>
          </a:prstGeom>
        </p:spPr>
      </p:pic>
      <p:sp>
        <p:nvSpPr>
          <p:cNvPr id="12" name="Option C"/>
          <p:cNvSpPr/>
          <p:nvPr/>
        </p:nvSpPr>
        <p:spPr>
          <a:xfrm>
            <a:off x="548640" y="3236976"/>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3192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236976"/>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throw ArithmeticException;</a:t>
            </a:r>
            <a:endParaRPr lang="en-US" sz="1700" dirty="0"/>
          </a:p>
        </p:txBody>
      </p:sp>
      <p:sp>
        <p:nvSpPr>
          <p:cNvPr id="15" name="Option D"/>
          <p:cNvSpPr/>
          <p:nvPr/>
        </p:nvSpPr>
        <p:spPr>
          <a:xfrm>
            <a:off x="548640" y="3941064"/>
            <a:ext cx="11094415" cy="585216"/>
          </a:xfrm>
          <a:prstGeom prst="roundRect">
            <a:avLst>
              <a:gd name="adj" fmla="val 18750"/>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0233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3941064"/>
            <a:ext cx="10042855" cy="585216"/>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public void f() throw IOException {</a:t>
            </a:r>
            <a:endParaRPr lang="en-US" sz="1700" dirty="0"/>
          </a:p>
        </p:txBody>
      </p:sp>
      <p:sp>
        <p:nvSpPr>
          <p:cNvPr id="18" name="Why card"/>
          <p:cNvSpPr/>
          <p:nvPr/>
        </p:nvSpPr>
        <p:spPr>
          <a:xfrm>
            <a:off x="548640" y="4754880"/>
            <a:ext cx="11094415" cy="1371600"/>
          </a:xfrm>
          <a:prstGeom prst="roundRect">
            <a:avLst>
              <a:gd name="adj" fmla="val 8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868680" y="5157216"/>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987735" y="5276271"/>
            <a:ext cx="328818" cy="328818"/>
          </a:xfrm>
          <a:prstGeom prst="rect">
            <a:avLst/>
          </a:prstGeom>
        </p:spPr>
      </p:pic>
      <p:sp>
        <p:nvSpPr>
          <p:cNvPr id="21" name="Text 17"/>
          <p:cNvSpPr txBox="1"/>
          <p:nvPr/>
        </p:nvSpPr>
        <p:spPr>
          <a:xfrm>
            <a:off x="1572768" y="5157216"/>
            <a:ext cx="100584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2697480" y="4892040"/>
            <a:ext cx="8671255" cy="1097280"/>
          </a:xfrm>
          <a:prstGeom prst="rect">
            <a:avLst/>
          </a:prstGeom>
          <a:noFill/>
          <a:ln/>
        </p:spPr>
        <p:txBody>
          <a:bodyPr wrap="square" lIns="0" tIns="0" rIns="0" bIns="0" rtlCol="0" anchor="ctr"/>
          <a:lstStyle/>
          <a:p>
            <a:pPr algn="l" indent="0" marL="0">
              <a:buNone/>
            </a:pPr>
            <a:r>
              <a:rPr lang="en-US" sz="1600" dirty="0">
                <a:solidFill>
                  <a:schemeClr val="accent2"/>
                </a:solidFill>
                <a:latin typeface="Consolas" pitchFamily="34" charset="0"/>
                <a:ea typeface="Consolas" pitchFamily="34" charset="-122"/>
                <a:cs typeface="Consolas" pitchFamily="34" charset="-120"/>
              </a:rPr>
              <a:t>throw</a:t>
            </a:r>
            <a:r>
              <a:rPr lang="en-US" sz="1600" dirty="0">
                <a:solidFill>
                  <a:schemeClr val="tx1"/>
                </a:solidFill>
              </a:rPr>
              <a:t> is followed by an exception object, made with </a:t>
            </a:r>
            <a:r>
              <a:rPr lang="en-US" sz="1600" dirty="0">
                <a:solidFill>
                  <a:schemeClr val="accent2"/>
                </a:solidFill>
                <a:latin typeface="Consolas" pitchFamily="34" charset="0"/>
                <a:ea typeface="Consolas" pitchFamily="34" charset="-122"/>
                <a:cs typeface="Consolas" pitchFamily="34" charset="-120"/>
              </a:rPr>
              <a:t>new</a:t>
            </a:r>
            <a:r>
              <a:rPr lang="en-US" sz="1600" dirty="0">
                <a:solidFill>
                  <a:schemeClr val="tx1"/>
                </a:solidFill>
              </a:rPr>
              <a:t>. A uses </a:t>
            </a:r>
            <a:r>
              <a:rPr lang="en-US" sz="1600" dirty="0">
                <a:solidFill>
                  <a:schemeClr val="accent2"/>
                </a:solidFill>
                <a:latin typeface="Consolas" pitchFamily="34" charset="0"/>
                <a:ea typeface="Consolas" pitchFamily="34" charset="-122"/>
                <a:cs typeface="Consolas" pitchFamily="34" charset="-120"/>
              </a:rPr>
              <a:t>throws</a:t>
            </a:r>
            <a:r>
              <a:rPr lang="en-US" sz="1600" dirty="0">
                <a:solidFill>
                  <a:schemeClr val="tx1"/>
                </a:solidFill>
              </a:rPr>
              <a:t>, which only belongs in a method header. C names the class without making an object, so Java looks for a variable called </a:t>
            </a:r>
            <a:r>
              <a:rPr lang="en-US" sz="1600" dirty="0">
                <a:solidFill>
                  <a:schemeClr val="accent2"/>
                </a:solidFill>
                <a:latin typeface="Consolas" pitchFamily="34" charset="0"/>
                <a:ea typeface="Consolas" pitchFamily="34" charset="-122"/>
                <a:cs typeface="Consolas" pitchFamily="34" charset="-120"/>
              </a:rPr>
              <a:t>ArithmeticException</a:t>
            </a:r>
            <a:r>
              <a:rPr lang="en-US" sz="1600" dirty="0">
                <a:solidFill>
                  <a:schemeClr val="tx1"/>
                </a:solidFill>
              </a:rPr>
              <a:t>. D has </a:t>
            </a:r>
            <a:r>
              <a:rPr lang="en-US" sz="1600" dirty="0">
                <a:solidFill>
                  <a:schemeClr val="accent2"/>
                </a:solidFill>
                <a:latin typeface="Consolas" pitchFamily="34" charset="0"/>
                <a:ea typeface="Consolas" pitchFamily="34" charset="-122"/>
                <a:cs typeface="Consolas" pitchFamily="34" charset="-120"/>
              </a:rPr>
              <a:t>throw</a:t>
            </a:r>
            <a:r>
              <a:rPr lang="en-US" sz="1600" dirty="0">
                <a:solidFill>
                  <a:schemeClr val="tx1"/>
                </a:solidFill>
              </a:rPr>
              <a:t> where the header needs </a:t>
            </a:r>
            <a:r>
              <a:rPr lang="en-US" sz="1600" dirty="0">
                <a:solidFill>
                  <a:schemeClr val="accent2"/>
                </a:solidFill>
                <a:latin typeface="Consolas" pitchFamily="34" charset="0"/>
                <a:ea typeface="Consolas" pitchFamily="34" charset="-122"/>
                <a:cs typeface="Consolas" pitchFamily="34" charset="-120"/>
              </a:rPr>
              <a:t>throws</a:t>
            </a:r>
            <a:r>
              <a:rPr lang="en-US" sz="16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THROW, THROWS AND CUSTOM EXCEPTIONS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Checked exceptions: catch them or declare them</a:t>
            </a:r>
            <a:endParaRPr lang="en-US" sz="3400" dirty="0"/>
          </a:p>
        </p:txBody>
      </p:sp>
      <p:sp>
        <p:nvSpPr>
          <p:cNvPr id="5" name="Text 2"/>
          <p:cNvSpPr txBox="1"/>
          <p:nvPr/>
        </p:nvSpPr>
        <p:spPr>
          <a:xfrm>
            <a:off x="548640" y="1783080"/>
            <a:ext cx="5120640" cy="2103120"/>
          </a:xfrm>
          <a:prstGeom prst="rect">
            <a:avLst/>
          </a:prstGeom>
          <a:noFill/>
          <a:ln/>
        </p:spPr>
        <p:txBody>
          <a:bodyPr wrap="square" lIns="0" tIns="0" rIns="0" bIns="0" rtlCol="0" anchor="t"/>
          <a:lstStyle/>
          <a:p>
            <a:pPr marL="228600" indent="-228600">
              <a:spcAft>
                <a:spcPts val="1000"/>
              </a:spcAft>
              <a:buSzPct val="100000"/>
              <a:buChar char="•"/>
            </a:pPr>
            <a:r>
              <a:rPr lang="en-US" sz="1650" dirty="0">
                <a:solidFill>
                  <a:schemeClr val="tx1"/>
                </a:solidFill>
              </a:rPr>
              <a:t>Some library classes, like FileWriter for writing files, declare </a:t>
            </a:r>
            <a:r>
              <a:rPr lang="en-US" sz="1650" dirty="0">
                <a:solidFill>
                  <a:schemeClr val="accent2"/>
                </a:solidFill>
                <a:latin typeface="Consolas" pitchFamily="34" charset="0"/>
                <a:ea typeface="Consolas" pitchFamily="34" charset="-122"/>
                <a:cs typeface="Consolas" pitchFamily="34" charset="-120"/>
              </a:rPr>
              <a:t>throws IOException</a:t>
            </a:r>
            <a:r>
              <a:rPr lang="en-US" sz="1650" dirty="0">
                <a:solidFill>
                  <a:schemeClr val="tx1"/>
                </a:solidFill>
              </a:rPr>
              <a:t>.</a:t>
            </a:r>
            <a:endParaRPr lang="en-US" sz="1650" dirty="0"/>
          </a:p>
          <a:p>
            <a:pPr marL="228600" indent="-228600">
              <a:spcAft>
                <a:spcPts val="1000"/>
              </a:spcAft>
              <a:buSzPct val="100000"/>
              <a:buChar char="•"/>
            </a:pPr>
            <a:r>
              <a:rPr lang="en-US" sz="1650" dirty="0">
                <a:solidFill>
                  <a:schemeClr val="accent2"/>
                </a:solidFill>
                <a:latin typeface="Consolas" pitchFamily="34" charset="0"/>
                <a:ea typeface="Consolas" pitchFamily="34" charset="-122"/>
                <a:cs typeface="Consolas" pitchFamily="34" charset="-120"/>
              </a:rPr>
              <a:t>IOException</a:t>
            </a:r>
            <a:r>
              <a:rPr lang="en-US" sz="1650" dirty="0">
                <a:solidFill>
                  <a:schemeClr val="tx1"/>
                </a:solidFill>
              </a:rPr>
              <a:t> is checked, so the compiler won’t build our code until we deal with it.</a:t>
            </a:r>
            <a:endParaRPr lang="en-US" sz="1650" dirty="0"/>
          </a:p>
          <a:p>
            <a:pPr marL="228600" indent="-228600">
              <a:buSzPct val="100000"/>
              <a:buChar char="•"/>
            </a:pPr>
            <a:r>
              <a:rPr lang="en-US" sz="1650" dirty="0">
                <a:solidFill>
                  <a:schemeClr val="tx1"/>
                </a:solidFill>
              </a:rPr>
              <a:t>Two fixes: catch it, or add throws to our own method.</a:t>
            </a:r>
            <a:endParaRPr lang="en-US" sz="1650" dirty="0"/>
          </a:p>
        </p:txBody>
      </p:sp>
      <p:sp>
        <p:nvSpPr>
          <p:cNvPr id="6" name="FileWriter problem card"/>
          <p:cNvSpPr/>
          <p:nvPr/>
        </p:nvSpPr>
        <p:spPr>
          <a:xfrm>
            <a:off x="548640" y="4023360"/>
            <a:ext cx="5120640" cy="1378458"/>
          </a:xfrm>
          <a:prstGeom prst="roundRect">
            <a:avLst>
              <a:gd name="adj" fmla="val 7960"/>
            </a:avLst>
          </a:prstGeom>
          <a:solidFill>
            <a:schemeClr val="tx1"/>
          </a:solidFill>
          <a:ln/>
          <a:effectLst>
            <a:outerShdw sx="100000" sy="100000" kx="0" ky="0" algn="bl" rotWithShape="0" blurRad="114300" dist="31750" dir="5400000">
              <a:srgbClr val="1D2433">
                <a:alpha val="12000"/>
              </a:srgbClr>
            </a:outerShdw>
          </a:effectLst>
        </p:spPr>
      </p:sp>
      <p:sp>
        <p:nvSpPr>
          <p:cNvPr id="7" name="FileWriter problem label"/>
          <p:cNvSpPr txBox="1"/>
          <p:nvPr/>
        </p:nvSpPr>
        <p:spPr>
          <a:xfrm>
            <a:off x="822960" y="4142232"/>
            <a:ext cx="45720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Won’t compile</a:t>
            </a:r>
            <a:endParaRPr lang="en-US" sz="1050" dirty="0"/>
          </a:p>
        </p:txBody>
      </p:sp>
      <p:sp>
        <p:nvSpPr>
          <p:cNvPr id="8" name="FileWriter problem text"/>
          <p:cNvSpPr txBox="1"/>
          <p:nvPr/>
        </p:nvSpPr>
        <p:spPr>
          <a:xfrm>
            <a:off x="822960" y="4517136"/>
            <a:ext cx="4572000" cy="683514"/>
          </a:xfrm>
          <a:prstGeom prst="rect">
            <a:avLst/>
          </a:prstGeom>
          <a:noFill/>
          <a:ln/>
        </p:spPr>
        <p:txBody>
          <a:bodyPr wrap="square" lIns="0" tIns="0" rIns="0" bIns="0" rtlCol="0" anchor="t"/>
          <a:lstStyle/>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FileWriter </a:t>
            </a:r>
            <a:r>
              <a:rPr lang="en-US" sz="1250" dirty="0">
                <a:solidFill>
                  <a:srgbClr val="E6EBF2"/>
                </a:solidFill>
                <a:latin typeface="Consolas" pitchFamily="34" charset="0"/>
                <a:ea typeface="Consolas" pitchFamily="34" charset="-122"/>
                <a:cs typeface="Consolas" pitchFamily="34" charset="-120"/>
              </a:rPr>
              <a:t>fw = </a:t>
            </a:r>
            <a:r>
              <a:rPr lang="en-US" sz="1250" dirty="0">
                <a:solidFill>
                  <a:srgbClr val="FF9F5A"/>
                </a:solidFill>
                <a:latin typeface="Consolas" pitchFamily="34" charset="0"/>
                <a:ea typeface="Consolas" pitchFamily="34" charset="-122"/>
                <a:cs typeface="Consolas" pitchFamily="34" charset="-120"/>
              </a:rPr>
              <a:t>new </a:t>
            </a:r>
            <a:r>
              <a:rPr lang="en-US" sz="1250" dirty="0">
                <a:solidFill>
                  <a:srgbClr val="C9B0FF"/>
                </a:solidFill>
                <a:latin typeface="Consolas" pitchFamily="34" charset="0"/>
                <a:ea typeface="Consolas" pitchFamily="34" charset="-122"/>
                <a:cs typeface="Consolas" pitchFamily="34" charset="-120"/>
              </a:rPr>
              <a:t>FileWriter</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"notes.txt"</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fw.</a:t>
            </a:r>
            <a:r>
              <a:rPr lang="en-US" sz="1250" dirty="0">
                <a:solidFill>
                  <a:srgbClr val="C9B0FF"/>
                </a:solidFill>
                <a:latin typeface="Consolas" pitchFamily="34" charset="0"/>
                <a:ea typeface="Consolas" pitchFamily="34" charset="-122"/>
                <a:cs typeface="Consolas" pitchFamily="34" charset="-120"/>
              </a:rPr>
              <a:t>write</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"Hello"</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fw.</a:t>
            </a:r>
            <a:r>
              <a:rPr lang="en-US" sz="1250" dirty="0">
                <a:solidFill>
                  <a:srgbClr val="C9B0FF"/>
                </a:solidFill>
                <a:latin typeface="Consolas" pitchFamily="34" charset="0"/>
                <a:ea typeface="Consolas" pitchFamily="34" charset="-122"/>
                <a:cs typeface="Consolas" pitchFamily="34" charset="-120"/>
              </a:rPr>
              <a:t>close</a:t>
            </a:r>
            <a:r>
              <a:rPr lang="en-US" sz="1250" dirty="0">
                <a:solidFill>
                  <a:srgbClr val="E6EBF2"/>
                </a:solidFill>
                <a:latin typeface="Consolas" pitchFamily="34" charset="0"/>
                <a:ea typeface="Consolas" pitchFamily="34" charset="-122"/>
                <a:cs typeface="Consolas" pitchFamily="34" charset="-120"/>
              </a:rPr>
              <a:t>();</a:t>
            </a:r>
            <a:endParaRPr lang="en-US" sz="1250" dirty="0"/>
          </a:p>
        </p:txBody>
      </p:sp>
      <p:pic>
        <p:nvPicPr>
          <p:cNvPr id="9" name="Image 0" descr="Does not work">    </p:cNvPr>
          <p:cNvPicPr>
            <a:picLocks noChangeAspect="1"/>
          </p:cNvPicPr>
          <p:nvPr/>
        </p:nvPicPr>
        <p:blipFill>
          <a:blip r:embed="rId1"/>
          <a:stretch>
            <a:fillRect/>
          </a:stretch>
        </p:blipFill>
        <p:spPr>
          <a:xfrm>
            <a:off x="548640" y="5577840"/>
            <a:ext cx="347472" cy="347472"/>
          </a:xfrm>
          <a:prstGeom prst="rect">
            <a:avLst/>
          </a:prstGeom>
        </p:spPr>
      </p:pic>
      <p:sp>
        <p:nvSpPr>
          <p:cNvPr id="10" name="Text 6"/>
          <p:cNvSpPr txBox="1"/>
          <p:nvPr/>
        </p:nvSpPr>
        <p:spPr>
          <a:xfrm>
            <a:off x="1005840" y="5559552"/>
            <a:ext cx="4663440" cy="384048"/>
          </a:xfrm>
          <a:prstGeom prst="rect">
            <a:avLst/>
          </a:prstGeom>
          <a:noFill/>
          <a:ln/>
        </p:spPr>
        <p:txBody>
          <a:bodyPr wrap="square" lIns="0" tIns="0" rIns="0" bIns="0" rtlCol="0" anchor="ctr"/>
          <a:lstStyle/>
          <a:p>
            <a:pPr algn="l" indent="0" marL="0">
              <a:buNone/>
            </a:pPr>
            <a:r>
              <a:rPr lang="en-US" sz="1400" b="1" dirty="0">
                <a:solidFill>
                  <a:srgbClr val="C0392B"/>
                </a:solidFill>
              </a:rPr>
              <a:t>Compiler: unreported exception IOException</a:t>
            </a:r>
            <a:endParaRPr lang="en-US" sz="1400" dirty="0"/>
          </a:p>
        </p:txBody>
      </p:sp>
      <p:sp>
        <p:nvSpPr>
          <p:cNvPr id="11" name="Fix 1 card"/>
          <p:cNvSpPr/>
          <p:nvPr/>
        </p:nvSpPr>
        <p:spPr>
          <a:xfrm>
            <a:off x="6035040" y="1691640"/>
            <a:ext cx="5608015" cy="2216658"/>
          </a:xfrm>
          <a:prstGeom prst="roundRect">
            <a:avLst>
              <a:gd name="adj" fmla="val 4950"/>
            </a:avLst>
          </a:prstGeom>
          <a:solidFill>
            <a:schemeClr val="tx1"/>
          </a:solidFill>
          <a:ln/>
          <a:effectLst>
            <a:outerShdw sx="100000" sy="100000" kx="0" ky="0" algn="bl" rotWithShape="0" blurRad="114300" dist="31750" dir="5400000">
              <a:srgbClr val="1D2433">
                <a:alpha val="12000"/>
              </a:srgbClr>
            </a:outerShdw>
          </a:effectLst>
        </p:spPr>
      </p:sp>
      <p:sp>
        <p:nvSpPr>
          <p:cNvPr id="12" name="Fix 1 label"/>
          <p:cNvSpPr txBox="1"/>
          <p:nvPr/>
        </p:nvSpPr>
        <p:spPr>
          <a:xfrm>
            <a:off x="6309360" y="1810512"/>
            <a:ext cx="505937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Fix 1: try and catch</a:t>
            </a:r>
            <a:endParaRPr lang="en-US" sz="1050" dirty="0"/>
          </a:p>
        </p:txBody>
      </p:sp>
      <p:sp>
        <p:nvSpPr>
          <p:cNvPr id="13" name="Fix 1 text"/>
          <p:cNvSpPr txBox="1"/>
          <p:nvPr/>
        </p:nvSpPr>
        <p:spPr>
          <a:xfrm>
            <a:off x="6309360" y="2185416"/>
            <a:ext cx="5059375" cy="1521714"/>
          </a:xfrm>
          <a:prstGeom prst="rect">
            <a:avLst/>
          </a:prstGeom>
          <a:noFill/>
          <a:ln/>
        </p:spPr>
        <p:txBody>
          <a:bodyPr wrap="square" lIns="0" tIns="0" rIns="0" bIns="0" rtlCol="0" anchor="t"/>
          <a:lstStyle/>
          <a:p>
            <a:pPr indent="0" marL="0">
              <a:lnSpc>
                <a:spcPts val="1650"/>
              </a:lnSpc>
              <a:buNone/>
            </a:pPr>
            <a:r>
              <a:rPr lang="en-US" sz="1250" dirty="0">
                <a:solidFill>
                  <a:srgbClr val="FF9F5A"/>
                </a:solidFill>
                <a:latin typeface="Consolas" pitchFamily="34" charset="0"/>
                <a:ea typeface="Consolas" pitchFamily="34" charset="-122"/>
                <a:cs typeface="Consolas" pitchFamily="34" charset="-120"/>
              </a:rPr>
              <a:t>try </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6CC4E8"/>
                </a:solidFill>
                <a:latin typeface="Consolas" pitchFamily="34" charset="0"/>
                <a:ea typeface="Consolas" pitchFamily="34" charset="-122"/>
                <a:cs typeface="Consolas" pitchFamily="34" charset="-120"/>
              </a:rPr>
              <a:t>FileWriter </a:t>
            </a:r>
            <a:r>
              <a:rPr lang="en-US" sz="1250" dirty="0">
                <a:solidFill>
                  <a:srgbClr val="E6EBF2"/>
                </a:solidFill>
                <a:latin typeface="Consolas" pitchFamily="34" charset="0"/>
                <a:ea typeface="Consolas" pitchFamily="34" charset="-122"/>
                <a:cs typeface="Consolas" pitchFamily="34" charset="-120"/>
              </a:rPr>
              <a:t>fw = </a:t>
            </a:r>
            <a:r>
              <a:rPr lang="en-US" sz="1250" dirty="0">
                <a:solidFill>
                  <a:srgbClr val="FF9F5A"/>
                </a:solidFill>
                <a:latin typeface="Consolas" pitchFamily="34" charset="0"/>
                <a:ea typeface="Consolas" pitchFamily="34" charset="-122"/>
                <a:cs typeface="Consolas" pitchFamily="34" charset="-120"/>
              </a:rPr>
              <a:t>new </a:t>
            </a:r>
            <a:r>
              <a:rPr lang="en-US" sz="1250" dirty="0">
                <a:solidFill>
                  <a:srgbClr val="C9B0FF"/>
                </a:solidFill>
                <a:latin typeface="Consolas" pitchFamily="34" charset="0"/>
                <a:ea typeface="Consolas" pitchFamily="34" charset="-122"/>
                <a:cs typeface="Consolas" pitchFamily="34" charset="-120"/>
              </a:rPr>
              <a:t>FileWriter</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"notes.txt"</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fw.</a:t>
            </a:r>
            <a:r>
              <a:rPr lang="en-US" sz="1250" dirty="0">
                <a:solidFill>
                  <a:srgbClr val="C9B0FF"/>
                </a:solidFill>
                <a:latin typeface="Consolas" pitchFamily="34" charset="0"/>
                <a:ea typeface="Consolas" pitchFamily="34" charset="-122"/>
                <a:cs typeface="Consolas" pitchFamily="34" charset="-120"/>
              </a:rPr>
              <a:t>write</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"Hello"</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fw.</a:t>
            </a:r>
            <a:r>
              <a:rPr lang="en-US" sz="1250" dirty="0">
                <a:solidFill>
                  <a:srgbClr val="C9B0FF"/>
                </a:solidFill>
                <a:latin typeface="Consolas" pitchFamily="34" charset="0"/>
                <a:ea typeface="Consolas" pitchFamily="34" charset="-122"/>
                <a:cs typeface="Consolas" pitchFamily="34" charset="-120"/>
              </a:rPr>
              <a:t>close</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FF9F5A"/>
                </a:solidFill>
                <a:latin typeface="Consolas" pitchFamily="34" charset="0"/>
                <a:ea typeface="Consolas" pitchFamily="34" charset="-122"/>
                <a:cs typeface="Consolas" pitchFamily="34" charset="-120"/>
              </a:rPr>
              <a:t>catch </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6CC4E8"/>
                </a:solidFill>
                <a:latin typeface="Consolas" pitchFamily="34" charset="0"/>
                <a:ea typeface="Consolas" pitchFamily="34" charset="-122"/>
                <a:cs typeface="Consolas" pitchFamily="34" charset="-120"/>
              </a:rPr>
              <a:t>IOException </a:t>
            </a:r>
            <a:r>
              <a:rPr lang="en-US" sz="1250" dirty="0">
                <a:solidFill>
                  <a:srgbClr val="E6EBF2"/>
                </a:solidFill>
                <a:latin typeface="Consolas" pitchFamily="34" charset="0"/>
                <a:ea typeface="Consolas" pitchFamily="34" charset="-122"/>
                <a:cs typeface="Consolas" pitchFamily="34" charset="-120"/>
              </a:rPr>
              <a:t>e) {</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"Couldn't save the file"</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a:t>
            </a:r>
            <a:endParaRPr lang="en-US" sz="1250" dirty="0"/>
          </a:p>
        </p:txBody>
      </p:sp>
      <p:sp>
        <p:nvSpPr>
          <p:cNvPr id="14" name="Fix 2 card"/>
          <p:cNvSpPr/>
          <p:nvPr/>
        </p:nvSpPr>
        <p:spPr>
          <a:xfrm>
            <a:off x="6035040" y="4069080"/>
            <a:ext cx="5608015" cy="2007108"/>
          </a:xfrm>
          <a:prstGeom prst="roundRect">
            <a:avLst>
              <a:gd name="adj" fmla="val 5467"/>
            </a:avLst>
          </a:prstGeom>
          <a:solidFill>
            <a:schemeClr val="tx1"/>
          </a:solidFill>
          <a:ln/>
          <a:effectLst>
            <a:outerShdw sx="100000" sy="100000" kx="0" ky="0" algn="bl" rotWithShape="0" blurRad="114300" dist="31750" dir="5400000">
              <a:srgbClr val="1D2433">
                <a:alpha val="12000"/>
              </a:srgbClr>
            </a:outerShdw>
          </a:effectLst>
        </p:spPr>
      </p:sp>
      <p:sp>
        <p:nvSpPr>
          <p:cNvPr id="15" name="Fix 2 label"/>
          <p:cNvSpPr txBox="1"/>
          <p:nvPr/>
        </p:nvSpPr>
        <p:spPr>
          <a:xfrm>
            <a:off x="6309360" y="4187952"/>
            <a:ext cx="505937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Fix 2: throws</a:t>
            </a:r>
            <a:endParaRPr lang="en-US" sz="1050" dirty="0"/>
          </a:p>
        </p:txBody>
      </p:sp>
      <p:sp>
        <p:nvSpPr>
          <p:cNvPr id="16" name="Fix 2 text"/>
          <p:cNvSpPr txBox="1"/>
          <p:nvPr/>
        </p:nvSpPr>
        <p:spPr>
          <a:xfrm>
            <a:off x="6309360" y="4562856"/>
            <a:ext cx="5059375" cy="1312164"/>
          </a:xfrm>
          <a:prstGeom prst="rect">
            <a:avLst/>
          </a:prstGeom>
          <a:noFill/>
          <a:ln/>
        </p:spPr>
        <p:txBody>
          <a:bodyPr wrap="square" lIns="0" tIns="0" rIns="0" bIns="0" rtlCol="0" anchor="t"/>
          <a:lstStyle/>
          <a:p>
            <a:pPr indent="0" marL="0">
              <a:lnSpc>
                <a:spcPts val="1650"/>
              </a:lnSpc>
              <a:buNone/>
            </a:pPr>
            <a:r>
              <a:rPr lang="en-US" sz="1250" dirty="0">
                <a:solidFill>
                  <a:srgbClr val="FF9F5A"/>
                </a:solidFill>
                <a:latin typeface="Consolas" pitchFamily="34" charset="0"/>
                <a:ea typeface="Consolas" pitchFamily="34" charset="-122"/>
                <a:cs typeface="Consolas" pitchFamily="34" charset="-120"/>
              </a:rPr>
              <a:t>public static void </a:t>
            </a:r>
            <a:r>
              <a:rPr lang="en-US" sz="1250" dirty="0">
                <a:solidFill>
                  <a:srgbClr val="C9B0FF"/>
                </a:solidFill>
                <a:latin typeface="Consolas" pitchFamily="34" charset="0"/>
                <a:ea typeface="Consolas" pitchFamily="34" charset="-122"/>
                <a:cs typeface="Consolas" pitchFamily="34" charset="-120"/>
              </a:rPr>
              <a:t>main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6CC4E8"/>
                </a:solidFill>
                <a:latin typeface="Consolas" pitchFamily="34" charset="0"/>
                <a:ea typeface="Consolas" pitchFamily="34" charset="-122"/>
                <a:cs typeface="Consolas" pitchFamily="34" charset="-120"/>
              </a:rPr>
              <a:t>String</a:t>
            </a:r>
            <a:r>
              <a:rPr lang="en-US" sz="1250" dirty="0">
                <a:solidFill>
                  <a:srgbClr val="E6EBF2"/>
                </a:solidFill>
                <a:latin typeface="Consolas" pitchFamily="34" charset="0"/>
                <a:ea typeface="Consolas" pitchFamily="34" charset="-122"/>
                <a:cs typeface="Consolas" pitchFamily="34" charset="-120"/>
              </a:rPr>
              <a:t>[] args)</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FF9F5A"/>
                </a:solidFill>
                <a:latin typeface="Consolas" pitchFamily="34" charset="0"/>
                <a:ea typeface="Consolas" pitchFamily="34" charset="-122"/>
                <a:cs typeface="Consolas" pitchFamily="34" charset="-120"/>
              </a:rPr>
              <a:t>throws </a:t>
            </a:r>
            <a:r>
              <a:rPr lang="en-US" sz="1250" dirty="0">
                <a:solidFill>
                  <a:srgbClr val="6CC4E8"/>
                </a:solidFill>
                <a:latin typeface="Consolas" pitchFamily="34" charset="0"/>
                <a:ea typeface="Consolas" pitchFamily="34" charset="-122"/>
                <a:cs typeface="Consolas" pitchFamily="34" charset="-120"/>
              </a:rPr>
              <a:t>IOException </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6CC4E8"/>
                </a:solidFill>
                <a:latin typeface="Consolas" pitchFamily="34" charset="0"/>
                <a:ea typeface="Consolas" pitchFamily="34" charset="-122"/>
                <a:cs typeface="Consolas" pitchFamily="34" charset="-120"/>
              </a:rPr>
              <a:t>FileWriter </a:t>
            </a:r>
            <a:r>
              <a:rPr lang="en-US" sz="1250" dirty="0">
                <a:solidFill>
                  <a:srgbClr val="E6EBF2"/>
                </a:solidFill>
                <a:latin typeface="Consolas" pitchFamily="34" charset="0"/>
                <a:ea typeface="Consolas" pitchFamily="34" charset="-122"/>
                <a:cs typeface="Consolas" pitchFamily="34" charset="-120"/>
              </a:rPr>
              <a:t>fw = </a:t>
            </a:r>
            <a:r>
              <a:rPr lang="en-US" sz="1250" dirty="0">
                <a:solidFill>
                  <a:srgbClr val="FF9F5A"/>
                </a:solidFill>
                <a:latin typeface="Consolas" pitchFamily="34" charset="0"/>
                <a:ea typeface="Consolas" pitchFamily="34" charset="-122"/>
                <a:cs typeface="Consolas" pitchFamily="34" charset="-120"/>
              </a:rPr>
              <a:t>new </a:t>
            </a:r>
            <a:r>
              <a:rPr lang="en-US" sz="1250" dirty="0">
                <a:solidFill>
                  <a:srgbClr val="C9B0FF"/>
                </a:solidFill>
                <a:latin typeface="Consolas" pitchFamily="34" charset="0"/>
                <a:ea typeface="Consolas" pitchFamily="34" charset="-122"/>
                <a:cs typeface="Consolas" pitchFamily="34" charset="-120"/>
              </a:rPr>
              <a:t>FileWriter</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"notes.txt"</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fw.</a:t>
            </a:r>
            <a:r>
              <a:rPr lang="en-US" sz="1250" dirty="0">
                <a:solidFill>
                  <a:srgbClr val="C9B0FF"/>
                </a:solidFill>
                <a:latin typeface="Consolas" pitchFamily="34" charset="0"/>
                <a:ea typeface="Consolas" pitchFamily="34" charset="-122"/>
                <a:cs typeface="Consolas" pitchFamily="34" charset="-120"/>
              </a:rPr>
              <a:t>write</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"Hello"</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fw.</a:t>
            </a:r>
            <a:r>
              <a:rPr lang="en-US" sz="1250" dirty="0">
                <a:solidFill>
                  <a:srgbClr val="C9B0FF"/>
                </a:solidFill>
                <a:latin typeface="Consolas" pitchFamily="34" charset="0"/>
                <a:ea typeface="Consolas" pitchFamily="34" charset="-122"/>
                <a:cs typeface="Consolas" pitchFamily="34" charset="-120"/>
              </a:rPr>
              <a:t>close</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a:t>
            </a:r>
            <a:endParaRPr lang="en-US" sz="12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15</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Catch or declare</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accent2"/>
                </a:solidFill>
                <a:latin typeface="Consolas" pitchFamily="34" charset="0"/>
                <a:ea typeface="Consolas" pitchFamily="34" charset="-122"/>
                <a:cs typeface="Consolas" pitchFamily="34" charset="-120"/>
              </a:rPr>
              <a:t>new FileWriter("notes.txt")</a:t>
            </a:r>
            <a:r>
              <a:rPr lang="en-US" sz="2800" b="1" dirty="0">
                <a:solidFill>
                  <a:schemeClr val="tx1"/>
                </a:solidFill>
              </a:rPr>
              <a:t> is written with no try/catch and no throws. What happens?</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builds and runs, creating the file</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builds, but always crashes</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won’t build until IOException is caught or declared</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Only a warning about the file name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15</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Catch or declare</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latin typeface="Consolas" pitchFamily="34" charset="0"/>
                <a:ea typeface="Consolas" pitchFamily="34" charset="-122"/>
                <a:cs typeface="Consolas" pitchFamily="34" charset="-120"/>
              </a:rPr>
              <a:t>new FileWriter("notes.txt")</a:t>
            </a:r>
            <a:r>
              <a:rPr lang="en-US" sz="2000" b="1" dirty="0">
                <a:solidFill>
                  <a:schemeClr val="tx2"/>
                </a:solidFill>
              </a:rPr>
              <a:t> is written with no try/catch and no throws. What happens?</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It builds and runs, creating the file</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It builds, but always crashes</a:t>
            </a:r>
            <a:endParaRPr lang="en-US"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3" name="Option C text"/>
          <p:cNvSpPr txBox="1"/>
          <p:nvPr/>
        </p:nvSpPr>
        <p:spPr>
          <a:xfrm>
            <a:off x="1371600" y="3721608"/>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It won’t build until IOException is caught or declared</a:t>
            </a:r>
            <a:endParaRPr lang="en-US" sz="1700" dirty="0"/>
          </a:p>
        </p:txBody>
      </p:sp>
      <p:pic>
        <p:nvPicPr>
          <p:cNvPr id="14" name="Image 0"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Only a warning about the file name</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FileWriter’s constructor declares </a:t>
            </a:r>
            <a:r>
              <a:rPr lang="en-US" sz="1800" dirty="0">
                <a:solidFill>
                  <a:schemeClr val="accent2"/>
                </a:solidFill>
                <a:latin typeface="Consolas" pitchFamily="34" charset="0"/>
                <a:ea typeface="Consolas" pitchFamily="34" charset="-122"/>
                <a:cs typeface="Consolas" pitchFamily="34" charset="-120"/>
              </a:rPr>
              <a:t>throws IOException</a:t>
            </a:r>
            <a:r>
              <a:rPr lang="en-US" sz="1800" dirty="0">
                <a:solidFill>
                  <a:schemeClr val="tx1"/>
                </a:solidFill>
              </a:rPr>
              <a:t>, a checked exception. The compiler stops with unreported exception IOException; must be caught or declared to be thrown. Add a try/catch, or </a:t>
            </a:r>
            <a:r>
              <a:rPr lang="en-US" sz="1800" dirty="0">
                <a:solidFill>
                  <a:schemeClr val="accent2"/>
                </a:solidFill>
                <a:latin typeface="Consolas" pitchFamily="34" charset="0"/>
                <a:ea typeface="Consolas" pitchFamily="34" charset="-122"/>
                <a:cs typeface="Consolas" pitchFamily="34" charset="-120"/>
              </a:rPr>
              <a:t>throws IOException</a:t>
            </a:r>
            <a:r>
              <a:rPr lang="en-US" sz="1800" dirty="0">
                <a:solidFill>
                  <a:schemeClr val="tx1"/>
                </a:solidFill>
              </a:rPr>
              <a:t> on the method.</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THROW, THROWS AND CUSTOM EXCEPTIONS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Making our own exception</a:t>
            </a:r>
            <a:endParaRPr lang="en-US" sz="3400" dirty="0"/>
          </a:p>
        </p:txBody>
      </p:sp>
      <p:sp>
        <p:nvSpPr>
          <p:cNvPr id="5" name="Text 2"/>
          <p:cNvSpPr txBox="1"/>
          <p:nvPr/>
        </p:nvSpPr>
        <p:spPr>
          <a:xfrm>
            <a:off x="548640" y="1783080"/>
            <a:ext cx="5943600" cy="2103120"/>
          </a:xfrm>
          <a:prstGeom prst="rect">
            <a:avLst/>
          </a:prstGeom>
          <a:noFill/>
          <a:ln/>
        </p:spPr>
        <p:txBody>
          <a:bodyPr wrap="square" lIns="0" tIns="0" rIns="0" bIns="0" rtlCol="0" anchor="t"/>
          <a:lstStyle/>
          <a:p>
            <a:pPr marL="228600" indent="-228600">
              <a:spcAft>
                <a:spcPts val="1000"/>
              </a:spcAft>
              <a:buSzPct val="100000"/>
              <a:buChar char="•"/>
            </a:pPr>
            <a:r>
              <a:rPr lang="en-US" sz="1700" dirty="0">
                <a:solidFill>
                  <a:schemeClr val="tx1"/>
                </a:solidFill>
              </a:rPr>
              <a:t>We make our own exception by extending </a:t>
            </a:r>
            <a:r>
              <a:rPr lang="en-US" sz="1700" dirty="0">
                <a:solidFill>
                  <a:schemeClr val="accent2"/>
                </a:solidFill>
                <a:latin typeface="Consolas" pitchFamily="34" charset="0"/>
                <a:ea typeface="Consolas" pitchFamily="34" charset="-122"/>
                <a:cs typeface="Consolas" pitchFamily="34" charset="-120"/>
              </a:rPr>
              <a:t>java.lang.Exception</a:t>
            </a:r>
            <a:r>
              <a:rPr lang="en-US" sz="1700" dirty="0">
                <a:solidFill>
                  <a:schemeClr val="tx1"/>
                </a:solidFill>
              </a:rPr>
              <a:t>.</a:t>
            </a:r>
            <a:endParaRPr lang="en-US" sz="1700" dirty="0"/>
          </a:p>
          <a:p>
            <a:pPr marL="228600" indent="-228600">
              <a:spcAft>
                <a:spcPts val="1000"/>
              </a:spcAft>
              <a:buSzPct val="100000"/>
              <a:buChar char="•"/>
            </a:pPr>
            <a:r>
              <a:rPr lang="en-US" sz="1700" dirty="0">
                <a:solidFill>
                  <a:schemeClr val="tx1"/>
                </a:solidFill>
              </a:rPr>
              <a:t>Its constructor passes a message to Exception with </a:t>
            </a:r>
            <a:r>
              <a:rPr lang="en-US" sz="1700" dirty="0">
                <a:solidFill>
                  <a:schemeClr val="accent2"/>
                </a:solidFill>
                <a:latin typeface="Consolas" pitchFamily="34" charset="0"/>
                <a:ea typeface="Consolas" pitchFamily="34" charset="-122"/>
                <a:cs typeface="Consolas" pitchFamily="34" charset="-120"/>
              </a:rPr>
              <a:t>super(...)</a:t>
            </a:r>
            <a:r>
              <a:rPr lang="en-US" sz="1700" dirty="0">
                <a:solidFill>
                  <a:schemeClr val="tx1"/>
                </a:solidFill>
              </a:rPr>
              <a:t>.</a:t>
            </a:r>
            <a:endParaRPr lang="en-US" sz="1700" dirty="0"/>
          </a:p>
          <a:p>
            <a:pPr marL="228600" indent="-228600">
              <a:buSzPct val="100000"/>
              <a:buChar char="•"/>
            </a:pPr>
            <a:r>
              <a:rPr lang="en-US" sz="1700" dirty="0">
                <a:solidFill>
                  <a:schemeClr val="tx1"/>
                </a:solidFill>
              </a:rPr>
              <a:t>Because it extends Exception, it’s checked: code that throws it must catch it or declare it.</a:t>
            </a:r>
            <a:endParaRPr lang="en-US" sz="1700" dirty="0"/>
          </a:p>
        </p:txBody>
      </p:sp>
      <p:sp>
        <p:nvSpPr>
          <p:cNvPr id="6" name="Shape 3"/>
          <p:cNvSpPr/>
          <p:nvPr/>
        </p:nvSpPr>
        <p:spPr>
          <a:xfrm>
            <a:off x="8138160" y="1783080"/>
            <a:ext cx="2377440" cy="457200"/>
          </a:xfrm>
          <a:prstGeom prst="roundRect">
            <a:avLst>
              <a:gd name="adj" fmla="val 20000"/>
            </a:avLst>
          </a:prstGeom>
          <a:solidFill>
            <a:schemeClr val="accent2">
              <a:alpha val="12000"/>
            </a:schemeClr>
          </a:solidFill>
          <a:ln w="19050">
            <a:solidFill>
              <a:schemeClr val="accent2"/>
            </a:solidFill>
            <a:prstDash val="solid"/>
          </a:ln>
        </p:spPr>
      </p:sp>
      <p:sp>
        <p:nvSpPr>
          <p:cNvPr id="7" name="Text 4"/>
          <p:cNvSpPr txBox="1"/>
          <p:nvPr/>
        </p:nvSpPr>
        <p:spPr>
          <a:xfrm>
            <a:off x="8138160" y="1783080"/>
            <a:ext cx="2377440" cy="457200"/>
          </a:xfrm>
          <a:prstGeom prst="rect">
            <a:avLst/>
          </a:prstGeom>
          <a:noFill/>
          <a:ln/>
        </p:spPr>
        <p:txBody>
          <a:bodyPr wrap="square" lIns="0" tIns="0" rIns="0" bIns="0" rtlCol="0" anchor="ctr"/>
          <a:lstStyle/>
          <a:p>
            <a:pPr algn="ctr" indent="0" marL="0">
              <a:buNone/>
            </a:pPr>
            <a:r>
              <a:rPr lang="en-US" sz="1500" b="1" dirty="0">
                <a:solidFill>
                  <a:schemeClr val="accent2"/>
                </a:solidFill>
                <a:latin typeface="Consolas" pitchFamily="34" charset="0"/>
                <a:ea typeface="Consolas" pitchFamily="34" charset="-122"/>
                <a:cs typeface="Consolas" pitchFamily="34" charset="-120"/>
              </a:rPr>
              <a:t>Exception</a:t>
            </a:r>
            <a:endParaRPr lang="en-US" sz="1500" dirty="0"/>
          </a:p>
        </p:txBody>
      </p:sp>
      <p:sp>
        <p:nvSpPr>
          <p:cNvPr id="8" name="Shape 5"/>
          <p:cNvSpPr/>
          <p:nvPr/>
        </p:nvSpPr>
        <p:spPr>
          <a:xfrm flipV="1">
            <a:off x="9326880" y="2286000"/>
            <a:ext cx="0" cy="640080"/>
          </a:xfrm>
          <a:prstGeom prst="line">
            <a:avLst/>
          </a:prstGeom>
          <a:noFill/>
          <a:ln w="19050">
            <a:solidFill>
              <a:schemeClr val="tx2"/>
            </a:solidFill>
            <a:prstDash val="solid"/>
            <a:tailEnd type="triangle"/>
          </a:ln>
        </p:spPr>
      </p:sp>
      <p:sp>
        <p:nvSpPr>
          <p:cNvPr id="9" name="Text 6"/>
          <p:cNvSpPr txBox="1"/>
          <p:nvPr/>
        </p:nvSpPr>
        <p:spPr>
          <a:xfrm>
            <a:off x="9464040" y="2423160"/>
            <a:ext cx="1463040" cy="274320"/>
          </a:xfrm>
          <a:prstGeom prst="rect">
            <a:avLst/>
          </a:prstGeom>
          <a:noFill/>
          <a:ln/>
        </p:spPr>
        <p:txBody>
          <a:bodyPr wrap="square" lIns="0" tIns="0" rIns="0" bIns="0" rtlCol="0" anchor="t"/>
          <a:lstStyle/>
          <a:p>
            <a:pPr algn="l" indent="0" marL="0">
              <a:buNone/>
            </a:pPr>
            <a:r>
              <a:rPr lang="en-US" sz="1300" i="1" dirty="0">
                <a:solidFill>
                  <a:schemeClr val="tx2"/>
                </a:solidFill>
              </a:rPr>
              <a:t>extends</a:t>
            </a:r>
            <a:endParaRPr lang="en-US" sz="1300" dirty="0"/>
          </a:p>
        </p:txBody>
      </p:sp>
      <p:sp>
        <p:nvSpPr>
          <p:cNvPr id="10" name="Shape 7"/>
          <p:cNvSpPr/>
          <p:nvPr/>
        </p:nvSpPr>
        <p:spPr>
          <a:xfrm>
            <a:off x="7223760" y="2971800"/>
            <a:ext cx="4206240" cy="502920"/>
          </a:xfrm>
          <a:prstGeom prst="roundRect">
            <a:avLst>
              <a:gd name="adj" fmla="val 18182"/>
            </a:avLst>
          </a:prstGeom>
          <a:solidFill>
            <a:schemeClr val="accent6"/>
          </a:solidFill>
          <a:ln/>
        </p:spPr>
      </p:sp>
      <p:sp>
        <p:nvSpPr>
          <p:cNvPr id="11" name="Text 8"/>
          <p:cNvSpPr txBox="1"/>
          <p:nvPr/>
        </p:nvSpPr>
        <p:spPr>
          <a:xfrm>
            <a:off x="7223760" y="2971800"/>
            <a:ext cx="420624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IncorrectMonthException</a:t>
            </a:r>
            <a:endParaRPr lang="en-US" sz="1500" dirty="0"/>
          </a:p>
        </p:txBody>
      </p:sp>
      <p:sp>
        <p:nvSpPr>
          <p:cNvPr id="12" name="Custom exception card"/>
          <p:cNvSpPr/>
          <p:nvPr/>
        </p:nvSpPr>
        <p:spPr>
          <a:xfrm>
            <a:off x="548640" y="4069080"/>
            <a:ext cx="11094415" cy="1923288"/>
          </a:xfrm>
          <a:prstGeom prst="roundRect">
            <a:avLst>
              <a:gd name="adj" fmla="val 5705"/>
            </a:avLst>
          </a:prstGeom>
          <a:solidFill>
            <a:schemeClr val="tx1"/>
          </a:solidFill>
          <a:ln/>
          <a:effectLst>
            <a:outerShdw sx="100000" sy="100000" kx="0" ky="0" algn="bl" rotWithShape="0" blurRad="114300" dist="31750" dir="5400000">
              <a:srgbClr val="1D2433">
                <a:alpha val="12000"/>
              </a:srgbClr>
            </a:outerShdw>
          </a:effectLst>
        </p:spPr>
      </p:sp>
      <p:sp>
        <p:nvSpPr>
          <p:cNvPr id="13" name="Custom exception label"/>
          <p:cNvSpPr txBox="1"/>
          <p:nvPr/>
        </p:nvSpPr>
        <p:spPr>
          <a:xfrm>
            <a:off x="822960" y="4187952"/>
            <a:ext cx="1054577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14" name="Custom exception text"/>
          <p:cNvSpPr txBox="1"/>
          <p:nvPr/>
        </p:nvSpPr>
        <p:spPr>
          <a:xfrm>
            <a:off x="822960" y="4562856"/>
            <a:ext cx="10545775" cy="1228344"/>
          </a:xfrm>
          <a:prstGeom prst="rect">
            <a:avLst/>
          </a:prstGeom>
          <a:noFill/>
          <a:ln/>
        </p:spPr>
        <p:txBody>
          <a:bodyPr wrap="square" lIns="0" tIns="0" rIns="0" bIns="0" rtlCol="0" anchor="t"/>
          <a:lstStyle/>
          <a:p>
            <a:pPr indent="0" marL="0">
              <a:lnSpc>
                <a:spcPts val="1850"/>
              </a:lnSpc>
              <a:buNone/>
            </a:pPr>
            <a:r>
              <a:rPr lang="en-US" sz="1400" dirty="0">
                <a:solidFill>
                  <a:srgbClr val="FF9F5A"/>
                </a:solidFill>
                <a:latin typeface="Consolas" pitchFamily="34" charset="0"/>
                <a:ea typeface="Consolas" pitchFamily="34" charset="-122"/>
                <a:cs typeface="Consolas" pitchFamily="34" charset="-120"/>
              </a:rPr>
              <a:t>class </a:t>
            </a:r>
            <a:r>
              <a:rPr lang="en-US" sz="1400" dirty="0">
                <a:solidFill>
                  <a:srgbClr val="6CC4E8"/>
                </a:solidFill>
                <a:latin typeface="Consolas" pitchFamily="34" charset="0"/>
                <a:ea typeface="Consolas" pitchFamily="34" charset="-122"/>
                <a:cs typeface="Consolas" pitchFamily="34" charset="-120"/>
              </a:rPr>
              <a:t>IncorrectMonthException </a:t>
            </a:r>
            <a:r>
              <a:rPr lang="en-US" sz="1400" dirty="0">
                <a:solidFill>
                  <a:srgbClr val="FF9F5A"/>
                </a:solidFill>
                <a:latin typeface="Consolas" pitchFamily="34" charset="0"/>
                <a:ea typeface="Consolas" pitchFamily="34" charset="-122"/>
                <a:cs typeface="Consolas" pitchFamily="34" charset="-120"/>
              </a:rPr>
              <a:t>extends </a:t>
            </a:r>
            <a:r>
              <a:rPr lang="en-US" sz="1400" dirty="0">
                <a:solidFill>
                  <a:srgbClr val="6CC4E8"/>
                </a:solidFill>
                <a:latin typeface="Consolas" pitchFamily="34" charset="0"/>
                <a:ea typeface="Consolas" pitchFamily="34" charset="-122"/>
                <a:cs typeface="Consolas" pitchFamily="34" charset="-120"/>
              </a:rPr>
              <a:t>Exception </a:t>
            </a:r>
            <a:r>
              <a:rPr lang="en-US" sz="1400" dirty="0">
                <a:solidFill>
                  <a:srgbClr val="E6EBF2"/>
                </a:solidFill>
                <a:latin typeface="Consolas" pitchFamily="34" charset="0"/>
                <a:ea typeface="Consolas" pitchFamily="34" charset="-122"/>
                <a:cs typeface="Consolas" pitchFamily="34" charset="-120"/>
              </a:rPr>
              <a:t>{</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    </a:t>
            </a:r>
            <a:r>
              <a:rPr lang="en-US" sz="1400" dirty="0">
                <a:solidFill>
                  <a:srgbClr val="FF9F5A"/>
                </a:solidFill>
                <a:latin typeface="Consolas" pitchFamily="34" charset="0"/>
                <a:ea typeface="Consolas" pitchFamily="34" charset="-122"/>
                <a:cs typeface="Consolas" pitchFamily="34" charset="-120"/>
              </a:rPr>
              <a:t>public </a:t>
            </a:r>
            <a:r>
              <a:rPr lang="en-US" sz="1400" dirty="0">
                <a:solidFill>
                  <a:srgbClr val="C9B0FF"/>
                </a:solidFill>
                <a:latin typeface="Consolas" pitchFamily="34" charset="0"/>
                <a:ea typeface="Consolas" pitchFamily="34" charset="-122"/>
                <a:cs typeface="Consolas" pitchFamily="34" charset="-120"/>
              </a:rPr>
              <a:t>IncorrectMonthException</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6CC4E8"/>
                </a:solidFill>
                <a:latin typeface="Consolas" pitchFamily="34" charset="0"/>
                <a:ea typeface="Consolas" pitchFamily="34" charset="-122"/>
                <a:cs typeface="Consolas" pitchFamily="34" charset="-120"/>
              </a:rPr>
              <a:t>String </a:t>
            </a:r>
            <a:r>
              <a:rPr lang="en-US" sz="1400" dirty="0">
                <a:solidFill>
                  <a:srgbClr val="E6EBF2"/>
                </a:solidFill>
                <a:latin typeface="Consolas" pitchFamily="34" charset="0"/>
                <a:ea typeface="Consolas" pitchFamily="34" charset="-122"/>
                <a:cs typeface="Consolas" pitchFamily="34" charset="-120"/>
              </a:rPr>
              <a:t>errorMessage) {</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        </a:t>
            </a:r>
            <a:r>
              <a:rPr lang="en-US" sz="1400" dirty="0">
                <a:solidFill>
                  <a:srgbClr val="FF9F5A"/>
                </a:solidFill>
                <a:latin typeface="Consolas" pitchFamily="34" charset="0"/>
                <a:ea typeface="Consolas" pitchFamily="34" charset="-122"/>
                <a:cs typeface="Consolas" pitchFamily="34" charset="-120"/>
              </a:rPr>
              <a:t>super</a:t>
            </a:r>
            <a:r>
              <a:rPr lang="en-US" sz="1400" dirty="0">
                <a:solidFill>
                  <a:srgbClr val="E6EBF2"/>
                </a:solidFill>
                <a:latin typeface="Consolas" pitchFamily="34" charset="0"/>
                <a:ea typeface="Consolas" pitchFamily="34" charset="-122"/>
                <a:cs typeface="Consolas" pitchFamily="34" charset="-120"/>
              </a:rPr>
              <a:t>(</a:t>
            </a:r>
            <a:r>
              <a:rPr lang="en-US" sz="1400" dirty="0">
                <a:solidFill>
                  <a:srgbClr val="A9DB8C"/>
                </a:solidFill>
                <a:latin typeface="Consolas" pitchFamily="34" charset="0"/>
                <a:ea typeface="Consolas" pitchFamily="34" charset="-122"/>
                <a:cs typeface="Consolas" pitchFamily="34" charset="-120"/>
              </a:rPr>
              <a:t>"Months input error: " </a:t>
            </a:r>
            <a:r>
              <a:rPr lang="en-US" sz="1400" dirty="0">
                <a:solidFill>
                  <a:srgbClr val="E6EBF2"/>
                </a:solidFill>
                <a:latin typeface="Consolas" pitchFamily="34" charset="0"/>
                <a:ea typeface="Consolas" pitchFamily="34" charset="-122"/>
                <a:cs typeface="Consolas" pitchFamily="34" charset="-120"/>
              </a:rPr>
              <a:t>+ errorMessage);</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    }</a:t>
            </a:r>
            <a:endParaRPr lang="en-US" sz="1400" dirty="0"/>
          </a:p>
          <a:p>
            <a:pPr indent="0" marL="0">
              <a:lnSpc>
                <a:spcPts val="1850"/>
              </a:lnSpc>
              <a:buNone/>
            </a:pPr>
            <a:r>
              <a:rPr lang="en-US" sz="1400" dirty="0">
                <a:solidFill>
                  <a:srgbClr val="E6EBF2"/>
                </a:solidFill>
                <a:latin typeface="Consolas" pitchFamily="34" charset="0"/>
                <a:ea typeface="Consolas" pitchFamily="34" charset="-122"/>
                <a:cs typeface="Consolas" pitchFamily="34" charset="-120"/>
              </a:rPr>
              <a:t>}</a:t>
            </a:r>
            <a:endParaRPr lang="en-US" sz="14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16</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Our own exceptions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What makes </a:t>
            </a:r>
            <a:r>
              <a:rPr lang="en-US" sz="2800" b="1" dirty="0">
                <a:solidFill>
                  <a:schemeClr val="accent2"/>
                </a:solidFill>
                <a:latin typeface="Consolas" pitchFamily="34" charset="0"/>
                <a:ea typeface="Consolas" pitchFamily="34" charset="-122"/>
                <a:cs typeface="Consolas" pitchFamily="34" charset="-120"/>
              </a:rPr>
              <a:t>IncorrectMonthException</a:t>
            </a:r>
            <a:r>
              <a:rPr lang="en-US" sz="2800" b="1" dirty="0">
                <a:solidFill>
                  <a:schemeClr val="tx1"/>
                </a:solidFill>
              </a:rPr>
              <a:t> an exception class?</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extends </a:t>
            </a:r>
            <a:r>
              <a:rPr lang="en-US" sz="2000" dirty="0">
                <a:solidFill>
                  <a:schemeClr val="accent2"/>
                </a:solidFill>
                <a:latin typeface="Consolas" pitchFamily="34" charset="0"/>
                <a:ea typeface="Consolas" pitchFamily="34" charset="-122"/>
                <a:cs typeface="Consolas" pitchFamily="34" charset="-120"/>
              </a:rPr>
              <a:t>Exception</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Its name ends in Exception</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calls </a:t>
            </a:r>
            <a:r>
              <a:rPr lang="en-US" sz="2000" dirty="0">
                <a:solidFill>
                  <a:schemeClr val="accent2"/>
                </a:solidFill>
                <a:latin typeface="Consolas" pitchFamily="34" charset="0"/>
                <a:ea typeface="Consolas" pitchFamily="34" charset="-122"/>
                <a:cs typeface="Consolas" pitchFamily="34" charset="-120"/>
              </a:rPr>
              <a:t>super(...)</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It’s saved in the java.lang package</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16</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Our own exceptions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What makes </a:t>
            </a:r>
            <a:r>
              <a:rPr lang="en-US" sz="2000" b="1" dirty="0">
                <a:solidFill>
                  <a:schemeClr val="tx2"/>
                </a:solidFill>
                <a:latin typeface="Consolas" pitchFamily="34" charset="0"/>
                <a:ea typeface="Consolas" pitchFamily="34" charset="-122"/>
                <a:cs typeface="Consolas" pitchFamily="34" charset="-120"/>
              </a:rPr>
              <a:t>IncorrectMonthException</a:t>
            </a:r>
            <a:r>
              <a:rPr lang="en-US" sz="2000" b="1" dirty="0">
                <a:solidFill>
                  <a:schemeClr val="tx2"/>
                </a:solidFill>
              </a:rPr>
              <a:t> an exception class?</a:t>
            </a:r>
            <a:endParaRPr lang="en-US"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7" name="Option A text"/>
          <p:cNvSpPr txBox="1"/>
          <p:nvPr/>
        </p:nvSpPr>
        <p:spPr>
          <a:xfrm>
            <a:off x="1371600" y="1874520"/>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It extends </a:t>
            </a:r>
            <a:r>
              <a:rPr lang="en-US" sz="1700" b="1" dirty="0">
                <a:solidFill>
                  <a:schemeClr val="bg1"/>
                </a:solidFill>
                <a:latin typeface="Consolas" pitchFamily="34" charset="0"/>
                <a:ea typeface="Consolas" pitchFamily="34" charset="-122"/>
                <a:cs typeface="Consolas" pitchFamily="34" charset="-120"/>
              </a:rPr>
              <a:t>Exception</a:t>
            </a:r>
            <a:endParaRPr lang="en-US" sz="1700" dirty="0"/>
          </a:p>
        </p:txBody>
      </p:sp>
      <p:pic>
        <p:nvPicPr>
          <p:cNvPr id="8" name="Image 0"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Its name ends in Exception</a:t>
            </a:r>
            <a:endParaRPr lang="en-US"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It calls </a:t>
            </a:r>
            <a:r>
              <a:rPr lang="en-US" sz="1700" dirty="0">
                <a:solidFill>
                  <a:schemeClr val="tx2"/>
                </a:solidFill>
                <a:latin typeface="Consolas" pitchFamily="34" charset="0"/>
                <a:ea typeface="Consolas" pitchFamily="34" charset="-122"/>
                <a:cs typeface="Consolas" pitchFamily="34" charset="-120"/>
              </a:rPr>
              <a:t>super(...)</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It’s saved in the java.lang package</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A class becomes an exception by extending </a:t>
            </a:r>
            <a:r>
              <a:rPr lang="en-US" sz="1800" dirty="0">
                <a:solidFill>
                  <a:schemeClr val="accent2"/>
                </a:solidFill>
                <a:latin typeface="Consolas" pitchFamily="34" charset="0"/>
                <a:ea typeface="Consolas" pitchFamily="34" charset="-122"/>
                <a:cs typeface="Consolas" pitchFamily="34" charset="-120"/>
              </a:rPr>
              <a:t>Exception</a:t>
            </a:r>
            <a:r>
              <a:rPr lang="en-US" sz="1800" dirty="0">
                <a:solidFill>
                  <a:schemeClr val="tx1"/>
                </a:solidFill>
              </a:rPr>
              <a:t>, or another exception class. The name is only a helpful habit, and </a:t>
            </a:r>
            <a:r>
              <a:rPr lang="en-US" sz="1800" dirty="0">
                <a:solidFill>
                  <a:schemeClr val="accent2"/>
                </a:solidFill>
                <a:latin typeface="Consolas" pitchFamily="34" charset="0"/>
                <a:ea typeface="Consolas" pitchFamily="34" charset="-122"/>
                <a:cs typeface="Consolas" pitchFamily="34" charset="-120"/>
              </a:rPr>
              <a:t>super(...)</a:t>
            </a:r>
            <a:r>
              <a:rPr lang="en-US" sz="1800" dirty="0">
                <a:solidFill>
                  <a:schemeClr val="tx1"/>
                </a:solidFill>
              </a:rPr>
              <a:t> just passes the message on. Extending </a:t>
            </a:r>
            <a:r>
              <a:rPr lang="en-US" sz="1800" dirty="0">
                <a:solidFill>
                  <a:schemeClr val="accent2"/>
                </a:solidFill>
                <a:latin typeface="Consolas" pitchFamily="34" charset="0"/>
                <a:ea typeface="Consolas" pitchFamily="34" charset="-122"/>
                <a:cs typeface="Consolas" pitchFamily="34" charset="-120"/>
              </a:rPr>
              <a:t>Exception</a:t>
            </a:r>
            <a:r>
              <a:rPr lang="en-US" sz="1800" dirty="0">
                <a:solidFill>
                  <a:schemeClr val="tx1"/>
                </a:solidFill>
              </a:rPr>
              <a:t>, not </a:t>
            </a:r>
            <a:r>
              <a:rPr lang="en-US" sz="1800" dirty="0">
                <a:solidFill>
                  <a:schemeClr val="accent2"/>
                </a:solidFill>
                <a:latin typeface="Consolas" pitchFamily="34" charset="0"/>
                <a:ea typeface="Consolas" pitchFamily="34" charset="-122"/>
                <a:cs typeface="Consolas" pitchFamily="34" charset="-120"/>
              </a:rPr>
              <a:t>RuntimeException</a:t>
            </a:r>
            <a:r>
              <a:rPr lang="en-US" sz="1800" dirty="0">
                <a:solidFill>
                  <a:schemeClr val="tx1"/>
                </a:solidFill>
              </a:rPr>
              <a:t>, also makes it a checked exception.</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THROW, THROWS AND CUSTOM EXCEPTIONS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Throwing IncorrectMonthException</a:t>
            </a:r>
            <a:endParaRPr lang="en-US" sz="3400" dirty="0"/>
          </a:p>
        </p:txBody>
      </p:sp>
      <p:sp>
        <p:nvSpPr>
          <p:cNvPr id="5" name="Throwing our exception card"/>
          <p:cNvSpPr/>
          <p:nvPr/>
        </p:nvSpPr>
        <p:spPr>
          <a:xfrm>
            <a:off x="548640" y="1691640"/>
            <a:ext cx="7452360" cy="3147060"/>
          </a:xfrm>
          <a:prstGeom prst="roundRect">
            <a:avLst>
              <a:gd name="adj" fmla="val 3487"/>
            </a:avLst>
          </a:prstGeom>
          <a:solidFill>
            <a:schemeClr val="tx1"/>
          </a:solidFill>
          <a:ln/>
          <a:effectLst>
            <a:outerShdw sx="100000" sy="100000" kx="0" ky="0" algn="bl" rotWithShape="0" blurRad="114300" dist="31750" dir="5400000">
              <a:srgbClr val="1D2433">
                <a:alpha val="12000"/>
              </a:srgbClr>
            </a:outerShdw>
          </a:effectLst>
        </p:spPr>
      </p:sp>
      <p:sp>
        <p:nvSpPr>
          <p:cNvPr id="6" name="Throwing our exception label"/>
          <p:cNvSpPr txBox="1"/>
          <p:nvPr/>
        </p:nvSpPr>
        <p:spPr>
          <a:xfrm>
            <a:off x="822960" y="1810512"/>
            <a:ext cx="690372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Throwing our exception text"/>
          <p:cNvSpPr txBox="1"/>
          <p:nvPr/>
        </p:nvSpPr>
        <p:spPr>
          <a:xfrm>
            <a:off x="822960" y="2185416"/>
            <a:ext cx="6903720" cy="2452116"/>
          </a:xfrm>
          <a:prstGeom prst="rect">
            <a:avLst/>
          </a:prstGeom>
          <a:noFill/>
          <a:ln/>
        </p:spPr>
        <p:txBody>
          <a:bodyPr wrap="square" lIns="0" tIns="0" rIns="0" bIns="0" rtlCol="0" anchor="t"/>
          <a:lstStyle/>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Scanner </a:t>
            </a:r>
            <a:r>
              <a:rPr lang="en-US" sz="1300" dirty="0">
                <a:solidFill>
                  <a:srgbClr val="E6EBF2"/>
                </a:solidFill>
                <a:latin typeface="Consolas" pitchFamily="34" charset="0"/>
                <a:ea typeface="Consolas" pitchFamily="34" charset="-122"/>
                <a:cs typeface="Consolas" pitchFamily="34" charset="-120"/>
              </a:rPr>
              <a:t>scan = </a:t>
            </a:r>
            <a:r>
              <a:rPr lang="en-US" sz="1300" dirty="0">
                <a:solidFill>
                  <a:srgbClr val="FF9F5A"/>
                </a:solidFill>
                <a:latin typeface="Consolas" pitchFamily="34" charset="0"/>
                <a:ea typeface="Consolas" pitchFamily="34" charset="-122"/>
                <a:cs typeface="Consolas" pitchFamily="34" charset="-120"/>
              </a:rPr>
              <a:t>new </a:t>
            </a:r>
            <a:r>
              <a:rPr lang="en-US" sz="1300" dirty="0">
                <a:solidFill>
                  <a:srgbClr val="C9B0FF"/>
                </a:solidFill>
                <a:latin typeface="Consolas" pitchFamily="34" charset="0"/>
                <a:ea typeface="Consolas" pitchFamily="34" charset="-122"/>
                <a:cs typeface="Consolas" pitchFamily="34" charset="-120"/>
              </a:rPr>
              <a:t>Scanner</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.in);</a:t>
            </a:r>
            <a:endParaRPr lang="en-US" sz="1300" dirty="0"/>
          </a:p>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"Enter date in dd/mm/yyyy format"</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String </a:t>
            </a:r>
            <a:r>
              <a:rPr lang="en-US" sz="1300" dirty="0">
                <a:solidFill>
                  <a:srgbClr val="E6EBF2"/>
                </a:solidFill>
                <a:latin typeface="Consolas" pitchFamily="34" charset="0"/>
                <a:ea typeface="Consolas" pitchFamily="34" charset="-122"/>
                <a:cs typeface="Consolas" pitchFamily="34" charset="-120"/>
              </a:rPr>
              <a:t>date = scan.</a:t>
            </a:r>
            <a:r>
              <a:rPr lang="en-US" sz="1300" dirty="0">
                <a:solidFill>
                  <a:srgbClr val="C9B0FF"/>
                </a:solidFill>
                <a:latin typeface="Consolas" pitchFamily="34" charset="0"/>
                <a:ea typeface="Consolas" pitchFamily="34" charset="-122"/>
                <a:cs typeface="Consolas" pitchFamily="34" charset="-120"/>
              </a:rPr>
              <a:t>next</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6CC4E8"/>
                </a:solidFill>
                <a:latin typeface="Consolas" pitchFamily="34" charset="0"/>
                <a:ea typeface="Consolas" pitchFamily="34" charset="-122"/>
                <a:cs typeface="Consolas" pitchFamily="34" charset="-120"/>
              </a:rPr>
              <a:t>String</a:t>
            </a:r>
            <a:r>
              <a:rPr lang="en-US" sz="1300" dirty="0">
                <a:solidFill>
                  <a:srgbClr val="E6EBF2"/>
                </a:solidFill>
                <a:latin typeface="Consolas" pitchFamily="34" charset="0"/>
                <a:ea typeface="Consolas" pitchFamily="34" charset="-122"/>
                <a:cs typeface="Consolas" pitchFamily="34" charset="-120"/>
              </a:rPr>
              <a:t>[] datePart = date.</a:t>
            </a:r>
            <a:r>
              <a:rPr lang="en-US" sz="1300" dirty="0">
                <a:solidFill>
                  <a:srgbClr val="C9B0FF"/>
                </a:solidFill>
                <a:latin typeface="Consolas" pitchFamily="34" charset="0"/>
                <a:ea typeface="Consolas" pitchFamily="34" charset="-122"/>
                <a:cs typeface="Consolas" pitchFamily="34" charset="-120"/>
              </a:rPr>
              <a:t>split</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FF9F5A"/>
                </a:solidFill>
                <a:latin typeface="Consolas" pitchFamily="34" charset="0"/>
                <a:ea typeface="Consolas" pitchFamily="34" charset="-122"/>
                <a:cs typeface="Consolas" pitchFamily="34" charset="-120"/>
              </a:rPr>
              <a:t>try </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int </a:t>
            </a:r>
            <a:r>
              <a:rPr lang="en-US" sz="1300" dirty="0">
                <a:solidFill>
                  <a:srgbClr val="E6EBF2"/>
                </a:solidFill>
                <a:latin typeface="Consolas" pitchFamily="34" charset="0"/>
                <a:ea typeface="Consolas" pitchFamily="34" charset="-122"/>
                <a:cs typeface="Consolas" pitchFamily="34" charset="-120"/>
              </a:rPr>
              <a:t>month = </a:t>
            </a:r>
            <a:r>
              <a:rPr lang="en-US" sz="1300" dirty="0">
                <a:solidFill>
                  <a:srgbClr val="6CC4E8"/>
                </a:solidFill>
                <a:latin typeface="Consolas" pitchFamily="34" charset="0"/>
                <a:ea typeface="Consolas" pitchFamily="34" charset="-122"/>
                <a:cs typeface="Consolas" pitchFamily="34" charset="-120"/>
              </a:rPr>
              <a:t>Integer</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C9B0FF"/>
                </a:solidFill>
                <a:latin typeface="Consolas" pitchFamily="34" charset="0"/>
                <a:ea typeface="Consolas" pitchFamily="34" charset="-122"/>
                <a:cs typeface="Consolas" pitchFamily="34" charset="-120"/>
              </a:rPr>
              <a:t>parseInt</a:t>
            </a:r>
            <a:r>
              <a:rPr lang="en-US" sz="1300" dirty="0">
                <a:solidFill>
                  <a:srgbClr val="E6EBF2"/>
                </a:solidFill>
                <a:latin typeface="Consolas" pitchFamily="34" charset="0"/>
                <a:ea typeface="Consolas" pitchFamily="34" charset="-122"/>
                <a:cs typeface="Consolas" pitchFamily="34" charset="-120"/>
              </a:rPr>
              <a:t>(datePart[</a:t>
            </a:r>
            <a:r>
              <a:rPr lang="en-US" sz="1300" dirty="0">
                <a:solidFill>
                  <a:srgbClr val="F2C14E"/>
                </a:solidFill>
                <a:latin typeface="Consolas" pitchFamily="34" charset="0"/>
                <a:ea typeface="Consolas" pitchFamily="34" charset="-122"/>
                <a:cs typeface="Consolas" pitchFamily="34" charset="-120"/>
              </a:rPr>
              <a:t>1</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if </a:t>
            </a:r>
            <a:r>
              <a:rPr lang="en-US" sz="1300" dirty="0">
                <a:solidFill>
                  <a:srgbClr val="E6EBF2"/>
                </a:solidFill>
                <a:latin typeface="Consolas" pitchFamily="34" charset="0"/>
                <a:ea typeface="Consolas" pitchFamily="34" charset="-122"/>
                <a:cs typeface="Consolas" pitchFamily="34" charset="-120"/>
              </a:rPr>
              <a:t>(month &gt; </a:t>
            </a:r>
            <a:r>
              <a:rPr lang="en-US" sz="1300" dirty="0">
                <a:solidFill>
                  <a:srgbClr val="F2C14E"/>
                </a:solidFill>
                <a:latin typeface="Consolas" pitchFamily="34" charset="0"/>
                <a:ea typeface="Consolas" pitchFamily="34" charset="-122"/>
                <a:cs typeface="Consolas" pitchFamily="34" charset="-120"/>
              </a:rPr>
              <a:t>12</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throw new </a:t>
            </a:r>
            <a:r>
              <a:rPr lang="en-US" sz="1300" dirty="0">
                <a:solidFill>
                  <a:srgbClr val="C9B0FF"/>
                </a:solidFill>
                <a:latin typeface="Consolas" pitchFamily="34" charset="0"/>
                <a:ea typeface="Consolas" pitchFamily="34" charset="-122"/>
                <a:cs typeface="Consolas" pitchFamily="34" charset="-120"/>
              </a:rPr>
              <a:t>IncorrectMonthException</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A9DB8C"/>
                </a:solidFill>
                <a:latin typeface="Consolas" pitchFamily="34" charset="0"/>
                <a:ea typeface="Consolas" pitchFamily="34" charset="-122"/>
                <a:cs typeface="Consolas" pitchFamily="34" charset="-120"/>
              </a:rPr>
              <a:t>"Month is higher than 12"</a:t>
            </a:r>
            <a:r>
              <a:rPr lang="en-US" sz="1300" dirty="0">
                <a:solidFill>
                  <a:srgbClr val="E6EBF2"/>
                </a:solidFill>
                <a:latin typeface="Consolas" pitchFamily="34" charset="0"/>
                <a:ea typeface="Consolas" pitchFamily="34" charset="-122"/>
                <a:cs typeface="Consolas" pitchFamily="34" charset="-120"/>
              </a:rPr>
              <a:t>);</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FF9F5A"/>
                </a:solidFill>
                <a:latin typeface="Consolas" pitchFamily="34" charset="0"/>
                <a:ea typeface="Consolas" pitchFamily="34" charset="-122"/>
                <a:cs typeface="Consolas" pitchFamily="34" charset="-120"/>
              </a:rPr>
              <a:t>catch </a:t>
            </a:r>
            <a:r>
              <a:rPr lang="en-US" sz="1300" dirty="0">
                <a:solidFill>
                  <a:srgbClr val="E6EBF2"/>
                </a:solidFill>
                <a:latin typeface="Consolas" pitchFamily="34" charset="0"/>
                <a:ea typeface="Consolas" pitchFamily="34" charset="-122"/>
                <a:cs typeface="Consolas" pitchFamily="34" charset="-120"/>
              </a:rPr>
              <a:t>(</a:t>
            </a:r>
            <a:r>
              <a:rPr lang="en-US" sz="1300" dirty="0">
                <a:solidFill>
                  <a:srgbClr val="6CC4E8"/>
                </a:solidFill>
                <a:latin typeface="Consolas" pitchFamily="34" charset="0"/>
                <a:ea typeface="Consolas" pitchFamily="34" charset="-122"/>
                <a:cs typeface="Consolas" pitchFamily="34" charset="-120"/>
              </a:rPr>
              <a:t>IncorrectMonthException </a:t>
            </a:r>
            <a:r>
              <a:rPr lang="en-US" sz="1300" dirty="0">
                <a:solidFill>
                  <a:srgbClr val="E6EBF2"/>
                </a:solidFill>
                <a:latin typeface="Consolas" pitchFamily="34" charset="0"/>
                <a:ea typeface="Consolas" pitchFamily="34" charset="-122"/>
                <a:cs typeface="Consolas" pitchFamily="34" charset="-120"/>
              </a:rPr>
              <a:t>error) {</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    </a:t>
            </a:r>
            <a:r>
              <a:rPr lang="en-US" sz="1300" dirty="0">
                <a:solidFill>
                  <a:srgbClr val="6CC4E8"/>
                </a:solidFill>
                <a:latin typeface="Consolas" pitchFamily="34" charset="0"/>
                <a:ea typeface="Consolas" pitchFamily="34" charset="-122"/>
                <a:cs typeface="Consolas" pitchFamily="34" charset="-120"/>
              </a:rPr>
              <a:t>System</a:t>
            </a:r>
            <a:r>
              <a:rPr lang="en-US" sz="1300" dirty="0">
                <a:solidFill>
                  <a:srgbClr val="E6EBF2"/>
                </a:solidFill>
                <a:latin typeface="Consolas" pitchFamily="34" charset="0"/>
                <a:ea typeface="Consolas" pitchFamily="34" charset="-122"/>
                <a:cs typeface="Consolas" pitchFamily="34" charset="-120"/>
              </a:rPr>
              <a:t>.out.</a:t>
            </a:r>
            <a:r>
              <a:rPr lang="en-US" sz="1300" dirty="0">
                <a:solidFill>
                  <a:srgbClr val="C9B0FF"/>
                </a:solidFill>
                <a:latin typeface="Consolas" pitchFamily="34" charset="0"/>
                <a:ea typeface="Consolas" pitchFamily="34" charset="-122"/>
                <a:cs typeface="Consolas" pitchFamily="34" charset="-120"/>
              </a:rPr>
              <a:t>println</a:t>
            </a:r>
            <a:r>
              <a:rPr lang="en-US" sz="1300" dirty="0">
                <a:solidFill>
                  <a:srgbClr val="E6EBF2"/>
                </a:solidFill>
                <a:latin typeface="Consolas" pitchFamily="34" charset="0"/>
                <a:ea typeface="Consolas" pitchFamily="34" charset="-122"/>
                <a:cs typeface="Consolas" pitchFamily="34" charset="-120"/>
              </a:rPr>
              <a:t>(error);</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a:t>
            </a:r>
            <a:endParaRPr lang="en-US" sz="1300" dirty="0"/>
          </a:p>
        </p:txBody>
      </p:sp>
      <p:sp>
        <p:nvSpPr>
          <p:cNvPr id="8" name="Marker 1"/>
          <p:cNvSpPr/>
          <p:nvPr/>
        </p:nvSpPr>
        <p:spPr>
          <a:xfrm>
            <a:off x="8321040" y="1837944"/>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8869680" y="1783080"/>
            <a:ext cx="2773375" cy="384048"/>
          </a:xfrm>
          <a:prstGeom prst="rect">
            <a:avLst/>
          </a:prstGeom>
          <a:noFill/>
          <a:ln/>
        </p:spPr>
        <p:txBody>
          <a:bodyPr wrap="square" lIns="0" tIns="0" rIns="0" bIns="0" rtlCol="0" anchor="ctr"/>
          <a:lstStyle/>
          <a:p>
            <a:pPr algn="l" indent="0" marL="0">
              <a:buNone/>
            </a:pPr>
            <a:r>
              <a:rPr lang="en-US" sz="1700" b="1" dirty="0">
                <a:solidFill>
                  <a:schemeClr val="tx1"/>
                </a:solidFill>
              </a:rPr>
              <a:t>Split the date</a:t>
            </a:r>
            <a:endParaRPr lang="en-US" sz="1700" dirty="0"/>
          </a:p>
        </p:txBody>
      </p:sp>
      <p:sp>
        <p:nvSpPr>
          <p:cNvPr id="10" name="Text 7"/>
          <p:cNvSpPr txBox="1"/>
          <p:nvPr/>
        </p:nvSpPr>
        <p:spPr>
          <a:xfrm>
            <a:off x="8869680" y="2176272"/>
            <a:ext cx="2773375" cy="621792"/>
          </a:xfrm>
          <a:prstGeom prst="rect">
            <a:avLst/>
          </a:prstGeom>
          <a:noFill/>
          <a:ln/>
        </p:spPr>
        <p:txBody>
          <a:bodyPr wrap="square" lIns="0" tIns="0" rIns="0" bIns="0" rtlCol="0" anchor="t"/>
          <a:lstStyle/>
          <a:p>
            <a:pPr algn="l" indent="0" marL="0">
              <a:buNone/>
            </a:pPr>
            <a:r>
              <a:rPr lang="en-US" sz="1450" dirty="0">
                <a:solidFill>
                  <a:schemeClr val="accent2"/>
                </a:solidFill>
                <a:latin typeface="Consolas" pitchFamily="34" charset="0"/>
                <a:ea typeface="Consolas" pitchFamily="34" charset="-122"/>
                <a:cs typeface="Consolas" pitchFamily="34" charset="-120"/>
              </a:rPr>
              <a:t>split("/")</a:t>
            </a:r>
            <a:r>
              <a:rPr lang="en-US" sz="1450" dirty="0">
                <a:solidFill>
                  <a:schemeClr val="tx2"/>
                </a:solidFill>
              </a:rPr>
              <a:t> turns 12/14/1996 into 12, 14 and 1996.</a:t>
            </a:r>
            <a:endParaRPr lang="en-US" sz="1450" dirty="0"/>
          </a:p>
        </p:txBody>
      </p:sp>
      <p:sp>
        <p:nvSpPr>
          <p:cNvPr id="11" name="Marker 2"/>
          <p:cNvSpPr/>
          <p:nvPr/>
        </p:nvSpPr>
        <p:spPr>
          <a:xfrm>
            <a:off x="8321040" y="2916936"/>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8869680" y="2862072"/>
            <a:ext cx="2773375" cy="384048"/>
          </a:xfrm>
          <a:prstGeom prst="rect">
            <a:avLst/>
          </a:prstGeom>
          <a:noFill/>
          <a:ln/>
        </p:spPr>
        <p:txBody>
          <a:bodyPr wrap="square" lIns="0" tIns="0" rIns="0" bIns="0" rtlCol="0" anchor="ctr"/>
          <a:lstStyle/>
          <a:p>
            <a:pPr algn="l" indent="0" marL="0">
              <a:buNone/>
            </a:pPr>
            <a:r>
              <a:rPr lang="en-US" sz="1700" b="1" dirty="0">
                <a:solidFill>
                  <a:schemeClr val="tx1"/>
                </a:solidFill>
              </a:rPr>
              <a:t>Read the month</a:t>
            </a:r>
            <a:endParaRPr lang="en-US" sz="1700" dirty="0"/>
          </a:p>
        </p:txBody>
      </p:sp>
      <p:sp>
        <p:nvSpPr>
          <p:cNvPr id="13" name="Text 10"/>
          <p:cNvSpPr txBox="1"/>
          <p:nvPr/>
        </p:nvSpPr>
        <p:spPr>
          <a:xfrm>
            <a:off x="8869680" y="3255264"/>
            <a:ext cx="2773375" cy="621792"/>
          </a:xfrm>
          <a:prstGeom prst="rect">
            <a:avLst/>
          </a:prstGeom>
          <a:noFill/>
          <a:ln/>
        </p:spPr>
        <p:txBody>
          <a:bodyPr wrap="square" lIns="0" tIns="0" rIns="0" bIns="0" rtlCol="0" anchor="t"/>
          <a:lstStyle/>
          <a:p>
            <a:pPr algn="l" indent="0" marL="0">
              <a:buNone/>
            </a:pPr>
            <a:r>
              <a:rPr lang="en-US" sz="1450" dirty="0">
                <a:solidFill>
                  <a:schemeClr val="accent2"/>
                </a:solidFill>
                <a:latin typeface="Consolas" pitchFamily="34" charset="0"/>
                <a:ea typeface="Consolas" pitchFamily="34" charset="-122"/>
                <a:cs typeface="Consolas" pitchFamily="34" charset="-120"/>
              </a:rPr>
              <a:t>datePart[1]</a:t>
            </a:r>
            <a:r>
              <a:rPr lang="en-US" sz="1450" dirty="0">
                <a:solidFill>
                  <a:schemeClr val="tx2"/>
                </a:solidFill>
              </a:rPr>
              <a:t>, the second part, is 14.</a:t>
            </a:r>
            <a:endParaRPr lang="en-US" sz="1450" dirty="0"/>
          </a:p>
        </p:txBody>
      </p:sp>
      <p:sp>
        <p:nvSpPr>
          <p:cNvPr id="14" name="Marker 3"/>
          <p:cNvSpPr/>
          <p:nvPr/>
        </p:nvSpPr>
        <p:spPr>
          <a:xfrm>
            <a:off x="8321040" y="3995928"/>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8869680" y="3941064"/>
            <a:ext cx="2773375" cy="384048"/>
          </a:xfrm>
          <a:prstGeom prst="rect">
            <a:avLst/>
          </a:prstGeom>
          <a:noFill/>
          <a:ln/>
        </p:spPr>
        <p:txBody>
          <a:bodyPr wrap="square" lIns="0" tIns="0" rIns="0" bIns="0" rtlCol="0" anchor="ctr"/>
          <a:lstStyle/>
          <a:p>
            <a:pPr algn="l" indent="0" marL="0">
              <a:buNone/>
            </a:pPr>
            <a:r>
              <a:rPr lang="en-US" sz="1700" b="1" dirty="0">
                <a:solidFill>
                  <a:schemeClr val="tx1"/>
                </a:solidFill>
              </a:rPr>
              <a:t>Throw if it’s over 12</a:t>
            </a:r>
            <a:endParaRPr lang="en-US" sz="1700" dirty="0"/>
          </a:p>
        </p:txBody>
      </p:sp>
      <p:sp>
        <p:nvSpPr>
          <p:cNvPr id="16" name="Text 13"/>
          <p:cNvSpPr txBox="1"/>
          <p:nvPr/>
        </p:nvSpPr>
        <p:spPr>
          <a:xfrm>
            <a:off x="8869680" y="4334256"/>
            <a:ext cx="2773375" cy="621792"/>
          </a:xfrm>
          <a:prstGeom prst="rect">
            <a:avLst/>
          </a:prstGeom>
          <a:noFill/>
          <a:ln/>
        </p:spPr>
        <p:txBody>
          <a:bodyPr wrap="square" lIns="0" tIns="0" rIns="0" bIns="0" rtlCol="0" anchor="t"/>
          <a:lstStyle/>
          <a:p>
            <a:pPr algn="l" indent="0" marL="0">
              <a:buNone/>
            </a:pPr>
            <a:r>
              <a:rPr lang="en-US" sz="1450" dirty="0">
                <a:solidFill>
                  <a:schemeClr val="tx2"/>
                </a:solidFill>
              </a:rPr>
              <a:t>14 is more than 12, so our exception is thrown and caught.</a:t>
            </a:r>
            <a:endParaRPr lang="en-US" sz="1450" dirty="0"/>
          </a:p>
        </p:txBody>
      </p:sp>
      <p:sp>
        <p:nvSpPr>
          <p:cNvPr id="17" name="Note"/>
          <p:cNvSpPr/>
          <p:nvPr/>
        </p:nvSpPr>
        <p:spPr>
          <a:xfrm>
            <a:off x="548640" y="5074920"/>
            <a:ext cx="11094415" cy="914400"/>
          </a:xfrm>
          <a:prstGeom prst="roundRect">
            <a:avLst>
              <a:gd name="adj" fmla="val 12000"/>
            </a:avLst>
          </a:prstGeom>
          <a:solidFill>
            <a:schemeClr val="bg2"/>
          </a:solidFill>
          <a:ln/>
        </p:spPr>
      </p:sp>
      <p:sp>
        <p:nvSpPr>
          <p:cNvPr id="18" name="Icon tile"/>
          <p:cNvSpPr/>
          <p:nvPr/>
        </p:nvSpPr>
        <p:spPr>
          <a:xfrm>
            <a:off x="822960" y="5266944"/>
            <a:ext cx="530352" cy="530352"/>
          </a:xfrm>
          <a:prstGeom prst="roundRect">
            <a:avLst>
              <a:gd name="adj" fmla="val 24000"/>
            </a:avLst>
          </a:prstGeom>
          <a:solidFill>
            <a:schemeClr val="accent1">
              <a:alpha val="14000"/>
            </a:schemeClr>
          </a:solidFill>
          <a:ln/>
        </p:spPr>
      </p:sp>
      <p:pic>
        <p:nvPicPr>
          <p:cNvPr id="19" name="Image 0" descr="calendar x icon">    </p:cNvPr>
          <p:cNvPicPr>
            <a:picLocks noChangeAspect="1"/>
          </p:cNvPicPr>
          <p:nvPr/>
        </p:nvPicPr>
        <p:blipFill>
          <a:blip r:embed="rId1"/>
          <a:stretch>
            <a:fillRect/>
          </a:stretch>
        </p:blipFill>
        <p:spPr>
          <a:xfrm>
            <a:off x="934334" y="5378318"/>
            <a:ext cx="307604" cy="307604"/>
          </a:xfrm>
          <a:prstGeom prst="rect">
            <a:avLst/>
          </a:prstGeom>
        </p:spPr>
      </p:pic>
      <p:sp>
        <p:nvSpPr>
          <p:cNvPr id="20" name="Text 16"/>
          <p:cNvSpPr txBox="1"/>
          <p:nvPr/>
        </p:nvSpPr>
        <p:spPr>
          <a:xfrm>
            <a:off x="1572768" y="5074920"/>
            <a:ext cx="9814255" cy="914400"/>
          </a:xfrm>
          <a:prstGeom prst="rect">
            <a:avLst/>
          </a:prstGeom>
          <a:noFill/>
          <a:ln/>
        </p:spPr>
        <p:txBody>
          <a:bodyPr wrap="square" lIns="0" tIns="0" rIns="0" bIns="0" rtlCol="0" anchor="ctr"/>
          <a:lstStyle/>
          <a:p>
            <a:pPr algn="l" indent="0" marL="0">
              <a:buNone/>
            </a:pPr>
            <a:r>
              <a:rPr lang="en-US" sz="1600" dirty="0">
                <a:solidFill>
                  <a:schemeClr val="tx1"/>
                </a:solidFill>
              </a:rPr>
              <a:t>The user typed 12/14/1996, with month and day the wrong way round. The check spots it because 14 can’t be a month.</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THROW, THROWS AND CUSTOM EXCEPTIONS</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What the user sees</a:t>
            </a:r>
            <a:endParaRPr lang="en-US" sz="3400" dirty="0"/>
          </a:p>
        </p:txBody>
      </p:sp>
      <p:sp>
        <p:nvSpPr>
          <p:cNvPr id="5" name="Output card"/>
          <p:cNvSpPr/>
          <p:nvPr/>
        </p:nvSpPr>
        <p:spPr>
          <a:xfrm>
            <a:off x="548640" y="1691640"/>
            <a:ext cx="11094415" cy="1469898"/>
          </a:xfrm>
          <a:prstGeom prst="roundRect">
            <a:avLst>
              <a:gd name="adj" fmla="val 7465"/>
            </a:avLst>
          </a:prstGeom>
          <a:solidFill>
            <a:schemeClr val="tx1"/>
          </a:solidFill>
          <a:ln/>
          <a:effectLst>
            <a:outerShdw sx="100000" sy="100000" kx="0" ky="0" algn="bl" rotWithShape="0" blurRad="114300" dist="31750" dir="5400000">
              <a:srgbClr val="1D2433">
                <a:alpha val="12000"/>
              </a:srgbClr>
            </a:outerShdw>
          </a:effectLst>
        </p:spPr>
      </p:sp>
      <p:sp>
        <p:nvSpPr>
          <p:cNvPr id="6" name="Output label"/>
          <p:cNvSpPr txBox="1"/>
          <p:nvPr/>
        </p:nvSpPr>
        <p:spPr>
          <a:xfrm>
            <a:off x="822960" y="1810512"/>
            <a:ext cx="1054577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   (yellow: what the user typed)</a:t>
            </a:r>
            <a:endParaRPr lang="en-US" sz="1050" dirty="0"/>
          </a:p>
        </p:txBody>
      </p:sp>
      <p:sp>
        <p:nvSpPr>
          <p:cNvPr id="7" name="Output text"/>
          <p:cNvSpPr txBox="1"/>
          <p:nvPr/>
        </p:nvSpPr>
        <p:spPr>
          <a:xfrm>
            <a:off x="822960" y="2185416"/>
            <a:ext cx="10545775" cy="774954"/>
          </a:xfrm>
          <a:prstGeom prst="rect">
            <a:avLst/>
          </a:prstGeom>
          <a:noFill/>
          <a:ln/>
        </p:spPr>
        <p:txBody>
          <a:bodyPr wrap="square" lIns="0" tIns="0" rIns="0" bIns="0" rtlCol="0" anchor="t"/>
          <a:lstStyle/>
          <a:p>
            <a:pPr indent="0" marL="0">
              <a:lnSpc>
                <a:spcPts val="1890"/>
              </a:lnSpc>
              <a:buNone/>
            </a:pPr>
            <a:r>
              <a:rPr lang="en-US" sz="1400" dirty="0">
                <a:solidFill>
                  <a:srgbClr val="A9DB8C"/>
                </a:solidFill>
                <a:latin typeface="Consolas" pitchFamily="34" charset="0"/>
                <a:ea typeface="Consolas" pitchFamily="34" charset="-122"/>
                <a:cs typeface="Consolas" pitchFamily="34" charset="-120"/>
              </a:rPr>
              <a:t>Enter date in dd/mm/yyyy format</a:t>
            </a:r>
            <a:endParaRPr lang="en-US" sz="1400" dirty="0"/>
          </a:p>
          <a:p>
            <a:pPr indent="0" marL="0">
              <a:lnSpc>
                <a:spcPts val="1890"/>
              </a:lnSpc>
              <a:buNone/>
            </a:pPr>
            <a:r>
              <a:rPr lang="en-US" sz="1400" dirty="0">
                <a:solidFill>
                  <a:srgbClr val="F2C14E"/>
                </a:solidFill>
                <a:latin typeface="Consolas" pitchFamily="34" charset="0"/>
                <a:ea typeface="Consolas" pitchFamily="34" charset="-122"/>
                <a:cs typeface="Consolas" pitchFamily="34" charset="-120"/>
              </a:rPr>
              <a:t>12/14/1996</a:t>
            </a:r>
            <a:endParaRPr lang="en-US" sz="1400" dirty="0"/>
          </a:p>
          <a:p>
            <a:pPr indent="0" marL="0">
              <a:lnSpc>
                <a:spcPts val="1890"/>
              </a:lnSpc>
              <a:buNone/>
            </a:pPr>
            <a:r>
              <a:rPr lang="en-US" sz="1400" dirty="0">
                <a:solidFill>
                  <a:srgbClr val="A9DB8C"/>
                </a:solidFill>
                <a:latin typeface="Consolas" pitchFamily="34" charset="0"/>
                <a:ea typeface="Consolas" pitchFamily="34" charset="-122"/>
                <a:cs typeface="Consolas" pitchFamily="34" charset="-120"/>
              </a:rPr>
              <a:t>griffith.IncorrectMonthException: Months input error: Month is higher than 12</a:t>
            </a:r>
            <a:endParaRPr lang="en-US" sz="1400" dirty="0"/>
          </a:p>
        </p:txBody>
      </p:sp>
      <p:sp>
        <p:nvSpPr>
          <p:cNvPr id="8" name="Text 5"/>
          <p:cNvSpPr txBox="1"/>
          <p:nvPr/>
        </p:nvSpPr>
        <p:spPr>
          <a:xfrm>
            <a:off x="548640" y="3337560"/>
            <a:ext cx="5486400" cy="274320"/>
          </a:xfrm>
          <a:prstGeom prst="rect">
            <a:avLst/>
          </a:prstGeom>
          <a:noFill/>
          <a:ln/>
        </p:spPr>
        <p:txBody>
          <a:bodyPr wrap="square" lIns="0" tIns="0" rIns="0" bIns="0" rtlCol="0" anchor="t"/>
          <a:lstStyle/>
          <a:p>
            <a:pPr algn="l" indent="0" marL="0">
              <a:buNone/>
            </a:pPr>
            <a:r>
              <a:rPr lang="en-US" sz="1350" b="1" dirty="0">
                <a:solidFill>
                  <a:schemeClr val="tx2"/>
                </a:solidFill>
              </a:rPr>
              <a:t>Inside the last line</a:t>
            </a:r>
            <a:endParaRPr lang="en-US" sz="1350" dirty="0"/>
          </a:p>
        </p:txBody>
      </p:sp>
      <p:sp>
        <p:nvSpPr>
          <p:cNvPr id="9" name="Shape 6"/>
          <p:cNvSpPr/>
          <p:nvPr/>
        </p:nvSpPr>
        <p:spPr>
          <a:xfrm>
            <a:off x="548640" y="3703320"/>
            <a:ext cx="4160520" cy="502920"/>
          </a:xfrm>
          <a:prstGeom prst="roundRect">
            <a:avLst>
              <a:gd name="adj" fmla="val 14545"/>
            </a:avLst>
          </a:prstGeom>
          <a:solidFill>
            <a:schemeClr val="accent2">
              <a:alpha val="12000"/>
            </a:schemeClr>
          </a:solidFill>
          <a:ln w="19050">
            <a:solidFill>
              <a:schemeClr val="accent2"/>
            </a:solidFill>
            <a:prstDash val="solid"/>
          </a:ln>
        </p:spPr>
      </p:sp>
      <p:sp>
        <p:nvSpPr>
          <p:cNvPr id="10" name="Text 7"/>
          <p:cNvSpPr txBox="1"/>
          <p:nvPr/>
        </p:nvSpPr>
        <p:spPr>
          <a:xfrm>
            <a:off x="548640" y="3703320"/>
            <a:ext cx="416052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griffith.IncorrectMonthException</a:t>
            </a:r>
            <a:endParaRPr lang="en-US" sz="1500" dirty="0"/>
          </a:p>
        </p:txBody>
      </p:sp>
      <p:sp>
        <p:nvSpPr>
          <p:cNvPr id="11" name="Text 8"/>
          <p:cNvSpPr txBox="1"/>
          <p:nvPr/>
        </p:nvSpPr>
        <p:spPr>
          <a:xfrm>
            <a:off x="365760" y="4297680"/>
            <a:ext cx="4526280" cy="274320"/>
          </a:xfrm>
          <a:prstGeom prst="rect">
            <a:avLst/>
          </a:prstGeom>
          <a:noFill/>
          <a:ln/>
        </p:spPr>
        <p:txBody>
          <a:bodyPr wrap="square" lIns="0" tIns="0" rIns="0" bIns="0" rtlCol="0" anchor="t"/>
          <a:lstStyle/>
          <a:p>
            <a:pPr algn="ctr" indent="0" marL="0">
              <a:buNone/>
            </a:pPr>
            <a:r>
              <a:rPr lang="en-US" sz="1300" b="1" dirty="0">
                <a:solidFill>
                  <a:schemeClr val="tx1"/>
                </a:solidFill>
              </a:rPr>
              <a:t>the class</a:t>
            </a:r>
            <a:endParaRPr lang="en-US" sz="1300" dirty="0"/>
          </a:p>
        </p:txBody>
      </p:sp>
      <p:sp>
        <p:nvSpPr>
          <p:cNvPr id="12" name="Text 9"/>
          <p:cNvSpPr txBox="1"/>
          <p:nvPr/>
        </p:nvSpPr>
        <p:spPr>
          <a:xfrm>
            <a:off x="365760" y="4572000"/>
            <a:ext cx="4526280" cy="274320"/>
          </a:xfrm>
          <a:prstGeom prst="rect">
            <a:avLst/>
          </a:prstGeom>
          <a:noFill/>
          <a:ln/>
        </p:spPr>
        <p:txBody>
          <a:bodyPr wrap="square" lIns="0" tIns="0" rIns="0" bIns="0" rtlCol="0" anchor="t"/>
          <a:lstStyle/>
          <a:p>
            <a:pPr algn="ctr" indent="0" marL="0">
              <a:buNone/>
            </a:pPr>
            <a:r>
              <a:rPr lang="en-US" sz="1150" dirty="0">
                <a:solidFill>
                  <a:schemeClr val="tx2"/>
                </a:solidFill>
              </a:rPr>
              <a:t>with its package, griffith</a:t>
            </a:r>
            <a:endParaRPr lang="en-US" sz="1150" dirty="0"/>
          </a:p>
        </p:txBody>
      </p:sp>
      <p:sp>
        <p:nvSpPr>
          <p:cNvPr id="13" name="Shape 10"/>
          <p:cNvSpPr/>
          <p:nvPr/>
        </p:nvSpPr>
        <p:spPr>
          <a:xfrm>
            <a:off x="4983480" y="3703320"/>
            <a:ext cx="2834640" cy="502920"/>
          </a:xfrm>
          <a:prstGeom prst="roundRect">
            <a:avLst>
              <a:gd name="adj" fmla="val 14545"/>
            </a:avLst>
          </a:prstGeom>
          <a:solidFill>
            <a:schemeClr val="accent1">
              <a:alpha val="12000"/>
            </a:schemeClr>
          </a:solidFill>
          <a:ln w="19050">
            <a:solidFill>
              <a:schemeClr val="accent1"/>
            </a:solidFill>
            <a:prstDash val="solid"/>
          </a:ln>
        </p:spPr>
      </p:sp>
      <p:sp>
        <p:nvSpPr>
          <p:cNvPr id="14" name="Text 11"/>
          <p:cNvSpPr txBox="1"/>
          <p:nvPr/>
        </p:nvSpPr>
        <p:spPr>
          <a:xfrm>
            <a:off x="4983480" y="3703320"/>
            <a:ext cx="283464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Months input error: </a:t>
            </a:r>
            <a:endParaRPr lang="en-US" sz="1500" dirty="0"/>
          </a:p>
        </p:txBody>
      </p:sp>
      <p:sp>
        <p:nvSpPr>
          <p:cNvPr id="15" name="Text 12"/>
          <p:cNvSpPr txBox="1"/>
          <p:nvPr/>
        </p:nvSpPr>
        <p:spPr>
          <a:xfrm>
            <a:off x="4800600" y="4297680"/>
            <a:ext cx="3200400" cy="274320"/>
          </a:xfrm>
          <a:prstGeom prst="rect">
            <a:avLst/>
          </a:prstGeom>
          <a:noFill/>
          <a:ln/>
        </p:spPr>
        <p:txBody>
          <a:bodyPr wrap="square" lIns="0" tIns="0" rIns="0" bIns="0" rtlCol="0" anchor="t"/>
          <a:lstStyle/>
          <a:p>
            <a:pPr algn="ctr" indent="0" marL="0">
              <a:buNone/>
            </a:pPr>
            <a:r>
              <a:rPr lang="en-US" sz="1300" b="1" dirty="0">
                <a:solidFill>
                  <a:schemeClr val="tx1"/>
                </a:solidFill>
              </a:rPr>
              <a:t>from our constructor</a:t>
            </a:r>
            <a:endParaRPr lang="en-US" sz="1300" dirty="0"/>
          </a:p>
        </p:txBody>
      </p:sp>
      <p:sp>
        <p:nvSpPr>
          <p:cNvPr id="16" name="Text 13"/>
          <p:cNvSpPr txBox="1"/>
          <p:nvPr/>
        </p:nvSpPr>
        <p:spPr>
          <a:xfrm>
            <a:off x="4800600" y="4572000"/>
            <a:ext cx="3200400" cy="274320"/>
          </a:xfrm>
          <a:prstGeom prst="rect">
            <a:avLst/>
          </a:prstGeom>
          <a:noFill/>
          <a:ln/>
        </p:spPr>
        <p:txBody>
          <a:bodyPr wrap="square" lIns="0" tIns="0" rIns="0" bIns="0" rtlCol="0" anchor="t"/>
          <a:lstStyle/>
          <a:p>
            <a:pPr algn="ctr" indent="0" marL="0">
              <a:buNone/>
            </a:pPr>
            <a:r>
              <a:rPr lang="en-US" sz="1150" dirty="0">
                <a:solidFill>
                  <a:schemeClr val="tx2"/>
                </a:solidFill>
              </a:rPr>
              <a:t>added in super(...)</a:t>
            </a:r>
            <a:endParaRPr lang="en-US" sz="1150" dirty="0"/>
          </a:p>
        </p:txBody>
      </p:sp>
      <p:sp>
        <p:nvSpPr>
          <p:cNvPr id="17" name="Shape 14"/>
          <p:cNvSpPr/>
          <p:nvPr/>
        </p:nvSpPr>
        <p:spPr>
          <a:xfrm>
            <a:off x="8092440" y="3703320"/>
            <a:ext cx="3547872" cy="502920"/>
          </a:xfrm>
          <a:prstGeom prst="roundRect">
            <a:avLst>
              <a:gd name="adj" fmla="val 14545"/>
            </a:avLst>
          </a:prstGeom>
          <a:solidFill>
            <a:schemeClr val="accent3">
              <a:alpha val="12000"/>
            </a:schemeClr>
          </a:solidFill>
          <a:ln w="19050">
            <a:solidFill>
              <a:schemeClr val="accent3"/>
            </a:solidFill>
            <a:prstDash val="solid"/>
          </a:ln>
        </p:spPr>
      </p:sp>
      <p:sp>
        <p:nvSpPr>
          <p:cNvPr id="18" name="Text 15"/>
          <p:cNvSpPr txBox="1"/>
          <p:nvPr/>
        </p:nvSpPr>
        <p:spPr>
          <a:xfrm>
            <a:off x="8092440" y="3703320"/>
            <a:ext cx="3547872"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Month is higher than 12</a:t>
            </a:r>
            <a:endParaRPr lang="en-US" sz="1500" dirty="0"/>
          </a:p>
        </p:txBody>
      </p:sp>
      <p:sp>
        <p:nvSpPr>
          <p:cNvPr id="19" name="Text 16"/>
          <p:cNvSpPr txBox="1"/>
          <p:nvPr/>
        </p:nvSpPr>
        <p:spPr>
          <a:xfrm>
            <a:off x="7909560" y="4297680"/>
            <a:ext cx="3913632" cy="274320"/>
          </a:xfrm>
          <a:prstGeom prst="rect">
            <a:avLst/>
          </a:prstGeom>
          <a:noFill/>
          <a:ln/>
        </p:spPr>
        <p:txBody>
          <a:bodyPr wrap="square" lIns="0" tIns="0" rIns="0" bIns="0" rtlCol="0" anchor="t"/>
          <a:lstStyle/>
          <a:p>
            <a:pPr algn="ctr" indent="0" marL="0">
              <a:buNone/>
            </a:pPr>
            <a:r>
              <a:rPr lang="en-US" sz="1300" b="1" dirty="0">
                <a:solidFill>
                  <a:schemeClr val="tx1"/>
                </a:solidFill>
              </a:rPr>
              <a:t>from new</a:t>
            </a:r>
            <a:endParaRPr lang="en-US" sz="1300" dirty="0"/>
          </a:p>
        </p:txBody>
      </p:sp>
      <p:sp>
        <p:nvSpPr>
          <p:cNvPr id="20" name="Text 17"/>
          <p:cNvSpPr txBox="1"/>
          <p:nvPr/>
        </p:nvSpPr>
        <p:spPr>
          <a:xfrm>
            <a:off x="7909560" y="4572000"/>
            <a:ext cx="3913632" cy="274320"/>
          </a:xfrm>
          <a:prstGeom prst="rect">
            <a:avLst/>
          </a:prstGeom>
          <a:noFill/>
          <a:ln/>
        </p:spPr>
        <p:txBody>
          <a:bodyPr wrap="square" lIns="0" tIns="0" rIns="0" bIns="0" rtlCol="0" anchor="t"/>
          <a:lstStyle/>
          <a:p>
            <a:pPr algn="ctr" indent="0" marL="0">
              <a:buNone/>
            </a:pPr>
            <a:r>
              <a:rPr lang="en-US" sz="1150" dirty="0">
                <a:solidFill>
                  <a:schemeClr val="tx2"/>
                </a:solidFill>
              </a:rPr>
              <a:t>the text we passed in</a:t>
            </a:r>
            <a:endParaRPr lang="en-US" sz="1150" dirty="0"/>
          </a:p>
        </p:txBody>
      </p:sp>
      <p:sp>
        <p:nvSpPr>
          <p:cNvPr id="21" name="Note"/>
          <p:cNvSpPr/>
          <p:nvPr/>
        </p:nvSpPr>
        <p:spPr>
          <a:xfrm>
            <a:off x="548640" y="5120640"/>
            <a:ext cx="11094415" cy="914400"/>
          </a:xfrm>
          <a:prstGeom prst="roundRect">
            <a:avLst>
              <a:gd name="adj" fmla="val 12000"/>
            </a:avLst>
          </a:prstGeom>
          <a:solidFill>
            <a:schemeClr val="bg2"/>
          </a:solidFill>
          <a:ln/>
        </p:spPr>
      </p:sp>
      <p:sp>
        <p:nvSpPr>
          <p:cNvPr id="22" name="Icon tile"/>
          <p:cNvSpPr/>
          <p:nvPr/>
        </p:nvSpPr>
        <p:spPr>
          <a:xfrm>
            <a:off x="822960" y="5312664"/>
            <a:ext cx="530352" cy="530352"/>
          </a:xfrm>
          <a:prstGeom prst="roundRect">
            <a:avLst>
              <a:gd name="adj" fmla="val 24000"/>
            </a:avLst>
          </a:prstGeom>
          <a:solidFill>
            <a:schemeClr val="accent2">
              <a:alpha val="14000"/>
            </a:schemeClr>
          </a:solidFill>
          <a:ln/>
        </p:spPr>
      </p:sp>
      <p:pic>
        <p:nvPicPr>
          <p:cNvPr id="23" name="Image 0" descr="info icon">    </p:cNvPr>
          <p:cNvPicPr>
            <a:picLocks noChangeAspect="1"/>
          </p:cNvPicPr>
          <p:nvPr/>
        </p:nvPicPr>
        <p:blipFill>
          <a:blip r:embed="rId1"/>
          <a:stretch>
            <a:fillRect/>
          </a:stretch>
        </p:blipFill>
        <p:spPr>
          <a:xfrm>
            <a:off x="934334" y="5424038"/>
            <a:ext cx="307604" cy="307604"/>
          </a:xfrm>
          <a:prstGeom prst="rect">
            <a:avLst/>
          </a:prstGeom>
        </p:spPr>
      </p:pic>
      <p:sp>
        <p:nvSpPr>
          <p:cNvPr id="24" name="Text 20"/>
          <p:cNvSpPr txBox="1"/>
          <p:nvPr/>
        </p:nvSpPr>
        <p:spPr>
          <a:xfrm>
            <a:off x="1572768" y="5120640"/>
            <a:ext cx="9814255" cy="914400"/>
          </a:xfrm>
          <a:prstGeom prst="rect">
            <a:avLst/>
          </a:prstGeom>
          <a:noFill/>
          <a:ln/>
        </p:spPr>
        <p:txBody>
          <a:bodyPr wrap="square" lIns="0" tIns="0" rIns="0" bIns="0" rtlCol="0" anchor="ctr"/>
          <a:lstStyle/>
          <a:p>
            <a:pPr algn="l" indent="0" marL="0">
              <a:buNone/>
            </a:pPr>
            <a:r>
              <a:rPr lang="en-US" sz="1500" dirty="0">
                <a:solidFill>
                  <a:schemeClr val="tx1"/>
                </a:solidFill>
              </a:rPr>
              <a:t>The last two parts together are the message, what </a:t>
            </a:r>
            <a:r>
              <a:rPr lang="en-US" sz="1500" dirty="0">
                <a:solidFill>
                  <a:schemeClr val="accent2"/>
                </a:solidFill>
                <a:latin typeface="Consolas" pitchFamily="34" charset="0"/>
                <a:ea typeface="Consolas" pitchFamily="34" charset="-122"/>
                <a:cs typeface="Consolas" pitchFamily="34" charset="-120"/>
              </a:rPr>
              <a:t>getMessage()</a:t>
            </a:r>
            <a:r>
              <a:rPr lang="en-US" sz="1500" dirty="0">
                <a:solidFill>
                  <a:schemeClr val="tx1"/>
                </a:solidFill>
              </a:rPr>
              <a:t> gives back. A clear class name and message tell the user exactly what went wrong.</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17</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Our own exceptions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With the same code, the user types 25/12/2024. What happens?</a:t>
            </a:r>
            <a:endParaRPr lang="en-US"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US" sz="1900" dirty="0">
                <a:solidFill>
                  <a:schemeClr val="accent2"/>
                </a:solidFill>
                <a:latin typeface="Consolas" pitchFamily="34" charset="0"/>
                <a:ea typeface="Consolas" pitchFamily="34" charset="-122"/>
                <a:cs typeface="Consolas" pitchFamily="34" charset="-120"/>
              </a:rPr>
              <a:t>IncorrectMonthException</a:t>
            </a:r>
            <a:r>
              <a:rPr lang="en-US" sz="1900" dirty="0">
                <a:solidFill>
                  <a:schemeClr val="tx1"/>
                </a:solidFill>
              </a:rPr>
              <a:t> is thrown</a:t>
            </a:r>
            <a:endParaRPr lang="en-US"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US" sz="1900" dirty="0">
                <a:solidFill>
                  <a:schemeClr val="tx1"/>
                </a:solidFill>
              </a:rPr>
              <a:t>No exception, as 12 is a valid month</a:t>
            </a:r>
            <a:endParaRPr lang="en-US"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US" sz="1900" dirty="0">
                <a:solidFill>
                  <a:schemeClr val="tx1"/>
                </a:solidFill>
              </a:rPr>
              <a:t>It prints </a:t>
            </a:r>
            <a:r>
              <a:rPr lang="en-US" sz="1900" dirty="0">
                <a:solidFill>
                  <a:schemeClr val="accent2"/>
                </a:solidFill>
                <a:latin typeface="Consolas" pitchFamily="34" charset="0"/>
                <a:ea typeface="Consolas" pitchFamily="34" charset="-122"/>
                <a:cs typeface="Consolas" pitchFamily="34" charset="-120"/>
              </a:rPr>
              <a:t>Month is higher than 12</a:t>
            </a:r>
            <a:endParaRPr lang="en-US"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US" sz="1900" dirty="0">
                <a:solidFill>
                  <a:schemeClr val="tx1"/>
                </a:solidFill>
              </a:rPr>
              <a:t>An </a:t>
            </a:r>
            <a:r>
              <a:rPr lang="en-US" sz="1900" dirty="0">
                <a:solidFill>
                  <a:schemeClr val="accent2"/>
                </a:solidFill>
                <a:latin typeface="Consolas" pitchFamily="34" charset="0"/>
                <a:ea typeface="Consolas" pitchFamily="34" charset="-122"/>
                <a:cs typeface="Consolas" pitchFamily="34" charset="-120"/>
              </a:rPr>
              <a:t>ArrayIndexOutOfBoundsException</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17</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Our own exceptions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With the same code, the user types 25/12/2024. What happens?</a:t>
            </a:r>
            <a:endParaRPr lang="en-US" sz="2000" dirty="0"/>
          </a:p>
        </p:txBody>
      </p:sp>
      <p:sp>
        <p:nvSpPr>
          <p:cNvPr id="5" name="Answer code card"/>
          <p:cNvSpPr/>
          <p:nvPr/>
        </p:nvSpPr>
        <p:spPr>
          <a:xfrm>
            <a:off x="548640" y="1874520"/>
            <a:ext cx="5623560" cy="1211580"/>
          </a:xfrm>
          <a:prstGeom prst="roundRect">
            <a:avLst>
              <a:gd name="adj" fmla="val 9057"/>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809244"/>
          </a:xfrm>
          <a:prstGeom prst="rect">
            <a:avLst/>
          </a:prstGeom>
          <a:noFill/>
          <a:ln/>
        </p:spPr>
        <p:txBody>
          <a:bodyPr wrap="square" lIns="0" tIns="0" rIns="0" bIns="0" rtlCol="0" anchor="t"/>
          <a:lstStyle/>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datePart       </a:t>
            </a:r>
            <a:r>
              <a:rPr lang="en-US" sz="1500" i="1" dirty="0">
                <a:solidFill>
                  <a:srgbClr val="A3AEC2"/>
                </a:solidFill>
                <a:latin typeface="Consolas" pitchFamily="34" charset="0"/>
                <a:ea typeface="Consolas" pitchFamily="34" charset="-122"/>
                <a:cs typeface="Consolas" pitchFamily="34" charset="-120"/>
              </a:rPr>
              <a:t>// "25", "12", "2024"</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month          </a:t>
            </a:r>
            <a:r>
              <a:rPr lang="en-US" sz="1500" i="1" dirty="0">
                <a:solidFill>
                  <a:srgbClr val="A3AEC2"/>
                </a:solidFill>
                <a:latin typeface="Consolas" pitchFamily="34" charset="0"/>
                <a:ea typeface="Consolas" pitchFamily="34" charset="-122"/>
                <a:cs typeface="Consolas" pitchFamily="34" charset="-120"/>
              </a:rPr>
              <a:t>// 12</a:t>
            </a:r>
            <a:endParaRPr lang="en-US" sz="1500" dirty="0"/>
          </a:p>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month &gt; </a:t>
            </a:r>
            <a:r>
              <a:rPr lang="en-US" sz="1500" dirty="0">
                <a:solidFill>
                  <a:srgbClr val="F2C14E"/>
                </a:solidFill>
                <a:latin typeface="Consolas" pitchFamily="34" charset="0"/>
                <a:ea typeface="Consolas" pitchFamily="34" charset="-122"/>
                <a:cs typeface="Consolas" pitchFamily="34" charset="-120"/>
              </a:rPr>
              <a:t>12     </a:t>
            </a:r>
            <a:r>
              <a:rPr lang="en-US" sz="1500" i="1" dirty="0">
                <a:solidFill>
                  <a:srgbClr val="A3AEC2"/>
                </a:solidFill>
                <a:latin typeface="Consolas" pitchFamily="34" charset="0"/>
                <a:ea typeface="Consolas" pitchFamily="34" charset="-122"/>
                <a:cs typeface="Consolas" pitchFamily="34" charset="-120"/>
              </a:rPr>
              <a:t>// false: nothing is thrown</a:t>
            </a:r>
            <a:endParaRPr lang="en-US" sz="1500" dirty="0"/>
          </a:p>
        </p:txBody>
      </p:sp>
      <p:sp>
        <p:nvSpPr>
          <p:cNvPr id="7" name="Option A"/>
          <p:cNvSpPr/>
          <p:nvPr/>
        </p:nvSpPr>
        <p:spPr>
          <a:xfrm>
            <a:off x="548640" y="3314700"/>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39528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9" name="Option A text"/>
          <p:cNvSpPr txBox="1"/>
          <p:nvPr/>
        </p:nvSpPr>
        <p:spPr>
          <a:xfrm>
            <a:off x="1371600" y="3314700"/>
            <a:ext cx="4572000" cy="581787"/>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IncorrectMonthException</a:t>
            </a:r>
            <a:r>
              <a:rPr lang="en-US" sz="1700" dirty="0">
                <a:solidFill>
                  <a:schemeClr val="tx2"/>
                </a:solidFill>
              </a:rPr>
              <a:t> is thrown</a:t>
            </a:r>
            <a:endParaRPr lang="en-US" sz="1700" dirty="0"/>
          </a:p>
        </p:txBody>
      </p:sp>
      <p:sp>
        <p:nvSpPr>
          <p:cNvPr id="10" name="Option B (correct)"/>
          <p:cNvSpPr/>
          <p:nvPr/>
        </p:nvSpPr>
        <p:spPr>
          <a:xfrm>
            <a:off x="548640" y="4042791"/>
            <a:ext cx="5623560" cy="581787"/>
          </a:xfrm>
          <a:prstGeom prst="roundRect">
            <a:avLst>
              <a:gd name="adj" fmla="val 18861"/>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4123373"/>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2" name="Option B text"/>
          <p:cNvSpPr txBox="1"/>
          <p:nvPr/>
        </p:nvSpPr>
        <p:spPr>
          <a:xfrm>
            <a:off x="1371600" y="4042791"/>
            <a:ext cx="4233672" cy="581787"/>
          </a:xfrm>
          <a:prstGeom prst="rect">
            <a:avLst/>
          </a:prstGeom>
          <a:noFill/>
          <a:ln/>
        </p:spPr>
        <p:txBody>
          <a:bodyPr wrap="square" lIns="0" tIns="0" rIns="0" bIns="0" rtlCol="0" anchor="ctr"/>
          <a:lstStyle/>
          <a:p>
            <a:pPr indent="0" marL="0">
              <a:buNone/>
            </a:pPr>
            <a:r>
              <a:rPr lang="en-US" sz="1700" b="1" dirty="0">
                <a:solidFill>
                  <a:schemeClr val="bg1"/>
                </a:solidFill>
              </a:rPr>
              <a:t>No exception, as 12 is a valid month</a:t>
            </a:r>
            <a:endParaRPr lang="en-US" sz="1700" dirty="0"/>
          </a:p>
        </p:txBody>
      </p:sp>
      <p:pic>
        <p:nvPicPr>
          <p:cNvPr id="13" name="Image 0" descr="Correct mark">    </p:cNvPr>
          <p:cNvPicPr>
            <a:picLocks noChangeAspect="1"/>
          </p:cNvPicPr>
          <p:nvPr/>
        </p:nvPicPr>
        <p:blipFill>
          <a:blip r:embed="rId1"/>
          <a:stretch>
            <a:fillRect/>
          </a:stretch>
        </p:blipFill>
        <p:spPr>
          <a:xfrm>
            <a:off x="5623560" y="4150805"/>
            <a:ext cx="365760" cy="365760"/>
          </a:xfrm>
          <a:prstGeom prst="rect">
            <a:avLst/>
          </a:prstGeom>
        </p:spPr>
      </p:pic>
      <p:sp>
        <p:nvSpPr>
          <p:cNvPr id="14" name="Option C"/>
          <p:cNvSpPr/>
          <p:nvPr/>
        </p:nvSpPr>
        <p:spPr>
          <a:xfrm>
            <a:off x="548640" y="4770882"/>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85146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6" name="Option C text"/>
          <p:cNvSpPr txBox="1"/>
          <p:nvPr/>
        </p:nvSpPr>
        <p:spPr>
          <a:xfrm>
            <a:off x="1371600" y="4770882"/>
            <a:ext cx="4572000" cy="581787"/>
          </a:xfrm>
          <a:prstGeom prst="rect">
            <a:avLst/>
          </a:prstGeom>
          <a:noFill/>
          <a:ln/>
        </p:spPr>
        <p:txBody>
          <a:bodyPr wrap="square" lIns="0" tIns="0" rIns="0" bIns="0" rtlCol="0" anchor="ctr"/>
          <a:lstStyle/>
          <a:p>
            <a:pPr indent="0" marL="0">
              <a:buNone/>
            </a:pPr>
            <a:r>
              <a:rPr lang="en-US" sz="1700" dirty="0">
                <a:solidFill>
                  <a:schemeClr val="tx2"/>
                </a:solidFill>
              </a:rPr>
              <a:t>It prints </a:t>
            </a:r>
            <a:r>
              <a:rPr lang="en-US" sz="1700" dirty="0">
                <a:solidFill>
                  <a:schemeClr val="tx2"/>
                </a:solidFill>
                <a:latin typeface="Consolas" pitchFamily="34" charset="0"/>
                <a:ea typeface="Consolas" pitchFamily="34" charset="-122"/>
                <a:cs typeface="Consolas" pitchFamily="34" charset="-120"/>
              </a:rPr>
              <a:t>Month is higher than 12</a:t>
            </a:r>
            <a:endParaRPr lang="en-US" sz="1700" dirty="0"/>
          </a:p>
        </p:txBody>
      </p:sp>
      <p:sp>
        <p:nvSpPr>
          <p:cNvPr id="17" name="Option D"/>
          <p:cNvSpPr/>
          <p:nvPr/>
        </p:nvSpPr>
        <p:spPr>
          <a:xfrm>
            <a:off x="548640" y="5498973"/>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79555"/>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9" name="Option D text"/>
          <p:cNvSpPr txBox="1"/>
          <p:nvPr/>
        </p:nvSpPr>
        <p:spPr>
          <a:xfrm>
            <a:off x="1371600" y="5498973"/>
            <a:ext cx="4572000" cy="581787"/>
          </a:xfrm>
          <a:prstGeom prst="rect">
            <a:avLst/>
          </a:prstGeom>
          <a:noFill/>
          <a:ln/>
        </p:spPr>
        <p:txBody>
          <a:bodyPr wrap="square" lIns="0" tIns="0" rIns="0" bIns="0" rtlCol="0" anchor="ctr"/>
          <a:lstStyle/>
          <a:p>
            <a:pPr indent="0" marL="0">
              <a:buNone/>
            </a:pPr>
            <a:r>
              <a:rPr lang="en-US" sz="1700" dirty="0">
                <a:solidFill>
                  <a:schemeClr val="tx2"/>
                </a:solidFill>
              </a:rPr>
              <a:t>An </a:t>
            </a:r>
            <a:r>
              <a:rPr lang="en-US" sz="1700" dirty="0">
                <a:solidFill>
                  <a:schemeClr val="tx2"/>
                </a:solidFill>
                <a:latin typeface="Consolas" pitchFamily="34" charset="0"/>
                <a:ea typeface="Consolas" pitchFamily="34" charset="-122"/>
                <a:cs typeface="Consolas" pitchFamily="34" charset="-120"/>
              </a:rPr>
              <a:t>ArrayIndexOutOfBoundsException</a:t>
            </a:r>
            <a:endParaRPr lang="en-US"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datePart[1]</a:t>
            </a:r>
            <a:r>
              <a:rPr lang="en-US" sz="1800" dirty="0">
                <a:solidFill>
                  <a:schemeClr val="tx1"/>
                </a:solidFill>
              </a:rPr>
              <a:t> is </a:t>
            </a:r>
            <a:r>
              <a:rPr lang="en-US" sz="1800" dirty="0">
                <a:solidFill>
                  <a:schemeClr val="accent2"/>
                </a:solidFill>
                <a:latin typeface="Consolas" pitchFamily="34" charset="0"/>
                <a:ea typeface="Consolas" pitchFamily="34" charset="-122"/>
                <a:cs typeface="Consolas" pitchFamily="34" charset="-120"/>
              </a:rPr>
              <a:t>"12"</a:t>
            </a:r>
            <a:r>
              <a:rPr lang="en-US" sz="1800" dirty="0">
                <a:solidFill>
                  <a:schemeClr val="tx1"/>
                </a:solidFill>
              </a:rPr>
              <a:t>, so </a:t>
            </a:r>
            <a:r>
              <a:rPr lang="en-US" sz="1800" dirty="0">
                <a:solidFill>
                  <a:schemeClr val="accent2"/>
                </a:solidFill>
                <a:latin typeface="Consolas" pitchFamily="34" charset="0"/>
                <a:ea typeface="Consolas" pitchFamily="34" charset="-122"/>
                <a:cs typeface="Consolas" pitchFamily="34" charset="-120"/>
              </a:rPr>
              <a:t>month</a:t>
            </a:r>
            <a:r>
              <a:rPr lang="en-US" sz="1800" dirty="0">
                <a:solidFill>
                  <a:schemeClr val="tx1"/>
                </a:solidFill>
              </a:rPr>
              <a:t> is 12. The test is </a:t>
            </a:r>
            <a:r>
              <a:rPr lang="en-US" sz="1800" dirty="0">
                <a:solidFill>
                  <a:schemeClr val="accent2"/>
                </a:solidFill>
                <a:latin typeface="Consolas" pitchFamily="34" charset="0"/>
                <a:ea typeface="Consolas" pitchFamily="34" charset="-122"/>
                <a:cs typeface="Consolas" pitchFamily="34" charset="-120"/>
              </a:rPr>
              <a:t>month &gt; 12</a:t>
            </a:r>
            <a:r>
              <a:rPr lang="en-US" sz="1800" dirty="0">
                <a:solidFill>
                  <a:schemeClr val="tx1"/>
                </a:solidFill>
              </a:rPr>
              <a:t>, and 12 isn’t higher than 12, so nothing is thrown and the catch block never runs.</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18</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Our own exceptions</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This time the user types 2024, with no slashes. What happens?</a:t>
            </a:r>
            <a:endParaRPr lang="en-US" sz="2800" dirty="0"/>
          </a:p>
        </p:txBody>
      </p:sp>
      <p:sp>
        <p:nvSpPr>
          <p:cNvPr id="5" name="Option A"/>
          <p:cNvSpPr/>
          <p:nvPr/>
        </p:nvSpPr>
        <p:spPr>
          <a:xfrm>
            <a:off x="548640" y="2240280"/>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395728"/>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7" name="Option A text"/>
          <p:cNvSpPr txBox="1"/>
          <p:nvPr/>
        </p:nvSpPr>
        <p:spPr>
          <a:xfrm>
            <a:off x="1572768" y="2286000"/>
            <a:ext cx="9795967" cy="713232"/>
          </a:xfrm>
          <a:prstGeom prst="rect">
            <a:avLst/>
          </a:prstGeom>
          <a:noFill/>
          <a:ln/>
        </p:spPr>
        <p:txBody>
          <a:bodyPr wrap="square" lIns="0" tIns="0" rIns="0" bIns="0" rtlCol="0" anchor="ctr"/>
          <a:lstStyle/>
          <a:p>
            <a:pPr indent="0" marL="0">
              <a:buNone/>
            </a:pPr>
            <a:r>
              <a:rPr lang="en-US" sz="1900" dirty="0">
                <a:solidFill>
                  <a:schemeClr val="tx1"/>
                </a:solidFill>
              </a:rPr>
              <a:t>The program crashes with an </a:t>
            </a:r>
            <a:r>
              <a:rPr lang="en-US" sz="1900" dirty="0">
                <a:solidFill>
                  <a:schemeClr val="accent2"/>
                </a:solidFill>
                <a:latin typeface="Consolas" pitchFamily="34" charset="0"/>
                <a:ea typeface="Consolas" pitchFamily="34" charset="-122"/>
                <a:cs typeface="Consolas" pitchFamily="34" charset="-120"/>
              </a:rPr>
              <a:t>ArrayIndexOutOfBoundsException</a:t>
            </a:r>
            <a:endParaRPr lang="en-US" sz="1900" dirty="0"/>
          </a:p>
        </p:txBody>
      </p:sp>
      <p:sp>
        <p:nvSpPr>
          <p:cNvPr id="8" name="Option B"/>
          <p:cNvSpPr/>
          <p:nvPr/>
        </p:nvSpPr>
        <p:spPr>
          <a:xfrm>
            <a:off x="548640" y="3227832"/>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822960" y="3383280"/>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0" name="Option B text"/>
          <p:cNvSpPr txBox="1"/>
          <p:nvPr/>
        </p:nvSpPr>
        <p:spPr>
          <a:xfrm>
            <a:off x="1572768" y="3273552"/>
            <a:ext cx="9795967" cy="713232"/>
          </a:xfrm>
          <a:prstGeom prst="rect">
            <a:avLst/>
          </a:prstGeom>
          <a:noFill/>
          <a:ln/>
        </p:spPr>
        <p:txBody>
          <a:bodyPr wrap="square" lIns="0" tIns="0" rIns="0" bIns="0" rtlCol="0" anchor="ctr"/>
          <a:lstStyle/>
          <a:p>
            <a:pPr indent="0" marL="0">
              <a:buNone/>
            </a:pPr>
            <a:r>
              <a:rPr lang="en-US" sz="1900" dirty="0">
                <a:solidFill>
                  <a:schemeClr val="tx1"/>
                </a:solidFill>
              </a:rPr>
              <a:t>The catch block prints the month error</a:t>
            </a:r>
            <a:endParaRPr lang="en-US" sz="1900" dirty="0"/>
          </a:p>
        </p:txBody>
      </p:sp>
      <p:sp>
        <p:nvSpPr>
          <p:cNvPr id="11" name="Option C"/>
          <p:cNvSpPr/>
          <p:nvPr/>
        </p:nvSpPr>
        <p:spPr>
          <a:xfrm>
            <a:off x="548640" y="4215384"/>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3708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3" name="Option C text"/>
          <p:cNvSpPr txBox="1"/>
          <p:nvPr/>
        </p:nvSpPr>
        <p:spPr>
          <a:xfrm>
            <a:off x="1572768" y="4261104"/>
            <a:ext cx="9795967" cy="713232"/>
          </a:xfrm>
          <a:prstGeom prst="rect">
            <a:avLst/>
          </a:prstGeom>
          <a:noFill/>
          <a:ln/>
        </p:spPr>
        <p:txBody>
          <a:bodyPr wrap="square" lIns="0" tIns="0" rIns="0" bIns="0" rtlCol="0" anchor="ctr"/>
          <a:lstStyle/>
          <a:p>
            <a:pPr indent="0" marL="0">
              <a:buNone/>
            </a:pPr>
            <a:r>
              <a:rPr lang="en-US" sz="1900" dirty="0">
                <a:solidFill>
                  <a:schemeClr val="tx1"/>
                </a:solidFill>
              </a:rPr>
              <a:t>Nothing happens, and the date is ignored</a:t>
            </a:r>
            <a:endParaRPr lang="en-US" sz="1900" dirty="0"/>
          </a:p>
        </p:txBody>
      </p:sp>
      <p:sp>
        <p:nvSpPr>
          <p:cNvPr id="14" name="Option D"/>
          <p:cNvSpPr/>
          <p:nvPr/>
        </p:nvSpPr>
        <p:spPr>
          <a:xfrm>
            <a:off x="548640" y="5202936"/>
            <a:ext cx="11094415" cy="804672"/>
          </a:xfrm>
          <a:prstGeom prst="roundRect">
            <a:avLst>
              <a:gd name="adj" fmla="val 15909"/>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822960" y="5358384"/>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6" name="Option D text"/>
          <p:cNvSpPr txBox="1"/>
          <p:nvPr/>
        </p:nvSpPr>
        <p:spPr>
          <a:xfrm>
            <a:off x="1572768" y="5248656"/>
            <a:ext cx="9795967" cy="713232"/>
          </a:xfrm>
          <a:prstGeom prst="rect">
            <a:avLst/>
          </a:prstGeom>
          <a:noFill/>
          <a:ln/>
        </p:spPr>
        <p:txBody>
          <a:bodyPr wrap="square" lIns="0" tIns="0" rIns="0" bIns="0" rtlCol="0" anchor="ctr"/>
          <a:lstStyle/>
          <a:p>
            <a:pPr indent="0" marL="0">
              <a:buNone/>
            </a:pPr>
            <a:r>
              <a:rPr lang="en-US" sz="1900" dirty="0">
                <a:solidFill>
                  <a:schemeClr val="tx1"/>
                </a:solidFill>
              </a:rPr>
              <a:t>It won’t compile</a:t>
            </a:r>
            <a:endParaRPr lang="en-US" sz="19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18</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Our own exceptions</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This time the user types 2024, with no slashes. What happens?</a:t>
            </a:r>
            <a:endParaRPr lang="en-US" sz="2000" dirty="0"/>
          </a:p>
        </p:txBody>
      </p:sp>
      <p:sp>
        <p:nvSpPr>
          <p:cNvPr id="5" name="Answer code card"/>
          <p:cNvSpPr/>
          <p:nvPr/>
        </p:nvSpPr>
        <p:spPr>
          <a:xfrm>
            <a:off x="548640" y="1874520"/>
            <a:ext cx="5623560" cy="1110996"/>
          </a:xfrm>
          <a:prstGeom prst="roundRect">
            <a:avLst>
              <a:gd name="adj" fmla="val 9877"/>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708660"/>
          </a:xfrm>
          <a:prstGeom prst="rect">
            <a:avLst/>
          </a:prstGeom>
          <a:noFill/>
          <a:ln/>
        </p:spPr>
        <p:txBody>
          <a:bodyPr wrap="square" lIns="0" tIns="0" rIns="0" bIns="0" rtlCol="0" anchor="t"/>
          <a:lstStyle/>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datePart          </a:t>
            </a:r>
            <a:r>
              <a:rPr lang="en-US" sz="1300" i="1" dirty="0">
                <a:solidFill>
                  <a:srgbClr val="A3AEC2"/>
                </a:solidFill>
                <a:latin typeface="Consolas" pitchFamily="34" charset="0"/>
                <a:ea typeface="Consolas" pitchFamily="34" charset="-122"/>
                <a:cs typeface="Consolas" pitchFamily="34" charset="-120"/>
              </a:rPr>
              <a:t>// just "2024"</a:t>
            </a:r>
            <a:endParaRPr lang="en-US" sz="1300" dirty="0"/>
          </a:p>
          <a:p>
            <a:pPr indent="0" marL="0">
              <a:lnSpc>
                <a:spcPts val="1720"/>
              </a:lnSpc>
              <a:buNone/>
            </a:pPr>
            <a:r>
              <a:rPr lang="en-US" sz="1300" dirty="0">
                <a:solidFill>
                  <a:srgbClr val="E6EBF2"/>
                </a:solidFill>
                <a:latin typeface="Consolas" pitchFamily="34" charset="0"/>
                <a:ea typeface="Consolas" pitchFamily="34" charset="-122"/>
                <a:cs typeface="Consolas" pitchFamily="34" charset="-120"/>
              </a:rPr>
              <a:t>datePart[</a:t>
            </a:r>
            <a:r>
              <a:rPr lang="en-US" sz="1300" dirty="0">
                <a:solidFill>
                  <a:srgbClr val="F2C14E"/>
                </a:solidFill>
                <a:latin typeface="Consolas" pitchFamily="34" charset="0"/>
                <a:ea typeface="Consolas" pitchFamily="34" charset="-122"/>
                <a:cs typeface="Consolas" pitchFamily="34" charset="-120"/>
              </a:rPr>
              <a:t>1</a:t>
            </a:r>
            <a:r>
              <a:rPr lang="en-US" sz="1300" dirty="0">
                <a:solidFill>
                  <a:srgbClr val="E6EBF2"/>
                </a:solidFill>
                <a:latin typeface="Consolas" pitchFamily="34" charset="0"/>
                <a:ea typeface="Consolas" pitchFamily="34" charset="-122"/>
                <a:cs typeface="Consolas" pitchFamily="34" charset="-120"/>
              </a:rPr>
              <a:t>]       </a:t>
            </a:r>
            <a:r>
              <a:rPr lang="en-US" sz="1300" i="1" dirty="0">
                <a:solidFill>
                  <a:srgbClr val="A3AEC2"/>
                </a:solidFill>
                <a:latin typeface="Consolas" pitchFamily="34" charset="0"/>
                <a:ea typeface="Consolas" pitchFamily="34" charset="-122"/>
                <a:cs typeface="Consolas" pitchFamily="34" charset="-120"/>
              </a:rPr>
              <a:t>// ArrayIndexOutOfBoundsException</a:t>
            </a:r>
            <a:endParaRPr lang="en-US" sz="1300" dirty="0"/>
          </a:p>
          <a:p>
            <a:pPr indent="0" marL="0">
              <a:lnSpc>
                <a:spcPts val="1720"/>
              </a:lnSpc>
              <a:buNone/>
            </a:pPr>
            <a:r>
              <a:rPr lang="en-US" sz="1300" i="1" dirty="0">
                <a:solidFill>
                  <a:srgbClr val="A3AEC2"/>
                </a:solidFill>
                <a:latin typeface="Consolas" pitchFamily="34" charset="0"/>
                <a:ea typeface="Consolas" pitchFamily="34" charset="-122"/>
                <a:cs typeface="Consolas" pitchFamily="34" charset="-120"/>
              </a:rPr>
              <a:t>// not an IncorrectMonthException, so not caught</a:t>
            </a:r>
            <a:endParaRPr lang="en-US" sz="1300" dirty="0"/>
          </a:p>
        </p:txBody>
      </p:sp>
      <p:sp>
        <p:nvSpPr>
          <p:cNvPr id="7" name="Option A (correct)"/>
          <p:cNvSpPr/>
          <p:nvPr/>
        </p:nvSpPr>
        <p:spPr>
          <a:xfrm>
            <a:off x="548640" y="3214116"/>
            <a:ext cx="5623560" cy="606933"/>
          </a:xfrm>
          <a:prstGeom prst="roundRect">
            <a:avLst>
              <a:gd name="adj" fmla="val 18079"/>
            </a:avLst>
          </a:prstGeom>
          <a:solidFill>
            <a:schemeClr val="accent3"/>
          </a:solidFill>
          <a:ln/>
          <a:effectLst>
            <a:outerShdw sx="100000" sy="100000" kx="0" ky="0" algn="bl" rotWithShape="0" blurRad="114300" dist="31750" dir="5400000">
              <a:srgbClr val="1D2433">
                <a:alpha val="12000"/>
              </a:srgbClr>
            </a:outerShdw>
          </a:effectLst>
        </p:spPr>
      </p:sp>
      <p:sp>
        <p:nvSpPr>
          <p:cNvPr id="8" name="Letter A"/>
          <p:cNvSpPr/>
          <p:nvPr/>
        </p:nvSpPr>
        <p:spPr>
          <a:xfrm>
            <a:off x="749808" y="3307271"/>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9" name="Option A text"/>
          <p:cNvSpPr txBox="1"/>
          <p:nvPr/>
        </p:nvSpPr>
        <p:spPr>
          <a:xfrm>
            <a:off x="1371600" y="3214116"/>
            <a:ext cx="4233672" cy="606933"/>
          </a:xfrm>
          <a:prstGeom prst="rect">
            <a:avLst/>
          </a:prstGeom>
          <a:noFill/>
          <a:ln/>
        </p:spPr>
        <p:txBody>
          <a:bodyPr wrap="square" lIns="0" tIns="0" rIns="0" bIns="0" rtlCol="0" anchor="ctr"/>
          <a:lstStyle/>
          <a:p>
            <a:pPr indent="0" marL="0">
              <a:buNone/>
            </a:pPr>
            <a:r>
              <a:rPr lang="en-US" sz="1500" b="1" dirty="0">
                <a:solidFill>
                  <a:schemeClr val="bg1"/>
                </a:solidFill>
              </a:rPr>
              <a:t>The program crashes with an </a:t>
            </a:r>
            <a:r>
              <a:rPr lang="en-US" sz="1500" b="1" dirty="0">
                <a:solidFill>
                  <a:schemeClr val="bg1"/>
                </a:solidFill>
                <a:latin typeface="Consolas" pitchFamily="34" charset="0"/>
                <a:ea typeface="Consolas" pitchFamily="34" charset="-122"/>
                <a:cs typeface="Consolas" pitchFamily="34" charset="-120"/>
              </a:rPr>
              <a:t>ArrayIndexOutOfBoundsException</a:t>
            </a:r>
            <a:endParaRPr lang="en-US" sz="1500" dirty="0"/>
          </a:p>
        </p:txBody>
      </p:sp>
      <p:pic>
        <p:nvPicPr>
          <p:cNvPr id="10" name="Image 0" descr="Correct mark">    </p:cNvPr>
          <p:cNvPicPr>
            <a:picLocks noChangeAspect="1"/>
          </p:cNvPicPr>
          <p:nvPr/>
        </p:nvPicPr>
        <p:blipFill>
          <a:blip r:embed="rId1"/>
          <a:stretch>
            <a:fillRect/>
          </a:stretch>
        </p:blipFill>
        <p:spPr>
          <a:xfrm>
            <a:off x="5623560" y="3334702"/>
            <a:ext cx="365760" cy="365760"/>
          </a:xfrm>
          <a:prstGeom prst="rect">
            <a:avLst/>
          </a:prstGeom>
        </p:spPr>
      </p:pic>
      <p:sp>
        <p:nvSpPr>
          <p:cNvPr id="11" name="Option B"/>
          <p:cNvSpPr/>
          <p:nvPr/>
        </p:nvSpPr>
        <p:spPr>
          <a:xfrm>
            <a:off x="548640" y="3967353"/>
            <a:ext cx="5623560" cy="606933"/>
          </a:xfrm>
          <a:prstGeom prst="roundRect">
            <a:avLst>
              <a:gd name="adj" fmla="val 18079"/>
            </a:avLst>
          </a:prstGeom>
          <a:solidFill>
            <a:schemeClr val="bg1"/>
          </a:solidFill>
          <a:ln/>
          <a:effectLst>
            <a:outerShdw sx="100000" sy="100000" kx="0" ky="0" algn="bl" rotWithShape="0" blurRad="76200" dist="19050" dir="5400000">
              <a:srgbClr val="1D2433">
                <a:alpha val="8000"/>
              </a:srgbClr>
            </a:outerShdw>
          </a:effectLst>
        </p:spPr>
      </p:sp>
      <p:sp>
        <p:nvSpPr>
          <p:cNvPr id="12" name="Letter B"/>
          <p:cNvSpPr/>
          <p:nvPr/>
        </p:nvSpPr>
        <p:spPr>
          <a:xfrm>
            <a:off x="749808" y="406050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3" name="Option B text"/>
          <p:cNvSpPr txBox="1"/>
          <p:nvPr/>
        </p:nvSpPr>
        <p:spPr>
          <a:xfrm>
            <a:off x="1371600" y="3967353"/>
            <a:ext cx="4572000" cy="606933"/>
          </a:xfrm>
          <a:prstGeom prst="rect">
            <a:avLst/>
          </a:prstGeom>
          <a:noFill/>
          <a:ln/>
        </p:spPr>
        <p:txBody>
          <a:bodyPr wrap="square" lIns="0" tIns="0" rIns="0" bIns="0" rtlCol="0" anchor="ctr"/>
          <a:lstStyle/>
          <a:p>
            <a:pPr indent="0" marL="0">
              <a:buNone/>
            </a:pPr>
            <a:r>
              <a:rPr lang="en-US" sz="1500" dirty="0">
                <a:solidFill>
                  <a:schemeClr val="tx2"/>
                </a:solidFill>
              </a:rPr>
              <a:t>The catch block prints the month error</a:t>
            </a:r>
            <a:endParaRPr lang="en-US" sz="1500" dirty="0"/>
          </a:p>
        </p:txBody>
      </p:sp>
      <p:sp>
        <p:nvSpPr>
          <p:cNvPr id="14" name="Option C"/>
          <p:cNvSpPr/>
          <p:nvPr/>
        </p:nvSpPr>
        <p:spPr>
          <a:xfrm>
            <a:off x="548640" y="4720590"/>
            <a:ext cx="5623560" cy="606933"/>
          </a:xfrm>
          <a:prstGeom prst="roundRect">
            <a:avLst>
              <a:gd name="adj" fmla="val 18079"/>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81374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6" name="Option C text"/>
          <p:cNvSpPr txBox="1"/>
          <p:nvPr/>
        </p:nvSpPr>
        <p:spPr>
          <a:xfrm>
            <a:off x="1371600" y="4720590"/>
            <a:ext cx="4572000" cy="606933"/>
          </a:xfrm>
          <a:prstGeom prst="rect">
            <a:avLst/>
          </a:prstGeom>
          <a:noFill/>
          <a:ln/>
        </p:spPr>
        <p:txBody>
          <a:bodyPr wrap="square" lIns="0" tIns="0" rIns="0" bIns="0" rtlCol="0" anchor="ctr"/>
          <a:lstStyle/>
          <a:p>
            <a:pPr indent="0" marL="0">
              <a:buNone/>
            </a:pPr>
            <a:r>
              <a:rPr lang="en-US" sz="1500" dirty="0">
                <a:solidFill>
                  <a:schemeClr val="tx2"/>
                </a:solidFill>
              </a:rPr>
              <a:t>Nothing happens, and the date is ignored</a:t>
            </a:r>
            <a:endParaRPr lang="en-US" sz="1500" dirty="0"/>
          </a:p>
        </p:txBody>
      </p:sp>
      <p:sp>
        <p:nvSpPr>
          <p:cNvPr id="17" name="Option D"/>
          <p:cNvSpPr/>
          <p:nvPr/>
        </p:nvSpPr>
        <p:spPr>
          <a:xfrm>
            <a:off x="548640" y="5473827"/>
            <a:ext cx="5623560" cy="606933"/>
          </a:xfrm>
          <a:prstGeom prst="roundRect">
            <a:avLst>
              <a:gd name="adj" fmla="val 18079"/>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6698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9" name="Option D text"/>
          <p:cNvSpPr txBox="1"/>
          <p:nvPr/>
        </p:nvSpPr>
        <p:spPr>
          <a:xfrm>
            <a:off x="1371600" y="5473827"/>
            <a:ext cx="4572000" cy="606933"/>
          </a:xfrm>
          <a:prstGeom prst="rect">
            <a:avLst/>
          </a:prstGeom>
          <a:noFill/>
          <a:ln/>
        </p:spPr>
        <p:txBody>
          <a:bodyPr wrap="square" lIns="0" tIns="0" rIns="0" bIns="0" rtlCol="0" anchor="ctr"/>
          <a:lstStyle/>
          <a:p>
            <a:pPr indent="0" marL="0">
              <a:buNone/>
            </a:pPr>
            <a:r>
              <a:rPr lang="en-US" sz="1500" dirty="0">
                <a:solidFill>
                  <a:schemeClr val="tx2"/>
                </a:solidFill>
              </a:rPr>
              <a:t>It won’t compile</a:t>
            </a:r>
            <a:endParaRPr lang="en-US" sz="15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split("/")</a:t>
            </a:r>
            <a:r>
              <a:rPr lang="en-US" sz="1800" dirty="0">
                <a:solidFill>
                  <a:schemeClr val="tx1"/>
                </a:solidFill>
              </a:rPr>
              <a:t> finds no slashes, so </a:t>
            </a:r>
            <a:r>
              <a:rPr lang="en-US" sz="1800" dirty="0">
                <a:solidFill>
                  <a:schemeClr val="accent2"/>
                </a:solidFill>
                <a:latin typeface="Consolas" pitchFamily="34" charset="0"/>
                <a:ea typeface="Consolas" pitchFamily="34" charset="-122"/>
                <a:cs typeface="Consolas" pitchFamily="34" charset="-120"/>
              </a:rPr>
              <a:t>datePart</a:t>
            </a:r>
            <a:r>
              <a:rPr lang="en-US" sz="1800" dirty="0">
                <a:solidFill>
                  <a:schemeClr val="tx1"/>
                </a:solidFill>
              </a:rPr>
              <a:t> holds one part, </a:t>
            </a:r>
            <a:r>
              <a:rPr lang="en-US" sz="1800" dirty="0">
                <a:solidFill>
                  <a:schemeClr val="accent2"/>
                </a:solidFill>
                <a:latin typeface="Consolas" pitchFamily="34" charset="0"/>
                <a:ea typeface="Consolas" pitchFamily="34" charset="-122"/>
                <a:cs typeface="Consolas" pitchFamily="34" charset="-120"/>
              </a:rPr>
              <a:t>"2024"</a:t>
            </a:r>
            <a:r>
              <a:rPr lang="en-US" sz="1800" dirty="0">
                <a:solidFill>
                  <a:schemeClr val="tx1"/>
                </a:solidFill>
              </a:rPr>
              <a:t>. </a:t>
            </a:r>
            <a:r>
              <a:rPr lang="en-US" sz="1800" dirty="0">
                <a:solidFill>
                  <a:schemeClr val="accent2"/>
                </a:solidFill>
                <a:latin typeface="Consolas" pitchFamily="34" charset="0"/>
                <a:ea typeface="Consolas" pitchFamily="34" charset="-122"/>
                <a:cs typeface="Consolas" pitchFamily="34" charset="-120"/>
              </a:rPr>
              <a:t>datePart[1]</a:t>
            </a:r>
            <a:r>
              <a:rPr lang="en-US" sz="1800" dirty="0">
                <a:solidFill>
                  <a:schemeClr val="tx1"/>
                </a:solidFill>
              </a:rPr>
              <a:t> is outside the array and throws an </a:t>
            </a:r>
            <a:r>
              <a:rPr lang="en-US" sz="1800" dirty="0">
                <a:solidFill>
                  <a:schemeClr val="accent2"/>
                </a:solidFill>
                <a:latin typeface="Consolas" pitchFamily="34" charset="0"/>
                <a:ea typeface="Consolas" pitchFamily="34" charset="-122"/>
                <a:cs typeface="Consolas" pitchFamily="34" charset="-120"/>
              </a:rPr>
              <a:t>ArrayIndexOutOfBoundsException</a:t>
            </a:r>
            <a:r>
              <a:rPr lang="en-US" sz="1800" dirty="0">
                <a:solidFill>
                  <a:schemeClr val="tx1"/>
                </a:solidFill>
              </a:rPr>
              <a:t>. Our catch only handles </a:t>
            </a:r>
            <a:r>
              <a:rPr lang="en-US" sz="1800" dirty="0">
                <a:solidFill>
                  <a:schemeClr val="accent2"/>
                </a:solidFill>
                <a:latin typeface="Consolas" pitchFamily="34" charset="0"/>
                <a:ea typeface="Consolas" pitchFamily="34" charset="-122"/>
                <a:cs typeface="Consolas" pitchFamily="34" charset="-120"/>
              </a:rPr>
              <a:t>IncorrectMonthException</a:t>
            </a:r>
            <a:r>
              <a:rPr lang="en-US" sz="1800" dirty="0">
                <a:solidFill>
                  <a:schemeClr val="tx1"/>
                </a:solidFill>
              </a:rPr>
              <a:t>, so nothing catches it and the program stops.</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822960" y="1188720"/>
            <a:ext cx="3657600" cy="1417320"/>
          </a:xfrm>
          <a:prstGeom prst="rect">
            <a:avLst/>
          </a:prstGeom>
          <a:noFill/>
          <a:ln/>
        </p:spPr>
        <p:txBody>
          <a:bodyPr wrap="square" lIns="0" tIns="0" rIns="0" bIns="0" rtlCol="0" anchor="b"/>
          <a:lstStyle/>
          <a:p>
            <a:pPr indent="0" marL="0">
              <a:buNone/>
            </a:pPr>
            <a:r>
              <a:rPr lang="en-US" sz="9600" b="1" dirty="0">
                <a:solidFill>
                  <a:schemeClr val="accent1"/>
                </a:solidFill>
              </a:rPr>
              <a:t>04</a:t>
            </a:r>
            <a:endParaRPr lang="en-US" sz="9600" dirty="0"/>
          </a:p>
        </p:txBody>
      </p:sp>
      <p:sp>
        <p:nvSpPr>
          <p:cNvPr id="3" name="Text 0"/>
          <p:cNvSpPr/>
          <p:nvPr>
            <p:ph idx="101" type="title" hasCustomPrompt="1"/>
          </p:nvPr>
        </p:nvSpPr>
        <p:spPr>
          <a:xfrm>
            <a:off x="822960" y="2743200"/>
            <a:ext cx="7223760" cy="1005840"/>
          </a:xfrm>
          <a:prstGeom prst="rect">
            <a:avLst/>
          </a:prstGeom>
          <a:noFill/>
          <a:ln/>
        </p:spPr>
        <p:txBody>
          <a:bodyPr wrap="square" lIns="0" tIns="0" rIns="0" bIns="0" rtlCol="0" anchor="t"/>
          <a:lstStyle/>
          <a:p>
            <a:pPr algn="l" indent="0" marL="0">
              <a:buNone/>
            </a:pPr>
            <a:r>
              <a:rPr lang="en-US" sz="4400" b="1" dirty="0">
                <a:solidFill>
                  <a:schemeClr val="bg1"/>
                </a:solidFill>
              </a:rPr>
              <a:t>assert and safe input</a:t>
            </a:r>
            <a:endParaRPr lang="en-US" sz="4400" dirty="0"/>
          </a:p>
        </p:txBody>
      </p:sp>
      <p:sp>
        <p:nvSpPr>
          <p:cNvPr id="4" name="Text 0"/>
          <p:cNvSpPr/>
          <p:nvPr>
            <p:ph idx="102" type="body" hasCustomPrompt="1"/>
          </p:nvPr>
        </p:nvSpPr>
        <p:spPr>
          <a:xfrm>
            <a:off x="822960" y="3794760"/>
            <a:ext cx="6766560" cy="868680"/>
          </a:xfrm>
          <a:prstGeom prst="rect">
            <a:avLst/>
          </a:prstGeom>
          <a:noFill/>
          <a:ln/>
        </p:spPr>
        <p:txBody>
          <a:bodyPr wrap="square" lIns="0" tIns="0" rIns="0" bIns="0" rtlCol="0" anchor="t"/>
          <a:lstStyle/>
          <a:p>
            <a:pPr indent="0" marL="0">
              <a:buNone/>
            </a:pPr>
            <a:r>
              <a:rPr lang="en-US" sz="2000" dirty="0">
                <a:solidFill>
                  <a:schemeClr val="bg2"/>
                </a:solidFill>
              </a:rPr>
              <a:t>Checking our own logic, and the data users type</a:t>
            </a:r>
            <a:endParaRPr lang="en-US" sz="2000" dirty="0"/>
          </a:p>
        </p:txBody>
      </p:sp>
      <p:sp>
        <p:nvSpPr>
          <p:cNvPr id="5" name="Topic chip"/>
          <p:cNvSpPr/>
          <p:nvPr/>
        </p:nvSpPr>
        <p:spPr>
          <a:xfrm>
            <a:off x="822960" y="4846320"/>
            <a:ext cx="957285"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assert</a:t>
            </a:r>
            <a:endParaRPr lang="en-US" sz="1400" dirty="0"/>
          </a:p>
        </p:txBody>
      </p:sp>
      <p:sp>
        <p:nvSpPr>
          <p:cNvPr id="6" name="Topic chip"/>
          <p:cNvSpPr/>
          <p:nvPr/>
        </p:nvSpPr>
        <p:spPr>
          <a:xfrm>
            <a:off x="1926549" y="4846320"/>
            <a:ext cx="1327252"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Validation</a:t>
            </a:r>
            <a:endParaRPr lang="en-US" sz="1400" dirty="0"/>
          </a:p>
        </p:txBody>
      </p:sp>
      <p:sp>
        <p:nvSpPr>
          <p:cNvPr id="7" name="Topic chip"/>
          <p:cNvSpPr/>
          <p:nvPr/>
        </p:nvSpPr>
        <p:spPr>
          <a:xfrm>
            <a:off x="3400105" y="4846320"/>
            <a:ext cx="1512235"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Sanitization</a:t>
            </a:r>
            <a:endParaRPr lang="en-US" sz="1400" dirty="0"/>
          </a:p>
        </p:txBody>
      </p:sp>
      <p:sp>
        <p:nvSpPr>
          <p:cNvPr id="8" name="Topic chip"/>
          <p:cNvSpPr/>
          <p:nvPr/>
        </p:nvSpPr>
        <p:spPr>
          <a:xfrm>
            <a:off x="5058644" y="4846320"/>
            <a:ext cx="1697218" cy="384048"/>
          </a:xfrm>
          <a:prstGeom prst="roundRect">
            <a:avLst>
              <a:gd name="adj" fmla="val 50000"/>
            </a:avLst>
          </a:prstGeom>
          <a:solidFill>
            <a:schemeClr val="bg1">
              <a:alpha val="10000"/>
            </a:schemeClr>
          </a:solidFill>
          <a:ln w="12700">
            <a:solidFill>
              <a:schemeClr val="bg1">
                <a:alpha val="60000"/>
              </a:schemeClr>
            </a:solidFill>
          </a:ln>
        </p:spPr>
        <p:txBody>
          <a:bodyPr wrap="square" lIns="0" tIns="0" rIns="0" bIns="0" rtlCol="0" anchor="ctr"/>
          <a:lstStyle/>
          <a:p>
            <a:pPr algn="ctr" indent="0" marL="0">
              <a:buNone/>
            </a:pPr>
            <a:r>
              <a:rPr lang="en-US" sz="1400" dirty="0">
                <a:solidFill>
                  <a:schemeClr val="bg1"/>
                </a:solidFill>
              </a:rPr>
              <a:t>Code injection</a:t>
            </a:r>
            <a:endParaRPr lang="en-US" sz="1400" dirty="0"/>
          </a:p>
        </p:txBody>
      </p:sp>
      <p:pic>
        <p:nvPicPr>
          <p:cNvPr id="9" name="Image 0" descr="Section icon">    </p:cNvPr>
          <p:cNvPicPr>
            <a:picLocks noChangeAspect="1"/>
          </p:cNvPicPr>
          <p:nvPr/>
        </p:nvPicPr>
        <p:blipFill>
          <a:blip r:embed="rId1">
            <a:alphaModFix amt="22000"/>
          </a:blip>
          <a:stretch>
            <a:fillRect/>
          </a:stretch>
        </p:blipFill>
        <p:spPr>
          <a:xfrm>
            <a:off x="8229600" y="1554480"/>
            <a:ext cx="3383280" cy="338328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ASSERT AND SAFE INPUT</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assert: checking our own logic</a:t>
            </a:r>
            <a:endParaRPr lang="en-US" sz="3400" dirty="0"/>
          </a:p>
        </p:txBody>
      </p:sp>
      <p:sp>
        <p:nvSpPr>
          <p:cNvPr id="5" name="Text 2"/>
          <p:cNvSpPr txBox="1"/>
          <p:nvPr/>
        </p:nvSpPr>
        <p:spPr>
          <a:xfrm>
            <a:off x="548640" y="1783080"/>
            <a:ext cx="5120640" cy="2377440"/>
          </a:xfrm>
          <a:prstGeom prst="rect">
            <a:avLst/>
          </a:prstGeom>
          <a:noFill/>
          <a:ln/>
        </p:spPr>
        <p:txBody>
          <a:bodyPr wrap="square" lIns="0" tIns="0" rIns="0" bIns="0" rtlCol="0" anchor="t"/>
          <a:lstStyle/>
          <a:p>
            <a:pPr marL="228600" indent="-228600">
              <a:spcAft>
                <a:spcPts val="1000"/>
              </a:spcAft>
              <a:buSzPct val="100000"/>
              <a:buChar char="•"/>
            </a:pPr>
            <a:r>
              <a:rPr lang="en-US" sz="1650" dirty="0">
                <a:solidFill>
                  <a:schemeClr val="tx1"/>
                </a:solidFill>
              </a:rPr>
              <a:t>When testing, we check a range of cases: if a method can return true or false, we test both.</a:t>
            </a:r>
            <a:endParaRPr lang="en-US" sz="1650" dirty="0"/>
          </a:p>
          <a:p>
            <a:pPr marL="228600" indent="-228600">
              <a:spcAft>
                <a:spcPts val="1000"/>
              </a:spcAft>
              <a:buSzPct val="100000"/>
              <a:buChar char="•"/>
            </a:pPr>
            <a:r>
              <a:rPr lang="en-US" sz="1650" b="1" dirty="0">
                <a:solidFill>
                  <a:schemeClr val="tx1"/>
                </a:solidFill>
              </a:rPr>
              <a:t>assert</a:t>
            </a:r>
            <a:r>
              <a:rPr lang="en-US" sz="1650" dirty="0">
                <a:solidFill>
                  <a:schemeClr val="tx1"/>
                </a:solidFill>
              </a:rPr>
              <a:t> checks, while the program runs, that something we expect is true.</a:t>
            </a:r>
            <a:endParaRPr lang="en-US" sz="1650" dirty="0"/>
          </a:p>
          <a:p>
            <a:pPr marL="228600" indent="-228600">
              <a:buSzPct val="100000"/>
              <a:buChar char="•"/>
            </a:pPr>
            <a:r>
              <a:rPr lang="en-US" sz="1650" dirty="0">
                <a:solidFill>
                  <a:schemeClr val="tx1"/>
                </a:solidFill>
              </a:rPr>
              <a:t>If it’s false, and assertions are on, Java throws an </a:t>
            </a:r>
            <a:r>
              <a:rPr lang="en-US" sz="1650" dirty="0">
                <a:solidFill>
                  <a:schemeClr val="accent2"/>
                </a:solidFill>
                <a:latin typeface="Consolas" pitchFamily="34" charset="0"/>
                <a:ea typeface="Consolas" pitchFamily="34" charset="-122"/>
                <a:cs typeface="Consolas" pitchFamily="34" charset="-120"/>
              </a:rPr>
              <a:t>AssertionError</a:t>
            </a:r>
            <a:r>
              <a:rPr lang="en-US" sz="1650" dirty="0">
                <a:solidFill>
                  <a:schemeClr val="tx1"/>
                </a:solidFill>
              </a:rPr>
              <a:t> with our message, a sign of a mistake in our logic.</a:t>
            </a:r>
            <a:endParaRPr lang="en-US" sz="1650" dirty="0"/>
          </a:p>
        </p:txBody>
      </p:sp>
      <p:sp>
        <p:nvSpPr>
          <p:cNvPr id="6" name="assert card"/>
          <p:cNvSpPr/>
          <p:nvPr/>
        </p:nvSpPr>
        <p:spPr>
          <a:xfrm>
            <a:off x="6035040" y="1691640"/>
            <a:ext cx="5608015" cy="2007108"/>
          </a:xfrm>
          <a:prstGeom prst="roundRect">
            <a:avLst>
              <a:gd name="adj" fmla="val 5467"/>
            </a:avLst>
          </a:prstGeom>
          <a:solidFill>
            <a:schemeClr val="tx1"/>
          </a:solidFill>
          <a:ln/>
          <a:effectLst>
            <a:outerShdw sx="100000" sy="100000" kx="0" ky="0" algn="bl" rotWithShape="0" blurRad="114300" dist="31750" dir="5400000">
              <a:srgbClr val="1D2433">
                <a:alpha val="12000"/>
              </a:srgbClr>
            </a:outerShdw>
          </a:effectLst>
        </p:spPr>
      </p:sp>
      <p:sp>
        <p:nvSpPr>
          <p:cNvPr id="7" name="assert label"/>
          <p:cNvSpPr txBox="1"/>
          <p:nvPr/>
        </p:nvSpPr>
        <p:spPr>
          <a:xfrm>
            <a:off x="6309360" y="1810512"/>
            <a:ext cx="505937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8" name="assert text"/>
          <p:cNvSpPr txBox="1"/>
          <p:nvPr/>
        </p:nvSpPr>
        <p:spPr>
          <a:xfrm>
            <a:off x="6309360" y="2185416"/>
            <a:ext cx="5059375" cy="1312164"/>
          </a:xfrm>
          <a:prstGeom prst="rect">
            <a:avLst/>
          </a:prstGeom>
          <a:noFill/>
          <a:ln/>
        </p:spPr>
        <p:txBody>
          <a:bodyPr wrap="square" lIns="0" tIns="0" rIns="0" bIns="0" rtlCol="0" anchor="t"/>
          <a:lstStyle/>
          <a:p>
            <a:pPr indent="0" marL="0">
              <a:lnSpc>
                <a:spcPts val="1650"/>
              </a:lnSpc>
              <a:buNone/>
            </a:pPr>
            <a:r>
              <a:rPr lang="en-US" sz="1250" dirty="0">
                <a:solidFill>
                  <a:srgbClr val="FF9F5A"/>
                </a:solidFill>
                <a:latin typeface="Consolas" pitchFamily="34" charset="0"/>
                <a:ea typeface="Consolas" pitchFamily="34" charset="-122"/>
                <a:cs typeface="Consolas" pitchFamily="34" charset="-120"/>
              </a:rPr>
              <a:t>int</a:t>
            </a:r>
            <a:r>
              <a:rPr lang="en-US" sz="1250" dirty="0">
                <a:solidFill>
                  <a:srgbClr val="E6EBF2"/>
                </a:solidFill>
                <a:latin typeface="Consolas" pitchFamily="34" charset="0"/>
                <a:ea typeface="Consolas" pitchFamily="34" charset="-122"/>
                <a:cs typeface="Consolas" pitchFamily="34" charset="-120"/>
              </a:rPr>
              <a:t>[] arr = </a:t>
            </a:r>
            <a:r>
              <a:rPr lang="en-US" sz="1250" dirty="0">
                <a:solidFill>
                  <a:srgbClr val="FF9F5A"/>
                </a:solidFill>
                <a:latin typeface="Consolas" pitchFamily="34" charset="0"/>
                <a:ea typeface="Consolas" pitchFamily="34" charset="-122"/>
                <a:cs typeface="Consolas" pitchFamily="34" charset="-120"/>
              </a:rPr>
              <a:t>new int</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F2C14E"/>
                </a:solidFill>
                <a:latin typeface="Consolas" pitchFamily="34" charset="0"/>
                <a:ea typeface="Consolas" pitchFamily="34" charset="-122"/>
                <a:cs typeface="Consolas" pitchFamily="34" charset="-120"/>
              </a:rPr>
              <a:t>5</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endParaRPr lang="en-US" sz="1250" dirty="0"/>
          </a:p>
          <a:p>
            <a:pPr indent="0" marL="0">
              <a:lnSpc>
                <a:spcPts val="1650"/>
              </a:lnSpc>
              <a:buNone/>
            </a:pPr>
            <a:r>
              <a:rPr lang="en-US" sz="1250" dirty="0">
                <a:solidFill>
                  <a:srgbClr val="FF9F5A"/>
                </a:solidFill>
                <a:latin typeface="Consolas" pitchFamily="34" charset="0"/>
                <a:ea typeface="Consolas" pitchFamily="34" charset="-122"/>
                <a:cs typeface="Consolas" pitchFamily="34" charset="-120"/>
              </a:rPr>
              <a:t>assert </a:t>
            </a:r>
            <a:r>
              <a:rPr lang="en-US" sz="1250" dirty="0">
                <a:solidFill>
                  <a:srgbClr val="E6EBF2"/>
                </a:solidFill>
                <a:latin typeface="Consolas" pitchFamily="34" charset="0"/>
                <a:ea typeface="Consolas" pitchFamily="34" charset="-122"/>
                <a:cs typeface="Consolas" pitchFamily="34" charset="-120"/>
              </a:rPr>
              <a:t>arr.length == </a:t>
            </a:r>
            <a:r>
              <a:rPr lang="en-US" sz="1250" dirty="0">
                <a:solidFill>
                  <a:srgbClr val="F2C14E"/>
                </a:solidFill>
                <a:latin typeface="Consolas" pitchFamily="34" charset="0"/>
                <a:ea typeface="Consolas" pitchFamily="34" charset="-122"/>
                <a:cs typeface="Consolas" pitchFamily="34" charset="-120"/>
              </a:rPr>
              <a:t>5 </a:t>
            </a: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A9DB8C"/>
                </a:solidFill>
                <a:latin typeface="Consolas" pitchFamily="34" charset="0"/>
                <a:ea typeface="Consolas" pitchFamily="34" charset="-122"/>
                <a:cs typeface="Consolas" pitchFamily="34" charset="-120"/>
              </a:rPr>
              <a:t>"Array length should be 5"</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i="1" dirty="0">
                <a:solidFill>
                  <a:srgbClr val="A3AEC2"/>
                </a:solidFill>
                <a:latin typeface="Consolas" pitchFamily="34" charset="0"/>
                <a:ea typeface="Consolas" pitchFamily="34" charset="-122"/>
                <a:cs typeface="Consolas" pitchFamily="34" charset="-120"/>
              </a:rPr>
              <a:t>// If length is not 5, AssertionError is thrown</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"Other code"</a:t>
            </a:r>
            <a:r>
              <a:rPr lang="en-US" sz="1250" dirty="0">
                <a:solidFill>
                  <a:srgbClr val="E6EBF2"/>
                </a:solidFill>
                <a:latin typeface="Consolas" pitchFamily="34" charset="0"/>
                <a:ea typeface="Consolas" pitchFamily="34" charset="-122"/>
                <a:cs typeface="Consolas" pitchFamily="34" charset="-120"/>
              </a:rPr>
              <a:t>);</a:t>
            </a:r>
            <a:endParaRPr lang="en-US" sz="1250" dirty="0"/>
          </a:p>
        </p:txBody>
      </p:sp>
      <p:sp>
        <p:nvSpPr>
          <p:cNvPr id="9" name="Text 6"/>
          <p:cNvSpPr txBox="1"/>
          <p:nvPr/>
        </p:nvSpPr>
        <p:spPr>
          <a:xfrm>
            <a:off x="548640" y="4343400"/>
            <a:ext cx="5486400" cy="274320"/>
          </a:xfrm>
          <a:prstGeom prst="rect">
            <a:avLst/>
          </a:prstGeom>
          <a:noFill/>
          <a:ln/>
        </p:spPr>
        <p:txBody>
          <a:bodyPr wrap="square" lIns="0" tIns="0" rIns="0" bIns="0" rtlCol="0" anchor="t"/>
          <a:lstStyle/>
          <a:p>
            <a:pPr algn="l" indent="0" marL="0">
              <a:buNone/>
            </a:pPr>
            <a:r>
              <a:rPr lang="en-US" sz="1350" b="1" dirty="0">
                <a:solidFill>
                  <a:schemeClr val="tx2"/>
                </a:solidFill>
              </a:rPr>
              <a:t>The format: assert condition : message;</a:t>
            </a:r>
            <a:endParaRPr lang="en-US" sz="1350" dirty="0"/>
          </a:p>
        </p:txBody>
      </p:sp>
      <p:sp>
        <p:nvSpPr>
          <p:cNvPr id="10" name="Shape 7"/>
          <p:cNvSpPr/>
          <p:nvPr/>
        </p:nvSpPr>
        <p:spPr>
          <a:xfrm>
            <a:off x="731520" y="4709160"/>
            <a:ext cx="1463040" cy="502920"/>
          </a:xfrm>
          <a:prstGeom prst="roundRect">
            <a:avLst>
              <a:gd name="adj" fmla="val 14545"/>
            </a:avLst>
          </a:prstGeom>
          <a:solidFill>
            <a:schemeClr val="accent1">
              <a:alpha val="12000"/>
            </a:schemeClr>
          </a:solidFill>
          <a:ln w="19050">
            <a:solidFill>
              <a:schemeClr val="accent1"/>
            </a:solidFill>
            <a:prstDash val="solid"/>
          </a:ln>
        </p:spPr>
      </p:sp>
      <p:sp>
        <p:nvSpPr>
          <p:cNvPr id="11" name="Text 8"/>
          <p:cNvSpPr txBox="1"/>
          <p:nvPr/>
        </p:nvSpPr>
        <p:spPr>
          <a:xfrm>
            <a:off x="731520" y="4709160"/>
            <a:ext cx="146304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assert</a:t>
            </a:r>
            <a:endParaRPr lang="en-US" sz="1500" dirty="0"/>
          </a:p>
        </p:txBody>
      </p:sp>
      <p:sp>
        <p:nvSpPr>
          <p:cNvPr id="12" name="Text 9"/>
          <p:cNvSpPr txBox="1"/>
          <p:nvPr/>
        </p:nvSpPr>
        <p:spPr>
          <a:xfrm>
            <a:off x="548640" y="5303520"/>
            <a:ext cx="1828800" cy="274320"/>
          </a:xfrm>
          <a:prstGeom prst="rect">
            <a:avLst/>
          </a:prstGeom>
          <a:noFill/>
          <a:ln/>
        </p:spPr>
        <p:txBody>
          <a:bodyPr wrap="square" lIns="0" tIns="0" rIns="0" bIns="0" rtlCol="0" anchor="t"/>
          <a:lstStyle/>
          <a:p>
            <a:pPr algn="ctr" indent="0" marL="0">
              <a:buNone/>
            </a:pPr>
            <a:r>
              <a:rPr lang="en-US" sz="1300" b="1" dirty="0">
                <a:solidFill>
                  <a:schemeClr val="tx1"/>
                </a:solidFill>
              </a:rPr>
              <a:t>the keyword</a:t>
            </a:r>
            <a:endParaRPr lang="en-US" sz="1300" dirty="0"/>
          </a:p>
        </p:txBody>
      </p:sp>
      <p:sp>
        <p:nvSpPr>
          <p:cNvPr id="13" name="Shape 10"/>
          <p:cNvSpPr/>
          <p:nvPr/>
        </p:nvSpPr>
        <p:spPr>
          <a:xfrm>
            <a:off x="2560320" y="4709160"/>
            <a:ext cx="2926080" cy="502920"/>
          </a:xfrm>
          <a:prstGeom prst="roundRect">
            <a:avLst>
              <a:gd name="adj" fmla="val 14545"/>
            </a:avLst>
          </a:prstGeom>
          <a:solidFill>
            <a:schemeClr val="accent2">
              <a:alpha val="12000"/>
            </a:schemeClr>
          </a:solidFill>
          <a:ln w="19050">
            <a:solidFill>
              <a:schemeClr val="accent2"/>
            </a:solidFill>
            <a:prstDash val="solid"/>
          </a:ln>
        </p:spPr>
      </p:sp>
      <p:sp>
        <p:nvSpPr>
          <p:cNvPr id="14" name="Text 11"/>
          <p:cNvSpPr txBox="1"/>
          <p:nvPr/>
        </p:nvSpPr>
        <p:spPr>
          <a:xfrm>
            <a:off x="2560320" y="4709160"/>
            <a:ext cx="292608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arr.length == 5</a:t>
            </a:r>
            <a:endParaRPr lang="en-US" sz="1500" dirty="0"/>
          </a:p>
        </p:txBody>
      </p:sp>
      <p:sp>
        <p:nvSpPr>
          <p:cNvPr id="15" name="Text 12"/>
          <p:cNvSpPr txBox="1"/>
          <p:nvPr/>
        </p:nvSpPr>
        <p:spPr>
          <a:xfrm>
            <a:off x="2377440" y="5303520"/>
            <a:ext cx="3291840" cy="274320"/>
          </a:xfrm>
          <a:prstGeom prst="rect">
            <a:avLst/>
          </a:prstGeom>
          <a:noFill/>
          <a:ln/>
        </p:spPr>
        <p:txBody>
          <a:bodyPr wrap="square" lIns="0" tIns="0" rIns="0" bIns="0" rtlCol="0" anchor="t"/>
          <a:lstStyle/>
          <a:p>
            <a:pPr algn="ctr" indent="0" marL="0">
              <a:buNone/>
            </a:pPr>
            <a:r>
              <a:rPr lang="en-US" sz="1300" b="1" dirty="0">
                <a:solidFill>
                  <a:schemeClr val="tx1"/>
                </a:solidFill>
              </a:rPr>
              <a:t>the condition</a:t>
            </a:r>
            <a:endParaRPr lang="en-US" sz="1300" dirty="0"/>
          </a:p>
        </p:txBody>
      </p:sp>
      <p:sp>
        <p:nvSpPr>
          <p:cNvPr id="16" name="Text 13"/>
          <p:cNvSpPr txBox="1"/>
          <p:nvPr/>
        </p:nvSpPr>
        <p:spPr>
          <a:xfrm>
            <a:off x="2377440" y="5577840"/>
            <a:ext cx="3291840" cy="274320"/>
          </a:xfrm>
          <a:prstGeom prst="rect">
            <a:avLst/>
          </a:prstGeom>
          <a:noFill/>
          <a:ln/>
        </p:spPr>
        <p:txBody>
          <a:bodyPr wrap="square" lIns="0" tIns="0" rIns="0" bIns="0" rtlCol="0" anchor="t"/>
          <a:lstStyle/>
          <a:p>
            <a:pPr algn="ctr" indent="0" marL="0">
              <a:buNone/>
            </a:pPr>
            <a:r>
              <a:rPr lang="en-US" sz="1150" dirty="0">
                <a:solidFill>
                  <a:schemeClr val="tx2"/>
                </a:solidFill>
              </a:rPr>
              <a:t>what we expect to be true</a:t>
            </a:r>
            <a:endParaRPr lang="en-US" sz="1150" dirty="0"/>
          </a:p>
        </p:txBody>
      </p:sp>
      <p:sp>
        <p:nvSpPr>
          <p:cNvPr id="17" name="Shape 14"/>
          <p:cNvSpPr/>
          <p:nvPr/>
        </p:nvSpPr>
        <p:spPr>
          <a:xfrm>
            <a:off x="5852160" y="4709160"/>
            <a:ext cx="640080" cy="502920"/>
          </a:xfrm>
          <a:prstGeom prst="roundRect">
            <a:avLst>
              <a:gd name="adj" fmla="val 14545"/>
            </a:avLst>
          </a:prstGeom>
          <a:solidFill>
            <a:schemeClr val="tx2">
              <a:alpha val="12000"/>
            </a:schemeClr>
          </a:solidFill>
          <a:ln w="19050">
            <a:solidFill>
              <a:schemeClr val="tx2"/>
            </a:solidFill>
            <a:prstDash val="solid"/>
          </a:ln>
        </p:spPr>
      </p:sp>
      <p:sp>
        <p:nvSpPr>
          <p:cNvPr id="18" name="Text 15"/>
          <p:cNvSpPr txBox="1"/>
          <p:nvPr/>
        </p:nvSpPr>
        <p:spPr>
          <a:xfrm>
            <a:off x="5852160" y="4709160"/>
            <a:ext cx="64008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a:t>
            </a:r>
            <a:endParaRPr lang="en-US" sz="1500" dirty="0"/>
          </a:p>
        </p:txBody>
      </p:sp>
      <p:sp>
        <p:nvSpPr>
          <p:cNvPr id="19" name="Shape 16"/>
          <p:cNvSpPr/>
          <p:nvPr/>
        </p:nvSpPr>
        <p:spPr>
          <a:xfrm>
            <a:off x="6858000" y="4709160"/>
            <a:ext cx="4572000" cy="502920"/>
          </a:xfrm>
          <a:prstGeom prst="roundRect">
            <a:avLst>
              <a:gd name="adj" fmla="val 14545"/>
            </a:avLst>
          </a:prstGeom>
          <a:solidFill>
            <a:schemeClr val="accent3">
              <a:alpha val="12000"/>
            </a:schemeClr>
          </a:solidFill>
          <a:ln w="19050">
            <a:solidFill>
              <a:schemeClr val="accent3"/>
            </a:solidFill>
            <a:prstDash val="solid"/>
          </a:ln>
        </p:spPr>
      </p:sp>
      <p:sp>
        <p:nvSpPr>
          <p:cNvPr id="20" name="Text 17"/>
          <p:cNvSpPr txBox="1"/>
          <p:nvPr/>
        </p:nvSpPr>
        <p:spPr>
          <a:xfrm>
            <a:off x="6858000" y="4709160"/>
            <a:ext cx="457200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Consolas" pitchFamily="34" charset="0"/>
                <a:ea typeface="Consolas" pitchFamily="34" charset="-122"/>
                <a:cs typeface="Consolas" pitchFamily="34" charset="-120"/>
              </a:rPr>
              <a:t>"Array length should be 5"</a:t>
            </a:r>
            <a:endParaRPr lang="en-US" sz="1500" dirty="0"/>
          </a:p>
        </p:txBody>
      </p:sp>
      <p:sp>
        <p:nvSpPr>
          <p:cNvPr id="21" name="Text 18"/>
          <p:cNvSpPr txBox="1"/>
          <p:nvPr/>
        </p:nvSpPr>
        <p:spPr>
          <a:xfrm>
            <a:off x="6675120" y="5303520"/>
            <a:ext cx="4937760" cy="274320"/>
          </a:xfrm>
          <a:prstGeom prst="rect">
            <a:avLst/>
          </a:prstGeom>
          <a:noFill/>
          <a:ln/>
        </p:spPr>
        <p:txBody>
          <a:bodyPr wrap="square" lIns="0" tIns="0" rIns="0" bIns="0" rtlCol="0" anchor="t"/>
          <a:lstStyle/>
          <a:p>
            <a:pPr algn="ctr" indent="0" marL="0">
              <a:buNone/>
            </a:pPr>
            <a:r>
              <a:rPr lang="en-US" sz="1300" b="1" dirty="0">
                <a:solidFill>
                  <a:schemeClr val="tx1"/>
                </a:solidFill>
              </a:rPr>
              <a:t>the message</a:t>
            </a:r>
            <a:endParaRPr lang="en-US" sz="1300" dirty="0"/>
          </a:p>
        </p:txBody>
      </p:sp>
      <p:sp>
        <p:nvSpPr>
          <p:cNvPr id="22" name="Text 19"/>
          <p:cNvSpPr txBox="1"/>
          <p:nvPr/>
        </p:nvSpPr>
        <p:spPr>
          <a:xfrm>
            <a:off x="6675120" y="5577840"/>
            <a:ext cx="4937760" cy="274320"/>
          </a:xfrm>
          <a:prstGeom prst="rect">
            <a:avLst/>
          </a:prstGeom>
          <a:noFill/>
          <a:ln/>
        </p:spPr>
        <p:txBody>
          <a:bodyPr wrap="square" lIns="0" tIns="0" rIns="0" bIns="0" rtlCol="0" anchor="t"/>
          <a:lstStyle/>
          <a:p>
            <a:pPr algn="ctr" indent="0" marL="0">
              <a:buNone/>
            </a:pPr>
            <a:r>
              <a:rPr lang="en-US" sz="1150" dirty="0">
                <a:solidFill>
                  <a:schemeClr val="tx2"/>
                </a:solidFill>
              </a:rPr>
              <a:t>shown if the condition is false</a:t>
            </a:r>
            <a:endParaRPr lang="en-US" sz="11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19</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assert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Assertions are on. What does Java throw when an assert’s condition is false?</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IllegalArgumentException</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AssertException</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latin typeface="Consolas" pitchFamily="34" charset="0"/>
                <a:ea typeface="Consolas" pitchFamily="34" charset="-122"/>
                <a:cs typeface="Consolas" pitchFamily="34" charset="-120"/>
              </a:rPr>
              <a:t>AssertionError</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Nothing: it prints a warning</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19</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assert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Assertions are on. What does Java throw when an assert’s condition is false?</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IllegalArgumentException</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AssertException</a:t>
            </a:r>
            <a:endParaRPr lang="en-US"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3" name="Option C text"/>
          <p:cNvSpPr txBox="1"/>
          <p:nvPr/>
        </p:nvSpPr>
        <p:spPr>
          <a:xfrm>
            <a:off x="1371600" y="3721608"/>
            <a:ext cx="4233672" cy="777240"/>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AssertionError</a:t>
            </a:r>
            <a:endParaRPr lang="en-US" sz="1700" dirty="0"/>
          </a:p>
        </p:txBody>
      </p:sp>
      <p:pic>
        <p:nvPicPr>
          <p:cNvPr id="14" name="Image 0"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Nothing: it prints a warning</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A false assert throws an </a:t>
            </a:r>
            <a:r>
              <a:rPr lang="en-US" sz="1800" dirty="0">
                <a:solidFill>
                  <a:schemeClr val="accent2"/>
                </a:solidFill>
                <a:latin typeface="Consolas" pitchFamily="34" charset="0"/>
                <a:ea typeface="Consolas" pitchFamily="34" charset="-122"/>
                <a:cs typeface="Consolas" pitchFamily="34" charset="-120"/>
              </a:rPr>
              <a:t>AssertionError</a:t>
            </a:r>
            <a:r>
              <a:rPr lang="en-US" sz="1800" dirty="0">
                <a:solidFill>
                  <a:schemeClr val="tx1"/>
                </a:solidFill>
              </a:rPr>
              <a:t>, with our message after the colon. It’s an </a:t>
            </a:r>
            <a:r>
              <a:rPr lang="en-US" sz="1800" dirty="0">
                <a:solidFill>
                  <a:schemeClr val="accent2"/>
                </a:solidFill>
                <a:latin typeface="Consolas" pitchFamily="34" charset="0"/>
                <a:ea typeface="Consolas" pitchFamily="34" charset="-122"/>
                <a:cs typeface="Consolas" pitchFamily="34" charset="-120"/>
              </a:rPr>
              <a:t>Error</a:t>
            </a:r>
            <a:r>
              <a:rPr lang="en-US" sz="1800" dirty="0">
                <a:solidFill>
                  <a:schemeClr val="tx1"/>
                </a:solidFill>
              </a:rPr>
              <a:t>, not an </a:t>
            </a:r>
            <a:r>
              <a:rPr lang="en-US" sz="1800" dirty="0">
                <a:solidFill>
                  <a:schemeClr val="accent2"/>
                </a:solidFill>
                <a:latin typeface="Consolas" pitchFamily="34" charset="0"/>
                <a:ea typeface="Consolas" pitchFamily="34" charset="-122"/>
                <a:cs typeface="Consolas" pitchFamily="34" charset="-120"/>
              </a:rPr>
              <a:t>Exception</a:t>
            </a:r>
            <a:r>
              <a:rPr lang="en-US" sz="1800" dirty="0">
                <a:solidFill>
                  <a:schemeClr val="tx1"/>
                </a:solidFill>
              </a:rPr>
              <a:t>, a reminder that it signals a bug in our own code. There’s no class called </a:t>
            </a:r>
            <a:r>
              <a:rPr lang="en-US" sz="1800" dirty="0">
                <a:solidFill>
                  <a:schemeClr val="accent2"/>
                </a:solidFill>
                <a:latin typeface="Consolas" pitchFamily="34" charset="0"/>
                <a:ea typeface="Consolas" pitchFamily="34" charset="-122"/>
                <a:cs typeface="Consolas" pitchFamily="34" charset="-120"/>
              </a:rPr>
              <a:t>AssertException</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ASSERT AND SAFE INPUT</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Turning assertions on in Eclipse</a:t>
            </a:r>
            <a:endParaRPr lang="en-US" sz="3400" dirty="0"/>
          </a:p>
        </p:txBody>
      </p:sp>
      <p:sp>
        <p:nvSpPr>
          <p:cNvPr id="5" name="Marker 1"/>
          <p:cNvSpPr/>
          <p:nvPr/>
        </p:nvSpPr>
        <p:spPr>
          <a:xfrm>
            <a:off x="548640" y="1837944"/>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097280" y="1783080"/>
            <a:ext cx="4389120" cy="384048"/>
          </a:xfrm>
          <a:prstGeom prst="rect">
            <a:avLst/>
          </a:prstGeom>
          <a:noFill/>
          <a:ln/>
        </p:spPr>
        <p:txBody>
          <a:bodyPr wrap="square" lIns="0" tIns="0" rIns="0" bIns="0" rtlCol="0" anchor="ctr"/>
          <a:lstStyle/>
          <a:p>
            <a:pPr algn="l" indent="0" marL="0">
              <a:buNone/>
            </a:pPr>
            <a:r>
              <a:rPr lang="en-US" sz="1700" b="1" dirty="0">
                <a:solidFill>
                  <a:schemeClr val="tx1"/>
                </a:solidFill>
              </a:rPr>
              <a:t>Open Run Configurations</a:t>
            </a:r>
            <a:endParaRPr lang="en-US" sz="1700" dirty="0"/>
          </a:p>
        </p:txBody>
      </p:sp>
      <p:sp>
        <p:nvSpPr>
          <p:cNvPr id="7" name="Text 4"/>
          <p:cNvSpPr txBox="1"/>
          <p:nvPr/>
        </p:nvSpPr>
        <p:spPr>
          <a:xfrm>
            <a:off x="1097280" y="2176272"/>
            <a:ext cx="4389120" cy="640080"/>
          </a:xfrm>
          <a:prstGeom prst="rect">
            <a:avLst/>
          </a:prstGeom>
          <a:noFill/>
          <a:ln/>
        </p:spPr>
        <p:txBody>
          <a:bodyPr wrap="square" lIns="0" tIns="0" rIns="0" bIns="0" rtlCol="0" anchor="t"/>
          <a:lstStyle/>
          <a:p>
            <a:pPr algn="l" indent="0" marL="0">
              <a:buNone/>
            </a:pPr>
            <a:r>
              <a:rPr lang="en-US" sz="1450" dirty="0">
                <a:solidFill>
                  <a:schemeClr val="tx2"/>
                </a:solidFill>
              </a:rPr>
              <a:t>In Eclipse: Run › Run Configurations…</a:t>
            </a:r>
            <a:endParaRPr lang="en-US" sz="1450" dirty="0"/>
          </a:p>
        </p:txBody>
      </p:sp>
      <p:sp>
        <p:nvSpPr>
          <p:cNvPr id="8" name="Marker 2"/>
          <p:cNvSpPr/>
          <p:nvPr/>
        </p:nvSpPr>
        <p:spPr>
          <a:xfrm>
            <a:off x="548640" y="2935224"/>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6"/>
          <p:cNvSpPr txBox="1"/>
          <p:nvPr/>
        </p:nvSpPr>
        <p:spPr>
          <a:xfrm>
            <a:off x="1097280" y="2880360"/>
            <a:ext cx="4389120" cy="384048"/>
          </a:xfrm>
          <a:prstGeom prst="rect">
            <a:avLst/>
          </a:prstGeom>
          <a:noFill/>
          <a:ln/>
        </p:spPr>
        <p:txBody>
          <a:bodyPr wrap="square" lIns="0" tIns="0" rIns="0" bIns="0" rtlCol="0" anchor="ctr"/>
          <a:lstStyle/>
          <a:p>
            <a:pPr algn="l" indent="0" marL="0">
              <a:buNone/>
            </a:pPr>
            <a:r>
              <a:rPr lang="en-US" sz="1700" b="1" dirty="0">
                <a:solidFill>
                  <a:schemeClr val="tx1"/>
                </a:solidFill>
              </a:rPr>
              <a:t>Pick your program</a:t>
            </a:r>
            <a:endParaRPr lang="en-US" sz="1700" dirty="0"/>
          </a:p>
        </p:txBody>
      </p:sp>
      <p:sp>
        <p:nvSpPr>
          <p:cNvPr id="10" name="Text 7"/>
          <p:cNvSpPr txBox="1"/>
          <p:nvPr/>
        </p:nvSpPr>
        <p:spPr>
          <a:xfrm>
            <a:off x="1097280" y="3273552"/>
            <a:ext cx="4389120" cy="640080"/>
          </a:xfrm>
          <a:prstGeom prst="rect">
            <a:avLst/>
          </a:prstGeom>
          <a:noFill/>
          <a:ln/>
        </p:spPr>
        <p:txBody>
          <a:bodyPr wrap="square" lIns="0" tIns="0" rIns="0" bIns="0" rtlCol="0" anchor="t"/>
          <a:lstStyle/>
          <a:p>
            <a:pPr algn="l" indent="0" marL="0">
              <a:buNone/>
            </a:pPr>
            <a:r>
              <a:rPr lang="en-US" sz="1450" dirty="0">
                <a:solidFill>
                  <a:schemeClr val="tx2"/>
                </a:solidFill>
              </a:rPr>
              <a:t>Choose it on the left, then open the Arguments tab.</a:t>
            </a:r>
            <a:endParaRPr lang="en-US" sz="1450" dirty="0"/>
          </a:p>
        </p:txBody>
      </p:sp>
      <p:sp>
        <p:nvSpPr>
          <p:cNvPr id="11" name="Marker 3"/>
          <p:cNvSpPr/>
          <p:nvPr/>
        </p:nvSpPr>
        <p:spPr>
          <a:xfrm>
            <a:off x="548640" y="4032504"/>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9"/>
          <p:cNvSpPr txBox="1"/>
          <p:nvPr/>
        </p:nvSpPr>
        <p:spPr>
          <a:xfrm>
            <a:off x="1097280" y="3977640"/>
            <a:ext cx="4389120" cy="384048"/>
          </a:xfrm>
          <a:prstGeom prst="rect">
            <a:avLst/>
          </a:prstGeom>
          <a:noFill/>
          <a:ln/>
        </p:spPr>
        <p:txBody>
          <a:bodyPr wrap="square" lIns="0" tIns="0" rIns="0" bIns="0" rtlCol="0" anchor="ctr"/>
          <a:lstStyle/>
          <a:p>
            <a:pPr algn="l" indent="0" marL="0">
              <a:buNone/>
            </a:pPr>
            <a:r>
              <a:rPr lang="en-US" sz="1700" b="1" dirty="0">
                <a:solidFill>
                  <a:schemeClr val="tx1"/>
                </a:solidFill>
              </a:rPr>
              <a:t>Add -ea</a:t>
            </a:r>
            <a:endParaRPr lang="en-US" sz="1700" dirty="0"/>
          </a:p>
        </p:txBody>
      </p:sp>
      <p:sp>
        <p:nvSpPr>
          <p:cNvPr id="13" name="Text 10"/>
          <p:cNvSpPr txBox="1"/>
          <p:nvPr/>
        </p:nvSpPr>
        <p:spPr>
          <a:xfrm>
            <a:off x="1097280" y="4370832"/>
            <a:ext cx="4389120" cy="640080"/>
          </a:xfrm>
          <a:prstGeom prst="rect">
            <a:avLst/>
          </a:prstGeom>
          <a:noFill/>
          <a:ln/>
        </p:spPr>
        <p:txBody>
          <a:bodyPr wrap="square" lIns="0" tIns="0" rIns="0" bIns="0" rtlCol="0" anchor="t"/>
          <a:lstStyle/>
          <a:p>
            <a:pPr algn="l" indent="0" marL="0">
              <a:buNone/>
            </a:pPr>
            <a:r>
              <a:rPr lang="en-US" sz="1450" dirty="0">
                <a:solidFill>
                  <a:schemeClr val="tx2"/>
                </a:solidFill>
              </a:rPr>
              <a:t>Type </a:t>
            </a:r>
            <a:r>
              <a:rPr lang="en-US" sz="1450" dirty="0">
                <a:solidFill>
                  <a:schemeClr val="accent2"/>
                </a:solidFill>
                <a:latin typeface="Consolas" pitchFamily="34" charset="0"/>
                <a:ea typeface="Consolas" pitchFamily="34" charset="-122"/>
                <a:cs typeface="Consolas" pitchFamily="34" charset="-120"/>
              </a:rPr>
              <a:t>-ea</a:t>
            </a:r>
            <a:r>
              <a:rPr lang="en-US" sz="1450" dirty="0">
                <a:solidFill>
                  <a:schemeClr val="tx2"/>
                </a:solidFill>
              </a:rPr>
              <a:t> in VM arguments, then Apply and Run.</a:t>
            </a:r>
            <a:endParaRPr lang="en-US" sz="1450" dirty="0"/>
          </a:p>
        </p:txBody>
      </p:sp>
      <p:sp>
        <p:nvSpPr>
          <p:cNvPr id="14" name="Arguments tab"/>
          <p:cNvSpPr/>
          <p:nvPr/>
        </p:nvSpPr>
        <p:spPr>
          <a:xfrm>
            <a:off x="6035040" y="1691640"/>
            <a:ext cx="5608015" cy="3246120"/>
          </a:xfrm>
          <a:prstGeom prst="roundRect">
            <a:avLst>
              <a:gd name="adj" fmla="val 3380"/>
            </a:avLst>
          </a:prstGeom>
          <a:solidFill>
            <a:schemeClr val="bg1"/>
          </a:solidFill>
          <a:ln w="12700">
            <a:solidFill>
              <a:schemeClr val="bg2"/>
            </a:solidFill>
            <a:prstDash val="solid"/>
          </a:ln>
          <a:effectLst>
            <a:outerShdw sx="100000" sy="100000" kx="0" ky="0" algn="bl" rotWithShape="0" blurRad="114300" dist="31750" dir="5400000">
              <a:srgbClr val="1D2433">
                <a:alpha val="12000"/>
              </a:srgbClr>
            </a:outerShdw>
          </a:effectLst>
        </p:spPr>
      </p:sp>
      <p:sp>
        <p:nvSpPr>
          <p:cNvPr id="15" name="Text 12"/>
          <p:cNvSpPr txBox="1"/>
          <p:nvPr/>
        </p:nvSpPr>
        <p:spPr>
          <a:xfrm>
            <a:off x="6309360" y="1828800"/>
            <a:ext cx="5029200" cy="274320"/>
          </a:xfrm>
          <a:prstGeom prst="rect">
            <a:avLst/>
          </a:prstGeom>
          <a:noFill/>
          <a:ln/>
        </p:spPr>
        <p:txBody>
          <a:bodyPr wrap="square" lIns="0" tIns="0" rIns="0" bIns="0" rtlCol="0" anchor="t"/>
          <a:lstStyle/>
          <a:p>
            <a:pPr algn="l" indent="0" marL="0">
              <a:buNone/>
            </a:pPr>
            <a:r>
              <a:rPr lang="en-US" sz="1200" dirty="0">
                <a:solidFill>
                  <a:schemeClr val="tx2"/>
                </a:solidFill>
              </a:rPr>
              <a:t>Name:  Example</a:t>
            </a:r>
            <a:endParaRPr lang="en-US" sz="1200" dirty="0"/>
          </a:p>
        </p:txBody>
      </p:sp>
      <p:sp>
        <p:nvSpPr>
          <p:cNvPr id="16" name="Shape 13"/>
          <p:cNvSpPr/>
          <p:nvPr/>
        </p:nvSpPr>
        <p:spPr>
          <a:xfrm>
            <a:off x="6309360" y="2176272"/>
            <a:ext cx="493776" cy="292608"/>
          </a:xfrm>
          <a:prstGeom prst="roundRect">
            <a:avLst>
              <a:gd name="adj" fmla="val 12500"/>
            </a:avLst>
          </a:prstGeom>
          <a:solidFill>
            <a:schemeClr val="bg2"/>
          </a:solidFill>
          <a:ln w="12700">
            <a:solidFill>
              <a:schemeClr val="bg2"/>
            </a:solidFill>
            <a:prstDash val="solid"/>
          </a:ln>
        </p:spPr>
      </p:sp>
      <p:sp>
        <p:nvSpPr>
          <p:cNvPr id="17" name="Text 14"/>
          <p:cNvSpPr txBox="1"/>
          <p:nvPr/>
        </p:nvSpPr>
        <p:spPr>
          <a:xfrm>
            <a:off x="6309360" y="2176272"/>
            <a:ext cx="493776" cy="292608"/>
          </a:xfrm>
          <a:prstGeom prst="rect">
            <a:avLst/>
          </a:prstGeom>
          <a:noFill/>
          <a:ln/>
        </p:spPr>
        <p:txBody>
          <a:bodyPr wrap="square" lIns="0" tIns="0" rIns="0" bIns="0" rtlCol="0" anchor="ctr"/>
          <a:lstStyle/>
          <a:p>
            <a:pPr algn="ctr" indent="0" marL="0">
              <a:buNone/>
            </a:pPr>
            <a:r>
              <a:rPr lang="en-US" sz="1100" dirty="0">
                <a:solidFill>
                  <a:schemeClr val="tx2"/>
                </a:solidFill>
              </a:rPr>
              <a:t>Main</a:t>
            </a:r>
            <a:endParaRPr lang="en-US" sz="1100" dirty="0"/>
          </a:p>
        </p:txBody>
      </p:sp>
      <p:sp>
        <p:nvSpPr>
          <p:cNvPr id="18" name="Shape 15"/>
          <p:cNvSpPr/>
          <p:nvPr/>
        </p:nvSpPr>
        <p:spPr>
          <a:xfrm>
            <a:off x="6858000" y="2176272"/>
            <a:ext cx="882396" cy="292608"/>
          </a:xfrm>
          <a:prstGeom prst="roundRect">
            <a:avLst>
              <a:gd name="adj" fmla="val 12500"/>
            </a:avLst>
          </a:prstGeom>
          <a:solidFill>
            <a:schemeClr val="bg1"/>
          </a:solidFill>
          <a:ln w="12700">
            <a:solidFill>
              <a:schemeClr val="accent2"/>
            </a:solidFill>
            <a:prstDash val="solid"/>
          </a:ln>
        </p:spPr>
      </p:sp>
      <p:sp>
        <p:nvSpPr>
          <p:cNvPr id="19" name="Text 16"/>
          <p:cNvSpPr txBox="1"/>
          <p:nvPr/>
        </p:nvSpPr>
        <p:spPr>
          <a:xfrm>
            <a:off x="6858000" y="2176272"/>
            <a:ext cx="882396" cy="292608"/>
          </a:xfrm>
          <a:prstGeom prst="rect">
            <a:avLst/>
          </a:prstGeom>
          <a:noFill/>
          <a:ln/>
        </p:spPr>
        <p:txBody>
          <a:bodyPr wrap="square" lIns="0" tIns="0" rIns="0" bIns="0" rtlCol="0" anchor="ctr"/>
          <a:lstStyle/>
          <a:p>
            <a:pPr algn="ctr" indent="0" marL="0">
              <a:buNone/>
            </a:pPr>
            <a:r>
              <a:rPr lang="en-US" sz="1100" b="1" dirty="0">
                <a:solidFill>
                  <a:schemeClr val="accent2"/>
                </a:solidFill>
              </a:rPr>
              <a:t>Arguments</a:t>
            </a:r>
            <a:endParaRPr lang="en-US" sz="1100" dirty="0"/>
          </a:p>
        </p:txBody>
      </p:sp>
      <p:sp>
        <p:nvSpPr>
          <p:cNvPr id="20" name="Shape 17"/>
          <p:cNvSpPr/>
          <p:nvPr/>
        </p:nvSpPr>
        <p:spPr>
          <a:xfrm>
            <a:off x="7795260" y="2176272"/>
            <a:ext cx="416052" cy="292608"/>
          </a:xfrm>
          <a:prstGeom prst="roundRect">
            <a:avLst>
              <a:gd name="adj" fmla="val 12500"/>
            </a:avLst>
          </a:prstGeom>
          <a:solidFill>
            <a:schemeClr val="bg2"/>
          </a:solidFill>
          <a:ln w="12700">
            <a:solidFill>
              <a:schemeClr val="bg2"/>
            </a:solidFill>
            <a:prstDash val="solid"/>
          </a:ln>
        </p:spPr>
      </p:sp>
      <p:sp>
        <p:nvSpPr>
          <p:cNvPr id="21" name="Text 18"/>
          <p:cNvSpPr txBox="1"/>
          <p:nvPr/>
        </p:nvSpPr>
        <p:spPr>
          <a:xfrm>
            <a:off x="7795260" y="2176272"/>
            <a:ext cx="416052" cy="292608"/>
          </a:xfrm>
          <a:prstGeom prst="rect">
            <a:avLst/>
          </a:prstGeom>
          <a:noFill/>
          <a:ln/>
        </p:spPr>
        <p:txBody>
          <a:bodyPr wrap="square" lIns="0" tIns="0" rIns="0" bIns="0" rtlCol="0" anchor="ctr"/>
          <a:lstStyle/>
          <a:p>
            <a:pPr algn="ctr" indent="0" marL="0">
              <a:buNone/>
            </a:pPr>
            <a:r>
              <a:rPr lang="en-US" sz="1100" dirty="0">
                <a:solidFill>
                  <a:schemeClr val="tx2"/>
                </a:solidFill>
              </a:rPr>
              <a:t>JRE</a:t>
            </a:r>
            <a:endParaRPr lang="en-US" sz="1100" dirty="0"/>
          </a:p>
        </p:txBody>
      </p:sp>
      <p:sp>
        <p:nvSpPr>
          <p:cNvPr id="22" name="Shape 19"/>
          <p:cNvSpPr/>
          <p:nvPr/>
        </p:nvSpPr>
        <p:spPr>
          <a:xfrm>
            <a:off x="8266176" y="2176272"/>
            <a:ext cx="649224" cy="292608"/>
          </a:xfrm>
          <a:prstGeom prst="roundRect">
            <a:avLst>
              <a:gd name="adj" fmla="val 12500"/>
            </a:avLst>
          </a:prstGeom>
          <a:solidFill>
            <a:schemeClr val="bg2"/>
          </a:solidFill>
          <a:ln w="12700">
            <a:solidFill>
              <a:schemeClr val="bg2"/>
            </a:solidFill>
            <a:prstDash val="solid"/>
          </a:ln>
        </p:spPr>
      </p:sp>
      <p:sp>
        <p:nvSpPr>
          <p:cNvPr id="23" name="Text 20"/>
          <p:cNvSpPr txBox="1"/>
          <p:nvPr/>
        </p:nvSpPr>
        <p:spPr>
          <a:xfrm>
            <a:off x="8266176" y="2176272"/>
            <a:ext cx="649224" cy="292608"/>
          </a:xfrm>
          <a:prstGeom prst="rect">
            <a:avLst/>
          </a:prstGeom>
          <a:noFill/>
          <a:ln/>
        </p:spPr>
        <p:txBody>
          <a:bodyPr wrap="square" lIns="0" tIns="0" rIns="0" bIns="0" rtlCol="0" anchor="ctr"/>
          <a:lstStyle/>
          <a:p>
            <a:pPr algn="ctr" indent="0" marL="0">
              <a:buNone/>
            </a:pPr>
            <a:r>
              <a:rPr lang="en-US" sz="1100" dirty="0">
                <a:solidFill>
                  <a:schemeClr val="tx2"/>
                </a:solidFill>
              </a:rPr>
              <a:t>Source</a:t>
            </a:r>
            <a:endParaRPr lang="en-US" sz="1100" dirty="0"/>
          </a:p>
        </p:txBody>
      </p:sp>
      <p:sp>
        <p:nvSpPr>
          <p:cNvPr id="24" name="Shape 21"/>
          <p:cNvSpPr/>
          <p:nvPr/>
        </p:nvSpPr>
        <p:spPr>
          <a:xfrm>
            <a:off x="8970264" y="2176272"/>
            <a:ext cx="649224" cy="292608"/>
          </a:xfrm>
          <a:prstGeom prst="roundRect">
            <a:avLst>
              <a:gd name="adj" fmla="val 12500"/>
            </a:avLst>
          </a:prstGeom>
          <a:solidFill>
            <a:schemeClr val="bg2"/>
          </a:solidFill>
          <a:ln w="12700">
            <a:solidFill>
              <a:schemeClr val="bg2"/>
            </a:solidFill>
            <a:prstDash val="solid"/>
          </a:ln>
        </p:spPr>
      </p:sp>
      <p:sp>
        <p:nvSpPr>
          <p:cNvPr id="25" name="Text 22"/>
          <p:cNvSpPr txBox="1"/>
          <p:nvPr/>
        </p:nvSpPr>
        <p:spPr>
          <a:xfrm>
            <a:off x="8970264" y="2176272"/>
            <a:ext cx="649224" cy="292608"/>
          </a:xfrm>
          <a:prstGeom prst="rect">
            <a:avLst/>
          </a:prstGeom>
          <a:noFill/>
          <a:ln/>
        </p:spPr>
        <p:txBody>
          <a:bodyPr wrap="square" lIns="0" tIns="0" rIns="0" bIns="0" rtlCol="0" anchor="ctr"/>
          <a:lstStyle/>
          <a:p>
            <a:pPr algn="ctr" indent="0" marL="0">
              <a:buNone/>
            </a:pPr>
            <a:r>
              <a:rPr lang="en-US" sz="1100" dirty="0">
                <a:solidFill>
                  <a:schemeClr val="tx2"/>
                </a:solidFill>
              </a:rPr>
              <a:t>Common</a:t>
            </a:r>
            <a:endParaRPr lang="en-US" sz="1100" dirty="0"/>
          </a:p>
        </p:txBody>
      </p:sp>
      <p:sp>
        <p:nvSpPr>
          <p:cNvPr id="26" name="Text 23"/>
          <p:cNvSpPr txBox="1"/>
          <p:nvPr/>
        </p:nvSpPr>
        <p:spPr>
          <a:xfrm>
            <a:off x="6309360" y="2633472"/>
            <a:ext cx="5029200" cy="256032"/>
          </a:xfrm>
          <a:prstGeom prst="rect">
            <a:avLst/>
          </a:prstGeom>
          <a:noFill/>
          <a:ln/>
        </p:spPr>
        <p:txBody>
          <a:bodyPr wrap="square" lIns="0" tIns="0" rIns="0" bIns="0" rtlCol="0" anchor="t"/>
          <a:lstStyle/>
          <a:p>
            <a:pPr algn="l" indent="0" marL="0">
              <a:buNone/>
            </a:pPr>
            <a:r>
              <a:rPr lang="en-US" sz="1200" dirty="0">
                <a:solidFill>
                  <a:schemeClr val="tx2"/>
                </a:solidFill>
              </a:rPr>
              <a:t>Program arguments:</a:t>
            </a:r>
            <a:endParaRPr lang="en-US" sz="1200" dirty="0"/>
          </a:p>
        </p:txBody>
      </p:sp>
      <p:sp>
        <p:nvSpPr>
          <p:cNvPr id="27" name="Shape 24"/>
          <p:cNvSpPr/>
          <p:nvPr/>
        </p:nvSpPr>
        <p:spPr>
          <a:xfrm>
            <a:off x="6309360" y="2907792"/>
            <a:ext cx="5056632" cy="384048"/>
          </a:xfrm>
          <a:prstGeom prst="rect">
            <a:avLst/>
          </a:prstGeom>
          <a:solidFill>
            <a:schemeClr val="bg2"/>
          </a:solidFill>
          <a:ln w="12700">
            <a:solidFill>
              <a:schemeClr val="bg2"/>
            </a:solidFill>
            <a:prstDash val="solid"/>
          </a:ln>
        </p:spPr>
      </p:sp>
      <p:sp>
        <p:nvSpPr>
          <p:cNvPr id="28" name="Text 25"/>
          <p:cNvSpPr txBox="1"/>
          <p:nvPr/>
        </p:nvSpPr>
        <p:spPr>
          <a:xfrm>
            <a:off x="6309360" y="3474720"/>
            <a:ext cx="5029200" cy="256032"/>
          </a:xfrm>
          <a:prstGeom prst="rect">
            <a:avLst/>
          </a:prstGeom>
          <a:noFill/>
          <a:ln/>
        </p:spPr>
        <p:txBody>
          <a:bodyPr wrap="square" lIns="0" tIns="0" rIns="0" bIns="0" rtlCol="0" anchor="t"/>
          <a:lstStyle/>
          <a:p>
            <a:pPr algn="l" indent="0" marL="0">
              <a:buNone/>
            </a:pPr>
            <a:r>
              <a:rPr lang="en-US" sz="1200" dirty="0">
                <a:solidFill>
                  <a:schemeClr val="tx2"/>
                </a:solidFill>
              </a:rPr>
              <a:t>VM arguments:</a:t>
            </a:r>
            <a:endParaRPr lang="en-US" sz="1200" dirty="0"/>
          </a:p>
        </p:txBody>
      </p:sp>
      <p:sp>
        <p:nvSpPr>
          <p:cNvPr id="29" name="Shape 26"/>
          <p:cNvSpPr/>
          <p:nvPr/>
        </p:nvSpPr>
        <p:spPr>
          <a:xfrm>
            <a:off x="6309360" y="3749040"/>
            <a:ext cx="5056632" cy="457200"/>
          </a:xfrm>
          <a:prstGeom prst="roundRect">
            <a:avLst>
              <a:gd name="adj" fmla="val 8000"/>
            </a:avLst>
          </a:prstGeom>
          <a:solidFill>
            <a:schemeClr val="bg1"/>
          </a:solidFill>
          <a:ln w="25400">
            <a:solidFill>
              <a:schemeClr val="accent1"/>
            </a:solidFill>
            <a:prstDash val="solid"/>
          </a:ln>
        </p:spPr>
      </p:sp>
      <p:sp>
        <p:nvSpPr>
          <p:cNvPr id="30" name="Text 27"/>
          <p:cNvSpPr txBox="1"/>
          <p:nvPr/>
        </p:nvSpPr>
        <p:spPr>
          <a:xfrm>
            <a:off x="6309360" y="3749040"/>
            <a:ext cx="5056632" cy="457200"/>
          </a:xfrm>
          <a:prstGeom prst="rect">
            <a:avLst/>
          </a:prstGeom>
          <a:noFill/>
          <a:ln/>
        </p:spPr>
        <p:txBody>
          <a:bodyPr wrap="square" lIns="114300" tIns="0" rIns="0" bIns="0" rtlCol="0" anchor="ctr"/>
          <a:lstStyle/>
          <a:p>
            <a:pPr algn="l" indent="0" marL="0">
              <a:buNone/>
            </a:pPr>
            <a:r>
              <a:rPr lang="en-US" sz="1600" b="1" dirty="0">
                <a:solidFill>
                  <a:schemeClr val="tx1"/>
                </a:solidFill>
                <a:latin typeface="Consolas" pitchFamily="34" charset="0"/>
                <a:ea typeface="Consolas" pitchFamily="34" charset="-122"/>
                <a:cs typeface="Consolas" pitchFamily="34" charset="-120"/>
              </a:rPr>
              <a:t>-ea</a:t>
            </a:r>
            <a:endParaRPr lang="en-US" sz="1600" dirty="0"/>
          </a:p>
        </p:txBody>
      </p:sp>
      <p:sp>
        <p:nvSpPr>
          <p:cNvPr id="31" name="Shape 28"/>
          <p:cNvSpPr/>
          <p:nvPr/>
        </p:nvSpPr>
        <p:spPr>
          <a:xfrm>
            <a:off x="9921240" y="4416552"/>
            <a:ext cx="685800" cy="329184"/>
          </a:xfrm>
          <a:prstGeom prst="roundRect">
            <a:avLst>
              <a:gd name="adj" fmla="val 11111"/>
            </a:avLst>
          </a:prstGeom>
          <a:solidFill>
            <a:schemeClr val="bg2"/>
          </a:solidFill>
          <a:ln w="9525">
            <a:solidFill>
              <a:schemeClr val="tx2"/>
            </a:solidFill>
            <a:prstDash val="solid"/>
          </a:ln>
        </p:spPr>
      </p:sp>
      <p:sp>
        <p:nvSpPr>
          <p:cNvPr id="32" name="Text 29"/>
          <p:cNvSpPr txBox="1"/>
          <p:nvPr/>
        </p:nvSpPr>
        <p:spPr>
          <a:xfrm>
            <a:off x="9921240" y="4416552"/>
            <a:ext cx="685800" cy="329184"/>
          </a:xfrm>
          <a:prstGeom prst="rect">
            <a:avLst/>
          </a:prstGeom>
          <a:noFill/>
          <a:ln/>
        </p:spPr>
        <p:txBody>
          <a:bodyPr wrap="square" lIns="0" tIns="0" rIns="0" bIns="0" rtlCol="0" anchor="ctr"/>
          <a:lstStyle/>
          <a:p>
            <a:pPr algn="ctr" indent="0" marL="0">
              <a:buNone/>
            </a:pPr>
            <a:r>
              <a:rPr lang="en-US" sz="1100" dirty="0">
                <a:solidFill>
                  <a:schemeClr val="tx1"/>
                </a:solidFill>
              </a:rPr>
              <a:t>Apply</a:t>
            </a:r>
            <a:endParaRPr lang="en-US" sz="1100" dirty="0"/>
          </a:p>
        </p:txBody>
      </p:sp>
      <p:sp>
        <p:nvSpPr>
          <p:cNvPr id="33" name="Shape 30"/>
          <p:cNvSpPr/>
          <p:nvPr/>
        </p:nvSpPr>
        <p:spPr>
          <a:xfrm>
            <a:off x="10680192" y="4416552"/>
            <a:ext cx="685800" cy="329184"/>
          </a:xfrm>
          <a:prstGeom prst="roundRect">
            <a:avLst>
              <a:gd name="adj" fmla="val 11111"/>
            </a:avLst>
          </a:prstGeom>
          <a:solidFill>
            <a:schemeClr val="accent2"/>
          </a:solidFill>
          <a:ln/>
        </p:spPr>
      </p:sp>
      <p:sp>
        <p:nvSpPr>
          <p:cNvPr id="34" name="Text 31"/>
          <p:cNvSpPr txBox="1"/>
          <p:nvPr/>
        </p:nvSpPr>
        <p:spPr>
          <a:xfrm>
            <a:off x="10680192" y="4416552"/>
            <a:ext cx="685800" cy="329184"/>
          </a:xfrm>
          <a:prstGeom prst="rect">
            <a:avLst/>
          </a:prstGeom>
          <a:noFill/>
          <a:ln/>
        </p:spPr>
        <p:txBody>
          <a:bodyPr wrap="square" lIns="0" tIns="0" rIns="0" bIns="0" rtlCol="0" anchor="ctr"/>
          <a:lstStyle/>
          <a:p>
            <a:pPr algn="ctr" indent="0" marL="0">
              <a:buNone/>
            </a:pPr>
            <a:r>
              <a:rPr lang="en-US" sz="1100" dirty="0">
                <a:solidFill>
                  <a:schemeClr val="bg1"/>
                </a:solidFill>
              </a:rPr>
              <a:t>Run</a:t>
            </a:r>
            <a:endParaRPr lang="en-US" sz="1100" dirty="0"/>
          </a:p>
        </p:txBody>
      </p:sp>
      <p:sp>
        <p:nvSpPr>
          <p:cNvPr id="35" name="Note"/>
          <p:cNvSpPr/>
          <p:nvPr/>
        </p:nvSpPr>
        <p:spPr>
          <a:xfrm>
            <a:off x="548640" y="5257800"/>
            <a:ext cx="11094415" cy="822960"/>
          </a:xfrm>
          <a:prstGeom prst="roundRect">
            <a:avLst>
              <a:gd name="adj" fmla="val 13333"/>
            </a:avLst>
          </a:prstGeom>
          <a:solidFill>
            <a:schemeClr val="bg2"/>
          </a:solidFill>
          <a:ln/>
        </p:spPr>
      </p:sp>
      <p:sp>
        <p:nvSpPr>
          <p:cNvPr id="36" name="Icon tile"/>
          <p:cNvSpPr/>
          <p:nvPr/>
        </p:nvSpPr>
        <p:spPr>
          <a:xfrm>
            <a:off x="822960" y="5404104"/>
            <a:ext cx="530352" cy="530352"/>
          </a:xfrm>
          <a:prstGeom prst="roundRect">
            <a:avLst>
              <a:gd name="adj" fmla="val 24000"/>
            </a:avLst>
          </a:prstGeom>
          <a:solidFill>
            <a:schemeClr val="accent2">
              <a:alpha val="14000"/>
            </a:schemeClr>
          </a:solidFill>
          <a:ln/>
        </p:spPr>
      </p:sp>
      <p:pic>
        <p:nvPicPr>
          <p:cNvPr id="37" name="Image 0" descr="info icon">    </p:cNvPr>
          <p:cNvPicPr>
            <a:picLocks noChangeAspect="1"/>
          </p:cNvPicPr>
          <p:nvPr/>
        </p:nvPicPr>
        <p:blipFill>
          <a:blip r:embed="rId1"/>
          <a:stretch>
            <a:fillRect/>
          </a:stretch>
        </p:blipFill>
        <p:spPr>
          <a:xfrm>
            <a:off x="934334" y="5515478"/>
            <a:ext cx="307604" cy="307604"/>
          </a:xfrm>
          <a:prstGeom prst="rect">
            <a:avLst/>
          </a:prstGeom>
        </p:spPr>
      </p:pic>
      <p:sp>
        <p:nvSpPr>
          <p:cNvPr id="38" name="Text 34"/>
          <p:cNvSpPr txBox="1"/>
          <p:nvPr/>
        </p:nvSpPr>
        <p:spPr>
          <a:xfrm>
            <a:off x="1572768" y="5257800"/>
            <a:ext cx="9814255" cy="822960"/>
          </a:xfrm>
          <a:prstGeom prst="rect">
            <a:avLst/>
          </a:prstGeom>
          <a:noFill/>
          <a:ln/>
        </p:spPr>
        <p:txBody>
          <a:bodyPr wrap="square" lIns="0" tIns="0" rIns="0" bIns="0" rtlCol="0" anchor="ctr"/>
          <a:lstStyle/>
          <a:p>
            <a:pPr algn="l" indent="0" marL="0">
              <a:buNone/>
            </a:pPr>
            <a:r>
              <a:rPr lang="en-US" sz="1600" dirty="0">
                <a:solidFill>
                  <a:schemeClr val="tx1"/>
                </a:solidFill>
              </a:rPr>
              <a:t>Assertions are off by default. Without -ea, Java skips every assert line, so a false assert does nothing at all.</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20</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Turning assertions on</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Assertions are off. What happens when this code runs?</a:t>
            </a:r>
            <a:endParaRPr lang="en-US" sz="2800" dirty="0"/>
          </a:p>
        </p:txBody>
      </p:sp>
      <p:sp>
        <p:nvSpPr>
          <p:cNvPr id="5" name="Question code card"/>
          <p:cNvSpPr/>
          <p:nvPr/>
        </p:nvSpPr>
        <p:spPr>
          <a:xfrm>
            <a:off x="548640" y="1965960"/>
            <a:ext cx="11094415" cy="1362456"/>
          </a:xfrm>
          <a:prstGeom prst="roundRect">
            <a:avLst>
              <a:gd name="adj" fmla="val 8054"/>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text"/>
          <p:cNvSpPr txBox="1"/>
          <p:nvPr/>
        </p:nvSpPr>
        <p:spPr>
          <a:xfrm>
            <a:off x="822960" y="2167128"/>
            <a:ext cx="10545775" cy="960120"/>
          </a:xfrm>
          <a:prstGeom prst="rect">
            <a:avLst/>
          </a:prstGeom>
          <a:noFill/>
          <a:ln/>
        </p:spPr>
        <p:txBody>
          <a:bodyPr wrap="square" lIns="0" tIns="0" rIns="0" bIns="0" rtlCol="0" anchor="t"/>
          <a:lstStyle/>
          <a:p>
            <a:pPr indent="0" marL="0">
              <a:lnSpc>
                <a:spcPts val="2380"/>
              </a:lnSpc>
              <a:buNone/>
            </a:pPr>
            <a:r>
              <a:rPr lang="en-US" sz="1800" dirty="0">
                <a:solidFill>
                  <a:srgbClr val="FF9F5A"/>
                </a:solidFill>
                <a:latin typeface="Consolas" pitchFamily="34" charset="0"/>
                <a:ea typeface="Consolas" pitchFamily="34" charset="-122"/>
                <a:cs typeface="Consolas" pitchFamily="34" charset="-120"/>
              </a:rPr>
              <a:t>int</a:t>
            </a:r>
            <a:r>
              <a:rPr lang="en-US" sz="1800" dirty="0">
                <a:solidFill>
                  <a:srgbClr val="E6EBF2"/>
                </a:solidFill>
                <a:latin typeface="Consolas" pitchFamily="34" charset="0"/>
                <a:ea typeface="Consolas" pitchFamily="34" charset="-122"/>
                <a:cs typeface="Consolas" pitchFamily="34" charset="-120"/>
              </a:rPr>
              <a:t>[] arr = </a:t>
            </a:r>
            <a:r>
              <a:rPr lang="en-US" sz="1800" dirty="0">
                <a:solidFill>
                  <a:srgbClr val="FF9F5A"/>
                </a:solidFill>
                <a:latin typeface="Consolas" pitchFamily="34" charset="0"/>
                <a:ea typeface="Consolas" pitchFamily="34" charset="-122"/>
                <a:cs typeface="Consolas" pitchFamily="34" charset="-120"/>
              </a:rPr>
              <a:t>new int</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F2C14E"/>
                </a:solidFill>
                <a:latin typeface="Consolas" pitchFamily="34" charset="0"/>
                <a:ea typeface="Consolas" pitchFamily="34" charset="-122"/>
                <a:cs typeface="Consolas" pitchFamily="34" charset="-120"/>
              </a:rPr>
              <a:t>6</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FF9F5A"/>
                </a:solidFill>
                <a:latin typeface="Consolas" pitchFamily="34" charset="0"/>
                <a:ea typeface="Consolas" pitchFamily="34" charset="-122"/>
                <a:cs typeface="Consolas" pitchFamily="34" charset="-120"/>
              </a:rPr>
              <a:t>assert </a:t>
            </a:r>
            <a:r>
              <a:rPr lang="en-US" sz="1800" dirty="0">
                <a:solidFill>
                  <a:srgbClr val="E6EBF2"/>
                </a:solidFill>
                <a:latin typeface="Consolas" pitchFamily="34" charset="0"/>
                <a:ea typeface="Consolas" pitchFamily="34" charset="-122"/>
                <a:cs typeface="Consolas" pitchFamily="34" charset="-120"/>
              </a:rPr>
              <a:t>arr.length == </a:t>
            </a:r>
            <a:r>
              <a:rPr lang="en-US" sz="1800" dirty="0">
                <a:solidFill>
                  <a:srgbClr val="F2C14E"/>
                </a:solidFill>
                <a:latin typeface="Consolas" pitchFamily="34" charset="0"/>
                <a:ea typeface="Consolas" pitchFamily="34" charset="-122"/>
                <a:cs typeface="Consolas" pitchFamily="34" charset="-120"/>
              </a:rPr>
              <a:t>5 </a:t>
            </a:r>
            <a:r>
              <a:rPr lang="en-US" sz="1800" dirty="0">
                <a:solidFill>
                  <a:srgbClr val="E6EBF2"/>
                </a:solidFill>
                <a:latin typeface="Consolas" pitchFamily="34" charset="0"/>
                <a:ea typeface="Consolas" pitchFamily="34" charset="-122"/>
                <a:cs typeface="Consolas" pitchFamily="34" charset="-120"/>
              </a:rPr>
              <a:t>: </a:t>
            </a:r>
            <a:r>
              <a:rPr lang="en-US" sz="1800" dirty="0">
                <a:solidFill>
                  <a:srgbClr val="A9DB8C"/>
                </a:solidFill>
                <a:latin typeface="Consolas" pitchFamily="34" charset="0"/>
                <a:ea typeface="Consolas" pitchFamily="34" charset="-122"/>
                <a:cs typeface="Consolas" pitchFamily="34" charset="-120"/>
              </a:rPr>
              <a:t>"Array length should be 5"</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6CC4E8"/>
                </a:solidFill>
                <a:latin typeface="Consolas" pitchFamily="34" charset="0"/>
                <a:ea typeface="Consolas" pitchFamily="34" charset="-122"/>
                <a:cs typeface="Consolas" pitchFamily="34" charset="-120"/>
              </a:rPr>
              <a:t>System</a:t>
            </a:r>
            <a:r>
              <a:rPr lang="en-US" sz="1800" dirty="0">
                <a:solidFill>
                  <a:srgbClr val="E6EBF2"/>
                </a:solidFill>
                <a:latin typeface="Consolas" pitchFamily="34" charset="0"/>
                <a:ea typeface="Consolas" pitchFamily="34" charset="-122"/>
                <a:cs typeface="Consolas" pitchFamily="34" charset="-120"/>
              </a:rPr>
              <a:t>.out.</a:t>
            </a:r>
            <a:r>
              <a:rPr lang="en-US" sz="1800" dirty="0">
                <a:solidFill>
                  <a:srgbClr val="C9B0FF"/>
                </a:solidFill>
                <a:latin typeface="Consolas" pitchFamily="34" charset="0"/>
                <a:ea typeface="Consolas" pitchFamily="34" charset="-122"/>
                <a:cs typeface="Consolas" pitchFamily="34" charset="-120"/>
              </a:rPr>
              <a:t>println</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A9DB8C"/>
                </a:solidFill>
                <a:latin typeface="Consolas" pitchFamily="34" charset="0"/>
                <a:ea typeface="Consolas" pitchFamily="34" charset="-122"/>
                <a:cs typeface="Consolas" pitchFamily="34" charset="-120"/>
              </a:rPr>
              <a:t>"Other code"</a:t>
            </a:r>
            <a:r>
              <a:rPr lang="en-US" sz="1800" dirty="0">
                <a:solidFill>
                  <a:srgbClr val="E6EBF2"/>
                </a:solidFill>
                <a:latin typeface="Consolas" pitchFamily="34" charset="0"/>
                <a:ea typeface="Consolas" pitchFamily="34" charset="-122"/>
                <a:cs typeface="Consolas" pitchFamily="34" charset="-120"/>
              </a:rPr>
              <a:t>);</a:t>
            </a:r>
            <a:endParaRPr lang="en-US" sz="1800" dirty="0"/>
          </a:p>
        </p:txBody>
      </p:sp>
      <p:sp>
        <p:nvSpPr>
          <p:cNvPr id="7" name="Option A"/>
          <p:cNvSpPr/>
          <p:nvPr/>
        </p:nvSpPr>
        <p:spPr>
          <a:xfrm>
            <a:off x="548640" y="3648456"/>
            <a:ext cx="5410505"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8" name="Letter A"/>
          <p:cNvSpPr/>
          <p:nvPr/>
        </p:nvSpPr>
        <p:spPr>
          <a:xfrm>
            <a:off x="822960" y="3845052"/>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9" name="Option A text"/>
          <p:cNvSpPr txBox="1"/>
          <p:nvPr/>
        </p:nvSpPr>
        <p:spPr>
          <a:xfrm>
            <a:off x="1645920" y="3694176"/>
            <a:ext cx="4038905" cy="868680"/>
          </a:xfrm>
          <a:prstGeom prst="rect">
            <a:avLst/>
          </a:prstGeom>
          <a:noFill/>
          <a:ln/>
        </p:spPr>
        <p:txBody>
          <a:bodyPr wrap="square" lIns="0" tIns="0" rIns="0" bIns="0" rtlCol="0" anchor="ctr"/>
          <a:lstStyle/>
          <a:p>
            <a:pPr indent="0" marL="0">
              <a:buNone/>
            </a:pPr>
            <a:r>
              <a:rPr lang="en-US" sz="2000" dirty="0">
                <a:solidFill>
                  <a:schemeClr val="tx1"/>
                </a:solidFill>
              </a:rPr>
              <a:t>An </a:t>
            </a:r>
            <a:r>
              <a:rPr lang="en-US" sz="2000" dirty="0">
                <a:solidFill>
                  <a:schemeClr val="accent2"/>
                </a:solidFill>
                <a:latin typeface="Consolas" pitchFamily="34" charset="0"/>
                <a:ea typeface="Consolas" pitchFamily="34" charset="-122"/>
                <a:cs typeface="Consolas" pitchFamily="34" charset="-120"/>
              </a:rPr>
              <a:t>AssertionError</a:t>
            </a:r>
            <a:r>
              <a:rPr lang="en-US" sz="2000" dirty="0">
                <a:solidFill>
                  <a:schemeClr val="tx1"/>
                </a:solidFill>
              </a:rPr>
              <a:t> is thrown</a:t>
            </a:r>
            <a:endParaRPr lang="en-US" sz="2000" dirty="0"/>
          </a:p>
        </p:txBody>
      </p:sp>
      <p:sp>
        <p:nvSpPr>
          <p:cNvPr id="10" name="Option B"/>
          <p:cNvSpPr/>
          <p:nvPr/>
        </p:nvSpPr>
        <p:spPr>
          <a:xfrm>
            <a:off x="6233465" y="3648456"/>
            <a:ext cx="5410505"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1" name="Letter B"/>
          <p:cNvSpPr/>
          <p:nvPr/>
        </p:nvSpPr>
        <p:spPr>
          <a:xfrm>
            <a:off x="6507785" y="3845052"/>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2" name="Option B text"/>
          <p:cNvSpPr txBox="1"/>
          <p:nvPr/>
        </p:nvSpPr>
        <p:spPr>
          <a:xfrm>
            <a:off x="7330745" y="3694176"/>
            <a:ext cx="4038905" cy="868680"/>
          </a:xfrm>
          <a:prstGeom prst="rect">
            <a:avLst/>
          </a:prstGeom>
          <a:noFill/>
          <a:ln/>
        </p:spPr>
        <p:txBody>
          <a:bodyPr wrap="square" lIns="0" tIns="0" rIns="0" bIns="0" rtlCol="0" anchor="ctr"/>
          <a:lstStyle/>
          <a:p>
            <a:pPr indent="0" marL="0">
              <a:buNone/>
            </a:pPr>
            <a:r>
              <a:rPr lang="en-US" sz="2000" dirty="0">
                <a:solidFill>
                  <a:schemeClr val="tx1"/>
                </a:solidFill>
              </a:rPr>
              <a:t>The program won’t compile</a:t>
            </a:r>
            <a:endParaRPr lang="en-US" sz="2000" dirty="0"/>
          </a:p>
        </p:txBody>
      </p:sp>
      <p:sp>
        <p:nvSpPr>
          <p:cNvPr id="13" name="Option C"/>
          <p:cNvSpPr/>
          <p:nvPr/>
        </p:nvSpPr>
        <p:spPr>
          <a:xfrm>
            <a:off x="548640" y="4837176"/>
            <a:ext cx="5410505"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4" name="Letter C"/>
          <p:cNvSpPr/>
          <p:nvPr/>
        </p:nvSpPr>
        <p:spPr>
          <a:xfrm>
            <a:off x="822960" y="5033772"/>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5" name="Option C text"/>
          <p:cNvSpPr txBox="1"/>
          <p:nvPr/>
        </p:nvSpPr>
        <p:spPr>
          <a:xfrm>
            <a:off x="1645920" y="4882896"/>
            <a:ext cx="4038905" cy="868680"/>
          </a:xfrm>
          <a:prstGeom prst="rect">
            <a:avLst/>
          </a:prstGeom>
          <a:noFill/>
          <a:ln/>
        </p:spPr>
        <p:txBody>
          <a:bodyPr wrap="square" lIns="0" tIns="0" rIns="0" bIns="0" rtlCol="0" anchor="ctr"/>
          <a:lstStyle/>
          <a:p>
            <a:pPr indent="0" marL="0">
              <a:buNone/>
            </a:pPr>
            <a:r>
              <a:rPr lang="en-US" sz="2000" dirty="0">
                <a:solidFill>
                  <a:schemeClr val="tx1"/>
                </a:solidFill>
              </a:rPr>
              <a:t>Java changes the length to 5</a:t>
            </a:r>
            <a:endParaRPr lang="en-US" sz="2000" dirty="0"/>
          </a:p>
        </p:txBody>
      </p:sp>
      <p:sp>
        <p:nvSpPr>
          <p:cNvPr id="16" name="Option D"/>
          <p:cNvSpPr/>
          <p:nvPr/>
        </p:nvSpPr>
        <p:spPr>
          <a:xfrm>
            <a:off x="6233465" y="4837176"/>
            <a:ext cx="5410505" cy="960120"/>
          </a:xfrm>
          <a:prstGeom prst="roundRect">
            <a:avLst>
              <a:gd name="adj" fmla="val 13333"/>
            </a:avLst>
          </a:prstGeom>
          <a:solidFill>
            <a:schemeClr val="bg1"/>
          </a:solidFill>
          <a:ln/>
          <a:effectLst>
            <a:outerShdw sx="100000" sy="100000" kx="0" ky="0" algn="bl" rotWithShape="0" blurRad="114300" dist="31750" dir="5400000">
              <a:srgbClr val="1D2433">
                <a:alpha val="12000"/>
              </a:srgbClr>
            </a:outerShdw>
          </a:effectLst>
        </p:spPr>
      </p:sp>
      <p:sp>
        <p:nvSpPr>
          <p:cNvPr id="17" name="Letter D"/>
          <p:cNvSpPr/>
          <p:nvPr/>
        </p:nvSpPr>
        <p:spPr>
          <a:xfrm>
            <a:off x="6507785" y="5033772"/>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8" name="Option D text"/>
          <p:cNvSpPr txBox="1"/>
          <p:nvPr/>
        </p:nvSpPr>
        <p:spPr>
          <a:xfrm>
            <a:off x="7330745" y="4882896"/>
            <a:ext cx="4038905" cy="868680"/>
          </a:xfrm>
          <a:prstGeom prst="rect">
            <a:avLst/>
          </a:prstGeom>
          <a:noFill/>
          <a:ln/>
        </p:spPr>
        <p:txBody>
          <a:bodyPr wrap="square" lIns="0" tIns="0" rIns="0" bIns="0" rtlCol="0" anchor="ctr"/>
          <a:lstStyle/>
          <a:p>
            <a:pPr indent="0" marL="0">
              <a:buNone/>
            </a:pPr>
            <a:r>
              <a:rPr lang="en-US" sz="2000" dirty="0">
                <a:solidFill>
                  <a:schemeClr val="tx1"/>
                </a:solidFill>
              </a:rPr>
              <a:t>The assert is skipped and Other code prints</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20</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Turning assertions on</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Assertions are off. What happens when this code runs?</a:t>
            </a:r>
            <a:endParaRPr lang="en-US" sz="2000" dirty="0"/>
          </a:p>
        </p:txBody>
      </p:sp>
      <p:sp>
        <p:nvSpPr>
          <p:cNvPr id="5" name="Answer code card"/>
          <p:cNvSpPr/>
          <p:nvPr/>
        </p:nvSpPr>
        <p:spPr>
          <a:xfrm>
            <a:off x="548640" y="1874520"/>
            <a:ext cx="5623560" cy="876300"/>
          </a:xfrm>
          <a:prstGeom prst="roundRect">
            <a:avLst>
              <a:gd name="adj" fmla="val 12522"/>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473964"/>
          </a:xfrm>
          <a:prstGeom prst="rect">
            <a:avLst/>
          </a:prstGeom>
          <a:noFill/>
          <a:ln/>
        </p:spPr>
        <p:txBody>
          <a:bodyPr wrap="square" lIns="0" tIns="0" rIns="0" bIns="0" rtlCol="0" anchor="t"/>
          <a:lstStyle/>
          <a:p>
            <a:pPr indent="0" marL="0">
              <a:lnSpc>
                <a:spcPts val="1650"/>
              </a:lnSpc>
              <a:buNone/>
            </a:pPr>
            <a:r>
              <a:rPr lang="en-US" sz="1250" dirty="0">
                <a:solidFill>
                  <a:srgbClr val="FF9F5A"/>
                </a:solidFill>
                <a:latin typeface="Consolas" pitchFamily="34" charset="0"/>
                <a:ea typeface="Consolas" pitchFamily="34" charset="-122"/>
                <a:cs typeface="Consolas" pitchFamily="34" charset="-120"/>
              </a:rPr>
              <a:t>assert </a:t>
            </a:r>
            <a:r>
              <a:rPr lang="en-US" sz="1250" dirty="0">
                <a:solidFill>
                  <a:srgbClr val="E6EBF2"/>
                </a:solidFill>
                <a:latin typeface="Consolas" pitchFamily="34" charset="0"/>
                <a:ea typeface="Consolas" pitchFamily="34" charset="-122"/>
                <a:cs typeface="Consolas" pitchFamily="34" charset="-120"/>
              </a:rPr>
              <a:t>arr.length == </a:t>
            </a:r>
            <a:r>
              <a:rPr lang="en-US" sz="1250" dirty="0">
                <a:solidFill>
                  <a:srgbClr val="F2C14E"/>
                </a:solidFill>
                <a:latin typeface="Consolas" pitchFamily="34" charset="0"/>
                <a:ea typeface="Consolas" pitchFamily="34" charset="-122"/>
                <a:cs typeface="Consolas" pitchFamily="34" charset="-120"/>
              </a:rPr>
              <a:t>5 </a:t>
            </a: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A9DB8C"/>
                </a:solidFill>
                <a:latin typeface="Consolas" pitchFamily="34" charset="0"/>
                <a:ea typeface="Consolas" pitchFamily="34" charset="-122"/>
                <a:cs typeface="Consolas" pitchFamily="34" charset="-120"/>
              </a:rPr>
              <a:t>"..."</a:t>
            </a:r>
            <a:r>
              <a:rPr lang="en-US" sz="1250" dirty="0">
                <a:solidFill>
                  <a:srgbClr val="E6EBF2"/>
                </a:solidFill>
                <a:latin typeface="Consolas" pitchFamily="34" charset="0"/>
                <a:ea typeface="Consolas" pitchFamily="34" charset="-122"/>
                <a:cs typeface="Consolas" pitchFamily="34" charset="-120"/>
              </a:rPr>
              <a:t>;   </a:t>
            </a:r>
            <a:r>
              <a:rPr lang="en-US" sz="1250" i="1" dirty="0">
                <a:solidFill>
                  <a:srgbClr val="A3AEC2"/>
                </a:solidFill>
                <a:latin typeface="Consolas" pitchFamily="34" charset="0"/>
                <a:ea typeface="Consolas" pitchFamily="34" charset="-122"/>
                <a:cs typeface="Consolas" pitchFamily="34" charset="-120"/>
              </a:rPr>
              <a:t>// skipped: no -ea</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"Other code"</a:t>
            </a:r>
            <a:r>
              <a:rPr lang="en-US" sz="1250" dirty="0">
                <a:solidFill>
                  <a:srgbClr val="E6EBF2"/>
                </a:solidFill>
                <a:latin typeface="Consolas" pitchFamily="34" charset="0"/>
                <a:ea typeface="Consolas" pitchFamily="34" charset="-122"/>
                <a:cs typeface="Consolas" pitchFamily="34" charset="-120"/>
              </a:rPr>
              <a:t>);  </a:t>
            </a:r>
            <a:r>
              <a:rPr lang="en-US" sz="1250" i="1" dirty="0">
                <a:solidFill>
                  <a:srgbClr val="A3AEC2"/>
                </a:solidFill>
                <a:latin typeface="Consolas" pitchFamily="34" charset="0"/>
                <a:ea typeface="Consolas" pitchFamily="34" charset="-122"/>
                <a:cs typeface="Consolas" pitchFamily="34" charset="-120"/>
              </a:rPr>
              <a:t>// runs</a:t>
            </a:r>
            <a:endParaRPr lang="en-US" sz="1250" dirty="0"/>
          </a:p>
        </p:txBody>
      </p:sp>
      <p:sp>
        <p:nvSpPr>
          <p:cNvPr id="7" name="Option A"/>
          <p:cNvSpPr/>
          <p:nvPr/>
        </p:nvSpPr>
        <p:spPr>
          <a:xfrm>
            <a:off x="548640" y="2979420"/>
            <a:ext cx="5623560" cy="665607"/>
          </a:xfrm>
          <a:prstGeom prst="roundRect">
            <a:avLst>
              <a:gd name="adj" fmla="val 16485"/>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10191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9" name="Option A text"/>
          <p:cNvSpPr txBox="1"/>
          <p:nvPr/>
        </p:nvSpPr>
        <p:spPr>
          <a:xfrm>
            <a:off x="1371600" y="2979420"/>
            <a:ext cx="4572000" cy="665607"/>
          </a:xfrm>
          <a:prstGeom prst="rect">
            <a:avLst/>
          </a:prstGeom>
          <a:noFill/>
          <a:ln/>
        </p:spPr>
        <p:txBody>
          <a:bodyPr wrap="square" lIns="0" tIns="0" rIns="0" bIns="0" rtlCol="0" anchor="ctr"/>
          <a:lstStyle/>
          <a:p>
            <a:pPr indent="0" marL="0">
              <a:buNone/>
            </a:pPr>
            <a:r>
              <a:rPr lang="en-US" sz="1700" dirty="0">
                <a:solidFill>
                  <a:schemeClr val="tx2"/>
                </a:solidFill>
              </a:rPr>
              <a:t>An </a:t>
            </a:r>
            <a:r>
              <a:rPr lang="en-US" sz="1700" dirty="0">
                <a:solidFill>
                  <a:schemeClr val="tx2"/>
                </a:solidFill>
                <a:latin typeface="Consolas" pitchFamily="34" charset="0"/>
                <a:ea typeface="Consolas" pitchFamily="34" charset="-122"/>
                <a:cs typeface="Consolas" pitchFamily="34" charset="-120"/>
              </a:rPr>
              <a:t>AssertionError</a:t>
            </a:r>
            <a:r>
              <a:rPr lang="en-US" sz="1700" dirty="0">
                <a:solidFill>
                  <a:schemeClr val="tx2"/>
                </a:solidFill>
              </a:rPr>
              <a:t> is thrown</a:t>
            </a:r>
            <a:endParaRPr lang="en-US" sz="1700" dirty="0"/>
          </a:p>
        </p:txBody>
      </p:sp>
      <p:sp>
        <p:nvSpPr>
          <p:cNvPr id="10" name="Option B"/>
          <p:cNvSpPr/>
          <p:nvPr/>
        </p:nvSpPr>
        <p:spPr>
          <a:xfrm>
            <a:off x="548640" y="3791331"/>
            <a:ext cx="5623560" cy="665607"/>
          </a:xfrm>
          <a:prstGeom prst="roundRect">
            <a:avLst>
              <a:gd name="adj" fmla="val 16485"/>
            </a:avLst>
          </a:prstGeom>
          <a:solidFill>
            <a:schemeClr val="bg1"/>
          </a:solidFill>
          <a:ln/>
          <a:effectLst>
            <a:outerShdw sx="100000" sy="100000" kx="0" ky="0" algn="bl" rotWithShape="0" blurRad="76200" dist="19050" dir="5400000">
              <a:srgbClr val="1D2433">
                <a:alpha val="8000"/>
              </a:srgbClr>
            </a:outerShdw>
          </a:effectLst>
        </p:spPr>
      </p:sp>
      <p:sp>
        <p:nvSpPr>
          <p:cNvPr id="11" name="Letter B"/>
          <p:cNvSpPr/>
          <p:nvPr/>
        </p:nvSpPr>
        <p:spPr>
          <a:xfrm>
            <a:off x="749808" y="3913823"/>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2" name="Option B text"/>
          <p:cNvSpPr txBox="1"/>
          <p:nvPr/>
        </p:nvSpPr>
        <p:spPr>
          <a:xfrm>
            <a:off x="1371600" y="3791331"/>
            <a:ext cx="4572000" cy="665607"/>
          </a:xfrm>
          <a:prstGeom prst="rect">
            <a:avLst/>
          </a:prstGeom>
          <a:noFill/>
          <a:ln/>
        </p:spPr>
        <p:txBody>
          <a:bodyPr wrap="square" lIns="0" tIns="0" rIns="0" bIns="0" rtlCol="0" anchor="ctr"/>
          <a:lstStyle/>
          <a:p>
            <a:pPr indent="0" marL="0">
              <a:buNone/>
            </a:pPr>
            <a:r>
              <a:rPr lang="en-US" sz="1700" dirty="0">
                <a:solidFill>
                  <a:schemeClr val="tx2"/>
                </a:solidFill>
              </a:rPr>
              <a:t>The program won’t compile</a:t>
            </a:r>
            <a:endParaRPr lang="en-US" sz="1700" dirty="0"/>
          </a:p>
        </p:txBody>
      </p:sp>
      <p:sp>
        <p:nvSpPr>
          <p:cNvPr id="13" name="Option C"/>
          <p:cNvSpPr/>
          <p:nvPr/>
        </p:nvSpPr>
        <p:spPr>
          <a:xfrm>
            <a:off x="548640" y="4603242"/>
            <a:ext cx="5623560" cy="665607"/>
          </a:xfrm>
          <a:prstGeom prst="roundRect">
            <a:avLst>
              <a:gd name="adj" fmla="val 16485"/>
            </a:avLst>
          </a:prstGeom>
          <a:solidFill>
            <a:schemeClr val="bg1"/>
          </a:solidFill>
          <a:ln/>
          <a:effectLst>
            <a:outerShdw sx="100000" sy="100000" kx="0" ky="0" algn="bl" rotWithShape="0" blurRad="76200" dist="19050" dir="5400000">
              <a:srgbClr val="1D2433">
                <a:alpha val="8000"/>
              </a:srgbClr>
            </a:outerShdw>
          </a:effectLst>
        </p:spPr>
      </p:sp>
      <p:sp>
        <p:nvSpPr>
          <p:cNvPr id="14" name="Letter C"/>
          <p:cNvSpPr/>
          <p:nvPr/>
        </p:nvSpPr>
        <p:spPr>
          <a:xfrm>
            <a:off x="749808" y="472573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5" name="Option C text"/>
          <p:cNvSpPr txBox="1"/>
          <p:nvPr/>
        </p:nvSpPr>
        <p:spPr>
          <a:xfrm>
            <a:off x="1371600" y="4603242"/>
            <a:ext cx="4572000" cy="665607"/>
          </a:xfrm>
          <a:prstGeom prst="rect">
            <a:avLst/>
          </a:prstGeom>
          <a:noFill/>
          <a:ln/>
        </p:spPr>
        <p:txBody>
          <a:bodyPr wrap="square" lIns="0" tIns="0" rIns="0" bIns="0" rtlCol="0" anchor="ctr"/>
          <a:lstStyle/>
          <a:p>
            <a:pPr indent="0" marL="0">
              <a:buNone/>
            </a:pPr>
            <a:r>
              <a:rPr lang="en-US" sz="1700" dirty="0">
                <a:solidFill>
                  <a:schemeClr val="tx2"/>
                </a:solidFill>
              </a:rPr>
              <a:t>Java changes the length to 5</a:t>
            </a:r>
            <a:endParaRPr lang="en-US" sz="1700" dirty="0"/>
          </a:p>
        </p:txBody>
      </p:sp>
      <p:sp>
        <p:nvSpPr>
          <p:cNvPr id="16" name="Option D (correct)"/>
          <p:cNvSpPr/>
          <p:nvPr/>
        </p:nvSpPr>
        <p:spPr>
          <a:xfrm>
            <a:off x="548640" y="5415153"/>
            <a:ext cx="5623560" cy="665607"/>
          </a:xfrm>
          <a:prstGeom prst="roundRect">
            <a:avLst>
              <a:gd name="adj" fmla="val 16485"/>
            </a:avLst>
          </a:prstGeom>
          <a:solidFill>
            <a:schemeClr val="accent3"/>
          </a:solidFill>
          <a:ln/>
          <a:effectLst>
            <a:outerShdw sx="100000" sy="100000" kx="0" ky="0" algn="bl" rotWithShape="0" blurRad="114300" dist="31750" dir="5400000">
              <a:srgbClr val="1D2433">
                <a:alpha val="12000"/>
              </a:srgbClr>
            </a:outerShdw>
          </a:effectLst>
        </p:spPr>
      </p:sp>
      <p:sp>
        <p:nvSpPr>
          <p:cNvPr id="17" name="Letter D"/>
          <p:cNvSpPr/>
          <p:nvPr/>
        </p:nvSpPr>
        <p:spPr>
          <a:xfrm>
            <a:off x="749808" y="5537645"/>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8" name="Option D text"/>
          <p:cNvSpPr txBox="1"/>
          <p:nvPr/>
        </p:nvSpPr>
        <p:spPr>
          <a:xfrm>
            <a:off x="1371600" y="5415153"/>
            <a:ext cx="4233672" cy="665607"/>
          </a:xfrm>
          <a:prstGeom prst="rect">
            <a:avLst/>
          </a:prstGeom>
          <a:noFill/>
          <a:ln/>
        </p:spPr>
        <p:txBody>
          <a:bodyPr wrap="square" lIns="0" tIns="0" rIns="0" bIns="0" rtlCol="0" anchor="ctr"/>
          <a:lstStyle/>
          <a:p>
            <a:pPr indent="0" marL="0">
              <a:buNone/>
            </a:pPr>
            <a:r>
              <a:rPr lang="en-US" sz="1700" b="1" dirty="0">
                <a:solidFill>
                  <a:schemeClr val="bg1"/>
                </a:solidFill>
              </a:rPr>
              <a:t>The assert is skipped and Other code prints</a:t>
            </a:r>
            <a:endParaRPr lang="en-US" sz="1700" dirty="0"/>
          </a:p>
        </p:txBody>
      </p:sp>
      <p:pic>
        <p:nvPicPr>
          <p:cNvPr id="19" name="Image 0" descr="Correct mark">    </p:cNvPr>
          <p:cNvPicPr>
            <a:picLocks noChangeAspect="1"/>
          </p:cNvPicPr>
          <p:nvPr/>
        </p:nvPicPr>
        <p:blipFill>
          <a:blip r:embed="rId1"/>
          <a:stretch>
            <a:fillRect/>
          </a:stretch>
        </p:blipFill>
        <p:spPr>
          <a:xfrm>
            <a:off x="5623560" y="5565077"/>
            <a:ext cx="365760" cy="365760"/>
          </a:xfrm>
          <a:prstGeom prst="rect">
            <a:avLst/>
          </a:prstGeom>
        </p:spPr>
      </p:pic>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tx1"/>
                </a:solidFill>
              </a:rPr>
              <a:t>Assertions are off by default, and while they’re off, Java skips every assert line completely. The program carries on and prints Other code, as if the assert wasn’t there. To make it check, run with </a:t>
            </a:r>
            <a:r>
              <a:rPr lang="en-US" sz="1800" dirty="0">
                <a:solidFill>
                  <a:schemeClr val="accent2"/>
                </a:solidFill>
                <a:latin typeface="Consolas" pitchFamily="34" charset="0"/>
                <a:ea typeface="Consolas" pitchFamily="34" charset="-122"/>
                <a:cs typeface="Consolas" pitchFamily="34" charset="-120"/>
              </a:rPr>
              <a:t>-ea</a:t>
            </a:r>
            <a:r>
              <a:rPr lang="en-US" sz="1800" dirty="0">
                <a:solidFill>
                  <a:schemeClr val="tx1"/>
                </a:solidFill>
              </a:rPr>
              <a:t> in the VM arguments.</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ASSERT AND SAFE INPUT</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When an assert passes, and when it fails</a:t>
            </a:r>
            <a:endParaRPr lang="en-US" sz="3400" dirty="0"/>
          </a:p>
        </p:txBody>
      </p:sp>
      <p:pic>
        <p:nvPicPr>
          <p:cNvPr id="5" name="Image 0" descr="Works">    </p:cNvPr>
          <p:cNvPicPr>
            <a:picLocks noChangeAspect="1"/>
          </p:cNvPicPr>
          <p:nvPr/>
        </p:nvPicPr>
        <p:blipFill>
          <a:blip r:embed="rId1"/>
          <a:stretch>
            <a:fillRect/>
          </a:stretch>
        </p:blipFill>
        <p:spPr>
          <a:xfrm>
            <a:off x="548640" y="1664208"/>
            <a:ext cx="347472" cy="347472"/>
          </a:xfrm>
          <a:prstGeom prst="rect">
            <a:avLst/>
          </a:prstGeom>
        </p:spPr>
      </p:pic>
      <p:sp>
        <p:nvSpPr>
          <p:cNvPr id="6" name="Text 2"/>
          <p:cNvSpPr txBox="1"/>
          <p:nvPr/>
        </p:nvSpPr>
        <p:spPr>
          <a:xfrm>
            <a:off x="1005840" y="1645920"/>
            <a:ext cx="5212080" cy="384048"/>
          </a:xfrm>
          <a:prstGeom prst="rect">
            <a:avLst/>
          </a:prstGeom>
          <a:noFill/>
          <a:ln/>
        </p:spPr>
        <p:txBody>
          <a:bodyPr wrap="square" lIns="0" tIns="0" rIns="0" bIns="0" rtlCol="0" anchor="ctr"/>
          <a:lstStyle/>
          <a:p>
            <a:pPr algn="l" indent="0" marL="0">
              <a:buNone/>
            </a:pPr>
            <a:r>
              <a:rPr lang="en-US" sz="1500" b="1" dirty="0">
                <a:solidFill>
                  <a:schemeClr val="accent3"/>
                </a:solidFill>
              </a:rPr>
              <a:t>Length 5: the assert passes</a:t>
            </a:r>
            <a:endParaRPr lang="en-US" sz="1500" dirty="0"/>
          </a:p>
        </p:txBody>
      </p:sp>
      <p:sp>
        <p:nvSpPr>
          <p:cNvPr id="7" name="Passes card"/>
          <p:cNvSpPr/>
          <p:nvPr/>
        </p:nvSpPr>
        <p:spPr>
          <a:xfrm>
            <a:off x="548640" y="2103120"/>
            <a:ext cx="5577840" cy="1378458"/>
          </a:xfrm>
          <a:prstGeom prst="roundRect">
            <a:avLst>
              <a:gd name="adj" fmla="val 7960"/>
            </a:avLst>
          </a:prstGeom>
          <a:solidFill>
            <a:schemeClr val="tx1"/>
          </a:solidFill>
          <a:ln/>
          <a:effectLst>
            <a:outerShdw sx="100000" sy="100000" kx="0" ky="0" algn="bl" rotWithShape="0" blurRad="114300" dist="31750" dir="5400000">
              <a:srgbClr val="1D2433">
                <a:alpha val="12000"/>
              </a:srgbClr>
            </a:outerShdw>
          </a:effectLst>
        </p:spPr>
      </p:sp>
      <p:sp>
        <p:nvSpPr>
          <p:cNvPr id="8" name="Passes label"/>
          <p:cNvSpPr txBox="1"/>
          <p:nvPr/>
        </p:nvSpPr>
        <p:spPr>
          <a:xfrm>
            <a:off x="822960" y="2221992"/>
            <a:ext cx="50292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9" name="Passes text"/>
          <p:cNvSpPr txBox="1"/>
          <p:nvPr/>
        </p:nvSpPr>
        <p:spPr>
          <a:xfrm>
            <a:off x="822960" y="2596896"/>
            <a:ext cx="5029200" cy="683514"/>
          </a:xfrm>
          <a:prstGeom prst="rect">
            <a:avLst/>
          </a:prstGeom>
          <a:noFill/>
          <a:ln/>
        </p:spPr>
        <p:txBody>
          <a:bodyPr wrap="square" lIns="0" tIns="0" rIns="0" bIns="0" rtlCol="0" anchor="t"/>
          <a:lstStyle/>
          <a:p>
            <a:pPr indent="0" marL="0">
              <a:lnSpc>
                <a:spcPts val="1650"/>
              </a:lnSpc>
              <a:buNone/>
            </a:pPr>
            <a:r>
              <a:rPr lang="en-US" sz="1250" dirty="0">
                <a:solidFill>
                  <a:srgbClr val="FF9F5A"/>
                </a:solidFill>
                <a:latin typeface="Consolas" pitchFamily="34" charset="0"/>
                <a:ea typeface="Consolas" pitchFamily="34" charset="-122"/>
                <a:cs typeface="Consolas" pitchFamily="34" charset="-120"/>
              </a:rPr>
              <a:t>int</a:t>
            </a:r>
            <a:r>
              <a:rPr lang="en-US" sz="1250" dirty="0">
                <a:solidFill>
                  <a:srgbClr val="E6EBF2"/>
                </a:solidFill>
                <a:latin typeface="Consolas" pitchFamily="34" charset="0"/>
                <a:ea typeface="Consolas" pitchFamily="34" charset="-122"/>
                <a:cs typeface="Consolas" pitchFamily="34" charset="-120"/>
              </a:rPr>
              <a:t>[] arr = </a:t>
            </a:r>
            <a:r>
              <a:rPr lang="en-US" sz="1250" dirty="0">
                <a:solidFill>
                  <a:srgbClr val="FF9F5A"/>
                </a:solidFill>
                <a:latin typeface="Consolas" pitchFamily="34" charset="0"/>
                <a:ea typeface="Consolas" pitchFamily="34" charset="-122"/>
                <a:cs typeface="Consolas" pitchFamily="34" charset="-120"/>
              </a:rPr>
              <a:t>new int</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F2C14E"/>
                </a:solidFill>
                <a:latin typeface="Consolas" pitchFamily="34" charset="0"/>
                <a:ea typeface="Consolas" pitchFamily="34" charset="-122"/>
                <a:cs typeface="Consolas" pitchFamily="34" charset="-120"/>
              </a:rPr>
              <a:t>5</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FF9F5A"/>
                </a:solidFill>
                <a:latin typeface="Consolas" pitchFamily="34" charset="0"/>
                <a:ea typeface="Consolas" pitchFamily="34" charset="-122"/>
                <a:cs typeface="Consolas" pitchFamily="34" charset="-120"/>
              </a:rPr>
              <a:t>assert </a:t>
            </a:r>
            <a:r>
              <a:rPr lang="en-US" sz="1250" dirty="0">
                <a:solidFill>
                  <a:srgbClr val="E6EBF2"/>
                </a:solidFill>
                <a:latin typeface="Consolas" pitchFamily="34" charset="0"/>
                <a:ea typeface="Consolas" pitchFamily="34" charset="-122"/>
                <a:cs typeface="Consolas" pitchFamily="34" charset="-120"/>
              </a:rPr>
              <a:t>arr.length == </a:t>
            </a:r>
            <a:r>
              <a:rPr lang="en-US" sz="1250" dirty="0">
                <a:solidFill>
                  <a:srgbClr val="F2C14E"/>
                </a:solidFill>
                <a:latin typeface="Consolas" pitchFamily="34" charset="0"/>
                <a:ea typeface="Consolas" pitchFamily="34" charset="-122"/>
                <a:cs typeface="Consolas" pitchFamily="34" charset="-120"/>
              </a:rPr>
              <a:t>5 </a:t>
            </a: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A9DB8C"/>
                </a:solidFill>
                <a:latin typeface="Consolas" pitchFamily="34" charset="0"/>
                <a:ea typeface="Consolas" pitchFamily="34" charset="-122"/>
                <a:cs typeface="Consolas" pitchFamily="34" charset="-120"/>
              </a:rPr>
              <a:t>"Array length should be 5"</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"Other code"</a:t>
            </a:r>
            <a:r>
              <a:rPr lang="en-US" sz="1250" dirty="0">
                <a:solidFill>
                  <a:srgbClr val="E6EBF2"/>
                </a:solidFill>
                <a:latin typeface="Consolas" pitchFamily="34" charset="0"/>
                <a:ea typeface="Consolas" pitchFamily="34" charset="-122"/>
                <a:cs typeface="Consolas" pitchFamily="34" charset="-120"/>
              </a:rPr>
              <a:t>);</a:t>
            </a:r>
            <a:endParaRPr lang="en-US" sz="1250" dirty="0"/>
          </a:p>
        </p:txBody>
      </p:sp>
      <p:sp>
        <p:nvSpPr>
          <p:cNvPr id="10" name="Output card"/>
          <p:cNvSpPr/>
          <p:nvPr/>
        </p:nvSpPr>
        <p:spPr>
          <a:xfrm>
            <a:off x="6355080" y="2103120"/>
            <a:ext cx="5287975" cy="1380744"/>
          </a:xfrm>
          <a:prstGeom prst="roundRect">
            <a:avLst>
              <a:gd name="adj" fmla="val 7947"/>
            </a:avLst>
          </a:prstGeom>
          <a:solidFill>
            <a:schemeClr val="tx1"/>
          </a:solidFill>
          <a:ln/>
          <a:effectLst>
            <a:outerShdw sx="100000" sy="100000" kx="0" ky="0" algn="bl" rotWithShape="0" blurRad="114300" dist="31750" dir="5400000">
              <a:srgbClr val="1D2433">
                <a:alpha val="12000"/>
              </a:srgbClr>
            </a:outerShdw>
          </a:effectLst>
        </p:spPr>
      </p:sp>
      <p:sp>
        <p:nvSpPr>
          <p:cNvPr id="11" name="Output label"/>
          <p:cNvSpPr txBox="1"/>
          <p:nvPr/>
        </p:nvSpPr>
        <p:spPr>
          <a:xfrm>
            <a:off x="6629400" y="2221992"/>
            <a:ext cx="473933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a:t>
            </a:r>
            <a:endParaRPr lang="en-US" sz="1050" dirty="0"/>
          </a:p>
        </p:txBody>
      </p:sp>
      <p:sp>
        <p:nvSpPr>
          <p:cNvPr id="12" name="Output text"/>
          <p:cNvSpPr txBox="1"/>
          <p:nvPr/>
        </p:nvSpPr>
        <p:spPr>
          <a:xfrm>
            <a:off x="6629400" y="2596896"/>
            <a:ext cx="4739335" cy="722376"/>
          </a:xfrm>
          <a:prstGeom prst="rect">
            <a:avLst/>
          </a:prstGeom>
          <a:noFill/>
          <a:ln/>
        </p:spPr>
        <p:txBody>
          <a:bodyPr wrap="square" lIns="0" tIns="0" rIns="0" bIns="0" rtlCol="0" anchor="t"/>
          <a:lstStyle/>
          <a:p>
            <a:pPr indent="0" marL="0">
              <a:lnSpc>
                <a:spcPts val="1760"/>
              </a:lnSpc>
              <a:buNone/>
            </a:pPr>
            <a:r>
              <a:rPr lang="en-US" sz="1300" dirty="0">
                <a:solidFill>
                  <a:srgbClr val="A9DB8C"/>
                </a:solidFill>
                <a:latin typeface="Consolas" pitchFamily="34" charset="0"/>
                <a:ea typeface="Consolas" pitchFamily="34" charset="-122"/>
                <a:cs typeface="Consolas" pitchFamily="34" charset="-120"/>
              </a:rPr>
              <a:t>Other code</a:t>
            </a:r>
            <a:endParaRPr lang="en-US" sz="1300" dirty="0"/>
          </a:p>
        </p:txBody>
      </p:sp>
      <p:pic>
        <p:nvPicPr>
          <p:cNvPr id="13" name="Image 1" descr="Does not work">    </p:cNvPr>
          <p:cNvPicPr>
            <a:picLocks noChangeAspect="1"/>
          </p:cNvPicPr>
          <p:nvPr/>
        </p:nvPicPr>
        <p:blipFill>
          <a:blip r:embed="rId2"/>
          <a:stretch>
            <a:fillRect/>
          </a:stretch>
        </p:blipFill>
        <p:spPr>
          <a:xfrm>
            <a:off x="548640" y="3675888"/>
            <a:ext cx="347472" cy="347472"/>
          </a:xfrm>
          <a:prstGeom prst="rect">
            <a:avLst/>
          </a:prstGeom>
        </p:spPr>
      </p:pic>
      <p:sp>
        <p:nvSpPr>
          <p:cNvPr id="14" name="Text 9"/>
          <p:cNvSpPr txBox="1"/>
          <p:nvPr/>
        </p:nvSpPr>
        <p:spPr>
          <a:xfrm>
            <a:off x="1005840" y="3657600"/>
            <a:ext cx="5212080" cy="384048"/>
          </a:xfrm>
          <a:prstGeom prst="rect">
            <a:avLst/>
          </a:prstGeom>
          <a:noFill/>
          <a:ln/>
        </p:spPr>
        <p:txBody>
          <a:bodyPr wrap="square" lIns="0" tIns="0" rIns="0" bIns="0" rtlCol="0" anchor="ctr"/>
          <a:lstStyle/>
          <a:p>
            <a:pPr algn="l" indent="0" marL="0">
              <a:buNone/>
            </a:pPr>
            <a:r>
              <a:rPr lang="en-US" sz="1500" b="1" dirty="0">
                <a:solidFill>
                  <a:srgbClr val="C0392B"/>
                </a:solidFill>
              </a:rPr>
              <a:t>Length 6: the assert fails</a:t>
            </a:r>
            <a:endParaRPr lang="en-US" sz="1500" dirty="0"/>
          </a:p>
        </p:txBody>
      </p:sp>
      <p:sp>
        <p:nvSpPr>
          <p:cNvPr id="15" name="Fails card"/>
          <p:cNvSpPr/>
          <p:nvPr/>
        </p:nvSpPr>
        <p:spPr>
          <a:xfrm>
            <a:off x="548640" y="4114800"/>
            <a:ext cx="5577840" cy="1378458"/>
          </a:xfrm>
          <a:prstGeom prst="roundRect">
            <a:avLst>
              <a:gd name="adj" fmla="val 7960"/>
            </a:avLst>
          </a:prstGeom>
          <a:solidFill>
            <a:schemeClr val="tx1"/>
          </a:solidFill>
          <a:ln/>
          <a:effectLst>
            <a:outerShdw sx="100000" sy="100000" kx="0" ky="0" algn="bl" rotWithShape="0" blurRad="114300" dist="31750" dir="5400000">
              <a:srgbClr val="1D2433">
                <a:alpha val="12000"/>
              </a:srgbClr>
            </a:outerShdw>
          </a:effectLst>
        </p:spPr>
      </p:sp>
      <p:sp>
        <p:nvSpPr>
          <p:cNvPr id="16" name="Fails label"/>
          <p:cNvSpPr txBox="1"/>
          <p:nvPr/>
        </p:nvSpPr>
        <p:spPr>
          <a:xfrm>
            <a:off x="822960" y="4233672"/>
            <a:ext cx="50292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17" name="Fails text"/>
          <p:cNvSpPr txBox="1"/>
          <p:nvPr/>
        </p:nvSpPr>
        <p:spPr>
          <a:xfrm>
            <a:off x="822960" y="4608576"/>
            <a:ext cx="5029200" cy="683514"/>
          </a:xfrm>
          <a:prstGeom prst="rect">
            <a:avLst/>
          </a:prstGeom>
          <a:noFill/>
          <a:ln/>
        </p:spPr>
        <p:txBody>
          <a:bodyPr wrap="square" lIns="0" tIns="0" rIns="0" bIns="0" rtlCol="0" anchor="t"/>
          <a:lstStyle/>
          <a:p>
            <a:pPr indent="0" marL="0">
              <a:lnSpc>
                <a:spcPts val="1650"/>
              </a:lnSpc>
              <a:buNone/>
            </a:pPr>
            <a:r>
              <a:rPr lang="en-US" sz="1250" dirty="0">
                <a:solidFill>
                  <a:srgbClr val="FF9F5A"/>
                </a:solidFill>
                <a:latin typeface="Consolas" pitchFamily="34" charset="0"/>
                <a:ea typeface="Consolas" pitchFamily="34" charset="-122"/>
                <a:cs typeface="Consolas" pitchFamily="34" charset="-120"/>
              </a:rPr>
              <a:t>int</a:t>
            </a:r>
            <a:r>
              <a:rPr lang="en-US" sz="1250" dirty="0">
                <a:solidFill>
                  <a:srgbClr val="E6EBF2"/>
                </a:solidFill>
                <a:latin typeface="Consolas" pitchFamily="34" charset="0"/>
                <a:ea typeface="Consolas" pitchFamily="34" charset="-122"/>
                <a:cs typeface="Consolas" pitchFamily="34" charset="-120"/>
              </a:rPr>
              <a:t>[] arr = </a:t>
            </a:r>
            <a:r>
              <a:rPr lang="en-US" sz="1250" dirty="0">
                <a:solidFill>
                  <a:srgbClr val="FF9F5A"/>
                </a:solidFill>
                <a:latin typeface="Consolas" pitchFamily="34" charset="0"/>
                <a:ea typeface="Consolas" pitchFamily="34" charset="-122"/>
                <a:cs typeface="Consolas" pitchFamily="34" charset="-120"/>
              </a:rPr>
              <a:t>new int</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F2C14E"/>
                </a:solidFill>
                <a:latin typeface="Consolas" pitchFamily="34" charset="0"/>
                <a:ea typeface="Consolas" pitchFamily="34" charset="-122"/>
                <a:cs typeface="Consolas" pitchFamily="34" charset="-120"/>
              </a:rPr>
              <a:t>6</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FF9F5A"/>
                </a:solidFill>
                <a:latin typeface="Consolas" pitchFamily="34" charset="0"/>
                <a:ea typeface="Consolas" pitchFamily="34" charset="-122"/>
                <a:cs typeface="Consolas" pitchFamily="34" charset="-120"/>
              </a:rPr>
              <a:t>assert </a:t>
            </a:r>
            <a:r>
              <a:rPr lang="en-US" sz="1250" dirty="0">
                <a:solidFill>
                  <a:srgbClr val="E6EBF2"/>
                </a:solidFill>
                <a:latin typeface="Consolas" pitchFamily="34" charset="0"/>
                <a:ea typeface="Consolas" pitchFamily="34" charset="-122"/>
                <a:cs typeface="Consolas" pitchFamily="34" charset="-120"/>
              </a:rPr>
              <a:t>arr.length == </a:t>
            </a:r>
            <a:r>
              <a:rPr lang="en-US" sz="1250" dirty="0">
                <a:solidFill>
                  <a:srgbClr val="F2C14E"/>
                </a:solidFill>
                <a:latin typeface="Consolas" pitchFamily="34" charset="0"/>
                <a:ea typeface="Consolas" pitchFamily="34" charset="-122"/>
                <a:cs typeface="Consolas" pitchFamily="34" charset="-120"/>
              </a:rPr>
              <a:t>5 </a:t>
            </a: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A9DB8C"/>
                </a:solidFill>
                <a:latin typeface="Consolas" pitchFamily="34" charset="0"/>
                <a:ea typeface="Consolas" pitchFamily="34" charset="-122"/>
                <a:cs typeface="Consolas" pitchFamily="34" charset="-120"/>
              </a:rPr>
              <a:t>"Array length should be 5"</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"Other code"</a:t>
            </a:r>
            <a:r>
              <a:rPr lang="en-US" sz="1250" dirty="0">
                <a:solidFill>
                  <a:srgbClr val="E6EBF2"/>
                </a:solidFill>
                <a:latin typeface="Consolas" pitchFamily="34" charset="0"/>
                <a:ea typeface="Consolas" pitchFamily="34" charset="-122"/>
                <a:cs typeface="Consolas" pitchFamily="34" charset="-120"/>
              </a:rPr>
              <a:t>);</a:t>
            </a:r>
            <a:endParaRPr lang="en-US" sz="1250" dirty="0"/>
          </a:p>
        </p:txBody>
      </p:sp>
      <p:sp>
        <p:nvSpPr>
          <p:cNvPr id="18" name="Output card"/>
          <p:cNvSpPr/>
          <p:nvPr/>
        </p:nvSpPr>
        <p:spPr>
          <a:xfrm>
            <a:off x="6355080" y="4114800"/>
            <a:ext cx="5287975" cy="1380744"/>
          </a:xfrm>
          <a:prstGeom prst="roundRect">
            <a:avLst>
              <a:gd name="adj" fmla="val 7947"/>
            </a:avLst>
          </a:prstGeom>
          <a:solidFill>
            <a:schemeClr val="tx1"/>
          </a:solidFill>
          <a:ln/>
          <a:effectLst>
            <a:outerShdw sx="100000" sy="100000" kx="0" ky="0" algn="bl" rotWithShape="0" blurRad="114300" dist="31750" dir="5400000">
              <a:srgbClr val="1D2433">
                <a:alpha val="12000"/>
              </a:srgbClr>
            </a:outerShdw>
          </a:effectLst>
        </p:spPr>
      </p:sp>
      <p:sp>
        <p:nvSpPr>
          <p:cNvPr id="19" name="Output label"/>
          <p:cNvSpPr txBox="1"/>
          <p:nvPr/>
        </p:nvSpPr>
        <p:spPr>
          <a:xfrm>
            <a:off x="6629400" y="4233672"/>
            <a:ext cx="4739335"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 (first line wrapped)</a:t>
            </a:r>
            <a:endParaRPr lang="en-US" sz="1050" dirty="0"/>
          </a:p>
        </p:txBody>
      </p:sp>
      <p:sp>
        <p:nvSpPr>
          <p:cNvPr id="20" name="Output text"/>
          <p:cNvSpPr txBox="1"/>
          <p:nvPr/>
        </p:nvSpPr>
        <p:spPr>
          <a:xfrm>
            <a:off x="6629400" y="4608576"/>
            <a:ext cx="4739335" cy="722376"/>
          </a:xfrm>
          <a:prstGeom prst="rect">
            <a:avLst/>
          </a:prstGeom>
          <a:noFill/>
          <a:ln/>
        </p:spPr>
        <p:txBody>
          <a:bodyPr wrap="square" lIns="0" tIns="0" rIns="0" bIns="0" rtlCol="0" anchor="t"/>
          <a:lstStyle/>
          <a:p>
            <a:pPr indent="0" marL="0">
              <a:lnSpc>
                <a:spcPts val="1550"/>
              </a:lnSpc>
              <a:buNone/>
            </a:pPr>
            <a:r>
              <a:rPr lang="en-US" sz="1150" dirty="0">
                <a:solidFill>
                  <a:srgbClr val="FF8A80"/>
                </a:solidFill>
                <a:latin typeface="Consolas" pitchFamily="34" charset="0"/>
                <a:ea typeface="Consolas" pitchFamily="34" charset="-122"/>
                <a:cs typeface="Consolas" pitchFamily="34" charset="-120"/>
              </a:rPr>
              <a:t>Exception in thread "main"</a:t>
            </a:r>
            <a:endParaRPr lang="en-US" sz="1150" dirty="0"/>
          </a:p>
          <a:p>
            <a:pPr indent="0" marL="0">
              <a:lnSpc>
                <a:spcPts val="1550"/>
              </a:lnSpc>
              <a:buNone/>
            </a:pPr>
            <a:r>
              <a:rPr lang="en-US" sz="1150" dirty="0">
                <a:solidFill>
                  <a:srgbClr val="FF8A80"/>
                </a:solidFill>
                <a:latin typeface="Consolas" pitchFamily="34" charset="0"/>
                <a:ea typeface="Consolas" pitchFamily="34" charset="-122"/>
                <a:cs typeface="Consolas" pitchFamily="34" charset="-120"/>
              </a:rPr>
              <a:t>java.lang.AssertionError: Array length should be 5</a:t>
            </a:r>
            <a:endParaRPr lang="en-US" sz="1150" dirty="0"/>
          </a:p>
          <a:p>
            <a:pPr indent="0" marL="0">
              <a:lnSpc>
                <a:spcPts val="1550"/>
              </a:lnSpc>
              <a:buNone/>
            </a:pPr>
            <a:r>
              <a:rPr lang="en-US" sz="1150" dirty="0">
                <a:solidFill>
                  <a:srgbClr val="FF8A80"/>
                </a:solidFill>
                <a:latin typeface="Consolas" pitchFamily="34" charset="0"/>
                <a:ea typeface="Consolas" pitchFamily="34" charset="-122"/>
                <a:cs typeface="Consolas" pitchFamily="34" charset="-120"/>
              </a:rPr>
              <a:t>    at Main.main(Main.java:4)</a:t>
            </a:r>
            <a:endParaRPr lang="en-US" sz="1150" dirty="0"/>
          </a:p>
        </p:txBody>
      </p:sp>
      <p:sp>
        <p:nvSpPr>
          <p:cNvPr id="21" name="Text 16"/>
          <p:cNvSpPr txBox="1"/>
          <p:nvPr/>
        </p:nvSpPr>
        <p:spPr>
          <a:xfrm>
            <a:off x="548640" y="5669280"/>
            <a:ext cx="11064240" cy="320040"/>
          </a:xfrm>
          <a:prstGeom prst="rect">
            <a:avLst/>
          </a:prstGeom>
          <a:noFill/>
          <a:ln/>
        </p:spPr>
        <p:txBody>
          <a:bodyPr wrap="square" lIns="0" tIns="0" rIns="0" bIns="0" rtlCol="0" anchor="t"/>
          <a:lstStyle/>
          <a:p>
            <a:pPr algn="l" indent="0" marL="0">
              <a:buNone/>
            </a:pPr>
            <a:r>
              <a:rPr lang="en-US" sz="1300" i="1" dirty="0">
                <a:solidFill>
                  <a:schemeClr val="tx2"/>
                </a:solidFill>
              </a:rPr>
              <a:t>Both runs use -ea. Without it, both would print Other code.</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21</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assert</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Assertions are on (</a:t>
            </a:r>
            <a:r>
              <a:rPr lang="en-US" sz="2800" b="1" dirty="0">
                <a:solidFill>
                  <a:schemeClr val="accent2"/>
                </a:solidFill>
                <a:latin typeface="Consolas" pitchFamily="34" charset="0"/>
                <a:ea typeface="Consolas" pitchFamily="34" charset="-122"/>
                <a:cs typeface="Consolas" pitchFamily="34" charset="-120"/>
              </a:rPr>
              <a:t>-ea</a:t>
            </a:r>
            <a:r>
              <a:rPr lang="en-US" sz="2800" b="1" dirty="0">
                <a:solidFill>
                  <a:schemeClr val="tx1"/>
                </a:solidFill>
              </a:rPr>
              <a:t>). What does this code print?</a:t>
            </a:r>
            <a:endParaRPr lang="en-US" sz="2800" dirty="0"/>
          </a:p>
        </p:txBody>
      </p:sp>
      <p:sp>
        <p:nvSpPr>
          <p:cNvPr id="5" name="Question code card"/>
          <p:cNvSpPr/>
          <p:nvPr/>
        </p:nvSpPr>
        <p:spPr>
          <a:xfrm>
            <a:off x="548640" y="3150108"/>
            <a:ext cx="6035040" cy="1655064"/>
          </a:xfrm>
          <a:prstGeom prst="roundRect">
            <a:avLst>
              <a:gd name="adj" fmla="val 6630"/>
            </a:avLst>
          </a:prstGeom>
          <a:solidFill>
            <a:schemeClr val="tx1"/>
          </a:solidFill>
          <a:ln/>
          <a:effectLst>
            <a:outerShdw sx="100000" sy="100000" kx="0" ky="0" algn="bl" rotWithShape="0" blurRad="114300" dist="31750" dir="5400000">
              <a:srgbClr val="1D2433">
                <a:alpha val="12000"/>
              </a:srgbClr>
            </a:outerShdw>
          </a:effectLst>
        </p:spPr>
      </p:sp>
      <p:sp>
        <p:nvSpPr>
          <p:cNvPr id="6" name="Question code label"/>
          <p:cNvSpPr txBox="1"/>
          <p:nvPr/>
        </p:nvSpPr>
        <p:spPr>
          <a:xfrm>
            <a:off x="822960" y="3268980"/>
            <a:ext cx="548640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Question code text"/>
          <p:cNvSpPr txBox="1"/>
          <p:nvPr/>
        </p:nvSpPr>
        <p:spPr>
          <a:xfrm>
            <a:off x="822960" y="3643884"/>
            <a:ext cx="5486400" cy="960120"/>
          </a:xfrm>
          <a:prstGeom prst="rect">
            <a:avLst/>
          </a:prstGeom>
          <a:noFill/>
          <a:ln/>
        </p:spPr>
        <p:txBody>
          <a:bodyPr wrap="square" lIns="0" tIns="0" rIns="0" bIns="0" rtlCol="0" anchor="t"/>
          <a:lstStyle/>
          <a:p>
            <a:pPr indent="0" marL="0">
              <a:lnSpc>
                <a:spcPts val="2380"/>
              </a:lnSpc>
              <a:buNone/>
            </a:pPr>
            <a:r>
              <a:rPr lang="en-US" sz="1800" dirty="0">
                <a:solidFill>
                  <a:srgbClr val="FF9F5A"/>
                </a:solidFill>
                <a:latin typeface="Consolas" pitchFamily="34" charset="0"/>
                <a:ea typeface="Consolas" pitchFamily="34" charset="-122"/>
                <a:cs typeface="Consolas" pitchFamily="34" charset="-120"/>
              </a:rPr>
              <a:t>int</a:t>
            </a:r>
            <a:r>
              <a:rPr lang="en-US" sz="1800" dirty="0">
                <a:solidFill>
                  <a:srgbClr val="E6EBF2"/>
                </a:solidFill>
                <a:latin typeface="Consolas" pitchFamily="34" charset="0"/>
                <a:ea typeface="Consolas" pitchFamily="34" charset="-122"/>
                <a:cs typeface="Consolas" pitchFamily="34" charset="-120"/>
              </a:rPr>
              <a:t>[] arr = </a:t>
            </a:r>
            <a:r>
              <a:rPr lang="en-US" sz="1800" dirty="0">
                <a:solidFill>
                  <a:srgbClr val="FF9F5A"/>
                </a:solidFill>
                <a:latin typeface="Consolas" pitchFamily="34" charset="0"/>
                <a:ea typeface="Consolas" pitchFamily="34" charset="-122"/>
                <a:cs typeface="Consolas" pitchFamily="34" charset="-120"/>
              </a:rPr>
              <a:t>new int</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F2C14E"/>
                </a:solidFill>
                <a:latin typeface="Consolas" pitchFamily="34" charset="0"/>
                <a:ea typeface="Consolas" pitchFamily="34" charset="-122"/>
                <a:cs typeface="Consolas" pitchFamily="34" charset="-120"/>
              </a:rPr>
              <a:t>4</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FF9F5A"/>
                </a:solidFill>
                <a:latin typeface="Consolas" pitchFamily="34" charset="0"/>
                <a:ea typeface="Consolas" pitchFamily="34" charset="-122"/>
                <a:cs typeface="Consolas" pitchFamily="34" charset="-120"/>
              </a:rPr>
              <a:t>assert </a:t>
            </a:r>
            <a:r>
              <a:rPr lang="en-US" sz="1800" dirty="0">
                <a:solidFill>
                  <a:srgbClr val="E6EBF2"/>
                </a:solidFill>
                <a:latin typeface="Consolas" pitchFamily="34" charset="0"/>
                <a:ea typeface="Consolas" pitchFamily="34" charset="-122"/>
                <a:cs typeface="Consolas" pitchFamily="34" charset="-120"/>
              </a:rPr>
              <a:t>arr.length &gt; </a:t>
            </a:r>
            <a:r>
              <a:rPr lang="en-US" sz="1800" dirty="0">
                <a:solidFill>
                  <a:srgbClr val="F2C14E"/>
                </a:solidFill>
                <a:latin typeface="Consolas" pitchFamily="34" charset="0"/>
                <a:ea typeface="Consolas" pitchFamily="34" charset="-122"/>
                <a:cs typeface="Consolas" pitchFamily="34" charset="-120"/>
              </a:rPr>
              <a:t>2 </a:t>
            </a:r>
            <a:r>
              <a:rPr lang="en-US" sz="1800" dirty="0">
                <a:solidFill>
                  <a:srgbClr val="E6EBF2"/>
                </a:solidFill>
                <a:latin typeface="Consolas" pitchFamily="34" charset="0"/>
                <a:ea typeface="Consolas" pitchFamily="34" charset="-122"/>
                <a:cs typeface="Consolas" pitchFamily="34" charset="-120"/>
              </a:rPr>
              <a:t>: </a:t>
            </a:r>
            <a:r>
              <a:rPr lang="en-US" sz="1800" dirty="0">
                <a:solidFill>
                  <a:srgbClr val="A9DB8C"/>
                </a:solidFill>
                <a:latin typeface="Consolas" pitchFamily="34" charset="0"/>
                <a:ea typeface="Consolas" pitchFamily="34" charset="-122"/>
                <a:cs typeface="Consolas" pitchFamily="34" charset="-120"/>
              </a:rPr>
              <a:t>"Too short"</a:t>
            </a:r>
            <a:r>
              <a:rPr lang="en-US" sz="1800" dirty="0">
                <a:solidFill>
                  <a:srgbClr val="E6EBF2"/>
                </a:solidFill>
                <a:latin typeface="Consolas" pitchFamily="34" charset="0"/>
                <a:ea typeface="Consolas" pitchFamily="34" charset="-122"/>
                <a:cs typeface="Consolas" pitchFamily="34" charset="-120"/>
              </a:rPr>
              <a:t>;</a:t>
            </a:r>
            <a:endParaRPr lang="en-US" sz="1800" dirty="0"/>
          </a:p>
          <a:p>
            <a:pPr indent="0" marL="0">
              <a:lnSpc>
                <a:spcPts val="2380"/>
              </a:lnSpc>
              <a:buNone/>
            </a:pPr>
            <a:r>
              <a:rPr lang="en-US" sz="1800" dirty="0">
                <a:solidFill>
                  <a:srgbClr val="6CC4E8"/>
                </a:solidFill>
                <a:latin typeface="Consolas" pitchFamily="34" charset="0"/>
                <a:ea typeface="Consolas" pitchFamily="34" charset="-122"/>
                <a:cs typeface="Consolas" pitchFamily="34" charset="-120"/>
              </a:rPr>
              <a:t>System</a:t>
            </a:r>
            <a:r>
              <a:rPr lang="en-US" sz="1800" dirty="0">
                <a:solidFill>
                  <a:srgbClr val="E6EBF2"/>
                </a:solidFill>
                <a:latin typeface="Consolas" pitchFamily="34" charset="0"/>
                <a:ea typeface="Consolas" pitchFamily="34" charset="-122"/>
                <a:cs typeface="Consolas" pitchFamily="34" charset="-120"/>
              </a:rPr>
              <a:t>.out.</a:t>
            </a:r>
            <a:r>
              <a:rPr lang="en-US" sz="1800" dirty="0">
                <a:solidFill>
                  <a:srgbClr val="C9B0FF"/>
                </a:solidFill>
                <a:latin typeface="Consolas" pitchFamily="34" charset="0"/>
                <a:ea typeface="Consolas" pitchFamily="34" charset="-122"/>
                <a:cs typeface="Consolas" pitchFamily="34" charset="-120"/>
              </a:rPr>
              <a:t>println</a:t>
            </a:r>
            <a:r>
              <a:rPr lang="en-US" sz="1800" dirty="0">
                <a:solidFill>
                  <a:srgbClr val="E6EBF2"/>
                </a:solidFill>
                <a:latin typeface="Consolas" pitchFamily="34" charset="0"/>
                <a:ea typeface="Consolas" pitchFamily="34" charset="-122"/>
                <a:cs typeface="Consolas" pitchFamily="34" charset="-120"/>
              </a:rPr>
              <a:t>(</a:t>
            </a:r>
            <a:r>
              <a:rPr lang="en-US" sz="1800" dirty="0">
                <a:solidFill>
                  <a:srgbClr val="A9DB8C"/>
                </a:solidFill>
                <a:latin typeface="Consolas" pitchFamily="34" charset="0"/>
                <a:ea typeface="Consolas" pitchFamily="34" charset="-122"/>
                <a:cs typeface="Consolas" pitchFamily="34" charset="-120"/>
              </a:rPr>
              <a:t>"Other code"</a:t>
            </a:r>
            <a:r>
              <a:rPr lang="en-US" sz="1800" dirty="0">
                <a:solidFill>
                  <a:srgbClr val="E6EBF2"/>
                </a:solidFill>
                <a:latin typeface="Consolas" pitchFamily="34" charset="0"/>
                <a:ea typeface="Consolas" pitchFamily="34" charset="-122"/>
                <a:cs typeface="Consolas" pitchFamily="34" charset="-120"/>
              </a:rPr>
              <a:t>);</a:t>
            </a:r>
            <a:endParaRPr lang="en-US" sz="1800" dirty="0"/>
          </a:p>
        </p:txBody>
      </p:sp>
      <p:sp>
        <p:nvSpPr>
          <p:cNvPr id="8" name="Option A"/>
          <p:cNvSpPr/>
          <p:nvPr/>
        </p:nvSpPr>
        <p:spPr>
          <a:xfrm>
            <a:off x="6858000" y="196596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9" name="Letter A"/>
          <p:cNvSpPr/>
          <p:nvPr/>
        </p:nvSpPr>
        <p:spPr>
          <a:xfrm>
            <a:off x="7132320" y="215341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0" name="Option A text"/>
          <p:cNvSpPr txBox="1"/>
          <p:nvPr/>
        </p:nvSpPr>
        <p:spPr>
          <a:xfrm>
            <a:off x="7882128" y="2011680"/>
            <a:ext cx="3486607" cy="777240"/>
          </a:xfrm>
          <a:prstGeom prst="rect">
            <a:avLst/>
          </a:prstGeom>
          <a:noFill/>
          <a:ln/>
        </p:spPr>
        <p:txBody>
          <a:bodyPr wrap="square" lIns="0" tIns="0" rIns="0" bIns="0" rtlCol="0" anchor="ctr"/>
          <a:lstStyle/>
          <a:p>
            <a:pPr indent="0" marL="0">
              <a:buNone/>
            </a:pPr>
            <a:r>
              <a:rPr lang="en-US" sz="1700" dirty="0">
                <a:solidFill>
                  <a:schemeClr val="tx1"/>
                </a:solidFill>
                <a:latin typeface="Consolas" pitchFamily="34" charset="0"/>
                <a:ea typeface="Consolas" pitchFamily="34" charset="-122"/>
                <a:cs typeface="Consolas" pitchFamily="34" charset="-120"/>
              </a:rPr>
              <a:t>AssertionError: Too short</a:t>
            </a:r>
            <a:endParaRPr lang="en-US" sz="1700" dirty="0"/>
          </a:p>
        </p:txBody>
      </p:sp>
      <p:sp>
        <p:nvSpPr>
          <p:cNvPr id="11" name="Option B"/>
          <p:cNvSpPr/>
          <p:nvPr/>
        </p:nvSpPr>
        <p:spPr>
          <a:xfrm>
            <a:off x="6858000" y="301752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2" name="Letter B"/>
          <p:cNvSpPr/>
          <p:nvPr/>
        </p:nvSpPr>
        <p:spPr>
          <a:xfrm>
            <a:off x="7132320" y="320497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3" name="Option B text"/>
          <p:cNvSpPr txBox="1"/>
          <p:nvPr/>
        </p:nvSpPr>
        <p:spPr>
          <a:xfrm>
            <a:off x="7882128" y="3063240"/>
            <a:ext cx="3486607" cy="777240"/>
          </a:xfrm>
          <a:prstGeom prst="rect">
            <a:avLst/>
          </a:prstGeom>
          <a:noFill/>
          <a:ln/>
        </p:spPr>
        <p:txBody>
          <a:bodyPr wrap="square" lIns="0" tIns="0" rIns="0" bIns="0" rtlCol="0" anchor="ctr"/>
          <a:lstStyle/>
          <a:p>
            <a:pPr indent="0" marL="0">
              <a:buNone/>
            </a:pPr>
            <a:r>
              <a:rPr lang="en-US" sz="1700" dirty="0">
                <a:solidFill>
                  <a:schemeClr val="tx1"/>
                </a:solidFill>
                <a:latin typeface="Consolas" pitchFamily="34" charset="0"/>
                <a:ea typeface="Consolas" pitchFamily="34" charset="-122"/>
                <a:cs typeface="Consolas" pitchFamily="34" charset="-120"/>
              </a:rPr>
              <a:t>Other code</a:t>
            </a:r>
            <a:endParaRPr lang="en-US" sz="1700" dirty="0"/>
          </a:p>
        </p:txBody>
      </p:sp>
      <p:sp>
        <p:nvSpPr>
          <p:cNvPr id="14" name="Option C"/>
          <p:cNvSpPr/>
          <p:nvPr/>
        </p:nvSpPr>
        <p:spPr>
          <a:xfrm>
            <a:off x="6858000" y="406908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5" name="Letter C"/>
          <p:cNvSpPr/>
          <p:nvPr/>
        </p:nvSpPr>
        <p:spPr>
          <a:xfrm>
            <a:off x="7132320" y="425653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6" name="Option C text"/>
          <p:cNvSpPr txBox="1"/>
          <p:nvPr/>
        </p:nvSpPr>
        <p:spPr>
          <a:xfrm>
            <a:off x="7882128" y="4114800"/>
            <a:ext cx="3486607" cy="777240"/>
          </a:xfrm>
          <a:prstGeom prst="rect">
            <a:avLst/>
          </a:prstGeom>
          <a:noFill/>
          <a:ln/>
        </p:spPr>
        <p:txBody>
          <a:bodyPr wrap="square" lIns="0" tIns="0" rIns="0" bIns="0" rtlCol="0" anchor="ctr"/>
          <a:lstStyle/>
          <a:p>
            <a:pPr indent="0" marL="0">
              <a:buNone/>
            </a:pPr>
            <a:r>
              <a:rPr lang="en-US" sz="1700" dirty="0">
                <a:solidFill>
                  <a:schemeClr val="tx1"/>
                </a:solidFill>
              </a:rPr>
              <a:t>Nothing at all</a:t>
            </a:r>
            <a:endParaRPr lang="en-US" sz="1700" dirty="0"/>
          </a:p>
        </p:txBody>
      </p:sp>
      <p:sp>
        <p:nvSpPr>
          <p:cNvPr id="17" name="Option D"/>
          <p:cNvSpPr/>
          <p:nvPr/>
        </p:nvSpPr>
        <p:spPr>
          <a:xfrm>
            <a:off x="6858000" y="5120640"/>
            <a:ext cx="4785055" cy="868680"/>
          </a:xfrm>
          <a:prstGeom prst="roundRect">
            <a:avLst>
              <a:gd name="adj" fmla="val 14737"/>
            </a:avLst>
          </a:prstGeom>
          <a:solidFill>
            <a:schemeClr val="bg1"/>
          </a:solidFill>
          <a:ln/>
          <a:effectLst>
            <a:outerShdw sx="100000" sy="100000" kx="0" ky="0" algn="bl" rotWithShape="0" blurRad="114300" dist="31750" dir="5400000">
              <a:srgbClr val="1D2433">
                <a:alpha val="12000"/>
              </a:srgbClr>
            </a:outerShdw>
          </a:effectLst>
        </p:spPr>
      </p:sp>
      <p:sp>
        <p:nvSpPr>
          <p:cNvPr id="18" name="Letter D"/>
          <p:cNvSpPr/>
          <p:nvPr/>
        </p:nvSpPr>
        <p:spPr>
          <a:xfrm>
            <a:off x="7132320" y="5308092"/>
            <a:ext cx="493776" cy="493776"/>
          </a:xfrm>
          <a:prstGeom prst="ellipse">
            <a:avLst/>
          </a:prstGeom>
          <a:solidFill>
            <a:schemeClr val="accent2"/>
          </a:solid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19" name="Option D text"/>
          <p:cNvSpPr txBox="1"/>
          <p:nvPr/>
        </p:nvSpPr>
        <p:spPr>
          <a:xfrm>
            <a:off x="7882128" y="5166360"/>
            <a:ext cx="3486607" cy="777240"/>
          </a:xfrm>
          <a:prstGeom prst="rect">
            <a:avLst/>
          </a:prstGeom>
          <a:noFill/>
          <a:ln/>
        </p:spPr>
        <p:txBody>
          <a:bodyPr wrap="square" lIns="0" tIns="0" rIns="0" bIns="0" rtlCol="0" anchor="ctr"/>
          <a:lstStyle/>
          <a:p>
            <a:pPr indent="0" marL="0">
              <a:buNone/>
            </a:pPr>
            <a:r>
              <a:rPr lang="en-US" sz="1700" dirty="0">
                <a:solidFill>
                  <a:schemeClr val="accent2"/>
                </a:solidFill>
                <a:latin typeface="Consolas" pitchFamily="34" charset="0"/>
                <a:ea typeface="Consolas" pitchFamily="34" charset="-122"/>
                <a:cs typeface="Consolas" pitchFamily="34" charset="-120"/>
              </a:rPr>
              <a:t>Too short</a:t>
            </a:r>
            <a:r>
              <a:rPr lang="en-US" sz="1700" dirty="0">
                <a:solidFill>
                  <a:schemeClr val="tx1"/>
                </a:solidFill>
              </a:rPr>
              <a:t>, then </a:t>
            </a:r>
            <a:r>
              <a:rPr lang="en-US" sz="1700" dirty="0">
                <a:solidFill>
                  <a:schemeClr val="accent2"/>
                </a:solidFill>
                <a:latin typeface="Consolas" pitchFamily="34" charset="0"/>
                <a:ea typeface="Consolas" pitchFamily="34" charset="-122"/>
                <a:cs typeface="Consolas" pitchFamily="34" charset="-120"/>
              </a:rPr>
              <a:t>Other code</a:t>
            </a:r>
            <a:endParaRPr lang="en-US" sz="17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21</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assert</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Assertions are on (</a:t>
            </a:r>
            <a:r>
              <a:rPr lang="en-US" sz="2000" b="1" dirty="0">
                <a:solidFill>
                  <a:schemeClr val="tx2"/>
                </a:solidFill>
                <a:latin typeface="Consolas" pitchFamily="34" charset="0"/>
                <a:ea typeface="Consolas" pitchFamily="34" charset="-122"/>
                <a:cs typeface="Consolas" pitchFamily="34" charset="-120"/>
              </a:rPr>
              <a:t>-ea</a:t>
            </a:r>
            <a:r>
              <a:rPr lang="en-US" sz="2000" b="1" dirty="0">
                <a:solidFill>
                  <a:schemeClr val="tx2"/>
                </a:solidFill>
              </a:rPr>
              <a:t>). What does this code print?</a:t>
            </a:r>
            <a:endParaRPr lang="en-US" sz="2000" dirty="0"/>
          </a:p>
        </p:txBody>
      </p:sp>
      <p:sp>
        <p:nvSpPr>
          <p:cNvPr id="5" name="Answer code card"/>
          <p:cNvSpPr/>
          <p:nvPr/>
        </p:nvSpPr>
        <p:spPr>
          <a:xfrm>
            <a:off x="548640" y="1874520"/>
            <a:ext cx="5623560" cy="1211580"/>
          </a:xfrm>
          <a:prstGeom prst="roundRect">
            <a:avLst>
              <a:gd name="adj" fmla="val 9057"/>
            </a:avLst>
          </a:prstGeom>
          <a:solidFill>
            <a:schemeClr val="tx1"/>
          </a:solidFill>
          <a:ln/>
          <a:effectLst>
            <a:outerShdw sx="100000" sy="100000" kx="0" ky="0" algn="bl" rotWithShape="0" blurRad="114300" dist="31750" dir="5400000">
              <a:srgbClr val="1D2433">
                <a:alpha val="12000"/>
              </a:srgbClr>
            </a:outerShdw>
          </a:effectLst>
        </p:spPr>
      </p:sp>
      <p:sp>
        <p:nvSpPr>
          <p:cNvPr id="6" name="Answer code text"/>
          <p:cNvSpPr txBox="1"/>
          <p:nvPr/>
        </p:nvSpPr>
        <p:spPr>
          <a:xfrm>
            <a:off x="822960" y="2075688"/>
            <a:ext cx="5074920" cy="809244"/>
          </a:xfrm>
          <a:prstGeom prst="rect">
            <a:avLst/>
          </a:prstGeom>
          <a:noFill/>
          <a:ln/>
        </p:spPr>
        <p:txBody>
          <a:bodyPr wrap="square" lIns="0" tIns="0" rIns="0" bIns="0" rtlCol="0" anchor="t"/>
          <a:lstStyle/>
          <a:p>
            <a:pPr indent="0" marL="0">
              <a:lnSpc>
                <a:spcPts val="1980"/>
              </a:lnSpc>
              <a:buNone/>
            </a:pPr>
            <a:r>
              <a:rPr lang="en-US" sz="1500" dirty="0">
                <a:solidFill>
                  <a:srgbClr val="E6EBF2"/>
                </a:solidFill>
                <a:latin typeface="Consolas" pitchFamily="34" charset="0"/>
                <a:ea typeface="Consolas" pitchFamily="34" charset="-122"/>
                <a:cs typeface="Consolas" pitchFamily="34" charset="-120"/>
              </a:rPr>
              <a:t>arr.length       </a:t>
            </a:r>
            <a:r>
              <a:rPr lang="en-US" sz="1500" i="1" dirty="0">
                <a:solidFill>
                  <a:srgbClr val="A3AEC2"/>
                </a:solidFill>
                <a:latin typeface="Consolas" pitchFamily="34" charset="0"/>
                <a:ea typeface="Consolas" pitchFamily="34" charset="-122"/>
                <a:cs typeface="Consolas" pitchFamily="34" charset="-120"/>
              </a:rPr>
              <a:t>// 4</a:t>
            </a:r>
            <a:endParaRPr lang="en-US" sz="1500" dirty="0"/>
          </a:p>
          <a:p>
            <a:pPr indent="0" marL="0">
              <a:lnSpc>
                <a:spcPts val="1980"/>
              </a:lnSpc>
              <a:buNone/>
            </a:pPr>
            <a:r>
              <a:rPr lang="en-US" sz="1500" dirty="0">
                <a:solidFill>
                  <a:srgbClr val="F2C14E"/>
                </a:solidFill>
                <a:latin typeface="Consolas" pitchFamily="34" charset="0"/>
                <a:ea typeface="Consolas" pitchFamily="34" charset="-122"/>
                <a:cs typeface="Consolas" pitchFamily="34" charset="-120"/>
              </a:rPr>
              <a:t>4 </a:t>
            </a:r>
            <a:r>
              <a:rPr lang="en-US" sz="1500" dirty="0">
                <a:solidFill>
                  <a:srgbClr val="E6EBF2"/>
                </a:solidFill>
                <a:latin typeface="Consolas" pitchFamily="34" charset="0"/>
                <a:ea typeface="Consolas" pitchFamily="34" charset="-122"/>
                <a:cs typeface="Consolas" pitchFamily="34" charset="-120"/>
              </a:rPr>
              <a:t>&gt; </a:t>
            </a:r>
            <a:r>
              <a:rPr lang="en-US" sz="1500" dirty="0">
                <a:solidFill>
                  <a:srgbClr val="F2C14E"/>
                </a:solidFill>
                <a:latin typeface="Consolas" pitchFamily="34" charset="0"/>
                <a:ea typeface="Consolas" pitchFamily="34" charset="-122"/>
                <a:cs typeface="Consolas" pitchFamily="34" charset="-120"/>
              </a:rPr>
              <a:t>2            </a:t>
            </a:r>
            <a:r>
              <a:rPr lang="en-US" sz="1500" i="1" dirty="0">
                <a:solidFill>
                  <a:srgbClr val="A3AEC2"/>
                </a:solidFill>
                <a:latin typeface="Consolas" pitchFamily="34" charset="0"/>
                <a:ea typeface="Consolas" pitchFamily="34" charset="-122"/>
                <a:cs typeface="Consolas" pitchFamily="34" charset="-120"/>
              </a:rPr>
              <a:t>// true: the assert passes</a:t>
            </a:r>
            <a:endParaRPr lang="en-US" sz="1500" dirty="0"/>
          </a:p>
          <a:p>
            <a:pPr indent="0" marL="0">
              <a:lnSpc>
                <a:spcPts val="1980"/>
              </a:lnSpc>
              <a:buNone/>
            </a:pPr>
            <a:r>
              <a:rPr lang="en-US" sz="1500" dirty="0">
                <a:solidFill>
                  <a:srgbClr val="A9DB8C"/>
                </a:solidFill>
                <a:latin typeface="Consolas" pitchFamily="34" charset="0"/>
                <a:ea typeface="Consolas" pitchFamily="34" charset="-122"/>
                <a:cs typeface="Consolas" pitchFamily="34" charset="-120"/>
              </a:rPr>
              <a:t>"Other code"     </a:t>
            </a:r>
            <a:r>
              <a:rPr lang="en-US" sz="1500" i="1" dirty="0">
                <a:solidFill>
                  <a:srgbClr val="A3AEC2"/>
                </a:solidFill>
                <a:latin typeface="Consolas" pitchFamily="34" charset="0"/>
                <a:ea typeface="Consolas" pitchFamily="34" charset="-122"/>
                <a:cs typeface="Consolas" pitchFamily="34" charset="-120"/>
              </a:rPr>
              <a:t>// printed</a:t>
            </a:r>
            <a:endParaRPr lang="en-US" sz="1500" dirty="0"/>
          </a:p>
        </p:txBody>
      </p:sp>
      <p:sp>
        <p:nvSpPr>
          <p:cNvPr id="7" name="Option A"/>
          <p:cNvSpPr/>
          <p:nvPr/>
        </p:nvSpPr>
        <p:spPr>
          <a:xfrm>
            <a:off x="548640" y="3314700"/>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8" name="Letter A"/>
          <p:cNvSpPr/>
          <p:nvPr/>
        </p:nvSpPr>
        <p:spPr>
          <a:xfrm>
            <a:off x="749808" y="339528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9" name="Option A text"/>
          <p:cNvSpPr txBox="1"/>
          <p:nvPr/>
        </p:nvSpPr>
        <p:spPr>
          <a:xfrm>
            <a:off x="1371600" y="3314700"/>
            <a:ext cx="4572000" cy="581787"/>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AssertionError: Too short</a:t>
            </a:r>
            <a:endParaRPr lang="en-US" sz="1700" dirty="0"/>
          </a:p>
        </p:txBody>
      </p:sp>
      <p:sp>
        <p:nvSpPr>
          <p:cNvPr id="10" name="Option B (correct)"/>
          <p:cNvSpPr/>
          <p:nvPr/>
        </p:nvSpPr>
        <p:spPr>
          <a:xfrm>
            <a:off x="548640" y="4042791"/>
            <a:ext cx="5623560" cy="581787"/>
          </a:xfrm>
          <a:prstGeom prst="roundRect">
            <a:avLst>
              <a:gd name="adj" fmla="val 18861"/>
            </a:avLst>
          </a:prstGeom>
          <a:solidFill>
            <a:schemeClr val="accent3"/>
          </a:solidFill>
          <a:ln/>
          <a:effectLst>
            <a:outerShdw sx="100000" sy="100000" kx="0" ky="0" algn="bl" rotWithShape="0" blurRad="114300" dist="31750" dir="5400000">
              <a:srgbClr val="1D2433">
                <a:alpha val="12000"/>
              </a:srgbClr>
            </a:outerShdw>
          </a:effectLst>
        </p:spPr>
      </p:sp>
      <p:sp>
        <p:nvSpPr>
          <p:cNvPr id="11" name="Letter B"/>
          <p:cNvSpPr/>
          <p:nvPr/>
        </p:nvSpPr>
        <p:spPr>
          <a:xfrm>
            <a:off x="749808" y="4123373"/>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B</a:t>
            </a:r>
            <a:endParaRPr lang="en-US" sz="1600" dirty="0"/>
          </a:p>
        </p:txBody>
      </p:sp>
      <p:sp>
        <p:nvSpPr>
          <p:cNvPr id="12" name="Option B text"/>
          <p:cNvSpPr txBox="1"/>
          <p:nvPr/>
        </p:nvSpPr>
        <p:spPr>
          <a:xfrm>
            <a:off x="1371600" y="4042791"/>
            <a:ext cx="4233672" cy="581787"/>
          </a:xfrm>
          <a:prstGeom prst="rect">
            <a:avLst/>
          </a:prstGeom>
          <a:noFill/>
          <a:ln/>
        </p:spPr>
        <p:txBody>
          <a:bodyPr wrap="square" lIns="0" tIns="0" rIns="0" bIns="0" rtlCol="0" anchor="ctr"/>
          <a:lstStyle/>
          <a:p>
            <a:pPr indent="0" marL="0">
              <a:buNone/>
            </a:pPr>
            <a:r>
              <a:rPr lang="en-US" sz="1700" b="1" dirty="0">
                <a:solidFill>
                  <a:schemeClr val="bg1"/>
                </a:solidFill>
                <a:latin typeface="Consolas" pitchFamily="34" charset="0"/>
                <a:ea typeface="Consolas" pitchFamily="34" charset="-122"/>
                <a:cs typeface="Consolas" pitchFamily="34" charset="-120"/>
              </a:rPr>
              <a:t>Other code</a:t>
            </a:r>
            <a:endParaRPr lang="en-US" sz="1700" dirty="0"/>
          </a:p>
        </p:txBody>
      </p:sp>
      <p:pic>
        <p:nvPicPr>
          <p:cNvPr id="13" name="Image 0" descr="Correct mark">    </p:cNvPr>
          <p:cNvPicPr>
            <a:picLocks noChangeAspect="1"/>
          </p:cNvPicPr>
          <p:nvPr/>
        </p:nvPicPr>
        <p:blipFill>
          <a:blip r:embed="rId1"/>
          <a:stretch>
            <a:fillRect/>
          </a:stretch>
        </p:blipFill>
        <p:spPr>
          <a:xfrm>
            <a:off x="5623560" y="4150805"/>
            <a:ext cx="365760" cy="365760"/>
          </a:xfrm>
          <a:prstGeom prst="rect">
            <a:avLst/>
          </a:prstGeom>
        </p:spPr>
      </p:pic>
      <p:sp>
        <p:nvSpPr>
          <p:cNvPr id="14" name="Option C"/>
          <p:cNvSpPr/>
          <p:nvPr/>
        </p:nvSpPr>
        <p:spPr>
          <a:xfrm>
            <a:off x="548640" y="4770882"/>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5" name="Letter C"/>
          <p:cNvSpPr/>
          <p:nvPr/>
        </p:nvSpPr>
        <p:spPr>
          <a:xfrm>
            <a:off x="749808" y="4851464"/>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6" name="Option C text"/>
          <p:cNvSpPr txBox="1"/>
          <p:nvPr/>
        </p:nvSpPr>
        <p:spPr>
          <a:xfrm>
            <a:off x="1371600" y="4770882"/>
            <a:ext cx="4572000" cy="581787"/>
          </a:xfrm>
          <a:prstGeom prst="rect">
            <a:avLst/>
          </a:prstGeom>
          <a:noFill/>
          <a:ln/>
        </p:spPr>
        <p:txBody>
          <a:bodyPr wrap="square" lIns="0" tIns="0" rIns="0" bIns="0" rtlCol="0" anchor="ctr"/>
          <a:lstStyle/>
          <a:p>
            <a:pPr indent="0" marL="0">
              <a:buNone/>
            </a:pPr>
            <a:r>
              <a:rPr lang="en-US" sz="1700" dirty="0">
                <a:solidFill>
                  <a:schemeClr val="tx2"/>
                </a:solidFill>
              </a:rPr>
              <a:t>Nothing at all</a:t>
            </a:r>
            <a:endParaRPr lang="en-US" sz="1700" dirty="0"/>
          </a:p>
        </p:txBody>
      </p:sp>
      <p:sp>
        <p:nvSpPr>
          <p:cNvPr id="17" name="Option D"/>
          <p:cNvSpPr/>
          <p:nvPr/>
        </p:nvSpPr>
        <p:spPr>
          <a:xfrm>
            <a:off x="548640" y="5498973"/>
            <a:ext cx="5623560" cy="581787"/>
          </a:xfrm>
          <a:prstGeom prst="roundRect">
            <a:avLst>
              <a:gd name="adj" fmla="val 18861"/>
            </a:avLst>
          </a:prstGeom>
          <a:solidFill>
            <a:schemeClr val="bg1"/>
          </a:solidFill>
          <a:ln/>
          <a:effectLst>
            <a:outerShdw sx="100000" sy="100000" kx="0" ky="0" algn="bl" rotWithShape="0" blurRad="76200" dist="19050" dir="5400000">
              <a:srgbClr val="1D2433">
                <a:alpha val="8000"/>
              </a:srgbClr>
            </a:outerShdw>
          </a:effectLst>
        </p:spPr>
      </p:sp>
      <p:sp>
        <p:nvSpPr>
          <p:cNvPr id="18" name="Letter D"/>
          <p:cNvSpPr/>
          <p:nvPr/>
        </p:nvSpPr>
        <p:spPr>
          <a:xfrm>
            <a:off x="749808" y="5579555"/>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9" name="Option D text"/>
          <p:cNvSpPr txBox="1"/>
          <p:nvPr/>
        </p:nvSpPr>
        <p:spPr>
          <a:xfrm>
            <a:off x="1371600" y="5498973"/>
            <a:ext cx="4572000" cy="581787"/>
          </a:xfrm>
          <a:prstGeom prst="rect">
            <a:avLst/>
          </a:prstGeom>
          <a:noFill/>
          <a:ln/>
        </p:spPr>
        <p:txBody>
          <a:bodyPr wrap="square" lIns="0" tIns="0" rIns="0" bIns="0" rtlCol="0" anchor="ctr"/>
          <a:lstStyle/>
          <a:p>
            <a:pPr indent="0" marL="0">
              <a:buNone/>
            </a:pPr>
            <a:r>
              <a:rPr lang="en-US" sz="1700" dirty="0">
                <a:solidFill>
                  <a:schemeClr val="tx2"/>
                </a:solidFill>
                <a:latin typeface="Consolas" pitchFamily="34" charset="0"/>
                <a:ea typeface="Consolas" pitchFamily="34" charset="-122"/>
                <a:cs typeface="Consolas" pitchFamily="34" charset="-120"/>
              </a:rPr>
              <a:t>Too short</a:t>
            </a:r>
            <a:r>
              <a:rPr lang="en-US" sz="1700" dirty="0">
                <a:solidFill>
                  <a:schemeClr val="tx2"/>
                </a:solidFill>
              </a:rPr>
              <a:t>, then </a:t>
            </a:r>
            <a:r>
              <a:rPr lang="en-US" sz="1700" dirty="0">
                <a:solidFill>
                  <a:schemeClr val="tx2"/>
                </a:solidFill>
                <a:latin typeface="Consolas" pitchFamily="34" charset="0"/>
                <a:ea typeface="Consolas" pitchFamily="34" charset="-122"/>
                <a:cs typeface="Consolas" pitchFamily="34" charset="-120"/>
              </a:rPr>
              <a:t>Other code</a:t>
            </a:r>
            <a:endParaRPr lang="en-US" sz="1700" dirty="0"/>
          </a:p>
        </p:txBody>
      </p:sp>
      <p:sp>
        <p:nvSpPr>
          <p:cNvPr id="20" name="Why card"/>
          <p:cNvSpPr/>
          <p:nvPr/>
        </p:nvSpPr>
        <p:spPr>
          <a:xfrm>
            <a:off x="6492240" y="1874520"/>
            <a:ext cx="5150815" cy="4206240"/>
          </a:xfrm>
          <a:prstGeom prst="roundRect">
            <a:avLst>
              <a:gd name="adj" fmla="val 2609"/>
            </a:avLst>
          </a:prstGeom>
          <a:solidFill>
            <a:schemeClr val="bg1"/>
          </a:solidFill>
          <a:ln/>
          <a:effectLst>
            <a:outerShdw sx="100000" sy="100000" kx="0" ky="0" algn="bl" rotWithShape="0" blurRad="114300" dist="31750" dir="5400000">
              <a:srgbClr val="1D2433">
                <a:alpha val="12000"/>
              </a:srgbClr>
            </a:outerShdw>
          </a:effectLst>
        </p:spPr>
      </p:sp>
      <p:sp>
        <p:nvSpPr>
          <p:cNvPr id="21"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2"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3" name="Text 19"/>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4" name="Explanation"/>
          <p:cNvSpPr txBox="1"/>
          <p:nvPr/>
        </p:nvSpPr>
        <p:spPr>
          <a:xfrm>
            <a:off x="6812280" y="2971800"/>
            <a:ext cx="4510735" cy="2880360"/>
          </a:xfrm>
          <a:prstGeom prst="rect">
            <a:avLst/>
          </a:prstGeom>
          <a:noFill/>
          <a:ln/>
        </p:spPr>
        <p:txBody>
          <a:bodyPr wrap="square" lIns="0" tIns="0" rIns="0" bIns="0" rtlCol="0" anchor="t"/>
          <a:lstStyle/>
          <a:p>
            <a:pPr algn="l" indent="0" marL="0">
              <a:buNone/>
            </a:pPr>
            <a:r>
              <a:rPr lang="en-US" sz="1800" dirty="0">
                <a:solidFill>
                  <a:schemeClr val="tx1"/>
                </a:solidFill>
              </a:rPr>
              <a:t>The array has 4 elements, and 4 &gt; 2 is true, so the assert passes without a sound. The message is only used when the condition is false. The program carries on and prints </a:t>
            </a:r>
            <a:r>
              <a:rPr lang="en-US" sz="1800" dirty="0">
                <a:solidFill>
                  <a:schemeClr val="accent2"/>
                </a:solidFill>
                <a:latin typeface="Consolas" pitchFamily="34" charset="0"/>
                <a:ea typeface="Consolas" pitchFamily="34" charset="-122"/>
                <a:cs typeface="Consolas" pitchFamily="34" charset="-120"/>
              </a:rPr>
              <a:t>Other code</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ASSERT AND SAFE INPUT</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Input validation: only accept good input</a:t>
            </a:r>
            <a:endParaRPr lang="en-US" sz="3400" dirty="0"/>
          </a:p>
        </p:txBody>
      </p:sp>
      <p:sp>
        <p:nvSpPr>
          <p:cNvPr id="5" name="Text 2"/>
          <p:cNvSpPr txBox="1"/>
          <p:nvPr/>
        </p:nvSpPr>
        <p:spPr>
          <a:xfrm>
            <a:off x="548640" y="1691640"/>
            <a:ext cx="11094415" cy="411480"/>
          </a:xfrm>
          <a:prstGeom prst="rect">
            <a:avLst/>
          </a:prstGeom>
          <a:noFill/>
          <a:ln/>
        </p:spPr>
        <p:txBody>
          <a:bodyPr wrap="square" lIns="0" tIns="0" rIns="0" bIns="0" rtlCol="0" anchor="ctr"/>
          <a:lstStyle/>
          <a:p>
            <a:pPr algn="l" indent="0" marL="0">
              <a:buNone/>
            </a:pPr>
            <a:r>
              <a:rPr lang="en-US" sz="1700" dirty="0">
                <a:solidFill>
                  <a:schemeClr val="tx1"/>
                </a:solidFill>
              </a:rPr>
              <a:t>Validation tests what the user typed against rules we set. Four things to check:</a:t>
            </a:r>
            <a:endParaRPr lang="en-US" sz="1700" dirty="0"/>
          </a:p>
        </p:txBody>
      </p:sp>
      <p:sp>
        <p:nvSpPr>
          <p:cNvPr id="6" name="Type"/>
          <p:cNvSpPr/>
          <p:nvPr/>
        </p:nvSpPr>
        <p:spPr>
          <a:xfrm>
            <a:off x="548640" y="2240280"/>
            <a:ext cx="2567864" cy="2286000"/>
          </a:xfrm>
          <a:prstGeom prst="roundRect">
            <a:avLst>
              <a:gd name="adj" fmla="val 4800"/>
            </a:avLst>
          </a:prstGeom>
          <a:solidFill>
            <a:schemeClr val="bg1"/>
          </a:solidFill>
          <a:ln/>
          <a:effectLst>
            <a:outerShdw sx="100000" sy="100000" kx="0" ky="0" algn="bl" rotWithShape="0" blurRad="114300" dist="31750" dir="5400000">
              <a:srgbClr val="1D2433">
                <a:alpha val="12000"/>
              </a:srgbClr>
            </a:outerShdw>
          </a:effectLst>
        </p:spPr>
      </p:sp>
      <p:sp>
        <p:nvSpPr>
          <p:cNvPr id="7" name="Icon tile"/>
          <p:cNvSpPr/>
          <p:nvPr/>
        </p:nvSpPr>
        <p:spPr>
          <a:xfrm>
            <a:off x="822960" y="2514600"/>
            <a:ext cx="548640" cy="548640"/>
          </a:xfrm>
          <a:prstGeom prst="roundRect">
            <a:avLst>
              <a:gd name="adj" fmla="val 24000"/>
            </a:avLst>
          </a:prstGeom>
          <a:solidFill>
            <a:schemeClr val="accent2">
              <a:alpha val="14000"/>
            </a:schemeClr>
          </a:solidFill>
          <a:ln/>
        </p:spPr>
      </p:sp>
      <p:pic>
        <p:nvPicPr>
          <p:cNvPr id="8" name="Image 0" descr="number square one icon">    </p:cNvPr>
          <p:cNvPicPr>
            <a:picLocks noChangeAspect="1"/>
          </p:cNvPicPr>
          <p:nvPr/>
        </p:nvPicPr>
        <p:blipFill>
          <a:blip r:embed="rId1"/>
          <a:stretch>
            <a:fillRect/>
          </a:stretch>
        </p:blipFill>
        <p:spPr>
          <a:xfrm>
            <a:off x="938174" y="2629814"/>
            <a:ext cx="318211" cy="318211"/>
          </a:xfrm>
          <a:prstGeom prst="rect">
            <a:avLst/>
          </a:prstGeom>
        </p:spPr>
      </p:pic>
      <p:sp>
        <p:nvSpPr>
          <p:cNvPr id="9" name="Text 5"/>
          <p:cNvSpPr txBox="1"/>
          <p:nvPr/>
        </p:nvSpPr>
        <p:spPr>
          <a:xfrm>
            <a:off x="822960" y="3172968"/>
            <a:ext cx="2019224" cy="457200"/>
          </a:xfrm>
          <a:prstGeom prst="rect">
            <a:avLst/>
          </a:prstGeom>
          <a:noFill/>
          <a:ln/>
        </p:spPr>
        <p:txBody>
          <a:bodyPr wrap="square" lIns="0" tIns="0" rIns="0" bIns="0" rtlCol="0" anchor="ctr"/>
          <a:lstStyle/>
          <a:p>
            <a:pPr algn="l" indent="0" marL="0">
              <a:buNone/>
            </a:pPr>
            <a:r>
              <a:rPr lang="en-US" sz="1900" b="1" dirty="0">
                <a:solidFill>
                  <a:schemeClr val="tx1"/>
                </a:solidFill>
              </a:rPr>
              <a:t>Type</a:t>
            </a:r>
            <a:endParaRPr lang="en-US" sz="1900" dirty="0"/>
          </a:p>
        </p:txBody>
      </p:sp>
      <p:sp>
        <p:nvSpPr>
          <p:cNvPr id="10" name="Text 6"/>
          <p:cNvSpPr txBox="1"/>
          <p:nvPr/>
        </p:nvSpPr>
        <p:spPr>
          <a:xfrm>
            <a:off x="822960" y="3657600"/>
            <a:ext cx="2019224" cy="731520"/>
          </a:xfrm>
          <a:prstGeom prst="rect">
            <a:avLst/>
          </a:prstGeom>
          <a:noFill/>
          <a:ln/>
        </p:spPr>
        <p:txBody>
          <a:bodyPr wrap="square" lIns="0" tIns="0" rIns="0" bIns="0" rtlCol="0" anchor="t"/>
          <a:lstStyle/>
          <a:p>
            <a:pPr algn="l" indent="0" marL="0">
              <a:buNone/>
            </a:pPr>
            <a:r>
              <a:rPr lang="en-US" sz="1500" dirty="0">
                <a:solidFill>
                  <a:schemeClr val="tx2"/>
                </a:solidFill>
              </a:rPr>
              <a:t>The right kind of data: an age must be a whole number.</a:t>
            </a:r>
            <a:endParaRPr lang="en-US" sz="1500" dirty="0"/>
          </a:p>
        </p:txBody>
      </p:sp>
      <p:sp>
        <p:nvSpPr>
          <p:cNvPr id="11" name="Length"/>
          <p:cNvSpPr/>
          <p:nvPr/>
        </p:nvSpPr>
        <p:spPr>
          <a:xfrm>
            <a:off x="3390824" y="2240280"/>
            <a:ext cx="2567864" cy="2286000"/>
          </a:xfrm>
          <a:prstGeom prst="roundRect">
            <a:avLst>
              <a:gd name="adj" fmla="val 4800"/>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3665144" y="2514600"/>
            <a:ext cx="548640" cy="548640"/>
          </a:xfrm>
          <a:prstGeom prst="roundRect">
            <a:avLst>
              <a:gd name="adj" fmla="val 24000"/>
            </a:avLst>
          </a:prstGeom>
          <a:solidFill>
            <a:schemeClr val="accent4">
              <a:alpha val="14000"/>
            </a:schemeClr>
          </a:solidFill>
          <a:ln/>
        </p:spPr>
      </p:sp>
      <p:pic>
        <p:nvPicPr>
          <p:cNvPr id="13" name="Image 1" descr="ruler icon">    </p:cNvPr>
          <p:cNvPicPr>
            <a:picLocks noChangeAspect="1"/>
          </p:cNvPicPr>
          <p:nvPr/>
        </p:nvPicPr>
        <p:blipFill>
          <a:blip r:embed="rId2"/>
          <a:stretch>
            <a:fillRect/>
          </a:stretch>
        </p:blipFill>
        <p:spPr>
          <a:xfrm>
            <a:off x="3780358" y="2629814"/>
            <a:ext cx="318211" cy="318211"/>
          </a:xfrm>
          <a:prstGeom prst="rect">
            <a:avLst/>
          </a:prstGeom>
        </p:spPr>
      </p:pic>
      <p:sp>
        <p:nvSpPr>
          <p:cNvPr id="14" name="Text 9"/>
          <p:cNvSpPr txBox="1"/>
          <p:nvPr/>
        </p:nvSpPr>
        <p:spPr>
          <a:xfrm>
            <a:off x="3665144" y="3172968"/>
            <a:ext cx="2019224" cy="457200"/>
          </a:xfrm>
          <a:prstGeom prst="rect">
            <a:avLst/>
          </a:prstGeom>
          <a:noFill/>
          <a:ln/>
        </p:spPr>
        <p:txBody>
          <a:bodyPr wrap="square" lIns="0" tIns="0" rIns="0" bIns="0" rtlCol="0" anchor="ctr"/>
          <a:lstStyle/>
          <a:p>
            <a:pPr algn="l" indent="0" marL="0">
              <a:buNone/>
            </a:pPr>
            <a:r>
              <a:rPr lang="en-US" sz="1900" b="1" dirty="0">
                <a:solidFill>
                  <a:schemeClr val="tx1"/>
                </a:solidFill>
              </a:rPr>
              <a:t>Length</a:t>
            </a:r>
            <a:endParaRPr lang="en-US" sz="1900" dirty="0"/>
          </a:p>
        </p:txBody>
      </p:sp>
      <p:sp>
        <p:nvSpPr>
          <p:cNvPr id="15" name="Text 10"/>
          <p:cNvSpPr txBox="1"/>
          <p:nvPr/>
        </p:nvSpPr>
        <p:spPr>
          <a:xfrm>
            <a:off x="3665144" y="3657600"/>
            <a:ext cx="2019224" cy="731520"/>
          </a:xfrm>
          <a:prstGeom prst="rect">
            <a:avLst/>
          </a:prstGeom>
          <a:noFill/>
          <a:ln/>
        </p:spPr>
        <p:txBody>
          <a:bodyPr wrap="square" lIns="0" tIns="0" rIns="0" bIns="0" rtlCol="0" anchor="t"/>
          <a:lstStyle/>
          <a:p>
            <a:pPr algn="l" indent="0" marL="0">
              <a:buNone/>
            </a:pPr>
            <a:r>
              <a:rPr lang="en-US" sz="1500" dirty="0">
                <a:solidFill>
                  <a:schemeClr val="tx2"/>
                </a:solidFill>
              </a:rPr>
              <a:t>Not too long or short: a name of 40 letters at most.</a:t>
            </a:r>
            <a:endParaRPr lang="en-US" sz="1500" dirty="0"/>
          </a:p>
        </p:txBody>
      </p:sp>
      <p:sp>
        <p:nvSpPr>
          <p:cNvPr id="16" name="Range"/>
          <p:cNvSpPr/>
          <p:nvPr/>
        </p:nvSpPr>
        <p:spPr>
          <a:xfrm>
            <a:off x="6233008" y="2240280"/>
            <a:ext cx="2567864" cy="2286000"/>
          </a:xfrm>
          <a:prstGeom prst="roundRect">
            <a:avLst>
              <a:gd name="adj" fmla="val 4800"/>
            </a:avLst>
          </a:prstGeom>
          <a:solidFill>
            <a:schemeClr val="bg1"/>
          </a:solidFill>
          <a:ln/>
          <a:effectLst>
            <a:outerShdw sx="100000" sy="100000" kx="0" ky="0" algn="bl" rotWithShape="0" blurRad="114300" dist="31750" dir="5400000">
              <a:srgbClr val="1D2433">
                <a:alpha val="12000"/>
              </a:srgbClr>
            </a:outerShdw>
          </a:effectLst>
        </p:spPr>
      </p:sp>
      <p:sp>
        <p:nvSpPr>
          <p:cNvPr id="17" name="Icon tile"/>
          <p:cNvSpPr/>
          <p:nvPr/>
        </p:nvSpPr>
        <p:spPr>
          <a:xfrm>
            <a:off x="6507328" y="2514600"/>
            <a:ext cx="548640" cy="548640"/>
          </a:xfrm>
          <a:prstGeom prst="roundRect">
            <a:avLst>
              <a:gd name="adj" fmla="val 24000"/>
            </a:avLst>
          </a:prstGeom>
          <a:solidFill>
            <a:schemeClr val="accent1">
              <a:alpha val="14000"/>
            </a:schemeClr>
          </a:solidFill>
          <a:ln/>
        </p:spPr>
      </p:sp>
      <p:pic>
        <p:nvPicPr>
          <p:cNvPr id="18" name="Image 2" descr="thermometer icon">    </p:cNvPr>
          <p:cNvPicPr>
            <a:picLocks noChangeAspect="1"/>
          </p:cNvPicPr>
          <p:nvPr/>
        </p:nvPicPr>
        <p:blipFill>
          <a:blip r:embed="rId3"/>
          <a:stretch>
            <a:fillRect/>
          </a:stretch>
        </p:blipFill>
        <p:spPr>
          <a:xfrm>
            <a:off x="6622542" y="2629814"/>
            <a:ext cx="318211" cy="318211"/>
          </a:xfrm>
          <a:prstGeom prst="rect">
            <a:avLst/>
          </a:prstGeom>
        </p:spPr>
      </p:pic>
      <p:sp>
        <p:nvSpPr>
          <p:cNvPr id="19" name="Text 13"/>
          <p:cNvSpPr txBox="1"/>
          <p:nvPr/>
        </p:nvSpPr>
        <p:spPr>
          <a:xfrm>
            <a:off x="6507328" y="3172968"/>
            <a:ext cx="2019224" cy="457200"/>
          </a:xfrm>
          <a:prstGeom prst="rect">
            <a:avLst/>
          </a:prstGeom>
          <a:noFill/>
          <a:ln/>
        </p:spPr>
        <p:txBody>
          <a:bodyPr wrap="square" lIns="0" tIns="0" rIns="0" bIns="0" rtlCol="0" anchor="ctr"/>
          <a:lstStyle/>
          <a:p>
            <a:pPr algn="l" indent="0" marL="0">
              <a:buNone/>
            </a:pPr>
            <a:r>
              <a:rPr lang="en-US" sz="1900" b="1" dirty="0">
                <a:solidFill>
                  <a:schemeClr val="tx1"/>
                </a:solidFill>
              </a:rPr>
              <a:t>Range</a:t>
            </a:r>
            <a:endParaRPr lang="en-US" sz="1900" dirty="0"/>
          </a:p>
        </p:txBody>
      </p:sp>
      <p:sp>
        <p:nvSpPr>
          <p:cNvPr id="20" name="Text 14"/>
          <p:cNvSpPr txBox="1"/>
          <p:nvPr/>
        </p:nvSpPr>
        <p:spPr>
          <a:xfrm>
            <a:off x="6507328" y="3657600"/>
            <a:ext cx="2019224" cy="731520"/>
          </a:xfrm>
          <a:prstGeom prst="rect">
            <a:avLst/>
          </a:prstGeom>
          <a:noFill/>
          <a:ln/>
        </p:spPr>
        <p:txBody>
          <a:bodyPr wrap="square" lIns="0" tIns="0" rIns="0" bIns="0" rtlCol="0" anchor="t"/>
          <a:lstStyle/>
          <a:p>
            <a:pPr algn="l" indent="0" marL="0">
              <a:buNone/>
            </a:pPr>
            <a:r>
              <a:rPr lang="en-US" sz="1500" dirty="0">
                <a:solidFill>
                  <a:schemeClr val="tx2"/>
                </a:solidFill>
              </a:rPr>
              <a:t>A possible value: an age from 0 to 120.</a:t>
            </a:r>
            <a:endParaRPr lang="en-US" sz="1500" dirty="0"/>
          </a:p>
        </p:txBody>
      </p:sp>
      <p:sp>
        <p:nvSpPr>
          <p:cNvPr id="21" name="Content"/>
          <p:cNvSpPr/>
          <p:nvPr/>
        </p:nvSpPr>
        <p:spPr>
          <a:xfrm>
            <a:off x="9075191" y="2240280"/>
            <a:ext cx="2567864" cy="2286000"/>
          </a:xfrm>
          <a:prstGeom prst="roundRect">
            <a:avLst>
              <a:gd name="adj" fmla="val 4800"/>
            </a:avLst>
          </a:prstGeom>
          <a:solidFill>
            <a:schemeClr val="bg1"/>
          </a:solidFill>
          <a:ln/>
          <a:effectLst>
            <a:outerShdw sx="100000" sy="100000" kx="0" ky="0" algn="bl" rotWithShape="0" blurRad="114300" dist="31750" dir="5400000">
              <a:srgbClr val="1D2433">
                <a:alpha val="12000"/>
              </a:srgbClr>
            </a:outerShdw>
          </a:effectLst>
        </p:spPr>
      </p:sp>
      <p:sp>
        <p:nvSpPr>
          <p:cNvPr id="22" name="Icon tile"/>
          <p:cNvSpPr/>
          <p:nvPr/>
        </p:nvSpPr>
        <p:spPr>
          <a:xfrm>
            <a:off x="9349511" y="2514600"/>
            <a:ext cx="548640" cy="548640"/>
          </a:xfrm>
          <a:prstGeom prst="roundRect">
            <a:avLst>
              <a:gd name="adj" fmla="val 24000"/>
            </a:avLst>
          </a:prstGeom>
          <a:solidFill>
            <a:schemeClr val="accent5">
              <a:alpha val="14000"/>
            </a:schemeClr>
          </a:solidFill>
          <a:ln/>
        </p:spPr>
      </p:sp>
      <p:pic>
        <p:nvPicPr>
          <p:cNvPr id="23" name="Image 3" descr="text aa icon">    </p:cNvPr>
          <p:cNvPicPr>
            <a:picLocks noChangeAspect="1"/>
          </p:cNvPicPr>
          <p:nvPr/>
        </p:nvPicPr>
        <p:blipFill>
          <a:blip r:embed="rId4"/>
          <a:stretch>
            <a:fillRect/>
          </a:stretch>
        </p:blipFill>
        <p:spPr>
          <a:xfrm>
            <a:off x="9464726" y="2629814"/>
            <a:ext cx="318211" cy="318211"/>
          </a:xfrm>
          <a:prstGeom prst="rect">
            <a:avLst/>
          </a:prstGeom>
        </p:spPr>
      </p:pic>
      <p:sp>
        <p:nvSpPr>
          <p:cNvPr id="24" name="Text 17"/>
          <p:cNvSpPr txBox="1"/>
          <p:nvPr/>
        </p:nvSpPr>
        <p:spPr>
          <a:xfrm>
            <a:off x="9349511" y="3172968"/>
            <a:ext cx="2019224" cy="457200"/>
          </a:xfrm>
          <a:prstGeom prst="rect">
            <a:avLst/>
          </a:prstGeom>
          <a:noFill/>
          <a:ln/>
        </p:spPr>
        <p:txBody>
          <a:bodyPr wrap="square" lIns="0" tIns="0" rIns="0" bIns="0" rtlCol="0" anchor="ctr"/>
          <a:lstStyle/>
          <a:p>
            <a:pPr algn="l" indent="0" marL="0">
              <a:buNone/>
            </a:pPr>
            <a:r>
              <a:rPr lang="en-US" sz="1900" b="1" dirty="0">
                <a:solidFill>
                  <a:schemeClr val="tx1"/>
                </a:solidFill>
              </a:rPr>
              <a:t>Content</a:t>
            </a:r>
            <a:endParaRPr lang="en-US" sz="1900" dirty="0"/>
          </a:p>
        </p:txBody>
      </p:sp>
      <p:sp>
        <p:nvSpPr>
          <p:cNvPr id="25" name="Text 18"/>
          <p:cNvSpPr txBox="1"/>
          <p:nvPr/>
        </p:nvSpPr>
        <p:spPr>
          <a:xfrm>
            <a:off x="9349511" y="3657600"/>
            <a:ext cx="2019224" cy="731520"/>
          </a:xfrm>
          <a:prstGeom prst="rect">
            <a:avLst/>
          </a:prstGeom>
          <a:noFill/>
          <a:ln/>
        </p:spPr>
        <p:txBody>
          <a:bodyPr wrap="square" lIns="0" tIns="0" rIns="0" bIns="0" rtlCol="0" anchor="t"/>
          <a:lstStyle/>
          <a:p>
            <a:pPr algn="l" indent="0" marL="0">
              <a:buNone/>
            </a:pPr>
            <a:r>
              <a:rPr lang="en-US" sz="1500" dirty="0">
                <a:solidFill>
                  <a:schemeClr val="tx2"/>
                </a:solidFill>
              </a:rPr>
              <a:t>Only allowed characters: no </a:t>
            </a:r>
            <a:r>
              <a:rPr lang="en-US" sz="1500" dirty="0">
                <a:solidFill>
                  <a:schemeClr val="accent2"/>
                </a:solidFill>
                <a:latin typeface="Consolas" pitchFamily="34" charset="0"/>
                <a:ea typeface="Consolas" pitchFamily="34" charset="-122"/>
                <a:cs typeface="Consolas" pitchFamily="34" charset="-120"/>
              </a:rPr>
              <a:t>;</a:t>
            </a:r>
            <a:r>
              <a:rPr lang="en-US" sz="1500" dirty="0">
                <a:solidFill>
                  <a:schemeClr val="tx2"/>
                </a:solidFill>
              </a:rPr>
              <a:t> or </a:t>
            </a:r>
            <a:r>
              <a:rPr lang="en-US" sz="1500" dirty="0">
                <a:solidFill>
                  <a:schemeClr val="accent2"/>
                </a:solidFill>
                <a:latin typeface="Consolas" pitchFamily="34" charset="0"/>
                <a:ea typeface="Consolas" pitchFamily="34" charset="-122"/>
                <a:cs typeface="Consolas" pitchFamily="34" charset="-120"/>
              </a:rPr>
              <a:t>=</a:t>
            </a:r>
            <a:r>
              <a:rPr lang="en-US" sz="1500" dirty="0">
                <a:solidFill>
                  <a:schemeClr val="tx2"/>
                </a:solidFill>
              </a:rPr>
              <a:t> in a name.</a:t>
            </a:r>
            <a:endParaRPr lang="en-US" sz="1500" dirty="0"/>
          </a:p>
        </p:txBody>
      </p:sp>
      <p:sp>
        <p:nvSpPr>
          <p:cNvPr id="26" name="Text 19"/>
          <p:cNvSpPr txBox="1"/>
          <p:nvPr/>
        </p:nvSpPr>
        <p:spPr>
          <a:xfrm>
            <a:off x="548640" y="4754880"/>
            <a:ext cx="5486400" cy="274320"/>
          </a:xfrm>
          <a:prstGeom prst="rect">
            <a:avLst/>
          </a:prstGeom>
          <a:noFill/>
          <a:ln/>
        </p:spPr>
        <p:txBody>
          <a:bodyPr wrap="square" lIns="0" tIns="0" rIns="0" bIns="0" rtlCol="0" anchor="t"/>
          <a:lstStyle/>
          <a:p>
            <a:pPr algn="l" indent="0" marL="0">
              <a:buNone/>
            </a:pPr>
            <a:r>
              <a:rPr lang="en-US" sz="1350" b="1" dirty="0">
                <a:solidFill>
                  <a:schemeClr val="tx2"/>
                </a:solidFill>
              </a:rPr>
              <a:t>Four ways to check</a:t>
            </a:r>
            <a:endParaRPr lang="en-US" sz="1350" dirty="0"/>
          </a:p>
        </p:txBody>
      </p:sp>
      <p:sp>
        <p:nvSpPr>
          <p:cNvPr id="27" name="Code chip"/>
          <p:cNvSpPr/>
          <p:nvPr/>
        </p:nvSpPr>
        <p:spPr>
          <a:xfrm>
            <a:off x="548640" y="5074920"/>
            <a:ext cx="2636215"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250" dirty="0">
                <a:solidFill>
                  <a:schemeClr val="accent2"/>
                </a:solidFill>
                <a:latin typeface="Consolas" pitchFamily="34" charset="0"/>
                <a:ea typeface="Consolas" pitchFamily="34" charset="-122"/>
                <a:cs typeface="Consolas" pitchFamily="34" charset="-120"/>
              </a:rPr>
              <a:t>if (age &gt; 120)</a:t>
            </a:r>
            <a:endParaRPr lang="en-US" sz="1250" dirty="0"/>
          </a:p>
        </p:txBody>
      </p:sp>
      <p:sp>
        <p:nvSpPr>
          <p:cNvPr id="28" name="Text 21"/>
          <p:cNvSpPr txBox="1"/>
          <p:nvPr/>
        </p:nvSpPr>
        <p:spPr>
          <a:xfrm>
            <a:off x="548640" y="5596128"/>
            <a:ext cx="2636215" cy="274320"/>
          </a:xfrm>
          <a:prstGeom prst="rect">
            <a:avLst/>
          </a:prstGeom>
          <a:noFill/>
          <a:ln/>
        </p:spPr>
        <p:txBody>
          <a:bodyPr wrap="square" lIns="0" tIns="0" rIns="0" bIns="0" rtlCol="0" anchor="t"/>
          <a:lstStyle/>
          <a:p>
            <a:pPr algn="ctr" indent="0" marL="0">
              <a:buNone/>
            </a:pPr>
            <a:r>
              <a:rPr lang="en-US" sz="1300" dirty="0">
                <a:solidFill>
                  <a:schemeClr val="tx2"/>
                </a:solidFill>
              </a:rPr>
              <a:t>Conditionals</a:t>
            </a:r>
            <a:endParaRPr lang="en-US" sz="1300" dirty="0"/>
          </a:p>
        </p:txBody>
      </p:sp>
      <p:sp>
        <p:nvSpPr>
          <p:cNvPr id="29" name="Code chip"/>
          <p:cNvSpPr/>
          <p:nvPr/>
        </p:nvSpPr>
        <p:spPr>
          <a:xfrm>
            <a:off x="3367735" y="5074920"/>
            <a:ext cx="2636215"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250" dirty="0">
                <a:solidFill>
                  <a:schemeClr val="accent2"/>
                </a:solidFill>
                <a:latin typeface="Consolas" pitchFamily="34" charset="0"/>
                <a:ea typeface="Consolas" pitchFamily="34" charset="-122"/>
                <a:cs typeface="Consolas" pitchFamily="34" charset="-120"/>
              </a:rPr>
              <a:t>in.hasNextInt()</a:t>
            </a:r>
            <a:endParaRPr lang="en-US" sz="1250" dirty="0"/>
          </a:p>
        </p:txBody>
      </p:sp>
      <p:sp>
        <p:nvSpPr>
          <p:cNvPr id="30" name="Text 23"/>
          <p:cNvSpPr txBox="1"/>
          <p:nvPr/>
        </p:nvSpPr>
        <p:spPr>
          <a:xfrm>
            <a:off x="3367735" y="5596128"/>
            <a:ext cx="2636215" cy="274320"/>
          </a:xfrm>
          <a:prstGeom prst="rect">
            <a:avLst/>
          </a:prstGeom>
          <a:noFill/>
          <a:ln/>
        </p:spPr>
        <p:txBody>
          <a:bodyPr wrap="square" lIns="0" tIns="0" rIns="0" bIns="0" rtlCol="0" anchor="t"/>
          <a:lstStyle/>
          <a:p>
            <a:pPr algn="ctr" indent="0" marL="0">
              <a:buNone/>
            </a:pPr>
            <a:r>
              <a:rPr lang="en-US" sz="1300" dirty="0">
                <a:solidFill>
                  <a:schemeClr val="tx2"/>
                </a:solidFill>
              </a:rPr>
              <a:t>Scanner.hasNext</a:t>
            </a:r>
            <a:endParaRPr lang="en-US" sz="1300" dirty="0"/>
          </a:p>
        </p:txBody>
      </p:sp>
      <p:sp>
        <p:nvSpPr>
          <p:cNvPr id="31" name="Code chip"/>
          <p:cNvSpPr/>
          <p:nvPr/>
        </p:nvSpPr>
        <p:spPr>
          <a:xfrm>
            <a:off x="6186830" y="5074920"/>
            <a:ext cx="2636215"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150" dirty="0">
                <a:solidFill>
                  <a:schemeClr val="accent2"/>
                </a:solidFill>
                <a:latin typeface="Consolas" pitchFamily="34" charset="0"/>
                <a:ea typeface="Consolas" pitchFamily="34" charset="-122"/>
                <a:cs typeface="Consolas" pitchFamily="34" charset="-120"/>
              </a:rPr>
              <a:t>name.matches("[A-Za-z' -]+")</a:t>
            </a:r>
            <a:endParaRPr lang="en-US" sz="1150" dirty="0"/>
          </a:p>
        </p:txBody>
      </p:sp>
      <p:sp>
        <p:nvSpPr>
          <p:cNvPr id="32" name="Text 25"/>
          <p:cNvSpPr txBox="1"/>
          <p:nvPr/>
        </p:nvSpPr>
        <p:spPr>
          <a:xfrm>
            <a:off x="6186830" y="5596128"/>
            <a:ext cx="2636215" cy="274320"/>
          </a:xfrm>
          <a:prstGeom prst="rect">
            <a:avLst/>
          </a:prstGeom>
          <a:noFill/>
          <a:ln/>
        </p:spPr>
        <p:txBody>
          <a:bodyPr wrap="square" lIns="0" tIns="0" rIns="0" bIns="0" rtlCol="0" anchor="t"/>
          <a:lstStyle/>
          <a:p>
            <a:pPr algn="ctr" indent="0" marL="0">
              <a:buNone/>
            </a:pPr>
            <a:r>
              <a:rPr lang="en-US" sz="1300" dirty="0">
                <a:solidFill>
                  <a:schemeClr val="tx2"/>
                </a:solidFill>
              </a:rPr>
              <a:t>Regex</a:t>
            </a:r>
            <a:endParaRPr lang="en-US" sz="1300" dirty="0"/>
          </a:p>
        </p:txBody>
      </p:sp>
      <p:sp>
        <p:nvSpPr>
          <p:cNvPr id="33" name="Code chip"/>
          <p:cNvSpPr/>
          <p:nvPr/>
        </p:nvSpPr>
        <p:spPr>
          <a:xfrm>
            <a:off x="9005926" y="5074920"/>
            <a:ext cx="2636215"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250" dirty="0">
                <a:solidFill>
                  <a:schemeClr val="accent2"/>
                </a:solidFill>
                <a:latin typeface="Consolas" pitchFamily="34" charset="0"/>
                <a:ea typeface="Consolas" pitchFamily="34" charset="-122"/>
                <a:cs typeface="Consolas" pitchFamily="34" charset="-120"/>
              </a:rPr>
              <a:t>try { ... } catch</a:t>
            </a:r>
            <a:endParaRPr lang="en-US" sz="1250" dirty="0"/>
          </a:p>
        </p:txBody>
      </p:sp>
      <p:sp>
        <p:nvSpPr>
          <p:cNvPr id="34" name="Text 27"/>
          <p:cNvSpPr txBox="1"/>
          <p:nvPr/>
        </p:nvSpPr>
        <p:spPr>
          <a:xfrm>
            <a:off x="9005926" y="5596128"/>
            <a:ext cx="2636215" cy="274320"/>
          </a:xfrm>
          <a:prstGeom prst="rect">
            <a:avLst/>
          </a:prstGeom>
          <a:noFill/>
          <a:ln/>
        </p:spPr>
        <p:txBody>
          <a:bodyPr wrap="square" lIns="0" tIns="0" rIns="0" bIns="0" rtlCol="0" anchor="t"/>
          <a:lstStyle/>
          <a:p>
            <a:pPr algn="ctr" indent="0" marL="0">
              <a:buNone/>
            </a:pPr>
            <a:r>
              <a:rPr lang="en-US" sz="1300" dirty="0">
                <a:solidFill>
                  <a:schemeClr val="tx2"/>
                </a:solidFill>
              </a:rPr>
              <a:t>try / catch</a:t>
            </a:r>
            <a:endParaRPr lang="en-US" sz="13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22</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Input validation</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A user enters 250 as their age. Which check should reject it?</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Type: is it a whole number?</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Length: is it too long?</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Range: is the value possible?</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Content: only allowed characters?</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22</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Input validation</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A user enters 250 as their age. Which check should reject it?</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Type: is it a whole number?</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Length: is it too long?</a:t>
            </a:r>
            <a:endParaRPr lang="en-US"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3" name="Option C text"/>
          <p:cNvSpPr txBox="1"/>
          <p:nvPr/>
        </p:nvSpPr>
        <p:spPr>
          <a:xfrm>
            <a:off x="1371600" y="3721608"/>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Range: is the value possible?</a:t>
            </a:r>
            <a:endParaRPr lang="en-US" sz="1700" dirty="0"/>
          </a:p>
        </p:txBody>
      </p:sp>
      <p:pic>
        <p:nvPicPr>
          <p:cNvPr id="14" name="Image 0"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Content: only allowed characters?</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250 is a whole number, it’s short, and it only uses digits, so the type, length and content checks all pass. But nobody is 250 years old: the range check, from 0 to 120, should reject it.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ASSERT AND SAFE INPUT</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Checking the type before reading it</a:t>
            </a:r>
            <a:endParaRPr lang="en-US" sz="3400" dirty="0"/>
          </a:p>
        </p:txBody>
      </p:sp>
      <p:sp>
        <p:nvSpPr>
          <p:cNvPr id="5" name="hasNextInt card"/>
          <p:cNvSpPr/>
          <p:nvPr/>
        </p:nvSpPr>
        <p:spPr>
          <a:xfrm>
            <a:off x="548640" y="1691640"/>
            <a:ext cx="6309360" cy="2845308"/>
          </a:xfrm>
          <a:prstGeom prst="roundRect">
            <a:avLst>
              <a:gd name="adj" fmla="val 3856"/>
            </a:avLst>
          </a:prstGeom>
          <a:solidFill>
            <a:schemeClr val="tx1"/>
          </a:solidFill>
          <a:ln/>
          <a:effectLst>
            <a:outerShdw sx="100000" sy="100000" kx="0" ky="0" algn="bl" rotWithShape="0" blurRad="114300" dist="31750" dir="5400000">
              <a:srgbClr val="1D2433">
                <a:alpha val="12000"/>
              </a:srgbClr>
            </a:outerShdw>
          </a:effectLst>
        </p:spPr>
      </p:sp>
      <p:sp>
        <p:nvSpPr>
          <p:cNvPr id="6" name="hasNextInt label"/>
          <p:cNvSpPr txBox="1"/>
          <p:nvPr/>
        </p:nvSpPr>
        <p:spPr>
          <a:xfrm>
            <a:off x="822960" y="1810512"/>
            <a:ext cx="576072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Java</a:t>
            </a:r>
            <a:endParaRPr lang="en-US" sz="1050" dirty="0"/>
          </a:p>
        </p:txBody>
      </p:sp>
      <p:sp>
        <p:nvSpPr>
          <p:cNvPr id="7" name="hasNextInt text"/>
          <p:cNvSpPr txBox="1"/>
          <p:nvPr/>
        </p:nvSpPr>
        <p:spPr>
          <a:xfrm>
            <a:off x="822960" y="2185416"/>
            <a:ext cx="5760720" cy="2150364"/>
          </a:xfrm>
          <a:prstGeom prst="rect">
            <a:avLst/>
          </a:prstGeom>
          <a:noFill/>
          <a:ln/>
        </p:spPr>
        <p:txBody>
          <a:bodyPr wrap="square" lIns="0" tIns="0" rIns="0" bIns="0" rtlCol="0" anchor="t"/>
          <a:lstStyle/>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Scanner </a:t>
            </a:r>
            <a:r>
              <a:rPr lang="en-US" sz="1250" dirty="0">
                <a:solidFill>
                  <a:srgbClr val="E6EBF2"/>
                </a:solidFill>
                <a:latin typeface="Consolas" pitchFamily="34" charset="0"/>
                <a:ea typeface="Consolas" pitchFamily="34" charset="-122"/>
                <a:cs typeface="Consolas" pitchFamily="34" charset="-120"/>
              </a:rPr>
              <a:t>in = </a:t>
            </a:r>
            <a:r>
              <a:rPr lang="en-US" sz="1250" dirty="0">
                <a:solidFill>
                  <a:srgbClr val="FF9F5A"/>
                </a:solidFill>
                <a:latin typeface="Consolas" pitchFamily="34" charset="0"/>
                <a:ea typeface="Consolas" pitchFamily="34" charset="-122"/>
                <a:cs typeface="Consolas" pitchFamily="34" charset="-120"/>
              </a:rPr>
              <a:t>new </a:t>
            </a:r>
            <a:r>
              <a:rPr lang="en-US" sz="1250" dirty="0">
                <a:solidFill>
                  <a:srgbClr val="C9B0FF"/>
                </a:solidFill>
                <a:latin typeface="Consolas" pitchFamily="34" charset="0"/>
                <a:ea typeface="Consolas" pitchFamily="34" charset="-122"/>
                <a:cs typeface="Consolas" pitchFamily="34" charset="-120"/>
              </a:rPr>
              <a:t>Scanner</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.in);</a:t>
            </a:r>
            <a:endParaRPr lang="en-US" sz="1250" dirty="0"/>
          </a:p>
          <a:p>
            <a:pPr indent="0" marL="0">
              <a:lnSpc>
                <a:spcPts val="1650"/>
              </a:lnSpc>
              <a:buNone/>
            </a:pP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"Enter your age: "</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FF9F5A"/>
                </a:solidFill>
                <a:latin typeface="Consolas" pitchFamily="34" charset="0"/>
                <a:ea typeface="Consolas" pitchFamily="34" charset="-122"/>
                <a:cs typeface="Consolas" pitchFamily="34" charset="-120"/>
              </a:rPr>
              <a:t>while </a:t>
            </a:r>
            <a:r>
              <a:rPr lang="en-US" sz="1250" dirty="0">
                <a:solidFill>
                  <a:srgbClr val="E6EBF2"/>
                </a:solidFill>
                <a:latin typeface="Consolas" pitchFamily="34" charset="0"/>
                <a:ea typeface="Consolas" pitchFamily="34" charset="-122"/>
                <a:cs typeface="Consolas" pitchFamily="34" charset="-120"/>
              </a:rPr>
              <a:t>(!in.</a:t>
            </a:r>
            <a:r>
              <a:rPr lang="en-US" sz="1250" dirty="0">
                <a:solidFill>
                  <a:srgbClr val="C9B0FF"/>
                </a:solidFill>
                <a:latin typeface="Consolas" pitchFamily="34" charset="0"/>
                <a:ea typeface="Consolas" pitchFamily="34" charset="-122"/>
                <a:cs typeface="Consolas" pitchFamily="34" charset="-120"/>
              </a:rPr>
              <a:t>hasNextInt</a:t>
            </a:r>
            <a:r>
              <a:rPr lang="en-US" sz="1250" dirty="0">
                <a:solidFill>
                  <a:srgbClr val="E6EBF2"/>
                </a:solidFill>
                <a:latin typeface="Consolas" pitchFamily="34" charset="0"/>
                <a:ea typeface="Consolas" pitchFamily="34" charset="-122"/>
                <a:cs typeface="Consolas" pitchFamily="34" charset="-120"/>
              </a:rPr>
              <a:t>()) {</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"Please type a whole number: "</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in.</a:t>
            </a:r>
            <a:r>
              <a:rPr lang="en-US" sz="1250" dirty="0">
                <a:solidFill>
                  <a:srgbClr val="C9B0FF"/>
                </a:solidFill>
                <a:latin typeface="Consolas" pitchFamily="34" charset="0"/>
                <a:ea typeface="Consolas" pitchFamily="34" charset="-122"/>
                <a:cs typeface="Consolas" pitchFamily="34" charset="-120"/>
              </a:rPr>
              <a:t>next</a:t>
            </a:r>
            <a:r>
              <a:rPr lang="en-US" sz="1250" dirty="0">
                <a:solidFill>
                  <a:srgbClr val="E6EBF2"/>
                </a:solidFill>
                <a:latin typeface="Consolas" pitchFamily="34" charset="0"/>
                <a:ea typeface="Consolas" pitchFamily="34" charset="-122"/>
                <a:cs typeface="Consolas" pitchFamily="34" charset="-120"/>
              </a:rPr>
              <a:t>();               </a:t>
            </a:r>
            <a:r>
              <a:rPr lang="en-US" sz="1250" i="1" dirty="0">
                <a:solidFill>
                  <a:srgbClr val="A3AEC2"/>
                </a:solidFill>
                <a:latin typeface="Consolas" pitchFamily="34" charset="0"/>
                <a:ea typeface="Consolas" pitchFamily="34" charset="-122"/>
                <a:cs typeface="Consolas" pitchFamily="34" charset="-120"/>
              </a:rPr>
              <a:t>// throw away what they typed</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FF9F5A"/>
                </a:solidFill>
                <a:latin typeface="Consolas" pitchFamily="34" charset="0"/>
                <a:ea typeface="Consolas" pitchFamily="34" charset="-122"/>
                <a:cs typeface="Consolas" pitchFamily="34" charset="-120"/>
              </a:rPr>
              <a:t>int </a:t>
            </a:r>
            <a:r>
              <a:rPr lang="en-US" sz="1250" dirty="0">
                <a:solidFill>
                  <a:srgbClr val="E6EBF2"/>
                </a:solidFill>
                <a:latin typeface="Consolas" pitchFamily="34" charset="0"/>
                <a:ea typeface="Consolas" pitchFamily="34" charset="-122"/>
                <a:cs typeface="Consolas" pitchFamily="34" charset="-120"/>
              </a:rPr>
              <a:t>age = in.</a:t>
            </a:r>
            <a:r>
              <a:rPr lang="en-US" sz="1250" dirty="0">
                <a:solidFill>
                  <a:srgbClr val="C9B0FF"/>
                </a:solidFill>
                <a:latin typeface="Consolas" pitchFamily="34" charset="0"/>
                <a:ea typeface="Consolas" pitchFamily="34" charset="-122"/>
                <a:cs typeface="Consolas" pitchFamily="34" charset="-120"/>
              </a:rPr>
              <a:t>nextInt</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FF9F5A"/>
                </a:solidFill>
                <a:latin typeface="Consolas" pitchFamily="34" charset="0"/>
                <a:ea typeface="Consolas" pitchFamily="34" charset="-122"/>
                <a:cs typeface="Consolas" pitchFamily="34" charset="-120"/>
              </a:rPr>
              <a:t>if </a:t>
            </a:r>
            <a:r>
              <a:rPr lang="en-US" sz="1250" dirty="0">
                <a:solidFill>
                  <a:srgbClr val="E6EBF2"/>
                </a:solidFill>
                <a:latin typeface="Consolas" pitchFamily="34" charset="0"/>
                <a:ea typeface="Consolas" pitchFamily="34" charset="-122"/>
                <a:cs typeface="Consolas" pitchFamily="34" charset="-120"/>
              </a:rPr>
              <a:t>(age &lt; </a:t>
            </a:r>
            <a:r>
              <a:rPr lang="en-US" sz="1250" dirty="0">
                <a:solidFill>
                  <a:srgbClr val="F2C14E"/>
                </a:solidFill>
                <a:latin typeface="Consolas" pitchFamily="34" charset="0"/>
                <a:ea typeface="Consolas" pitchFamily="34" charset="-122"/>
                <a:cs typeface="Consolas" pitchFamily="34" charset="-120"/>
              </a:rPr>
              <a:t>0 </a:t>
            </a:r>
            <a:r>
              <a:rPr lang="en-US" sz="1250" dirty="0">
                <a:solidFill>
                  <a:srgbClr val="E6EBF2"/>
                </a:solidFill>
                <a:latin typeface="Consolas" pitchFamily="34" charset="0"/>
                <a:ea typeface="Consolas" pitchFamily="34" charset="-122"/>
                <a:cs typeface="Consolas" pitchFamily="34" charset="-120"/>
              </a:rPr>
              <a:t>|| age &gt; </a:t>
            </a:r>
            <a:r>
              <a:rPr lang="en-US" sz="1250" dirty="0">
                <a:solidFill>
                  <a:srgbClr val="F2C14E"/>
                </a:solidFill>
                <a:latin typeface="Consolas" pitchFamily="34" charset="0"/>
                <a:ea typeface="Consolas" pitchFamily="34" charset="-122"/>
                <a:cs typeface="Consolas" pitchFamily="34" charset="-120"/>
              </a:rPr>
              <a:t>120</a:t>
            </a:r>
            <a:r>
              <a:rPr lang="en-US" sz="1250" dirty="0">
                <a:solidFill>
                  <a:srgbClr val="E6EBF2"/>
                </a:solidFill>
                <a:latin typeface="Consolas" pitchFamily="34" charset="0"/>
                <a:ea typeface="Consolas" pitchFamily="34" charset="-122"/>
                <a:cs typeface="Consolas" pitchFamily="34" charset="-120"/>
              </a:rPr>
              <a:t>) {</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    </a:t>
            </a:r>
            <a:r>
              <a:rPr lang="en-US" sz="1250" dirty="0">
                <a:solidFill>
                  <a:srgbClr val="6CC4E8"/>
                </a:solidFill>
                <a:latin typeface="Consolas" pitchFamily="34" charset="0"/>
                <a:ea typeface="Consolas" pitchFamily="34" charset="-122"/>
                <a:cs typeface="Consolas" pitchFamily="34" charset="-120"/>
              </a:rPr>
              <a:t>System</a:t>
            </a:r>
            <a:r>
              <a:rPr lang="en-US" sz="1250" dirty="0">
                <a:solidFill>
                  <a:srgbClr val="E6EBF2"/>
                </a:solidFill>
                <a:latin typeface="Consolas" pitchFamily="34" charset="0"/>
                <a:ea typeface="Consolas" pitchFamily="34" charset="-122"/>
                <a:cs typeface="Consolas" pitchFamily="34" charset="-120"/>
              </a:rPr>
              <a:t>.out.</a:t>
            </a:r>
            <a:r>
              <a:rPr lang="en-US" sz="1250" dirty="0">
                <a:solidFill>
                  <a:srgbClr val="C9B0FF"/>
                </a:solidFill>
                <a:latin typeface="Consolas" pitchFamily="34" charset="0"/>
                <a:ea typeface="Consolas" pitchFamily="34" charset="-122"/>
                <a:cs typeface="Consolas" pitchFamily="34" charset="-120"/>
              </a:rPr>
              <a:t>println</a:t>
            </a:r>
            <a:r>
              <a:rPr lang="en-US" sz="1250" dirty="0">
                <a:solidFill>
                  <a:srgbClr val="E6EBF2"/>
                </a:solidFill>
                <a:latin typeface="Consolas" pitchFamily="34" charset="0"/>
                <a:ea typeface="Consolas" pitchFamily="34" charset="-122"/>
                <a:cs typeface="Consolas" pitchFamily="34" charset="-120"/>
              </a:rPr>
              <a:t>(</a:t>
            </a:r>
            <a:r>
              <a:rPr lang="en-US" sz="1250" dirty="0">
                <a:solidFill>
                  <a:srgbClr val="A9DB8C"/>
                </a:solidFill>
                <a:latin typeface="Consolas" pitchFamily="34" charset="0"/>
                <a:ea typeface="Consolas" pitchFamily="34" charset="-122"/>
                <a:cs typeface="Consolas" pitchFamily="34" charset="-120"/>
              </a:rPr>
              <a:t>"That age isn't possible"</a:t>
            </a:r>
            <a:r>
              <a:rPr lang="en-US" sz="1250" dirty="0">
                <a:solidFill>
                  <a:srgbClr val="E6EBF2"/>
                </a:solidFill>
                <a:latin typeface="Consolas" pitchFamily="34" charset="0"/>
                <a:ea typeface="Consolas" pitchFamily="34" charset="-122"/>
                <a:cs typeface="Consolas" pitchFamily="34" charset="-120"/>
              </a:rPr>
              <a:t>);</a:t>
            </a:r>
            <a:endParaRPr lang="en-US" sz="1250" dirty="0"/>
          </a:p>
          <a:p>
            <a:pPr indent="0" marL="0">
              <a:lnSpc>
                <a:spcPts val="1650"/>
              </a:lnSpc>
              <a:buNone/>
            </a:pPr>
            <a:r>
              <a:rPr lang="en-US" sz="1250" dirty="0">
                <a:solidFill>
                  <a:srgbClr val="E6EBF2"/>
                </a:solidFill>
                <a:latin typeface="Consolas" pitchFamily="34" charset="0"/>
                <a:ea typeface="Consolas" pitchFamily="34" charset="-122"/>
                <a:cs typeface="Consolas" pitchFamily="34" charset="-120"/>
              </a:rPr>
              <a:t>}</a:t>
            </a:r>
            <a:endParaRPr lang="en-US" sz="1250" dirty="0"/>
          </a:p>
        </p:txBody>
      </p:sp>
      <p:sp>
        <p:nvSpPr>
          <p:cNvPr id="8" name="Output card"/>
          <p:cNvSpPr/>
          <p:nvPr/>
        </p:nvSpPr>
        <p:spPr>
          <a:xfrm>
            <a:off x="548640" y="4709160"/>
            <a:ext cx="6309360" cy="1392746"/>
          </a:xfrm>
          <a:prstGeom prst="roundRect">
            <a:avLst>
              <a:gd name="adj" fmla="val 7879"/>
            </a:avLst>
          </a:prstGeom>
          <a:solidFill>
            <a:schemeClr val="tx1"/>
          </a:solidFill>
          <a:ln/>
          <a:effectLst>
            <a:outerShdw sx="100000" sy="100000" kx="0" ky="0" algn="bl" rotWithShape="0" blurRad="114300" dist="31750" dir="5400000">
              <a:srgbClr val="1D2433">
                <a:alpha val="12000"/>
              </a:srgbClr>
            </a:outerShdw>
          </a:effectLst>
        </p:spPr>
      </p:sp>
      <p:sp>
        <p:nvSpPr>
          <p:cNvPr id="9" name="Output label"/>
          <p:cNvSpPr txBox="1"/>
          <p:nvPr/>
        </p:nvSpPr>
        <p:spPr>
          <a:xfrm>
            <a:off x="822960" y="4828032"/>
            <a:ext cx="5760720" cy="219456"/>
          </a:xfrm>
          <a:prstGeom prst="rect">
            <a:avLst/>
          </a:prstGeom>
          <a:noFill/>
          <a:ln/>
        </p:spPr>
        <p:txBody>
          <a:bodyPr wrap="square" lIns="0" tIns="0" rIns="0" bIns="0" rtlCol="0" anchor="ctr"/>
          <a:lstStyle/>
          <a:p>
            <a:pPr algn="r" indent="0" marL="0">
              <a:buNone/>
            </a:pPr>
            <a:r>
              <a:rPr lang="en-US" sz="1050" b="1" dirty="0">
                <a:solidFill>
                  <a:schemeClr val="bg1">
                    <a:alpha val="55000"/>
                  </a:schemeClr>
                </a:solidFill>
              </a:rPr>
              <a:t>Output   (yellow: what the user typed)</a:t>
            </a:r>
            <a:endParaRPr lang="en-US" sz="1050" dirty="0"/>
          </a:p>
        </p:txBody>
      </p:sp>
      <p:sp>
        <p:nvSpPr>
          <p:cNvPr id="10" name="Output text"/>
          <p:cNvSpPr txBox="1"/>
          <p:nvPr/>
        </p:nvSpPr>
        <p:spPr>
          <a:xfrm>
            <a:off x="822960" y="5202936"/>
            <a:ext cx="5760720" cy="697802"/>
          </a:xfrm>
          <a:prstGeom prst="rect">
            <a:avLst/>
          </a:prstGeom>
          <a:noFill/>
          <a:ln/>
        </p:spPr>
        <p:txBody>
          <a:bodyPr wrap="square" lIns="0" tIns="0" rIns="0" bIns="0" rtlCol="0" anchor="t"/>
          <a:lstStyle/>
          <a:p>
            <a:pPr indent="0" marL="0">
              <a:lnSpc>
                <a:spcPts val="1690"/>
              </a:lnSpc>
              <a:buNone/>
            </a:pPr>
            <a:r>
              <a:rPr lang="en-US" sz="1250" dirty="0">
                <a:solidFill>
                  <a:srgbClr val="A9DB8C"/>
                </a:solidFill>
                <a:latin typeface="Consolas" pitchFamily="34" charset="0"/>
                <a:ea typeface="Consolas" pitchFamily="34" charset="-122"/>
                <a:cs typeface="Consolas" pitchFamily="34" charset="-120"/>
              </a:rPr>
              <a:t>Enter your age: </a:t>
            </a:r>
            <a:r>
              <a:rPr lang="en-US" sz="1250" dirty="0">
                <a:solidFill>
                  <a:srgbClr val="F2C14E"/>
                </a:solidFill>
                <a:latin typeface="Consolas" pitchFamily="34" charset="0"/>
                <a:ea typeface="Consolas" pitchFamily="34" charset="-122"/>
                <a:cs typeface="Consolas" pitchFamily="34" charset="-120"/>
              </a:rPr>
              <a:t>abc</a:t>
            </a:r>
            <a:endParaRPr lang="en-US" sz="1250" dirty="0"/>
          </a:p>
          <a:p>
            <a:pPr indent="0" marL="0">
              <a:lnSpc>
                <a:spcPts val="1690"/>
              </a:lnSpc>
              <a:buNone/>
            </a:pPr>
            <a:r>
              <a:rPr lang="en-US" sz="1250" dirty="0">
                <a:solidFill>
                  <a:srgbClr val="A9DB8C"/>
                </a:solidFill>
                <a:latin typeface="Consolas" pitchFamily="34" charset="0"/>
                <a:ea typeface="Consolas" pitchFamily="34" charset="-122"/>
                <a:cs typeface="Consolas" pitchFamily="34" charset="-120"/>
              </a:rPr>
              <a:t>Please type a whole number: </a:t>
            </a:r>
            <a:r>
              <a:rPr lang="en-US" sz="1250" dirty="0">
                <a:solidFill>
                  <a:srgbClr val="F2C14E"/>
                </a:solidFill>
                <a:latin typeface="Consolas" pitchFamily="34" charset="0"/>
                <a:ea typeface="Consolas" pitchFamily="34" charset="-122"/>
                <a:cs typeface="Consolas" pitchFamily="34" charset="-120"/>
              </a:rPr>
              <a:t>250</a:t>
            </a:r>
            <a:endParaRPr lang="en-US" sz="1250" dirty="0"/>
          </a:p>
          <a:p>
            <a:pPr indent="0" marL="0">
              <a:lnSpc>
                <a:spcPts val="1690"/>
              </a:lnSpc>
              <a:buNone/>
            </a:pPr>
            <a:r>
              <a:rPr lang="en-US" sz="1250" dirty="0">
                <a:solidFill>
                  <a:srgbClr val="A9DB8C"/>
                </a:solidFill>
                <a:latin typeface="Consolas" pitchFamily="34" charset="0"/>
                <a:ea typeface="Consolas" pitchFamily="34" charset="-122"/>
                <a:cs typeface="Consolas" pitchFamily="34" charset="-120"/>
              </a:rPr>
              <a:t>That age isn't possible</a:t>
            </a:r>
            <a:endParaRPr lang="en-US" sz="1250" dirty="0"/>
          </a:p>
        </p:txBody>
      </p:sp>
      <p:sp>
        <p:nvSpPr>
          <p:cNvPr id="11" name="Marker 1"/>
          <p:cNvSpPr/>
          <p:nvPr/>
        </p:nvSpPr>
        <p:spPr>
          <a:xfrm>
            <a:off x="7178040" y="1837944"/>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9"/>
          <p:cNvSpPr txBox="1"/>
          <p:nvPr/>
        </p:nvSpPr>
        <p:spPr>
          <a:xfrm>
            <a:off x="7726680" y="1783080"/>
            <a:ext cx="3916375" cy="384048"/>
          </a:xfrm>
          <a:prstGeom prst="rect">
            <a:avLst/>
          </a:prstGeom>
          <a:noFill/>
          <a:ln/>
        </p:spPr>
        <p:txBody>
          <a:bodyPr wrap="square" lIns="0" tIns="0" rIns="0" bIns="0" rtlCol="0" anchor="ctr"/>
          <a:lstStyle/>
          <a:p>
            <a:pPr algn="l" indent="0" marL="0">
              <a:buNone/>
            </a:pPr>
            <a:r>
              <a:rPr lang="en-US" sz="1700" b="1" dirty="0">
                <a:solidFill>
                  <a:schemeClr val="tx1"/>
                </a:solidFill>
              </a:rPr>
              <a:t>Check the type first</a:t>
            </a:r>
            <a:endParaRPr lang="en-US" sz="1700" dirty="0"/>
          </a:p>
        </p:txBody>
      </p:sp>
      <p:sp>
        <p:nvSpPr>
          <p:cNvPr id="13" name="Text 10"/>
          <p:cNvSpPr txBox="1"/>
          <p:nvPr/>
        </p:nvSpPr>
        <p:spPr>
          <a:xfrm>
            <a:off x="7726680" y="2176272"/>
            <a:ext cx="3916375" cy="731520"/>
          </a:xfrm>
          <a:prstGeom prst="rect">
            <a:avLst/>
          </a:prstGeom>
          <a:noFill/>
          <a:ln/>
        </p:spPr>
        <p:txBody>
          <a:bodyPr wrap="square" lIns="0" tIns="0" rIns="0" bIns="0" rtlCol="0" anchor="t"/>
          <a:lstStyle/>
          <a:p>
            <a:pPr algn="l" indent="0" marL="0">
              <a:buNone/>
            </a:pPr>
            <a:r>
              <a:rPr lang="en-US" sz="1450" dirty="0">
                <a:solidFill>
                  <a:schemeClr val="accent2"/>
                </a:solidFill>
                <a:latin typeface="Consolas" pitchFamily="34" charset="0"/>
                <a:ea typeface="Consolas" pitchFamily="34" charset="-122"/>
                <a:cs typeface="Consolas" pitchFamily="34" charset="-120"/>
              </a:rPr>
              <a:t>hasNextInt()</a:t>
            </a:r>
            <a:r>
              <a:rPr lang="en-US" sz="1450" dirty="0">
                <a:solidFill>
                  <a:schemeClr val="tx2"/>
                </a:solidFill>
              </a:rPr>
              <a:t> looks at the next input without reading it: true only for a whole number.</a:t>
            </a:r>
            <a:endParaRPr lang="en-US" sz="1450" dirty="0"/>
          </a:p>
        </p:txBody>
      </p:sp>
      <p:sp>
        <p:nvSpPr>
          <p:cNvPr id="14" name="Marker 2"/>
          <p:cNvSpPr/>
          <p:nvPr/>
        </p:nvSpPr>
        <p:spPr>
          <a:xfrm>
            <a:off x="7178040" y="3026664"/>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7726680" y="2971800"/>
            <a:ext cx="3916375" cy="384048"/>
          </a:xfrm>
          <a:prstGeom prst="rect">
            <a:avLst/>
          </a:prstGeom>
          <a:noFill/>
          <a:ln/>
        </p:spPr>
        <p:txBody>
          <a:bodyPr wrap="square" lIns="0" tIns="0" rIns="0" bIns="0" rtlCol="0" anchor="ctr"/>
          <a:lstStyle/>
          <a:p>
            <a:pPr algn="l" indent="0" marL="0">
              <a:buNone/>
            </a:pPr>
            <a:r>
              <a:rPr lang="en-US" sz="1700" b="1" dirty="0">
                <a:solidFill>
                  <a:schemeClr val="tx1"/>
                </a:solidFill>
              </a:rPr>
              <a:t>Throw bad input away</a:t>
            </a:r>
            <a:endParaRPr lang="en-US" sz="1700" dirty="0"/>
          </a:p>
        </p:txBody>
      </p:sp>
      <p:sp>
        <p:nvSpPr>
          <p:cNvPr id="16" name="Text 13"/>
          <p:cNvSpPr txBox="1"/>
          <p:nvPr/>
        </p:nvSpPr>
        <p:spPr>
          <a:xfrm>
            <a:off x="7726680" y="3364992"/>
            <a:ext cx="3916375" cy="731520"/>
          </a:xfrm>
          <a:prstGeom prst="rect">
            <a:avLst/>
          </a:prstGeom>
          <a:noFill/>
          <a:ln/>
        </p:spPr>
        <p:txBody>
          <a:bodyPr wrap="square" lIns="0" tIns="0" rIns="0" bIns="0" rtlCol="0" anchor="t"/>
          <a:lstStyle/>
          <a:p>
            <a:pPr algn="l" indent="0" marL="0">
              <a:buNone/>
            </a:pPr>
            <a:r>
              <a:rPr lang="en-US" sz="1450" dirty="0">
                <a:solidFill>
                  <a:schemeClr val="accent2"/>
                </a:solidFill>
                <a:latin typeface="Consolas" pitchFamily="34" charset="0"/>
                <a:ea typeface="Consolas" pitchFamily="34" charset="-122"/>
                <a:cs typeface="Consolas" pitchFamily="34" charset="-120"/>
              </a:rPr>
              <a:t>in.next()</a:t>
            </a:r>
            <a:r>
              <a:rPr lang="en-US" sz="1450" dirty="0">
                <a:solidFill>
                  <a:schemeClr val="tx2"/>
                </a:solidFill>
              </a:rPr>
              <a:t> reads the word and discards it, then we ask again.</a:t>
            </a:r>
            <a:endParaRPr lang="en-US" sz="1450" dirty="0"/>
          </a:p>
        </p:txBody>
      </p:sp>
      <p:sp>
        <p:nvSpPr>
          <p:cNvPr id="17" name="Marker 3"/>
          <p:cNvSpPr/>
          <p:nvPr/>
        </p:nvSpPr>
        <p:spPr>
          <a:xfrm>
            <a:off x="7178040" y="4215384"/>
            <a:ext cx="365760" cy="365760"/>
          </a:xfrm>
          <a:prstGeom prst="ellipse">
            <a:avLst/>
          </a:prstGeom>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7726680" y="4160520"/>
            <a:ext cx="3916375" cy="384048"/>
          </a:xfrm>
          <a:prstGeom prst="rect">
            <a:avLst/>
          </a:prstGeom>
          <a:noFill/>
          <a:ln/>
        </p:spPr>
        <p:txBody>
          <a:bodyPr wrap="square" lIns="0" tIns="0" rIns="0" bIns="0" rtlCol="0" anchor="ctr"/>
          <a:lstStyle/>
          <a:p>
            <a:pPr algn="l" indent="0" marL="0">
              <a:buNone/>
            </a:pPr>
            <a:r>
              <a:rPr lang="en-US" sz="1700" b="1" dirty="0">
                <a:solidFill>
                  <a:schemeClr val="tx1"/>
                </a:solidFill>
              </a:rPr>
              <a:t>Then check the range</a:t>
            </a:r>
            <a:endParaRPr lang="en-US" sz="1700" dirty="0"/>
          </a:p>
        </p:txBody>
      </p:sp>
      <p:sp>
        <p:nvSpPr>
          <p:cNvPr id="19" name="Text 16"/>
          <p:cNvSpPr txBox="1"/>
          <p:nvPr/>
        </p:nvSpPr>
        <p:spPr>
          <a:xfrm>
            <a:off x="7726680" y="4553712"/>
            <a:ext cx="3916375" cy="731520"/>
          </a:xfrm>
          <a:prstGeom prst="rect">
            <a:avLst/>
          </a:prstGeom>
          <a:noFill/>
          <a:ln/>
        </p:spPr>
        <p:txBody>
          <a:bodyPr wrap="square" lIns="0" tIns="0" rIns="0" bIns="0" rtlCol="0" anchor="t"/>
          <a:lstStyle/>
          <a:p>
            <a:pPr algn="l" indent="0" marL="0">
              <a:buNone/>
            </a:pPr>
            <a:r>
              <a:rPr lang="en-US" sz="1450" dirty="0">
                <a:solidFill>
                  <a:schemeClr val="tx2"/>
                </a:solidFill>
              </a:rPr>
              <a:t>A whole number can still be impossible, so we test it too.</a:t>
            </a:r>
            <a:endParaRPr lang="en-US" sz="145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23</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Checking the type</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The user types abc. What does </a:t>
            </a:r>
            <a:r>
              <a:rPr lang="en-US" sz="2800" b="1" dirty="0">
                <a:solidFill>
                  <a:schemeClr val="accent2"/>
                </a:solidFill>
                <a:latin typeface="Consolas" pitchFamily="34" charset="0"/>
                <a:ea typeface="Consolas" pitchFamily="34" charset="-122"/>
                <a:cs typeface="Consolas" pitchFamily="34" charset="-120"/>
              </a:rPr>
              <a:t>in.hasNextInt()</a:t>
            </a:r>
            <a:r>
              <a:rPr lang="en-US" sz="2800" b="1" dirty="0">
                <a:solidFill>
                  <a:schemeClr val="tx1"/>
                </a:solidFill>
              </a:rPr>
              <a:t> do?</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Throws an </a:t>
            </a:r>
            <a:r>
              <a:rPr lang="en-US" sz="2000" dirty="0">
                <a:solidFill>
                  <a:schemeClr val="accent2"/>
                </a:solidFill>
                <a:latin typeface="Consolas" pitchFamily="34" charset="0"/>
                <a:ea typeface="Consolas" pitchFamily="34" charset="-122"/>
                <a:cs typeface="Consolas" pitchFamily="34" charset="-120"/>
              </a:rPr>
              <a:t>InputMismatchException</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Turns abc into 0</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Returns </a:t>
            </a:r>
            <a:r>
              <a:rPr lang="en-US" sz="2000" dirty="0">
                <a:solidFill>
                  <a:schemeClr val="accent2"/>
                </a:solidFill>
                <a:latin typeface="Consolas" pitchFamily="34" charset="0"/>
                <a:ea typeface="Consolas" pitchFamily="34" charset="-122"/>
                <a:cs typeface="Consolas" pitchFamily="34" charset="-120"/>
              </a:rPr>
              <a:t>true</a:t>
            </a:r>
            <a:r>
              <a:rPr lang="en-US" sz="2000" dirty="0">
                <a:solidFill>
                  <a:schemeClr val="tx1"/>
                </a:solidFill>
              </a:rPr>
              <a:t>, then crashes</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Returns </a:t>
            </a:r>
            <a:r>
              <a:rPr lang="en-US" sz="2000" dirty="0">
                <a:solidFill>
                  <a:schemeClr val="accent2"/>
                </a:solidFill>
                <a:latin typeface="Consolas" pitchFamily="34" charset="0"/>
                <a:ea typeface="Consolas" pitchFamily="34" charset="-122"/>
                <a:cs typeface="Consolas" pitchFamily="34" charset="-120"/>
              </a:rPr>
              <a:t>false</a:t>
            </a:r>
            <a:r>
              <a:rPr lang="en-US" sz="2000" dirty="0">
                <a:solidFill>
                  <a:schemeClr val="tx1"/>
                </a:solidFill>
              </a:rPr>
              <a:t>, without reading the input</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23</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Checking the type</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The user types abc. What does </a:t>
            </a:r>
            <a:r>
              <a:rPr lang="en-US" sz="2000" b="1" dirty="0">
                <a:solidFill>
                  <a:schemeClr val="tx2"/>
                </a:solidFill>
                <a:latin typeface="Consolas" pitchFamily="34" charset="0"/>
                <a:ea typeface="Consolas" pitchFamily="34" charset="-122"/>
                <a:cs typeface="Consolas" pitchFamily="34" charset="-120"/>
              </a:rPr>
              <a:t>in.hasNextInt()</a:t>
            </a:r>
            <a:r>
              <a:rPr lang="en-US" sz="2000" b="1" dirty="0">
                <a:solidFill>
                  <a:schemeClr val="tx2"/>
                </a:solidFill>
              </a:rPr>
              <a:t> do?</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Throws an </a:t>
            </a:r>
            <a:r>
              <a:rPr lang="en-US" sz="1700" dirty="0">
                <a:solidFill>
                  <a:schemeClr val="tx2"/>
                </a:solidFill>
                <a:latin typeface="Consolas" pitchFamily="34" charset="0"/>
                <a:ea typeface="Consolas" pitchFamily="34" charset="-122"/>
                <a:cs typeface="Consolas" pitchFamily="34" charset="-120"/>
              </a:rPr>
              <a:t>InputMismatchException</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Turns abc into 0</a:t>
            </a:r>
            <a:endParaRPr lang="en-US"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Returns </a:t>
            </a:r>
            <a:r>
              <a:rPr lang="en-US" sz="1700" dirty="0">
                <a:solidFill>
                  <a:schemeClr val="tx2"/>
                </a:solidFill>
                <a:latin typeface="Consolas" pitchFamily="34" charset="0"/>
                <a:ea typeface="Consolas" pitchFamily="34" charset="-122"/>
                <a:cs typeface="Consolas" pitchFamily="34" charset="-120"/>
              </a:rPr>
              <a:t>true</a:t>
            </a:r>
            <a:r>
              <a:rPr lang="en-US" sz="1700" dirty="0">
                <a:solidFill>
                  <a:schemeClr val="tx2"/>
                </a:solidFill>
              </a:rPr>
              <a:t>, then crashes</a:t>
            </a:r>
            <a:endParaRPr lang="en-US"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6" name="Option D text"/>
          <p:cNvSpPr txBox="1"/>
          <p:nvPr/>
        </p:nvSpPr>
        <p:spPr>
          <a:xfrm>
            <a:off x="1371600" y="4645152"/>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Returns </a:t>
            </a:r>
            <a:r>
              <a:rPr lang="en-US" sz="1700" b="1" dirty="0">
                <a:solidFill>
                  <a:schemeClr val="bg1"/>
                </a:solidFill>
                <a:latin typeface="Consolas" pitchFamily="34" charset="0"/>
                <a:ea typeface="Consolas" pitchFamily="34" charset="-122"/>
                <a:cs typeface="Consolas" pitchFamily="34" charset="-120"/>
              </a:rPr>
              <a:t>false</a:t>
            </a:r>
            <a:r>
              <a:rPr lang="en-US" sz="1700" b="1" dirty="0">
                <a:solidFill>
                  <a:schemeClr val="bg1"/>
                </a:solidFill>
              </a:rPr>
              <a:t>, without reading the input</a:t>
            </a:r>
            <a:endParaRPr lang="en-US" sz="1700" dirty="0"/>
          </a:p>
        </p:txBody>
      </p:sp>
      <p:pic>
        <p:nvPicPr>
          <p:cNvPr id="17" name="Image 0"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accent2"/>
                </a:solidFill>
                <a:latin typeface="Consolas" pitchFamily="34" charset="0"/>
                <a:ea typeface="Consolas" pitchFamily="34" charset="-122"/>
                <a:cs typeface="Consolas" pitchFamily="34" charset="-120"/>
              </a:rPr>
              <a:t>hasNextInt()</a:t>
            </a:r>
            <a:r>
              <a:rPr lang="en-US" sz="1800" dirty="0">
                <a:solidFill>
                  <a:schemeClr val="tx1"/>
                </a:solidFill>
              </a:rPr>
              <a:t> only looks at the next input. abc isn’t a whole number, so it returns false and leaves abc waiting to be read. It’s </a:t>
            </a:r>
            <a:r>
              <a:rPr lang="en-US" sz="1800" dirty="0">
                <a:solidFill>
                  <a:schemeClr val="accent2"/>
                </a:solidFill>
                <a:latin typeface="Consolas" pitchFamily="34" charset="0"/>
                <a:ea typeface="Consolas" pitchFamily="34" charset="-122"/>
                <a:cs typeface="Consolas" pitchFamily="34" charset="-120"/>
              </a:rPr>
              <a:t>nextInt()</a:t>
            </a:r>
            <a:r>
              <a:rPr lang="en-US" sz="1800" dirty="0">
                <a:solidFill>
                  <a:schemeClr val="tx1"/>
                </a:solidFill>
              </a:rPr>
              <a:t> that would throw an </a:t>
            </a:r>
            <a:r>
              <a:rPr lang="en-US" sz="1800" dirty="0">
                <a:solidFill>
                  <a:schemeClr val="accent2"/>
                </a:solidFill>
                <a:latin typeface="Consolas" pitchFamily="34" charset="0"/>
                <a:ea typeface="Consolas" pitchFamily="34" charset="-122"/>
                <a:cs typeface="Consolas" pitchFamily="34" charset="-120"/>
              </a:rPr>
              <a:t>InputMismatchException</a:t>
            </a:r>
            <a:r>
              <a:rPr lang="en-US" sz="1800" dirty="0">
                <a:solidFill>
                  <a:schemeClr val="tx1"/>
                </a:solidFill>
              </a:rPr>
              <a:t>, which is why we check first.</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ASSERT AND SAFE INPUT</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Validation and sanitization</a:t>
            </a:r>
            <a:endParaRPr lang="en-US" sz="3400" dirty="0"/>
          </a:p>
        </p:txBody>
      </p:sp>
      <p:sp>
        <p:nvSpPr>
          <p:cNvPr id="5" name="Validation"/>
          <p:cNvSpPr/>
          <p:nvPr/>
        </p:nvSpPr>
        <p:spPr>
          <a:xfrm>
            <a:off x="548640" y="1691640"/>
            <a:ext cx="5387188" cy="3429000"/>
          </a:xfrm>
          <a:prstGeom prst="roundRect">
            <a:avLst>
              <a:gd name="adj" fmla="val 3200"/>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822960" y="1965960"/>
            <a:ext cx="640080" cy="640080"/>
          </a:xfrm>
          <a:prstGeom prst="roundRect">
            <a:avLst>
              <a:gd name="adj" fmla="val 24000"/>
            </a:avLst>
          </a:prstGeom>
          <a:solidFill>
            <a:schemeClr val="accent3">
              <a:alpha val="14000"/>
            </a:schemeClr>
          </a:solidFill>
          <a:ln/>
        </p:spPr>
      </p:sp>
      <p:pic>
        <p:nvPicPr>
          <p:cNvPr id="7" name="Image 0" descr="funnel icon">    </p:cNvPr>
          <p:cNvPicPr>
            <a:picLocks noChangeAspect="1"/>
          </p:cNvPicPr>
          <p:nvPr/>
        </p:nvPicPr>
        <p:blipFill>
          <a:blip r:embed="rId1"/>
          <a:stretch>
            <a:fillRect/>
          </a:stretch>
        </p:blipFill>
        <p:spPr>
          <a:xfrm>
            <a:off x="957377" y="2100377"/>
            <a:ext cx="371246" cy="371246"/>
          </a:xfrm>
          <a:prstGeom prst="rect">
            <a:avLst/>
          </a:prstGeom>
        </p:spPr>
      </p:pic>
      <p:sp>
        <p:nvSpPr>
          <p:cNvPr id="8" name="Text 4"/>
          <p:cNvSpPr txBox="1"/>
          <p:nvPr/>
        </p:nvSpPr>
        <p:spPr>
          <a:xfrm>
            <a:off x="1600200" y="1965960"/>
            <a:ext cx="4107028" cy="640080"/>
          </a:xfrm>
          <a:prstGeom prst="rect">
            <a:avLst/>
          </a:prstGeom>
          <a:noFill/>
          <a:ln/>
        </p:spPr>
        <p:txBody>
          <a:bodyPr wrap="square" lIns="0" tIns="0" rIns="0" bIns="0" rtlCol="0" anchor="ctr"/>
          <a:lstStyle/>
          <a:p>
            <a:pPr algn="l" indent="0" marL="0">
              <a:buNone/>
            </a:pPr>
            <a:r>
              <a:rPr lang="en-US" sz="2400" b="1" dirty="0">
                <a:solidFill>
                  <a:schemeClr val="accent3"/>
                </a:solidFill>
              </a:rPr>
              <a:t>Validation</a:t>
            </a:r>
            <a:endParaRPr lang="en-US" sz="2400" dirty="0"/>
          </a:p>
        </p:txBody>
      </p:sp>
      <p:sp>
        <p:nvSpPr>
          <p:cNvPr id="9" name="Text 5"/>
          <p:cNvSpPr txBox="1"/>
          <p:nvPr/>
        </p:nvSpPr>
        <p:spPr>
          <a:xfrm>
            <a:off x="868680" y="2880360"/>
            <a:ext cx="4747108" cy="196596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Checks the input against our rules.</a:t>
            </a:r>
            <a:endParaRPr lang="en-US" sz="1800" dirty="0"/>
          </a:p>
          <a:p>
            <a:pPr marL="228600" indent="-228600">
              <a:buSzPct val="100000"/>
              <a:buChar char="•"/>
            </a:pPr>
            <a:r>
              <a:rPr lang="en-US" sz="1800" dirty="0">
                <a:solidFill>
                  <a:schemeClr val="tx1"/>
                </a:solidFill>
              </a:rPr>
              <a:t>Accepts it, or rejects it.</a:t>
            </a:r>
            <a:endParaRPr lang="en-US" sz="1800" dirty="0"/>
          </a:p>
        </p:txBody>
      </p:sp>
      <p:sp>
        <p:nvSpPr>
          <p:cNvPr id="10" name="Sanitization"/>
          <p:cNvSpPr/>
          <p:nvPr/>
        </p:nvSpPr>
        <p:spPr>
          <a:xfrm>
            <a:off x="6255868" y="1691640"/>
            <a:ext cx="5387188" cy="3429000"/>
          </a:xfrm>
          <a:prstGeom prst="roundRect">
            <a:avLst>
              <a:gd name="adj" fmla="val 3200"/>
            </a:avLst>
          </a:prstGeom>
          <a:solidFill>
            <a:schemeClr val="bg1"/>
          </a:solidFill>
          <a:ln/>
          <a:effectLst>
            <a:outerShdw sx="100000" sy="100000" kx="0" ky="0" algn="bl" rotWithShape="0" blurRad="114300" dist="31750" dir="5400000">
              <a:srgbClr val="1D2433">
                <a:alpha val="12000"/>
              </a:srgbClr>
            </a:outerShdw>
          </a:effectLst>
        </p:spPr>
      </p:sp>
      <p:sp>
        <p:nvSpPr>
          <p:cNvPr id="11" name="Icon tile"/>
          <p:cNvSpPr/>
          <p:nvPr/>
        </p:nvSpPr>
        <p:spPr>
          <a:xfrm>
            <a:off x="6530188" y="1965960"/>
            <a:ext cx="640080" cy="640080"/>
          </a:xfrm>
          <a:prstGeom prst="roundRect">
            <a:avLst>
              <a:gd name="adj" fmla="val 24000"/>
            </a:avLst>
          </a:prstGeom>
          <a:solidFill>
            <a:schemeClr val="accent4">
              <a:alpha val="14000"/>
            </a:schemeClr>
          </a:solidFill>
          <a:ln/>
        </p:spPr>
      </p:sp>
      <p:pic>
        <p:nvPicPr>
          <p:cNvPr id="12" name="Image 1" descr="broom icon">    </p:cNvPr>
          <p:cNvPicPr>
            <a:picLocks noChangeAspect="1"/>
          </p:cNvPicPr>
          <p:nvPr/>
        </p:nvPicPr>
        <p:blipFill>
          <a:blip r:embed="rId2"/>
          <a:stretch>
            <a:fillRect/>
          </a:stretch>
        </p:blipFill>
        <p:spPr>
          <a:xfrm>
            <a:off x="6664604" y="2100377"/>
            <a:ext cx="371246" cy="371246"/>
          </a:xfrm>
          <a:prstGeom prst="rect">
            <a:avLst/>
          </a:prstGeom>
        </p:spPr>
      </p:pic>
      <p:sp>
        <p:nvSpPr>
          <p:cNvPr id="13" name="Text 8"/>
          <p:cNvSpPr txBox="1"/>
          <p:nvPr/>
        </p:nvSpPr>
        <p:spPr>
          <a:xfrm>
            <a:off x="7307428" y="1965960"/>
            <a:ext cx="4107028" cy="640080"/>
          </a:xfrm>
          <a:prstGeom prst="rect">
            <a:avLst/>
          </a:prstGeom>
          <a:noFill/>
          <a:ln/>
        </p:spPr>
        <p:txBody>
          <a:bodyPr wrap="square" lIns="0" tIns="0" rIns="0" bIns="0" rtlCol="0" anchor="ctr"/>
          <a:lstStyle/>
          <a:p>
            <a:pPr algn="l" indent="0" marL="0">
              <a:buNone/>
            </a:pPr>
            <a:r>
              <a:rPr lang="en-US" sz="2400" b="1" dirty="0">
                <a:solidFill>
                  <a:schemeClr val="accent4"/>
                </a:solidFill>
              </a:rPr>
              <a:t>Sanitization</a:t>
            </a:r>
            <a:endParaRPr lang="en-US" sz="2400" dirty="0"/>
          </a:p>
        </p:txBody>
      </p:sp>
      <p:sp>
        <p:nvSpPr>
          <p:cNvPr id="14" name="Text 9"/>
          <p:cNvSpPr txBox="1"/>
          <p:nvPr/>
        </p:nvSpPr>
        <p:spPr>
          <a:xfrm>
            <a:off x="6575908" y="2880360"/>
            <a:ext cx="4747108" cy="196596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chemeClr val="tx1"/>
                </a:solidFill>
              </a:rPr>
              <a:t>Changes the input so it’s safe to use.</a:t>
            </a:r>
            <a:endParaRPr lang="en-US" sz="1800" dirty="0"/>
          </a:p>
          <a:p>
            <a:pPr marL="228600" indent="-228600">
              <a:buSzPct val="100000"/>
              <a:buChar char="•"/>
            </a:pPr>
            <a:r>
              <a:rPr lang="en-US" sz="1800" dirty="0">
                <a:solidFill>
                  <a:schemeClr val="tx1"/>
                </a:solidFill>
              </a:rPr>
              <a:t>Keeps the input, in a safe form.</a:t>
            </a:r>
            <a:endParaRPr lang="en-US" sz="1800" dirty="0"/>
          </a:p>
        </p:txBody>
      </p:sp>
      <p:sp>
        <p:nvSpPr>
          <p:cNvPr id="15" name="Text 10"/>
          <p:cNvSpPr txBox="1"/>
          <p:nvPr/>
        </p:nvSpPr>
        <p:spPr>
          <a:xfrm>
            <a:off x="868680" y="3931920"/>
            <a:ext cx="4754880" cy="274320"/>
          </a:xfrm>
          <a:prstGeom prst="rect">
            <a:avLst/>
          </a:prstGeom>
          <a:noFill/>
          <a:ln/>
        </p:spPr>
        <p:txBody>
          <a:bodyPr wrap="square" lIns="0" tIns="0" rIns="0" bIns="0" rtlCol="0" anchor="t"/>
          <a:lstStyle/>
          <a:p>
            <a:pPr algn="l" indent="0" marL="0">
              <a:buNone/>
            </a:pPr>
            <a:r>
              <a:rPr lang="en-US" sz="1350" b="1" dirty="0">
                <a:solidFill>
                  <a:schemeClr val="tx2"/>
                </a:solidFill>
              </a:rPr>
              <a:t>Example: an age</a:t>
            </a:r>
            <a:endParaRPr lang="en-US" sz="1350" dirty="0"/>
          </a:p>
        </p:txBody>
      </p:sp>
      <p:sp>
        <p:nvSpPr>
          <p:cNvPr id="16" name="Code chip"/>
          <p:cNvSpPr/>
          <p:nvPr/>
        </p:nvSpPr>
        <p:spPr>
          <a:xfrm>
            <a:off x="868680" y="4279392"/>
            <a:ext cx="1188720"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600" dirty="0">
                <a:solidFill>
                  <a:schemeClr val="accent2"/>
                </a:solidFill>
                <a:latin typeface="Consolas" pitchFamily="34" charset="0"/>
                <a:ea typeface="Consolas" pitchFamily="34" charset="-122"/>
                <a:cs typeface="Consolas" pitchFamily="34" charset="-120"/>
              </a:rPr>
              <a:t>250</a:t>
            </a:r>
            <a:endParaRPr lang="en-US" sz="1600" dirty="0"/>
          </a:p>
        </p:txBody>
      </p:sp>
      <p:sp>
        <p:nvSpPr>
          <p:cNvPr id="17" name="Shape 12"/>
          <p:cNvSpPr/>
          <p:nvPr/>
        </p:nvSpPr>
        <p:spPr>
          <a:xfrm>
            <a:off x="2148840" y="4507992"/>
            <a:ext cx="457200" cy="0"/>
          </a:xfrm>
          <a:prstGeom prst="line">
            <a:avLst/>
          </a:prstGeom>
          <a:noFill/>
          <a:ln w="19050">
            <a:solidFill>
              <a:schemeClr val="tx2"/>
            </a:solidFill>
            <a:prstDash val="solid"/>
            <a:tailEnd type="triangle"/>
          </a:ln>
        </p:spPr>
      </p:sp>
      <p:pic>
        <p:nvPicPr>
          <p:cNvPr id="18" name="Image 2" descr="Does not work">    </p:cNvPr>
          <p:cNvPicPr>
            <a:picLocks noChangeAspect="1"/>
          </p:cNvPicPr>
          <p:nvPr/>
        </p:nvPicPr>
        <p:blipFill>
          <a:blip r:embed="rId3"/>
          <a:stretch>
            <a:fillRect/>
          </a:stretch>
        </p:blipFill>
        <p:spPr>
          <a:xfrm>
            <a:off x="2697480" y="4334256"/>
            <a:ext cx="347472" cy="347472"/>
          </a:xfrm>
          <a:prstGeom prst="rect">
            <a:avLst/>
          </a:prstGeom>
        </p:spPr>
      </p:pic>
      <p:sp>
        <p:nvSpPr>
          <p:cNvPr id="19" name="Text 13"/>
          <p:cNvSpPr txBox="1"/>
          <p:nvPr/>
        </p:nvSpPr>
        <p:spPr>
          <a:xfrm>
            <a:off x="3154680" y="4315968"/>
            <a:ext cx="2560320" cy="384048"/>
          </a:xfrm>
          <a:prstGeom prst="rect">
            <a:avLst/>
          </a:prstGeom>
          <a:noFill/>
          <a:ln/>
        </p:spPr>
        <p:txBody>
          <a:bodyPr wrap="square" lIns="0" tIns="0" rIns="0" bIns="0" rtlCol="0" anchor="ctr"/>
          <a:lstStyle/>
          <a:p>
            <a:pPr algn="l" indent="0" marL="0">
              <a:buNone/>
            </a:pPr>
            <a:r>
              <a:rPr lang="en-US" sz="1500" b="1" dirty="0">
                <a:solidFill>
                  <a:srgbClr val="C0392B"/>
                </a:solidFill>
              </a:rPr>
              <a:t>Rejected: not possible</a:t>
            </a:r>
            <a:endParaRPr lang="en-US" sz="1500" dirty="0"/>
          </a:p>
        </p:txBody>
      </p:sp>
      <p:sp>
        <p:nvSpPr>
          <p:cNvPr id="20" name="Text 14"/>
          <p:cNvSpPr txBox="1"/>
          <p:nvPr/>
        </p:nvSpPr>
        <p:spPr>
          <a:xfrm>
            <a:off x="6510528" y="3931920"/>
            <a:ext cx="4754880" cy="274320"/>
          </a:xfrm>
          <a:prstGeom prst="rect">
            <a:avLst/>
          </a:prstGeom>
          <a:noFill/>
          <a:ln/>
        </p:spPr>
        <p:txBody>
          <a:bodyPr wrap="square" lIns="0" tIns="0" rIns="0" bIns="0" rtlCol="0" anchor="t"/>
          <a:lstStyle/>
          <a:p>
            <a:pPr algn="l" indent="0" marL="0">
              <a:buNone/>
            </a:pPr>
            <a:r>
              <a:rPr lang="en-US" sz="1350" b="1" dirty="0">
                <a:solidFill>
                  <a:schemeClr val="tx2"/>
                </a:solidFill>
              </a:rPr>
              <a:t>Example: a name going into a database</a:t>
            </a:r>
            <a:endParaRPr lang="en-US" sz="1350" dirty="0"/>
          </a:p>
        </p:txBody>
      </p:sp>
      <p:sp>
        <p:nvSpPr>
          <p:cNvPr id="21" name="Code chip"/>
          <p:cNvSpPr/>
          <p:nvPr/>
        </p:nvSpPr>
        <p:spPr>
          <a:xfrm>
            <a:off x="6510528" y="4279392"/>
            <a:ext cx="1737360"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600" dirty="0">
                <a:solidFill>
                  <a:schemeClr val="accent2"/>
                </a:solidFill>
                <a:latin typeface="Consolas" pitchFamily="34" charset="0"/>
                <a:ea typeface="Consolas" pitchFamily="34" charset="-122"/>
                <a:cs typeface="Consolas" pitchFamily="34" charset="-120"/>
              </a:rPr>
              <a:t>O'Brien</a:t>
            </a:r>
            <a:endParaRPr lang="en-US" sz="1600" dirty="0"/>
          </a:p>
        </p:txBody>
      </p:sp>
      <p:sp>
        <p:nvSpPr>
          <p:cNvPr id="22" name="Shape 16"/>
          <p:cNvSpPr/>
          <p:nvPr/>
        </p:nvSpPr>
        <p:spPr>
          <a:xfrm>
            <a:off x="8339328" y="4507992"/>
            <a:ext cx="457200" cy="0"/>
          </a:xfrm>
          <a:prstGeom prst="line">
            <a:avLst/>
          </a:prstGeom>
          <a:noFill/>
          <a:ln w="19050">
            <a:solidFill>
              <a:schemeClr val="tx2"/>
            </a:solidFill>
            <a:prstDash val="solid"/>
            <a:tailEnd type="triangle"/>
          </a:ln>
        </p:spPr>
      </p:sp>
      <p:sp>
        <p:nvSpPr>
          <p:cNvPr id="23" name="Code chip"/>
          <p:cNvSpPr/>
          <p:nvPr/>
        </p:nvSpPr>
        <p:spPr>
          <a:xfrm>
            <a:off x="8887968" y="4279392"/>
            <a:ext cx="1920240" cy="457200"/>
          </a:xfrm>
          <a:prstGeom prst="roundRect">
            <a:avLst>
              <a:gd name="adj" fmla="val 16000"/>
            </a:avLst>
          </a:prstGeom>
          <a:solidFill>
            <a:schemeClr val="bg2"/>
          </a:solidFill>
          <a:ln/>
        </p:spPr>
        <p:txBody>
          <a:bodyPr wrap="square" lIns="0" tIns="0" rIns="0" bIns="0" rtlCol="0" anchor="ctr"/>
          <a:lstStyle/>
          <a:p>
            <a:pPr algn="ctr" indent="0" marL="0">
              <a:buNone/>
            </a:pPr>
            <a:r>
              <a:rPr lang="en-US" sz="1600" dirty="0">
                <a:solidFill>
                  <a:schemeClr val="accent3"/>
                </a:solidFill>
                <a:latin typeface="Consolas" pitchFamily="34" charset="0"/>
                <a:ea typeface="Consolas" pitchFamily="34" charset="-122"/>
                <a:cs typeface="Consolas" pitchFamily="34" charset="-120"/>
              </a:rPr>
              <a:t>O''Brien</a:t>
            </a:r>
            <a:endParaRPr lang="en-US" sz="1600" dirty="0"/>
          </a:p>
        </p:txBody>
      </p:sp>
      <p:sp>
        <p:nvSpPr>
          <p:cNvPr id="24" name="Text 18"/>
          <p:cNvSpPr txBox="1"/>
          <p:nvPr/>
        </p:nvSpPr>
        <p:spPr>
          <a:xfrm>
            <a:off x="8887968" y="4791456"/>
            <a:ext cx="2377440" cy="274320"/>
          </a:xfrm>
          <a:prstGeom prst="rect">
            <a:avLst/>
          </a:prstGeom>
          <a:noFill/>
          <a:ln/>
        </p:spPr>
        <p:txBody>
          <a:bodyPr wrap="square" lIns="0" tIns="0" rIns="0" bIns="0" rtlCol="0" anchor="t"/>
          <a:lstStyle/>
          <a:p>
            <a:pPr algn="l" indent="0" marL="0">
              <a:buNone/>
            </a:pPr>
            <a:r>
              <a:rPr lang="en-US" sz="1300" i="1" dirty="0">
                <a:solidFill>
                  <a:schemeClr val="tx2"/>
                </a:solidFill>
              </a:rPr>
              <a:t>kept, with the quote doubled</a:t>
            </a:r>
            <a:endParaRPr lang="en-US" sz="1300" dirty="0"/>
          </a:p>
        </p:txBody>
      </p:sp>
      <p:sp>
        <p:nvSpPr>
          <p:cNvPr id="25" name="Note"/>
          <p:cNvSpPr/>
          <p:nvPr/>
        </p:nvSpPr>
        <p:spPr>
          <a:xfrm>
            <a:off x="548640" y="5349240"/>
            <a:ext cx="11094415" cy="777240"/>
          </a:xfrm>
          <a:prstGeom prst="roundRect">
            <a:avLst>
              <a:gd name="adj" fmla="val 14118"/>
            </a:avLst>
          </a:prstGeom>
          <a:solidFill>
            <a:schemeClr val="bg2"/>
          </a:solidFill>
          <a:ln/>
        </p:spPr>
      </p:sp>
      <p:sp>
        <p:nvSpPr>
          <p:cNvPr id="26" name="Icon tile"/>
          <p:cNvSpPr/>
          <p:nvPr/>
        </p:nvSpPr>
        <p:spPr>
          <a:xfrm>
            <a:off x="822960" y="5472684"/>
            <a:ext cx="530352" cy="530352"/>
          </a:xfrm>
          <a:prstGeom prst="roundRect">
            <a:avLst>
              <a:gd name="adj" fmla="val 24000"/>
            </a:avLst>
          </a:prstGeom>
          <a:solidFill>
            <a:schemeClr val="accent2">
              <a:alpha val="14000"/>
            </a:schemeClr>
          </a:solidFill>
          <a:ln/>
        </p:spPr>
      </p:sp>
      <p:pic>
        <p:nvPicPr>
          <p:cNvPr id="27" name="Image 3" descr="shield check icon">    </p:cNvPr>
          <p:cNvPicPr>
            <a:picLocks noChangeAspect="1"/>
          </p:cNvPicPr>
          <p:nvPr/>
        </p:nvPicPr>
        <p:blipFill>
          <a:blip r:embed="rId4"/>
          <a:stretch>
            <a:fillRect/>
          </a:stretch>
        </p:blipFill>
        <p:spPr>
          <a:xfrm>
            <a:off x="934334" y="5584058"/>
            <a:ext cx="307604" cy="307604"/>
          </a:xfrm>
          <a:prstGeom prst="rect">
            <a:avLst/>
          </a:prstGeom>
        </p:spPr>
      </p:pic>
      <p:sp>
        <p:nvSpPr>
          <p:cNvPr id="28" name="Text 21"/>
          <p:cNvSpPr txBox="1"/>
          <p:nvPr/>
        </p:nvSpPr>
        <p:spPr>
          <a:xfrm>
            <a:off x="1572768" y="5349240"/>
            <a:ext cx="9814255" cy="777240"/>
          </a:xfrm>
          <a:prstGeom prst="rect">
            <a:avLst/>
          </a:prstGeom>
          <a:noFill/>
          <a:ln/>
        </p:spPr>
        <p:txBody>
          <a:bodyPr wrap="square" lIns="0" tIns="0" rIns="0" bIns="0" rtlCol="0" anchor="ctr"/>
          <a:lstStyle/>
          <a:p>
            <a:pPr algn="l" indent="0" marL="0">
              <a:buNone/>
            </a:pPr>
            <a:r>
              <a:rPr lang="en-US" sz="1600" dirty="0">
                <a:solidFill>
                  <a:schemeClr val="tx1"/>
                </a:solidFill>
              </a:rPr>
              <a:t>In defensive programming we use both, so a problem that gets past one is stopped by the other.</a:t>
            </a:r>
            <a:endParaRPr lang="en-US" sz="16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24</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Sanitization</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Changing </a:t>
            </a:r>
            <a:r>
              <a:rPr lang="en-US" sz="2800" b="1" dirty="0">
                <a:solidFill>
                  <a:schemeClr val="accent2"/>
                </a:solidFill>
                <a:latin typeface="Consolas" pitchFamily="34" charset="0"/>
                <a:ea typeface="Consolas" pitchFamily="34" charset="-122"/>
                <a:cs typeface="Consolas" pitchFamily="34" charset="-120"/>
              </a:rPr>
              <a:t>O'Brien</a:t>
            </a:r>
            <a:r>
              <a:rPr lang="en-US" sz="2800" b="1" dirty="0">
                <a:solidFill>
                  <a:schemeClr val="tx1"/>
                </a:solidFill>
              </a:rPr>
              <a:t> to </a:t>
            </a:r>
            <a:r>
              <a:rPr lang="en-US" sz="2800" b="1" dirty="0">
                <a:solidFill>
                  <a:schemeClr val="accent2"/>
                </a:solidFill>
                <a:latin typeface="Consolas" pitchFamily="34" charset="0"/>
                <a:ea typeface="Consolas" pitchFamily="34" charset="-122"/>
                <a:cs typeface="Consolas" pitchFamily="34" charset="-120"/>
              </a:rPr>
              <a:t>O''Brien</a:t>
            </a:r>
            <a:r>
              <a:rPr lang="en-US" sz="2800" b="1" dirty="0">
                <a:solidFill>
                  <a:schemeClr val="tx1"/>
                </a:solidFill>
              </a:rPr>
              <a:t> before it’s saved is an example of what?</a:t>
            </a:r>
            <a:endParaRPr lang="en-US" sz="2800" dirty="0"/>
          </a:p>
        </p:txBody>
      </p:sp>
      <p:sp>
        <p:nvSpPr>
          <p:cNvPr id="5" name="Option A"/>
          <p:cNvSpPr/>
          <p:nvPr/>
        </p:nvSpPr>
        <p:spPr>
          <a:xfrm>
            <a:off x="548640"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Sanitization</a:t>
            </a:r>
            <a:endParaRPr lang="en-US" sz="2000" dirty="0"/>
          </a:p>
        </p:txBody>
      </p:sp>
      <p:sp>
        <p:nvSpPr>
          <p:cNvPr id="8" name="Option B"/>
          <p:cNvSpPr/>
          <p:nvPr/>
        </p:nvSpPr>
        <p:spPr>
          <a:xfrm>
            <a:off x="6233465" y="233172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77977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377440"/>
            <a:ext cx="4038905" cy="1371600"/>
          </a:xfrm>
          <a:prstGeom prst="rect">
            <a:avLst/>
          </a:prstGeom>
          <a:noFill/>
          <a:ln/>
        </p:spPr>
        <p:txBody>
          <a:bodyPr wrap="square" lIns="0" tIns="0" rIns="0" bIns="0" rtlCol="0" anchor="ctr"/>
          <a:lstStyle/>
          <a:p>
            <a:pPr indent="0" marL="0">
              <a:buNone/>
            </a:pPr>
            <a:r>
              <a:rPr lang="en-US" sz="2000" dirty="0">
                <a:solidFill>
                  <a:schemeClr val="tx1"/>
                </a:solidFill>
              </a:rPr>
              <a:t>Validation</a:t>
            </a:r>
            <a:endParaRPr lang="en-US" sz="2000" dirty="0"/>
          </a:p>
        </p:txBody>
      </p:sp>
      <p:sp>
        <p:nvSpPr>
          <p:cNvPr id="11" name="Option C"/>
          <p:cNvSpPr/>
          <p:nvPr/>
        </p:nvSpPr>
        <p:spPr>
          <a:xfrm>
            <a:off x="548640"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An assertion</a:t>
            </a:r>
            <a:endParaRPr lang="en-US" sz="2000" dirty="0"/>
          </a:p>
        </p:txBody>
      </p:sp>
      <p:sp>
        <p:nvSpPr>
          <p:cNvPr id="14" name="Option D"/>
          <p:cNvSpPr/>
          <p:nvPr/>
        </p:nvSpPr>
        <p:spPr>
          <a:xfrm>
            <a:off x="6233465" y="40690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5171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1148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A custom exception</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24</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Sanitization</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Changing </a:t>
            </a:r>
            <a:r>
              <a:rPr lang="en-US" sz="2000" b="1" dirty="0">
                <a:solidFill>
                  <a:schemeClr val="tx2"/>
                </a:solidFill>
                <a:latin typeface="Consolas" pitchFamily="34" charset="0"/>
                <a:ea typeface="Consolas" pitchFamily="34" charset="-122"/>
                <a:cs typeface="Consolas" pitchFamily="34" charset="-120"/>
              </a:rPr>
              <a:t>O'Brien</a:t>
            </a:r>
            <a:r>
              <a:rPr lang="en-US" sz="2000" b="1" dirty="0">
                <a:solidFill>
                  <a:schemeClr val="tx2"/>
                </a:solidFill>
              </a:rPr>
              <a:t> to </a:t>
            </a:r>
            <a:r>
              <a:rPr lang="en-US" sz="2000" b="1" dirty="0">
                <a:solidFill>
                  <a:schemeClr val="tx2"/>
                </a:solidFill>
                <a:latin typeface="Consolas" pitchFamily="34" charset="0"/>
                <a:ea typeface="Consolas" pitchFamily="34" charset="-122"/>
                <a:cs typeface="Consolas" pitchFamily="34" charset="-120"/>
              </a:rPr>
              <a:t>O''Brien</a:t>
            </a:r>
            <a:r>
              <a:rPr lang="en-US" sz="2000" b="1" dirty="0">
                <a:solidFill>
                  <a:schemeClr val="tx2"/>
                </a:solidFill>
              </a:rPr>
              <a:t> before it’s saved is an example of what?</a:t>
            </a:r>
            <a:endParaRPr lang="en-US" sz="2000" dirty="0"/>
          </a:p>
        </p:txBody>
      </p:sp>
      <p:sp>
        <p:nvSpPr>
          <p:cNvPr id="5" name="Option A (correct)"/>
          <p:cNvSpPr/>
          <p:nvPr/>
        </p:nvSpPr>
        <p:spPr>
          <a:xfrm>
            <a:off x="548640" y="1874520"/>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6" name="Letter A"/>
          <p:cNvSpPr/>
          <p:nvPr/>
        </p:nvSpPr>
        <p:spPr>
          <a:xfrm>
            <a:off x="749808" y="2052828"/>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A</a:t>
            </a:r>
            <a:endParaRPr lang="en-US" sz="1600" dirty="0"/>
          </a:p>
        </p:txBody>
      </p:sp>
      <p:sp>
        <p:nvSpPr>
          <p:cNvPr id="7" name="Option A text"/>
          <p:cNvSpPr txBox="1"/>
          <p:nvPr/>
        </p:nvSpPr>
        <p:spPr>
          <a:xfrm>
            <a:off x="1371600" y="1874520"/>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Sanitization</a:t>
            </a:r>
            <a:endParaRPr lang="en-US" sz="1700" dirty="0"/>
          </a:p>
        </p:txBody>
      </p:sp>
      <p:pic>
        <p:nvPicPr>
          <p:cNvPr id="8" name="Image 0" descr="Correct mark">    </p:cNvPr>
          <p:cNvPicPr>
            <a:picLocks noChangeAspect="1"/>
          </p:cNvPicPr>
          <p:nvPr/>
        </p:nvPicPr>
        <p:blipFill>
          <a:blip r:embed="rId1"/>
          <a:stretch>
            <a:fillRect/>
          </a:stretch>
        </p:blipFill>
        <p:spPr>
          <a:xfrm>
            <a:off x="5623560" y="2080260"/>
            <a:ext cx="365760" cy="365760"/>
          </a:xfrm>
          <a:prstGeom prst="rect">
            <a:avLst/>
          </a:prstGeom>
        </p:spPr>
      </p:pic>
      <p:sp>
        <p:nvSpPr>
          <p:cNvPr id="9"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0"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1"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Validation</a:t>
            </a:r>
            <a:endParaRPr lang="en-US" sz="1700" dirty="0"/>
          </a:p>
        </p:txBody>
      </p:sp>
      <p:sp>
        <p:nvSpPr>
          <p:cNvPr id="12"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3"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4"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An assertion</a:t>
            </a:r>
            <a:endParaRPr lang="en-US" sz="1700" dirty="0"/>
          </a:p>
        </p:txBody>
      </p:sp>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A custom exception</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The input isn’t rejected; it’s changed into a safe form, and that’s sanitization. Validation would only check it and accept or reject it. Doubling the quote stops it from ending the text early inside an SQL command.</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ASSERT AND SAFE INPUT</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Code injection</a:t>
            </a:r>
            <a:endParaRPr lang="en-US" sz="3400" dirty="0"/>
          </a:p>
        </p:txBody>
      </p:sp>
      <p:sp>
        <p:nvSpPr>
          <p:cNvPr id="5" name="Text 2"/>
          <p:cNvSpPr txBox="1"/>
          <p:nvPr/>
        </p:nvSpPr>
        <p:spPr>
          <a:xfrm>
            <a:off x="548640" y="1783080"/>
            <a:ext cx="5120640" cy="283464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chemeClr val="tx1"/>
                </a:solidFill>
              </a:rPr>
              <a:t>A code injection is when an attacker gets their own code to run inside our application.</a:t>
            </a:r>
            <a:endParaRPr lang="en-US" sz="1700" dirty="0"/>
          </a:p>
          <a:p>
            <a:pPr marL="228600" indent="-228600">
              <a:spcAft>
                <a:spcPts val="1200"/>
              </a:spcAft>
              <a:buSzPct val="100000"/>
              <a:buChar char="•"/>
            </a:pPr>
            <a:r>
              <a:rPr lang="en-US" sz="1700" dirty="0">
                <a:solidFill>
                  <a:schemeClr val="tx1"/>
                </a:solidFill>
              </a:rPr>
              <a:t>It happens when user input is pasted straight into a command, like an SQL query for a database.</a:t>
            </a:r>
            <a:endParaRPr lang="en-US" sz="1700" dirty="0"/>
          </a:p>
          <a:p>
            <a:pPr marL="228600" indent="-228600">
              <a:buSzPct val="100000"/>
              <a:buChar char="•"/>
            </a:pPr>
            <a:r>
              <a:rPr lang="en-US" sz="1700" dirty="0">
                <a:solidFill>
                  <a:schemeClr val="tx1"/>
                </a:solidFill>
              </a:rPr>
              <a:t>The attacker could then read, change or delete data they shouldn’t touch.</a:t>
            </a:r>
            <a:endParaRPr lang="en-US" sz="1700" dirty="0"/>
          </a:p>
        </p:txBody>
      </p:sp>
      <p:sp>
        <p:nvSpPr>
          <p:cNvPr id="6" name="Text 3"/>
          <p:cNvSpPr txBox="1"/>
          <p:nvPr/>
        </p:nvSpPr>
        <p:spPr>
          <a:xfrm>
            <a:off x="6035040" y="1691640"/>
            <a:ext cx="5608015" cy="274320"/>
          </a:xfrm>
          <a:prstGeom prst="rect">
            <a:avLst/>
          </a:prstGeom>
          <a:noFill/>
          <a:ln/>
        </p:spPr>
        <p:txBody>
          <a:bodyPr wrap="square" lIns="0" tIns="0" rIns="0" bIns="0" rtlCol="0" anchor="t"/>
          <a:lstStyle/>
          <a:p>
            <a:pPr algn="l" indent="0" marL="0">
              <a:buNone/>
            </a:pPr>
            <a:r>
              <a:rPr lang="en-US" sz="1350" b="1" dirty="0">
                <a:solidFill>
                  <a:schemeClr val="tx2"/>
                </a:solidFill>
              </a:rPr>
              <a:t>Our code builds a query from the input</a:t>
            </a:r>
            <a:endParaRPr lang="en-US" sz="1350" dirty="0"/>
          </a:p>
        </p:txBody>
      </p:sp>
      <p:sp>
        <p:nvSpPr>
          <p:cNvPr id="7" name="Code chip"/>
          <p:cNvSpPr/>
          <p:nvPr/>
        </p:nvSpPr>
        <p:spPr>
          <a:xfrm>
            <a:off x="6035040" y="2011680"/>
            <a:ext cx="5608015" cy="502920"/>
          </a:xfrm>
          <a:prstGeom prst="roundRect">
            <a:avLst>
              <a:gd name="adj" fmla="val 14545"/>
            </a:avLst>
          </a:prstGeom>
          <a:solidFill>
            <a:schemeClr val="bg2"/>
          </a:solidFill>
          <a:ln/>
        </p:spPr>
        <p:txBody>
          <a:bodyPr wrap="square" lIns="152400" tIns="0" rIns="0" bIns="0" rtlCol="0" anchor="ctr"/>
          <a:lstStyle/>
          <a:p>
            <a:pPr algn="l" indent="0" marL="0">
              <a:buNone/>
            </a:pPr>
            <a:r>
              <a:rPr lang="en-US" sz="1250" dirty="0">
                <a:solidFill>
                  <a:schemeClr val="accent2"/>
                </a:solidFill>
                <a:latin typeface="Consolas" pitchFamily="34" charset="0"/>
                <a:ea typeface="Consolas" pitchFamily="34" charset="-122"/>
                <a:cs typeface="Consolas" pitchFamily="34" charset="-120"/>
              </a:rPr>
              <a:t>"SELECT * FROM students WHERE name = '" + name + "'"</a:t>
            </a:r>
            <a:endParaRPr lang="en-US" sz="1250" dirty="0"/>
          </a:p>
        </p:txBody>
      </p:sp>
      <p:sp>
        <p:nvSpPr>
          <p:cNvPr id="8" name="Text 5"/>
          <p:cNvSpPr txBox="1"/>
          <p:nvPr/>
        </p:nvSpPr>
        <p:spPr>
          <a:xfrm>
            <a:off x="6035040" y="2724912"/>
            <a:ext cx="5608015" cy="274320"/>
          </a:xfrm>
          <a:prstGeom prst="rect">
            <a:avLst/>
          </a:prstGeom>
          <a:noFill/>
          <a:ln/>
        </p:spPr>
        <p:txBody>
          <a:bodyPr wrap="square" lIns="0" tIns="0" rIns="0" bIns="0" rtlCol="0" anchor="t"/>
          <a:lstStyle/>
          <a:p>
            <a:pPr algn="l" indent="0" marL="0">
              <a:buNone/>
            </a:pPr>
            <a:r>
              <a:rPr lang="en-US" sz="1350" b="1" dirty="0">
                <a:solidFill>
                  <a:schemeClr val="tx2"/>
                </a:solidFill>
              </a:rPr>
              <a:t>A user types</a:t>
            </a:r>
            <a:endParaRPr lang="en-US" sz="1350" dirty="0"/>
          </a:p>
        </p:txBody>
      </p:sp>
      <p:sp>
        <p:nvSpPr>
          <p:cNvPr id="9" name="Code chip"/>
          <p:cNvSpPr/>
          <p:nvPr/>
        </p:nvSpPr>
        <p:spPr>
          <a:xfrm>
            <a:off x="6035040" y="3044952"/>
            <a:ext cx="5608015" cy="502920"/>
          </a:xfrm>
          <a:prstGeom prst="roundRect">
            <a:avLst>
              <a:gd name="adj" fmla="val 14545"/>
            </a:avLst>
          </a:prstGeom>
          <a:solidFill>
            <a:schemeClr val="bg2"/>
          </a:solidFill>
          <a:ln/>
        </p:spPr>
        <p:txBody>
          <a:bodyPr wrap="square" lIns="152400" tIns="0" rIns="0" bIns="0" rtlCol="0" anchor="ctr"/>
          <a:lstStyle/>
          <a:p>
            <a:pPr algn="l" indent="0" marL="0">
              <a:buNone/>
            </a:pPr>
            <a:r>
              <a:rPr lang="en-US" sz="1250" dirty="0">
                <a:solidFill>
                  <a:srgbClr val="C0392B"/>
                </a:solidFill>
                <a:latin typeface="Consolas" pitchFamily="34" charset="0"/>
                <a:ea typeface="Consolas" pitchFamily="34" charset="-122"/>
                <a:cs typeface="Consolas" pitchFamily="34" charset="-120"/>
              </a:rPr>
              <a:t>Tom'; DROP TABLE students; --</a:t>
            </a:r>
            <a:endParaRPr lang="en-US" sz="1250" dirty="0"/>
          </a:p>
        </p:txBody>
      </p:sp>
      <p:sp>
        <p:nvSpPr>
          <p:cNvPr id="10" name="Text 7"/>
          <p:cNvSpPr txBox="1"/>
          <p:nvPr/>
        </p:nvSpPr>
        <p:spPr>
          <a:xfrm>
            <a:off x="6035040" y="3758184"/>
            <a:ext cx="5608015" cy="274320"/>
          </a:xfrm>
          <a:prstGeom prst="rect">
            <a:avLst/>
          </a:prstGeom>
          <a:noFill/>
          <a:ln/>
        </p:spPr>
        <p:txBody>
          <a:bodyPr wrap="square" lIns="0" tIns="0" rIns="0" bIns="0" rtlCol="0" anchor="t"/>
          <a:lstStyle/>
          <a:p>
            <a:pPr algn="l" indent="0" marL="0">
              <a:buNone/>
            </a:pPr>
            <a:r>
              <a:rPr lang="en-US" sz="1350" b="1" dirty="0">
                <a:solidFill>
                  <a:schemeClr val="tx2"/>
                </a:solidFill>
              </a:rPr>
              <a:t>The database receives</a:t>
            </a:r>
            <a:endParaRPr lang="en-US" sz="1350" dirty="0"/>
          </a:p>
        </p:txBody>
      </p:sp>
      <p:sp>
        <p:nvSpPr>
          <p:cNvPr id="11" name="Code chip"/>
          <p:cNvSpPr/>
          <p:nvPr/>
        </p:nvSpPr>
        <p:spPr>
          <a:xfrm>
            <a:off x="6035040" y="4078224"/>
            <a:ext cx="5608015" cy="777240"/>
          </a:xfrm>
          <a:prstGeom prst="roundRect">
            <a:avLst>
              <a:gd name="adj" fmla="val 9412"/>
            </a:avLst>
          </a:prstGeom>
          <a:solidFill>
            <a:schemeClr val="bg2"/>
          </a:solidFill>
          <a:ln/>
        </p:spPr>
        <p:txBody>
          <a:bodyPr wrap="square" lIns="152400" tIns="0" rIns="0" bIns="0" rtlCol="0" anchor="ctr"/>
          <a:lstStyle/>
          <a:p>
            <a:pPr algn="l" indent="0" marL="0">
              <a:buNone/>
            </a:pPr>
            <a:r>
              <a:rPr lang="en-US" sz="1250" dirty="0">
                <a:solidFill>
                  <a:schemeClr val="accent2"/>
                </a:solidFill>
                <a:latin typeface="Consolas" pitchFamily="34" charset="0"/>
                <a:ea typeface="Consolas" pitchFamily="34" charset="-122"/>
                <a:cs typeface="Consolas" pitchFamily="34" charset="-120"/>
              </a:rPr>
              <a:t>SELECT * FROM students WHERE name = 'Tom';</a:t>
            </a:r>
            <a:endParaRPr lang="en-US" sz="1250" dirty="0"/>
          </a:p>
          <a:p>
            <a:pPr algn="l" indent="0" marL="0">
              <a:buNone/>
            </a:pPr>
            <a:r>
              <a:rPr lang="en-US" sz="1250" dirty="0">
                <a:solidFill>
                  <a:schemeClr val="accent2"/>
                </a:solidFill>
                <a:latin typeface="Consolas" pitchFamily="34" charset="0"/>
                <a:ea typeface="Consolas" pitchFamily="34" charset="-122"/>
                <a:cs typeface="Consolas" pitchFamily="34" charset="-120"/>
              </a:rPr>
              <a:t>DROP TABLE students; --'</a:t>
            </a:r>
            <a:endParaRPr lang="en-US" sz="1250" dirty="0"/>
          </a:p>
        </p:txBody>
      </p:sp>
      <p:pic>
        <p:nvPicPr>
          <p:cNvPr id="12" name="Image 0" descr="Does not work">    </p:cNvPr>
          <p:cNvPicPr>
            <a:picLocks noChangeAspect="1"/>
          </p:cNvPicPr>
          <p:nvPr/>
        </p:nvPicPr>
        <p:blipFill>
          <a:blip r:embed="rId1"/>
          <a:stretch>
            <a:fillRect/>
          </a:stretch>
        </p:blipFill>
        <p:spPr>
          <a:xfrm>
            <a:off x="6035040" y="5093208"/>
            <a:ext cx="347472" cy="347472"/>
          </a:xfrm>
          <a:prstGeom prst="rect">
            <a:avLst/>
          </a:prstGeom>
        </p:spPr>
      </p:pic>
      <p:sp>
        <p:nvSpPr>
          <p:cNvPr id="13" name="Text 9"/>
          <p:cNvSpPr txBox="1"/>
          <p:nvPr/>
        </p:nvSpPr>
        <p:spPr>
          <a:xfrm>
            <a:off x="6492240" y="5074920"/>
            <a:ext cx="5150815" cy="384048"/>
          </a:xfrm>
          <a:prstGeom prst="rect">
            <a:avLst/>
          </a:prstGeom>
          <a:noFill/>
          <a:ln/>
        </p:spPr>
        <p:txBody>
          <a:bodyPr wrap="square" lIns="0" tIns="0" rIns="0" bIns="0" rtlCol="0" anchor="ctr"/>
          <a:lstStyle/>
          <a:p>
            <a:pPr algn="l" indent="0" marL="0">
              <a:buNone/>
            </a:pPr>
            <a:r>
              <a:rPr lang="en-US" sz="1500" b="1" dirty="0">
                <a:solidFill>
                  <a:srgbClr val="C0392B"/>
                </a:solidFill>
              </a:rPr>
              <a:t>Two commands: the second deletes the table</a:t>
            </a:r>
            <a:endParaRPr lang="en-US" sz="1500" dirty="0"/>
          </a:p>
        </p:txBody>
      </p:sp>
      <p:sp>
        <p:nvSpPr>
          <p:cNvPr id="14" name="Note"/>
          <p:cNvSpPr/>
          <p:nvPr/>
        </p:nvSpPr>
        <p:spPr>
          <a:xfrm>
            <a:off x="548640" y="4754880"/>
            <a:ext cx="5120640" cy="1234440"/>
          </a:xfrm>
          <a:prstGeom prst="roundRect">
            <a:avLst>
              <a:gd name="adj" fmla="val 8889"/>
            </a:avLst>
          </a:prstGeom>
          <a:solidFill>
            <a:schemeClr val="bg2"/>
          </a:solidFill>
          <a:ln/>
        </p:spPr>
      </p:sp>
      <p:sp>
        <p:nvSpPr>
          <p:cNvPr id="15" name="Icon tile"/>
          <p:cNvSpPr/>
          <p:nvPr/>
        </p:nvSpPr>
        <p:spPr>
          <a:xfrm>
            <a:off x="822960" y="5106924"/>
            <a:ext cx="530352" cy="530352"/>
          </a:xfrm>
          <a:prstGeom prst="roundRect">
            <a:avLst>
              <a:gd name="adj" fmla="val 24000"/>
            </a:avLst>
          </a:prstGeom>
          <a:solidFill>
            <a:schemeClr val="accent1">
              <a:alpha val="14000"/>
            </a:schemeClr>
          </a:solidFill>
          <a:ln/>
        </p:spPr>
      </p:sp>
      <p:pic>
        <p:nvPicPr>
          <p:cNvPr id="16" name="Image 1" descr="database icon">    </p:cNvPr>
          <p:cNvPicPr>
            <a:picLocks noChangeAspect="1"/>
          </p:cNvPicPr>
          <p:nvPr/>
        </p:nvPicPr>
        <p:blipFill>
          <a:blip r:embed="rId2"/>
          <a:stretch>
            <a:fillRect/>
          </a:stretch>
        </p:blipFill>
        <p:spPr>
          <a:xfrm>
            <a:off x="934334" y="5218298"/>
            <a:ext cx="307604" cy="307604"/>
          </a:xfrm>
          <a:prstGeom prst="rect">
            <a:avLst/>
          </a:prstGeom>
        </p:spPr>
      </p:pic>
      <p:sp>
        <p:nvSpPr>
          <p:cNvPr id="17" name="Text 12"/>
          <p:cNvSpPr txBox="1"/>
          <p:nvPr/>
        </p:nvSpPr>
        <p:spPr>
          <a:xfrm>
            <a:off x="1572768" y="4754880"/>
            <a:ext cx="3840480" cy="1234440"/>
          </a:xfrm>
          <a:prstGeom prst="rect">
            <a:avLst/>
          </a:prstGeom>
          <a:noFill/>
          <a:ln/>
        </p:spPr>
        <p:txBody>
          <a:bodyPr wrap="square" lIns="0" tIns="0" rIns="0" bIns="0" rtlCol="0" anchor="ctr"/>
          <a:lstStyle/>
          <a:p>
            <a:pPr algn="l" indent="0" marL="0">
              <a:buNone/>
            </a:pPr>
            <a:r>
              <a:rPr lang="en-US" sz="1500" dirty="0">
                <a:solidFill>
                  <a:schemeClr val="tx1"/>
                </a:solidFill>
              </a:rPr>
              <a:t>SQL databases are a common target, so any input that ends up in a query needs extra care.</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25</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Code injection</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Why is pasting user input straight into an SQL command dangerous?</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SQL can’t store long text</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It makes the database slower</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The input can change the command itself</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Java won’t join Strings that contain SQL</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25</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Code injection</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Why is pasting user input straight into an SQL command dangerous?</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SQL can’t store long text</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It makes the database slower</a:t>
            </a:r>
            <a:endParaRPr lang="en-US" sz="1700" dirty="0"/>
          </a:p>
        </p:txBody>
      </p:sp>
      <p:sp>
        <p:nvSpPr>
          <p:cNvPr id="11" name="Option C (correct)"/>
          <p:cNvSpPr/>
          <p:nvPr/>
        </p:nvSpPr>
        <p:spPr>
          <a:xfrm>
            <a:off x="548640" y="3721608"/>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2" name="Letter C"/>
          <p:cNvSpPr/>
          <p:nvPr/>
        </p:nvSpPr>
        <p:spPr>
          <a:xfrm>
            <a:off x="749808" y="3899916"/>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C</a:t>
            </a:r>
            <a:endParaRPr lang="en-US" sz="1600" dirty="0"/>
          </a:p>
        </p:txBody>
      </p:sp>
      <p:sp>
        <p:nvSpPr>
          <p:cNvPr id="13" name="Option C text"/>
          <p:cNvSpPr txBox="1"/>
          <p:nvPr/>
        </p:nvSpPr>
        <p:spPr>
          <a:xfrm>
            <a:off x="1371600" y="3721608"/>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The input can change the command itself</a:t>
            </a:r>
            <a:endParaRPr lang="en-US" sz="1700" dirty="0"/>
          </a:p>
        </p:txBody>
      </p:sp>
      <p:pic>
        <p:nvPicPr>
          <p:cNvPr id="14" name="Image 0" descr="Correct mark">    </p:cNvPr>
          <p:cNvPicPr>
            <a:picLocks noChangeAspect="1"/>
          </p:cNvPicPr>
          <p:nvPr/>
        </p:nvPicPr>
        <p:blipFill>
          <a:blip r:embed="rId1"/>
          <a:stretch>
            <a:fillRect/>
          </a:stretch>
        </p:blipFill>
        <p:spPr>
          <a:xfrm>
            <a:off x="5623560" y="3927348"/>
            <a:ext cx="365760" cy="365760"/>
          </a:xfrm>
          <a:prstGeom prst="rect">
            <a:avLst/>
          </a:prstGeom>
        </p:spPr>
      </p:pic>
      <p:sp>
        <p:nvSpPr>
          <p:cNvPr id="15" name="Option D"/>
          <p:cNvSpPr/>
          <p:nvPr/>
        </p:nvSpPr>
        <p:spPr>
          <a:xfrm>
            <a:off x="548640" y="4645152"/>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6" name="Letter D"/>
          <p:cNvSpPr/>
          <p:nvPr/>
        </p:nvSpPr>
        <p:spPr>
          <a:xfrm>
            <a:off x="749808" y="4823460"/>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D</a:t>
            </a:r>
            <a:endParaRPr lang="en-US" sz="1600" dirty="0"/>
          </a:p>
        </p:txBody>
      </p:sp>
      <p:sp>
        <p:nvSpPr>
          <p:cNvPr id="17" name="Option D text"/>
          <p:cNvSpPr txBox="1"/>
          <p:nvPr/>
        </p:nvSpPr>
        <p:spPr>
          <a:xfrm>
            <a:off x="1371600" y="4645152"/>
            <a:ext cx="4572000" cy="777240"/>
          </a:xfrm>
          <a:prstGeom prst="rect">
            <a:avLst/>
          </a:prstGeom>
          <a:noFill/>
          <a:ln/>
        </p:spPr>
        <p:txBody>
          <a:bodyPr wrap="square" lIns="0" tIns="0" rIns="0" bIns="0" rtlCol="0" anchor="ctr"/>
          <a:lstStyle/>
          <a:p>
            <a:pPr indent="0" marL="0">
              <a:buNone/>
            </a:pPr>
            <a:r>
              <a:rPr lang="en-US" sz="1700" dirty="0">
                <a:solidFill>
                  <a:schemeClr val="tx2"/>
                </a:solidFill>
              </a:rPr>
              <a:t>Java won’t join Strings that contain SQL</a:t>
            </a:r>
            <a:endParaRPr lang="en-US" sz="1700" dirty="0"/>
          </a:p>
        </p:txBody>
      </p:sp>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If the input goes straight into the command, the database can’t tell our command from the user’s text. Input with quotes and SQL keywords can end our command and add one of its own, like DROP TABLE. That’s a code injection.</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ASSERT AND SAFE INPUT</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Defensive programming against SQL injection</a:t>
            </a:r>
            <a:endParaRPr lang="en-US" sz="3400" dirty="0"/>
          </a:p>
        </p:txBody>
      </p:sp>
      <p:sp>
        <p:nvSpPr>
          <p:cNvPr id="5" name="Special characters"/>
          <p:cNvSpPr/>
          <p:nvPr/>
        </p:nvSpPr>
        <p:spPr>
          <a:xfrm>
            <a:off x="548640" y="1691640"/>
            <a:ext cx="11094415" cy="749808"/>
          </a:xfrm>
          <a:prstGeom prst="roundRect">
            <a:avLst>
              <a:gd name="adj" fmla="val 14634"/>
            </a:avLst>
          </a:prstGeom>
          <a:solidFill>
            <a:schemeClr val="bg1"/>
          </a:solidFill>
          <a:ln/>
          <a:effectLst>
            <a:outerShdw sx="100000" sy="100000" kx="0" ky="0" algn="bl" rotWithShape="0" blurRad="114300" dist="31750" dir="5400000">
              <a:srgbClr val="1D2433">
                <a:alpha val="12000"/>
              </a:srgbClr>
            </a:outerShdw>
          </a:effectLst>
        </p:spPr>
      </p:sp>
      <p:sp>
        <p:nvSpPr>
          <p:cNvPr id="6" name="Icon tile"/>
          <p:cNvSpPr/>
          <p:nvPr/>
        </p:nvSpPr>
        <p:spPr>
          <a:xfrm>
            <a:off x="749808" y="1810512"/>
            <a:ext cx="512064" cy="512064"/>
          </a:xfrm>
          <a:prstGeom prst="roundRect">
            <a:avLst>
              <a:gd name="adj" fmla="val 24000"/>
            </a:avLst>
          </a:prstGeom>
          <a:solidFill>
            <a:schemeClr val="accent1">
              <a:alpha val="14000"/>
            </a:schemeClr>
          </a:solidFill>
          <a:ln/>
        </p:spPr>
      </p:sp>
      <p:pic>
        <p:nvPicPr>
          <p:cNvPr id="7" name="Image 0" descr="prohibit icon">    </p:cNvPr>
          <p:cNvPicPr>
            <a:picLocks noChangeAspect="1"/>
          </p:cNvPicPr>
          <p:nvPr/>
        </p:nvPicPr>
        <p:blipFill>
          <a:blip r:embed="rId1"/>
          <a:stretch>
            <a:fillRect/>
          </a:stretch>
        </p:blipFill>
        <p:spPr>
          <a:xfrm>
            <a:off x="857341" y="1918045"/>
            <a:ext cx="296997" cy="296997"/>
          </a:xfrm>
          <a:prstGeom prst="rect">
            <a:avLst/>
          </a:prstGeom>
        </p:spPr>
      </p:pic>
      <p:sp>
        <p:nvSpPr>
          <p:cNvPr id="8" name="Text 4"/>
          <p:cNvSpPr txBox="1"/>
          <p:nvPr/>
        </p:nvSpPr>
        <p:spPr>
          <a:xfrm>
            <a:off x="1463040" y="1691640"/>
            <a:ext cx="2514600" cy="749808"/>
          </a:xfrm>
          <a:prstGeom prst="rect">
            <a:avLst/>
          </a:prstGeom>
          <a:noFill/>
          <a:ln/>
        </p:spPr>
        <p:txBody>
          <a:bodyPr wrap="square" lIns="0" tIns="0" rIns="0" bIns="0" rtlCol="0" anchor="ctr"/>
          <a:lstStyle/>
          <a:p>
            <a:pPr algn="l" indent="0" marL="0">
              <a:buNone/>
            </a:pPr>
            <a:r>
              <a:rPr lang="en-US" sz="1800" b="1" dirty="0">
                <a:solidFill>
                  <a:schemeClr val="tx1"/>
                </a:solidFill>
              </a:rPr>
              <a:t>Special characters</a:t>
            </a:r>
            <a:endParaRPr lang="en-US" sz="1800" dirty="0"/>
          </a:p>
        </p:txBody>
      </p:sp>
      <p:sp>
        <p:nvSpPr>
          <p:cNvPr id="9" name="Text 5"/>
          <p:cNvSpPr txBox="1"/>
          <p:nvPr/>
        </p:nvSpPr>
        <p:spPr>
          <a:xfrm>
            <a:off x="3977640" y="1691640"/>
            <a:ext cx="3962095" cy="749808"/>
          </a:xfrm>
          <a:prstGeom prst="rect">
            <a:avLst/>
          </a:prstGeom>
          <a:noFill/>
          <a:ln/>
        </p:spPr>
        <p:txBody>
          <a:bodyPr wrap="square" lIns="0" tIns="0" rIns="0" bIns="0" rtlCol="0" anchor="ctr"/>
          <a:lstStyle/>
          <a:p>
            <a:pPr algn="l" indent="0" marL="0">
              <a:buNone/>
            </a:pPr>
            <a:r>
              <a:rPr lang="en-US" sz="1500" dirty="0">
                <a:solidFill>
                  <a:schemeClr val="tx2"/>
                </a:solidFill>
              </a:rPr>
              <a:t>Characters such as = and / aren’t allowed in input fields.</a:t>
            </a:r>
            <a:endParaRPr lang="en-US" sz="1500" dirty="0"/>
          </a:p>
        </p:txBody>
      </p:sp>
      <p:sp>
        <p:nvSpPr>
          <p:cNvPr id="10" name="Code chip"/>
          <p:cNvSpPr/>
          <p:nvPr/>
        </p:nvSpPr>
        <p:spPr>
          <a:xfrm>
            <a:off x="8076895" y="1828800"/>
            <a:ext cx="329184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350" dirty="0">
                <a:solidFill>
                  <a:schemeClr val="accent2"/>
                </a:solidFill>
                <a:latin typeface="Consolas" pitchFamily="34" charset="0"/>
                <a:ea typeface="Consolas" pitchFamily="34" charset="-122"/>
                <a:cs typeface="Consolas" pitchFamily="34" charset="-120"/>
              </a:rPr>
              <a:t>=   /</a:t>
            </a:r>
            <a:endParaRPr lang="en-US" sz="1350" dirty="0"/>
          </a:p>
        </p:txBody>
      </p:sp>
      <p:sp>
        <p:nvSpPr>
          <p:cNvPr id="11" name="SQL keywords"/>
          <p:cNvSpPr/>
          <p:nvPr/>
        </p:nvSpPr>
        <p:spPr>
          <a:xfrm>
            <a:off x="548640" y="2551176"/>
            <a:ext cx="11094415" cy="749808"/>
          </a:xfrm>
          <a:prstGeom prst="roundRect">
            <a:avLst>
              <a:gd name="adj" fmla="val 14634"/>
            </a:avLst>
          </a:prstGeom>
          <a:solidFill>
            <a:schemeClr val="bg1"/>
          </a:solidFill>
          <a:ln/>
          <a:effectLst>
            <a:outerShdw sx="100000" sy="100000" kx="0" ky="0" algn="bl" rotWithShape="0" blurRad="114300" dist="31750" dir="5400000">
              <a:srgbClr val="1D2433">
                <a:alpha val="12000"/>
              </a:srgbClr>
            </a:outerShdw>
          </a:effectLst>
        </p:spPr>
      </p:sp>
      <p:sp>
        <p:nvSpPr>
          <p:cNvPr id="12" name="Icon tile"/>
          <p:cNvSpPr/>
          <p:nvPr/>
        </p:nvSpPr>
        <p:spPr>
          <a:xfrm>
            <a:off x="749808" y="2670048"/>
            <a:ext cx="512064" cy="512064"/>
          </a:xfrm>
          <a:prstGeom prst="roundRect">
            <a:avLst>
              <a:gd name="adj" fmla="val 24000"/>
            </a:avLst>
          </a:prstGeom>
          <a:solidFill>
            <a:schemeClr val="accent2">
              <a:alpha val="14000"/>
            </a:schemeClr>
          </a:solidFill>
          <a:ln/>
        </p:spPr>
      </p:sp>
      <p:pic>
        <p:nvPicPr>
          <p:cNvPr id="13" name="Image 1" descr="database icon">    </p:cNvPr>
          <p:cNvPicPr>
            <a:picLocks noChangeAspect="1"/>
          </p:cNvPicPr>
          <p:nvPr/>
        </p:nvPicPr>
        <p:blipFill>
          <a:blip r:embed="rId2"/>
          <a:stretch>
            <a:fillRect/>
          </a:stretch>
        </p:blipFill>
        <p:spPr>
          <a:xfrm>
            <a:off x="857341" y="2777581"/>
            <a:ext cx="296997" cy="296997"/>
          </a:xfrm>
          <a:prstGeom prst="rect">
            <a:avLst/>
          </a:prstGeom>
        </p:spPr>
      </p:pic>
      <p:sp>
        <p:nvSpPr>
          <p:cNvPr id="14" name="Text 9"/>
          <p:cNvSpPr txBox="1"/>
          <p:nvPr/>
        </p:nvSpPr>
        <p:spPr>
          <a:xfrm>
            <a:off x="1463040" y="2551176"/>
            <a:ext cx="2514600" cy="749808"/>
          </a:xfrm>
          <a:prstGeom prst="rect">
            <a:avLst/>
          </a:prstGeom>
          <a:noFill/>
          <a:ln/>
        </p:spPr>
        <p:txBody>
          <a:bodyPr wrap="square" lIns="0" tIns="0" rIns="0" bIns="0" rtlCol="0" anchor="ctr"/>
          <a:lstStyle/>
          <a:p>
            <a:pPr algn="l" indent="0" marL="0">
              <a:buNone/>
            </a:pPr>
            <a:r>
              <a:rPr lang="en-US" sz="1800" b="1" dirty="0">
                <a:solidFill>
                  <a:schemeClr val="tx1"/>
                </a:solidFill>
              </a:rPr>
              <a:t>SQL keywords</a:t>
            </a:r>
            <a:endParaRPr lang="en-US" sz="1800" dirty="0"/>
          </a:p>
        </p:txBody>
      </p:sp>
      <p:sp>
        <p:nvSpPr>
          <p:cNvPr id="15" name="Text 10"/>
          <p:cNvSpPr txBox="1"/>
          <p:nvPr/>
        </p:nvSpPr>
        <p:spPr>
          <a:xfrm>
            <a:off x="3977640" y="2551176"/>
            <a:ext cx="3962095" cy="749808"/>
          </a:xfrm>
          <a:prstGeom prst="rect">
            <a:avLst/>
          </a:prstGeom>
          <a:noFill/>
          <a:ln/>
        </p:spPr>
        <p:txBody>
          <a:bodyPr wrap="square" lIns="0" tIns="0" rIns="0" bIns="0" rtlCol="0" anchor="ctr"/>
          <a:lstStyle/>
          <a:p>
            <a:pPr algn="l" indent="0" marL="0">
              <a:buNone/>
            </a:pPr>
            <a:r>
              <a:rPr lang="en-US" sz="1500" dirty="0">
                <a:solidFill>
                  <a:schemeClr val="tx2"/>
                </a:solidFill>
              </a:rPr>
              <a:t>No SELECT, UPDATE, DELETE, INSERT, ALTER, DROP or CREATE.</a:t>
            </a:r>
            <a:endParaRPr lang="en-US" sz="1500" dirty="0"/>
          </a:p>
        </p:txBody>
      </p:sp>
      <p:sp>
        <p:nvSpPr>
          <p:cNvPr id="16" name="Code chip"/>
          <p:cNvSpPr/>
          <p:nvPr/>
        </p:nvSpPr>
        <p:spPr>
          <a:xfrm>
            <a:off x="8076895" y="2688336"/>
            <a:ext cx="329184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350" dirty="0">
                <a:solidFill>
                  <a:schemeClr val="accent2"/>
                </a:solidFill>
                <a:latin typeface="Consolas" pitchFamily="34" charset="0"/>
                <a:ea typeface="Consolas" pitchFamily="34" charset="-122"/>
                <a:cs typeface="Consolas" pitchFamily="34" charset="-120"/>
              </a:rPr>
              <a:t>DROP TABLE students</a:t>
            </a:r>
            <a:endParaRPr lang="en-US" sz="1350" dirty="0"/>
          </a:p>
        </p:txBody>
      </p:sp>
      <p:sp>
        <p:nvSpPr>
          <p:cNvPr id="17" name="OR and AND"/>
          <p:cNvSpPr/>
          <p:nvPr/>
        </p:nvSpPr>
        <p:spPr>
          <a:xfrm>
            <a:off x="548640" y="3410712"/>
            <a:ext cx="11094415" cy="749808"/>
          </a:xfrm>
          <a:prstGeom prst="roundRect">
            <a:avLst>
              <a:gd name="adj" fmla="val 14634"/>
            </a:avLst>
          </a:prstGeom>
          <a:solidFill>
            <a:schemeClr val="bg1"/>
          </a:solidFill>
          <a:ln/>
          <a:effectLst>
            <a:outerShdw sx="100000" sy="100000" kx="0" ky="0" algn="bl" rotWithShape="0" blurRad="114300" dist="31750" dir="5400000">
              <a:srgbClr val="1D2433">
                <a:alpha val="12000"/>
              </a:srgbClr>
            </a:outerShdw>
          </a:effectLst>
        </p:spPr>
      </p:sp>
      <p:sp>
        <p:nvSpPr>
          <p:cNvPr id="18" name="Icon tile"/>
          <p:cNvSpPr/>
          <p:nvPr/>
        </p:nvSpPr>
        <p:spPr>
          <a:xfrm>
            <a:off x="749808" y="3529584"/>
            <a:ext cx="512064" cy="512064"/>
          </a:xfrm>
          <a:prstGeom prst="roundRect">
            <a:avLst>
              <a:gd name="adj" fmla="val 24000"/>
            </a:avLst>
          </a:prstGeom>
          <a:solidFill>
            <a:schemeClr val="accent5">
              <a:alpha val="14000"/>
            </a:schemeClr>
          </a:solidFill>
          <a:ln/>
        </p:spPr>
      </p:sp>
      <p:pic>
        <p:nvPicPr>
          <p:cNvPr id="19" name="Image 2" descr="arrows split icon">    </p:cNvPr>
          <p:cNvPicPr>
            <a:picLocks noChangeAspect="1"/>
          </p:cNvPicPr>
          <p:nvPr/>
        </p:nvPicPr>
        <p:blipFill>
          <a:blip r:embed="rId3"/>
          <a:stretch>
            <a:fillRect/>
          </a:stretch>
        </p:blipFill>
        <p:spPr>
          <a:xfrm>
            <a:off x="857341" y="3637117"/>
            <a:ext cx="296997" cy="296997"/>
          </a:xfrm>
          <a:prstGeom prst="rect">
            <a:avLst/>
          </a:prstGeom>
        </p:spPr>
      </p:pic>
      <p:sp>
        <p:nvSpPr>
          <p:cNvPr id="20" name="Text 14"/>
          <p:cNvSpPr txBox="1"/>
          <p:nvPr/>
        </p:nvSpPr>
        <p:spPr>
          <a:xfrm>
            <a:off x="1463040" y="3410712"/>
            <a:ext cx="2514600" cy="749808"/>
          </a:xfrm>
          <a:prstGeom prst="rect">
            <a:avLst/>
          </a:prstGeom>
          <a:noFill/>
          <a:ln/>
        </p:spPr>
        <p:txBody>
          <a:bodyPr wrap="square" lIns="0" tIns="0" rIns="0" bIns="0" rtlCol="0" anchor="ctr"/>
          <a:lstStyle/>
          <a:p>
            <a:pPr algn="l" indent="0" marL="0">
              <a:buNone/>
            </a:pPr>
            <a:r>
              <a:rPr lang="en-US" sz="1800" b="1" dirty="0">
                <a:solidFill>
                  <a:schemeClr val="tx1"/>
                </a:solidFill>
              </a:rPr>
              <a:t>OR and AND</a:t>
            </a:r>
            <a:endParaRPr lang="en-US" sz="1800" dirty="0"/>
          </a:p>
        </p:txBody>
      </p:sp>
      <p:sp>
        <p:nvSpPr>
          <p:cNvPr id="21" name="Text 15"/>
          <p:cNvSpPr txBox="1"/>
          <p:nvPr/>
        </p:nvSpPr>
        <p:spPr>
          <a:xfrm>
            <a:off x="3977640" y="3410712"/>
            <a:ext cx="3962095" cy="749808"/>
          </a:xfrm>
          <a:prstGeom prst="rect">
            <a:avLst/>
          </a:prstGeom>
          <a:noFill/>
          <a:ln/>
        </p:spPr>
        <p:txBody>
          <a:bodyPr wrap="square" lIns="0" tIns="0" rIns="0" bIns="0" rtlCol="0" anchor="ctr"/>
          <a:lstStyle/>
          <a:p>
            <a:pPr algn="l" indent="0" marL="0">
              <a:buNone/>
            </a:pPr>
            <a:r>
              <a:rPr lang="en-US" sz="1500" dirty="0">
                <a:solidFill>
                  <a:schemeClr val="tx2"/>
                </a:solidFill>
              </a:rPr>
              <a:t>Keywords such as OR and AND aren’t allowed either.</a:t>
            </a:r>
            <a:endParaRPr lang="en-US" sz="1500" dirty="0"/>
          </a:p>
        </p:txBody>
      </p:sp>
      <p:sp>
        <p:nvSpPr>
          <p:cNvPr id="22" name="Code chip"/>
          <p:cNvSpPr/>
          <p:nvPr/>
        </p:nvSpPr>
        <p:spPr>
          <a:xfrm>
            <a:off x="8076895" y="3547872"/>
            <a:ext cx="329184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350" dirty="0">
                <a:solidFill>
                  <a:schemeClr val="accent2"/>
                </a:solidFill>
                <a:latin typeface="Consolas" pitchFamily="34" charset="0"/>
                <a:ea typeface="Consolas" pitchFamily="34" charset="-122"/>
                <a:cs typeface="Consolas" pitchFamily="34" charset="-120"/>
              </a:rPr>
              <a:t>OR   AND</a:t>
            </a:r>
            <a:endParaRPr lang="en-US" sz="1350" dirty="0"/>
          </a:p>
        </p:txBody>
      </p:sp>
      <p:sp>
        <p:nvSpPr>
          <p:cNvPr id="23" name="Encode it"/>
          <p:cNvSpPr/>
          <p:nvPr/>
        </p:nvSpPr>
        <p:spPr>
          <a:xfrm>
            <a:off x="548640" y="4270248"/>
            <a:ext cx="11094415" cy="749808"/>
          </a:xfrm>
          <a:prstGeom prst="roundRect">
            <a:avLst>
              <a:gd name="adj" fmla="val 14634"/>
            </a:avLst>
          </a:prstGeom>
          <a:solidFill>
            <a:schemeClr val="bg1"/>
          </a:solidFill>
          <a:ln/>
          <a:effectLst>
            <a:outerShdw sx="100000" sy="100000" kx="0" ky="0" algn="bl" rotWithShape="0" blurRad="114300" dist="31750" dir="5400000">
              <a:srgbClr val="1D2433">
                <a:alpha val="12000"/>
              </a:srgbClr>
            </a:outerShdw>
          </a:effectLst>
        </p:spPr>
      </p:sp>
      <p:sp>
        <p:nvSpPr>
          <p:cNvPr id="24" name="Icon tile"/>
          <p:cNvSpPr/>
          <p:nvPr/>
        </p:nvSpPr>
        <p:spPr>
          <a:xfrm>
            <a:off x="749808" y="4389120"/>
            <a:ext cx="512064" cy="512064"/>
          </a:xfrm>
          <a:prstGeom prst="roundRect">
            <a:avLst>
              <a:gd name="adj" fmla="val 24000"/>
            </a:avLst>
          </a:prstGeom>
          <a:solidFill>
            <a:schemeClr val="accent3">
              <a:alpha val="14000"/>
            </a:schemeClr>
          </a:solidFill>
          <a:ln/>
        </p:spPr>
      </p:sp>
      <p:pic>
        <p:nvPicPr>
          <p:cNvPr id="25" name="Image 3" descr="lock key icon">    </p:cNvPr>
          <p:cNvPicPr>
            <a:picLocks noChangeAspect="1"/>
          </p:cNvPicPr>
          <p:nvPr/>
        </p:nvPicPr>
        <p:blipFill>
          <a:blip r:embed="rId4"/>
          <a:stretch>
            <a:fillRect/>
          </a:stretch>
        </p:blipFill>
        <p:spPr>
          <a:xfrm>
            <a:off x="857341" y="4496653"/>
            <a:ext cx="296997" cy="296997"/>
          </a:xfrm>
          <a:prstGeom prst="rect">
            <a:avLst/>
          </a:prstGeom>
        </p:spPr>
      </p:pic>
      <p:sp>
        <p:nvSpPr>
          <p:cNvPr id="26" name="Text 19"/>
          <p:cNvSpPr txBox="1"/>
          <p:nvPr/>
        </p:nvSpPr>
        <p:spPr>
          <a:xfrm>
            <a:off x="1463040" y="4270248"/>
            <a:ext cx="2514600" cy="749808"/>
          </a:xfrm>
          <a:prstGeom prst="rect">
            <a:avLst/>
          </a:prstGeom>
          <a:noFill/>
          <a:ln/>
        </p:spPr>
        <p:txBody>
          <a:bodyPr wrap="square" lIns="0" tIns="0" rIns="0" bIns="0" rtlCol="0" anchor="ctr"/>
          <a:lstStyle/>
          <a:p>
            <a:pPr algn="l" indent="0" marL="0">
              <a:buNone/>
            </a:pPr>
            <a:r>
              <a:rPr lang="en-US" sz="1800" b="1" dirty="0">
                <a:solidFill>
                  <a:schemeClr val="tx1"/>
                </a:solidFill>
              </a:rPr>
              <a:t>Encode it</a:t>
            </a:r>
            <a:endParaRPr lang="en-US" sz="1800" dirty="0"/>
          </a:p>
        </p:txBody>
      </p:sp>
      <p:sp>
        <p:nvSpPr>
          <p:cNvPr id="27" name="Text 20"/>
          <p:cNvSpPr txBox="1"/>
          <p:nvPr/>
        </p:nvSpPr>
        <p:spPr>
          <a:xfrm>
            <a:off x="3977640" y="4270248"/>
            <a:ext cx="3962095" cy="749808"/>
          </a:xfrm>
          <a:prstGeom prst="rect">
            <a:avLst/>
          </a:prstGeom>
          <a:noFill/>
          <a:ln/>
        </p:spPr>
        <p:txBody>
          <a:bodyPr wrap="square" lIns="0" tIns="0" rIns="0" bIns="0" rtlCol="0" anchor="ctr"/>
          <a:lstStyle/>
          <a:p>
            <a:pPr algn="l" indent="0" marL="0">
              <a:buNone/>
            </a:pPr>
            <a:r>
              <a:rPr lang="en-US" sz="1500" dirty="0">
                <a:solidFill>
                  <a:schemeClr val="tx2"/>
                </a:solidFill>
              </a:rPr>
              <a:t>To keep the exact text, encode it before storing, decode when reading.</a:t>
            </a:r>
            <a:endParaRPr lang="en-US" sz="1500" dirty="0"/>
          </a:p>
        </p:txBody>
      </p:sp>
      <p:sp>
        <p:nvSpPr>
          <p:cNvPr id="28" name="Code chip"/>
          <p:cNvSpPr/>
          <p:nvPr/>
        </p:nvSpPr>
        <p:spPr>
          <a:xfrm>
            <a:off x="8076895" y="4407408"/>
            <a:ext cx="3291840" cy="475488"/>
          </a:xfrm>
          <a:prstGeom prst="roundRect">
            <a:avLst>
              <a:gd name="adj" fmla="val 15385"/>
            </a:avLst>
          </a:prstGeom>
          <a:solidFill>
            <a:schemeClr val="bg2"/>
          </a:solidFill>
          <a:ln/>
        </p:spPr>
        <p:txBody>
          <a:bodyPr wrap="square" lIns="152400" tIns="0" rIns="0" bIns="0" rtlCol="0" anchor="ctr"/>
          <a:lstStyle/>
          <a:p>
            <a:pPr algn="l" indent="0" marL="0">
              <a:buNone/>
            </a:pPr>
            <a:r>
              <a:rPr lang="en-US" sz="1350" dirty="0">
                <a:solidFill>
                  <a:schemeClr val="accent2"/>
                </a:solidFill>
                <a:latin typeface="Consolas" pitchFamily="34" charset="0"/>
                <a:ea typeface="Consolas" pitchFamily="34" charset="-122"/>
                <a:cs typeface="Consolas" pitchFamily="34" charset="-120"/>
              </a:rPr>
              <a:t>encode → store → decode</a:t>
            </a:r>
            <a:endParaRPr lang="en-US" sz="1350" dirty="0"/>
          </a:p>
        </p:txBody>
      </p:sp>
      <p:sp>
        <p:nvSpPr>
          <p:cNvPr id="29" name="Note"/>
          <p:cNvSpPr/>
          <p:nvPr/>
        </p:nvSpPr>
        <p:spPr>
          <a:xfrm>
            <a:off x="548640" y="5212080"/>
            <a:ext cx="11094415" cy="914400"/>
          </a:xfrm>
          <a:prstGeom prst="roundRect">
            <a:avLst>
              <a:gd name="adj" fmla="val 12000"/>
            </a:avLst>
          </a:prstGeom>
          <a:solidFill>
            <a:schemeClr val="bg2"/>
          </a:solidFill>
          <a:ln/>
        </p:spPr>
      </p:sp>
      <p:sp>
        <p:nvSpPr>
          <p:cNvPr id="30" name="Icon tile"/>
          <p:cNvSpPr/>
          <p:nvPr/>
        </p:nvSpPr>
        <p:spPr>
          <a:xfrm>
            <a:off x="822960" y="5404104"/>
            <a:ext cx="530352" cy="530352"/>
          </a:xfrm>
          <a:prstGeom prst="roundRect">
            <a:avLst>
              <a:gd name="adj" fmla="val 24000"/>
            </a:avLst>
          </a:prstGeom>
          <a:solidFill>
            <a:schemeClr val="accent2">
              <a:alpha val="14000"/>
            </a:schemeClr>
          </a:solidFill>
          <a:ln/>
        </p:spPr>
      </p:sp>
      <p:pic>
        <p:nvPicPr>
          <p:cNvPr id="31" name="Image 4" descr="info icon">    </p:cNvPr>
          <p:cNvPicPr>
            <a:picLocks noChangeAspect="1"/>
          </p:cNvPicPr>
          <p:nvPr/>
        </p:nvPicPr>
        <p:blipFill>
          <a:blip r:embed="rId5"/>
          <a:stretch>
            <a:fillRect/>
          </a:stretch>
        </p:blipFill>
        <p:spPr>
          <a:xfrm>
            <a:off x="934334" y="5515478"/>
            <a:ext cx="307604" cy="307604"/>
          </a:xfrm>
          <a:prstGeom prst="rect">
            <a:avLst/>
          </a:prstGeom>
        </p:spPr>
      </p:pic>
      <p:sp>
        <p:nvSpPr>
          <p:cNvPr id="32" name="Text 24"/>
          <p:cNvSpPr txBox="1"/>
          <p:nvPr/>
        </p:nvSpPr>
        <p:spPr>
          <a:xfrm>
            <a:off x="1572768" y="5212080"/>
            <a:ext cx="9814255" cy="914400"/>
          </a:xfrm>
          <a:prstGeom prst="rect">
            <a:avLst/>
          </a:prstGeom>
          <a:noFill/>
          <a:ln/>
        </p:spPr>
        <p:txBody>
          <a:bodyPr wrap="square" lIns="0" tIns="0" rIns="0" bIns="0" rtlCol="0" anchor="ctr"/>
          <a:lstStyle/>
          <a:p>
            <a:pPr algn="l" indent="0" marL="0">
              <a:buNone/>
            </a:pPr>
            <a:r>
              <a:rPr lang="en-US" sz="1500" dirty="0">
                <a:solidFill>
                  <a:schemeClr val="tx1"/>
                </a:solidFill>
              </a:rPr>
              <a:t>Check whole words: a careless check for OR would also reject a name like George. Later, with databases, a PreparedStatement keeps input and command apart, the most reliable fix.</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Label"/>
          <p:cNvSpPr/>
          <p:nvPr/>
        </p:nvSpPr>
        <p:spPr>
          <a:xfrm>
            <a:off x="548640" y="384048"/>
            <a:ext cx="2156155"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QUICK CHECK  26</a:t>
            </a:r>
            <a:endParaRPr lang="en-US" sz="1400" dirty="0"/>
          </a:p>
        </p:txBody>
      </p:sp>
      <p:sp>
        <p:nvSpPr>
          <p:cNvPr id="3" name="Text 1"/>
          <p:cNvSpPr txBox="1"/>
          <p:nvPr/>
        </p:nvSpPr>
        <p:spPr>
          <a:xfrm>
            <a:off x="2887675"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Defensive programming</a:t>
            </a:r>
            <a:endParaRPr lang="en-US" sz="1400" dirty="0"/>
          </a:p>
        </p:txBody>
      </p:sp>
      <p:sp>
        <p:nvSpPr>
          <p:cNvPr id="4" name="Text 0"/>
          <p:cNvSpPr/>
          <p:nvPr>
            <p:ph idx="100" type="title" hasCustomPrompt="1"/>
          </p:nvPr>
        </p:nvSpPr>
        <p:spPr>
          <a:xfrm>
            <a:off x="548640" y="914400"/>
            <a:ext cx="11091672" cy="1143000"/>
          </a:xfrm>
          <a:prstGeom prst="rect">
            <a:avLst/>
          </a:prstGeom>
          <a:noFill/>
          <a:ln/>
        </p:spPr>
        <p:txBody>
          <a:bodyPr wrap="square" lIns="0" tIns="0" rIns="0" bIns="0" rtlCol="0" anchor="t"/>
          <a:lstStyle/>
          <a:p>
            <a:pPr algn="l" indent="0" marL="0">
              <a:buNone/>
            </a:pPr>
            <a:r>
              <a:rPr lang="en-US" sz="2800" b="1" dirty="0">
                <a:solidFill>
                  <a:schemeClr val="tx1"/>
                </a:solidFill>
              </a:rPr>
              <a:t>Which input breaks the defensive programming rules from the last slide?</a:t>
            </a:r>
            <a:endParaRPr lang="en-US" sz="2800" dirty="0"/>
          </a:p>
        </p:txBody>
      </p:sp>
      <p:sp>
        <p:nvSpPr>
          <p:cNvPr id="5" name="Option A"/>
          <p:cNvSpPr/>
          <p:nvPr/>
        </p:nvSpPr>
        <p:spPr>
          <a:xfrm>
            <a:off x="548640"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6" name="Letter A"/>
          <p:cNvSpPr/>
          <p:nvPr/>
        </p:nvSpPr>
        <p:spPr>
          <a:xfrm>
            <a:off x="822960"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7" name="Option A text"/>
          <p:cNvSpPr txBox="1"/>
          <p:nvPr/>
        </p:nvSpPr>
        <p:spPr>
          <a:xfrm>
            <a:off x="1645920"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Ciara Murphy</a:t>
            </a:r>
            <a:endParaRPr lang="en-US" sz="2000" dirty="0"/>
          </a:p>
        </p:txBody>
      </p:sp>
      <p:sp>
        <p:nvSpPr>
          <p:cNvPr id="8" name="Option B"/>
          <p:cNvSpPr/>
          <p:nvPr/>
        </p:nvSpPr>
        <p:spPr>
          <a:xfrm>
            <a:off x="6233465" y="224028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9" name="Letter B"/>
          <p:cNvSpPr/>
          <p:nvPr/>
        </p:nvSpPr>
        <p:spPr>
          <a:xfrm>
            <a:off x="6507785" y="268833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0" name="Option B text"/>
          <p:cNvSpPr txBox="1"/>
          <p:nvPr/>
        </p:nvSpPr>
        <p:spPr>
          <a:xfrm>
            <a:off x="7330745" y="2286000"/>
            <a:ext cx="4038905" cy="1371600"/>
          </a:xfrm>
          <a:prstGeom prst="rect">
            <a:avLst/>
          </a:prstGeom>
          <a:noFill/>
          <a:ln/>
        </p:spPr>
        <p:txBody>
          <a:bodyPr wrap="square" lIns="0" tIns="0" rIns="0" bIns="0" rtlCol="0" anchor="ctr"/>
          <a:lstStyle/>
          <a:p>
            <a:pPr indent="0" marL="0">
              <a:buNone/>
            </a:pPr>
            <a:r>
              <a:rPr lang="en-US" sz="2000" dirty="0">
                <a:solidFill>
                  <a:schemeClr val="tx1"/>
                </a:solidFill>
              </a:rPr>
              <a:t>Dublin 8</a:t>
            </a:r>
            <a:endParaRPr lang="en-US" sz="2000" dirty="0"/>
          </a:p>
        </p:txBody>
      </p:sp>
      <p:sp>
        <p:nvSpPr>
          <p:cNvPr id="11" name="Option C"/>
          <p:cNvSpPr/>
          <p:nvPr/>
        </p:nvSpPr>
        <p:spPr>
          <a:xfrm>
            <a:off x="548640"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2" name="Letter C"/>
          <p:cNvSpPr/>
          <p:nvPr/>
        </p:nvSpPr>
        <p:spPr>
          <a:xfrm>
            <a:off x="822960"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13" name="Option C text"/>
          <p:cNvSpPr txBox="1"/>
          <p:nvPr/>
        </p:nvSpPr>
        <p:spPr>
          <a:xfrm>
            <a:off x="1645920"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25</a:t>
            </a:r>
            <a:endParaRPr lang="en-US" sz="2000" dirty="0"/>
          </a:p>
        </p:txBody>
      </p:sp>
      <p:sp>
        <p:nvSpPr>
          <p:cNvPr id="14" name="Option D"/>
          <p:cNvSpPr/>
          <p:nvPr/>
        </p:nvSpPr>
        <p:spPr>
          <a:xfrm>
            <a:off x="6233465" y="3977640"/>
            <a:ext cx="5410505" cy="1463040"/>
          </a:xfrm>
          <a:prstGeom prst="roundRect">
            <a:avLst>
              <a:gd name="adj" fmla="val 8750"/>
            </a:avLst>
          </a:prstGeom>
          <a:solidFill>
            <a:schemeClr val="bg1"/>
          </a:solidFill>
          <a:ln/>
          <a:effectLst>
            <a:outerShdw sx="100000" sy="100000" kx="0" ky="0" algn="bl" rotWithShape="0" blurRad="114300" dist="31750" dir="5400000">
              <a:srgbClr val="1D2433">
                <a:alpha val="12000"/>
              </a:srgbClr>
            </a:outerShdw>
          </a:effectLst>
        </p:spPr>
      </p:sp>
      <p:sp>
        <p:nvSpPr>
          <p:cNvPr id="15" name="Letter D"/>
          <p:cNvSpPr/>
          <p:nvPr/>
        </p:nvSpPr>
        <p:spPr>
          <a:xfrm>
            <a:off x="6507785" y="4425696"/>
            <a:ext cx="566928" cy="566928"/>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Option D text"/>
          <p:cNvSpPr txBox="1"/>
          <p:nvPr/>
        </p:nvSpPr>
        <p:spPr>
          <a:xfrm>
            <a:off x="7330745" y="4023360"/>
            <a:ext cx="4038905" cy="1371600"/>
          </a:xfrm>
          <a:prstGeom prst="rect">
            <a:avLst/>
          </a:prstGeom>
          <a:noFill/>
          <a:ln/>
        </p:spPr>
        <p:txBody>
          <a:bodyPr wrap="square" lIns="0" tIns="0" rIns="0" bIns="0" rtlCol="0" anchor="ctr"/>
          <a:lstStyle/>
          <a:p>
            <a:pPr indent="0" marL="0">
              <a:buNone/>
            </a:pPr>
            <a:r>
              <a:rPr lang="en-US" sz="2000" dirty="0">
                <a:solidFill>
                  <a:schemeClr val="tx1"/>
                </a:solidFill>
              </a:rPr>
              <a:t>Tom; DROP TABLE students</a:t>
            </a:r>
            <a:endParaRPr lang="en-US" sz="20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Label"/>
          <p:cNvSpPr/>
          <p:nvPr/>
        </p:nvSpPr>
        <p:spPr>
          <a:xfrm>
            <a:off x="548640" y="384048"/>
            <a:ext cx="1559966"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spc="100" kern="0" dirty="0">
                <a:solidFill>
                  <a:schemeClr val="bg1"/>
                </a:solidFill>
              </a:rPr>
              <a:t>ANSWER  26</a:t>
            </a:r>
            <a:endParaRPr lang="en-US" sz="1400" dirty="0"/>
          </a:p>
        </p:txBody>
      </p:sp>
      <p:sp>
        <p:nvSpPr>
          <p:cNvPr id="3" name="Text 1"/>
          <p:cNvSpPr txBox="1"/>
          <p:nvPr/>
        </p:nvSpPr>
        <p:spPr>
          <a:xfrm>
            <a:off x="2291486" y="384048"/>
            <a:ext cx="6400800" cy="365760"/>
          </a:xfrm>
          <a:prstGeom prst="rect">
            <a:avLst/>
          </a:prstGeom>
          <a:noFill/>
          <a:ln/>
        </p:spPr>
        <p:txBody>
          <a:bodyPr wrap="square" lIns="0" tIns="0" rIns="0" bIns="0" rtlCol="0" anchor="ctr"/>
          <a:lstStyle/>
          <a:p>
            <a:pPr algn="l" indent="0" marL="0">
              <a:buNone/>
            </a:pPr>
            <a:r>
              <a:rPr lang="en-US" sz="1400" dirty="0">
                <a:solidFill>
                  <a:schemeClr val="tx2"/>
                </a:solidFill>
              </a:rPr>
              <a:t>Defensive programming</a:t>
            </a:r>
            <a:endParaRPr lang="en-US" sz="1400" dirty="0"/>
          </a:p>
        </p:txBody>
      </p:sp>
      <p:sp>
        <p:nvSpPr>
          <p:cNvPr id="4" name="Text 0"/>
          <p:cNvSpPr/>
          <p:nvPr>
            <p:ph idx="100" type="title" hasCustomPrompt="1"/>
          </p:nvPr>
        </p:nvSpPr>
        <p:spPr>
          <a:xfrm>
            <a:off x="548640" y="896112"/>
            <a:ext cx="11091672" cy="777240"/>
          </a:xfrm>
          <a:prstGeom prst="rect">
            <a:avLst/>
          </a:prstGeom>
          <a:noFill/>
          <a:ln/>
        </p:spPr>
        <p:txBody>
          <a:bodyPr wrap="square" lIns="0" tIns="0" rIns="0" bIns="0" rtlCol="0" anchor="t"/>
          <a:lstStyle/>
          <a:p>
            <a:pPr algn="l" indent="0" marL="0">
              <a:buNone/>
            </a:pPr>
            <a:r>
              <a:rPr lang="en-US" sz="2000" b="1" dirty="0">
                <a:solidFill>
                  <a:schemeClr val="tx2"/>
                </a:solidFill>
              </a:rPr>
              <a:t>Which input breaks the defensive programming rules from the last slide?</a:t>
            </a:r>
            <a:endParaRPr lang="en-US" sz="2000" dirty="0"/>
          </a:p>
        </p:txBody>
      </p:sp>
      <p:sp>
        <p:nvSpPr>
          <p:cNvPr id="5" name="Option A"/>
          <p:cNvSpPr/>
          <p:nvPr/>
        </p:nvSpPr>
        <p:spPr>
          <a:xfrm>
            <a:off x="548640" y="1874520"/>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6" name="Letter A"/>
          <p:cNvSpPr/>
          <p:nvPr/>
        </p:nvSpPr>
        <p:spPr>
          <a:xfrm>
            <a:off x="749808" y="2052828"/>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A</a:t>
            </a:r>
            <a:endParaRPr lang="en-US" sz="1600" dirty="0"/>
          </a:p>
        </p:txBody>
      </p:sp>
      <p:sp>
        <p:nvSpPr>
          <p:cNvPr id="7" name="Option A text"/>
          <p:cNvSpPr txBox="1"/>
          <p:nvPr/>
        </p:nvSpPr>
        <p:spPr>
          <a:xfrm>
            <a:off x="1371600" y="1874520"/>
            <a:ext cx="4572000" cy="777240"/>
          </a:xfrm>
          <a:prstGeom prst="rect">
            <a:avLst/>
          </a:prstGeom>
          <a:noFill/>
          <a:ln/>
        </p:spPr>
        <p:txBody>
          <a:bodyPr wrap="square" lIns="0" tIns="0" rIns="0" bIns="0" rtlCol="0" anchor="ctr"/>
          <a:lstStyle/>
          <a:p>
            <a:pPr indent="0" marL="0">
              <a:buNone/>
            </a:pPr>
            <a:r>
              <a:rPr lang="en-US" sz="1700" dirty="0">
                <a:solidFill>
                  <a:schemeClr val="tx2"/>
                </a:solidFill>
              </a:rPr>
              <a:t>Ciara Murphy</a:t>
            </a:r>
            <a:endParaRPr lang="en-US" sz="1700" dirty="0"/>
          </a:p>
        </p:txBody>
      </p:sp>
      <p:sp>
        <p:nvSpPr>
          <p:cNvPr id="8" name="Option B"/>
          <p:cNvSpPr/>
          <p:nvPr/>
        </p:nvSpPr>
        <p:spPr>
          <a:xfrm>
            <a:off x="548640" y="2798064"/>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9" name="Letter B"/>
          <p:cNvSpPr/>
          <p:nvPr/>
        </p:nvSpPr>
        <p:spPr>
          <a:xfrm>
            <a:off x="749808" y="2976372"/>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B</a:t>
            </a:r>
            <a:endParaRPr lang="en-US" sz="1600" dirty="0"/>
          </a:p>
        </p:txBody>
      </p:sp>
      <p:sp>
        <p:nvSpPr>
          <p:cNvPr id="10" name="Option B text"/>
          <p:cNvSpPr txBox="1"/>
          <p:nvPr/>
        </p:nvSpPr>
        <p:spPr>
          <a:xfrm>
            <a:off x="1371600" y="2798064"/>
            <a:ext cx="4572000" cy="777240"/>
          </a:xfrm>
          <a:prstGeom prst="rect">
            <a:avLst/>
          </a:prstGeom>
          <a:noFill/>
          <a:ln/>
        </p:spPr>
        <p:txBody>
          <a:bodyPr wrap="square" lIns="0" tIns="0" rIns="0" bIns="0" rtlCol="0" anchor="ctr"/>
          <a:lstStyle/>
          <a:p>
            <a:pPr indent="0" marL="0">
              <a:buNone/>
            </a:pPr>
            <a:r>
              <a:rPr lang="en-US" sz="1700" dirty="0">
                <a:solidFill>
                  <a:schemeClr val="tx2"/>
                </a:solidFill>
              </a:rPr>
              <a:t>Dublin 8</a:t>
            </a:r>
            <a:endParaRPr lang="en-US" sz="1700" dirty="0"/>
          </a:p>
        </p:txBody>
      </p:sp>
      <p:sp>
        <p:nvSpPr>
          <p:cNvPr id="11" name="Option C"/>
          <p:cNvSpPr/>
          <p:nvPr/>
        </p:nvSpPr>
        <p:spPr>
          <a:xfrm>
            <a:off x="548640" y="3721608"/>
            <a:ext cx="5623560" cy="777240"/>
          </a:xfrm>
          <a:prstGeom prst="roundRect">
            <a:avLst>
              <a:gd name="adj" fmla="val 14118"/>
            </a:avLst>
          </a:prstGeom>
          <a:solidFill>
            <a:schemeClr val="bg1"/>
          </a:solidFill>
          <a:ln/>
          <a:effectLst>
            <a:outerShdw sx="100000" sy="100000" kx="0" ky="0" algn="bl" rotWithShape="0" blurRad="76200" dist="19050" dir="5400000">
              <a:srgbClr val="1D2433">
                <a:alpha val="8000"/>
              </a:srgbClr>
            </a:outerShdw>
          </a:effectLst>
        </p:spPr>
      </p:sp>
      <p:sp>
        <p:nvSpPr>
          <p:cNvPr id="12" name="Letter C"/>
          <p:cNvSpPr/>
          <p:nvPr/>
        </p:nvSpPr>
        <p:spPr>
          <a:xfrm>
            <a:off x="749808" y="3899916"/>
            <a:ext cx="420624" cy="420624"/>
          </a:xfrm>
          <a:prstGeom prst="ellipse">
            <a:avLst/>
          </a:prstGeom>
          <a:solidFill>
            <a:schemeClr val="bg2"/>
          </a:solidFill>
          <a:ln/>
        </p:spPr>
        <p:txBody>
          <a:bodyPr wrap="square" lIns="0" tIns="0" rIns="0" bIns="0" rtlCol="0" anchor="ctr"/>
          <a:lstStyle/>
          <a:p>
            <a:pPr algn="ctr" indent="0" marL="0">
              <a:buNone/>
            </a:pPr>
            <a:r>
              <a:rPr lang="en-US" sz="1600" b="1" dirty="0">
                <a:solidFill>
                  <a:schemeClr val="tx2"/>
                </a:solidFill>
              </a:rPr>
              <a:t>C</a:t>
            </a:r>
            <a:endParaRPr lang="en-US" sz="1600" dirty="0"/>
          </a:p>
        </p:txBody>
      </p:sp>
      <p:sp>
        <p:nvSpPr>
          <p:cNvPr id="13" name="Option C text"/>
          <p:cNvSpPr txBox="1"/>
          <p:nvPr/>
        </p:nvSpPr>
        <p:spPr>
          <a:xfrm>
            <a:off x="1371600" y="3721608"/>
            <a:ext cx="4572000" cy="777240"/>
          </a:xfrm>
          <a:prstGeom prst="rect">
            <a:avLst/>
          </a:prstGeom>
          <a:noFill/>
          <a:ln/>
        </p:spPr>
        <p:txBody>
          <a:bodyPr wrap="square" lIns="0" tIns="0" rIns="0" bIns="0" rtlCol="0" anchor="ctr"/>
          <a:lstStyle/>
          <a:p>
            <a:pPr indent="0" marL="0">
              <a:buNone/>
            </a:pPr>
            <a:r>
              <a:rPr lang="en-US" sz="1700" dirty="0">
                <a:solidFill>
                  <a:schemeClr val="tx2"/>
                </a:solidFill>
              </a:rPr>
              <a:t>25</a:t>
            </a:r>
            <a:endParaRPr lang="en-US" sz="1700" dirty="0"/>
          </a:p>
        </p:txBody>
      </p:sp>
      <p:sp>
        <p:nvSpPr>
          <p:cNvPr id="14" name="Option D (correct)"/>
          <p:cNvSpPr/>
          <p:nvPr/>
        </p:nvSpPr>
        <p:spPr>
          <a:xfrm>
            <a:off x="548640" y="4645152"/>
            <a:ext cx="5623560" cy="777240"/>
          </a:xfrm>
          <a:prstGeom prst="roundRect">
            <a:avLst>
              <a:gd name="adj" fmla="val 14118"/>
            </a:avLst>
          </a:prstGeom>
          <a:solidFill>
            <a:schemeClr val="accent3"/>
          </a:solidFill>
          <a:ln/>
          <a:effectLst>
            <a:outerShdw sx="100000" sy="100000" kx="0" ky="0" algn="bl" rotWithShape="0" blurRad="114300" dist="31750" dir="5400000">
              <a:srgbClr val="1D2433">
                <a:alpha val="12000"/>
              </a:srgbClr>
            </a:outerShdw>
          </a:effectLst>
        </p:spPr>
      </p:sp>
      <p:sp>
        <p:nvSpPr>
          <p:cNvPr id="15" name="Letter D"/>
          <p:cNvSpPr/>
          <p:nvPr/>
        </p:nvSpPr>
        <p:spPr>
          <a:xfrm>
            <a:off x="749808" y="4823460"/>
            <a:ext cx="420624" cy="420624"/>
          </a:xfrm>
          <a:prstGeom prst="ellipse">
            <a:avLst/>
          </a:prstGeom>
          <a:solidFill>
            <a:schemeClr val="bg1"/>
          </a:solidFill>
          <a:ln/>
        </p:spPr>
        <p:txBody>
          <a:bodyPr wrap="square" lIns="0" tIns="0" rIns="0" bIns="0" rtlCol="0" anchor="ctr"/>
          <a:lstStyle/>
          <a:p>
            <a:pPr algn="ctr" indent="0" marL="0">
              <a:buNone/>
            </a:pPr>
            <a:r>
              <a:rPr lang="en-US" sz="1600" b="1" dirty="0">
                <a:solidFill>
                  <a:schemeClr val="accent3"/>
                </a:solidFill>
              </a:rPr>
              <a:t>D</a:t>
            </a:r>
            <a:endParaRPr lang="en-US" sz="1600" dirty="0"/>
          </a:p>
        </p:txBody>
      </p:sp>
      <p:sp>
        <p:nvSpPr>
          <p:cNvPr id="16" name="Option D text"/>
          <p:cNvSpPr txBox="1"/>
          <p:nvPr/>
        </p:nvSpPr>
        <p:spPr>
          <a:xfrm>
            <a:off x="1371600" y="4645152"/>
            <a:ext cx="4233672" cy="777240"/>
          </a:xfrm>
          <a:prstGeom prst="rect">
            <a:avLst/>
          </a:prstGeom>
          <a:noFill/>
          <a:ln/>
        </p:spPr>
        <p:txBody>
          <a:bodyPr wrap="square" lIns="0" tIns="0" rIns="0" bIns="0" rtlCol="0" anchor="ctr"/>
          <a:lstStyle/>
          <a:p>
            <a:pPr indent="0" marL="0">
              <a:buNone/>
            </a:pPr>
            <a:r>
              <a:rPr lang="en-US" sz="1700" b="1" dirty="0">
                <a:solidFill>
                  <a:schemeClr val="bg1"/>
                </a:solidFill>
              </a:rPr>
              <a:t>Tom; DROP TABLE students</a:t>
            </a:r>
            <a:endParaRPr lang="en-US" sz="1700" dirty="0"/>
          </a:p>
        </p:txBody>
      </p:sp>
      <p:pic>
        <p:nvPicPr>
          <p:cNvPr id="17" name="Image 0" descr="Correct mark">    </p:cNvPr>
          <p:cNvPicPr>
            <a:picLocks noChangeAspect="1"/>
          </p:cNvPicPr>
          <p:nvPr/>
        </p:nvPicPr>
        <p:blipFill>
          <a:blip r:embed="rId1"/>
          <a:stretch>
            <a:fillRect/>
          </a:stretch>
        </p:blipFill>
        <p:spPr>
          <a:xfrm>
            <a:off x="5623560" y="4850892"/>
            <a:ext cx="365760" cy="365760"/>
          </a:xfrm>
          <a:prstGeom prst="rect">
            <a:avLst/>
          </a:prstGeom>
        </p:spPr>
      </p:pic>
      <p:sp>
        <p:nvSpPr>
          <p:cNvPr id="18" name="Why card"/>
          <p:cNvSpPr/>
          <p:nvPr/>
        </p:nvSpPr>
        <p:spPr>
          <a:xfrm>
            <a:off x="6492240" y="1874520"/>
            <a:ext cx="5150815" cy="3657600"/>
          </a:xfrm>
          <a:prstGeom prst="roundRect">
            <a:avLst>
              <a:gd name="adj" fmla="val 3000"/>
            </a:avLst>
          </a:prstGeom>
          <a:solidFill>
            <a:schemeClr val="bg1"/>
          </a:solidFill>
          <a:ln/>
          <a:effectLst>
            <a:outerShdw sx="100000" sy="100000" kx="0" ky="0" algn="bl" rotWithShape="0" blurRad="114300" dist="31750" dir="5400000">
              <a:srgbClr val="1D2433">
                <a:alpha val="12000"/>
              </a:srgbClr>
            </a:outerShdw>
          </a:effectLst>
        </p:spPr>
      </p:sp>
      <p:sp>
        <p:nvSpPr>
          <p:cNvPr id="19" name="Icon tile"/>
          <p:cNvSpPr/>
          <p:nvPr/>
        </p:nvSpPr>
        <p:spPr>
          <a:xfrm>
            <a:off x="6812280" y="2167128"/>
            <a:ext cx="566928" cy="566928"/>
          </a:xfrm>
          <a:prstGeom prst="roundRect">
            <a:avLst>
              <a:gd name="adj" fmla="val 24000"/>
            </a:avLst>
          </a:prstGeom>
          <a:solidFill>
            <a:schemeClr val="accent1">
              <a:alpha val="14000"/>
            </a:schemeClr>
          </a:solidFill>
          <a:ln/>
        </p:spPr>
      </p:sp>
      <p:pic>
        <p:nvPicPr>
          <p:cNvPr id="20" name="Image 1" descr="lightbulb icon">    </p:cNvPr>
          <p:cNvPicPr>
            <a:picLocks noChangeAspect="1"/>
          </p:cNvPicPr>
          <p:nvPr/>
        </p:nvPicPr>
        <p:blipFill>
          <a:blip r:embed="rId2"/>
          <a:stretch>
            <a:fillRect/>
          </a:stretch>
        </p:blipFill>
        <p:spPr>
          <a:xfrm>
            <a:off x="6931335" y="2286183"/>
            <a:ext cx="328818" cy="328818"/>
          </a:xfrm>
          <a:prstGeom prst="rect">
            <a:avLst/>
          </a:prstGeom>
        </p:spPr>
      </p:pic>
      <p:sp>
        <p:nvSpPr>
          <p:cNvPr id="21" name="Text 17"/>
          <p:cNvSpPr txBox="1"/>
          <p:nvPr/>
        </p:nvSpPr>
        <p:spPr>
          <a:xfrm>
            <a:off x="7543800" y="2167128"/>
            <a:ext cx="2286000" cy="566928"/>
          </a:xfrm>
          <a:prstGeom prst="rect">
            <a:avLst/>
          </a:prstGeom>
          <a:noFill/>
          <a:ln/>
        </p:spPr>
        <p:txBody>
          <a:bodyPr wrap="square" lIns="0" tIns="0" rIns="0" bIns="0" rtlCol="0" anchor="ctr"/>
          <a:lstStyle/>
          <a:p>
            <a:pPr algn="l" indent="0" marL="0">
              <a:buNone/>
            </a:pPr>
            <a:r>
              <a:rPr lang="en-US" sz="2200" b="1" dirty="0">
                <a:solidFill>
                  <a:schemeClr val="tx1"/>
                </a:solidFill>
              </a:rPr>
              <a:t>Why?</a:t>
            </a:r>
            <a:endParaRPr lang="en-US" sz="2200" dirty="0"/>
          </a:p>
        </p:txBody>
      </p:sp>
      <p:sp>
        <p:nvSpPr>
          <p:cNvPr id="22" name="Explanation"/>
          <p:cNvSpPr txBox="1"/>
          <p:nvPr/>
        </p:nvSpPr>
        <p:spPr>
          <a:xfrm>
            <a:off x="6812280" y="2971800"/>
            <a:ext cx="4510735" cy="2331720"/>
          </a:xfrm>
          <a:prstGeom prst="rect">
            <a:avLst/>
          </a:prstGeom>
          <a:noFill/>
          <a:ln/>
        </p:spPr>
        <p:txBody>
          <a:bodyPr wrap="square" lIns="0" tIns="0" rIns="0" bIns="0" rtlCol="0" anchor="t"/>
          <a:lstStyle/>
          <a:p>
            <a:pPr algn="l" indent="0" marL="0">
              <a:buNone/>
            </a:pPr>
            <a:r>
              <a:rPr lang="en-US" sz="1800" dirty="0">
                <a:solidFill>
                  <a:schemeClr val="tx1"/>
                </a:solidFill>
              </a:rPr>
              <a:t>It contains DROP, one of the SQL keywords the rules don’t allow in input. The other three are ordinary data, made of letters, spaces and digits, so they pass.</a:t>
            </a:r>
            <a:endParaRPr lang="en-US" sz="18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0" type="body" hasCustomPrompt="1"/>
          </p:nvPr>
        </p:nvSpPr>
        <p:spPr>
          <a:xfrm>
            <a:off x="548640" y="365760"/>
            <a:ext cx="8229600" cy="274320"/>
          </a:xfrm>
          <a:prstGeom prst="rect">
            <a:avLst/>
          </a:prstGeom>
          <a:noFill/>
          <a:ln/>
        </p:spPr>
        <p:txBody>
          <a:bodyPr wrap="square" lIns="0" tIns="0" rIns="0" bIns="0" rtlCol="0" anchor="ctr"/>
          <a:lstStyle/>
          <a:p>
            <a:pPr indent="0" marL="0">
              <a:buNone/>
            </a:pPr>
            <a:r>
              <a:rPr lang="en-US" sz="1200" b="1" spc="150" kern="0" dirty="0">
                <a:solidFill>
                  <a:schemeClr val="tx2"/>
                </a:solidFill>
              </a:rPr>
              <a:t>WRAP-UP</a:t>
            </a:r>
            <a:endParaRPr lang="en-US" sz="1200" dirty="0"/>
          </a:p>
        </p:txBody>
      </p:sp>
      <p:sp>
        <p:nvSpPr>
          <p:cNvPr id="3" name="Text 0"/>
          <p:cNvSpPr/>
          <p:nvPr>
            <p:ph idx="101" type="title" hasCustomPrompt="1"/>
          </p:nvPr>
        </p:nvSpPr>
        <p:spPr>
          <a:xfrm>
            <a:off x="548640" y="640080"/>
            <a:ext cx="11091672" cy="731520"/>
          </a:xfrm>
          <a:prstGeom prst="rect">
            <a:avLst/>
          </a:prstGeom>
          <a:noFill/>
          <a:ln/>
        </p:spPr>
        <p:txBody>
          <a:bodyPr wrap="square" lIns="0" tIns="0" rIns="0" bIns="0" rtlCol="0" anchor="ctr"/>
          <a:lstStyle/>
          <a:p>
            <a:pPr algn="l" indent="0" marL="0">
              <a:buNone/>
            </a:pPr>
            <a:r>
              <a:rPr lang="en-US" sz="3400" b="1" dirty="0">
                <a:solidFill>
                  <a:schemeClr val="tx1"/>
                </a:solidFill>
              </a:rPr>
              <a:t>Lecture 8 at a glance</a:t>
            </a:r>
            <a:endParaRPr lang="en-US" sz="3400" dirty="0"/>
          </a:p>
        </p:txBody>
      </p:sp>
      <p:sp>
        <p:nvSpPr>
          <p:cNvPr id="4" name="Card"/>
          <p:cNvSpPr/>
          <p:nvPr/>
        </p:nvSpPr>
        <p:spPr>
          <a:xfrm>
            <a:off x="548640" y="178308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5" name="Icon tile"/>
          <p:cNvSpPr/>
          <p:nvPr/>
        </p:nvSpPr>
        <p:spPr>
          <a:xfrm>
            <a:off x="804672" y="2039112"/>
            <a:ext cx="548640" cy="548640"/>
          </a:xfrm>
          <a:prstGeom prst="roundRect">
            <a:avLst>
              <a:gd name="adj" fmla="val 24000"/>
            </a:avLst>
          </a:prstGeom>
          <a:solidFill>
            <a:schemeClr val="accent3">
              <a:alpha val="14000"/>
            </a:schemeClr>
          </a:solidFill>
          <a:ln/>
        </p:spPr>
      </p:sp>
      <p:pic>
        <p:nvPicPr>
          <p:cNvPr id="6" name="Image 0" descr="shield check icon">    </p:cNvPr>
          <p:cNvPicPr>
            <a:picLocks noChangeAspect="1"/>
          </p:cNvPicPr>
          <p:nvPr/>
        </p:nvPicPr>
        <p:blipFill>
          <a:blip r:embed="rId1"/>
          <a:stretch>
            <a:fillRect/>
          </a:stretch>
        </p:blipFill>
        <p:spPr>
          <a:xfrm>
            <a:off x="919886" y="2154326"/>
            <a:ext cx="318211" cy="318211"/>
          </a:xfrm>
          <a:prstGeom prst="rect">
            <a:avLst/>
          </a:prstGeom>
        </p:spPr>
      </p:pic>
      <p:sp>
        <p:nvSpPr>
          <p:cNvPr id="7" name="Text 4"/>
          <p:cNvSpPr txBox="1"/>
          <p:nvPr/>
        </p:nvSpPr>
        <p:spPr>
          <a:xfrm>
            <a:off x="1481328" y="2039112"/>
            <a:ext cx="1550822" cy="548640"/>
          </a:xfrm>
          <a:prstGeom prst="rect">
            <a:avLst/>
          </a:prstGeom>
          <a:noFill/>
          <a:ln/>
        </p:spPr>
        <p:txBody>
          <a:bodyPr wrap="square" lIns="0" tIns="0" rIns="0" bIns="0" rtlCol="0" anchor="ctr"/>
          <a:lstStyle/>
          <a:p>
            <a:pPr indent="0" marL="0">
              <a:buNone/>
            </a:pPr>
            <a:r>
              <a:rPr lang="en-US" sz="1700" b="1" dirty="0">
                <a:solidFill>
                  <a:schemeClr val="tx1"/>
                </a:solidFill>
                <a:latin typeface="Consolas" pitchFamily="34" charset="0"/>
                <a:ea typeface="Consolas" pitchFamily="34" charset="-122"/>
                <a:cs typeface="Consolas" pitchFamily="34" charset="-120"/>
              </a:rPr>
              <a:t>try / catch</a:t>
            </a:r>
            <a:endParaRPr lang="en-US" sz="1700" dirty="0"/>
          </a:p>
        </p:txBody>
      </p:sp>
      <p:sp>
        <p:nvSpPr>
          <p:cNvPr id="8" name="Text 5"/>
          <p:cNvSpPr txBox="1"/>
          <p:nvPr/>
        </p:nvSpPr>
        <p:spPr>
          <a:xfrm>
            <a:off x="804672" y="274320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Run risky code; catch says what to do if it fails.</a:t>
            </a:r>
            <a:endParaRPr lang="en-US" sz="1500" dirty="0"/>
          </a:p>
        </p:txBody>
      </p:sp>
      <p:sp>
        <p:nvSpPr>
          <p:cNvPr id="9" name="Card"/>
          <p:cNvSpPr/>
          <p:nvPr/>
        </p:nvSpPr>
        <p:spPr>
          <a:xfrm>
            <a:off x="3379622" y="178308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0" name="Icon tile"/>
          <p:cNvSpPr/>
          <p:nvPr/>
        </p:nvSpPr>
        <p:spPr>
          <a:xfrm>
            <a:off x="3635654" y="2039112"/>
            <a:ext cx="548640" cy="548640"/>
          </a:xfrm>
          <a:prstGeom prst="roundRect">
            <a:avLst>
              <a:gd name="adj" fmla="val 24000"/>
            </a:avLst>
          </a:prstGeom>
          <a:solidFill>
            <a:schemeClr val="accent4">
              <a:alpha val="14000"/>
            </a:schemeClr>
          </a:solidFill>
          <a:ln/>
        </p:spPr>
      </p:sp>
      <p:pic>
        <p:nvPicPr>
          <p:cNvPr id="11" name="Image 1" descr="flag checkered icon">    </p:cNvPr>
          <p:cNvPicPr>
            <a:picLocks noChangeAspect="1"/>
          </p:cNvPicPr>
          <p:nvPr/>
        </p:nvPicPr>
        <p:blipFill>
          <a:blip r:embed="rId2"/>
          <a:stretch>
            <a:fillRect/>
          </a:stretch>
        </p:blipFill>
        <p:spPr>
          <a:xfrm>
            <a:off x="3750869" y="2154326"/>
            <a:ext cx="318211" cy="318211"/>
          </a:xfrm>
          <a:prstGeom prst="rect">
            <a:avLst/>
          </a:prstGeom>
        </p:spPr>
      </p:pic>
      <p:sp>
        <p:nvSpPr>
          <p:cNvPr id="12" name="Text 8"/>
          <p:cNvSpPr txBox="1"/>
          <p:nvPr/>
        </p:nvSpPr>
        <p:spPr>
          <a:xfrm>
            <a:off x="4312310" y="2039112"/>
            <a:ext cx="1550822" cy="548640"/>
          </a:xfrm>
          <a:prstGeom prst="rect">
            <a:avLst/>
          </a:prstGeom>
          <a:noFill/>
          <a:ln/>
        </p:spPr>
        <p:txBody>
          <a:bodyPr wrap="square" lIns="0" tIns="0" rIns="0" bIns="0" rtlCol="0" anchor="ctr"/>
          <a:lstStyle/>
          <a:p>
            <a:pPr indent="0" marL="0">
              <a:buNone/>
            </a:pPr>
            <a:r>
              <a:rPr lang="en-US" sz="1900" b="1" dirty="0">
                <a:solidFill>
                  <a:schemeClr val="tx1"/>
                </a:solidFill>
                <a:latin typeface="Consolas" pitchFamily="34" charset="0"/>
                <a:ea typeface="Consolas" pitchFamily="34" charset="-122"/>
                <a:cs typeface="Consolas" pitchFamily="34" charset="-120"/>
              </a:rPr>
              <a:t>finally</a:t>
            </a:r>
            <a:endParaRPr lang="en-US" sz="1900" dirty="0"/>
          </a:p>
        </p:txBody>
      </p:sp>
      <p:sp>
        <p:nvSpPr>
          <p:cNvPr id="13" name="Text 9"/>
          <p:cNvSpPr txBox="1"/>
          <p:nvPr/>
        </p:nvSpPr>
        <p:spPr>
          <a:xfrm>
            <a:off x="3635654" y="274320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Runs either way: the place to tidy up.</a:t>
            </a:r>
            <a:endParaRPr lang="en-US" sz="1500" dirty="0"/>
          </a:p>
        </p:txBody>
      </p:sp>
      <p:sp>
        <p:nvSpPr>
          <p:cNvPr id="14" name="Card"/>
          <p:cNvSpPr/>
          <p:nvPr/>
        </p:nvSpPr>
        <p:spPr>
          <a:xfrm>
            <a:off x="6210605" y="178308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15" name="Icon tile"/>
          <p:cNvSpPr/>
          <p:nvPr/>
        </p:nvSpPr>
        <p:spPr>
          <a:xfrm>
            <a:off x="6466637" y="2039112"/>
            <a:ext cx="548640" cy="548640"/>
          </a:xfrm>
          <a:prstGeom prst="roundRect">
            <a:avLst>
              <a:gd name="adj" fmla="val 24000"/>
            </a:avLst>
          </a:prstGeom>
          <a:solidFill>
            <a:schemeClr val="accent2">
              <a:alpha val="14000"/>
            </a:schemeClr>
          </a:solidFill>
          <a:ln/>
        </p:spPr>
      </p:sp>
      <p:pic>
        <p:nvPicPr>
          <p:cNvPr id="16" name="Image 2" descr="list checks icon">    </p:cNvPr>
          <p:cNvPicPr>
            <a:picLocks noChangeAspect="1"/>
          </p:cNvPicPr>
          <p:nvPr/>
        </p:nvPicPr>
        <p:blipFill>
          <a:blip r:embed="rId3"/>
          <a:stretch>
            <a:fillRect/>
          </a:stretch>
        </p:blipFill>
        <p:spPr>
          <a:xfrm>
            <a:off x="6581851" y="2154326"/>
            <a:ext cx="318211" cy="318211"/>
          </a:xfrm>
          <a:prstGeom prst="rect">
            <a:avLst/>
          </a:prstGeom>
        </p:spPr>
      </p:pic>
      <p:sp>
        <p:nvSpPr>
          <p:cNvPr id="17" name="Text 12"/>
          <p:cNvSpPr txBox="1"/>
          <p:nvPr/>
        </p:nvSpPr>
        <p:spPr>
          <a:xfrm>
            <a:off x="7143293" y="2039112"/>
            <a:ext cx="1550822" cy="548640"/>
          </a:xfrm>
          <a:prstGeom prst="rect">
            <a:avLst/>
          </a:prstGeom>
          <a:noFill/>
          <a:ln/>
        </p:spPr>
        <p:txBody>
          <a:bodyPr wrap="square" lIns="0" tIns="0" rIns="0" bIns="0" rtlCol="0" anchor="ctr"/>
          <a:lstStyle/>
          <a:p>
            <a:pPr indent="0" marL="0">
              <a:buNone/>
            </a:pPr>
            <a:r>
              <a:rPr lang="en-US" sz="1900" b="1" dirty="0">
                <a:solidFill>
                  <a:schemeClr val="tx1"/>
                </a:solidFill>
              </a:rPr>
              <a:t>Checked</a:t>
            </a:r>
            <a:endParaRPr lang="en-US" sz="1900" dirty="0"/>
          </a:p>
        </p:txBody>
      </p:sp>
      <p:sp>
        <p:nvSpPr>
          <p:cNvPr id="18" name="Text 13"/>
          <p:cNvSpPr txBox="1"/>
          <p:nvPr/>
        </p:nvSpPr>
        <p:spPr>
          <a:xfrm>
            <a:off x="6466637" y="274320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Catch or declare them. RuntimeExceptions are unchecked.</a:t>
            </a:r>
            <a:endParaRPr lang="en-US" sz="1500" dirty="0"/>
          </a:p>
        </p:txBody>
      </p:sp>
      <p:sp>
        <p:nvSpPr>
          <p:cNvPr id="19" name="Card"/>
          <p:cNvSpPr/>
          <p:nvPr/>
        </p:nvSpPr>
        <p:spPr>
          <a:xfrm>
            <a:off x="9041587" y="178308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0" name="Icon tile"/>
          <p:cNvSpPr/>
          <p:nvPr/>
        </p:nvSpPr>
        <p:spPr>
          <a:xfrm>
            <a:off x="9297619" y="2039112"/>
            <a:ext cx="548640" cy="548640"/>
          </a:xfrm>
          <a:prstGeom prst="roundRect">
            <a:avLst>
              <a:gd name="adj" fmla="val 24000"/>
            </a:avLst>
          </a:prstGeom>
          <a:solidFill>
            <a:schemeClr val="accent1">
              <a:alpha val="14000"/>
            </a:schemeClr>
          </a:solidFill>
          <a:ln/>
        </p:spPr>
      </p:sp>
      <p:pic>
        <p:nvPicPr>
          <p:cNvPr id="21" name="Image 3" descr="paper plane tilt icon">    </p:cNvPr>
          <p:cNvPicPr>
            <a:picLocks noChangeAspect="1"/>
          </p:cNvPicPr>
          <p:nvPr/>
        </p:nvPicPr>
        <p:blipFill>
          <a:blip r:embed="rId4"/>
          <a:stretch>
            <a:fillRect/>
          </a:stretch>
        </p:blipFill>
        <p:spPr>
          <a:xfrm>
            <a:off x="9412834" y="2154326"/>
            <a:ext cx="318211" cy="318211"/>
          </a:xfrm>
          <a:prstGeom prst="rect">
            <a:avLst/>
          </a:prstGeom>
        </p:spPr>
      </p:pic>
      <p:sp>
        <p:nvSpPr>
          <p:cNvPr id="22" name="Text 16"/>
          <p:cNvSpPr txBox="1"/>
          <p:nvPr/>
        </p:nvSpPr>
        <p:spPr>
          <a:xfrm>
            <a:off x="9974275" y="2039112"/>
            <a:ext cx="1550822" cy="548640"/>
          </a:xfrm>
          <a:prstGeom prst="rect">
            <a:avLst/>
          </a:prstGeom>
          <a:noFill/>
          <a:ln/>
        </p:spPr>
        <p:txBody>
          <a:bodyPr wrap="square" lIns="0" tIns="0" rIns="0" bIns="0" rtlCol="0" anchor="ctr"/>
          <a:lstStyle/>
          <a:p>
            <a:pPr indent="0" marL="0">
              <a:buNone/>
            </a:pPr>
            <a:r>
              <a:rPr lang="en-US" sz="1900" b="1" dirty="0">
                <a:solidFill>
                  <a:schemeClr val="tx1"/>
                </a:solidFill>
                <a:latin typeface="Consolas" pitchFamily="34" charset="0"/>
                <a:ea typeface="Consolas" pitchFamily="34" charset="-122"/>
                <a:cs typeface="Consolas" pitchFamily="34" charset="-120"/>
              </a:rPr>
              <a:t>throw</a:t>
            </a:r>
            <a:endParaRPr lang="en-US" sz="1900" dirty="0"/>
          </a:p>
        </p:txBody>
      </p:sp>
      <p:sp>
        <p:nvSpPr>
          <p:cNvPr id="23" name="Text 17"/>
          <p:cNvSpPr txBox="1"/>
          <p:nvPr/>
        </p:nvSpPr>
        <p:spPr>
          <a:xfrm>
            <a:off x="9297619" y="274320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Throws one exception object, right now.</a:t>
            </a:r>
            <a:endParaRPr lang="en-US" sz="1500" dirty="0"/>
          </a:p>
        </p:txBody>
      </p:sp>
      <p:sp>
        <p:nvSpPr>
          <p:cNvPr id="24" name="Card"/>
          <p:cNvSpPr/>
          <p:nvPr/>
        </p:nvSpPr>
        <p:spPr>
          <a:xfrm>
            <a:off x="548640" y="402336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25" name="Icon tile"/>
          <p:cNvSpPr/>
          <p:nvPr/>
        </p:nvSpPr>
        <p:spPr>
          <a:xfrm>
            <a:off x="804672" y="4279392"/>
            <a:ext cx="548640" cy="548640"/>
          </a:xfrm>
          <a:prstGeom prst="roundRect">
            <a:avLst>
              <a:gd name="adj" fmla="val 24000"/>
            </a:avLst>
          </a:prstGeom>
          <a:solidFill>
            <a:schemeClr val="accent2">
              <a:alpha val="14000"/>
            </a:schemeClr>
          </a:solidFill>
          <a:ln/>
        </p:spPr>
      </p:sp>
      <p:pic>
        <p:nvPicPr>
          <p:cNvPr id="26" name="Image 4" descr="arrow bend up right icon">    </p:cNvPr>
          <p:cNvPicPr>
            <a:picLocks noChangeAspect="1"/>
          </p:cNvPicPr>
          <p:nvPr/>
        </p:nvPicPr>
        <p:blipFill>
          <a:blip r:embed="rId5"/>
          <a:stretch>
            <a:fillRect/>
          </a:stretch>
        </p:blipFill>
        <p:spPr>
          <a:xfrm>
            <a:off x="919886" y="4394606"/>
            <a:ext cx="318211" cy="318211"/>
          </a:xfrm>
          <a:prstGeom prst="rect">
            <a:avLst/>
          </a:prstGeom>
        </p:spPr>
      </p:pic>
      <p:sp>
        <p:nvSpPr>
          <p:cNvPr id="27" name="Text 20"/>
          <p:cNvSpPr txBox="1"/>
          <p:nvPr/>
        </p:nvSpPr>
        <p:spPr>
          <a:xfrm>
            <a:off x="1481328" y="4279392"/>
            <a:ext cx="1550822" cy="548640"/>
          </a:xfrm>
          <a:prstGeom prst="rect">
            <a:avLst/>
          </a:prstGeom>
          <a:noFill/>
          <a:ln/>
        </p:spPr>
        <p:txBody>
          <a:bodyPr wrap="square" lIns="0" tIns="0" rIns="0" bIns="0" rtlCol="0" anchor="ctr"/>
          <a:lstStyle/>
          <a:p>
            <a:pPr indent="0" marL="0">
              <a:buNone/>
            </a:pPr>
            <a:r>
              <a:rPr lang="en-US" sz="1900" b="1" dirty="0">
                <a:solidFill>
                  <a:schemeClr val="tx1"/>
                </a:solidFill>
                <a:latin typeface="Consolas" pitchFamily="34" charset="0"/>
                <a:ea typeface="Consolas" pitchFamily="34" charset="-122"/>
                <a:cs typeface="Consolas" pitchFamily="34" charset="-120"/>
              </a:rPr>
              <a:t>throws</a:t>
            </a:r>
            <a:endParaRPr lang="en-US" sz="1900" dirty="0"/>
          </a:p>
        </p:txBody>
      </p:sp>
      <p:sp>
        <p:nvSpPr>
          <p:cNvPr id="28" name="Text 21"/>
          <p:cNvSpPr txBox="1"/>
          <p:nvPr/>
        </p:nvSpPr>
        <p:spPr>
          <a:xfrm>
            <a:off x="804672" y="498348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In the method header: the caller deals with it.</a:t>
            </a:r>
            <a:endParaRPr lang="en-US" sz="1500" dirty="0"/>
          </a:p>
        </p:txBody>
      </p:sp>
      <p:sp>
        <p:nvSpPr>
          <p:cNvPr id="29" name="Card"/>
          <p:cNvSpPr/>
          <p:nvPr/>
        </p:nvSpPr>
        <p:spPr>
          <a:xfrm>
            <a:off x="3379622" y="402336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0" name="Icon tile"/>
          <p:cNvSpPr/>
          <p:nvPr/>
        </p:nvSpPr>
        <p:spPr>
          <a:xfrm>
            <a:off x="3635654" y="4279392"/>
            <a:ext cx="548640" cy="548640"/>
          </a:xfrm>
          <a:prstGeom prst="roundRect">
            <a:avLst>
              <a:gd name="adj" fmla="val 24000"/>
            </a:avLst>
          </a:prstGeom>
          <a:solidFill>
            <a:schemeClr val="accent5">
              <a:alpha val="14000"/>
            </a:schemeClr>
          </a:solidFill>
          <a:ln/>
        </p:spPr>
      </p:sp>
      <p:pic>
        <p:nvPicPr>
          <p:cNvPr id="31" name="Image 5" descr="puzzle piece icon">    </p:cNvPr>
          <p:cNvPicPr>
            <a:picLocks noChangeAspect="1"/>
          </p:cNvPicPr>
          <p:nvPr/>
        </p:nvPicPr>
        <p:blipFill>
          <a:blip r:embed="rId6"/>
          <a:stretch>
            <a:fillRect/>
          </a:stretch>
        </p:blipFill>
        <p:spPr>
          <a:xfrm>
            <a:off x="3750869" y="4394606"/>
            <a:ext cx="318211" cy="318211"/>
          </a:xfrm>
          <a:prstGeom prst="rect">
            <a:avLst/>
          </a:prstGeom>
        </p:spPr>
      </p:pic>
      <p:sp>
        <p:nvSpPr>
          <p:cNvPr id="32" name="Text 24"/>
          <p:cNvSpPr txBox="1"/>
          <p:nvPr/>
        </p:nvSpPr>
        <p:spPr>
          <a:xfrm>
            <a:off x="4312310" y="4279392"/>
            <a:ext cx="1550822" cy="548640"/>
          </a:xfrm>
          <a:prstGeom prst="rect">
            <a:avLst/>
          </a:prstGeom>
          <a:noFill/>
          <a:ln/>
        </p:spPr>
        <p:txBody>
          <a:bodyPr wrap="square" lIns="0" tIns="0" rIns="0" bIns="0" rtlCol="0" anchor="ctr"/>
          <a:lstStyle/>
          <a:p>
            <a:pPr indent="0" marL="0">
              <a:buNone/>
            </a:pPr>
            <a:r>
              <a:rPr lang="en-US" sz="1900" b="1" dirty="0">
                <a:solidFill>
                  <a:schemeClr val="tx1"/>
                </a:solidFill>
              </a:rPr>
              <a:t>Our own exceptions</a:t>
            </a:r>
            <a:endParaRPr lang="en-US" sz="1900" dirty="0"/>
          </a:p>
        </p:txBody>
      </p:sp>
      <p:sp>
        <p:nvSpPr>
          <p:cNvPr id="33" name="Text 25"/>
          <p:cNvSpPr txBox="1"/>
          <p:nvPr/>
        </p:nvSpPr>
        <p:spPr>
          <a:xfrm>
            <a:off x="3635654" y="498348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A class that extends Exception, with a clear name.</a:t>
            </a:r>
            <a:endParaRPr lang="en-US" sz="1500" dirty="0"/>
          </a:p>
        </p:txBody>
      </p:sp>
      <p:sp>
        <p:nvSpPr>
          <p:cNvPr id="34" name="Card"/>
          <p:cNvSpPr/>
          <p:nvPr/>
        </p:nvSpPr>
        <p:spPr>
          <a:xfrm>
            <a:off x="6210605" y="402336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35" name="Icon tile"/>
          <p:cNvSpPr/>
          <p:nvPr/>
        </p:nvSpPr>
        <p:spPr>
          <a:xfrm>
            <a:off x="6466637" y="4279392"/>
            <a:ext cx="548640" cy="548640"/>
          </a:xfrm>
          <a:prstGeom prst="roundRect">
            <a:avLst>
              <a:gd name="adj" fmla="val 24000"/>
            </a:avLst>
          </a:prstGeom>
          <a:solidFill>
            <a:schemeClr val="accent1">
              <a:alpha val="14000"/>
            </a:schemeClr>
          </a:solidFill>
          <a:ln/>
        </p:spPr>
      </p:sp>
      <p:pic>
        <p:nvPicPr>
          <p:cNvPr id="36" name="Image 6" descr="check square icon">    </p:cNvPr>
          <p:cNvPicPr>
            <a:picLocks noChangeAspect="1"/>
          </p:cNvPicPr>
          <p:nvPr/>
        </p:nvPicPr>
        <p:blipFill>
          <a:blip r:embed="rId7"/>
          <a:stretch>
            <a:fillRect/>
          </a:stretch>
        </p:blipFill>
        <p:spPr>
          <a:xfrm>
            <a:off x="6581851" y="4394606"/>
            <a:ext cx="318211" cy="318211"/>
          </a:xfrm>
          <a:prstGeom prst="rect">
            <a:avLst/>
          </a:prstGeom>
        </p:spPr>
      </p:pic>
      <p:sp>
        <p:nvSpPr>
          <p:cNvPr id="37" name="Text 28"/>
          <p:cNvSpPr txBox="1"/>
          <p:nvPr/>
        </p:nvSpPr>
        <p:spPr>
          <a:xfrm>
            <a:off x="7143293" y="4279392"/>
            <a:ext cx="1550822" cy="548640"/>
          </a:xfrm>
          <a:prstGeom prst="rect">
            <a:avLst/>
          </a:prstGeom>
          <a:noFill/>
          <a:ln/>
        </p:spPr>
        <p:txBody>
          <a:bodyPr wrap="square" lIns="0" tIns="0" rIns="0" bIns="0" rtlCol="0" anchor="ctr"/>
          <a:lstStyle/>
          <a:p>
            <a:pPr indent="0" marL="0">
              <a:buNone/>
            </a:pPr>
            <a:r>
              <a:rPr lang="en-US" sz="1900" b="1" dirty="0">
                <a:solidFill>
                  <a:schemeClr val="tx1"/>
                </a:solidFill>
                <a:latin typeface="Consolas" pitchFamily="34" charset="0"/>
                <a:ea typeface="Consolas" pitchFamily="34" charset="-122"/>
                <a:cs typeface="Consolas" pitchFamily="34" charset="-120"/>
              </a:rPr>
              <a:t>assert</a:t>
            </a:r>
            <a:endParaRPr lang="en-US" sz="1900" dirty="0"/>
          </a:p>
        </p:txBody>
      </p:sp>
      <p:sp>
        <p:nvSpPr>
          <p:cNvPr id="38" name="Text 29"/>
          <p:cNvSpPr txBox="1"/>
          <p:nvPr/>
        </p:nvSpPr>
        <p:spPr>
          <a:xfrm>
            <a:off x="6466637" y="498348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Checks our own logic while testing, with -ea.</a:t>
            </a:r>
            <a:endParaRPr lang="en-US" sz="1500" dirty="0"/>
          </a:p>
        </p:txBody>
      </p:sp>
      <p:sp>
        <p:nvSpPr>
          <p:cNvPr id="39" name="Card"/>
          <p:cNvSpPr/>
          <p:nvPr/>
        </p:nvSpPr>
        <p:spPr>
          <a:xfrm>
            <a:off x="9041587" y="4023360"/>
            <a:ext cx="2602382" cy="2011680"/>
          </a:xfrm>
          <a:prstGeom prst="roundRect">
            <a:avLst>
              <a:gd name="adj" fmla="val 5455"/>
            </a:avLst>
          </a:prstGeom>
          <a:solidFill>
            <a:schemeClr val="bg1"/>
          </a:solidFill>
          <a:ln/>
          <a:effectLst>
            <a:outerShdw sx="100000" sy="100000" kx="0" ky="0" algn="bl" rotWithShape="0" blurRad="114300" dist="31750" dir="5400000">
              <a:srgbClr val="1D2433">
                <a:alpha val="12000"/>
              </a:srgbClr>
            </a:outerShdw>
          </a:effectLst>
        </p:spPr>
      </p:sp>
      <p:sp>
        <p:nvSpPr>
          <p:cNvPr id="40" name="Icon tile"/>
          <p:cNvSpPr/>
          <p:nvPr/>
        </p:nvSpPr>
        <p:spPr>
          <a:xfrm>
            <a:off x="9297619" y="4279392"/>
            <a:ext cx="548640" cy="548640"/>
          </a:xfrm>
          <a:prstGeom prst="roundRect">
            <a:avLst>
              <a:gd name="adj" fmla="val 24000"/>
            </a:avLst>
          </a:prstGeom>
          <a:solidFill>
            <a:schemeClr val="accent3">
              <a:alpha val="14000"/>
            </a:schemeClr>
          </a:solidFill>
          <a:ln/>
        </p:spPr>
      </p:sp>
      <p:pic>
        <p:nvPicPr>
          <p:cNvPr id="41" name="Image 7" descr="funnel icon">    </p:cNvPr>
          <p:cNvPicPr>
            <a:picLocks noChangeAspect="1"/>
          </p:cNvPicPr>
          <p:nvPr/>
        </p:nvPicPr>
        <p:blipFill>
          <a:blip r:embed="rId8"/>
          <a:stretch>
            <a:fillRect/>
          </a:stretch>
        </p:blipFill>
        <p:spPr>
          <a:xfrm>
            <a:off x="9412834" y="4394606"/>
            <a:ext cx="318211" cy="318211"/>
          </a:xfrm>
          <a:prstGeom prst="rect">
            <a:avLst/>
          </a:prstGeom>
        </p:spPr>
      </p:pic>
      <p:sp>
        <p:nvSpPr>
          <p:cNvPr id="42" name="Text 32"/>
          <p:cNvSpPr txBox="1"/>
          <p:nvPr/>
        </p:nvSpPr>
        <p:spPr>
          <a:xfrm>
            <a:off x="9974275" y="4279392"/>
            <a:ext cx="1550822" cy="548640"/>
          </a:xfrm>
          <a:prstGeom prst="rect">
            <a:avLst/>
          </a:prstGeom>
          <a:noFill/>
          <a:ln/>
        </p:spPr>
        <p:txBody>
          <a:bodyPr wrap="square" lIns="0" tIns="0" rIns="0" bIns="0" rtlCol="0" anchor="ctr"/>
          <a:lstStyle/>
          <a:p>
            <a:pPr indent="0" marL="0">
              <a:buNone/>
            </a:pPr>
            <a:r>
              <a:rPr lang="en-US" sz="1900" b="1" dirty="0">
                <a:solidFill>
                  <a:schemeClr val="tx1"/>
                </a:solidFill>
              </a:rPr>
              <a:t>Safe input</a:t>
            </a:r>
            <a:endParaRPr lang="en-US" sz="1900" dirty="0"/>
          </a:p>
        </p:txBody>
      </p:sp>
      <p:sp>
        <p:nvSpPr>
          <p:cNvPr id="43" name="Text 33"/>
          <p:cNvSpPr txBox="1"/>
          <p:nvPr/>
        </p:nvSpPr>
        <p:spPr>
          <a:xfrm>
            <a:off x="9297619" y="4983480"/>
            <a:ext cx="2145182" cy="914400"/>
          </a:xfrm>
          <a:prstGeom prst="rect">
            <a:avLst/>
          </a:prstGeom>
          <a:noFill/>
          <a:ln/>
        </p:spPr>
        <p:txBody>
          <a:bodyPr wrap="square" lIns="0" tIns="0" rIns="0" bIns="0" rtlCol="0" anchor="t"/>
          <a:lstStyle/>
          <a:p>
            <a:pPr algn="l" indent="0" marL="0">
              <a:buNone/>
            </a:pPr>
            <a:r>
              <a:rPr lang="en-US" sz="1500" dirty="0">
                <a:solidFill>
                  <a:schemeClr val="tx2"/>
                </a:solidFill>
              </a:rPr>
              <a:t>Validate it, sanitize it, keep it out of commands.</a:t>
            </a:r>
            <a:endParaRPr lang="en-US" sz="1500" dirty="0"/>
          </a:p>
        </p:txBody>
      </p:sp>
      <p:sp>
        <p:nvSpPr>
          <p:cNvPr id="25" name="Slide Number Placeholder 0"/>
          <p:cNvSpPr>
            <a:spLocks noGrp="1"/>
          </p:cNvSpPr>
          <p:nvPr>
            <p:ph type="sldNum" sz="quarter" idx="4294967295"/>
          </p:nvPr>
        </p:nvSpPr>
        <p:spPr>
          <a:xfrm>
            <a:off x="11183112" y="6400800"/>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0" type="title" hasCustomPrompt="1"/>
          </p:nvPr>
        </p:nvSpPr>
        <p:spPr>
          <a:xfrm>
            <a:off x="822960" y="2286000"/>
            <a:ext cx="6949440" cy="1234440"/>
          </a:xfrm>
          <a:prstGeom prst="rect">
            <a:avLst/>
          </a:prstGeom>
          <a:noFill/>
          <a:ln/>
        </p:spPr>
        <p:txBody>
          <a:bodyPr wrap="square" lIns="0" tIns="0" rIns="0" bIns="0" rtlCol="0" anchor="t"/>
          <a:lstStyle/>
          <a:p>
            <a:pPr algn="l" indent="0" marL="0">
              <a:buNone/>
            </a:pPr>
            <a:r>
              <a:rPr lang="en-US" sz="6400" b="1" dirty="0">
                <a:solidFill>
                  <a:schemeClr val="bg1"/>
                </a:solidFill>
              </a:rPr>
              <a:t>Questions?</a:t>
            </a:r>
            <a:endParaRPr lang="en-US" sz="6400" dirty="0"/>
          </a:p>
        </p:txBody>
      </p:sp>
      <p:sp>
        <p:nvSpPr>
          <p:cNvPr id="3" name="Text 0"/>
          <p:cNvSpPr/>
          <p:nvPr>
            <p:ph idx="101" type="body" hasCustomPrompt="1"/>
          </p:nvPr>
        </p:nvSpPr>
        <p:spPr>
          <a:xfrm>
            <a:off x="822960" y="3611880"/>
            <a:ext cx="6766560" cy="822960"/>
          </a:xfrm>
          <a:prstGeom prst="rect">
            <a:avLst/>
          </a:prstGeom>
          <a:noFill/>
          <a:ln/>
        </p:spPr>
        <p:txBody>
          <a:bodyPr wrap="square" lIns="0" tIns="0" rIns="0" bIns="0" rtlCol="0" anchor="t"/>
          <a:lstStyle/>
          <a:p>
            <a:pPr indent="0" marL="0">
              <a:buNone/>
            </a:pPr>
            <a:r>
              <a:rPr lang="en-US" sz="2200" dirty="0">
                <a:solidFill>
                  <a:schemeClr val="bg2"/>
                </a:solidFill>
              </a:rPr>
              <a:t>Object-Oriented Programming  ·  Lecture 8</a:t>
            </a:r>
            <a:endParaRPr lang="en-US" sz="2200" dirty="0"/>
          </a:p>
        </p:txBody>
      </p:sp>
      <p:pic>
        <p:nvPicPr>
          <p:cNvPr id="4" name="Image 0" descr="Questions icon">    </p:cNvPr>
          <p:cNvPicPr>
            <a:picLocks noChangeAspect="1"/>
          </p:cNvPicPr>
          <p:nvPr/>
        </p:nvPicPr>
        <p:blipFill>
          <a:blip r:embed="rId1">
            <a:alphaModFix amt="22000"/>
          </a:blip>
          <a:stretch>
            <a:fillRect/>
          </a:stretch>
        </p:blipFill>
        <p:spPr>
          <a:xfrm>
            <a:off x="7955280" y="1463040"/>
            <a:ext cx="3566160" cy="3566160"/>
          </a:xfrm>
          <a:prstGeom prst="rect">
            <a:avLst/>
          </a:prstGeom>
        </p:spPr>
      </p:pic>
    </p:spTree>
  </p:cSld>
  <p:clrMapOvr>
    <a:masterClrMapping/>
  </p:clrMapOvr>
</p:sld>
</file>

<file path=ppt/theme/theme1.xml><?xml version="1.0" encoding="utf-8"?>
<a:theme xmlns:a="http://schemas.openxmlformats.org/drawingml/2006/main" name="Blueprint">
  <a:themeElements>
    <a:clrScheme name="Blueprint">
      <a:dk1>
        <a:srgbClr val="1D2433"/>
      </a:dk1>
      <a:lt1>
        <a:srgbClr val="FFFFFF"/>
      </a:lt1>
      <a:dk2>
        <a:srgbClr val="5A6577"/>
      </a:dk2>
      <a:lt2>
        <a:srgbClr val="F2F5F9"/>
      </a:lt2>
      <a:accent1>
        <a:srgbClr val="E07A1F"/>
      </a:accent1>
      <a:accent2>
        <a:srgbClr val="1F3F6B"/>
      </a:accent2>
      <a:accent3>
        <a:srgbClr val="178A5B"/>
      </a:accent3>
      <a:accent4>
        <a:srgbClr val="2F6DB0"/>
      </a:accent4>
      <a:accent5>
        <a:srgbClr val="7457C2"/>
      </a:accent5>
      <a:accent6>
        <a:srgbClr val="F2C14E"/>
      </a:accent6>
      <a:hlink>
        <a:srgbClr val="2F6DB0"/>
      </a:hlink>
      <a:folHlink>
        <a:srgbClr val="7457C2"/>
      </a:folHlink>
    </a:clrScheme>
    <a:fontScheme name="Blueprin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85</Slides>
  <Notes>85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85</vt:i4>
      </vt:variant>
    </vt:vector>
  </HeadingPairs>
  <TitlesOfParts>
    <vt:vector size="8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 Lecture 8, Exception Handling</dc:title>
  <dc:subject>Lecture 8 ideas in plain words, with quick checks</dc:subject>
  <dc:creator>Saeid Rezaei</dc:creator>
  <cp:lastModifiedBy>Saeid Rezaei</cp:lastModifiedBy>
  <cp:revision>1</cp:revision>
  <dcterms:created xsi:type="dcterms:W3CDTF">2026-10-17T23:12:36Z</dcterms:created>
  <dcterms:modified xsi:type="dcterms:W3CDTF">2026-10-17T23:12:36Z</dcterms:modified>
</cp:coreProperties>
</file>
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notesMasterIdLst>
    <p:notesMasterId r:id="rId7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6c710b8-8104-c27a-3a79-9f1134d85572}">
          <p14:sldIdLst>
            <p14:sldId id="256"/>
            <p14:sldId id="257"/>
          </p14:sldIdLst>
        </p14:section>
        <p14:section name="1. Object and the class hierarchy" id="{70580a2e-cf16-945f-304a-1b3a6c7e6812}">
          <p14:sldIdLst>
            <p14:sldId id="258"/>
            <p14:sldId id="259"/>
            <p14:sldId id="260"/>
            <p14:sldId id="261"/>
            <p14:sldId id="262"/>
            <p14:sldId id="263"/>
            <p14:sldId id="264"/>
            <p14:sldId id="265"/>
            <p14:sldId id="266"/>
            <p14:sldId id="267"/>
            <p14:sldId id="268"/>
            <p14:sldId id="269"/>
            <p14:sldId id="270"/>
            <p14:sldId id="271"/>
            <p14:sldId id="272"/>
            <p14:sldId id="273"/>
          </p14:sldIdLst>
        </p14:section>
        <p14:section name="2. Polymorphism and overloading" id="{d49a7e98-ba2d-87a8-2ba7-6fd2e052ba93}">
          <p14:sldIdLst>
            <p14:sldId id="274"/>
            <p14:sldId id="275"/>
            <p14:sldId id="276"/>
            <p14:sldId id="277"/>
            <p14:sldId id="278"/>
            <p14:sldId id="279"/>
            <p14:sldId id="280"/>
            <p14:sldId id="281"/>
            <p14:sldId id="282"/>
            <p14:sldId id="283"/>
            <p14:sldId id="284"/>
            <p14:sldId id="285"/>
            <p14:sldId id="286"/>
          </p14:sldIdLst>
        </p14:section>
        <p14:section name="3. Overriding" id="{d98e2f1f-346d-3836-010c-c792fadecc00}">
          <p14:sldIdLst>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Lst>
        </p14:section>
        <p14:section name="4. toString, instanceof and final" id="{c00915df-5740-997c-bea3-d0b331cb260d}">
          <p14:sldIdLst>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Lst>
        </p14:section>
        <p14:section name="Wrap-up" id="{7e398618-a435-7158-e535-c957bade34b8}">
          <p14:sldIdLst>
            <p14:sldId id="327"/>
            <p14:sldId id="32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Lecture 4 builds on inheritance: the Object class at the top of every hierarchy, abstract and concrete classes, the two kinds of polymorphism (overloading and overriding), and toString, instanceof and final.</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Four parts today. After each idea there's a quick check with four options. Give everyone about 30 seconds, take a show of hands for A, B, C and D, then go to the answer slide.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1: the Object class at the top of every hierarchy, and abstract versus concrete classes.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Every class except Object has exactly one parent, and if we don't write extends, that parent is Object. So Object sits at the top of every hierarchy, and every class gets its methods. Classes like Employee reach Object through their own parent, Person.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“Person extends Object, so Employee inherits Object’s methods too”.</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“Person extends Object, so Employee inherits Object’s methods too”.
A class with no extends automatically extends Object. So Employee’s parent is Person, Person’s parent is Object, and Employee inherits Object’s methods through Person. Each class still has only one direct parent.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Because every class inherits from Object, every object has these methods, even if we never wrote them. toString comes back later today. clone only works for classes that allow copying (they implement Cloneable), so it's here mainly so students recognise the name.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“clone()”.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“clone()”.
clone() returns a copy of the object. equals() compares two objects, hashCode() returns a hash code, and toString() returns information about the object as text.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One parent each, but as many children as we like, and those children can have children. FullTimeEmployee inherits from Employee, Person and Object, all the way up the highlighted path.</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“Employee, Person and Object”.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“Employee, Person and Object”.
A subclass inherits from its parent and from its parent’s superclasses too, all the way up to Object. It has only one direct parent, but many ancestors.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An abstract class is never used to make objects; a concrete one is. Classes are concrete unless we write abstract. A parent can be concrete too, but normally we make objects of the subclasses. The classes here have empty bodies, so the only constructor they have is the no-argument one Java adds.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“Classes are concrete unless we write abstract”.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“Classes are concrete unless we write abstract”.
Classes are concrete by default: we can create objects from them. We add abstract when a class should never be used to create objects. A superclass can be concrete, though we normally make objects of the subclasses.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Three rules. An abstract method forces the class to be abstract. An abstract class can still have normal methods with bodies. And both kinds of class can declare attributes.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“The class must be declared abstract”.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“The class must be declared abstract”.
If a class has an abstract method, the class must be abstract. It can still have normal (concrete) methods and attributes as well.</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2: what polymorphism means, and the first kind: overloading.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Polymorphism literally means many forms. The calcPay example shows it: one method name, a different calculation for each kind of employee. Java has two kinds: overloading (decided when compiling) and overriding (decided when running).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“The same method name can behave in different ways”.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“The same method name can behave in different ways”.
Polymorphism means “many forms”. A method with the same name can behave differently, depending on the arguments we pass or the type of object it is called on. B is just inheritance, and a class still has only one parent (A).</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Students have seen overloading before, with constructors: a class with a no-argument constructor and one that takes parameters. Here it is with methods: three methods all called add, told apart by their parameters. One fix to the code on the lecture slide: the three-number version returns a + b + c (the slide has a + b).</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“D I 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“D I S”.
Each call uses the version whose parameter type matches the argument. 2.5 is a double, 7 is an int, and "7.0" is a String because of the quotes. The compiler makes this choice before the program runs.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With overloading, the compiler already knows which version each call means, just from the arguments. That decision is fixed before the program ever runs: static binding.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“The version is chosen when the code is compiled”.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“The version is chosen when the code is compiled”.
The compiler looks at the arguments and picks the matching version before the program runs. The code is bound in advance, so it is called static binding. Overloading works with any method, static or not, and with constructors (A).</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Two ways to overload: change how many parameters there are, or change their types. If the name and the parameter types are the same, it's the same signature, and Java won't allow both. Changing only the return type or the parameter names doesn't count.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“double area(double r)    and    int area(double side)”.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“double area(double r)    and    int area(double side)”.
Overloaded methods must differ in the number or the types of their parameters. In D both are area(double). Only the return type and the parameter name differ, so they have the same signature and the code won’t compile.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3: the second kind of polymorphism, overriding.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Overriding needs inheritance. The parent declares calcPay, here as an abstract method, and each child writes its own body. Same name, same parameters, new behaviour.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“A child class redefines a method it inherited”.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“A child class redefines a method it inherited”.
Overriding happens with inheritance: the child keeps the method’s name and parameters but gives it new behaviour. A describes overloading.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With overriding, Java can only decide which version to run once it sees the actual object, while the program is running. The variable here is an Employee, but the object is part time, so the part-time version runs. Storing a child object in a parent-type variable is called upcasting; Java does it automatically, because a PartTimeEmployee is an Employee. Casting itself comes up again in a later lecture.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“1600.0”.</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“1600.0”.
The variable’s type is Employee, but the object is a PartTimeEmployee. Java picks the version when the program runs, from the actual object. This is dynamic binding. A variable of an abstract type is fine; only new Employee() would fail.</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@Override is optional, but it's a cheap safety net: it asks the compiler to check that a parent method with this exact name and parameters exists. Without it, tostring() would quietly become a brand-new method. Small fix: the lecture slide says the annotation goes above the overridden method; it goes above the overriding one, in the child. @Override also catches a method with the wrong parameters, which would otherwise quietly become an overload.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“Compile error at @Override”.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“Compile error at @Override”.
display(String) has different parameters from display(), so it would overload display(), not override it. Without @Override, Java would quietly accept it as a new method. With it, the compiler checks and reports the mistake straight away.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 method doesn't have to be abstract to be overridden. But if it is abstract in the parent, the child has no choice: override it, or be abstract itself. The lecture slide says 'overwritten'; the correct word is overridden.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“Compile error, unless FullTimeEmployee is abstract”.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“Compile error, unless FullTimeEmployee is abstract”.
An abstract method has no body, so a concrete subclass must override it. The only other option is to declare the subclass abstract too. The compiler says: “FullTimeEmployee is not abstract and does not override abstract method calcPay()”.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Two reasons to override: the parent's method is abstract, or the child needs different behaviour. getName works the same for every employee, so there's nothing to override. toString should show the child's own attributes, so we override it.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“toString()”.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“toString()”.
We override when the child needs different behaviour. toString() should describe the child’s own attributes too, so we override it. An inherited getName() or setName() already does the job.</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super.toString() runs the parent's version, and the child adds its own part. Note: the example on the lecture slide declares public void toString(). toString must return a String, so that version doesn't compile (the compiler says it cannot override toString() in Object, because the return type void is not compatible with String). This is the working version.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“Employee (manager)”.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“Employee (manager)”.
super.describe() runs the parent’s version first, which gives "Employee". Manager then adds " (manager)". This is how a child keeps the parent’s behaviour and adds to it.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4: toString, the instanceof check, and final classes and methods.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toString gives us all of an object's attributes as one String, in one call. The alternative is calling every getter and gluing the results together ourselves. Small fix: the lecture slide says toString prints the content; it returns it as a String, and println does the printing.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“Returning an object’s attributes as one String”.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“Returning an object’s attributes as one String”.
toString() returns the content of an object’s attributes in one method call, instead of calling each getter separately. Comparing objects (B) is what equals() is for, and copying is clone() (C).</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Object has a toString, so every class inherits one. But Object doesn't know about our attributes, so its version only prints the class name, an @ and a hash code. The digits change from run to run. If Job is in a package, the package name comes first, for example lecture4.Job@5a07e868.</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“Something like Job@1b6d3586”.</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“Something like Job@1b6d3586”.
Job still has a toString(): the one it inherits from Object. That version gives the class name, an @ sign and a hash code. To print something useful, we override toString().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Here FullTimeEmployee builds one String with all its details and returns it. We never call toString ourselves: printing the object calls it automatically. (The lecture slide creates new Employee(); Employee is abstract here, so we print a FullTimeEmployee.)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“toString()”.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“toString()”.
We don’t need to call toString() ourselves. When we print an object, Java calls its toString() automatically and prints the text it returns.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instanceof answers a yes/no question: is this object an instance of that class, or of one of its subclasses? A Car is a Car and also a Vehicle. boat is declared as a Vehicle on purpose. Declared as Boat, boat instanceof Car wouldn't compile (incompatible types: Boat cannot be converted to Car), because a Boat can never be a Car.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“true”.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“true”.
instanceof checks whether an object belongs to a class or one of its subclasses, and gives true or false. A Car is a Vehicle, so the answer is true.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final on a class ends the line: nothing can extend it. String is a well-known final class. A class can't be abstract and final at once: abstract means 'extend me', final means 'never extend me'. The lecture slide says 'by default' a class can't be both; in fact the two are never allowed together (the compiler reports an illegal combination of modifiers: abstract and final).</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“Compile error: a final class can’t be extended”.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“Compile error: a final class can’t be extended”.
final on a class ends the succession: no class can extend it. The compiler says “cannot inherit from final PartTimeEmployee”, and making Intern final too (D) doesn’t help.</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“public abstract final class Employee { }”.</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“public abstract final class Employee { }”.
A class can’t be abstract and final at the same time: abstract means “extend me”, final means “never extend me”. The compiler reports an illegal combination of modifiers.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 final method is inherited and can be called, but a child can't override it. final on an attribute is a separate thing: the attribute is still inherited and readable; it just can't be changed once set.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“Override it”.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“Override it”.
A final method can’t be overridden in a child class. The child still inherits it and can call it; it just can’t replace its behaviour. Overloading it (D) is still allowed, because a different parameter list makes a different method.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key words from today on one slide. A good one to leave up while taking questions.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Open the floor for questions. The summary slide before this one is a good one to go back to.</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73</a:t>
            </a:fld>
            <a:endParaRPr lang="en-IE"/>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Slid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Header-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rtlCol="0"/>
          <a:lstStyle>
            <a:lvl1pPr indent="0" marL="0">
              <a:buNone/>
              <a:defRPr lang="en-IE" sz="1400" b="1" spc="300" kern="0" dirty="0">
                <a:solidFill>
                  <a:schemeClr val="accent6"/>
                </a:solidFill>
              </a:defRPr>
            </a:lvl1pPr>
          </a:lstStyle>
          <a:p>
            <a:pPr indent="0" marL="0">
              <a:buNone/>
            </a:pPr>
            <a:endParaRPr lang="en-IE" sz="1400" dirty="0"/>
          </a:p>
        </p:txBody>
      </p:sp>
      <p:sp>
        <p:nvSpPr>
          <p:cNvPr id="3" name="Text 0"/>
          <p:cNvSpPr/>
          <p:nvPr>
            <p:ph idx="101" type="title" hasCustomPrompt="1"/>
          </p:nvPr>
        </p:nvSpPr>
        <p:spPr>
          <a:xfrm>
            <a:off x="822960" y="2011680"/>
            <a:ext cx="6035040" cy="1783080"/>
          </a:xfrm>
          <a:prstGeom prst="rect">
            <a:avLst/>
          </a:prstGeom>
          <a:noFill/>
          <a:ln/>
        </p:spPr>
        <p:txBody>
          <a:bodyPr wrap="square" rtlCol="0"/>
          <a:lstStyle>
            <a:lvl1pPr algn="l" indent="0" marL="0">
              <a:buNone/>
              <a:defRPr lang="en-IE" sz="5200" b="1" dirty="0">
                <a:solidFill>
                  <a:schemeClr val="bg1"/>
                </a:solidFill>
              </a:defRPr>
            </a:lvl1pPr>
          </a:lstStyle>
          <a:p>
            <a:pPr algn="l" indent="0" marL="0">
              <a:buNone/>
            </a:pPr>
            <a:endParaRPr lang="en-IE" sz="5200" dirty="0"/>
          </a:p>
        </p:txBody>
      </p:sp>
      <p:sp>
        <p:nvSpPr>
          <p:cNvPr id="4" name="Text 0"/>
          <p:cNvSpPr/>
          <p:nvPr>
            <p:ph idx="102" type="body" hasCustomPrompt="1"/>
          </p:nvPr>
        </p:nvSpPr>
        <p:spPr>
          <a:xfrm>
            <a:off x="822960" y="3794760"/>
            <a:ext cx="5669280" cy="914400"/>
          </a:xfrm>
          <a:prstGeom prst="rect">
            <a:avLst/>
          </a:prstGeom>
          <a:noFill/>
          <a:ln/>
        </p:spPr>
        <p:txBody>
          <a:bodyPr wrap="square" rtlCol="0"/>
          <a:lstStyle>
            <a:lvl1pPr indent="0" marL="0">
              <a:buNone/>
              <a:defRPr lang="en-IE" sz="2000" dirty="0">
                <a:solidFill>
                  <a:schemeClr val="bg2"/>
                </a:solidFill>
              </a:defRPr>
            </a:lvl1pPr>
          </a:lstStyle>
          <a:p>
            <a:pPr indent="0" marL="0">
              <a:buNone/>
            </a:pPr>
            <a:endParaRPr lang="en-IE"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rtlCol="0"/>
          <a:lstStyle>
            <a:lvl1pPr indent="0" marL="0">
              <a:buNone/>
              <a:defRPr lang="en-IE" sz="9600" b="1" dirty="0">
                <a:solidFill>
                  <a:schemeClr val="accent1"/>
                </a:solidFill>
              </a:defRPr>
            </a:lvl1pPr>
          </a:lstStyle>
          <a:p>
            <a:pPr indent="0" marL="0">
              <a:buNone/>
            </a:pP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rtlCol="0"/>
          <a:lstStyle>
            <a:lvl1pPr algn="l" indent="0" marL="0">
              <a:buNone/>
              <a:defRPr lang="en-IE" sz="4400" b="1" dirty="0">
                <a:solidFill>
                  <a:schemeClr val="bg1"/>
                </a:solidFill>
              </a:defRPr>
            </a:lvl1pPr>
          </a:lstStyle>
          <a:p>
            <a:pPr algn="l" indent="0" marL="0">
              <a:buNone/>
            </a:pP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rtlCol="0"/>
          <a:lstStyle>
            <a:lvl1pPr indent="0" marL="0">
              <a:buNone/>
              <a:defRPr lang="en-IE" sz="2000" dirty="0">
                <a:solidFill>
                  <a:schemeClr val="bg2"/>
                </a:solidFill>
              </a:defRPr>
            </a:lvl1pPr>
          </a:lstStyle>
          <a:p>
            <a:pPr indent="0" marL="0">
              <a:buNone/>
            </a:pPr>
            <a:endParaRPr lang="en-IE"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rtlCol="0"/>
          <a:lstStyle>
            <a:lvl1pPr indent="0" marL="0">
              <a:buNone/>
              <a:defRPr lang="en-IE" sz="1200" b="1" spc="150" kern="0" dirty="0">
                <a:solidFill>
                  <a:schemeClr val="tx2"/>
                </a:solidFill>
              </a:defRPr>
            </a:lvl1pPr>
          </a:lstStyle>
          <a:p>
            <a:pPr indent="0" marL="0">
              <a:buNone/>
            </a:pP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rtlCol="0"/>
          <a:lstStyle>
            <a:lvl1pPr algn="l" indent="0" marL="0">
              <a:buNone/>
              <a:defRPr lang="en-IE" sz="3400" b="1" dirty="0">
                <a:solidFill>
                  <a:schemeClr val="tx1"/>
                </a:solidFill>
              </a:defRPr>
            </a:lvl1pPr>
          </a:lstStyle>
          <a:p>
            <a:pPr algn="l" indent="0" marL="0">
              <a:buNone/>
            </a:pPr>
            <a:endParaRPr lang="en-IE" sz="3400" dirty="0"/>
          </a:p>
        </p:txBody>
      </p:sp>
      <p:sp>
        <p:nvSpPr>
          <p:cNvPr id="4"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4</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1004</a:t>
            </a:fld>
            <a:endParaRPr lang="en-I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Quick Check">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11091672" cy="1143000"/>
          </a:xfrm>
          <a:prstGeom prst="rect">
            <a:avLst/>
          </a:prstGeom>
          <a:noFill/>
          <a:ln/>
        </p:spPr>
        <p:txBody>
          <a:bodyPr wrap="square" rtlCol="0"/>
          <a:lstStyle>
            <a:lvl1pPr algn="l" indent="0" marL="0">
              <a:buNone/>
              <a:defRPr lang="en-IE" sz="2800" b="1" dirty="0">
                <a:solidFill>
                  <a:schemeClr val="tx1"/>
                </a:solidFill>
              </a:defRPr>
            </a:lvl1pPr>
          </a:lstStyle>
          <a:p>
            <a:pPr algn="l" indent="0" marL="0">
              <a:buNone/>
            </a:pPr>
            <a:endParaRPr lang="en-IE" sz="28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4</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1005</a:t>
            </a:fld>
            <a:endParaRPr lang="en-I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nswer">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96112"/>
            <a:ext cx="11091672" cy="777240"/>
          </a:xfrm>
          <a:prstGeom prst="rect">
            <a:avLst/>
          </a:prstGeom>
          <a:noFill/>
          <a:ln/>
        </p:spPr>
        <p:txBody>
          <a:bodyPr wrap="square" rtlCol="0"/>
          <a:lstStyle>
            <a:lvl1pPr algn="l" indent="0" marL="0">
              <a:buNone/>
              <a:defRPr lang="en-IE" sz="2000" b="1" dirty="0">
                <a:solidFill>
                  <a:schemeClr val="tx2"/>
                </a:solidFill>
              </a:defRPr>
            </a:lvl1pPr>
          </a:lstStyle>
          <a:p>
            <a:pPr algn="l" indent="0" marL="0">
              <a:buNone/>
            </a:pPr>
            <a:endParaRPr lang="en-IE" sz="20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4</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1006</a:t>
            </a:fld>
            <a:endParaRPr lang="en-I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rtlCol="0"/>
          <a:lstStyle>
            <a:lvl1pPr algn="l" indent="0" marL="0">
              <a:buNone/>
              <a:defRPr lang="en-IE" sz="6400" b="1" dirty="0">
                <a:solidFill>
                  <a:schemeClr val="bg1"/>
                </a:solidFill>
              </a:defRPr>
            </a:lvl1pPr>
          </a:lstStyle>
          <a:p>
            <a:pPr algn="l" indent="0" marL="0">
              <a:buNone/>
            </a:pPr>
            <a:endParaRPr lang="en-IE" sz="6400" dirty="0"/>
          </a:p>
        </p:txBody>
      </p:sp>
      <p:sp>
        <p:nvSpPr>
          <p:cNvPr id="3" name="Text 0"/>
          <p:cNvSpPr/>
          <p:nvPr>
            <p:ph idx="101" type="body" hasCustomPrompt="1"/>
          </p:nvPr>
        </p:nvSpPr>
        <p:spPr>
          <a:xfrm>
            <a:off x="822960" y="3611880"/>
            <a:ext cx="6766560" cy="822960"/>
          </a:xfrm>
          <a:prstGeom prst="rect">
            <a:avLst/>
          </a:prstGeom>
          <a:noFill/>
          <a:ln/>
        </p:spPr>
        <p:txBody>
          <a:bodyPr wrap="square" rtlCol="0"/>
          <a:lstStyle>
            <a:lvl1pPr indent="0" marL="0">
              <a:buNone/>
              <a:defRPr lang="en-IE" sz="2200" dirty="0">
                <a:solidFill>
                  <a:schemeClr val="bg2"/>
                </a:solidFill>
              </a:defRPr>
            </a:lvl1pPr>
          </a:lstStyle>
          <a:p>
            <a:pPr indent="0" marL="0">
              <a:buNone/>
            </a:pPr>
            <a:endParaRPr lang="en-IE"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null</a:t>
            </a:fld>
            <a:endParaRPr lang="en-I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I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6.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6.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6.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6.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6.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6.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6.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4.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6.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6.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4.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6.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4.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6.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4.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6.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4.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6.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6.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6.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6.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4.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6.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6.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4.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6.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6.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4.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6.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image" Target="../media/image-72-5.png"/><Relationship Id="rId6" Type="http://schemas.openxmlformats.org/officeDocument/2006/relationships/image" Target="../media/image-72-6.png"/><Relationship Id="rId7" Type="http://schemas.openxmlformats.org/officeDocument/2006/relationships/image" Target="../media/image-72-7.png"/><Relationship Id="rId8" Type="http://schemas.openxmlformats.org/officeDocument/2006/relationships/image" Target="../media/image-72-8.png"/><Relationship Id="rId9" Type="http://schemas.openxmlformats.org/officeDocument/2006/relationships/slideLayout" Target="../slideLayouts/slideLayout4.xml"/><Relationship Id="rId10"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7.xml"/><Relationship Id="rId3"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lIns="0" tIns="0" rIns="0" bIns="0" rtlCol="0" anchor="ctr"/>
          <a:lstStyle/>
          <a:p>
            <a:pPr indent="0" marL="0">
              <a:buNone/>
            </a:pPr>
            <a:r>
              <a:rPr lang="en-IE" sz="1400" b="1" spc="300" kern="0" dirty="0">
                <a:solidFill>
                  <a:schemeClr val="accent6"/>
                </a:solidFill>
              </a:rPr>
              <a:t>LECTURE 4</a:t>
            </a:r>
            <a:endParaRPr lang="en-IE" sz="1400" dirty="0"/>
          </a:p>
        </p:txBody>
      </p:sp>
      <p:sp>
        <p:nvSpPr>
          <p:cNvPr id="3" name="Text 0"/>
          <p:cNvSpPr/>
          <p:nvPr>
            <p:ph idx="101" type="title" hasCustomPrompt="1"/>
          </p:nvPr>
        </p:nvSpPr>
        <p:spPr>
          <a:xfrm>
            <a:off x="822960" y="2011680"/>
            <a:ext cx="6035040" cy="1783080"/>
          </a:xfrm>
          <a:prstGeom prst="rect">
            <a:avLst/>
          </a:prstGeom>
          <a:noFill/>
          <a:ln/>
        </p:spPr>
        <p:txBody>
          <a:bodyPr wrap="square" lIns="0" tIns="0" rIns="0" bIns="0" rtlCol="0" anchor="t"/>
          <a:lstStyle/>
          <a:p>
            <a:pPr algn="l" indent="0" marL="0">
              <a:buNone/>
            </a:pPr>
            <a:r>
              <a:rPr lang="en-IE" sz="5200" b="1" dirty="0">
                <a:solidFill>
                  <a:schemeClr val="bg1"/>
                </a:solidFill>
              </a:rPr>
              <a:t>Abstract classes and polymorphism</a:t>
            </a:r>
            <a:endParaRPr lang="en-IE" sz="5200" dirty="0"/>
          </a:p>
        </p:txBody>
      </p:sp>
      <p:sp>
        <p:nvSpPr>
          <p:cNvPr id="4" name="Text 0"/>
          <p:cNvSpPr/>
          <p:nvPr>
            <p:ph idx="102" type="body" hasCustomPrompt="1"/>
          </p:nvPr>
        </p:nvSpPr>
        <p:spPr>
          <a:xfrm>
            <a:off x="822960" y="3794760"/>
            <a:ext cx="5669280" cy="914400"/>
          </a:xfrm>
          <a:prstGeom prst="rect">
            <a:avLst/>
          </a:prstGeom>
          <a:noFill/>
          <a:ln/>
        </p:spPr>
        <p:txBody>
          <a:bodyPr wrap="square" lIns="0" tIns="0" rIns="0" bIns="0" rtlCol="0" anchor="t"/>
          <a:lstStyle/>
          <a:p>
            <a:pPr indent="0" marL="0">
              <a:buNone/>
            </a:pPr>
            <a:r>
              <a:rPr lang="en-IE" sz="2000" dirty="0">
                <a:solidFill>
                  <a:schemeClr val="bg2"/>
                </a:solidFill>
              </a:rPr>
              <a:t>Object, overloading, overriding, toString and final</a:t>
            </a:r>
            <a:endParaRPr lang="en-IE" sz="2000" dirty="0"/>
          </a:p>
        </p:txBody>
      </p:sp>
      <p:sp>
        <p:nvSpPr>
          <p:cNvPr id="5" name="Box Object"/>
          <p:cNvSpPr/>
          <p:nvPr/>
        </p:nvSpPr>
        <p:spPr>
          <a:xfrm>
            <a:off x="8366760" y="1143000"/>
            <a:ext cx="1783080" cy="548640"/>
          </a:xfrm>
          <a:prstGeom prst="roundRect">
            <a:avLst>
              <a:gd name="adj" fmla="val 13333"/>
            </a:avLst>
          </a:prstGeom>
          <a:solidFill>
            <a:schemeClr val="bg1">
              <a:alpha val="12000"/>
            </a:schemeClr>
          </a:solidFill>
          <a:ln w="19050">
            <a:solidFill>
              <a:schemeClr val="bg1"/>
            </a:solidFill>
            <a:prstDash val="solid"/>
          </a:ln>
        </p:spPr>
      </p:sp>
      <p:sp>
        <p:nvSpPr>
          <p:cNvPr id="6" name="Text 4"/>
          <p:cNvSpPr txBox="1"/>
          <p:nvPr/>
        </p:nvSpPr>
        <p:spPr>
          <a:xfrm>
            <a:off x="8366760" y="1143000"/>
            <a:ext cx="1783080" cy="548640"/>
          </a:xfrm>
          <a:prstGeom prst="rect">
            <a:avLst/>
          </a:prstGeom>
          <a:noFill/>
          <a:ln/>
        </p:spPr>
        <p:txBody>
          <a:bodyPr wrap="square" lIns="0" tIns="0" rIns="0" bIns="0" rtlCol="0" anchor="ctr"/>
          <a:lstStyle/>
          <a:p>
            <a:pPr algn="ctr" indent="0" marL="0">
              <a:buNone/>
            </a:pPr>
            <a:r>
              <a:rPr lang="en-IE" sz="1700" b="1" dirty="0">
                <a:solidFill>
                  <a:schemeClr val="bg1"/>
                </a:solidFill>
              </a:rPr>
              <a:t>Object</a:t>
            </a:r>
            <a:endParaRPr lang="en-IE" sz="1700" dirty="0"/>
          </a:p>
        </p:txBody>
      </p:sp>
      <p:sp>
        <p:nvSpPr>
          <p:cNvPr id="7" name="Box Person"/>
          <p:cNvSpPr/>
          <p:nvPr/>
        </p:nvSpPr>
        <p:spPr>
          <a:xfrm>
            <a:off x="8366760" y="2194560"/>
            <a:ext cx="1783080" cy="548640"/>
          </a:xfrm>
          <a:prstGeom prst="roundRect">
            <a:avLst>
              <a:gd name="adj" fmla="val 13333"/>
            </a:avLst>
          </a:prstGeom>
          <a:solidFill>
            <a:schemeClr val="bg1">
              <a:alpha val="12000"/>
            </a:schemeClr>
          </a:solidFill>
          <a:ln w="19050">
            <a:solidFill>
              <a:schemeClr val="bg1"/>
            </a:solidFill>
            <a:prstDash val="solid"/>
          </a:ln>
        </p:spPr>
      </p:sp>
      <p:sp>
        <p:nvSpPr>
          <p:cNvPr id="8" name="Text 6"/>
          <p:cNvSpPr txBox="1"/>
          <p:nvPr/>
        </p:nvSpPr>
        <p:spPr>
          <a:xfrm>
            <a:off x="8366760" y="2194560"/>
            <a:ext cx="1783080" cy="548640"/>
          </a:xfrm>
          <a:prstGeom prst="rect">
            <a:avLst/>
          </a:prstGeom>
          <a:noFill/>
          <a:ln/>
        </p:spPr>
        <p:txBody>
          <a:bodyPr wrap="square" lIns="0" tIns="0" rIns="0" bIns="0" rtlCol="0" anchor="ctr"/>
          <a:lstStyle/>
          <a:p>
            <a:pPr algn="ctr" indent="0" marL="0">
              <a:buNone/>
            </a:pPr>
            <a:r>
              <a:rPr lang="en-IE" sz="1700" b="1" dirty="0">
                <a:solidFill>
                  <a:schemeClr val="bg1"/>
                </a:solidFill>
              </a:rPr>
              <a:t>Person</a:t>
            </a:r>
            <a:endParaRPr lang="en-IE" sz="1700" dirty="0"/>
          </a:p>
        </p:txBody>
      </p:sp>
      <p:sp>
        <p:nvSpPr>
          <p:cNvPr id="9" name="Box Employee"/>
          <p:cNvSpPr/>
          <p:nvPr/>
        </p:nvSpPr>
        <p:spPr>
          <a:xfrm>
            <a:off x="7315200" y="3291840"/>
            <a:ext cx="1783080" cy="548640"/>
          </a:xfrm>
          <a:prstGeom prst="roundRect">
            <a:avLst>
              <a:gd name="adj" fmla="val 13333"/>
            </a:avLst>
          </a:prstGeom>
          <a:solidFill>
            <a:schemeClr val="bg1">
              <a:alpha val="12000"/>
            </a:schemeClr>
          </a:solidFill>
          <a:ln w="19050">
            <a:solidFill>
              <a:schemeClr val="bg1"/>
            </a:solidFill>
            <a:prstDash val="solid"/>
          </a:ln>
        </p:spPr>
      </p:sp>
      <p:sp>
        <p:nvSpPr>
          <p:cNvPr id="10" name="Text 8"/>
          <p:cNvSpPr txBox="1"/>
          <p:nvPr/>
        </p:nvSpPr>
        <p:spPr>
          <a:xfrm>
            <a:off x="7315200" y="3291840"/>
            <a:ext cx="1783080" cy="548640"/>
          </a:xfrm>
          <a:prstGeom prst="rect">
            <a:avLst/>
          </a:prstGeom>
          <a:noFill/>
          <a:ln/>
        </p:spPr>
        <p:txBody>
          <a:bodyPr wrap="square" lIns="0" tIns="0" rIns="0" bIns="0" rtlCol="0" anchor="ctr"/>
          <a:lstStyle/>
          <a:p>
            <a:pPr algn="ctr" indent="0" marL="0">
              <a:buNone/>
            </a:pPr>
            <a:r>
              <a:rPr lang="en-IE" sz="1700" b="1" i="1" dirty="0">
                <a:solidFill>
                  <a:schemeClr val="bg1"/>
                </a:solidFill>
              </a:rPr>
              <a:t>Employee</a:t>
            </a:r>
            <a:endParaRPr lang="en-IE" sz="1700" dirty="0"/>
          </a:p>
        </p:txBody>
      </p:sp>
      <p:sp>
        <p:nvSpPr>
          <p:cNvPr id="11" name="Box Student"/>
          <p:cNvSpPr/>
          <p:nvPr/>
        </p:nvSpPr>
        <p:spPr>
          <a:xfrm>
            <a:off x="9692640" y="3291840"/>
            <a:ext cx="1783080" cy="548640"/>
          </a:xfrm>
          <a:prstGeom prst="roundRect">
            <a:avLst>
              <a:gd name="adj" fmla="val 13333"/>
            </a:avLst>
          </a:prstGeom>
          <a:solidFill>
            <a:schemeClr val="bg1">
              <a:alpha val="12000"/>
            </a:schemeClr>
          </a:solidFill>
          <a:ln w="19050">
            <a:solidFill>
              <a:schemeClr val="bg1"/>
            </a:solidFill>
            <a:prstDash val="solid"/>
          </a:ln>
        </p:spPr>
      </p:sp>
      <p:sp>
        <p:nvSpPr>
          <p:cNvPr id="12" name="Text 10"/>
          <p:cNvSpPr txBox="1"/>
          <p:nvPr/>
        </p:nvSpPr>
        <p:spPr>
          <a:xfrm>
            <a:off x="9692640" y="3291840"/>
            <a:ext cx="1783080" cy="548640"/>
          </a:xfrm>
          <a:prstGeom prst="rect">
            <a:avLst/>
          </a:prstGeom>
          <a:noFill/>
          <a:ln/>
        </p:spPr>
        <p:txBody>
          <a:bodyPr wrap="square" lIns="0" tIns="0" rIns="0" bIns="0" rtlCol="0" anchor="ctr"/>
          <a:lstStyle/>
          <a:p>
            <a:pPr algn="ctr" indent="0" marL="0">
              <a:buNone/>
            </a:pPr>
            <a:r>
              <a:rPr lang="en-IE" sz="1700" b="1" dirty="0">
                <a:solidFill>
                  <a:schemeClr val="bg1"/>
                </a:solidFill>
              </a:rPr>
              <a:t>Student</a:t>
            </a:r>
            <a:endParaRPr lang="en-IE" sz="1700" dirty="0"/>
          </a:p>
        </p:txBody>
      </p:sp>
      <p:sp>
        <p:nvSpPr>
          <p:cNvPr id="13" name="Box Full time"/>
          <p:cNvSpPr/>
          <p:nvPr/>
        </p:nvSpPr>
        <p:spPr>
          <a:xfrm>
            <a:off x="6400800" y="4434840"/>
            <a:ext cx="1783080" cy="548640"/>
          </a:xfrm>
          <a:prstGeom prst="roundRect">
            <a:avLst>
              <a:gd name="adj" fmla="val 13333"/>
            </a:avLst>
          </a:prstGeom>
          <a:solidFill>
            <a:schemeClr val="bg1">
              <a:alpha val="12000"/>
            </a:schemeClr>
          </a:solidFill>
          <a:ln w="19050">
            <a:solidFill>
              <a:schemeClr val="bg1"/>
            </a:solidFill>
            <a:prstDash val="solid"/>
          </a:ln>
        </p:spPr>
      </p:sp>
      <p:sp>
        <p:nvSpPr>
          <p:cNvPr id="14" name="Text 12"/>
          <p:cNvSpPr txBox="1"/>
          <p:nvPr/>
        </p:nvSpPr>
        <p:spPr>
          <a:xfrm>
            <a:off x="6400800" y="4434840"/>
            <a:ext cx="1783080" cy="548640"/>
          </a:xfrm>
          <a:prstGeom prst="rect">
            <a:avLst/>
          </a:prstGeom>
          <a:noFill/>
          <a:ln/>
        </p:spPr>
        <p:txBody>
          <a:bodyPr wrap="square" lIns="0" tIns="0" rIns="0" bIns="0" rtlCol="0" anchor="ctr"/>
          <a:lstStyle/>
          <a:p>
            <a:pPr algn="ctr" indent="0" marL="0">
              <a:buNone/>
            </a:pPr>
            <a:r>
              <a:rPr lang="en-IE" sz="1600" b="1" dirty="0">
                <a:solidFill>
                  <a:schemeClr val="bg1"/>
                </a:solidFill>
              </a:rPr>
              <a:t>Full time</a:t>
            </a:r>
            <a:endParaRPr lang="en-IE" sz="1600" dirty="0"/>
          </a:p>
        </p:txBody>
      </p:sp>
      <p:sp>
        <p:nvSpPr>
          <p:cNvPr id="15" name="Box Part time"/>
          <p:cNvSpPr/>
          <p:nvPr/>
        </p:nvSpPr>
        <p:spPr>
          <a:xfrm>
            <a:off x="8412480" y="4434840"/>
            <a:ext cx="1783080" cy="548640"/>
          </a:xfrm>
          <a:prstGeom prst="roundRect">
            <a:avLst>
              <a:gd name="adj" fmla="val 13333"/>
            </a:avLst>
          </a:prstGeom>
          <a:solidFill>
            <a:schemeClr val="bg1">
              <a:alpha val="12000"/>
            </a:schemeClr>
          </a:solidFill>
          <a:ln w="19050">
            <a:solidFill>
              <a:schemeClr val="bg1"/>
            </a:solidFill>
            <a:prstDash val="solid"/>
          </a:ln>
        </p:spPr>
      </p:sp>
      <p:sp>
        <p:nvSpPr>
          <p:cNvPr id="16" name="Text 14"/>
          <p:cNvSpPr txBox="1"/>
          <p:nvPr/>
        </p:nvSpPr>
        <p:spPr>
          <a:xfrm>
            <a:off x="8412480" y="4434840"/>
            <a:ext cx="1783080" cy="548640"/>
          </a:xfrm>
          <a:prstGeom prst="rect">
            <a:avLst/>
          </a:prstGeom>
          <a:noFill/>
          <a:ln/>
        </p:spPr>
        <p:txBody>
          <a:bodyPr wrap="square" lIns="0" tIns="0" rIns="0" bIns="0" rtlCol="0" anchor="ctr"/>
          <a:lstStyle/>
          <a:p>
            <a:pPr algn="ctr" indent="0" marL="0">
              <a:buNone/>
            </a:pPr>
            <a:r>
              <a:rPr lang="en-IE" sz="1600" b="1" dirty="0">
                <a:solidFill>
                  <a:schemeClr val="bg1"/>
                </a:solidFill>
              </a:rPr>
              <a:t>Part time</a:t>
            </a:r>
            <a:endParaRPr lang="en-IE" sz="1600" dirty="0"/>
          </a:p>
        </p:txBody>
      </p:sp>
      <p:sp>
        <p:nvSpPr>
          <p:cNvPr id="17" name="Line"/>
          <p:cNvSpPr/>
          <p:nvPr/>
        </p:nvSpPr>
        <p:spPr>
          <a:xfrm flipV="1">
            <a:off x="9258300" y="1874520"/>
            <a:ext cx="0" cy="320040"/>
          </a:xfrm>
          <a:prstGeom prst="line">
            <a:avLst/>
          </a:prstGeom>
          <a:noFill/>
          <a:ln w="19050">
            <a:solidFill>
              <a:schemeClr val="bg1"/>
            </a:solidFill>
            <a:prstDash val="solid"/>
          </a:ln>
        </p:spPr>
      </p:sp>
      <p:sp>
        <p:nvSpPr>
          <p:cNvPr id="18" name="Inheritance arrow head"/>
          <p:cNvSpPr/>
          <p:nvPr/>
        </p:nvSpPr>
        <p:spPr>
          <a:xfrm>
            <a:off x="9148572" y="1691640"/>
            <a:ext cx="219456" cy="182880"/>
          </a:xfrm>
          <a:prstGeom prst="triangle">
            <a:avLst/>
          </a:prstGeom>
          <a:solidFill>
            <a:srgbClr val="1E3F6B"/>
          </a:solidFill>
          <a:ln w="19050">
            <a:solidFill>
              <a:schemeClr val="bg1"/>
            </a:solidFill>
            <a:prstDash val="solid"/>
          </a:ln>
        </p:spPr>
      </p:sp>
      <p:sp>
        <p:nvSpPr>
          <p:cNvPr id="19" name="Line"/>
          <p:cNvSpPr/>
          <p:nvPr/>
        </p:nvSpPr>
        <p:spPr>
          <a:xfrm flipV="1">
            <a:off x="9258300" y="2926080"/>
            <a:ext cx="0" cy="91440"/>
          </a:xfrm>
          <a:prstGeom prst="line">
            <a:avLst/>
          </a:prstGeom>
          <a:noFill/>
          <a:ln w="19050">
            <a:solidFill>
              <a:schemeClr val="bg1"/>
            </a:solidFill>
            <a:prstDash val="solid"/>
          </a:ln>
        </p:spPr>
      </p:sp>
      <p:sp>
        <p:nvSpPr>
          <p:cNvPr id="20" name="Line"/>
          <p:cNvSpPr/>
          <p:nvPr/>
        </p:nvSpPr>
        <p:spPr>
          <a:xfrm>
            <a:off x="8206740" y="3017520"/>
            <a:ext cx="2377440" cy="0"/>
          </a:xfrm>
          <a:prstGeom prst="line">
            <a:avLst/>
          </a:prstGeom>
          <a:noFill/>
          <a:ln w="19050">
            <a:solidFill>
              <a:schemeClr val="bg1"/>
            </a:solidFill>
            <a:prstDash val="solid"/>
          </a:ln>
        </p:spPr>
      </p:sp>
      <p:sp>
        <p:nvSpPr>
          <p:cNvPr id="21" name="Line"/>
          <p:cNvSpPr/>
          <p:nvPr/>
        </p:nvSpPr>
        <p:spPr>
          <a:xfrm flipV="1">
            <a:off x="8206740" y="3017520"/>
            <a:ext cx="0" cy="274320"/>
          </a:xfrm>
          <a:prstGeom prst="line">
            <a:avLst/>
          </a:prstGeom>
          <a:noFill/>
          <a:ln w="19050">
            <a:solidFill>
              <a:schemeClr val="bg1"/>
            </a:solidFill>
            <a:prstDash val="solid"/>
          </a:ln>
        </p:spPr>
      </p:sp>
      <p:sp>
        <p:nvSpPr>
          <p:cNvPr id="22" name="Line"/>
          <p:cNvSpPr/>
          <p:nvPr/>
        </p:nvSpPr>
        <p:spPr>
          <a:xfrm flipV="1">
            <a:off x="10584180" y="3017520"/>
            <a:ext cx="0" cy="274320"/>
          </a:xfrm>
          <a:prstGeom prst="line">
            <a:avLst/>
          </a:prstGeom>
          <a:noFill/>
          <a:ln w="19050">
            <a:solidFill>
              <a:schemeClr val="bg1"/>
            </a:solidFill>
            <a:prstDash val="solid"/>
          </a:ln>
        </p:spPr>
      </p:sp>
      <p:sp>
        <p:nvSpPr>
          <p:cNvPr id="23" name="Inheritance arrow head"/>
          <p:cNvSpPr/>
          <p:nvPr/>
        </p:nvSpPr>
        <p:spPr>
          <a:xfrm>
            <a:off x="9148572" y="2743200"/>
            <a:ext cx="219456" cy="182880"/>
          </a:xfrm>
          <a:prstGeom prst="triangle">
            <a:avLst/>
          </a:prstGeom>
          <a:solidFill>
            <a:srgbClr val="1E3F6B"/>
          </a:solidFill>
          <a:ln w="19050">
            <a:solidFill>
              <a:schemeClr val="bg1"/>
            </a:solidFill>
            <a:prstDash val="solid"/>
          </a:ln>
        </p:spPr>
      </p:sp>
      <p:sp>
        <p:nvSpPr>
          <p:cNvPr id="24" name="Line"/>
          <p:cNvSpPr/>
          <p:nvPr/>
        </p:nvSpPr>
        <p:spPr>
          <a:xfrm flipV="1">
            <a:off x="8206740" y="4023360"/>
            <a:ext cx="0" cy="114300"/>
          </a:xfrm>
          <a:prstGeom prst="line">
            <a:avLst/>
          </a:prstGeom>
          <a:noFill/>
          <a:ln w="19050">
            <a:solidFill>
              <a:schemeClr val="bg1"/>
            </a:solidFill>
            <a:prstDash val="solid"/>
          </a:ln>
        </p:spPr>
      </p:sp>
      <p:sp>
        <p:nvSpPr>
          <p:cNvPr id="25" name="Line"/>
          <p:cNvSpPr/>
          <p:nvPr/>
        </p:nvSpPr>
        <p:spPr>
          <a:xfrm>
            <a:off x="7292340" y="4137660"/>
            <a:ext cx="2011680" cy="0"/>
          </a:xfrm>
          <a:prstGeom prst="line">
            <a:avLst/>
          </a:prstGeom>
          <a:noFill/>
          <a:ln w="19050">
            <a:solidFill>
              <a:schemeClr val="bg1"/>
            </a:solidFill>
            <a:prstDash val="solid"/>
          </a:ln>
        </p:spPr>
      </p:sp>
      <p:sp>
        <p:nvSpPr>
          <p:cNvPr id="26" name="Line"/>
          <p:cNvSpPr/>
          <p:nvPr/>
        </p:nvSpPr>
        <p:spPr>
          <a:xfrm flipV="1">
            <a:off x="7292340" y="4137660"/>
            <a:ext cx="0" cy="297180"/>
          </a:xfrm>
          <a:prstGeom prst="line">
            <a:avLst/>
          </a:prstGeom>
          <a:noFill/>
          <a:ln w="19050">
            <a:solidFill>
              <a:schemeClr val="bg1"/>
            </a:solidFill>
            <a:prstDash val="solid"/>
          </a:ln>
        </p:spPr>
      </p:sp>
      <p:sp>
        <p:nvSpPr>
          <p:cNvPr id="27" name="Line"/>
          <p:cNvSpPr/>
          <p:nvPr/>
        </p:nvSpPr>
        <p:spPr>
          <a:xfrm flipV="1">
            <a:off x="9304020" y="4137660"/>
            <a:ext cx="0" cy="297180"/>
          </a:xfrm>
          <a:prstGeom prst="line">
            <a:avLst/>
          </a:prstGeom>
          <a:noFill/>
          <a:ln w="19050">
            <a:solidFill>
              <a:schemeClr val="bg1"/>
            </a:solidFill>
            <a:prstDash val="solid"/>
          </a:ln>
        </p:spPr>
      </p:sp>
      <p:sp>
        <p:nvSpPr>
          <p:cNvPr id="28" name="Inheritance arrow head"/>
          <p:cNvSpPr/>
          <p:nvPr/>
        </p:nvSpPr>
        <p:spPr>
          <a:xfrm>
            <a:off x="8097012" y="3840480"/>
            <a:ext cx="219456" cy="182880"/>
          </a:xfrm>
          <a:prstGeom prst="triangle">
            <a:avLst/>
          </a:prstGeom>
          <a:solidFill>
            <a:srgbClr val="1E3F6B"/>
          </a:solidFill>
          <a:ln w="19050">
            <a:solidFill>
              <a:schemeClr val="bg1"/>
            </a:solidFill>
            <a:prstDash val="solid"/>
          </a:ln>
        </p:spPr>
      </p:sp>
      <p:sp>
        <p:nvSpPr>
          <p:cNvPr id="29" name="One method"/>
          <p:cNvSpPr/>
          <p:nvPr/>
        </p:nvSpPr>
        <p:spPr>
          <a:xfrm>
            <a:off x="6400800" y="5138928"/>
            <a:ext cx="1783080" cy="384048"/>
          </a:xfrm>
          <a:prstGeom prst="roundRect">
            <a:avLst>
              <a:gd name="adj" fmla="val 19048"/>
            </a:avLst>
          </a:prstGeom>
          <a:solidFill>
            <a:schemeClr val="accent1"/>
          </a:solidFill>
          <a:ln/>
        </p:spPr>
        <p:txBody>
          <a:bodyPr wrap="square" lIns="0" tIns="0" rIns="0" bIns="0" rtlCol="0" anchor="ctr"/>
          <a:lstStyle/>
          <a:p>
            <a:pPr algn="ctr" indent="0" marL="0">
              <a:buNone/>
            </a:pPr>
            <a:r>
              <a:rPr lang="en-IE" sz="1300" b="1" dirty="0">
                <a:solidFill>
                  <a:schemeClr val="bg1"/>
                </a:solidFill>
                <a:latin typeface="Consolas" pitchFamily="34" charset="0"/>
                <a:ea typeface="Consolas" pitchFamily="34" charset="-122"/>
                <a:cs typeface="Consolas" pitchFamily="34" charset="-120"/>
              </a:rPr>
              <a:t>calcPay()</a:t>
            </a:r>
            <a:endParaRPr lang="en-IE" sz="1300" dirty="0"/>
          </a:p>
        </p:txBody>
      </p:sp>
      <p:sp>
        <p:nvSpPr>
          <p:cNvPr id="30" name="Same method, other form"/>
          <p:cNvSpPr/>
          <p:nvPr/>
        </p:nvSpPr>
        <p:spPr>
          <a:xfrm>
            <a:off x="8412480" y="5138928"/>
            <a:ext cx="1783080" cy="384048"/>
          </a:xfrm>
          <a:prstGeom prst="roundRect">
            <a:avLst>
              <a:gd name="adj" fmla="val 19048"/>
            </a:avLst>
          </a:prstGeom>
          <a:solidFill>
            <a:schemeClr val="accent6"/>
          </a:solidFill>
          <a:ln/>
        </p:spPr>
        <p:txBody>
          <a:bodyPr wrap="square" lIns="0" tIns="0" rIns="0" bIns="0" rtlCol="0" anchor="ctr"/>
          <a:lstStyle/>
          <a:p>
            <a:pPr algn="ctr" indent="0" marL="0">
              <a:buNone/>
            </a:pPr>
            <a:r>
              <a:rPr lang="en-IE" sz="1300" b="1" dirty="0">
                <a:solidFill>
                  <a:schemeClr val="tx1"/>
                </a:solidFill>
                <a:latin typeface="Consolas" pitchFamily="34" charset="0"/>
                <a:ea typeface="Consolas" pitchFamily="34" charset="-122"/>
                <a:cs typeface="Consolas" pitchFamily="34" charset="-120"/>
              </a:rPr>
              <a:t>calcPay()</a:t>
            </a:r>
            <a:endParaRPr lang="en-IE" sz="1300" dirty="0"/>
          </a:p>
        </p:txBody>
      </p:sp>
      <p:sp>
        <p:nvSpPr>
          <p:cNvPr id="31" name="Text 29"/>
          <p:cNvSpPr txBox="1"/>
          <p:nvPr/>
        </p:nvSpPr>
        <p:spPr>
          <a:xfrm>
            <a:off x="6400800" y="5596128"/>
            <a:ext cx="3794760" cy="292608"/>
          </a:xfrm>
          <a:prstGeom prst="rect">
            <a:avLst/>
          </a:prstGeom>
          <a:noFill/>
          <a:ln/>
        </p:spPr>
        <p:txBody>
          <a:bodyPr wrap="square" lIns="0" tIns="0" rIns="0" bIns="0" rtlCol="0" anchor="t"/>
          <a:lstStyle/>
          <a:p>
            <a:pPr algn="ctr" indent="0" marL="0">
              <a:buNone/>
            </a:pPr>
            <a:r>
              <a:rPr lang="en-IE" sz="1300" i="1" dirty="0">
                <a:solidFill>
                  <a:schemeClr val="bg2"/>
                </a:solidFill>
              </a:rPr>
              <a:t>one name, two forms</a:t>
            </a:r>
            <a:endParaRPr lang="en-IE"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LECTURE 4</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What we cover today</a:t>
            </a:r>
            <a:endParaRPr lang="en-IE" sz="3400" dirty="0"/>
          </a:p>
        </p:txBody>
      </p:sp>
      <p:sp>
        <p:nvSpPr>
          <p:cNvPr id="5" name="Text 2"/>
          <p:cNvSpPr txBox="1"/>
          <p:nvPr/>
        </p:nvSpPr>
        <p:spPr>
          <a:xfrm>
            <a:off x="548640" y="1746504"/>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01</a:t>
            </a:r>
            <a:endParaRPr lang="en-IE" sz="3000" dirty="0"/>
          </a:p>
        </p:txBody>
      </p:sp>
      <p:sp>
        <p:nvSpPr>
          <p:cNvPr id="6" name="Text 3"/>
          <p:cNvSpPr txBox="1"/>
          <p:nvPr/>
        </p:nvSpPr>
        <p:spPr>
          <a:xfrm>
            <a:off x="1463040" y="1783080"/>
            <a:ext cx="5577840" cy="384048"/>
          </a:xfrm>
          <a:prstGeom prst="rect">
            <a:avLst/>
          </a:prstGeom>
          <a:noFill/>
          <a:ln/>
        </p:spPr>
        <p:txBody>
          <a:bodyPr wrap="square" lIns="0" tIns="0" rIns="0" bIns="0" rtlCol="0" anchor="t"/>
          <a:lstStyle/>
          <a:p>
            <a:pPr indent="0" marL="0">
              <a:buNone/>
            </a:pPr>
            <a:r>
              <a:rPr lang="en-IE" sz="2100" b="1" dirty="0">
                <a:solidFill>
                  <a:schemeClr val="tx1"/>
                </a:solidFill>
              </a:rPr>
              <a:t>Object and the class hierarchy</a:t>
            </a:r>
            <a:endParaRPr lang="en-IE" sz="2100" dirty="0"/>
          </a:p>
        </p:txBody>
      </p:sp>
      <p:sp>
        <p:nvSpPr>
          <p:cNvPr id="7" name="Text 4"/>
          <p:cNvSpPr txBox="1"/>
          <p:nvPr/>
        </p:nvSpPr>
        <p:spPr>
          <a:xfrm>
            <a:off x="1463040" y="2194560"/>
            <a:ext cx="5577840" cy="365760"/>
          </a:xfrm>
          <a:prstGeom prst="rect">
            <a:avLst/>
          </a:prstGeom>
          <a:noFill/>
          <a:ln/>
        </p:spPr>
        <p:txBody>
          <a:bodyPr wrap="square" lIns="0" tIns="0" rIns="0" bIns="0" rtlCol="0" anchor="t"/>
          <a:lstStyle/>
          <a:p>
            <a:pPr indent="0" marL="0">
              <a:buNone/>
            </a:pPr>
            <a:r>
              <a:rPr lang="en-IE" sz="1500" dirty="0">
                <a:solidFill>
                  <a:schemeClr val="tx2"/>
                </a:solidFill>
              </a:rPr>
              <a:t>Where every class comes from; abstract and concrete</a:t>
            </a:r>
            <a:endParaRPr lang="en-IE" sz="1500" dirty="0"/>
          </a:p>
        </p:txBody>
      </p:sp>
      <p:sp>
        <p:nvSpPr>
          <p:cNvPr id="8" name="Text 5"/>
          <p:cNvSpPr txBox="1"/>
          <p:nvPr/>
        </p:nvSpPr>
        <p:spPr>
          <a:xfrm>
            <a:off x="548640" y="2816352"/>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02</a:t>
            </a:r>
            <a:endParaRPr lang="en-IE" sz="3000" dirty="0"/>
          </a:p>
        </p:txBody>
      </p:sp>
      <p:sp>
        <p:nvSpPr>
          <p:cNvPr id="9" name="Text 6"/>
          <p:cNvSpPr txBox="1"/>
          <p:nvPr/>
        </p:nvSpPr>
        <p:spPr>
          <a:xfrm>
            <a:off x="1463040" y="2852928"/>
            <a:ext cx="5577840" cy="384048"/>
          </a:xfrm>
          <a:prstGeom prst="rect">
            <a:avLst/>
          </a:prstGeom>
          <a:noFill/>
          <a:ln/>
        </p:spPr>
        <p:txBody>
          <a:bodyPr wrap="square" lIns="0" tIns="0" rIns="0" bIns="0" rtlCol="0" anchor="t"/>
          <a:lstStyle/>
          <a:p>
            <a:pPr indent="0" marL="0">
              <a:buNone/>
            </a:pPr>
            <a:r>
              <a:rPr lang="en-IE" sz="2100" b="1" dirty="0">
                <a:solidFill>
                  <a:schemeClr val="tx1"/>
                </a:solidFill>
              </a:rPr>
              <a:t>Polymorphism and overloading</a:t>
            </a:r>
            <a:endParaRPr lang="en-IE" sz="2100" dirty="0"/>
          </a:p>
        </p:txBody>
      </p:sp>
      <p:sp>
        <p:nvSpPr>
          <p:cNvPr id="10" name="Text 7"/>
          <p:cNvSpPr txBox="1"/>
          <p:nvPr/>
        </p:nvSpPr>
        <p:spPr>
          <a:xfrm>
            <a:off x="1463040" y="3264408"/>
            <a:ext cx="5577840" cy="365760"/>
          </a:xfrm>
          <a:prstGeom prst="rect">
            <a:avLst/>
          </a:prstGeom>
          <a:noFill/>
          <a:ln/>
        </p:spPr>
        <p:txBody>
          <a:bodyPr wrap="square" lIns="0" tIns="0" rIns="0" bIns="0" rtlCol="0" anchor="t"/>
          <a:lstStyle/>
          <a:p>
            <a:pPr indent="0" marL="0">
              <a:buNone/>
            </a:pPr>
            <a:r>
              <a:rPr lang="en-IE" sz="1500" dirty="0">
                <a:solidFill>
                  <a:schemeClr val="tx2"/>
                </a:solidFill>
              </a:rPr>
              <a:t>Same name, different parameters (static binding)</a:t>
            </a:r>
            <a:endParaRPr lang="en-IE" sz="1500" dirty="0"/>
          </a:p>
        </p:txBody>
      </p:sp>
      <p:sp>
        <p:nvSpPr>
          <p:cNvPr id="11" name="Text 8"/>
          <p:cNvSpPr txBox="1"/>
          <p:nvPr/>
        </p:nvSpPr>
        <p:spPr>
          <a:xfrm>
            <a:off x="548640" y="3886200"/>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03</a:t>
            </a:r>
            <a:endParaRPr lang="en-IE" sz="3000" dirty="0"/>
          </a:p>
        </p:txBody>
      </p:sp>
      <p:sp>
        <p:nvSpPr>
          <p:cNvPr id="12" name="Text 9"/>
          <p:cNvSpPr txBox="1"/>
          <p:nvPr/>
        </p:nvSpPr>
        <p:spPr>
          <a:xfrm>
            <a:off x="1463040" y="3922776"/>
            <a:ext cx="5577840" cy="384048"/>
          </a:xfrm>
          <a:prstGeom prst="rect">
            <a:avLst/>
          </a:prstGeom>
          <a:noFill/>
          <a:ln/>
        </p:spPr>
        <p:txBody>
          <a:bodyPr wrap="square" lIns="0" tIns="0" rIns="0" bIns="0" rtlCol="0" anchor="t"/>
          <a:lstStyle/>
          <a:p>
            <a:pPr indent="0" marL="0">
              <a:buNone/>
            </a:pPr>
            <a:r>
              <a:rPr lang="en-IE" sz="2100" b="1" dirty="0">
                <a:solidFill>
                  <a:schemeClr val="tx1"/>
                </a:solidFill>
              </a:rPr>
              <a:t>Overriding</a:t>
            </a:r>
            <a:endParaRPr lang="en-IE" sz="2100" dirty="0"/>
          </a:p>
        </p:txBody>
      </p:sp>
      <p:sp>
        <p:nvSpPr>
          <p:cNvPr id="13" name="Text 10"/>
          <p:cNvSpPr txBox="1"/>
          <p:nvPr/>
        </p:nvSpPr>
        <p:spPr>
          <a:xfrm>
            <a:off x="1463040" y="4334256"/>
            <a:ext cx="5577840" cy="365760"/>
          </a:xfrm>
          <a:prstGeom prst="rect">
            <a:avLst/>
          </a:prstGeom>
          <a:noFill/>
          <a:ln/>
        </p:spPr>
        <p:txBody>
          <a:bodyPr wrap="square" lIns="0" tIns="0" rIns="0" bIns="0" rtlCol="0" anchor="t"/>
          <a:lstStyle/>
          <a:p>
            <a:pPr indent="0" marL="0">
              <a:buNone/>
            </a:pPr>
            <a:r>
              <a:rPr lang="en-IE" sz="1500" dirty="0">
                <a:solidFill>
                  <a:schemeClr val="tx2"/>
                </a:solidFill>
              </a:rPr>
              <a:t>Children redefine methods (dynamic binding)</a:t>
            </a:r>
            <a:endParaRPr lang="en-IE" sz="1500" dirty="0"/>
          </a:p>
        </p:txBody>
      </p:sp>
      <p:sp>
        <p:nvSpPr>
          <p:cNvPr id="14" name="Text 11"/>
          <p:cNvSpPr txBox="1"/>
          <p:nvPr/>
        </p:nvSpPr>
        <p:spPr>
          <a:xfrm>
            <a:off x="548640" y="4956048"/>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04</a:t>
            </a:r>
            <a:endParaRPr lang="en-IE" sz="3000" dirty="0"/>
          </a:p>
        </p:txBody>
      </p:sp>
      <p:sp>
        <p:nvSpPr>
          <p:cNvPr id="15" name="Text 12"/>
          <p:cNvSpPr txBox="1"/>
          <p:nvPr/>
        </p:nvSpPr>
        <p:spPr>
          <a:xfrm>
            <a:off x="1463040" y="4992624"/>
            <a:ext cx="5577840" cy="384048"/>
          </a:xfrm>
          <a:prstGeom prst="rect">
            <a:avLst/>
          </a:prstGeom>
          <a:noFill/>
          <a:ln/>
        </p:spPr>
        <p:txBody>
          <a:bodyPr wrap="square" lIns="0" tIns="0" rIns="0" bIns="0" rtlCol="0" anchor="t"/>
          <a:lstStyle/>
          <a:p>
            <a:pPr indent="0" marL="0">
              <a:buNone/>
            </a:pPr>
            <a:r>
              <a:rPr lang="en-IE" sz="2100" b="1" dirty="0">
                <a:solidFill>
                  <a:schemeClr val="tx1"/>
                </a:solidFill>
              </a:rPr>
              <a:t>toString, instanceof and final</a:t>
            </a:r>
            <a:endParaRPr lang="en-IE" sz="2100" dirty="0"/>
          </a:p>
        </p:txBody>
      </p:sp>
      <p:sp>
        <p:nvSpPr>
          <p:cNvPr id="16" name="Text 13"/>
          <p:cNvSpPr txBox="1"/>
          <p:nvPr/>
        </p:nvSpPr>
        <p:spPr>
          <a:xfrm>
            <a:off x="1463040" y="5404104"/>
            <a:ext cx="5577840" cy="365760"/>
          </a:xfrm>
          <a:prstGeom prst="rect">
            <a:avLst/>
          </a:prstGeom>
          <a:noFill/>
          <a:ln/>
        </p:spPr>
        <p:txBody>
          <a:bodyPr wrap="square" lIns="0" tIns="0" rIns="0" bIns="0" rtlCol="0" anchor="t"/>
          <a:lstStyle/>
          <a:p>
            <a:pPr indent="0" marL="0">
              <a:buNone/>
            </a:pPr>
            <a:r>
              <a:rPr lang="en-IE" sz="1500" dirty="0">
                <a:solidFill>
                  <a:schemeClr val="tx2"/>
                </a:solidFill>
              </a:rPr>
              <a:t>Printing objects, checking types, stopping inheritance</a:t>
            </a:r>
            <a:endParaRPr lang="en-IE" sz="1500" dirty="0"/>
          </a:p>
        </p:txBody>
      </p:sp>
      <p:sp>
        <p:nvSpPr>
          <p:cNvPr id="17" name="How it works"/>
          <p:cNvSpPr/>
          <p:nvPr/>
        </p:nvSpPr>
        <p:spPr>
          <a:xfrm>
            <a:off x="7543800" y="1783080"/>
            <a:ext cx="4099255" cy="4160520"/>
          </a:xfrm>
          <a:prstGeom prst="roundRect">
            <a:avLst>
              <a:gd name="adj" fmla="val 2677"/>
            </a:avLst>
          </a:prstGeom>
          <a:solidFill>
            <a:schemeClr val="bg2"/>
          </a:solidFill>
          <a:ln/>
        </p:spPr>
      </p:sp>
      <p:sp>
        <p:nvSpPr>
          <p:cNvPr id="18" name="Text 15"/>
          <p:cNvSpPr txBox="1"/>
          <p:nvPr/>
        </p:nvSpPr>
        <p:spPr>
          <a:xfrm>
            <a:off x="7909560" y="2103120"/>
            <a:ext cx="3367735" cy="411480"/>
          </a:xfrm>
          <a:prstGeom prst="rect">
            <a:avLst/>
          </a:prstGeom>
          <a:noFill/>
          <a:ln/>
        </p:spPr>
        <p:txBody>
          <a:bodyPr wrap="square" lIns="0" tIns="0" rIns="0" bIns="0" rtlCol="0" anchor="t"/>
          <a:lstStyle/>
          <a:p>
            <a:pPr indent="0" marL="0">
              <a:buNone/>
            </a:pPr>
            <a:r>
              <a:rPr lang="en-IE" sz="1900" b="1" dirty="0">
                <a:solidFill>
                  <a:schemeClr val="tx1"/>
                </a:solidFill>
              </a:rPr>
              <a:t>How each topic works</a:t>
            </a:r>
            <a:endParaRPr lang="en-IE" sz="1900" dirty="0"/>
          </a:p>
        </p:txBody>
      </p:sp>
      <p:sp>
        <p:nvSpPr>
          <p:cNvPr id="19" name="Icon tile"/>
          <p:cNvSpPr/>
          <p:nvPr/>
        </p:nvSpPr>
        <p:spPr>
          <a:xfrm>
            <a:off x="7909560" y="2788920"/>
            <a:ext cx="603504" cy="603504"/>
          </a:xfrm>
          <a:prstGeom prst="roundRect">
            <a:avLst>
              <a:gd name="adj" fmla="val 24000"/>
            </a:avLst>
          </a:prstGeom>
          <a:solidFill>
            <a:schemeClr val="accent2">
              <a:alpha val="14000"/>
            </a:schemeClr>
          </a:solidFill>
          <a:ln/>
        </p:spPr>
      </p:sp>
      <p:pic>
        <p:nvPicPr>
          <p:cNvPr id="20" name="book open text icon" descr="book open text icon">    </p:cNvPr>
          <p:cNvPicPr>
            <a:picLocks noChangeAspect="1"/>
          </p:cNvPicPr>
          <p:nvPr/>
        </p:nvPicPr>
        <p:blipFill>
          <a:blip r:embed="rId1"/>
          <a:stretch>
            <a:fillRect/>
          </a:stretch>
        </p:blipFill>
        <p:spPr>
          <a:xfrm>
            <a:off x="8036296" y="2915656"/>
            <a:ext cx="350032" cy="350032"/>
          </a:xfrm>
          <a:prstGeom prst="rect">
            <a:avLst/>
          </a:prstGeom>
        </p:spPr>
      </p:pic>
      <p:sp>
        <p:nvSpPr>
          <p:cNvPr id="21" name="Text 17"/>
          <p:cNvSpPr txBox="1"/>
          <p:nvPr/>
        </p:nvSpPr>
        <p:spPr>
          <a:xfrm>
            <a:off x="8732520" y="2752344"/>
            <a:ext cx="2590495" cy="676656"/>
          </a:xfrm>
          <a:prstGeom prst="rect">
            <a:avLst/>
          </a:prstGeom>
          <a:noFill/>
          <a:ln/>
        </p:spPr>
        <p:txBody>
          <a:bodyPr wrap="square" lIns="0" tIns="0" rIns="0" bIns="0" rtlCol="0" anchor="ctr"/>
          <a:lstStyle/>
          <a:p>
            <a:pPr indent="0" marL="0">
              <a:buNone/>
            </a:pPr>
            <a:r>
              <a:rPr lang="en-IE" sz="1600" dirty="0">
                <a:solidFill>
                  <a:schemeClr val="tx1"/>
                </a:solidFill>
              </a:rPr>
              <a:t>Read the idea and look at the example</a:t>
            </a:r>
            <a:endParaRPr lang="en-IE" sz="1600" dirty="0"/>
          </a:p>
        </p:txBody>
      </p:sp>
      <p:sp>
        <p:nvSpPr>
          <p:cNvPr id="22" name="Icon tile"/>
          <p:cNvSpPr/>
          <p:nvPr/>
        </p:nvSpPr>
        <p:spPr>
          <a:xfrm>
            <a:off x="7909560" y="3776472"/>
            <a:ext cx="603504" cy="603504"/>
          </a:xfrm>
          <a:prstGeom prst="roundRect">
            <a:avLst>
              <a:gd name="adj" fmla="val 24000"/>
            </a:avLst>
          </a:prstGeom>
          <a:solidFill>
            <a:schemeClr val="accent2">
              <a:alpha val="14000"/>
            </a:schemeClr>
          </a:solidFill>
          <a:ln/>
        </p:spPr>
      </p:sp>
      <p:pic>
        <p:nvPicPr>
          <p:cNvPr id="23" name="cursor click icon" descr="cursor click icon">    </p:cNvPr>
          <p:cNvPicPr>
            <a:picLocks noChangeAspect="1"/>
          </p:cNvPicPr>
          <p:nvPr/>
        </p:nvPicPr>
        <p:blipFill>
          <a:blip r:embed="rId2"/>
          <a:stretch>
            <a:fillRect/>
          </a:stretch>
        </p:blipFill>
        <p:spPr>
          <a:xfrm>
            <a:off x="8036296" y="3903208"/>
            <a:ext cx="350032" cy="350032"/>
          </a:xfrm>
          <a:prstGeom prst="rect">
            <a:avLst/>
          </a:prstGeom>
        </p:spPr>
      </p:pic>
      <p:sp>
        <p:nvSpPr>
          <p:cNvPr id="24" name="Text 19"/>
          <p:cNvSpPr txBox="1"/>
          <p:nvPr/>
        </p:nvSpPr>
        <p:spPr>
          <a:xfrm>
            <a:off x="8732520" y="3739896"/>
            <a:ext cx="2590495" cy="676656"/>
          </a:xfrm>
          <a:prstGeom prst="rect">
            <a:avLst/>
          </a:prstGeom>
          <a:noFill/>
          <a:ln/>
        </p:spPr>
        <p:txBody>
          <a:bodyPr wrap="square" lIns="0" tIns="0" rIns="0" bIns="0" rtlCol="0" anchor="ctr"/>
          <a:lstStyle/>
          <a:p>
            <a:pPr indent="0" marL="0">
              <a:buNone/>
            </a:pPr>
            <a:r>
              <a:rPr lang="en-IE" sz="1600" dirty="0">
                <a:solidFill>
                  <a:schemeClr val="tx1"/>
                </a:solidFill>
              </a:rPr>
              <a:t>Try the quick check: A, B, C or D?</a:t>
            </a:r>
            <a:endParaRPr lang="en-IE" sz="1600" dirty="0"/>
          </a:p>
        </p:txBody>
      </p:sp>
      <p:sp>
        <p:nvSpPr>
          <p:cNvPr id="25" name="Icon tile"/>
          <p:cNvSpPr/>
          <p:nvPr/>
        </p:nvSpPr>
        <p:spPr>
          <a:xfrm>
            <a:off x="7909560" y="4764024"/>
            <a:ext cx="603504" cy="603504"/>
          </a:xfrm>
          <a:prstGeom prst="roundRect">
            <a:avLst>
              <a:gd name="adj" fmla="val 24000"/>
            </a:avLst>
          </a:prstGeom>
          <a:solidFill>
            <a:schemeClr val="accent2">
              <a:alpha val="14000"/>
            </a:schemeClr>
          </a:solidFill>
          <a:ln/>
        </p:spPr>
      </p:sp>
      <p:pic>
        <p:nvPicPr>
          <p:cNvPr id="26" name="check circle icon" descr="check circle icon">    </p:cNvPr>
          <p:cNvPicPr>
            <a:picLocks noChangeAspect="1"/>
          </p:cNvPicPr>
          <p:nvPr/>
        </p:nvPicPr>
        <p:blipFill>
          <a:blip r:embed="rId3"/>
          <a:stretch>
            <a:fillRect/>
          </a:stretch>
        </p:blipFill>
        <p:spPr>
          <a:xfrm>
            <a:off x="8036296" y="4890760"/>
            <a:ext cx="350032" cy="350032"/>
          </a:xfrm>
          <a:prstGeom prst="rect">
            <a:avLst/>
          </a:prstGeom>
        </p:spPr>
      </p:pic>
      <p:sp>
        <p:nvSpPr>
          <p:cNvPr id="27" name="Text 21"/>
          <p:cNvSpPr txBox="1"/>
          <p:nvPr/>
        </p:nvSpPr>
        <p:spPr>
          <a:xfrm>
            <a:off x="8732520" y="4727448"/>
            <a:ext cx="2590495" cy="676656"/>
          </a:xfrm>
          <a:prstGeom prst="rect">
            <a:avLst/>
          </a:prstGeom>
          <a:noFill/>
          <a:ln/>
        </p:spPr>
        <p:txBody>
          <a:bodyPr wrap="square" lIns="0" tIns="0" rIns="0" bIns="0" rtlCol="0" anchor="ctr"/>
          <a:lstStyle/>
          <a:p>
            <a:pPr indent="0" marL="0">
              <a:buNone/>
            </a:pPr>
            <a:r>
              <a:rPr lang="en-IE" sz="1600" dirty="0">
                <a:solidFill>
                  <a:schemeClr val="tx1"/>
                </a:solidFill>
              </a:rPr>
              <a:t>See the answer, and why, on the next slide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a:t>
            </a:fld>
            <a:endParaRPr lang="en-I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01</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Object and the class hierarchy</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Where every class comes from</a:t>
            </a:r>
            <a:endParaRPr lang="en-IE" sz="2000" dirty="0"/>
          </a:p>
        </p:txBody>
      </p:sp>
      <p:sp>
        <p:nvSpPr>
          <p:cNvPr id="5" name="Topic chip"/>
          <p:cNvSpPr/>
          <p:nvPr/>
        </p:nvSpPr>
        <p:spPr>
          <a:xfrm>
            <a:off x="822960" y="4846320"/>
            <a:ext cx="95707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Object</a:t>
            </a:r>
            <a:endParaRPr lang="en-IE" sz="1400" dirty="0"/>
          </a:p>
        </p:txBody>
      </p:sp>
      <p:sp>
        <p:nvSpPr>
          <p:cNvPr id="6" name="Topic chip"/>
          <p:cNvSpPr/>
          <p:nvPr/>
        </p:nvSpPr>
        <p:spPr>
          <a:xfrm>
            <a:off x="1926336" y="4846320"/>
            <a:ext cx="123444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Hierarchy</a:t>
            </a:r>
            <a:endParaRPr lang="en-IE" sz="1400" dirty="0"/>
          </a:p>
        </p:txBody>
      </p:sp>
      <p:sp>
        <p:nvSpPr>
          <p:cNvPr id="7" name="Topic chip"/>
          <p:cNvSpPr/>
          <p:nvPr/>
        </p:nvSpPr>
        <p:spPr>
          <a:xfrm>
            <a:off x="3307080" y="4846320"/>
            <a:ext cx="1141984"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Abstract</a:t>
            </a:r>
            <a:endParaRPr lang="en-IE" sz="1400" dirty="0"/>
          </a:p>
        </p:txBody>
      </p:sp>
      <p:sp>
        <p:nvSpPr>
          <p:cNvPr id="8" name="Topic chip"/>
          <p:cNvSpPr/>
          <p:nvPr/>
        </p:nvSpPr>
        <p:spPr>
          <a:xfrm>
            <a:off x="4595368" y="4846320"/>
            <a:ext cx="1141984"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Concrete</a:t>
            </a:r>
            <a:endParaRPr lang="en-IE" sz="1400" dirty="0"/>
          </a:p>
        </p:txBody>
      </p:sp>
      <p:pic>
        <p:nvPicPr>
          <p:cNvPr id="9"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OBJECT AND THE CLASS HIERARCHY</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The Object class</a:t>
            </a:r>
            <a:endParaRPr lang="en-IE" sz="3400" dirty="0"/>
          </a:p>
        </p:txBody>
      </p:sp>
      <p:sp>
        <p:nvSpPr>
          <p:cNvPr id="5" name="Text 2"/>
          <p:cNvSpPr txBox="1"/>
          <p:nvPr/>
        </p:nvSpPr>
        <p:spPr>
          <a:xfrm>
            <a:off x="548640" y="1783080"/>
            <a:ext cx="5029200" cy="274320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In Java every child class inherits from one parent.</a:t>
            </a:r>
            <a:endParaRPr lang="en-IE" sz="1800" dirty="0"/>
          </a:p>
          <a:p>
            <a:pPr marL="228600" indent="-228600">
              <a:spcAft>
                <a:spcPts val="1200"/>
              </a:spcAft>
              <a:buSzPct val="100000"/>
              <a:buChar char="•"/>
            </a:pPr>
            <a:r>
              <a:rPr lang="en-IE" sz="1800" dirty="0">
                <a:solidFill>
                  <a:schemeClr val="tx1"/>
                </a:solidFill>
              </a:rPr>
              <a:t>Every class is derived from another class, except Object, which is the base class of all classes.</a:t>
            </a:r>
            <a:endParaRPr lang="en-IE" sz="1800" dirty="0"/>
          </a:p>
          <a:p>
            <a:pPr marL="228600" indent="-228600">
              <a:buSzPct val="100000"/>
              <a:buChar char="•"/>
            </a:pPr>
            <a:r>
              <a:rPr lang="en-IE" sz="1800" dirty="0">
                <a:solidFill>
                  <a:schemeClr val="tx1"/>
                </a:solidFill>
              </a:rPr>
              <a:t>Each new class we write automatically inherits all of Object’s behaviours.</a:t>
            </a:r>
            <a:endParaRPr lang="en-IE" sz="1800" dirty="0"/>
          </a:p>
        </p:txBody>
      </p:sp>
      <p:sp>
        <p:nvSpPr>
          <p:cNvPr id="6" name="Same thing"/>
          <p:cNvSpPr/>
          <p:nvPr/>
        </p:nvSpPr>
        <p:spPr>
          <a:xfrm>
            <a:off x="548640" y="4617720"/>
            <a:ext cx="5029200" cy="1417320"/>
          </a:xfrm>
          <a:prstGeom prst="roundRect">
            <a:avLst>
              <a:gd name="adj" fmla="val 7742"/>
            </a:avLst>
          </a:prstGeom>
          <a:solidFill>
            <a:schemeClr val="bg2"/>
          </a:solidFill>
          <a:ln/>
        </p:spPr>
      </p:sp>
      <p:sp>
        <p:nvSpPr>
          <p:cNvPr id="7" name="Text 4"/>
          <p:cNvSpPr txBox="1"/>
          <p:nvPr/>
        </p:nvSpPr>
        <p:spPr>
          <a:xfrm>
            <a:off x="777240" y="4709160"/>
            <a:ext cx="4572000" cy="292608"/>
          </a:xfrm>
          <a:prstGeom prst="rect">
            <a:avLst/>
          </a:prstGeom>
          <a:noFill/>
          <a:ln/>
        </p:spPr>
        <p:txBody>
          <a:bodyPr wrap="square" lIns="0" tIns="0" rIns="0" bIns="0" rtlCol="0" anchor="t"/>
          <a:lstStyle/>
          <a:p>
            <a:pPr indent="0" marL="0">
              <a:buNone/>
            </a:pPr>
            <a:r>
              <a:rPr lang="en-IE" sz="1300" b="1" dirty="0">
                <a:solidFill>
                  <a:schemeClr val="tx2"/>
                </a:solidFill>
              </a:rPr>
              <a:t>These two mean the same thing:</a:t>
            </a:r>
            <a:endParaRPr lang="en-IE" sz="1300" dirty="0"/>
          </a:p>
        </p:txBody>
      </p:sp>
      <p:sp>
        <p:nvSpPr>
          <p:cNvPr id="8" name="Code chip"/>
          <p:cNvSpPr/>
          <p:nvPr/>
        </p:nvSpPr>
        <p:spPr>
          <a:xfrm>
            <a:off x="777240" y="5074920"/>
            <a:ext cx="2027936" cy="402336"/>
          </a:xfrm>
          <a:prstGeom prst="roundRect">
            <a:avLst>
              <a:gd name="adj" fmla="val 18182"/>
            </a:avLst>
          </a:prstGeom>
          <a:solidFill>
            <a:schemeClr val="bg1"/>
          </a:solidFill>
          <a:ln/>
        </p:spPr>
        <p:txBody>
          <a:bodyPr wrap="square" lIns="0" tIns="0" rIns="0" bIns="0" rtlCol="0" anchor="ctr"/>
          <a:lstStyle/>
          <a:p>
            <a:pPr algn="ctr" indent="0" marL="0">
              <a:buNone/>
            </a:pPr>
            <a:r>
              <a:rPr lang="en-IE" sz="1400" dirty="0">
                <a:solidFill>
                  <a:schemeClr val="accent2"/>
                </a:solidFill>
                <a:latin typeface="Consolas" pitchFamily="34" charset="0"/>
                <a:ea typeface="Consolas" pitchFamily="34" charset="-122"/>
                <a:cs typeface="Consolas" pitchFamily="34" charset="-120"/>
              </a:rPr>
              <a:t>class Person { }</a:t>
            </a:r>
            <a:endParaRPr lang="en-IE" sz="1400" dirty="0"/>
          </a:p>
        </p:txBody>
      </p:sp>
      <p:sp>
        <p:nvSpPr>
          <p:cNvPr id="9" name="Code chip"/>
          <p:cNvSpPr/>
          <p:nvPr/>
        </p:nvSpPr>
        <p:spPr>
          <a:xfrm>
            <a:off x="777240" y="5532120"/>
            <a:ext cx="3654806" cy="402336"/>
          </a:xfrm>
          <a:prstGeom prst="roundRect">
            <a:avLst>
              <a:gd name="adj" fmla="val 18182"/>
            </a:avLst>
          </a:prstGeom>
          <a:solidFill>
            <a:schemeClr val="bg1"/>
          </a:solidFill>
          <a:ln/>
        </p:spPr>
        <p:txBody>
          <a:bodyPr wrap="square" lIns="0" tIns="0" rIns="0" bIns="0" rtlCol="0" anchor="ctr"/>
          <a:lstStyle/>
          <a:p>
            <a:pPr algn="ctr" indent="0" marL="0">
              <a:buNone/>
            </a:pPr>
            <a:r>
              <a:rPr lang="en-IE" sz="1400" dirty="0">
                <a:solidFill>
                  <a:schemeClr val="accent2"/>
                </a:solidFill>
                <a:latin typeface="Consolas" pitchFamily="34" charset="0"/>
                <a:ea typeface="Consolas" pitchFamily="34" charset="-122"/>
                <a:cs typeface="Consolas" pitchFamily="34" charset="-120"/>
              </a:rPr>
              <a:t>class Person extends Object { }</a:t>
            </a:r>
            <a:endParaRPr lang="en-IE" sz="1400" dirty="0"/>
          </a:p>
        </p:txBody>
      </p:sp>
      <p:sp>
        <p:nvSpPr>
          <p:cNvPr id="10" name="Box Object"/>
          <p:cNvSpPr/>
          <p:nvPr/>
        </p:nvSpPr>
        <p:spPr>
          <a:xfrm>
            <a:off x="7772400" y="1874520"/>
            <a:ext cx="2377440" cy="685800"/>
          </a:xfrm>
          <a:prstGeom prst="roundRect">
            <a:avLst>
              <a:gd name="adj" fmla="val 10667"/>
            </a:avLst>
          </a:prstGeom>
          <a:solidFill>
            <a:schemeClr val="accent1">
              <a:alpha val="14000"/>
            </a:schemeClr>
          </a:solidFill>
          <a:ln w="19050">
            <a:solidFill>
              <a:schemeClr val="accent1"/>
            </a:solidFill>
            <a:prstDash val="solid"/>
          </a:ln>
        </p:spPr>
      </p:sp>
      <p:sp>
        <p:nvSpPr>
          <p:cNvPr id="11" name="Text 8"/>
          <p:cNvSpPr txBox="1"/>
          <p:nvPr/>
        </p:nvSpPr>
        <p:spPr>
          <a:xfrm>
            <a:off x="7772400" y="1874520"/>
            <a:ext cx="2377440" cy="685800"/>
          </a:xfrm>
          <a:prstGeom prst="rect">
            <a:avLst/>
          </a:prstGeom>
          <a:noFill/>
          <a:ln/>
        </p:spPr>
        <p:txBody>
          <a:bodyPr wrap="square" lIns="0" tIns="0" rIns="0" bIns="0" rtlCol="0" anchor="ctr"/>
          <a:lstStyle/>
          <a:p>
            <a:pPr algn="ctr" indent="0" marL="0">
              <a:buNone/>
            </a:pPr>
            <a:r>
              <a:rPr lang="en-IE" sz="2000" b="1" dirty="0">
                <a:solidFill>
                  <a:schemeClr val="tx1"/>
                </a:solidFill>
              </a:rPr>
              <a:t>Object</a:t>
            </a:r>
            <a:endParaRPr lang="en-IE" sz="2000" dirty="0"/>
          </a:p>
        </p:txBody>
      </p:sp>
      <p:sp>
        <p:nvSpPr>
          <p:cNvPr id="12" name="Box String"/>
          <p:cNvSpPr/>
          <p:nvPr/>
        </p:nvSpPr>
        <p:spPr>
          <a:xfrm>
            <a:off x="5989320" y="3657600"/>
            <a:ext cx="1024128" cy="548640"/>
          </a:xfrm>
          <a:prstGeom prst="roundRect">
            <a:avLst>
              <a:gd name="adj" fmla="val 13333"/>
            </a:avLst>
          </a:prstGeom>
          <a:solidFill>
            <a:schemeClr val="accent2">
              <a:alpha val="14000"/>
            </a:schemeClr>
          </a:solidFill>
          <a:ln w="19050">
            <a:solidFill>
              <a:schemeClr val="accent2"/>
            </a:solidFill>
            <a:prstDash val="solid"/>
          </a:ln>
        </p:spPr>
      </p:sp>
      <p:sp>
        <p:nvSpPr>
          <p:cNvPr id="13" name="Text 10"/>
          <p:cNvSpPr txBox="1"/>
          <p:nvPr/>
        </p:nvSpPr>
        <p:spPr>
          <a:xfrm>
            <a:off x="5989320" y="3657600"/>
            <a:ext cx="1024128" cy="548640"/>
          </a:xfrm>
          <a:prstGeom prst="rect">
            <a:avLst/>
          </a:prstGeom>
          <a:noFill/>
          <a:ln/>
        </p:spPr>
        <p:txBody>
          <a:bodyPr wrap="square" lIns="0" tIns="0" rIns="0" bIns="0" rtlCol="0" anchor="ctr"/>
          <a:lstStyle/>
          <a:p>
            <a:pPr algn="ctr" indent="0" marL="0">
              <a:buNone/>
            </a:pPr>
            <a:r>
              <a:rPr lang="en-IE" sz="1250" b="1" dirty="0">
                <a:solidFill>
                  <a:schemeClr val="tx1"/>
                </a:solidFill>
              </a:rPr>
              <a:t>String</a:t>
            </a:r>
            <a:endParaRPr lang="en-IE" sz="1250" dirty="0"/>
          </a:p>
        </p:txBody>
      </p:sp>
      <p:sp>
        <p:nvSpPr>
          <p:cNvPr id="14" name="Box Scanner"/>
          <p:cNvSpPr/>
          <p:nvPr/>
        </p:nvSpPr>
        <p:spPr>
          <a:xfrm>
            <a:off x="7132320" y="3657600"/>
            <a:ext cx="1024128" cy="548640"/>
          </a:xfrm>
          <a:prstGeom prst="roundRect">
            <a:avLst>
              <a:gd name="adj" fmla="val 13333"/>
            </a:avLst>
          </a:prstGeom>
          <a:solidFill>
            <a:schemeClr val="accent2">
              <a:alpha val="14000"/>
            </a:schemeClr>
          </a:solidFill>
          <a:ln w="19050">
            <a:solidFill>
              <a:schemeClr val="accent2"/>
            </a:solidFill>
            <a:prstDash val="solid"/>
          </a:ln>
        </p:spPr>
      </p:sp>
      <p:sp>
        <p:nvSpPr>
          <p:cNvPr id="15" name="Text 12"/>
          <p:cNvSpPr txBox="1"/>
          <p:nvPr/>
        </p:nvSpPr>
        <p:spPr>
          <a:xfrm>
            <a:off x="7132320" y="3657600"/>
            <a:ext cx="1024128" cy="548640"/>
          </a:xfrm>
          <a:prstGeom prst="rect">
            <a:avLst/>
          </a:prstGeom>
          <a:noFill/>
          <a:ln/>
        </p:spPr>
        <p:txBody>
          <a:bodyPr wrap="square" lIns="0" tIns="0" rIns="0" bIns="0" rtlCol="0" anchor="ctr"/>
          <a:lstStyle/>
          <a:p>
            <a:pPr algn="ctr" indent="0" marL="0">
              <a:buNone/>
            </a:pPr>
            <a:r>
              <a:rPr lang="en-IE" sz="1250" b="1" dirty="0">
                <a:solidFill>
                  <a:schemeClr val="tx1"/>
                </a:solidFill>
              </a:rPr>
              <a:t>Scanner</a:t>
            </a:r>
            <a:endParaRPr lang="en-IE" sz="1250" dirty="0"/>
          </a:p>
        </p:txBody>
      </p:sp>
      <p:sp>
        <p:nvSpPr>
          <p:cNvPr id="16" name="Box Person"/>
          <p:cNvSpPr/>
          <p:nvPr/>
        </p:nvSpPr>
        <p:spPr>
          <a:xfrm>
            <a:off x="8275320" y="3657600"/>
            <a:ext cx="1024128" cy="548640"/>
          </a:xfrm>
          <a:prstGeom prst="roundRect">
            <a:avLst>
              <a:gd name="adj" fmla="val 13333"/>
            </a:avLst>
          </a:prstGeom>
          <a:solidFill>
            <a:schemeClr val="accent2">
              <a:alpha val="14000"/>
            </a:schemeClr>
          </a:solidFill>
          <a:ln w="19050">
            <a:solidFill>
              <a:schemeClr val="accent2"/>
            </a:solidFill>
            <a:prstDash val="solid"/>
          </a:ln>
        </p:spPr>
      </p:sp>
      <p:sp>
        <p:nvSpPr>
          <p:cNvPr id="17" name="Text 14"/>
          <p:cNvSpPr txBox="1"/>
          <p:nvPr/>
        </p:nvSpPr>
        <p:spPr>
          <a:xfrm>
            <a:off x="8275320" y="3657600"/>
            <a:ext cx="1024128" cy="548640"/>
          </a:xfrm>
          <a:prstGeom prst="rect">
            <a:avLst/>
          </a:prstGeom>
          <a:noFill/>
          <a:ln/>
        </p:spPr>
        <p:txBody>
          <a:bodyPr wrap="square" lIns="0" tIns="0" rIns="0" bIns="0" rtlCol="0" anchor="ctr"/>
          <a:lstStyle/>
          <a:p>
            <a:pPr algn="ctr" indent="0" marL="0">
              <a:buNone/>
            </a:pPr>
            <a:r>
              <a:rPr lang="en-IE" sz="1250" b="1" dirty="0">
                <a:solidFill>
                  <a:schemeClr val="tx1"/>
                </a:solidFill>
              </a:rPr>
              <a:t>Person</a:t>
            </a:r>
            <a:endParaRPr lang="en-IE" sz="1250" dirty="0"/>
          </a:p>
        </p:txBody>
      </p:sp>
      <p:sp>
        <p:nvSpPr>
          <p:cNvPr id="18" name="Box Vehicle"/>
          <p:cNvSpPr/>
          <p:nvPr/>
        </p:nvSpPr>
        <p:spPr>
          <a:xfrm>
            <a:off x="9418320" y="3657600"/>
            <a:ext cx="1024128" cy="548640"/>
          </a:xfrm>
          <a:prstGeom prst="roundRect">
            <a:avLst>
              <a:gd name="adj" fmla="val 13333"/>
            </a:avLst>
          </a:prstGeom>
          <a:solidFill>
            <a:schemeClr val="accent2">
              <a:alpha val="14000"/>
            </a:schemeClr>
          </a:solidFill>
          <a:ln w="19050">
            <a:solidFill>
              <a:schemeClr val="accent2"/>
            </a:solidFill>
            <a:prstDash val="solid"/>
          </a:ln>
        </p:spPr>
      </p:sp>
      <p:sp>
        <p:nvSpPr>
          <p:cNvPr id="19" name="Text 16"/>
          <p:cNvSpPr txBox="1"/>
          <p:nvPr/>
        </p:nvSpPr>
        <p:spPr>
          <a:xfrm>
            <a:off x="9418320" y="3657600"/>
            <a:ext cx="1024128" cy="548640"/>
          </a:xfrm>
          <a:prstGeom prst="rect">
            <a:avLst/>
          </a:prstGeom>
          <a:noFill/>
          <a:ln/>
        </p:spPr>
        <p:txBody>
          <a:bodyPr wrap="square" lIns="0" tIns="0" rIns="0" bIns="0" rtlCol="0" anchor="ctr"/>
          <a:lstStyle/>
          <a:p>
            <a:pPr algn="ctr" indent="0" marL="0">
              <a:buNone/>
            </a:pPr>
            <a:r>
              <a:rPr lang="en-IE" sz="1250" b="1" dirty="0">
                <a:solidFill>
                  <a:schemeClr val="tx1"/>
                </a:solidFill>
              </a:rPr>
              <a:t>Vehicle</a:t>
            </a:r>
            <a:endParaRPr lang="en-IE" sz="1250" dirty="0"/>
          </a:p>
        </p:txBody>
      </p:sp>
      <p:sp>
        <p:nvSpPr>
          <p:cNvPr id="20" name="Box Job"/>
          <p:cNvSpPr/>
          <p:nvPr/>
        </p:nvSpPr>
        <p:spPr>
          <a:xfrm>
            <a:off x="10561320" y="3657600"/>
            <a:ext cx="1024128" cy="548640"/>
          </a:xfrm>
          <a:prstGeom prst="roundRect">
            <a:avLst>
              <a:gd name="adj" fmla="val 13333"/>
            </a:avLst>
          </a:prstGeom>
          <a:solidFill>
            <a:schemeClr val="accent2">
              <a:alpha val="14000"/>
            </a:schemeClr>
          </a:solidFill>
          <a:ln w="19050">
            <a:solidFill>
              <a:schemeClr val="accent2"/>
            </a:solidFill>
            <a:prstDash val="solid"/>
          </a:ln>
        </p:spPr>
      </p:sp>
      <p:sp>
        <p:nvSpPr>
          <p:cNvPr id="21" name="Text 18"/>
          <p:cNvSpPr txBox="1"/>
          <p:nvPr/>
        </p:nvSpPr>
        <p:spPr>
          <a:xfrm>
            <a:off x="10561320" y="3657600"/>
            <a:ext cx="1024128" cy="548640"/>
          </a:xfrm>
          <a:prstGeom prst="rect">
            <a:avLst/>
          </a:prstGeom>
          <a:noFill/>
          <a:ln/>
        </p:spPr>
        <p:txBody>
          <a:bodyPr wrap="square" lIns="0" tIns="0" rIns="0" bIns="0" rtlCol="0" anchor="ctr"/>
          <a:lstStyle/>
          <a:p>
            <a:pPr algn="ctr" indent="0" marL="0">
              <a:buNone/>
            </a:pPr>
            <a:r>
              <a:rPr lang="en-IE" sz="1250" b="1" dirty="0">
                <a:solidFill>
                  <a:schemeClr val="tx1"/>
                </a:solidFill>
              </a:rPr>
              <a:t>Job</a:t>
            </a:r>
            <a:endParaRPr lang="en-IE" sz="1250" dirty="0"/>
          </a:p>
        </p:txBody>
      </p:sp>
      <p:sp>
        <p:nvSpPr>
          <p:cNvPr id="22" name="Line"/>
          <p:cNvSpPr/>
          <p:nvPr/>
        </p:nvSpPr>
        <p:spPr>
          <a:xfrm flipV="1">
            <a:off x="8961120" y="2743200"/>
            <a:ext cx="0" cy="365760"/>
          </a:xfrm>
          <a:prstGeom prst="line">
            <a:avLst/>
          </a:prstGeom>
          <a:noFill/>
          <a:ln w="19050">
            <a:solidFill>
              <a:schemeClr val="tx1"/>
            </a:solidFill>
            <a:prstDash val="solid"/>
          </a:ln>
        </p:spPr>
      </p:sp>
      <p:sp>
        <p:nvSpPr>
          <p:cNvPr id="23" name="Line"/>
          <p:cNvSpPr/>
          <p:nvPr/>
        </p:nvSpPr>
        <p:spPr>
          <a:xfrm>
            <a:off x="6501384" y="3108960"/>
            <a:ext cx="4572000" cy="0"/>
          </a:xfrm>
          <a:prstGeom prst="line">
            <a:avLst/>
          </a:prstGeom>
          <a:noFill/>
          <a:ln w="19050">
            <a:solidFill>
              <a:schemeClr val="tx1"/>
            </a:solidFill>
            <a:prstDash val="solid"/>
          </a:ln>
        </p:spPr>
      </p:sp>
      <p:sp>
        <p:nvSpPr>
          <p:cNvPr id="24" name="Line"/>
          <p:cNvSpPr/>
          <p:nvPr/>
        </p:nvSpPr>
        <p:spPr>
          <a:xfrm flipV="1">
            <a:off x="6501384" y="3108960"/>
            <a:ext cx="0" cy="548640"/>
          </a:xfrm>
          <a:prstGeom prst="line">
            <a:avLst/>
          </a:prstGeom>
          <a:noFill/>
          <a:ln w="19050">
            <a:solidFill>
              <a:schemeClr val="tx1"/>
            </a:solidFill>
            <a:prstDash val="solid"/>
          </a:ln>
        </p:spPr>
      </p:sp>
      <p:sp>
        <p:nvSpPr>
          <p:cNvPr id="25" name="Line"/>
          <p:cNvSpPr/>
          <p:nvPr/>
        </p:nvSpPr>
        <p:spPr>
          <a:xfrm flipV="1">
            <a:off x="7644384" y="3108960"/>
            <a:ext cx="0" cy="548640"/>
          </a:xfrm>
          <a:prstGeom prst="line">
            <a:avLst/>
          </a:prstGeom>
          <a:noFill/>
          <a:ln w="19050">
            <a:solidFill>
              <a:schemeClr val="tx1"/>
            </a:solidFill>
            <a:prstDash val="solid"/>
          </a:ln>
        </p:spPr>
      </p:sp>
      <p:sp>
        <p:nvSpPr>
          <p:cNvPr id="26" name="Line"/>
          <p:cNvSpPr/>
          <p:nvPr/>
        </p:nvSpPr>
        <p:spPr>
          <a:xfrm flipV="1">
            <a:off x="8787384" y="3108960"/>
            <a:ext cx="0" cy="548640"/>
          </a:xfrm>
          <a:prstGeom prst="line">
            <a:avLst/>
          </a:prstGeom>
          <a:noFill/>
          <a:ln w="19050">
            <a:solidFill>
              <a:schemeClr val="tx1"/>
            </a:solidFill>
            <a:prstDash val="solid"/>
          </a:ln>
        </p:spPr>
      </p:sp>
      <p:sp>
        <p:nvSpPr>
          <p:cNvPr id="27" name="Line"/>
          <p:cNvSpPr/>
          <p:nvPr/>
        </p:nvSpPr>
        <p:spPr>
          <a:xfrm flipV="1">
            <a:off x="9930384" y="3108960"/>
            <a:ext cx="0" cy="548640"/>
          </a:xfrm>
          <a:prstGeom prst="line">
            <a:avLst/>
          </a:prstGeom>
          <a:noFill/>
          <a:ln w="19050">
            <a:solidFill>
              <a:schemeClr val="tx1"/>
            </a:solidFill>
            <a:prstDash val="solid"/>
          </a:ln>
        </p:spPr>
      </p:sp>
      <p:sp>
        <p:nvSpPr>
          <p:cNvPr id="28" name="Line"/>
          <p:cNvSpPr/>
          <p:nvPr/>
        </p:nvSpPr>
        <p:spPr>
          <a:xfrm flipV="1">
            <a:off x="11073384" y="3108960"/>
            <a:ext cx="0" cy="548640"/>
          </a:xfrm>
          <a:prstGeom prst="line">
            <a:avLst/>
          </a:prstGeom>
          <a:noFill/>
          <a:ln w="19050">
            <a:solidFill>
              <a:schemeClr val="tx1"/>
            </a:solidFill>
            <a:prstDash val="solid"/>
          </a:ln>
        </p:spPr>
      </p:sp>
      <p:sp>
        <p:nvSpPr>
          <p:cNvPr id="29" name="Inheritance arrow head"/>
          <p:cNvSpPr/>
          <p:nvPr/>
        </p:nvSpPr>
        <p:spPr>
          <a:xfrm>
            <a:off x="8851392" y="2560320"/>
            <a:ext cx="219456" cy="182880"/>
          </a:xfrm>
          <a:prstGeom prst="triangle">
            <a:avLst/>
          </a:prstGeom>
          <a:solidFill>
            <a:schemeClr val="bg1"/>
          </a:solidFill>
          <a:ln w="19050">
            <a:solidFill>
              <a:schemeClr val="tx1"/>
            </a:solidFill>
            <a:prstDash val="solid"/>
          </a:ln>
        </p:spPr>
      </p:sp>
      <p:sp>
        <p:nvSpPr>
          <p:cNvPr id="30" name="Text 27"/>
          <p:cNvSpPr txBox="1"/>
          <p:nvPr/>
        </p:nvSpPr>
        <p:spPr>
          <a:xfrm>
            <a:off x="5989320" y="4343400"/>
            <a:ext cx="5577840" cy="320040"/>
          </a:xfrm>
          <a:prstGeom prst="rect">
            <a:avLst/>
          </a:prstGeom>
          <a:noFill/>
          <a:ln/>
        </p:spPr>
        <p:txBody>
          <a:bodyPr wrap="square" lIns="0" tIns="0" rIns="0" bIns="0" rtlCol="0" anchor="t"/>
          <a:lstStyle/>
          <a:p>
            <a:pPr algn="ctr" indent="0" marL="0">
              <a:buNone/>
            </a:pPr>
            <a:r>
              <a:rPr lang="en-IE" sz="1300" i="1" dirty="0">
                <a:solidFill>
                  <a:schemeClr val="tx2"/>
                </a:solidFill>
              </a:rPr>
              <a:t>every class, ours and Java’s own</a:t>
            </a:r>
            <a:endParaRPr lang="en-IE" sz="1300" dirty="0"/>
          </a:p>
        </p:txBody>
      </p:sp>
      <p:sp>
        <p:nvSpPr>
          <p:cNvPr id="31" name="Note"/>
          <p:cNvSpPr/>
          <p:nvPr/>
        </p:nvSpPr>
        <p:spPr>
          <a:xfrm>
            <a:off x="5989320" y="5074920"/>
            <a:ext cx="5650992" cy="777240"/>
          </a:xfrm>
          <a:prstGeom prst="roundRect">
            <a:avLst>
              <a:gd name="adj" fmla="val 14118"/>
            </a:avLst>
          </a:prstGeom>
          <a:solidFill>
            <a:schemeClr val="bg2"/>
          </a:solidFill>
          <a:ln/>
        </p:spPr>
      </p:sp>
      <p:sp>
        <p:nvSpPr>
          <p:cNvPr id="32" name="Icon tile"/>
          <p:cNvSpPr/>
          <p:nvPr/>
        </p:nvSpPr>
        <p:spPr>
          <a:xfrm>
            <a:off x="6263640" y="5198364"/>
            <a:ext cx="530352" cy="530352"/>
          </a:xfrm>
          <a:prstGeom prst="roundRect">
            <a:avLst>
              <a:gd name="adj" fmla="val 24000"/>
            </a:avLst>
          </a:prstGeom>
          <a:solidFill>
            <a:schemeClr val="accent1">
              <a:alpha val="14000"/>
            </a:schemeClr>
          </a:solidFill>
          <a:ln/>
        </p:spPr>
      </p:sp>
      <p:pic>
        <p:nvPicPr>
          <p:cNvPr id="33" name="tree structure icon" descr="tree structure icon">    </p:cNvPr>
          <p:cNvPicPr>
            <a:picLocks noChangeAspect="1"/>
          </p:cNvPicPr>
          <p:nvPr/>
        </p:nvPicPr>
        <p:blipFill>
          <a:blip r:embed="rId1"/>
          <a:stretch>
            <a:fillRect/>
          </a:stretch>
        </p:blipFill>
        <p:spPr>
          <a:xfrm>
            <a:off x="6375014" y="5309738"/>
            <a:ext cx="307604" cy="307604"/>
          </a:xfrm>
          <a:prstGeom prst="rect">
            <a:avLst/>
          </a:prstGeom>
        </p:spPr>
      </p:pic>
      <p:sp>
        <p:nvSpPr>
          <p:cNvPr id="34" name="Text 30"/>
          <p:cNvSpPr txBox="1"/>
          <p:nvPr/>
        </p:nvSpPr>
        <p:spPr>
          <a:xfrm>
            <a:off x="7013448" y="5074920"/>
            <a:ext cx="4370832" cy="777240"/>
          </a:xfrm>
          <a:prstGeom prst="rect">
            <a:avLst/>
          </a:prstGeom>
          <a:noFill/>
          <a:ln/>
        </p:spPr>
        <p:txBody>
          <a:bodyPr wrap="square" lIns="0" tIns="0" rIns="0" bIns="0" rtlCol="0" anchor="ctr"/>
          <a:lstStyle/>
          <a:p>
            <a:pPr indent="0" marL="0">
              <a:buNone/>
            </a:pPr>
            <a:r>
              <a:rPr lang="en-IE" sz="1600" dirty="0">
                <a:solidFill>
                  <a:schemeClr val="tx1"/>
                </a:solidFill>
              </a:rPr>
              <a:t>Object is the only class without a parent.</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a:t>
            </a:fld>
            <a:endParaRPr lang="en-I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The Object class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Employee extends Person, and Person has no </a:t>
            </a:r>
            <a:r>
              <a:rPr lang="en-IE" sz="2800" b="1" dirty="0">
                <a:solidFill>
                  <a:schemeClr val="accent2"/>
                </a:solidFill>
                <a:latin typeface="Consolas" pitchFamily="34" charset="0"/>
                <a:ea typeface="Consolas" pitchFamily="34" charset="-122"/>
                <a:cs typeface="Consolas" pitchFamily="34" charset="-120"/>
              </a:rPr>
              <a:t>extends</a:t>
            </a:r>
            <a:r>
              <a:rPr lang="en-IE" sz="2800" b="1" dirty="0">
                <a:solidFill>
                  <a:schemeClr val="tx1"/>
                </a:solidFill>
              </a:rPr>
              <a:t> of its own. Which statement is true?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Person has no superclass at all, not even Object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Employee has two direct parents: Person and Object</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objects of the Person class can call </a:t>
            </a:r>
            <a:r>
              <a:rPr lang="en-IE" sz="2000" dirty="0">
                <a:solidFill>
                  <a:schemeClr val="accent2"/>
                </a:solidFill>
                <a:latin typeface="Consolas" pitchFamily="34" charset="0"/>
                <a:ea typeface="Consolas" pitchFamily="34" charset="-122"/>
                <a:cs typeface="Consolas" pitchFamily="34" charset="-120"/>
              </a:rPr>
              <a:t>toString()</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Person extends Object, so Employee inherits Object’s methods too</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a:t>
            </a:fld>
            <a:endParaRPr lang="en-I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The Object class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Employee extends Person, and Person has no </a:t>
            </a:r>
            <a:r>
              <a:rPr lang="en-IE" sz="2000" b="1" dirty="0">
                <a:solidFill>
                  <a:schemeClr val="tx2"/>
                </a:solidFill>
                <a:latin typeface="Consolas" pitchFamily="34" charset="0"/>
                <a:ea typeface="Consolas" pitchFamily="34" charset="-122"/>
                <a:cs typeface="Consolas" pitchFamily="34" charset="-120"/>
              </a:rPr>
              <a:t>extends</a:t>
            </a:r>
            <a:r>
              <a:rPr lang="en-IE" sz="2000" b="1" dirty="0">
                <a:solidFill>
                  <a:schemeClr val="tx2"/>
                </a:solidFill>
              </a:rPr>
              <a:t> of its own. Which statement is true?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Person has no superclass at all, not even Object</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Employee has two direct parents: Person and Object</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Only objects of the Person class can call </a:t>
            </a:r>
            <a:r>
              <a:rPr lang="en-IE" sz="1700" dirty="0">
                <a:solidFill>
                  <a:schemeClr val="tx2"/>
                </a:solidFill>
                <a:latin typeface="Consolas" pitchFamily="34" charset="0"/>
                <a:ea typeface="Consolas" pitchFamily="34" charset="-122"/>
                <a:cs typeface="Consolas" pitchFamily="34" charset="-120"/>
              </a:rPr>
              <a:t>toString()</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Person extends Object, so Employee inherits Object’s methods too</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class with no </a:t>
            </a:r>
            <a:r>
              <a:rPr lang="en-IE" sz="1800" dirty="0">
                <a:solidFill>
                  <a:schemeClr val="accent2"/>
                </a:solidFill>
                <a:latin typeface="Consolas" pitchFamily="34" charset="0"/>
                <a:ea typeface="Consolas" pitchFamily="34" charset="-122"/>
                <a:cs typeface="Consolas" pitchFamily="34" charset="-120"/>
              </a:rPr>
              <a:t>extends</a:t>
            </a:r>
            <a:r>
              <a:rPr lang="en-IE" sz="1800" dirty="0">
                <a:solidFill>
                  <a:schemeClr val="tx1"/>
                </a:solidFill>
              </a:rPr>
              <a:t> automatically extends Object. So Employee’s parent is Person, Person’s parent is Object, and Employee inherits Object’s methods through Person. Each class still has only one direct parent.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a:t>
            </a:fld>
            <a:endParaRPr lang="en-I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OBJECT AND THE CLASS HIERARCHY</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What every object gets from Object</a:t>
            </a:r>
            <a:endParaRPr lang="en-IE" sz="3400" dirty="0"/>
          </a:p>
        </p:txBody>
      </p:sp>
      <p:sp>
        <p:nvSpPr>
          <p:cNvPr id="5" name="Text 2"/>
          <p:cNvSpPr txBox="1"/>
          <p:nvPr/>
        </p:nvSpPr>
        <p:spPr>
          <a:xfrm>
            <a:off x="548640" y="1691640"/>
            <a:ext cx="11094415" cy="457200"/>
          </a:xfrm>
          <a:prstGeom prst="rect">
            <a:avLst/>
          </a:prstGeom>
          <a:noFill/>
          <a:ln/>
        </p:spPr>
        <p:txBody>
          <a:bodyPr wrap="square" lIns="0" tIns="0" rIns="0" bIns="0" rtlCol="0" anchor="t"/>
          <a:lstStyle/>
          <a:p>
            <a:pPr indent="0" marL="0">
              <a:buNone/>
            </a:pPr>
            <a:r>
              <a:rPr lang="en-IE" sz="1900" dirty="0">
                <a:solidFill>
                  <a:schemeClr val="tx2"/>
                </a:solidFill>
              </a:rPr>
              <a:t>Methods every class inherits, such as:</a:t>
            </a:r>
            <a:endParaRPr lang="en-IE" sz="1900" dirty="0"/>
          </a:p>
        </p:txBody>
      </p:sp>
      <p:sp>
        <p:nvSpPr>
          <p:cNvPr id="6" name="`equals()`"/>
          <p:cNvSpPr/>
          <p:nvPr/>
        </p:nvSpPr>
        <p:spPr>
          <a:xfrm>
            <a:off x="548640" y="2331720"/>
            <a:ext cx="2567864" cy="3017520"/>
          </a:xfrm>
          <a:prstGeom prst="roundRect">
            <a:avLst>
              <a:gd name="adj" fmla="val 4273"/>
            </a:avLst>
          </a:prstGeom>
          <a:solidFill>
            <a:schemeClr val="bg1"/>
          </a:solidFill>
          <a:ln/>
          <a:effectLst>
            <a:outerShdw sx="100000" sy="100000" kx="0" ky="0" algn="bl" rotWithShape="0" blurRad="114300" dist="31750" dir="5400000">
              <a:srgbClr val="1D2433">
                <a:alpha val="12000"/>
              </a:srgbClr>
            </a:outerShdw>
          </a:effectLst>
        </p:spPr>
      </p:sp>
      <p:sp>
        <p:nvSpPr>
          <p:cNvPr id="7" name="Icon tile"/>
          <p:cNvSpPr/>
          <p:nvPr/>
        </p:nvSpPr>
        <p:spPr>
          <a:xfrm>
            <a:off x="822960" y="2606040"/>
            <a:ext cx="713232" cy="713232"/>
          </a:xfrm>
          <a:prstGeom prst="roundRect">
            <a:avLst>
              <a:gd name="adj" fmla="val 24000"/>
            </a:avLst>
          </a:prstGeom>
          <a:solidFill>
            <a:schemeClr val="accent2">
              <a:alpha val="14000"/>
            </a:schemeClr>
          </a:solidFill>
          <a:ln/>
        </p:spPr>
      </p:sp>
      <p:pic>
        <p:nvPicPr>
          <p:cNvPr id="8" name="equals icon" descr="equals icon">    </p:cNvPr>
          <p:cNvPicPr>
            <a:picLocks noChangeAspect="1"/>
          </p:cNvPicPr>
          <p:nvPr/>
        </p:nvPicPr>
        <p:blipFill>
          <a:blip r:embed="rId1"/>
          <a:stretch>
            <a:fillRect/>
          </a:stretch>
        </p:blipFill>
        <p:spPr>
          <a:xfrm>
            <a:off x="972739" y="2755819"/>
            <a:ext cx="413675" cy="413675"/>
          </a:xfrm>
          <a:prstGeom prst="rect">
            <a:avLst/>
          </a:prstGeom>
        </p:spPr>
      </p:pic>
      <p:sp>
        <p:nvSpPr>
          <p:cNvPr id="9" name="Text 5"/>
          <p:cNvSpPr txBox="1"/>
          <p:nvPr/>
        </p:nvSpPr>
        <p:spPr>
          <a:xfrm>
            <a:off x="822960" y="3429000"/>
            <a:ext cx="2019224" cy="457200"/>
          </a:xfrm>
          <a:prstGeom prst="rect">
            <a:avLst/>
          </a:prstGeom>
          <a:noFill/>
          <a:ln/>
        </p:spPr>
        <p:txBody>
          <a:bodyPr wrap="square" lIns="0" tIns="0" rIns="0" bIns="0" rtlCol="0" anchor="t"/>
          <a:lstStyle/>
          <a:p>
            <a:pPr indent="0" marL="0">
              <a:buNone/>
            </a:pPr>
            <a:r>
              <a:rPr lang="en-IE" sz="2200" b="1" dirty="0">
                <a:solidFill>
                  <a:schemeClr val="tx1"/>
                </a:solidFill>
                <a:latin typeface="Consolas" pitchFamily="34" charset="0"/>
                <a:ea typeface="Consolas" pitchFamily="34" charset="-122"/>
                <a:cs typeface="Consolas" pitchFamily="34" charset="-120"/>
              </a:rPr>
              <a:t>equals()</a:t>
            </a:r>
            <a:endParaRPr lang="en-IE" sz="2200" dirty="0"/>
          </a:p>
        </p:txBody>
      </p:sp>
      <p:sp>
        <p:nvSpPr>
          <p:cNvPr id="10" name="Text 6"/>
          <p:cNvSpPr txBox="1"/>
          <p:nvPr/>
        </p:nvSpPr>
        <p:spPr>
          <a:xfrm>
            <a:off x="822960" y="3941064"/>
            <a:ext cx="2019224" cy="1207008"/>
          </a:xfrm>
          <a:prstGeom prst="rect">
            <a:avLst/>
          </a:prstGeom>
          <a:noFill/>
          <a:ln/>
        </p:spPr>
        <p:txBody>
          <a:bodyPr wrap="square" lIns="0" tIns="0" rIns="0" bIns="0" rtlCol="0" anchor="t"/>
          <a:lstStyle/>
          <a:p>
            <a:pPr indent="0" marL="0">
              <a:buNone/>
            </a:pPr>
            <a:r>
              <a:rPr lang="en-IE" sz="1600" dirty="0">
                <a:solidFill>
                  <a:schemeClr val="tx2"/>
                </a:solidFill>
              </a:rPr>
              <a:t>Compares two objects.</a:t>
            </a:r>
            <a:endParaRPr lang="en-IE" sz="1600" dirty="0"/>
          </a:p>
        </p:txBody>
      </p:sp>
      <p:sp>
        <p:nvSpPr>
          <p:cNvPr id="11" name="`hashCode()`"/>
          <p:cNvSpPr/>
          <p:nvPr/>
        </p:nvSpPr>
        <p:spPr>
          <a:xfrm>
            <a:off x="3390824" y="2331720"/>
            <a:ext cx="2567864" cy="3017520"/>
          </a:xfrm>
          <a:prstGeom prst="roundRect">
            <a:avLst>
              <a:gd name="adj" fmla="val 4273"/>
            </a:avLst>
          </a:prstGeom>
          <a:solidFill>
            <a:schemeClr val="bg1"/>
          </a:solidFill>
          <a:ln/>
          <a:effectLst>
            <a:outerShdw sx="100000" sy="100000" kx="0" ky="0" algn="bl" rotWithShape="0" blurRad="114300" dist="31750" dir="5400000">
              <a:srgbClr val="1D2433">
                <a:alpha val="12000"/>
              </a:srgbClr>
            </a:outerShdw>
          </a:effectLst>
        </p:spPr>
      </p:sp>
      <p:sp>
        <p:nvSpPr>
          <p:cNvPr id="12" name="Icon tile"/>
          <p:cNvSpPr/>
          <p:nvPr/>
        </p:nvSpPr>
        <p:spPr>
          <a:xfrm>
            <a:off x="3665144" y="2606040"/>
            <a:ext cx="713232" cy="713232"/>
          </a:xfrm>
          <a:prstGeom prst="roundRect">
            <a:avLst>
              <a:gd name="adj" fmla="val 24000"/>
            </a:avLst>
          </a:prstGeom>
          <a:solidFill>
            <a:schemeClr val="accent5">
              <a:alpha val="14000"/>
            </a:schemeClr>
          </a:solidFill>
          <a:ln/>
        </p:spPr>
      </p:sp>
      <p:pic>
        <p:nvPicPr>
          <p:cNvPr id="13" name="hash icon" descr="hash icon">    </p:cNvPr>
          <p:cNvPicPr>
            <a:picLocks noChangeAspect="1"/>
          </p:cNvPicPr>
          <p:nvPr/>
        </p:nvPicPr>
        <p:blipFill>
          <a:blip r:embed="rId2"/>
          <a:stretch>
            <a:fillRect/>
          </a:stretch>
        </p:blipFill>
        <p:spPr>
          <a:xfrm>
            <a:off x="3814923" y="2755819"/>
            <a:ext cx="413675" cy="413675"/>
          </a:xfrm>
          <a:prstGeom prst="rect">
            <a:avLst/>
          </a:prstGeom>
        </p:spPr>
      </p:pic>
      <p:sp>
        <p:nvSpPr>
          <p:cNvPr id="14" name="Text 9"/>
          <p:cNvSpPr txBox="1"/>
          <p:nvPr/>
        </p:nvSpPr>
        <p:spPr>
          <a:xfrm>
            <a:off x="3665144" y="3429000"/>
            <a:ext cx="2019224" cy="457200"/>
          </a:xfrm>
          <a:prstGeom prst="rect">
            <a:avLst/>
          </a:prstGeom>
          <a:noFill/>
          <a:ln/>
        </p:spPr>
        <p:txBody>
          <a:bodyPr wrap="square" lIns="0" tIns="0" rIns="0" bIns="0" rtlCol="0" anchor="t"/>
          <a:lstStyle/>
          <a:p>
            <a:pPr indent="0" marL="0">
              <a:buNone/>
            </a:pPr>
            <a:r>
              <a:rPr lang="en-IE" sz="2200" b="1" dirty="0">
                <a:solidFill>
                  <a:schemeClr val="tx1"/>
                </a:solidFill>
                <a:latin typeface="Consolas" pitchFamily="34" charset="0"/>
                <a:ea typeface="Consolas" pitchFamily="34" charset="-122"/>
                <a:cs typeface="Consolas" pitchFamily="34" charset="-120"/>
              </a:rPr>
              <a:t>hashCode()</a:t>
            </a:r>
            <a:endParaRPr lang="en-IE" sz="2200" dirty="0"/>
          </a:p>
        </p:txBody>
      </p:sp>
      <p:sp>
        <p:nvSpPr>
          <p:cNvPr id="15" name="Text 10"/>
          <p:cNvSpPr txBox="1"/>
          <p:nvPr/>
        </p:nvSpPr>
        <p:spPr>
          <a:xfrm>
            <a:off x="3665144" y="3941064"/>
            <a:ext cx="2019224" cy="1207008"/>
          </a:xfrm>
          <a:prstGeom prst="rect">
            <a:avLst/>
          </a:prstGeom>
          <a:noFill/>
          <a:ln/>
        </p:spPr>
        <p:txBody>
          <a:bodyPr wrap="square" lIns="0" tIns="0" rIns="0" bIns="0" rtlCol="0" anchor="t"/>
          <a:lstStyle/>
          <a:p>
            <a:pPr indent="0" marL="0">
              <a:buNone/>
            </a:pPr>
            <a:r>
              <a:rPr lang="en-IE" sz="1600" dirty="0">
                <a:solidFill>
                  <a:schemeClr val="tx2"/>
                </a:solidFill>
              </a:rPr>
              <a:t>Returns a number for the object, called its hash code.</a:t>
            </a:r>
            <a:endParaRPr lang="en-IE" sz="1600" dirty="0"/>
          </a:p>
        </p:txBody>
      </p:sp>
      <p:sp>
        <p:nvSpPr>
          <p:cNvPr id="16" name="`clone()`"/>
          <p:cNvSpPr/>
          <p:nvPr/>
        </p:nvSpPr>
        <p:spPr>
          <a:xfrm>
            <a:off x="6233008" y="2331720"/>
            <a:ext cx="2567864" cy="3017520"/>
          </a:xfrm>
          <a:prstGeom prst="roundRect">
            <a:avLst>
              <a:gd name="adj" fmla="val 4273"/>
            </a:avLst>
          </a:prstGeom>
          <a:solidFill>
            <a:schemeClr val="bg1"/>
          </a:solidFill>
          <a:ln/>
          <a:effectLst>
            <a:outerShdw sx="100000" sy="100000" kx="0" ky="0" algn="bl" rotWithShape="0" blurRad="114300" dist="31750" dir="5400000">
              <a:srgbClr val="1D2433">
                <a:alpha val="12000"/>
              </a:srgbClr>
            </a:outerShdw>
          </a:effectLst>
        </p:spPr>
      </p:sp>
      <p:sp>
        <p:nvSpPr>
          <p:cNvPr id="17" name="Icon tile"/>
          <p:cNvSpPr/>
          <p:nvPr/>
        </p:nvSpPr>
        <p:spPr>
          <a:xfrm>
            <a:off x="6507328" y="2606040"/>
            <a:ext cx="713232" cy="713232"/>
          </a:xfrm>
          <a:prstGeom prst="roundRect">
            <a:avLst>
              <a:gd name="adj" fmla="val 24000"/>
            </a:avLst>
          </a:prstGeom>
          <a:solidFill>
            <a:schemeClr val="accent3">
              <a:alpha val="14000"/>
            </a:schemeClr>
          </a:solidFill>
          <a:ln/>
        </p:spPr>
      </p:sp>
      <p:pic>
        <p:nvPicPr>
          <p:cNvPr id="18" name="copy icon" descr="copy icon">    </p:cNvPr>
          <p:cNvPicPr>
            <a:picLocks noChangeAspect="1"/>
          </p:cNvPicPr>
          <p:nvPr/>
        </p:nvPicPr>
        <p:blipFill>
          <a:blip r:embed="rId3"/>
          <a:stretch>
            <a:fillRect/>
          </a:stretch>
        </p:blipFill>
        <p:spPr>
          <a:xfrm>
            <a:off x="6657106" y="2755819"/>
            <a:ext cx="413675" cy="413675"/>
          </a:xfrm>
          <a:prstGeom prst="rect">
            <a:avLst/>
          </a:prstGeom>
        </p:spPr>
      </p:pic>
      <p:sp>
        <p:nvSpPr>
          <p:cNvPr id="19" name="Text 13"/>
          <p:cNvSpPr txBox="1"/>
          <p:nvPr/>
        </p:nvSpPr>
        <p:spPr>
          <a:xfrm>
            <a:off x="6507328" y="3429000"/>
            <a:ext cx="2019224" cy="457200"/>
          </a:xfrm>
          <a:prstGeom prst="rect">
            <a:avLst/>
          </a:prstGeom>
          <a:noFill/>
          <a:ln/>
        </p:spPr>
        <p:txBody>
          <a:bodyPr wrap="square" lIns="0" tIns="0" rIns="0" bIns="0" rtlCol="0" anchor="t"/>
          <a:lstStyle/>
          <a:p>
            <a:pPr indent="0" marL="0">
              <a:buNone/>
            </a:pPr>
            <a:r>
              <a:rPr lang="en-IE" sz="2200" b="1" dirty="0">
                <a:solidFill>
                  <a:schemeClr val="tx1"/>
                </a:solidFill>
                <a:latin typeface="Consolas" pitchFamily="34" charset="0"/>
                <a:ea typeface="Consolas" pitchFamily="34" charset="-122"/>
                <a:cs typeface="Consolas" pitchFamily="34" charset="-120"/>
              </a:rPr>
              <a:t>clone()</a:t>
            </a:r>
            <a:endParaRPr lang="en-IE" sz="2200" dirty="0"/>
          </a:p>
        </p:txBody>
      </p:sp>
      <p:sp>
        <p:nvSpPr>
          <p:cNvPr id="20" name="Text 14"/>
          <p:cNvSpPr txBox="1"/>
          <p:nvPr/>
        </p:nvSpPr>
        <p:spPr>
          <a:xfrm>
            <a:off x="6507328" y="3941064"/>
            <a:ext cx="2019224" cy="1207008"/>
          </a:xfrm>
          <a:prstGeom prst="rect">
            <a:avLst/>
          </a:prstGeom>
          <a:noFill/>
          <a:ln/>
        </p:spPr>
        <p:txBody>
          <a:bodyPr wrap="square" lIns="0" tIns="0" rIns="0" bIns="0" rtlCol="0" anchor="t"/>
          <a:lstStyle/>
          <a:p>
            <a:pPr indent="0" marL="0">
              <a:buNone/>
            </a:pPr>
            <a:r>
              <a:rPr lang="en-IE" sz="1600" dirty="0">
                <a:solidFill>
                  <a:schemeClr val="tx2"/>
                </a:solidFill>
              </a:rPr>
              <a:t>Returns a copy of the object.</a:t>
            </a:r>
            <a:endParaRPr lang="en-IE" sz="1600" dirty="0"/>
          </a:p>
        </p:txBody>
      </p:sp>
      <p:sp>
        <p:nvSpPr>
          <p:cNvPr id="21" name="`toString()`"/>
          <p:cNvSpPr/>
          <p:nvPr/>
        </p:nvSpPr>
        <p:spPr>
          <a:xfrm>
            <a:off x="9075191" y="2331720"/>
            <a:ext cx="2567864" cy="3017520"/>
          </a:xfrm>
          <a:prstGeom prst="roundRect">
            <a:avLst>
              <a:gd name="adj" fmla="val 4273"/>
            </a:avLst>
          </a:prstGeom>
          <a:solidFill>
            <a:schemeClr val="bg1"/>
          </a:solidFill>
          <a:ln/>
          <a:effectLst>
            <a:outerShdw sx="100000" sy="100000" kx="0" ky="0" algn="bl" rotWithShape="0" blurRad="114300" dist="31750" dir="5400000">
              <a:srgbClr val="1D2433">
                <a:alpha val="12000"/>
              </a:srgbClr>
            </a:outerShdw>
          </a:effectLst>
        </p:spPr>
      </p:sp>
      <p:sp>
        <p:nvSpPr>
          <p:cNvPr id="22" name="Icon tile"/>
          <p:cNvSpPr/>
          <p:nvPr/>
        </p:nvSpPr>
        <p:spPr>
          <a:xfrm>
            <a:off x="9349511" y="2606040"/>
            <a:ext cx="713232" cy="713232"/>
          </a:xfrm>
          <a:prstGeom prst="roundRect">
            <a:avLst>
              <a:gd name="adj" fmla="val 24000"/>
            </a:avLst>
          </a:prstGeom>
          <a:solidFill>
            <a:schemeClr val="accent1">
              <a:alpha val="14000"/>
            </a:schemeClr>
          </a:solidFill>
          <a:ln/>
        </p:spPr>
      </p:sp>
      <p:pic>
        <p:nvPicPr>
          <p:cNvPr id="23" name="text aa icon" descr="text aa icon">    </p:cNvPr>
          <p:cNvPicPr>
            <a:picLocks noChangeAspect="1"/>
          </p:cNvPicPr>
          <p:nvPr/>
        </p:nvPicPr>
        <p:blipFill>
          <a:blip r:embed="rId4"/>
          <a:stretch>
            <a:fillRect/>
          </a:stretch>
        </p:blipFill>
        <p:spPr>
          <a:xfrm>
            <a:off x="9499290" y="2755819"/>
            <a:ext cx="413675" cy="413675"/>
          </a:xfrm>
          <a:prstGeom prst="rect">
            <a:avLst/>
          </a:prstGeom>
        </p:spPr>
      </p:pic>
      <p:sp>
        <p:nvSpPr>
          <p:cNvPr id="24" name="Text 17"/>
          <p:cNvSpPr txBox="1"/>
          <p:nvPr/>
        </p:nvSpPr>
        <p:spPr>
          <a:xfrm>
            <a:off x="9349511" y="3429000"/>
            <a:ext cx="2019224" cy="457200"/>
          </a:xfrm>
          <a:prstGeom prst="rect">
            <a:avLst/>
          </a:prstGeom>
          <a:noFill/>
          <a:ln/>
        </p:spPr>
        <p:txBody>
          <a:bodyPr wrap="square" lIns="0" tIns="0" rIns="0" bIns="0" rtlCol="0" anchor="t"/>
          <a:lstStyle/>
          <a:p>
            <a:pPr indent="0" marL="0">
              <a:buNone/>
            </a:pPr>
            <a:r>
              <a:rPr lang="en-IE" sz="2200" b="1" dirty="0">
                <a:solidFill>
                  <a:schemeClr val="tx1"/>
                </a:solidFill>
                <a:latin typeface="Consolas" pitchFamily="34" charset="0"/>
                <a:ea typeface="Consolas" pitchFamily="34" charset="-122"/>
                <a:cs typeface="Consolas" pitchFamily="34" charset="-120"/>
              </a:rPr>
              <a:t>toString()</a:t>
            </a:r>
            <a:endParaRPr lang="en-IE" sz="2200" dirty="0"/>
          </a:p>
        </p:txBody>
      </p:sp>
      <p:sp>
        <p:nvSpPr>
          <p:cNvPr id="25" name="Text 18"/>
          <p:cNvSpPr txBox="1"/>
          <p:nvPr/>
        </p:nvSpPr>
        <p:spPr>
          <a:xfrm>
            <a:off x="9349511" y="3941064"/>
            <a:ext cx="2019224" cy="1207008"/>
          </a:xfrm>
          <a:prstGeom prst="rect">
            <a:avLst/>
          </a:prstGeom>
          <a:noFill/>
          <a:ln/>
        </p:spPr>
        <p:txBody>
          <a:bodyPr wrap="square" lIns="0" tIns="0" rIns="0" bIns="0" rtlCol="0" anchor="t"/>
          <a:lstStyle/>
          <a:p>
            <a:pPr indent="0" marL="0">
              <a:buNone/>
            </a:pPr>
            <a:r>
              <a:rPr lang="en-IE" sz="1600" dirty="0">
                <a:solidFill>
                  <a:schemeClr val="tx2"/>
                </a:solidFill>
              </a:rPr>
              <a:t>Returns information about the object, as text.</a:t>
            </a:r>
            <a:endParaRPr lang="en-IE" sz="1600" dirty="0"/>
          </a:p>
        </p:txBody>
      </p:sp>
      <p:sp>
        <p:nvSpPr>
          <p:cNvPr id="26" name="Text 19"/>
          <p:cNvSpPr txBox="1"/>
          <p:nvPr/>
        </p:nvSpPr>
        <p:spPr>
          <a:xfrm>
            <a:off x="548640" y="5577840"/>
            <a:ext cx="11094415" cy="411480"/>
          </a:xfrm>
          <a:prstGeom prst="rect">
            <a:avLst/>
          </a:prstGeom>
          <a:noFill/>
          <a:ln/>
        </p:spPr>
        <p:txBody>
          <a:bodyPr wrap="square" lIns="0" tIns="0" rIns="0" bIns="0" rtlCol="0" anchor="t"/>
          <a:lstStyle/>
          <a:p>
            <a:pPr indent="0" marL="0">
              <a:buNone/>
            </a:pPr>
            <a:r>
              <a:rPr lang="en-IE" sz="1600" i="1" dirty="0">
                <a:solidFill>
                  <a:schemeClr val="tx2"/>
                </a:solidFill>
              </a:rPr>
              <a:t>Every object has them, and we can override them to change what they do.</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a:t>
            </a:fld>
            <a:endParaRPr lang="en-I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The Object class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Object method gives back a copy of the object?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clone()</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equals()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hashCode()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toString()</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a:t>
            </a:fld>
            <a:endParaRPr lang="en-I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The Object class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Object method gives back a copy of the object?</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clone()</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equals()</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hashCode()</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toString()</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clone()</a:t>
            </a:r>
            <a:r>
              <a:rPr lang="en-IE" sz="1800" dirty="0">
                <a:solidFill>
                  <a:schemeClr val="tx1"/>
                </a:solidFill>
              </a:rPr>
              <a:t> returns a copy of the object. </a:t>
            </a:r>
            <a:r>
              <a:rPr lang="en-IE" sz="1800" dirty="0">
                <a:solidFill>
                  <a:schemeClr val="accent2"/>
                </a:solidFill>
                <a:latin typeface="Consolas" pitchFamily="34" charset="0"/>
                <a:ea typeface="Consolas" pitchFamily="34" charset="-122"/>
                <a:cs typeface="Consolas" pitchFamily="34" charset="-120"/>
              </a:rPr>
              <a:t>equals()</a:t>
            </a:r>
            <a:r>
              <a:rPr lang="en-IE" sz="1800" dirty="0">
                <a:solidFill>
                  <a:schemeClr val="tx1"/>
                </a:solidFill>
              </a:rPr>
              <a:t> compares two objects, </a:t>
            </a:r>
            <a:r>
              <a:rPr lang="en-IE" sz="1800" dirty="0">
                <a:solidFill>
                  <a:schemeClr val="accent2"/>
                </a:solidFill>
                <a:latin typeface="Consolas" pitchFamily="34" charset="0"/>
                <a:ea typeface="Consolas" pitchFamily="34" charset="-122"/>
                <a:cs typeface="Consolas" pitchFamily="34" charset="-120"/>
              </a:rPr>
              <a:t>hashCode()</a:t>
            </a:r>
            <a:r>
              <a:rPr lang="en-IE" sz="1800" dirty="0">
                <a:solidFill>
                  <a:schemeClr val="tx1"/>
                </a:solidFill>
              </a:rPr>
              <a:t> returns a hash code, and </a:t>
            </a:r>
            <a:r>
              <a:rPr lang="en-IE" sz="1800" dirty="0">
                <a:solidFill>
                  <a:schemeClr val="accent2"/>
                </a:solidFill>
                <a:latin typeface="Consolas" pitchFamily="34" charset="0"/>
                <a:ea typeface="Consolas" pitchFamily="34" charset="-122"/>
                <a:cs typeface="Consolas" pitchFamily="34" charset="-120"/>
              </a:rPr>
              <a:t>toString()</a:t>
            </a:r>
            <a:r>
              <a:rPr lang="en-IE" sz="1800" dirty="0">
                <a:solidFill>
                  <a:schemeClr val="tx1"/>
                </a:solidFill>
              </a:rPr>
              <a:t> returns information about the object as text.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9</a:t>
            </a:fld>
            <a:endParaRPr lang="en-I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OBJECT AND THE CLASS HIERARCHY</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The class hierarchy</a:t>
            </a:r>
            <a:endParaRPr lang="en-IE" sz="3400" dirty="0"/>
          </a:p>
        </p:txBody>
      </p:sp>
      <p:sp>
        <p:nvSpPr>
          <p:cNvPr id="5" name="Text 2"/>
          <p:cNvSpPr txBox="1"/>
          <p:nvPr/>
        </p:nvSpPr>
        <p:spPr>
          <a:xfrm>
            <a:off x="548640" y="1783080"/>
            <a:ext cx="4754880" cy="402336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A class can’t have more than one parent, but it can have many children.</a:t>
            </a:r>
            <a:endParaRPr lang="en-IE" sz="1800" dirty="0"/>
          </a:p>
          <a:p>
            <a:pPr marL="228600" indent="-228600">
              <a:spcAft>
                <a:spcPts val="1200"/>
              </a:spcAft>
              <a:buSzPct val="100000"/>
              <a:buChar char="•"/>
            </a:pPr>
            <a:r>
              <a:rPr lang="en-IE" sz="1800" dirty="0">
                <a:solidFill>
                  <a:schemeClr val="tx1"/>
                </a:solidFill>
              </a:rPr>
              <a:t>Each of those children can have children too.</a:t>
            </a:r>
            <a:endParaRPr lang="en-IE" sz="1800" dirty="0"/>
          </a:p>
          <a:p>
            <a:pPr marL="228600" indent="-228600">
              <a:spcAft>
                <a:spcPts val="1200"/>
              </a:spcAft>
              <a:buSzPct val="100000"/>
              <a:buChar char="•"/>
            </a:pPr>
            <a:r>
              <a:rPr lang="en-IE" sz="1800" dirty="0">
                <a:solidFill>
                  <a:schemeClr val="tx1"/>
                </a:solidFill>
              </a:rPr>
              <a:t>A subclass inherits from its parent and from its parent’s superclasses.</a:t>
            </a:r>
            <a:endParaRPr lang="en-IE" sz="1800" dirty="0"/>
          </a:p>
          <a:p>
            <a:pPr marL="228600" indent="-228600">
              <a:buSzPct val="100000"/>
              <a:buChar char="•"/>
            </a:pPr>
            <a:r>
              <a:rPr lang="en-IE" sz="1800" dirty="0">
                <a:solidFill>
                  <a:schemeClr val="tx1"/>
                </a:solidFill>
              </a:rPr>
              <a:t>And every class inherits from Object in the end.</a:t>
            </a:r>
            <a:endParaRPr lang="en-IE" sz="1800" dirty="0"/>
          </a:p>
        </p:txBody>
      </p:sp>
      <p:sp>
        <p:nvSpPr>
          <p:cNvPr id="6" name="Box Object"/>
          <p:cNvSpPr/>
          <p:nvPr/>
        </p:nvSpPr>
        <p:spPr>
          <a:xfrm>
            <a:off x="7818120" y="1737360"/>
            <a:ext cx="2057400" cy="566928"/>
          </a:xfrm>
          <a:prstGeom prst="roundRect">
            <a:avLst>
              <a:gd name="adj" fmla="val 12903"/>
            </a:avLst>
          </a:prstGeom>
          <a:solidFill>
            <a:schemeClr val="accent1">
              <a:alpha val="14000"/>
            </a:schemeClr>
          </a:solidFill>
          <a:ln w="19050">
            <a:solidFill>
              <a:schemeClr val="accent1"/>
            </a:solidFill>
            <a:prstDash val="solid"/>
          </a:ln>
        </p:spPr>
      </p:sp>
      <p:sp>
        <p:nvSpPr>
          <p:cNvPr id="7" name="Text 4"/>
          <p:cNvSpPr txBox="1"/>
          <p:nvPr/>
        </p:nvSpPr>
        <p:spPr>
          <a:xfrm>
            <a:off x="7818120" y="1737360"/>
            <a:ext cx="2057400" cy="566928"/>
          </a:xfrm>
          <a:prstGeom prst="rect">
            <a:avLst/>
          </a:prstGeom>
          <a:noFill/>
          <a:ln/>
        </p:spPr>
        <p:txBody>
          <a:bodyPr wrap="square" lIns="0" tIns="0" rIns="0" bIns="0" rtlCol="0" anchor="ctr"/>
          <a:lstStyle/>
          <a:p>
            <a:pPr algn="ctr" indent="0" marL="0">
              <a:buNone/>
            </a:pPr>
            <a:r>
              <a:rPr lang="en-IE" sz="1600" b="1" dirty="0">
                <a:solidFill>
                  <a:schemeClr val="tx1"/>
                </a:solidFill>
              </a:rPr>
              <a:t>Object</a:t>
            </a:r>
            <a:endParaRPr lang="en-IE" sz="1600" dirty="0"/>
          </a:p>
        </p:txBody>
      </p:sp>
      <p:sp>
        <p:nvSpPr>
          <p:cNvPr id="8" name="Box Person"/>
          <p:cNvSpPr/>
          <p:nvPr/>
        </p:nvSpPr>
        <p:spPr>
          <a:xfrm>
            <a:off x="7818120" y="2788920"/>
            <a:ext cx="2057400" cy="566928"/>
          </a:xfrm>
          <a:prstGeom prst="roundRect">
            <a:avLst>
              <a:gd name="adj" fmla="val 12903"/>
            </a:avLst>
          </a:prstGeom>
          <a:solidFill>
            <a:schemeClr val="accent1">
              <a:alpha val="14000"/>
            </a:schemeClr>
          </a:solidFill>
          <a:ln w="19050">
            <a:solidFill>
              <a:schemeClr val="accent1"/>
            </a:solidFill>
            <a:prstDash val="solid"/>
          </a:ln>
        </p:spPr>
      </p:sp>
      <p:sp>
        <p:nvSpPr>
          <p:cNvPr id="9" name="Text 6"/>
          <p:cNvSpPr txBox="1"/>
          <p:nvPr/>
        </p:nvSpPr>
        <p:spPr>
          <a:xfrm>
            <a:off x="7818120" y="2788920"/>
            <a:ext cx="2057400" cy="566928"/>
          </a:xfrm>
          <a:prstGeom prst="rect">
            <a:avLst/>
          </a:prstGeom>
          <a:noFill/>
          <a:ln/>
        </p:spPr>
        <p:txBody>
          <a:bodyPr wrap="square" lIns="0" tIns="0" rIns="0" bIns="0" rtlCol="0" anchor="ctr"/>
          <a:lstStyle/>
          <a:p>
            <a:pPr algn="ctr" indent="0" marL="0">
              <a:buNone/>
            </a:pPr>
            <a:r>
              <a:rPr lang="en-IE" sz="1600" b="1" dirty="0">
                <a:solidFill>
                  <a:schemeClr val="tx1"/>
                </a:solidFill>
              </a:rPr>
              <a:t>Person</a:t>
            </a:r>
            <a:endParaRPr lang="en-IE" sz="1600" dirty="0"/>
          </a:p>
        </p:txBody>
      </p:sp>
      <p:sp>
        <p:nvSpPr>
          <p:cNvPr id="10" name="Box Employee"/>
          <p:cNvSpPr/>
          <p:nvPr/>
        </p:nvSpPr>
        <p:spPr>
          <a:xfrm>
            <a:off x="6400800" y="3886200"/>
            <a:ext cx="2057400" cy="566928"/>
          </a:xfrm>
          <a:prstGeom prst="roundRect">
            <a:avLst>
              <a:gd name="adj" fmla="val 12903"/>
            </a:avLst>
          </a:prstGeom>
          <a:solidFill>
            <a:schemeClr val="accent1">
              <a:alpha val="14000"/>
            </a:schemeClr>
          </a:solidFill>
          <a:ln w="19050">
            <a:solidFill>
              <a:schemeClr val="accent1"/>
            </a:solidFill>
            <a:prstDash val="solid"/>
          </a:ln>
        </p:spPr>
      </p:sp>
      <p:sp>
        <p:nvSpPr>
          <p:cNvPr id="11" name="Text 8"/>
          <p:cNvSpPr txBox="1"/>
          <p:nvPr/>
        </p:nvSpPr>
        <p:spPr>
          <a:xfrm>
            <a:off x="6400800" y="3886200"/>
            <a:ext cx="2057400" cy="566928"/>
          </a:xfrm>
          <a:prstGeom prst="rect">
            <a:avLst/>
          </a:prstGeom>
          <a:noFill/>
          <a:ln/>
        </p:spPr>
        <p:txBody>
          <a:bodyPr wrap="square" lIns="0" tIns="0" rIns="0" bIns="0" rtlCol="0" anchor="ctr"/>
          <a:lstStyle/>
          <a:p>
            <a:pPr algn="ctr" indent="0" marL="0">
              <a:buNone/>
            </a:pPr>
            <a:r>
              <a:rPr lang="en-IE" sz="1600" b="1" dirty="0">
                <a:solidFill>
                  <a:schemeClr val="tx1"/>
                </a:solidFill>
              </a:rPr>
              <a:t>Employee</a:t>
            </a:r>
            <a:endParaRPr lang="en-IE" sz="1600" dirty="0"/>
          </a:p>
        </p:txBody>
      </p:sp>
      <p:sp>
        <p:nvSpPr>
          <p:cNvPr id="12" name="Box Student"/>
          <p:cNvSpPr/>
          <p:nvPr/>
        </p:nvSpPr>
        <p:spPr>
          <a:xfrm>
            <a:off x="9235440" y="3886200"/>
            <a:ext cx="2057400" cy="566928"/>
          </a:xfrm>
          <a:prstGeom prst="roundRect">
            <a:avLst>
              <a:gd name="adj" fmla="val 12903"/>
            </a:avLst>
          </a:prstGeom>
          <a:solidFill>
            <a:schemeClr val="accent2">
              <a:alpha val="14000"/>
            </a:schemeClr>
          </a:solidFill>
          <a:ln w="19050">
            <a:solidFill>
              <a:schemeClr val="accent2"/>
            </a:solidFill>
            <a:prstDash val="solid"/>
          </a:ln>
        </p:spPr>
      </p:sp>
      <p:sp>
        <p:nvSpPr>
          <p:cNvPr id="13" name="Text 10"/>
          <p:cNvSpPr txBox="1"/>
          <p:nvPr/>
        </p:nvSpPr>
        <p:spPr>
          <a:xfrm>
            <a:off x="9235440" y="3886200"/>
            <a:ext cx="2057400" cy="566928"/>
          </a:xfrm>
          <a:prstGeom prst="rect">
            <a:avLst/>
          </a:prstGeom>
          <a:noFill/>
          <a:ln/>
        </p:spPr>
        <p:txBody>
          <a:bodyPr wrap="square" lIns="0" tIns="0" rIns="0" bIns="0" rtlCol="0" anchor="ctr"/>
          <a:lstStyle/>
          <a:p>
            <a:pPr algn="ctr" indent="0" marL="0">
              <a:buNone/>
            </a:pPr>
            <a:r>
              <a:rPr lang="en-IE" sz="1600" b="1" dirty="0">
                <a:solidFill>
                  <a:schemeClr val="tx1"/>
                </a:solidFill>
              </a:rPr>
              <a:t>Student</a:t>
            </a:r>
            <a:endParaRPr lang="en-IE" sz="1600" dirty="0"/>
          </a:p>
        </p:txBody>
      </p:sp>
      <p:sp>
        <p:nvSpPr>
          <p:cNvPr id="14" name="Box Full Time Employee"/>
          <p:cNvSpPr/>
          <p:nvPr/>
        </p:nvSpPr>
        <p:spPr>
          <a:xfrm>
            <a:off x="5532120" y="5029200"/>
            <a:ext cx="2057400" cy="566928"/>
          </a:xfrm>
          <a:prstGeom prst="roundRect">
            <a:avLst>
              <a:gd name="adj" fmla="val 12903"/>
            </a:avLst>
          </a:prstGeom>
          <a:solidFill>
            <a:schemeClr val="accent1"/>
          </a:solidFill>
          <a:ln w="19050">
            <a:solidFill>
              <a:schemeClr val="accent1"/>
            </a:solidFill>
            <a:prstDash val="solid"/>
          </a:ln>
        </p:spPr>
      </p:sp>
      <p:sp>
        <p:nvSpPr>
          <p:cNvPr id="15" name="Text 12"/>
          <p:cNvSpPr txBox="1"/>
          <p:nvPr/>
        </p:nvSpPr>
        <p:spPr>
          <a:xfrm>
            <a:off x="5532120" y="5029200"/>
            <a:ext cx="2057400" cy="566928"/>
          </a:xfrm>
          <a:prstGeom prst="rect">
            <a:avLst/>
          </a:prstGeom>
          <a:noFill/>
          <a:ln/>
        </p:spPr>
        <p:txBody>
          <a:bodyPr wrap="square" lIns="0" tIns="0" rIns="0" bIns="0" rtlCol="0" anchor="ctr"/>
          <a:lstStyle/>
          <a:p>
            <a:pPr algn="ctr" indent="0" marL="0">
              <a:buNone/>
            </a:pPr>
            <a:r>
              <a:rPr lang="en-IE" sz="1350" b="1" dirty="0">
                <a:solidFill>
                  <a:schemeClr val="tx1"/>
                </a:solidFill>
              </a:rPr>
              <a:t>Full Time Employee</a:t>
            </a:r>
            <a:endParaRPr lang="en-IE" sz="1350" dirty="0"/>
          </a:p>
        </p:txBody>
      </p:sp>
      <p:sp>
        <p:nvSpPr>
          <p:cNvPr id="16" name="Box Part Time Employee"/>
          <p:cNvSpPr/>
          <p:nvPr/>
        </p:nvSpPr>
        <p:spPr>
          <a:xfrm>
            <a:off x="7772400" y="5029200"/>
            <a:ext cx="2057400" cy="566928"/>
          </a:xfrm>
          <a:prstGeom prst="roundRect">
            <a:avLst>
              <a:gd name="adj" fmla="val 12903"/>
            </a:avLst>
          </a:prstGeom>
          <a:solidFill>
            <a:schemeClr val="accent2">
              <a:alpha val="14000"/>
            </a:schemeClr>
          </a:solidFill>
          <a:ln w="19050">
            <a:solidFill>
              <a:schemeClr val="accent2"/>
            </a:solidFill>
            <a:prstDash val="solid"/>
          </a:ln>
        </p:spPr>
      </p:sp>
      <p:sp>
        <p:nvSpPr>
          <p:cNvPr id="17" name="Text 14"/>
          <p:cNvSpPr txBox="1"/>
          <p:nvPr/>
        </p:nvSpPr>
        <p:spPr>
          <a:xfrm>
            <a:off x="7772400" y="5029200"/>
            <a:ext cx="2057400" cy="566928"/>
          </a:xfrm>
          <a:prstGeom prst="rect">
            <a:avLst/>
          </a:prstGeom>
          <a:noFill/>
          <a:ln/>
        </p:spPr>
        <p:txBody>
          <a:bodyPr wrap="square" lIns="0" tIns="0" rIns="0" bIns="0" rtlCol="0" anchor="ctr"/>
          <a:lstStyle/>
          <a:p>
            <a:pPr algn="ctr" indent="0" marL="0">
              <a:buNone/>
            </a:pPr>
            <a:r>
              <a:rPr lang="en-IE" sz="1350" b="1" dirty="0">
                <a:solidFill>
                  <a:schemeClr val="tx1"/>
                </a:solidFill>
              </a:rPr>
              <a:t>Part Time Employee</a:t>
            </a:r>
            <a:endParaRPr lang="en-IE" sz="1350" dirty="0"/>
          </a:p>
        </p:txBody>
      </p:sp>
      <p:sp>
        <p:nvSpPr>
          <p:cNvPr id="18" name="Line"/>
          <p:cNvSpPr/>
          <p:nvPr/>
        </p:nvSpPr>
        <p:spPr>
          <a:xfrm flipV="1">
            <a:off x="8846820" y="2487168"/>
            <a:ext cx="0" cy="301752"/>
          </a:xfrm>
          <a:prstGeom prst="line">
            <a:avLst/>
          </a:prstGeom>
          <a:noFill/>
          <a:ln w="25400">
            <a:solidFill>
              <a:schemeClr val="accent1"/>
            </a:solidFill>
            <a:prstDash val="solid"/>
          </a:ln>
        </p:spPr>
      </p:sp>
      <p:sp>
        <p:nvSpPr>
          <p:cNvPr id="19" name="Inheritance arrow head"/>
          <p:cNvSpPr/>
          <p:nvPr/>
        </p:nvSpPr>
        <p:spPr>
          <a:xfrm>
            <a:off x="8737092" y="2304288"/>
            <a:ext cx="219456" cy="182880"/>
          </a:xfrm>
          <a:prstGeom prst="triangle">
            <a:avLst/>
          </a:prstGeom>
          <a:solidFill>
            <a:schemeClr val="bg1"/>
          </a:solidFill>
          <a:ln w="19050">
            <a:solidFill>
              <a:schemeClr val="accent1"/>
            </a:solidFill>
            <a:prstDash val="solid"/>
          </a:ln>
        </p:spPr>
      </p:sp>
      <p:sp>
        <p:nvSpPr>
          <p:cNvPr id="20" name="Line"/>
          <p:cNvSpPr/>
          <p:nvPr/>
        </p:nvSpPr>
        <p:spPr>
          <a:xfrm flipV="1">
            <a:off x="8846820" y="3538728"/>
            <a:ext cx="0" cy="82296"/>
          </a:xfrm>
          <a:prstGeom prst="line">
            <a:avLst/>
          </a:prstGeom>
          <a:noFill/>
          <a:ln w="19050">
            <a:solidFill>
              <a:schemeClr val="tx1"/>
            </a:solidFill>
            <a:prstDash val="solid"/>
          </a:ln>
        </p:spPr>
      </p:sp>
      <p:sp>
        <p:nvSpPr>
          <p:cNvPr id="21" name="Line"/>
          <p:cNvSpPr/>
          <p:nvPr/>
        </p:nvSpPr>
        <p:spPr>
          <a:xfrm>
            <a:off x="7429500" y="3621024"/>
            <a:ext cx="2834640" cy="0"/>
          </a:xfrm>
          <a:prstGeom prst="line">
            <a:avLst/>
          </a:prstGeom>
          <a:noFill/>
          <a:ln w="19050">
            <a:solidFill>
              <a:schemeClr val="tx1"/>
            </a:solidFill>
            <a:prstDash val="solid"/>
          </a:ln>
        </p:spPr>
      </p:sp>
      <p:sp>
        <p:nvSpPr>
          <p:cNvPr id="22" name="Line"/>
          <p:cNvSpPr/>
          <p:nvPr/>
        </p:nvSpPr>
        <p:spPr>
          <a:xfrm flipV="1">
            <a:off x="7429500" y="3621024"/>
            <a:ext cx="0" cy="265176"/>
          </a:xfrm>
          <a:prstGeom prst="line">
            <a:avLst/>
          </a:prstGeom>
          <a:noFill/>
          <a:ln w="19050">
            <a:solidFill>
              <a:schemeClr val="tx1"/>
            </a:solidFill>
            <a:prstDash val="solid"/>
          </a:ln>
        </p:spPr>
      </p:sp>
      <p:sp>
        <p:nvSpPr>
          <p:cNvPr id="23" name="Line"/>
          <p:cNvSpPr/>
          <p:nvPr/>
        </p:nvSpPr>
        <p:spPr>
          <a:xfrm flipV="1">
            <a:off x="10264140" y="3621024"/>
            <a:ext cx="0" cy="265176"/>
          </a:xfrm>
          <a:prstGeom prst="line">
            <a:avLst/>
          </a:prstGeom>
          <a:noFill/>
          <a:ln w="19050">
            <a:solidFill>
              <a:schemeClr val="tx1"/>
            </a:solidFill>
            <a:prstDash val="solid"/>
          </a:ln>
        </p:spPr>
      </p:sp>
      <p:sp>
        <p:nvSpPr>
          <p:cNvPr id="24" name="Inheritance arrow head"/>
          <p:cNvSpPr/>
          <p:nvPr/>
        </p:nvSpPr>
        <p:spPr>
          <a:xfrm>
            <a:off x="8737092" y="3355848"/>
            <a:ext cx="219456" cy="182880"/>
          </a:xfrm>
          <a:prstGeom prst="triangle">
            <a:avLst/>
          </a:prstGeom>
          <a:solidFill>
            <a:schemeClr val="bg1"/>
          </a:solidFill>
          <a:ln w="19050">
            <a:solidFill>
              <a:schemeClr val="tx1"/>
            </a:solidFill>
            <a:prstDash val="solid"/>
          </a:ln>
        </p:spPr>
      </p:sp>
      <p:sp>
        <p:nvSpPr>
          <p:cNvPr id="25" name="Line"/>
          <p:cNvSpPr/>
          <p:nvPr/>
        </p:nvSpPr>
        <p:spPr>
          <a:xfrm flipV="1">
            <a:off x="7429500" y="4636008"/>
            <a:ext cx="0" cy="105156"/>
          </a:xfrm>
          <a:prstGeom prst="line">
            <a:avLst/>
          </a:prstGeom>
          <a:noFill/>
          <a:ln w="19050">
            <a:solidFill>
              <a:schemeClr val="tx1"/>
            </a:solidFill>
            <a:prstDash val="solid"/>
          </a:ln>
        </p:spPr>
      </p:sp>
      <p:sp>
        <p:nvSpPr>
          <p:cNvPr id="26" name="Line"/>
          <p:cNvSpPr/>
          <p:nvPr/>
        </p:nvSpPr>
        <p:spPr>
          <a:xfrm>
            <a:off x="6560820" y="4741164"/>
            <a:ext cx="2240280" cy="0"/>
          </a:xfrm>
          <a:prstGeom prst="line">
            <a:avLst/>
          </a:prstGeom>
          <a:noFill/>
          <a:ln w="19050">
            <a:solidFill>
              <a:schemeClr val="tx1"/>
            </a:solidFill>
            <a:prstDash val="solid"/>
          </a:ln>
        </p:spPr>
      </p:sp>
      <p:sp>
        <p:nvSpPr>
          <p:cNvPr id="27" name="Line"/>
          <p:cNvSpPr/>
          <p:nvPr/>
        </p:nvSpPr>
        <p:spPr>
          <a:xfrm flipV="1">
            <a:off x="6560820" y="4741164"/>
            <a:ext cx="0" cy="288036"/>
          </a:xfrm>
          <a:prstGeom prst="line">
            <a:avLst/>
          </a:prstGeom>
          <a:noFill/>
          <a:ln w="19050">
            <a:solidFill>
              <a:schemeClr val="tx1"/>
            </a:solidFill>
            <a:prstDash val="solid"/>
          </a:ln>
        </p:spPr>
      </p:sp>
      <p:sp>
        <p:nvSpPr>
          <p:cNvPr id="28" name="Line"/>
          <p:cNvSpPr/>
          <p:nvPr/>
        </p:nvSpPr>
        <p:spPr>
          <a:xfrm flipV="1">
            <a:off x="8801100" y="4741164"/>
            <a:ext cx="0" cy="288036"/>
          </a:xfrm>
          <a:prstGeom prst="line">
            <a:avLst/>
          </a:prstGeom>
          <a:noFill/>
          <a:ln w="19050">
            <a:solidFill>
              <a:schemeClr val="tx1"/>
            </a:solidFill>
            <a:prstDash val="solid"/>
          </a:ln>
        </p:spPr>
      </p:sp>
      <p:sp>
        <p:nvSpPr>
          <p:cNvPr id="29" name="Inheritance arrow head"/>
          <p:cNvSpPr/>
          <p:nvPr/>
        </p:nvSpPr>
        <p:spPr>
          <a:xfrm>
            <a:off x="7319772" y="4453128"/>
            <a:ext cx="219456" cy="182880"/>
          </a:xfrm>
          <a:prstGeom prst="triangle">
            <a:avLst/>
          </a:prstGeom>
          <a:solidFill>
            <a:schemeClr val="bg1"/>
          </a:solidFill>
          <a:ln w="19050">
            <a:solidFill>
              <a:schemeClr val="tx1"/>
            </a:solidFill>
            <a:prstDash val="solid"/>
          </a:ln>
        </p:spPr>
      </p:sp>
      <p:sp>
        <p:nvSpPr>
          <p:cNvPr id="30" name="Text 27"/>
          <p:cNvSpPr txBox="1"/>
          <p:nvPr/>
        </p:nvSpPr>
        <p:spPr>
          <a:xfrm>
            <a:off x="5257800" y="5650992"/>
            <a:ext cx="2606040" cy="274320"/>
          </a:xfrm>
          <a:prstGeom prst="rect">
            <a:avLst/>
          </a:prstGeom>
          <a:noFill/>
          <a:ln/>
        </p:spPr>
        <p:txBody>
          <a:bodyPr wrap="square" lIns="0" tIns="0" rIns="0" bIns="0" rtlCol="0" anchor="t"/>
          <a:lstStyle/>
          <a:p>
            <a:pPr algn="ctr" indent="0" marL="0">
              <a:buNone/>
            </a:pPr>
            <a:r>
              <a:rPr lang="en-IE" sz="1200" i="1" dirty="0">
                <a:solidFill>
                  <a:schemeClr val="accent1"/>
                </a:solidFill>
              </a:rPr>
              <a:t>inherits from all three above</a:t>
            </a:r>
            <a:endParaRPr lang="en-IE" sz="12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a:t>
            </a:fld>
            <a:endParaRPr lang="en-I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3</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Hierarchy</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In the hierarchy Object → Person → Employee → FullTimeEmployee, what does FullTimeEmployee inherit from?</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Employee, Person and Object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its direct parent, Employee</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Employee and Person, but not Object</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Every class anywhere in the program</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11</a:t>
            </a:fld>
            <a:endParaRPr lang="en-I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3</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Hierarchy</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In the hierarchy Object → Person → Employee → FullTimeEmployee, what does FullTimeEmployee inherit from?</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Employee, Person and Object</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Only its direct parent, Employee</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Employee and Person, but not Object</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Every class anywhere in the program</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subclass inherits from its parent and from its parent’s superclasses too, all the way up to Object. It has only one direct parent, but many ancestors.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12</a:t>
            </a:fld>
            <a:endParaRPr lang="en-I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OBJECT AND THE CLASS HIERARCHY</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Abstract and concrete classes</a:t>
            </a:r>
            <a:endParaRPr lang="en-IE" sz="3400" dirty="0"/>
          </a:p>
        </p:txBody>
      </p:sp>
      <p:sp>
        <p:nvSpPr>
          <p:cNvPr id="5" name="Abstract"/>
          <p:cNvSpPr/>
          <p:nvPr/>
        </p:nvSpPr>
        <p:spPr>
          <a:xfrm>
            <a:off x="548640" y="1691640"/>
            <a:ext cx="5387188" cy="4434840"/>
          </a:xfrm>
          <a:prstGeom prst="roundRect">
            <a:avLst>
              <a:gd name="adj" fmla="val 2474"/>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1965960"/>
            <a:ext cx="640080" cy="640080"/>
          </a:xfrm>
          <a:prstGeom prst="roundRect">
            <a:avLst>
              <a:gd name="adj" fmla="val 24000"/>
            </a:avLst>
          </a:prstGeom>
          <a:solidFill>
            <a:schemeClr val="accent5">
              <a:alpha val="14000"/>
            </a:schemeClr>
          </a:solidFill>
          <a:ln/>
        </p:spPr>
      </p:sp>
      <p:pic>
        <p:nvPicPr>
          <p:cNvPr id="7" name="blueprint icon" descr="blueprint icon">    </p:cNvPr>
          <p:cNvPicPr>
            <a:picLocks noChangeAspect="1"/>
          </p:cNvPicPr>
          <p:nvPr/>
        </p:nvPicPr>
        <p:blipFill>
          <a:blip r:embed="rId1"/>
          <a:stretch>
            <a:fillRect/>
          </a:stretch>
        </p:blipFill>
        <p:spPr>
          <a:xfrm>
            <a:off x="957377" y="2100377"/>
            <a:ext cx="371246" cy="371246"/>
          </a:xfrm>
          <a:prstGeom prst="rect">
            <a:avLst/>
          </a:prstGeom>
        </p:spPr>
      </p:pic>
      <p:sp>
        <p:nvSpPr>
          <p:cNvPr id="8" name="Text 4"/>
          <p:cNvSpPr txBox="1"/>
          <p:nvPr/>
        </p:nvSpPr>
        <p:spPr>
          <a:xfrm>
            <a:off x="1600200" y="1965960"/>
            <a:ext cx="4107028" cy="640080"/>
          </a:xfrm>
          <a:prstGeom prst="rect">
            <a:avLst/>
          </a:prstGeom>
          <a:noFill/>
          <a:ln/>
        </p:spPr>
        <p:txBody>
          <a:bodyPr wrap="square" lIns="0" tIns="0" rIns="0" bIns="0" rtlCol="0" anchor="ctr"/>
          <a:lstStyle/>
          <a:p>
            <a:pPr indent="0" marL="0">
              <a:buNone/>
            </a:pPr>
            <a:r>
              <a:rPr lang="en-IE" sz="2400" b="1" dirty="0">
                <a:solidFill>
                  <a:schemeClr val="accent5"/>
                </a:solidFill>
              </a:rPr>
              <a:t>Abstract</a:t>
            </a:r>
            <a:endParaRPr lang="en-IE" sz="2400" dirty="0"/>
          </a:p>
        </p:txBody>
      </p:sp>
      <p:sp>
        <p:nvSpPr>
          <p:cNvPr id="9" name="Text 5"/>
          <p:cNvSpPr txBox="1"/>
          <p:nvPr/>
        </p:nvSpPr>
        <p:spPr>
          <a:xfrm>
            <a:off x="868680" y="2788920"/>
            <a:ext cx="4747108" cy="1463040"/>
          </a:xfrm>
          <a:prstGeom prst="rect">
            <a:avLst/>
          </a:prstGeom>
          <a:noFill/>
          <a:ln/>
        </p:spPr>
        <p:txBody>
          <a:bodyPr wrap="square" lIns="0" tIns="0" rIns="0" bIns="0" rtlCol="0" anchor="t"/>
          <a:lstStyle/>
          <a:p>
            <a:pPr marL="228600" indent="-228600">
              <a:spcAft>
                <a:spcPts val="600"/>
              </a:spcAft>
              <a:buSzPct val="100000"/>
              <a:buChar char="•"/>
            </a:pPr>
            <a:r>
              <a:rPr lang="en-IE" sz="1600" dirty="0">
                <a:solidFill>
                  <a:schemeClr val="tx1"/>
                </a:solidFill>
              </a:rPr>
              <a:t>Never used to create objects.</a:t>
            </a:r>
            <a:endParaRPr lang="en-IE" sz="1600" dirty="0"/>
          </a:p>
          <a:p>
            <a:pPr marL="228600" indent="-228600">
              <a:spcAft>
                <a:spcPts val="600"/>
              </a:spcAft>
              <a:buSzPct val="100000"/>
              <a:buChar char="•"/>
            </a:pPr>
            <a:r>
              <a:rPr lang="en-IE" sz="1600" dirty="0">
                <a:solidFill>
                  <a:schemeClr val="tx1"/>
                </a:solidFill>
              </a:rPr>
              <a:t>A blueprint for its subclasses.</a:t>
            </a:r>
            <a:endParaRPr lang="en-IE" sz="1600" dirty="0"/>
          </a:p>
          <a:p>
            <a:pPr marL="228600" indent="-228600">
              <a:buSzPct val="100000"/>
              <a:buChar char="•"/>
            </a:pPr>
            <a:r>
              <a:rPr lang="en-IE" sz="1600" dirty="0">
                <a:solidFill>
                  <a:schemeClr val="tx1"/>
                </a:solidFill>
              </a:rPr>
              <a:t>We have to write the keyword abstract.</a:t>
            </a:r>
            <a:endParaRPr lang="en-IE" sz="1600" dirty="0"/>
          </a:p>
        </p:txBody>
      </p:sp>
      <p:sp>
        <p:nvSpPr>
          <p:cNvPr id="10" name="Abstract code card"/>
          <p:cNvSpPr/>
          <p:nvPr/>
        </p:nvSpPr>
        <p:spPr>
          <a:xfrm>
            <a:off x="822960" y="4389120"/>
            <a:ext cx="4838548" cy="1162050"/>
          </a:xfrm>
          <a:prstGeom prst="roundRect">
            <a:avLst>
              <a:gd name="adj" fmla="val 9443"/>
            </a:avLst>
          </a:prstGeom>
          <a:solidFill>
            <a:schemeClr val="tx1"/>
          </a:solidFill>
          <a:ln/>
          <a:effectLst>
            <a:outerShdw sx="100000" sy="100000" kx="0" ky="0" algn="bl" rotWithShape="0" blurRad="114300" dist="31750" dir="5400000">
              <a:srgbClr val="1D2433">
                <a:alpha val="12000"/>
              </a:srgbClr>
            </a:outerShdw>
          </a:effectLst>
        </p:spPr>
      </p:sp>
      <p:sp>
        <p:nvSpPr>
          <p:cNvPr id="11" name="Abstract code text"/>
          <p:cNvSpPr txBox="1"/>
          <p:nvPr/>
        </p:nvSpPr>
        <p:spPr>
          <a:xfrm>
            <a:off x="1097280" y="4590288"/>
            <a:ext cx="4289908" cy="7597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abstract</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class</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Employee</a:t>
            </a:r>
            <a:r>
              <a:rPr lang="en-IE" sz="1400" dirty="0">
                <a:solidFill>
                  <a:srgbClr val="E6EBF2"/>
                </a:solidFill>
                <a:latin typeface="Consolas" pitchFamily="34" charset="0"/>
                <a:ea typeface="Consolas" pitchFamily="34" charset="-122"/>
                <a:cs typeface="Consolas" pitchFamily="34" charset="-120"/>
              </a:rPr>
              <a:t> {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Employee</a:t>
            </a:r>
            <a:r>
              <a:rPr lang="en-IE" sz="1400" dirty="0">
                <a:solidFill>
                  <a:srgbClr val="E6EBF2"/>
                </a:solidFill>
                <a:latin typeface="Consolas" pitchFamily="34" charset="0"/>
                <a:ea typeface="Consolas" pitchFamily="34" charset="-122"/>
                <a:cs typeface="Consolas" pitchFamily="34" charset="-120"/>
              </a:rPr>
              <a:t>()   </a:t>
            </a:r>
            <a:r>
              <a:rPr lang="en-IE" sz="1400" i="1" dirty="0">
                <a:solidFill>
                  <a:srgbClr val="A3AEC2"/>
                </a:solidFill>
                <a:latin typeface="Consolas" pitchFamily="34" charset="0"/>
                <a:ea typeface="Consolas" pitchFamily="34" charset="-122"/>
                <a:cs typeface="Consolas" pitchFamily="34" charset="-120"/>
              </a:rPr>
              <a:t>// won’t compile</a:t>
            </a:r>
            <a:endParaRPr lang="en-IE" sz="1400" dirty="0"/>
          </a:p>
        </p:txBody>
      </p:sp>
      <p:sp>
        <p:nvSpPr>
          <p:cNvPr id="12" name="Concrete"/>
          <p:cNvSpPr/>
          <p:nvPr/>
        </p:nvSpPr>
        <p:spPr>
          <a:xfrm>
            <a:off x="6255868" y="1691640"/>
            <a:ext cx="5387188" cy="4434840"/>
          </a:xfrm>
          <a:prstGeom prst="roundRect">
            <a:avLst>
              <a:gd name="adj" fmla="val 2474"/>
            </a:avLst>
          </a:prstGeom>
          <a:solidFill>
            <a:schemeClr val="bg1"/>
          </a:solidFill>
          <a:ln/>
          <a:effectLst>
            <a:outerShdw sx="100000" sy="100000" kx="0" ky="0" algn="bl" rotWithShape="0" blurRad="114300" dist="31750" dir="5400000">
              <a:srgbClr val="1D2433">
                <a:alpha val="12000"/>
              </a:srgbClr>
            </a:outerShdw>
          </a:effectLst>
        </p:spPr>
      </p:sp>
      <p:sp>
        <p:nvSpPr>
          <p:cNvPr id="13" name="Icon tile"/>
          <p:cNvSpPr/>
          <p:nvPr/>
        </p:nvSpPr>
        <p:spPr>
          <a:xfrm>
            <a:off x="6530188" y="1965960"/>
            <a:ext cx="640080" cy="640080"/>
          </a:xfrm>
          <a:prstGeom prst="roundRect">
            <a:avLst>
              <a:gd name="adj" fmla="val 24000"/>
            </a:avLst>
          </a:prstGeom>
          <a:solidFill>
            <a:schemeClr val="accent3">
              <a:alpha val="14000"/>
            </a:schemeClr>
          </a:solidFill>
          <a:ln/>
        </p:spPr>
      </p:sp>
      <p:pic>
        <p:nvPicPr>
          <p:cNvPr id="14" name="cube icon" descr="cube icon">    </p:cNvPr>
          <p:cNvPicPr>
            <a:picLocks noChangeAspect="1"/>
          </p:cNvPicPr>
          <p:nvPr/>
        </p:nvPicPr>
        <p:blipFill>
          <a:blip r:embed="rId2"/>
          <a:stretch>
            <a:fillRect/>
          </a:stretch>
        </p:blipFill>
        <p:spPr>
          <a:xfrm>
            <a:off x="6664604" y="2100377"/>
            <a:ext cx="371246" cy="371246"/>
          </a:xfrm>
          <a:prstGeom prst="rect">
            <a:avLst/>
          </a:prstGeom>
        </p:spPr>
      </p:pic>
      <p:sp>
        <p:nvSpPr>
          <p:cNvPr id="15" name="Text 10"/>
          <p:cNvSpPr txBox="1"/>
          <p:nvPr/>
        </p:nvSpPr>
        <p:spPr>
          <a:xfrm>
            <a:off x="7307428" y="1965960"/>
            <a:ext cx="4107028" cy="640080"/>
          </a:xfrm>
          <a:prstGeom prst="rect">
            <a:avLst/>
          </a:prstGeom>
          <a:noFill/>
          <a:ln/>
        </p:spPr>
        <p:txBody>
          <a:bodyPr wrap="square" lIns="0" tIns="0" rIns="0" bIns="0" rtlCol="0" anchor="ctr"/>
          <a:lstStyle/>
          <a:p>
            <a:pPr indent="0" marL="0">
              <a:buNone/>
            </a:pPr>
            <a:r>
              <a:rPr lang="en-IE" sz="2400" b="1" dirty="0">
                <a:solidFill>
                  <a:schemeClr val="accent3"/>
                </a:solidFill>
              </a:rPr>
              <a:t>Concrete</a:t>
            </a:r>
            <a:endParaRPr lang="en-IE" sz="2400" dirty="0"/>
          </a:p>
        </p:txBody>
      </p:sp>
      <p:sp>
        <p:nvSpPr>
          <p:cNvPr id="16" name="Text 11"/>
          <p:cNvSpPr txBox="1"/>
          <p:nvPr/>
        </p:nvSpPr>
        <p:spPr>
          <a:xfrm>
            <a:off x="6575908" y="2788920"/>
            <a:ext cx="4747108" cy="1463040"/>
          </a:xfrm>
          <a:prstGeom prst="rect">
            <a:avLst/>
          </a:prstGeom>
          <a:noFill/>
          <a:ln/>
        </p:spPr>
        <p:txBody>
          <a:bodyPr wrap="square" lIns="0" tIns="0" rIns="0" bIns="0" rtlCol="0" anchor="t"/>
          <a:lstStyle/>
          <a:p>
            <a:pPr marL="228600" indent="-228600">
              <a:spcAft>
                <a:spcPts val="600"/>
              </a:spcAft>
              <a:buSzPct val="100000"/>
              <a:buChar char="•"/>
            </a:pPr>
            <a:r>
              <a:rPr lang="en-IE" sz="1600" dirty="0">
                <a:solidFill>
                  <a:schemeClr val="tx1"/>
                </a:solidFill>
              </a:rPr>
              <a:t>Can be used to create objects.</a:t>
            </a:r>
            <a:endParaRPr lang="en-IE" sz="1600" dirty="0"/>
          </a:p>
          <a:p>
            <a:pPr marL="228600" indent="-228600">
              <a:spcAft>
                <a:spcPts val="600"/>
              </a:spcAft>
              <a:buSzPct val="100000"/>
              <a:buChar char="•"/>
            </a:pPr>
            <a:r>
              <a:rPr lang="en-IE" sz="1600" dirty="0">
                <a:solidFill>
                  <a:schemeClr val="tx1"/>
                </a:solidFill>
              </a:rPr>
              <a:t>Classes are concrete by default.</a:t>
            </a:r>
            <a:endParaRPr lang="en-IE" sz="1600" dirty="0"/>
          </a:p>
          <a:p>
            <a:pPr marL="228600" indent="-228600">
              <a:buSzPct val="100000"/>
              <a:buChar char="•"/>
            </a:pPr>
            <a:r>
              <a:rPr lang="en-IE" sz="1600" dirty="0">
                <a:solidFill>
                  <a:schemeClr val="tx1"/>
                </a:solidFill>
              </a:rPr>
              <a:t>Usually the subclasses, like FullTimeEmployee and PartTimeEmployee.</a:t>
            </a:r>
            <a:endParaRPr lang="en-IE" sz="1600" dirty="0"/>
          </a:p>
        </p:txBody>
      </p:sp>
      <p:sp>
        <p:nvSpPr>
          <p:cNvPr id="17" name="Concrete code card"/>
          <p:cNvSpPr/>
          <p:nvPr/>
        </p:nvSpPr>
        <p:spPr>
          <a:xfrm>
            <a:off x="6530188" y="4389120"/>
            <a:ext cx="4838548" cy="1162050"/>
          </a:xfrm>
          <a:prstGeom prst="roundRect">
            <a:avLst>
              <a:gd name="adj" fmla="val 9443"/>
            </a:avLst>
          </a:prstGeom>
          <a:solidFill>
            <a:schemeClr val="tx1"/>
          </a:solidFill>
          <a:ln/>
          <a:effectLst>
            <a:outerShdw sx="100000" sy="100000" kx="0" ky="0" algn="bl" rotWithShape="0" blurRad="114300" dist="31750" dir="5400000">
              <a:srgbClr val="1D2433">
                <a:alpha val="12000"/>
              </a:srgbClr>
            </a:outerShdw>
          </a:effectLst>
        </p:spPr>
      </p:sp>
      <p:sp>
        <p:nvSpPr>
          <p:cNvPr id="18" name="Concrete code text"/>
          <p:cNvSpPr txBox="1"/>
          <p:nvPr/>
        </p:nvSpPr>
        <p:spPr>
          <a:xfrm>
            <a:off x="6804508" y="4590288"/>
            <a:ext cx="4289908" cy="7597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class</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FullTimeEmployee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extends</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Employee</a:t>
            </a:r>
            <a:r>
              <a:rPr lang="en-IE" sz="1400" dirty="0">
                <a:solidFill>
                  <a:srgbClr val="E6EBF2"/>
                </a:solidFill>
                <a:latin typeface="Consolas" pitchFamily="34" charset="0"/>
                <a:ea typeface="Consolas" pitchFamily="34" charset="-122"/>
                <a:cs typeface="Consolas" pitchFamily="34" charset="-120"/>
              </a:rPr>
              <a:t> { }</a:t>
            </a:r>
            <a:endParaRPr lang="en-IE" sz="1400" dirty="0"/>
          </a:p>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FullTimeEmployee</a:t>
            </a:r>
            <a:r>
              <a:rPr lang="en-IE" sz="1400" dirty="0">
                <a:solidFill>
                  <a:srgbClr val="E6EBF2"/>
                </a:solidFill>
                <a:latin typeface="Consolas" pitchFamily="34" charset="0"/>
                <a:ea typeface="Consolas" pitchFamily="34" charset="-122"/>
                <a:cs typeface="Consolas" pitchFamily="34" charset="-120"/>
              </a:rPr>
              <a:t>()   </a:t>
            </a:r>
            <a:r>
              <a:rPr lang="en-IE" sz="1400" i="1" dirty="0">
                <a:solidFill>
                  <a:srgbClr val="A3AEC2"/>
                </a:solidFill>
                <a:latin typeface="Consolas" pitchFamily="34" charset="0"/>
                <a:ea typeface="Consolas" pitchFamily="34" charset="-122"/>
                <a:cs typeface="Consolas" pitchFamily="34" charset="-120"/>
              </a:rPr>
              <a:t>// fine</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13</a:t>
            </a:fld>
            <a:endParaRPr lang="en-I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4</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Abstract and concrete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statement about abstract and concrete classes is true?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Classes are abstract unless we say otherwise</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Classes are concrete unless we write abstract</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concrete class can never be a superclass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An abstract class is used to create objects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14</a:t>
            </a:fld>
            <a:endParaRPr lang="en-I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4</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Abstract and concrete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statement about abstract and concrete classes is true?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Classes are abstract unless we say otherwise</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Classes are concrete unless we write abstract</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A concrete class can never be a superclass</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An abstract class is used to create objects</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Classes are concrete by default: we can create objects from them. We add </a:t>
            </a:r>
            <a:r>
              <a:rPr lang="en-IE" sz="1800" dirty="0">
                <a:solidFill>
                  <a:schemeClr val="accent2"/>
                </a:solidFill>
                <a:latin typeface="Consolas" pitchFamily="34" charset="0"/>
                <a:ea typeface="Consolas" pitchFamily="34" charset="-122"/>
                <a:cs typeface="Consolas" pitchFamily="34" charset="-120"/>
              </a:rPr>
              <a:t>abstract</a:t>
            </a:r>
            <a:r>
              <a:rPr lang="en-IE" sz="1800" dirty="0">
                <a:solidFill>
                  <a:schemeClr val="tx1"/>
                </a:solidFill>
              </a:rPr>
              <a:t> when a class should never be used to create objects. A superclass can be concrete, though we normally make objects of the subclasses.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15</a:t>
            </a:fld>
            <a:endParaRPr lang="en-I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OBJECT AND THE CLASS HIERARCHY</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Rules for abstract classes</a:t>
            </a:r>
            <a:endParaRPr lang="en-IE" sz="3400" dirty="0"/>
          </a:p>
        </p:txBody>
      </p:sp>
      <p:sp>
        <p:nvSpPr>
          <p:cNvPr id="5" name="Abstract methods need an abstract class"/>
          <p:cNvSpPr/>
          <p:nvPr/>
        </p:nvSpPr>
        <p:spPr>
          <a:xfrm>
            <a:off x="548640" y="169164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2048256"/>
            <a:ext cx="658368" cy="658368"/>
          </a:xfrm>
          <a:prstGeom prst="roundRect">
            <a:avLst>
              <a:gd name="adj" fmla="val 24000"/>
            </a:avLst>
          </a:prstGeom>
          <a:solidFill>
            <a:schemeClr val="accent1">
              <a:alpha val="14000"/>
            </a:schemeClr>
          </a:solidFill>
          <a:ln/>
        </p:spPr>
      </p:sp>
      <p:pic>
        <p:nvPicPr>
          <p:cNvPr id="7" name="seal warning icon" descr="seal warning icon">    </p:cNvPr>
          <p:cNvPicPr>
            <a:picLocks noChangeAspect="1"/>
          </p:cNvPicPr>
          <p:nvPr/>
        </p:nvPicPr>
        <p:blipFill>
          <a:blip r:embed="rId1"/>
          <a:stretch>
            <a:fillRect/>
          </a:stretch>
        </p:blipFill>
        <p:spPr>
          <a:xfrm>
            <a:off x="961217" y="2186513"/>
            <a:ext cx="381853" cy="381853"/>
          </a:xfrm>
          <a:prstGeom prst="rect">
            <a:avLst/>
          </a:prstGeom>
        </p:spPr>
      </p:pic>
      <p:sp>
        <p:nvSpPr>
          <p:cNvPr id="8" name="Text 4"/>
          <p:cNvSpPr txBox="1"/>
          <p:nvPr/>
        </p:nvSpPr>
        <p:spPr>
          <a:xfrm>
            <a:off x="1737360" y="1874520"/>
            <a:ext cx="4480560" cy="384048"/>
          </a:xfrm>
          <a:prstGeom prst="rect">
            <a:avLst/>
          </a:prstGeom>
          <a:noFill/>
          <a:ln/>
        </p:spPr>
        <p:txBody>
          <a:bodyPr wrap="square" lIns="0" tIns="0" rIns="0" bIns="0" rtlCol="0" anchor="t"/>
          <a:lstStyle/>
          <a:p>
            <a:pPr indent="0" marL="0">
              <a:buNone/>
            </a:pPr>
            <a:r>
              <a:rPr lang="en-IE" sz="1900" b="1" dirty="0">
                <a:solidFill>
                  <a:schemeClr val="tx1"/>
                </a:solidFill>
              </a:rPr>
              <a:t>Abstract methods need an abstract class</a:t>
            </a:r>
            <a:endParaRPr lang="en-IE" sz="1900" dirty="0"/>
          </a:p>
        </p:txBody>
      </p:sp>
      <p:sp>
        <p:nvSpPr>
          <p:cNvPr id="9" name="Text 5"/>
          <p:cNvSpPr txBox="1"/>
          <p:nvPr/>
        </p:nvSpPr>
        <p:spPr>
          <a:xfrm>
            <a:off x="1737360" y="2276856"/>
            <a:ext cx="4480560" cy="658368"/>
          </a:xfrm>
          <a:prstGeom prst="rect">
            <a:avLst/>
          </a:prstGeom>
          <a:noFill/>
          <a:ln/>
        </p:spPr>
        <p:txBody>
          <a:bodyPr wrap="square" lIns="0" tIns="0" rIns="0" bIns="0" rtlCol="0" anchor="t"/>
          <a:lstStyle/>
          <a:p>
            <a:pPr indent="0" marL="0">
              <a:buNone/>
            </a:pPr>
            <a:r>
              <a:rPr lang="en-IE" sz="1500" dirty="0">
                <a:solidFill>
                  <a:schemeClr val="tx2"/>
                </a:solidFill>
              </a:rPr>
              <a:t>If a class has even one abstract method, it must be an abstract class.</a:t>
            </a:r>
            <a:endParaRPr lang="en-IE" sz="1500" dirty="0"/>
          </a:p>
        </p:txBody>
      </p:sp>
      <p:sp>
        <p:nvSpPr>
          <p:cNvPr id="10" name="Abstract methods need an abstract class code card"/>
          <p:cNvSpPr/>
          <p:nvPr/>
        </p:nvSpPr>
        <p:spPr>
          <a:xfrm>
            <a:off x="6537960" y="1821180"/>
            <a:ext cx="4937760" cy="1112520"/>
          </a:xfrm>
          <a:prstGeom prst="roundRect">
            <a:avLst>
              <a:gd name="adj" fmla="val 9863"/>
            </a:avLst>
          </a:prstGeom>
          <a:solidFill>
            <a:schemeClr val="tx1"/>
          </a:solidFill>
          <a:ln/>
          <a:effectLst>
            <a:outerShdw sx="100000" sy="100000" kx="0" ky="0" algn="bl" rotWithShape="0" blurRad="114300" dist="31750" dir="5400000">
              <a:srgbClr val="1D2433">
                <a:alpha val="12000"/>
              </a:srgbClr>
            </a:outerShdw>
          </a:effectLst>
        </p:spPr>
      </p:sp>
      <p:sp>
        <p:nvSpPr>
          <p:cNvPr id="11" name="Abstract methods need an abstract class code text"/>
          <p:cNvSpPr txBox="1"/>
          <p:nvPr/>
        </p:nvSpPr>
        <p:spPr>
          <a:xfrm>
            <a:off x="6812280" y="2022348"/>
            <a:ext cx="4389120" cy="71018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abstract</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class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Employee</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abstract</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calcPay</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12" name="Mix both kinds of method"/>
          <p:cNvSpPr/>
          <p:nvPr/>
        </p:nvSpPr>
        <p:spPr>
          <a:xfrm>
            <a:off x="548640" y="3191256"/>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3" name="Icon tile"/>
          <p:cNvSpPr/>
          <p:nvPr/>
        </p:nvSpPr>
        <p:spPr>
          <a:xfrm>
            <a:off x="822960" y="3547872"/>
            <a:ext cx="658368" cy="658368"/>
          </a:xfrm>
          <a:prstGeom prst="roundRect">
            <a:avLst>
              <a:gd name="adj" fmla="val 24000"/>
            </a:avLst>
          </a:prstGeom>
          <a:solidFill>
            <a:schemeClr val="accent5">
              <a:alpha val="14000"/>
            </a:schemeClr>
          </a:solidFill>
          <a:ln/>
        </p:spPr>
      </p:sp>
      <p:pic>
        <p:nvPicPr>
          <p:cNvPr id="14" name="shapes icon" descr="shapes icon">    </p:cNvPr>
          <p:cNvPicPr>
            <a:picLocks noChangeAspect="1"/>
          </p:cNvPicPr>
          <p:nvPr/>
        </p:nvPicPr>
        <p:blipFill>
          <a:blip r:embed="rId2"/>
          <a:stretch>
            <a:fillRect/>
          </a:stretch>
        </p:blipFill>
        <p:spPr>
          <a:xfrm>
            <a:off x="961217" y="3686129"/>
            <a:ext cx="381853" cy="381853"/>
          </a:xfrm>
          <a:prstGeom prst="rect">
            <a:avLst/>
          </a:prstGeom>
        </p:spPr>
      </p:pic>
      <p:sp>
        <p:nvSpPr>
          <p:cNvPr id="15" name="Text 10"/>
          <p:cNvSpPr txBox="1"/>
          <p:nvPr/>
        </p:nvSpPr>
        <p:spPr>
          <a:xfrm>
            <a:off x="1737360" y="3374136"/>
            <a:ext cx="4480560" cy="384048"/>
          </a:xfrm>
          <a:prstGeom prst="rect">
            <a:avLst/>
          </a:prstGeom>
          <a:noFill/>
          <a:ln/>
        </p:spPr>
        <p:txBody>
          <a:bodyPr wrap="square" lIns="0" tIns="0" rIns="0" bIns="0" rtlCol="0" anchor="t"/>
          <a:lstStyle/>
          <a:p>
            <a:pPr indent="0" marL="0">
              <a:buNone/>
            </a:pPr>
            <a:r>
              <a:rPr lang="en-IE" sz="1900" b="1" dirty="0">
                <a:solidFill>
                  <a:schemeClr val="tx1"/>
                </a:solidFill>
              </a:rPr>
              <a:t>Mix both kinds of method</a:t>
            </a:r>
            <a:endParaRPr lang="en-IE" sz="1900" dirty="0"/>
          </a:p>
        </p:txBody>
      </p:sp>
      <p:sp>
        <p:nvSpPr>
          <p:cNvPr id="16" name="Text 11"/>
          <p:cNvSpPr txBox="1"/>
          <p:nvPr/>
        </p:nvSpPr>
        <p:spPr>
          <a:xfrm>
            <a:off x="1737360" y="3776472"/>
            <a:ext cx="4480560" cy="658368"/>
          </a:xfrm>
          <a:prstGeom prst="rect">
            <a:avLst/>
          </a:prstGeom>
          <a:noFill/>
          <a:ln/>
        </p:spPr>
        <p:txBody>
          <a:bodyPr wrap="square" lIns="0" tIns="0" rIns="0" bIns="0" rtlCol="0" anchor="t"/>
          <a:lstStyle/>
          <a:p>
            <a:pPr indent="0" marL="0">
              <a:buNone/>
            </a:pPr>
            <a:r>
              <a:rPr lang="en-IE" sz="1500" dirty="0">
                <a:solidFill>
                  <a:schemeClr val="tx2"/>
                </a:solidFill>
              </a:rPr>
              <a:t>An abstract class can have abstract and non-abstract (normal) methods.</a:t>
            </a:r>
            <a:endParaRPr lang="en-IE" sz="1500" dirty="0"/>
          </a:p>
        </p:txBody>
      </p:sp>
      <p:sp>
        <p:nvSpPr>
          <p:cNvPr id="17" name="Mix both kinds of method code card"/>
          <p:cNvSpPr/>
          <p:nvPr/>
        </p:nvSpPr>
        <p:spPr>
          <a:xfrm>
            <a:off x="6537960" y="3430016"/>
            <a:ext cx="4937760" cy="894080"/>
          </a:xfrm>
          <a:prstGeom prst="roundRect">
            <a:avLst>
              <a:gd name="adj" fmla="val 12273"/>
            </a:avLst>
          </a:prstGeom>
          <a:solidFill>
            <a:schemeClr val="tx1"/>
          </a:solidFill>
          <a:ln/>
          <a:effectLst>
            <a:outerShdw sx="100000" sy="100000" kx="0" ky="0" algn="bl" rotWithShape="0" blurRad="114300" dist="31750" dir="5400000">
              <a:srgbClr val="1D2433">
                <a:alpha val="12000"/>
              </a:srgbClr>
            </a:outerShdw>
          </a:effectLst>
        </p:spPr>
      </p:sp>
      <p:sp>
        <p:nvSpPr>
          <p:cNvPr id="18" name="Mix both kinds of method code text"/>
          <p:cNvSpPr txBox="1"/>
          <p:nvPr/>
        </p:nvSpPr>
        <p:spPr>
          <a:xfrm>
            <a:off x="6812280" y="3631184"/>
            <a:ext cx="4389120" cy="49174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abstract</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calcPay</a:t>
            </a:r>
            <a:r>
              <a:rPr lang="en-IE" sz="1300" dirty="0">
                <a:solidFill>
                  <a:srgbClr val="E6EBF2"/>
                </a:solidFill>
                <a:latin typeface="Consolas" pitchFamily="34" charset="0"/>
                <a:ea typeface="Consolas" pitchFamily="34" charset="-122"/>
                <a:cs typeface="Consolas" pitchFamily="34" charset="-120"/>
              </a:rPr>
              <a:t>();      </a:t>
            </a:r>
            <a:r>
              <a:rPr lang="en-IE" sz="1300" i="1" dirty="0">
                <a:solidFill>
                  <a:srgbClr val="A3AEC2"/>
                </a:solidFill>
                <a:latin typeface="Consolas" pitchFamily="34" charset="0"/>
                <a:ea typeface="Consolas" pitchFamily="34" charset="-122"/>
                <a:cs typeface="Consolas" pitchFamily="34" charset="-120"/>
              </a:rPr>
              <a:t>// no body</a:t>
            </a:r>
            <a:endParaRPr lang="en-IE" sz="1300" dirty="0"/>
          </a:p>
          <a:p>
            <a:pPr indent="0" marL="0">
              <a:lnSpc>
                <a:spcPts val="1720"/>
              </a:lnSpc>
              <a:buNone/>
            </a:pPr>
            <a:r>
              <a:rPr lang="en-IE" sz="1300" dirty="0">
                <a:solidFill>
                  <a:srgbClr val="6CC4E8"/>
                </a:solidFill>
                <a:latin typeface="Consolas" pitchFamily="34" charset="0"/>
                <a:ea typeface="Consolas" pitchFamily="34" charset="-122"/>
                <a:cs typeface="Consolas" pitchFamily="34" charset="-120"/>
              </a:rPr>
              <a:t>String</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getName</a:t>
            </a:r>
            <a:r>
              <a:rPr lang="en-IE" sz="1300" dirty="0">
                <a:solidFill>
                  <a:srgbClr val="E6EBF2"/>
                </a:solidFill>
                <a:latin typeface="Consolas" pitchFamily="34" charset="0"/>
                <a:ea typeface="Consolas" pitchFamily="34" charset="-122"/>
                <a:cs typeface="Consolas" pitchFamily="34" charset="-120"/>
              </a:rPr>
              <a:t>() { </a:t>
            </a:r>
            <a:r>
              <a:rPr lang="en-IE" sz="1300" dirty="0">
                <a:solidFill>
                  <a:srgbClr val="FF9F5A"/>
                </a:solidFill>
                <a:latin typeface="Consolas" pitchFamily="34" charset="0"/>
                <a:ea typeface="Consolas" pitchFamily="34" charset="-122"/>
                <a:cs typeface="Consolas" pitchFamily="34" charset="-120"/>
              </a:rPr>
              <a:t>return</a:t>
            </a:r>
            <a:r>
              <a:rPr lang="en-IE" sz="1300" dirty="0">
                <a:solidFill>
                  <a:srgbClr val="E6EBF2"/>
                </a:solidFill>
                <a:latin typeface="Consolas" pitchFamily="34" charset="0"/>
                <a:ea typeface="Consolas" pitchFamily="34" charset="-122"/>
                <a:cs typeface="Consolas" pitchFamily="34" charset="-120"/>
              </a:rPr>
              <a:t> name; } </a:t>
            </a:r>
            <a:r>
              <a:rPr lang="en-IE" sz="1300" i="1" dirty="0">
                <a:solidFill>
                  <a:srgbClr val="A3AEC2"/>
                </a:solidFill>
                <a:latin typeface="Consolas" pitchFamily="34" charset="0"/>
                <a:ea typeface="Consolas" pitchFamily="34" charset="-122"/>
                <a:cs typeface="Consolas" pitchFamily="34" charset="-120"/>
              </a:rPr>
              <a:t>// body</a:t>
            </a:r>
            <a:endParaRPr lang="en-IE" sz="1300" dirty="0"/>
          </a:p>
        </p:txBody>
      </p:sp>
      <p:sp>
        <p:nvSpPr>
          <p:cNvPr id="19" name="Attributes are fine in both"/>
          <p:cNvSpPr/>
          <p:nvPr/>
        </p:nvSpPr>
        <p:spPr>
          <a:xfrm>
            <a:off x="548640" y="4690872"/>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20" name="Icon tile"/>
          <p:cNvSpPr/>
          <p:nvPr/>
        </p:nvSpPr>
        <p:spPr>
          <a:xfrm>
            <a:off x="822960" y="5047488"/>
            <a:ext cx="658368" cy="658368"/>
          </a:xfrm>
          <a:prstGeom prst="roundRect">
            <a:avLst>
              <a:gd name="adj" fmla="val 24000"/>
            </a:avLst>
          </a:prstGeom>
          <a:solidFill>
            <a:schemeClr val="accent3">
              <a:alpha val="14000"/>
            </a:schemeClr>
          </a:solidFill>
          <a:ln/>
        </p:spPr>
      </p:sp>
      <p:pic>
        <p:nvPicPr>
          <p:cNvPr id="21" name="list bullets icon" descr="list bullets icon">    </p:cNvPr>
          <p:cNvPicPr>
            <a:picLocks noChangeAspect="1"/>
          </p:cNvPicPr>
          <p:nvPr/>
        </p:nvPicPr>
        <p:blipFill>
          <a:blip r:embed="rId3"/>
          <a:stretch>
            <a:fillRect/>
          </a:stretch>
        </p:blipFill>
        <p:spPr>
          <a:xfrm>
            <a:off x="961217" y="5185745"/>
            <a:ext cx="381853" cy="381853"/>
          </a:xfrm>
          <a:prstGeom prst="rect">
            <a:avLst/>
          </a:prstGeom>
        </p:spPr>
      </p:pic>
      <p:sp>
        <p:nvSpPr>
          <p:cNvPr id="22" name="Text 16"/>
          <p:cNvSpPr txBox="1"/>
          <p:nvPr/>
        </p:nvSpPr>
        <p:spPr>
          <a:xfrm>
            <a:off x="1737360" y="4873752"/>
            <a:ext cx="4480560" cy="384048"/>
          </a:xfrm>
          <a:prstGeom prst="rect">
            <a:avLst/>
          </a:prstGeom>
          <a:noFill/>
          <a:ln/>
        </p:spPr>
        <p:txBody>
          <a:bodyPr wrap="square" lIns="0" tIns="0" rIns="0" bIns="0" rtlCol="0" anchor="t"/>
          <a:lstStyle/>
          <a:p>
            <a:pPr indent="0" marL="0">
              <a:buNone/>
            </a:pPr>
            <a:r>
              <a:rPr lang="en-IE" sz="1900" b="1" dirty="0">
                <a:solidFill>
                  <a:schemeClr val="tx1"/>
                </a:solidFill>
              </a:rPr>
              <a:t>Attributes are fine in both</a:t>
            </a:r>
            <a:endParaRPr lang="en-IE" sz="1900" dirty="0"/>
          </a:p>
        </p:txBody>
      </p:sp>
      <p:sp>
        <p:nvSpPr>
          <p:cNvPr id="23" name="Text 17"/>
          <p:cNvSpPr txBox="1"/>
          <p:nvPr/>
        </p:nvSpPr>
        <p:spPr>
          <a:xfrm>
            <a:off x="1737360" y="5276088"/>
            <a:ext cx="4480560" cy="658368"/>
          </a:xfrm>
          <a:prstGeom prst="rect">
            <a:avLst/>
          </a:prstGeom>
          <a:noFill/>
          <a:ln/>
        </p:spPr>
        <p:txBody>
          <a:bodyPr wrap="square" lIns="0" tIns="0" rIns="0" bIns="0" rtlCol="0" anchor="t"/>
          <a:lstStyle/>
          <a:p>
            <a:pPr indent="0" marL="0">
              <a:buNone/>
            </a:pPr>
            <a:r>
              <a:rPr lang="en-IE" sz="1500" dirty="0">
                <a:solidFill>
                  <a:schemeClr val="tx2"/>
                </a:solidFill>
              </a:rPr>
              <a:t>We can declare attributes in concrete and abstract classes.</a:t>
            </a:r>
            <a:endParaRPr lang="en-IE" sz="1500" dirty="0"/>
          </a:p>
        </p:txBody>
      </p:sp>
      <p:sp>
        <p:nvSpPr>
          <p:cNvPr id="24" name="Attributes are fine in both code card"/>
          <p:cNvSpPr/>
          <p:nvPr/>
        </p:nvSpPr>
        <p:spPr>
          <a:xfrm>
            <a:off x="6537960" y="4820412"/>
            <a:ext cx="4937760" cy="1112520"/>
          </a:xfrm>
          <a:prstGeom prst="roundRect">
            <a:avLst>
              <a:gd name="adj" fmla="val 9863"/>
            </a:avLst>
          </a:prstGeom>
          <a:solidFill>
            <a:schemeClr val="tx1"/>
          </a:solidFill>
          <a:ln/>
          <a:effectLst>
            <a:outerShdw sx="100000" sy="100000" kx="0" ky="0" algn="bl" rotWithShape="0" blurRad="114300" dist="31750" dir="5400000">
              <a:srgbClr val="1D2433">
                <a:alpha val="12000"/>
              </a:srgbClr>
            </a:outerShdw>
          </a:effectLst>
        </p:spPr>
      </p:sp>
      <p:sp>
        <p:nvSpPr>
          <p:cNvPr id="25" name="Attributes are fine in both code text"/>
          <p:cNvSpPr txBox="1"/>
          <p:nvPr/>
        </p:nvSpPr>
        <p:spPr>
          <a:xfrm>
            <a:off x="6812280" y="5021580"/>
            <a:ext cx="4389120" cy="71018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abstract</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class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Employee</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private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String</a:t>
            </a:r>
            <a:r>
              <a:rPr lang="en-IE" sz="1300" dirty="0">
                <a:solidFill>
                  <a:srgbClr val="E6EBF2"/>
                </a:solidFill>
                <a:latin typeface="Consolas" pitchFamily="34" charset="0"/>
                <a:ea typeface="Consolas" pitchFamily="34" charset="-122"/>
                <a:cs typeface="Consolas" pitchFamily="34" charset="-120"/>
              </a:rPr>
              <a:t> name;</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16</a:t>
            </a:fld>
            <a:endParaRPr lang="en-I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5</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Abstract and concrete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A class has one abstract method. What must be true?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All of its other methods must be abstract too</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can’t declare any attributes at all</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 class must be declared final</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 class must be declared abstract</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17</a:t>
            </a:fld>
            <a:endParaRPr lang="en-I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5</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Abstract and concrete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A class has one abstract method. What must be true?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All of its other methods must be abstract too</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can’t declare any attributes at all</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 class must be declared final</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The class must be declared abstract</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If a class has an abstract method, the class must be abstract. It can still have normal (concrete) methods and attributes as well.</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18</a:t>
            </a:fld>
            <a:endParaRPr lang="en-IE"/>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02</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000" b="1" dirty="0">
                <a:solidFill>
                  <a:schemeClr val="bg1"/>
                </a:solidFill>
              </a:rPr>
              <a:t>Polymorphism and overloading</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One name, many forms, starting with overloading</a:t>
            </a:r>
            <a:endParaRPr lang="en-IE" sz="2000" dirty="0"/>
          </a:p>
        </p:txBody>
      </p:sp>
      <p:sp>
        <p:nvSpPr>
          <p:cNvPr id="5" name="Topic chip"/>
          <p:cNvSpPr/>
          <p:nvPr/>
        </p:nvSpPr>
        <p:spPr>
          <a:xfrm>
            <a:off x="822960" y="4846320"/>
            <a:ext cx="151180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Polymorphism</a:t>
            </a:r>
            <a:endParaRPr lang="en-IE" sz="1400" dirty="0"/>
          </a:p>
        </p:txBody>
      </p:sp>
      <p:sp>
        <p:nvSpPr>
          <p:cNvPr id="6" name="Topic chip"/>
          <p:cNvSpPr/>
          <p:nvPr/>
        </p:nvSpPr>
        <p:spPr>
          <a:xfrm>
            <a:off x="2481072" y="4846320"/>
            <a:ext cx="141935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Overloading</a:t>
            </a:r>
            <a:endParaRPr lang="en-IE" sz="1400" dirty="0"/>
          </a:p>
        </p:txBody>
      </p:sp>
      <p:sp>
        <p:nvSpPr>
          <p:cNvPr id="7" name="Topic chip"/>
          <p:cNvSpPr/>
          <p:nvPr/>
        </p:nvSpPr>
        <p:spPr>
          <a:xfrm>
            <a:off x="4046728" y="4846320"/>
            <a:ext cx="169672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Static binding</a:t>
            </a:r>
            <a:endParaRPr lang="en-IE" sz="1400" dirty="0"/>
          </a:p>
        </p:txBody>
      </p:sp>
      <p:pic>
        <p:nvPicPr>
          <p:cNvPr id="8"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POLYMORPHISM AND OVERLOADING</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Polymorphism means many forms</a:t>
            </a:r>
            <a:endParaRPr lang="en-IE" sz="3400" dirty="0"/>
          </a:p>
        </p:txBody>
      </p:sp>
      <p:sp>
        <p:nvSpPr>
          <p:cNvPr id="5" name="Text 2"/>
          <p:cNvSpPr txBox="1"/>
          <p:nvPr/>
        </p:nvSpPr>
        <p:spPr>
          <a:xfrm>
            <a:off x="548640" y="1783080"/>
            <a:ext cx="4937760" cy="2194560"/>
          </a:xfrm>
          <a:prstGeom prst="rect">
            <a:avLst/>
          </a:prstGeom>
          <a:noFill/>
          <a:ln/>
        </p:spPr>
        <p:txBody>
          <a:bodyPr wrap="square" lIns="0" tIns="0" rIns="0" bIns="0" rtlCol="0" anchor="t"/>
          <a:lstStyle/>
          <a:p>
            <a:pPr marL="228600" indent="-228600">
              <a:spcAft>
                <a:spcPts val="1400"/>
              </a:spcAft>
              <a:buSzPct val="100000"/>
              <a:buChar char="•"/>
            </a:pPr>
            <a:r>
              <a:rPr lang="en-IE" sz="1900" dirty="0">
                <a:solidFill>
                  <a:schemeClr val="tx1"/>
                </a:solidFill>
              </a:rPr>
              <a:t>Polymorphism allows an object to take different forms.</a:t>
            </a:r>
            <a:endParaRPr lang="en-IE" sz="1900" dirty="0"/>
          </a:p>
          <a:p>
            <a:pPr marL="228600" indent="-228600">
              <a:buSzPct val="100000"/>
              <a:buChar char="•"/>
            </a:pPr>
            <a:r>
              <a:rPr lang="en-IE" sz="1900" dirty="0">
                <a:solidFill>
                  <a:schemeClr val="tx1"/>
                </a:solidFill>
              </a:rPr>
              <a:t>In Java, a method with the same name can behave differently, depending on the arguments we pass (overloading) or the type of object it is called on (overriding).</a:t>
            </a:r>
            <a:endParaRPr lang="en-IE" sz="1900" dirty="0"/>
          </a:p>
        </p:txBody>
      </p:sp>
      <p:sp>
        <p:nvSpPr>
          <p:cNvPr id="6" name="Overloading"/>
          <p:cNvSpPr/>
          <p:nvPr/>
        </p:nvSpPr>
        <p:spPr>
          <a:xfrm>
            <a:off x="548640" y="4114800"/>
            <a:ext cx="4937760" cy="841248"/>
          </a:xfrm>
          <a:prstGeom prst="roundRect">
            <a:avLst>
              <a:gd name="adj" fmla="val 13043"/>
            </a:avLst>
          </a:prstGeom>
          <a:solidFill>
            <a:schemeClr val="bg1"/>
          </a:solidFill>
          <a:ln/>
          <a:effectLst>
            <a:outerShdw sx="100000" sy="100000" kx="0" ky="0" algn="bl" rotWithShape="0" blurRad="114300" dist="31750" dir="5400000">
              <a:srgbClr val="1D2433">
                <a:alpha val="12000"/>
              </a:srgbClr>
            </a:outerShdw>
          </a:effectLst>
        </p:spPr>
      </p:sp>
      <p:sp>
        <p:nvSpPr>
          <p:cNvPr id="7" name="Icon tile"/>
          <p:cNvSpPr/>
          <p:nvPr/>
        </p:nvSpPr>
        <p:spPr>
          <a:xfrm>
            <a:off x="731520" y="4279392"/>
            <a:ext cx="512064" cy="512064"/>
          </a:xfrm>
          <a:prstGeom prst="roundRect">
            <a:avLst>
              <a:gd name="adj" fmla="val 24000"/>
            </a:avLst>
          </a:prstGeom>
          <a:solidFill>
            <a:schemeClr val="accent2">
              <a:alpha val="14000"/>
            </a:schemeClr>
          </a:solidFill>
          <a:ln/>
        </p:spPr>
      </p:sp>
      <p:pic>
        <p:nvPicPr>
          <p:cNvPr id="8" name="wrench icon" descr="wrench icon">    </p:cNvPr>
          <p:cNvPicPr>
            <a:picLocks noChangeAspect="1"/>
          </p:cNvPicPr>
          <p:nvPr/>
        </p:nvPicPr>
        <p:blipFill>
          <a:blip r:embed="rId1"/>
          <a:stretch>
            <a:fillRect/>
          </a:stretch>
        </p:blipFill>
        <p:spPr>
          <a:xfrm>
            <a:off x="839053" y="4386925"/>
            <a:ext cx="296997" cy="296997"/>
          </a:xfrm>
          <a:prstGeom prst="rect">
            <a:avLst/>
          </a:prstGeom>
        </p:spPr>
      </p:pic>
      <p:sp>
        <p:nvSpPr>
          <p:cNvPr id="9" name="Text 5"/>
          <p:cNvSpPr txBox="1"/>
          <p:nvPr/>
        </p:nvSpPr>
        <p:spPr>
          <a:xfrm>
            <a:off x="1417320" y="4187952"/>
            <a:ext cx="3931920" cy="347472"/>
          </a:xfrm>
          <a:prstGeom prst="rect">
            <a:avLst/>
          </a:prstGeom>
          <a:noFill/>
          <a:ln/>
        </p:spPr>
        <p:txBody>
          <a:bodyPr wrap="square" lIns="0" tIns="0" rIns="0" bIns="0" rtlCol="0" anchor="t"/>
          <a:lstStyle/>
          <a:p>
            <a:pPr indent="0" marL="0">
              <a:buNone/>
            </a:pPr>
            <a:r>
              <a:rPr lang="en-IE" sz="1700" b="1" dirty="0">
                <a:solidFill>
                  <a:schemeClr val="tx1"/>
                </a:solidFill>
              </a:rPr>
              <a:t>Overloading</a:t>
            </a:r>
            <a:endParaRPr lang="en-IE" sz="1700" dirty="0"/>
          </a:p>
        </p:txBody>
      </p:sp>
      <p:sp>
        <p:nvSpPr>
          <p:cNvPr id="10" name="Text 6"/>
          <p:cNvSpPr txBox="1"/>
          <p:nvPr/>
        </p:nvSpPr>
        <p:spPr>
          <a:xfrm>
            <a:off x="1417320" y="4535424"/>
            <a:ext cx="3931920" cy="329184"/>
          </a:xfrm>
          <a:prstGeom prst="rect">
            <a:avLst/>
          </a:prstGeom>
          <a:noFill/>
          <a:ln/>
        </p:spPr>
        <p:txBody>
          <a:bodyPr wrap="square" lIns="0" tIns="0" rIns="0" bIns="0" rtlCol="0" anchor="t"/>
          <a:lstStyle/>
          <a:p>
            <a:pPr indent="0" marL="0">
              <a:buNone/>
            </a:pPr>
            <a:r>
              <a:rPr lang="en-IE" sz="1350" dirty="0">
                <a:solidFill>
                  <a:schemeClr val="tx2"/>
                </a:solidFill>
              </a:rPr>
              <a:t>same name, different parameters · compile time</a:t>
            </a:r>
            <a:endParaRPr lang="en-IE" sz="1350" dirty="0"/>
          </a:p>
        </p:txBody>
      </p:sp>
      <p:sp>
        <p:nvSpPr>
          <p:cNvPr id="11" name="Overriding"/>
          <p:cNvSpPr/>
          <p:nvPr/>
        </p:nvSpPr>
        <p:spPr>
          <a:xfrm>
            <a:off x="548640" y="5093208"/>
            <a:ext cx="4937760" cy="841248"/>
          </a:xfrm>
          <a:prstGeom prst="roundRect">
            <a:avLst>
              <a:gd name="adj" fmla="val 13043"/>
            </a:avLst>
          </a:prstGeom>
          <a:solidFill>
            <a:schemeClr val="bg1"/>
          </a:solidFill>
          <a:ln/>
          <a:effectLst>
            <a:outerShdw sx="100000" sy="100000" kx="0" ky="0" algn="bl" rotWithShape="0" blurRad="114300" dist="31750" dir="5400000">
              <a:srgbClr val="1D2433">
                <a:alpha val="12000"/>
              </a:srgbClr>
            </a:outerShdw>
          </a:effectLst>
        </p:spPr>
      </p:sp>
      <p:sp>
        <p:nvSpPr>
          <p:cNvPr id="12" name="Icon tile"/>
          <p:cNvSpPr/>
          <p:nvPr/>
        </p:nvSpPr>
        <p:spPr>
          <a:xfrm>
            <a:off x="731520" y="5257800"/>
            <a:ext cx="512064" cy="512064"/>
          </a:xfrm>
          <a:prstGeom prst="roundRect">
            <a:avLst>
              <a:gd name="adj" fmla="val 24000"/>
            </a:avLst>
          </a:prstGeom>
          <a:solidFill>
            <a:schemeClr val="accent1">
              <a:alpha val="14000"/>
            </a:schemeClr>
          </a:solidFill>
          <a:ln/>
        </p:spPr>
      </p:sp>
      <p:pic>
        <p:nvPicPr>
          <p:cNvPr id="13" name="arrows clockwise icon" descr="arrows clockwise icon">    </p:cNvPr>
          <p:cNvPicPr>
            <a:picLocks noChangeAspect="1"/>
          </p:cNvPicPr>
          <p:nvPr/>
        </p:nvPicPr>
        <p:blipFill>
          <a:blip r:embed="rId2"/>
          <a:stretch>
            <a:fillRect/>
          </a:stretch>
        </p:blipFill>
        <p:spPr>
          <a:xfrm>
            <a:off x="839053" y="5365333"/>
            <a:ext cx="296997" cy="296997"/>
          </a:xfrm>
          <a:prstGeom prst="rect">
            <a:avLst/>
          </a:prstGeom>
        </p:spPr>
      </p:pic>
      <p:sp>
        <p:nvSpPr>
          <p:cNvPr id="14" name="Text 9"/>
          <p:cNvSpPr txBox="1"/>
          <p:nvPr/>
        </p:nvSpPr>
        <p:spPr>
          <a:xfrm>
            <a:off x="1417320" y="5166360"/>
            <a:ext cx="3931920" cy="347472"/>
          </a:xfrm>
          <a:prstGeom prst="rect">
            <a:avLst/>
          </a:prstGeom>
          <a:noFill/>
          <a:ln/>
        </p:spPr>
        <p:txBody>
          <a:bodyPr wrap="square" lIns="0" tIns="0" rIns="0" bIns="0" rtlCol="0" anchor="t"/>
          <a:lstStyle/>
          <a:p>
            <a:pPr indent="0" marL="0">
              <a:buNone/>
            </a:pPr>
            <a:r>
              <a:rPr lang="en-IE" sz="1700" b="1" dirty="0">
                <a:solidFill>
                  <a:schemeClr val="tx1"/>
                </a:solidFill>
              </a:rPr>
              <a:t>Overriding</a:t>
            </a:r>
            <a:endParaRPr lang="en-IE" sz="1700" dirty="0"/>
          </a:p>
        </p:txBody>
      </p:sp>
      <p:sp>
        <p:nvSpPr>
          <p:cNvPr id="15" name="Text 10"/>
          <p:cNvSpPr txBox="1"/>
          <p:nvPr/>
        </p:nvSpPr>
        <p:spPr>
          <a:xfrm>
            <a:off x="1417320" y="5513832"/>
            <a:ext cx="3931920" cy="329184"/>
          </a:xfrm>
          <a:prstGeom prst="rect">
            <a:avLst/>
          </a:prstGeom>
          <a:noFill/>
          <a:ln/>
        </p:spPr>
        <p:txBody>
          <a:bodyPr wrap="square" lIns="0" tIns="0" rIns="0" bIns="0" rtlCol="0" anchor="t"/>
          <a:lstStyle/>
          <a:p>
            <a:pPr indent="0" marL="0">
              <a:buNone/>
            </a:pPr>
            <a:r>
              <a:rPr lang="en-IE" sz="1350" dirty="0">
                <a:solidFill>
                  <a:schemeClr val="tx2"/>
                </a:solidFill>
              </a:rPr>
              <a:t>child redefines the parent’s method · run time</a:t>
            </a:r>
            <a:endParaRPr lang="en-IE" sz="1350" dirty="0"/>
          </a:p>
        </p:txBody>
      </p:sp>
      <p:sp>
        <p:nvSpPr>
          <p:cNvPr id="16" name="Method name"/>
          <p:cNvSpPr/>
          <p:nvPr/>
        </p:nvSpPr>
        <p:spPr>
          <a:xfrm>
            <a:off x="7635240" y="1874520"/>
            <a:ext cx="2286000" cy="658368"/>
          </a:xfrm>
          <a:prstGeom prst="roundRect">
            <a:avLst>
              <a:gd name="adj" fmla="val 13889"/>
            </a:avLst>
          </a:prstGeom>
          <a:solidFill>
            <a:schemeClr val="accent2"/>
          </a:solidFill>
          <a:ln/>
          <a:effectLst>
            <a:outerShdw sx="100000" sy="100000" kx="0" ky="0" algn="bl" rotWithShape="0" blurRad="114300" dist="31750" dir="5400000">
              <a:srgbClr val="1D2433">
                <a:alpha val="12000"/>
              </a:srgbClr>
            </a:outerShdw>
          </a:effectLst>
        </p:spPr>
        <p:txBody>
          <a:bodyPr wrap="square" lIns="0" tIns="0" rIns="0" bIns="0" rtlCol="0" anchor="ctr"/>
          <a:lstStyle/>
          <a:p>
            <a:pPr algn="ctr" indent="0" marL="0">
              <a:buNone/>
            </a:pPr>
            <a:r>
              <a:rPr lang="en-IE" sz="2000" b="1" dirty="0">
                <a:solidFill>
                  <a:schemeClr val="bg1"/>
                </a:solidFill>
                <a:latin typeface="Consolas" pitchFamily="34" charset="0"/>
                <a:ea typeface="Consolas" pitchFamily="34" charset="-122"/>
                <a:cs typeface="Consolas" pitchFamily="34" charset="-120"/>
              </a:rPr>
              <a:t>calcPay()</a:t>
            </a:r>
            <a:endParaRPr lang="en-IE" sz="2000" dirty="0"/>
          </a:p>
        </p:txBody>
      </p:sp>
      <p:sp>
        <p:nvSpPr>
          <p:cNvPr id="17" name="FullTimeEmployee"/>
          <p:cNvSpPr/>
          <p:nvPr/>
        </p:nvSpPr>
        <p:spPr>
          <a:xfrm>
            <a:off x="5989320" y="3429000"/>
            <a:ext cx="2724912" cy="1737360"/>
          </a:xfrm>
          <a:prstGeom prst="roundRect">
            <a:avLst>
              <a:gd name="adj" fmla="val 6316"/>
            </a:avLst>
          </a:prstGeom>
          <a:solidFill>
            <a:schemeClr val="bg1"/>
          </a:solidFill>
          <a:ln w="15875">
            <a:solidFill>
              <a:schemeClr val="accent1"/>
            </a:solidFill>
            <a:prstDash val="solid"/>
          </a:ln>
          <a:effectLst>
            <a:outerShdw sx="100000" sy="100000" kx="0" ky="0" algn="bl" rotWithShape="0" blurRad="114300" dist="31750" dir="5400000">
              <a:srgbClr val="1D2433">
                <a:alpha val="12000"/>
              </a:srgbClr>
            </a:outerShdw>
          </a:effectLst>
        </p:spPr>
      </p:sp>
      <p:sp>
        <p:nvSpPr>
          <p:cNvPr id="18" name="Text 13"/>
          <p:cNvSpPr txBox="1"/>
          <p:nvPr/>
        </p:nvSpPr>
        <p:spPr>
          <a:xfrm>
            <a:off x="6172200" y="3593592"/>
            <a:ext cx="2359152" cy="365760"/>
          </a:xfrm>
          <a:prstGeom prst="rect">
            <a:avLst/>
          </a:prstGeom>
          <a:noFill/>
          <a:ln/>
        </p:spPr>
        <p:txBody>
          <a:bodyPr wrap="square" lIns="0" tIns="0" rIns="0" bIns="0" rtlCol="0" anchor="t"/>
          <a:lstStyle/>
          <a:p>
            <a:pPr algn="ctr" indent="0" marL="0">
              <a:buNone/>
            </a:pPr>
            <a:r>
              <a:rPr lang="en-IE" sz="1500" b="1" dirty="0">
                <a:solidFill>
                  <a:schemeClr val="accent1"/>
                </a:solidFill>
              </a:rPr>
              <a:t>FullTimeEmployee</a:t>
            </a:r>
            <a:endParaRPr lang="en-IE" sz="1500" dirty="0"/>
          </a:p>
        </p:txBody>
      </p:sp>
      <p:sp>
        <p:nvSpPr>
          <p:cNvPr id="19" name="Text 14"/>
          <p:cNvSpPr txBox="1"/>
          <p:nvPr/>
        </p:nvSpPr>
        <p:spPr>
          <a:xfrm>
            <a:off x="6172200" y="4069080"/>
            <a:ext cx="2359152" cy="274320"/>
          </a:xfrm>
          <a:prstGeom prst="rect">
            <a:avLst/>
          </a:prstGeom>
          <a:noFill/>
          <a:ln/>
        </p:spPr>
        <p:txBody>
          <a:bodyPr wrap="square" lIns="0" tIns="0" rIns="0" bIns="0" rtlCol="0" anchor="t"/>
          <a:lstStyle/>
          <a:p>
            <a:pPr algn="ctr" indent="0" marL="0">
              <a:buNone/>
            </a:pPr>
            <a:r>
              <a:rPr lang="en-IE" sz="1250" i="1" dirty="0">
                <a:solidFill>
                  <a:schemeClr val="tx2"/>
                </a:solidFill>
              </a:rPr>
              <a:t>returns</a:t>
            </a:r>
            <a:endParaRPr lang="en-IE" sz="1250" dirty="0"/>
          </a:p>
        </p:txBody>
      </p:sp>
      <p:sp>
        <p:nvSpPr>
          <p:cNvPr id="20" name="Text 15"/>
          <p:cNvSpPr txBox="1"/>
          <p:nvPr/>
        </p:nvSpPr>
        <p:spPr>
          <a:xfrm>
            <a:off x="6126480" y="4361688"/>
            <a:ext cx="2450592" cy="640080"/>
          </a:xfrm>
          <a:prstGeom prst="rect">
            <a:avLst/>
          </a:prstGeom>
          <a:noFill/>
          <a:ln/>
        </p:spPr>
        <p:txBody>
          <a:bodyPr wrap="square" lIns="0" tIns="0" rIns="0" bIns="0" rtlCol="0" anchor="ctr"/>
          <a:lstStyle/>
          <a:p>
            <a:pPr algn="ctr" indent="0" marL="0">
              <a:buNone/>
            </a:pPr>
            <a:r>
              <a:rPr lang="en-IE" sz="1350" b="1" dirty="0">
                <a:solidFill>
                  <a:schemeClr val="tx1"/>
                </a:solidFill>
                <a:latin typeface="Consolas" pitchFamily="34" charset="0"/>
                <a:ea typeface="Consolas" pitchFamily="34" charset="-122"/>
                <a:cs typeface="Consolas" pitchFamily="34" charset="-120"/>
              </a:rPr>
              <a:t>salary + bonus</a:t>
            </a:r>
            <a:endParaRPr lang="en-IE" sz="1350" dirty="0"/>
          </a:p>
        </p:txBody>
      </p:sp>
      <p:sp>
        <p:nvSpPr>
          <p:cNvPr id="21" name="Connector"/>
          <p:cNvSpPr/>
          <p:nvPr/>
        </p:nvSpPr>
        <p:spPr>
          <a:xfrm flipH="1">
            <a:off x="7351776" y="2578608"/>
            <a:ext cx="1426464" cy="795528"/>
          </a:xfrm>
          <a:prstGeom prst="line">
            <a:avLst/>
          </a:prstGeom>
          <a:noFill/>
          <a:ln w="22225">
            <a:solidFill>
              <a:schemeClr val="accent2"/>
            </a:solidFill>
            <a:prstDash val="solid"/>
            <a:tailEnd type="triangle"/>
          </a:ln>
        </p:spPr>
      </p:sp>
      <p:sp>
        <p:nvSpPr>
          <p:cNvPr id="22" name="PartTimeEmployee"/>
          <p:cNvSpPr/>
          <p:nvPr/>
        </p:nvSpPr>
        <p:spPr>
          <a:xfrm>
            <a:off x="8915400" y="3429000"/>
            <a:ext cx="2724912" cy="1737360"/>
          </a:xfrm>
          <a:prstGeom prst="roundRect">
            <a:avLst>
              <a:gd name="adj" fmla="val 6316"/>
            </a:avLst>
          </a:prstGeom>
          <a:solidFill>
            <a:schemeClr val="bg1"/>
          </a:solidFill>
          <a:ln w="15875">
            <a:solidFill>
              <a:schemeClr val="accent1"/>
            </a:solidFill>
            <a:prstDash val="solid"/>
          </a:ln>
          <a:effectLst>
            <a:outerShdw sx="100000" sy="100000" kx="0" ky="0" algn="bl" rotWithShape="0" blurRad="114300" dist="31750" dir="5400000">
              <a:srgbClr val="1D2433">
                <a:alpha val="12000"/>
              </a:srgbClr>
            </a:outerShdw>
          </a:effectLst>
        </p:spPr>
      </p:sp>
      <p:sp>
        <p:nvSpPr>
          <p:cNvPr id="23" name="Text 18"/>
          <p:cNvSpPr txBox="1"/>
          <p:nvPr/>
        </p:nvSpPr>
        <p:spPr>
          <a:xfrm>
            <a:off x="9098280" y="3593592"/>
            <a:ext cx="2359152" cy="365760"/>
          </a:xfrm>
          <a:prstGeom prst="rect">
            <a:avLst/>
          </a:prstGeom>
          <a:noFill/>
          <a:ln/>
        </p:spPr>
        <p:txBody>
          <a:bodyPr wrap="square" lIns="0" tIns="0" rIns="0" bIns="0" rtlCol="0" anchor="t"/>
          <a:lstStyle/>
          <a:p>
            <a:pPr algn="ctr" indent="0" marL="0">
              <a:buNone/>
            </a:pPr>
            <a:r>
              <a:rPr lang="en-IE" sz="1500" b="1" dirty="0">
                <a:solidFill>
                  <a:schemeClr val="accent1"/>
                </a:solidFill>
              </a:rPr>
              <a:t>PartTimeEmployee</a:t>
            </a:r>
            <a:endParaRPr lang="en-IE" sz="1500" dirty="0"/>
          </a:p>
        </p:txBody>
      </p:sp>
      <p:sp>
        <p:nvSpPr>
          <p:cNvPr id="24" name="Text 19"/>
          <p:cNvSpPr txBox="1"/>
          <p:nvPr/>
        </p:nvSpPr>
        <p:spPr>
          <a:xfrm>
            <a:off x="9098280" y="4069080"/>
            <a:ext cx="2359152" cy="274320"/>
          </a:xfrm>
          <a:prstGeom prst="rect">
            <a:avLst/>
          </a:prstGeom>
          <a:noFill/>
          <a:ln/>
        </p:spPr>
        <p:txBody>
          <a:bodyPr wrap="square" lIns="0" tIns="0" rIns="0" bIns="0" rtlCol="0" anchor="t"/>
          <a:lstStyle/>
          <a:p>
            <a:pPr algn="ctr" indent="0" marL="0">
              <a:buNone/>
            </a:pPr>
            <a:r>
              <a:rPr lang="en-IE" sz="1250" i="1" dirty="0">
                <a:solidFill>
                  <a:schemeClr val="tx2"/>
                </a:solidFill>
              </a:rPr>
              <a:t>returns</a:t>
            </a:r>
            <a:endParaRPr lang="en-IE" sz="1250" dirty="0"/>
          </a:p>
        </p:txBody>
      </p:sp>
      <p:sp>
        <p:nvSpPr>
          <p:cNvPr id="25" name="Text 20"/>
          <p:cNvSpPr txBox="1"/>
          <p:nvPr/>
        </p:nvSpPr>
        <p:spPr>
          <a:xfrm>
            <a:off x="9052560" y="4361688"/>
            <a:ext cx="2450592" cy="640080"/>
          </a:xfrm>
          <a:prstGeom prst="rect">
            <a:avLst/>
          </a:prstGeom>
          <a:noFill/>
          <a:ln/>
        </p:spPr>
        <p:txBody>
          <a:bodyPr wrap="square" lIns="0" tIns="0" rIns="0" bIns="0" rtlCol="0" anchor="ctr"/>
          <a:lstStyle/>
          <a:p>
            <a:pPr algn="ctr" indent="0" marL="0">
              <a:buNone/>
            </a:pPr>
            <a:r>
              <a:rPr lang="en-IE" sz="1350" b="1" dirty="0">
                <a:solidFill>
                  <a:schemeClr val="tx1"/>
                </a:solidFill>
                <a:latin typeface="Consolas" pitchFamily="34" charset="0"/>
                <a:ea typeface="Consolas" pitchFamily="34" charset="-122"/>
                <a:cs typeface="Consolas" pitchFamily="34" charset="-120"/>
              </a:rPr>
              <a:t>hourlyPay * hoursPerWeek * 52</a:t>
            </a:r>
            <a:endParaRPr lang="en-IE" sz="1350" dirty="0"/>
          </a:p>
        </p:txBody>
      </p:sp>
      <p:sp>
        <p:nvSpPr>
          <p:cNvPr id="26" name="Connector"/>
          <p:cNvSpPr/>
          <p:nvPr/>
        </p:nvSpPr>
        <p:spPr>
          <a:xfrm>
            <a:off x="8778240" y="2578608"/>
            <a:ext cx="1499616" cy="795528"/>
          </a:xfrm>
          <a:prstGeom prst="line">
            <a:avLst/>
          </a:prstGeom>
          <a:noFill/>
          <a:ln w="22225">
            <a:solidFill>
              <a:schemeClr val="accent2"/>
            </a:solidFill>
            <a:prstDash val="solid"/>
            <a:tailEnd type="triangle"/>
          </a:ln>
        </p:spPr>
      </p:sp>
      <p:sp>
        <p:nvSpPr>
          <p:cNvPr id="27" name="Text 22"/>
          <p:cNvSpPr txBox="1"/>
          <p:nvPr/>
        </p:nvSpPr>
        <p:spPr>
          <a:xfrm>
            <a:off x="5989320" y="5349240"/>
            <a:ext cx="5650992" cy="320040"/>
          </a:xfrm>
          <a:prstGeom prst="rect">
            <a:avLst/>
          </a:prstGeom>
          <a:noFill/>
          <a:ln/>
        </p:spPr>
        <p:txBody>
          <a:bodyPr wrap="square" lIns="0" tIns="0" rIns="0" bIns="0" rtlCol="0" anchor="t"/>
          <a:lstStyle/>
          <a:p>
            <a:pPr algn="ctr" indent="0" marL="0">
              <a:buNone/>
            </a:pPr>
            <a:r>
              <a:rPr lang="en-IE" sz="1350" i="1" dirty="0">
                <a:solidFill>
                  <a:schemeClr val="tx2"/>
                </a:solidFill>
              </a:rPr>
              <a:t>one name, a different form for each type of object</a:t>
            </a:r>
            <a:endParaRPr lang="en-IE" sz="13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20</a:t>
            </a:fld>
            <a:endParaRPr lang="en-I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6</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Polymorphism</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In Java, what does polymorphism mean?</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class is allowed more than one parent class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child class inherits its parent’s methods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 same method name can behave in different ways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Every method in a program must have a unique name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21</a:t>
            </a:fld>
            <a:endParaRPr lang="en-IE"/>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6</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Polymorphism</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In Java, what does polymorphism mean?</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A class is allowed more than one parent class</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A child class inherits its parent’s methods</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The same method name can behave in different ways</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Every method in a program must have a unique name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Polymorphism means “many forms”. A method with the same name can behave differently, depending on the arguments we pass or the type of object it is called on. B is just inheritance, and a class still has only one parent (A).</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22</a:t>
            </a:fld>
            <a:endParaRPr lang="en-IE"/>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POLYMORPHISM AND OVERLOADING</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Overloading a method</a:t>
            </a:r>
            <a:endParaRPr lang="en-IE" sz="3400" dirty="0"/>
          </a:p>
        </p:txBody>
      </p:sp>
      <p:sp>
        <p:nvSpPr>
          <p:cNvPr id="5" name="Text 2"/>
          <p:cNvSpPr txBox="1"/>
          <p:nvPr/>
        </p:nvSpPr>
        <p:spPr>
          <a:xfrm>
            <a:off x="548640" y="1783080"/>
            <a:ext cx="4572000" cy="292608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We’ve already seen one form of polymorphism, overloading, when a class had more than one constructor.</a:t>
            </a:r>
            <a:endParaRPr lang="en-IE" sz="1800" dirty="0"/>
          </a:p>
          <a:p>
            <a:pPr marL="228600" indent="-228600">
              <a:spcAft>
                <a:spcPts val="1200"/>
              </a:spcAft>
              <a:buSzPct val="100000"/>
              <a:buChar char="•"/>
            </a:pPr>
            <a:r>
              <a:rPr lang="en-IE" sz="1800" dirty="0">
                <a:solidFill>
                  <a:schemeClr val="tx1"/>
                </a:solidFill>
              </a:rPr>
              <a:t>Overloading lets us have two or more methods with the same name, by changing their parameters.</a:t>
            </a:r>
            <a:endParaRPr lang="en-IE" sz="1800" dirty="0"/>
          </a:p>
          <a:p>
            <a:pPr marL="228600" indent="-228600">
              <a:buSzPct val="100000"/>
              <a:buChar char="•"/>
            </a:pPr>
            <a:r>
              <a:rPr lang="en-IE" sz="1800" dirty="0">
                <a:solidFill>
                  <a:schemeClr val="tx1"/>
                </a:solidFill>
              </a:rPr>
              <a:t>This is known as compile-time (static) polymorphism.</a:t>
            </a:r>
            <a:endParaRPr lang="en-IE" sz="1800" dirty="0"/>
          </a:p>
        </p:txBody>
      </p:sp>
      <p:sp>
        <p:nvSpPr>
          <p:cNvPr id="6" name="Overloading card"/>
          <p:cNvSpPr/>
          <p:nvPr/>
        </p:nvSpPr>
        <p:spPr>
          <a:xfrm>
            <a:off x="5486400" y="1691640"/>
            <a:ext cx="6156655" cy="4026408"/>
          </a:xfrm>
          <a:prstGeom prst="roundRect">
            <a:avLst>
              <a:gd name="adj" fmla="val 2725"/>
            </a:avLst>
          </a:prstGeom>
          <a:solidFill>
            <a:schemeClr val="tx1"/>
          </a:solidFill>
          <a:ln/>
          <a:effectLst>
            <a:outerShdw sx="100000" sy="100000" kx="0" ky="0" algn="bl" rotWithShape="0" blurRad="114300" dist="31750" dir="5400000">
              <a:srgbClr val="1D2433">
                <a:alpha val="12000"/>
              </a:srgbClr>
            </a:outerShdw>
          </a:effectLst>
        </p:spPr>
      </p:sp>
      <p:sp>
        <p:nvSpPr>
          <p:cNvPr id="7" name="Overloading language"/>
          <p:cNvSpPr txBox="1"/>
          <p:nvPr/>
        </p:nvSpPr>
        <p:spPr>
          <a:xfrm>
            <a:off x="5760720" y="1810512"/>
            <a:ext cx="560801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Overloading text"/>
          <p:cNvSpPr txBox="1"/>
          <p:nvPr/>
        </p:nvSpPr>
        <p:spPr>
          <a:xfrm>
            <a:off x="5760720" y="2185416"/>
            <a:ext cx="5608015" cy="333146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static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void</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main</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6CC4E8"/>
                </a:solidFill>
                <a:latin typeface="Consolas" pitchFamily="34" charset="0"/>
                <a:ea typeface="Consolas" pitchFamily="34" charset="-122"/>
                <a:cs typeface="Consolas" pitchFamily="34" charset="-120"/>
              </a:rPr>
              <a:t>String</a:t>
            </a:r>
            <a:r>
              <a:rPr lang="en-IE" sz="1300" dirty="0">
                <a:solidFill>
                  <a:srgbClr val="E6EBF2"/>
                </a:solidFill>
                <a:latin typeface="Consolas" pitchFamily="34" charset="0"/>
                <a:ea typeface="Consolas" pitchFamily="34" charset="-122"/>
                <a:cs typeface="Consolas" pitchFamily="34" charset="-120"/>
              </a:rPr>
              <a:t>[] args)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sum = </a:t>
            </a:r>
            <a:r>
              <a:rPr lang="en-IE" sz="1300" dirty="0">
                <a:solidFill>
                  <a:srgbClr val="C9B0FF"/>
                </a:solidFill>
                <a:latin typeface="Consolas" pitchFamily="34" charset="0"/>
                <a:ea typeface="Consolas" pitchFamily="34" charset="-122"/>
                <a:cs typeface="Consolas" pitchFamily="34" charset="-120"/>
              </a:rPr>
              <a:t>add</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2C14E"/>
                </a:solidFill>
                <a:latin typeface="Consolas" pitchFamily="34" charset="0"/>
                <a:ea typeface="Consolas" pitchFamily="34" charset="-122"/>
                <a:cs typeface="Consolas" pitchFamily="34" charset="-120"/>
              </a:rPr>
              <a:t>1</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2C14E"/>
                </a:solidFill>
                <a:latin typeface="Consolas" pitchFamily="34" charset="0"/>
                <a:ea typeface="Consolas" pitchFamily="34" charset="-122"/>
                <a:cs typeface="Consolas" pitchFamily="34" charset="-120"/>
              </a:rPr>
              <a:t>2</a:t>
            </a:r>
            <a:r>
              <a:rPr lang="en-IE" sz="1300" dirty="0">
                <a:solidFill>
                  <a:srgbClr val="E6EBF2"/>
                </a:solidFill>
                <a:latin typeface="Consolas" pitchFamily="34" charset="0"/>
                <a:ea typeface="Consolas" pitchFamily="34" charset="-122"/>
                <a:cs typeface="Consolas" pitchFamily="34" charset="-120"/>
              </a:rPr>
              <a:t>);              </a:t>
            </a:r>
            <a:r>
              <a:rPr lang="en-IE" sz="1300" i="1" dirty="0">
                <a:solidFill>
                  <a:srgbClr val="A3AEC2"/>
                </a:solidFill>
                <a:latin typeface="Consolas" pitchFamily="34" charset="0"/>
                <a:ea typeface="Consolas" pitchFamily="34" charset="-122"/>
                <a:cs typeface="Consolas" pitchFamily="34" charset="-120"/>
              </a:rPr>
              <a:t>// 3</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sum = </a:t>
            </a:r>
            <a:r>
              <a:rPr lang="en-IE" sz="1300" dirty="0">
                <a:solidFill>
                  <a:srgbClr val="C9B0FF"/>
                </a:solidFill>
                <a:latin typeface="Consolas" pitchFamily="34" charset="0"/>
                <a:ea typeface="Consolas" pitchFamily="34" charset="-122"/>
                <a:cs typeface="Consolas" pitchFamily="34" charset="-120"/>
              </a:rPr>
              <a:t>add</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2C14E"/>
                </a:solidFill>
                <a:latin typeface="Consolas" pitchFamily="34" charset="0"/>
                <a:ea typeface="Consolas" pitchFamily="34" charset="-122"/>
                <a:cs typeface="Consolas" pitchFamily="34" charset="-120"/>
              </a:rPr>
              <a:t>14</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2C14E"/>
                </a:solidFill>
                <a:latin typeface="Consolas" pitchFamily="34" charset="0"/>
                <a:ea typeface="Consolas" pitchFamily="34" charset="-122"/>
                <a:cs typeface="Consolas" pitchFamily="34" charset="-120"/>
              </a:rPr>
              <a:t>2</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2C14E"/>
                </a:solidFill>
                <a:latin typeface="Consolas" pitchFamily="34" charset="0"/>
                <a:ea typeface="Consolas" pitchFamily="34" charset="-122"/>
                <a:cs typeface="Consolas" pitchFamily="34" charset="-120"/>
              </a:rPr>
              <a:t>4</a:t>
            </a:r>
            <a:r>
              <a:rPr lang="en-IE" sz="1300" dirty="0">
                <a:solidFill>
                  <a:srgbClr val="E6EBF2"/>
                </a:solidFill>
                <a:latin typeface="Consolas" pitchFamily="34" charset="0"/>
                <a:ea typeface="Consolas" pitchFamily="34" charset="-122"/>
                <a:cs typeface="Consolas" pitchFamily="34" charset="-120"/>
              </a:rPr>
              <a:t>);              </a:t>
            </a:r>
            <a:r>
              <a:rPr lang="en-IE" sz="1300" i="1" dirty="0">
                <a:solidFill>
                  <a:srgbClr val="A3AEC2"/>
                </a:solidFill>
                <a:latin typeface="Consolas" pitchFamily="34" charset="0"/>
                <a:ea typeface="Consolas" pitchFamily="34" charset="-122"/>
                <a:cs typeface="Consolas" pitchFamily="34" charset="-120"/>
              </a:rPr>
              <a:t>// 20</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fractionSum = </a:t>
            </a:r>
            <a:r>
              <a:rPr lang="en-IE" sz="1300" dirty="0">
                <a:solidFill>
                  <a:srgbClr val="C9B0FF"/>
                </a:solidFill>
                <a:latin typeface="Consolas" pitchFamily="34" charset="0"/>
                <a:ea typeface="Consolas" pitchFamily="34" charset="-122"/>
                <a:cs typeface="Consolas" pitchFamily="34" charset="-120"/>
              </a:rPr>
              <a:t>add</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2C14E"/>
                </a:solidFill>
                <a:latin typeface="Consolas" pitchFamily="34" charset="0"/>
                <a:ea typeface="Consolas" pitchFamily="34" charset="-122"/>
                <a:cs typeface="Consolas" pitchFamily="34" charset="-120"/>
              </a:rPr>
              <a:t>5.6</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2C14E"/>
                </a:solidFill>
                <a:latin typeface="Consolas" pitchFamily="34" charset="0"/>
                <a:ea typeface="Consolas" pitchFamily="34" charset="-122"/>
                <a:cs typeface="Consolas" pitchFamily="34" charset="-120"/>
              </a:rPr>
              <a:t>3.7</a:t>
            </a:r>
            <a:r>
              <a:rPr lang="en-IE" sz="1300" dirty="0">
                <a:solidFill>
                  <a:srgbClr val="E6EBF2"/>
                </a:solidFill>
                <a:latin typeface="Consolas" pitchFamily="34" charset="0"/>
                <a:ea typeface="Consolas" pitchFamily="34" charset="-122"/>
                <a:cs typeface="Consolas" pitchFamily="34" charset="-120"/>
              </a:rPr>
              <a:t>); </a:t>
            </a:r>
            <a:r>
              <a:rPr lang="en-IE" sz="1300" i="1" dirty="0">
                <a:solidFill>
                  <a:srgbClr val="A3AEC2"/>
                </a:solidFill>
                <a:latin typeface="Consolas" pitchFamily="34" charset="0"/>
                <a:ea typeface="Consolas" pitchFamily="34" charset="-122"/>
                <a:cs typeface="Consolas" pitchFamily="34" charset="-120"/>
              </a:rPr>
              <a:t>// 9.3</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private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static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add</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a,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b)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return</a:t>
            </a:r>
            <a:r>
              <a:rPr lang="en-IE" sz="1300" dirty="0">
                <a:solidFill>
                  <a:srgbClr val="E6EBF2"/>
                </a:solidFill>
                <a:latin typeface="Consolas" pitchFamily="34" charset="0"/>
                <a:ea typeface="Consolas" pitchFamily="34" charset="-122"/>
                <a:cs typeface="Consolas" pitchFamily="34" charset="-120"/>
              </a:rPr>
              <a:t> a + b;</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private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static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add</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a,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b,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c)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return</a:t>
            </a:r>
            <a:r>
              <a:rPr lang="en-IE" sz="1300" dirty="0">
                <a:solidFill>
                  <a:srgbClr val="E6EBF2"/>
                </a:solidFill>
                <a:latin typeface="Consolas" pitchFamily="34" charset="0"/>
                <a:ea typeface="Consolas" pitchFamily="34" charset="-122"/>
                <a:cs typeface="Consolas" pitchFamily="34" charset="-120"/>
              </a:rPr>
              <a:t> a + b + c;</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private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static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add</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a, </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b)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return</a:t>
            </a:r>
            <a:r>
              <a:rPr lang="en-IE" sz="1300" dirty="0">
                <a:solidFill>
                  <a:srgbClr val="E6EBF2"/>
                </a:solidFill>
                <a:latin typeface="Consolas" pitchFamily="34" charset="0"/>
                <a:ea typeface="Consolas" pitchFamily="34" charset="-122"/>
                <a:cs typeface="Consolas" pitchFamily="34" charset="-120"/>
              </a:rPr>
              <a:t> a + b;</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9" name="Note"/>
          <p:cNvSpPr/>
          <p:nvPr/>
        </p:nvSpPr>
        <p:spPr>
          <a:xfrm>
            <a:off x="548640" y="4937760"/>
            <a:ext cx="4572000" cy="1097280"/>
          </a:xfrm>
          <a:prstGeom prst="roundRect">
            <a:avLst>
              <a:gd name="adj" fmla="val 10000"/>
            </a:avLst>
          </a:prstGeom>
          <a:solidFill>
            <a:schemeClr val="bg2"/>
          </a:solidFill>
          <a:ln/>
        </p:spPr>
      </p:sp>
      <p:sp>
        <p:nvSpPr>
          <p:cNvPr id="10" name="Icon tile"/>
          <p:cNvSpPr/>
          <p:nvPr/>
        </p:nvSpPr>
        <p:spPr>
          <a:xfrm>
            <a:off x="822960" y="5221224"/>
            <a:ext cx="530352" cy="530352"/>
          </a:xfrm>
          <a:prstGeom prst="roundRect">
            <a:avLst>
              <a:gd name="adj" fmla="val 24000"/>
            </a:avLst>
          </a:prstGeom>
          <a:solidFill>
            <a:schemeClr val="accent2">
              <a:alpha val="14000"/>
            </a:schemeClr>
          </a:solidFill>
          <a:ln/>
        </p:spPr>
      </p:sp>
      <p:pic>
        <p:nvPicPr>
          <p:cNvPr id="11" name="info icon" descr="info icon">    </p:cNvPr>
          <p:cNvPicPr>
            <a:picLocks noChangeAspect="1"/>
          </p:cNvPicPr>
          <p:nvPr/>
        </p:nvPicPr>
        <p:blipFill>
          <a:blip r:embed="rId1"/>
          <a:stretch>
            <a:fillRect/>
          </a:stretch>
        </p:blipFill>
        <p:spPr>
          <a:xfrm>
            <a:off x="934334" y="5332598"/>
            <a:ext cx="307604" cy="307604"/>
          </a:xfrm>
          <a:prstGeom prst="rect">
            <a:avLst/>
          </a:prstGeom>
        </p:spPr>
      </p:pic>
      <p:sp>
        <p:nvSpPr>
          <p:cNvPr id="12" name="Text 8"/>
          <p:cNvSpPr txBox="1"/>
          <p:nvPr/>
        </p:nvSpPr>
        <p:spPr>
          <a:xfrm>
            <a:off x="1572768" y="4937760"/>
            <a:ext cx="3291840" cy="1097280"/>
          </a:xfrm>
          <a:prstGeom prst="rect">
            <a:avLst/>
          </a:prstGeom>
          <a:noFill/>
          <a:ln/>
        </p:spPr>
        <p:txBody>
          <a:bodyPr wrap="square" lIns="0" tIns="0" rIns="0" bIns="0" rtlCol="0" anchor="ctr"/>
          <a:lstStyle/>
          <a:p>
            <a:pPr indent="0" marL="0">
              <a:buNone/>
            </a:pPr>
            <a:r>
              <a:rPr lang="en-IE" sz="1600" dirty="0">
                <a:solidFill>
                  <a:schemeClr val="tx1"/>
                </a:solidFill>
              </a:rPr>
              <a:t>Three methods, one name: </a:t>
            </a:r>
            <a:r>
              <a:rPr lang="en-IE" sz="1600" dirty="0">
                <a:solidFill>
                  <a:schemeClr val="accent2"/>
                </a:solidFill>
                <a:latin typeface="Consolas" pitchFamily="34" charset="0"/>
                <a:ea typeface="Consolas" pitchFamily="34" charset="-122"/>
                <a:cs typeface="Consolas" pitchFamily="34" charset="-120"/>
              </a:rPr>
              <a:t>add</a:t>
            </a:r>
            <a:r>
              <a:rPr lang="en-IE" sz="1600" dirty="0">
                <a:solidFill>
                  <a:schemeClr val="tx1"/>
                </a:solidFill>
              </a:rPr>
              <a:t>. The arguments decide which one runs.</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23</a:t>
            </a:fld>
            <a:endParaRPr lang="en-IE"/>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7</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Overloading</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this code print?</a:t>
            </a:r>
            <a:endParaRPr lang="en-IE" sz="2800" dirty="0"/>
          </a:p>
        </p:txBody>
      </p:sp>
      <p:sp>
        <p:nvSpPr>
          <p:cNvPr id="5" name="Question code card"/>
          <p:cNvSpPr/>
          <p:nvPr/>
        </p:nvSpPr>
        <p:spPr>
          <a:xfrm>
            <a:off x="548640" y="2728976"/>
            <a:ext cx="6035040" cy="2497328"/>
          </a:xfrm>
          <a:prstGeom prst="roundRect">
            <a:avLst>
              <a:gd name="adj" fmla="val 4394"/>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2847848"/>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3222752"/>
            <a:ext cx="5486400" cy="180238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static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void</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show</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x)    { </a:t>
            </a:r>
            <a:r>
              <a:rPr lang="en-IE" sz="1300" dirty="0">
                <a:solidFill>
                  <a:srgbClr val="6CC4E8"/>
                </a:solidFill>
                <a:latin typeface="Consolas" pitchFamily="34" charset="0"/>
                <a:ea typeface="Consolas" pitchFamily="34" charset="-122"/>
                <a:cs typeface="Consolas" pitchFamily="34" charset="-120"/>
              </a:rPr>
              <a:t>System</a:t>
            </a:r>
            <a:r>
              <a:rPr lang="en-IE" sz="1300" dirty="0">
                <a:solidFill>
                  <a:srgbClr val="E6EBF2"/>
                </a:solidFill>
                <a:latin typeface="Consolas" pitchFamily="34" charset="0"/>
                <a:ea typeface="Consolas" pitchFamily="34" charset="-122"/>
                <a:cs typeface="Consolas" pitchFamily="34" charset="-120"/>
              </a:rPr>
              <a:t>.out.</a:t>
            </a:r>
            <a:r>
              <a:rPr lang="en-IE" sz="1300" dirty="0">
                <a:solidFill>
                  <a:srgbClr val="C9B0FF"/>
                </a:solidFill>
                <a:latin typeface="Consolas" pitchFamily="34" charset="0"/>
                <a:ea typeface="Consolas" pitchFamily="34" charset="-122"/>
                <a:cs typeface="Consolas" pitchFamily="34" charset="-120"/>
              </a:rPr>
              <a:t>print</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A9DB8C"/>
                </a:solidFill>
                <a:latin typeface="Consolas" pitchFamily="34" charset="0"/>
                <a:ea typeface="Consolas" pitchFamily="34" charset="-122"/>
                <a:cs typeface="Consolas" pitchFamily="34" charset="-120"/>
              </a:rPr>
              <a:t>"I "</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static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void</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show</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x) { </a:t>
            </a:r>
            <a:r>
              <a:rPr lang="en-IE" sz="1300" dirty="0">
                <a:solidFill>
                  <a:srgbClr val="6CC4E8"/>
                </a:solidFill>
                <a:latin typeface="Consolas" pitchFamily="34" charset="0"/>
                <a:ea typeface="Consolas" pitchFamily="34" charset="-122"/>
                <a:cs typeface="Consolas" pitchFamily="34" charset="-120"/>
              </a:rPr>
              <a:t>System</a:t>
            </a:r>
            <a:r>
              <a:rPr lang="en-IE" sz="1300" dirty="0">
                <a:solidFill>
                  <a:srgbClr val="E6EBF2"/>
                </a:solidFill>
                <a:latin typeface="Consolas" pitchFamily="34" charset="0"/>
                <a:ea typeface="Consolas" pitchFamily="34" charset="-122"/>
                <a:cs typeface="Consolas" pitchFamily="34" charset="-120"/>
              </a:rPr>
              <a:t>.out.</a:t>
            </a:r>
            <a:r>
              <a:rPr lang="en-IE" sz="1300" dirty="0">
                <a:solidFill>
                  <a:srgbClr val="C9B0FF"/>
                </a:solidFill>
                <a:latin typeface="Consolas" pitchFamily="34" charset="0"/>
                <a:ea typeface="Consolas" pitchFamily="34" charset="-122"/>
                <a:cs typeface="Consolas" pitchFamily="34" charset="-120"/>
              </a:rPr>
              <a:t>print</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A9DB8C"/>
                </a:solidFill>
                <a:latin typeface="Consolas" pitchFamily="34" charset="0"/>
                <a:ea typeface="Consolas" pitchFamily="34" charset="-122"/>
                <a:cs typeface="Consolas" pitchFamily="34" charset="-120"/>
              </a:rPr>
              <a:t>"D "</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static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void</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show</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6CC4E8"/>
                </a:solidFill>
                <a:latin typeface="Consolas" pitchFamily="34" charset="0"/>
                <a:ea typeface="Consolas" pitchFamily="34" charset="-122"/>
                <a:cs typeface="Consolas" pitchFamily="34" charset="-120"/>
              </a:rPr>
              <a:t>String</a:t>
            </a:r>
            <a:r>
              <a:rPr lang="en-IE" sz="1300" dirty="0">
                <a:solidFill>
                  <a:srgbClr val="E6EBF2"/>
                </a:solidFill>
                <a:latin typeface="Consolas" pitchFamily="34" charset="0"/>
                <a:ea typeface="Consolas" pitchFamily="34" charset="-122"/>
                <a:cs typeface="Consolas" pitchFamily="34" charset="-120"/>
              </a:rPr>
              <a:t> x) { </a:t>
            </a:r>
            <a:r>
              <a:rPr lang="en-IE" sz="1300" dirty="0">
                <a:solidFill>
                  <a:srgbClr val="6CC4E8"/>
                </a:solidFill>
                <a:latin typeface="Consolas" pitchFamily="34" charset="0"/>
                <a:ea typeface="Consolas" pitchFamily="34" charset="-122"/>
                <a:cs typeface="Consolas" pitchFamily="34" charset="-120"/>
              </a:rPr>
              <a:t>System</a:t>
            </a:r>
            <a:r>
              <a:rPr lang="en-IE" sz="1300" dirty="0">
                <a:solidFill>
                  <a:srgbClr val="E6EBF2"/>
                </a:solidFill>
                <a:latin typeface="Consolas" pitchFamily="34" charset="0"/>
                <a:ea typeface="Consolas" pitchFamily="34" charset="-122"/>
                <a:cs typeface="Consolas" pitchFamily="34" charset="-120"/>
              </a:rPr>
              <a:t>.out.</a:t>
            </a:r>
            <a:r>
              <a:rPr lang="en-IE" sz="1300" dirty="0">
                <a:solidFill>
                  <a:srgbClr val="C9B0FF"/>
                </a:solidFill>
                <a:latin typeface="Consolas" pitchFamily="34" charset="0"/>
                <a:ea typeface="Consolas" pitchFamily="34" charset="-122"/>
                <a:cs typeface="Consolas" pitchFamily="34" charset="-120"/>
              </a:rPr>
              <a:t>print</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A9DB8C"/>
                </a:solidFill>
                <a:latin typeface="Consolas" pitchFamily="34" charset="0"/>
                <a:ea typeface="Consolas" pitchFamily="34" charset="-122"/>
                <a:cs typeface="Consolas" pitchFamily="34" charset="-120"/>
              </a:rPr>
              <a:t>"S "</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i="1" dirty="0">
                <a:solidFill>
                  <a:srgbClr val="A3AEC2"/>
                </a:solidFill>
                <a:latin typeface="Consolas" pitchFamily="34" charset="0"/>
                <a:ea typeface="Consolas" pitchFamily="34" charset="-122"/>
                <a:cs typeface="Consolas" pitchFamily="34" charset="-120"/>
              </a:rPr>
              <a:t>// in main:</a:t>
            </a:r>
            <a:endParaRPr lang="en-IE" sz="1300" dirty="0"/>
          </a:p>
          <a:p>
            <a:pPr indent="0" marL="0">
              <a:lnSpc>
                <a:spcPts val="1720"/>
              </a:lnSpc>
              <a:buNone/>
            </a:pPr>
            <a:r>
              <a:rPr lang="en-IE" sz="1300" dirty="0">
                <a:solidFill>
                  <a:srgbClr val="C9B0FF"/>
                </a:solidFill>
                <a:latin typeface="Consolas" pitchFamily="34" charset="0"/>
                <a:ea typeface="Consolas" pitchFamily="34" charset="-122"/>
                <a:cs typeface="Consolas" pitchFamily="34" charset="-120"/>
              </a:rPr>
              <a:t>show</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2C14E"/>
                </a:solidFill>
                <a:latin typeface="Consolas" pitchFamily="34" charset="0"/>
                <a:ea typeface="Consolas" pitchFamily="34" charset="-122"/>
                <a:cs typeface="Consolas" pitchFamily="34" charset="-120"/>
              </a:rPr>
              <a:t>2.5</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C9B0FF"/>
                </a:solidFill>
                <a:latin typeface="Consolas" pitchFamily="34" charset="0"/>
                <a:ea typeface="Consolas" pitchFamily="34" charset="-122"/>
                <a:cs typeface="Consolas" pitchFamily="34" charset="-120"/>
              </a:rPr>
              <a:t>show</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2C14E"/>
                </a:solidFill>
                <a:latin typeface="Consolas" pitchFamily="34" charset="0"/>
                <a:ea typeface="Consolas" pitchFamily="34" charset="-122"/>
                <a:cs typeface="Consolas" pitchFamily="34" charset="-120"/>
              </a:rPr>
              <a:t>7</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C9B0FF"/>
                </a:solidFill>
                <a:latin typeface="Consolas" pitchFamily="34" charset="0"/>
                <a:ea typeface="Consolas" pitchFamily="34" charset="-122"/>
                <a:cs typeface="Consolas" pitchFamily="34" charset="-120"/>
              </a:rPr>
              <a:t>show</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A9DB8C"/>
                </a:solidFill>
                <a:latin typeface="Consolas" pitchFamily="34" charset="0"/>
                <a:ea typeface="Consolas" pitchFamily="34" charset="-122"/>
                <a:cs typeface="Consolas" pitchFamily="34" charset="-120"/>
              </a:rPr>
              <a:t>"7.0"</a:t>
            </a: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D D S</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D I S</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D I D</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I I 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24</a:t>
            </a:fld>
            <a:endParaRPr lang="en-IE"/>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7</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Overloading</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this code print?</a:t>
            </a:r>
            <a:endParaRPr lang="en-IE" sz="2000" dirty="0"/>
          </a:p>
        </p:txBody>
      </p:sp>
      <p:sp>
        <p:nvSpPr>
          <p:cNvPr id="5" name="Answer code card"/>
          <p:cNvSpPr/>
          <p:nvPr/>
        </p:nvSpPr>
        <p:spPr>
          <a:xfrm>
            <a:off x="548640" y="1874520"/>
            <a:ext cx="5623560" cy="1211580"/>
          </a:xfrm>
          <a:prstGeom prst="roundRect">
            <a:avLst>
              <a:gd name="adj" fmla="val 9057"/>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809244"/>
          </a:xfrm>
          <a:prstGeom prst="rect">
            <a:avLst/>
          </a:prstGeom>
          <a:noFill/>
          <a:ln/>
        </p:spPr>
        <p:txBody>
          <a:bodyPr wrap="square" lIns="0" tIns="0" rIns="0" bIns="0" rtlCol="0" anchor="t"/>
          <a:lstStyle/>
          <a:p>
            <a:pPr indent="0" marL="0">
              <a:lnSpc>
                <a:spcPts val="1980"/>
              </a:lnSpc>
              <a:buNone/>
            </a:pPr>
            <a:r>
              <a:rPr lang="en-IE" sz="1500" dirty="0">
                <a:solidFill>
                  <a:srgbClr val="C9B0FF"/>
                </a:solidFill>
                <a:latin typeface="Consolas" pitchFamily="34" charset="0"/>
                <a:ea typeface="Consolas" pitchFamily="34" charset="-122"/>
                <a:cs typeface="Consolas" pitchFamily="34" charset="-120"/>
              </a:rPr>
              <a:t>show</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F2C14E"/>
                </a:solidFill>
                <a:latin typeface="Consolas" pitchFamily="34" charset="0"/>
                <a:ea typeface="Consolas" pitchFamily="34" charset="-122"/>
                <a:cs typeface="Consolas" pitchFamily="34" charset="-120"/>
              </a:rPr>
              <a:t>2.5</a:t>
            </a: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a double:  prints D</a:t>
            </a:r>
            <a:endParaRPr lang="en-IE" sz="1500" dirty="0"/>
          </a:p>
          <a:p>
            <a:pPr indent="0" marL="0">
              <a:lnSpc>
                <a:spcPts val="1980"/>
              </a:lnSpc>
              <a:buNone/>
            </a:pPr>
            <a:r>
              <a:rPr lang="en-IE" sz="1500" dirty="0">
                <a:solidFill>
                  <a:srgbClr val="C9B0FF"/>
                </a:solidFill>
                <a:latin typeface="Consolas" pitchFamily="34" charset="0"/>
                <a:ea typeface="Consolas" pitchFamily="34" charset="-122"/>
                <a:cs typeface="Consolas" pitchFamily="34" charset="-120"/>
              </a:rPr>
              <a:t>show</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F2C14E"/>
                </a:solidFill>
                <a:latin typeface="Consolas" pitchFamily="34" charset="0"/>
                <a:ea typeface="Consolas" pitchFamily="34" charset="-122"/>
                <a:cs typeface="Consolas" pitchFamily="34" charset="-120"/>
              </a:rPr>
              <a:t>7</a:t>
            </a: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an int:    prints I</a:t>
            </a:r>
            <a:endParaRPr lang="en-IE" sz="1500" dirty="0"/>
          </a:p>
          <a:p>
            <a:pPr indent="0" marL="0">
              <a:lnSpc>
                <a:spcPts val="1980"/>
              </a:lnSpc>
              <a:buNone/>
            </a:pPr>
            <a:r>
              <a:rPr lang="en-IE" sz="1500" dirty="0">
                <a:solidFill>
                  <a:srgbClr val="C9B0FF"/>
                </a:solidFill>
                <a:latin typeface="Consolas" pitchFamily="34" charset="0"/>
                <a:ea typeface="Consolas" pitchFamily="34" charset="-122"/>
                <a:cs typeface="Consolas" pitchFamily="34" charset="-120"/>
              </a:rPr>
              <a:t>show</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A9DB8C"/>
                </a:solidFill>
                <a:latin typeface="Consolas" pitchFamily="34" charset="0"/>
                <a:ea typeface="Consolas" pitchFamily="34" charset="-122"/>
                <a:cs typeface="Consolas" pitchFamily="34" charset="-120"/>
              </a:rPr>
              <a:t>"7.0"</a:t>
            </a: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a String:  prints S</a:t>
            </a:r>
            <a:endParaRPr lang="en-IE" sz="1500" dirty="0"/>
          </a:p>
        </p:txBody>
      </p:sp>
      <p:sp>
        <p:nvSpPr>
          <p:cNvPr id="7" name="Option A"/>
          <p:cNvSpPr/>
          <p:nvPr/>
        </p:nvSpPr>
        <p:spPr>
          <a:xfrm>
            <a:off x="548640" y="3314700"/>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39528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71600" y="3314700"/>
            <a:ext cx="4572000" cy="581787"/>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D D S</a:t>
            </a:r>
            <a:endParaRPr lang="en-IE" sz="1700" dirty="0"/>
          </a:p>
        </p:txBody>
      </p:sp>
      <p:sp>
        <p:nvSpPr>
          <p:cNvPr id="10" name="Option B (correct)"/>
          <p:cNvSpPr/>
          <p:nvPr/>
        </p:nvSpPr>
        <p:spPr>
          <a:xfrm>
            <a:off x="548640" y="4042791"/>
            <a:ext cx="5623560" cy="581787"/>
          </a:xfrm>
          <a:prstGeom prst="roundRect">
            <a:avLst>
              <a:gd name="adj" fmla="val 18861"/>
            </a:avLst>
          </a:prstGeom>
          <a:solidFill>
            <a:schemeClr val="accent3"/>
          </a:solidFill>
          <a:ln/>
          <a:effectLst>
            <a:outerShdw sx="100000" sy="100000" kx="0" ky="0" algn="bl" rotWithShape="0" blurRad="114300" dist="31750" dir="5400000">
              <a:srgbClr val="1D2433">
                <a:alpha val="12000"/>
              </a:srgbClr>
            </a:outerShdw>
          </a:effectLst>
        </p:spPr>
      </p:sp>
      <p:sp>
        <p:nvSpPr>
          <p:cNvPr id="11" name="Letter B"/>
          <p:cNvSpPr/>
          <p:nvPr/>
        </p:nvSpPr>
        <p:spPr>
          <a:xfrm>
            <a:off x="749808" y="4123373"/>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2" name="Option B text"/>
          <p:cNvSpPr txBox="1"/>
          <p:nvPr/>
        </p:nvSpPr>
        <p:spPr>
          <a:xfrm>
            <a:off x="1371600" y="4042791"/>
            <a:ext cx="4142232" cy="581787"/>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D I S</a:t>
            </a:r>
            <a:endParaRPr lang="en-IE" sz="1700" dirty="0"/>
          </a:p>
        </p:txBody>
      </p:sp>
      <p:pic>
        <p:nvPicPr>
          <p:cNvPr id="13" name="Correct mark" descr="Correct mark">    </p:cNvPr>
          <p:cNvPicPr>
            <a:picLocks noChangeAspect="1"/>
          </p:cNvPicPr>
          <p:nvPr/>
        </p:nvPicPr>
        <p:blipFill>
          <a:blip r:embed="rId1"/>
          <a:stretch>
            <a:fillRect/>
          </a:stretch>
        </p:blipFill>
        <p:spPr>
          <a:xfrm>
            <a:off x="5623560" y="4150805"/>
            <a:ext cx="365760" cy="365760"/>
          </a:xfrm>
          <a:prstGeom prst="rect">
            <a:avLst/>
          </a:prstGeom>
        </p:spPr>
      </p:pic>
      <p:sp>
        <p:nvSpPr>
          <p:cNvPr id="14" name="Option C"/>
          <p:cNvSpPr/>
          <p:nvPr/>
        </p:nvSpPr>
        <p:spPr>
          <a:xfrm>
            <a:off x="548640" y="4770882"/>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85146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6" name="Option C text"/>
          <p:cNvSpPr txBox="1"/>
          <p:nvPr/>
        </p:nvSpPr>
        <p:spPr>
          <a:xfrm>
            <a:off x="1371600" y="4770882"/>
            <a:ext cx="4572000" cy="581787"/>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D I D</a:t>
            </a:r>
            <a:endParaRPr lang="en-IE" sz="1700" dirty="0"/>
          </a:p>
        </p:txBody>
      </p:sp>
      <p:sp>
        <p:nvSpPr>
          <p:cNvPr id="17" name="Option D"/>
          <p:cNvSpPr/>
          <p:nvPr/>
        </p:nvSpPr>
        <p:spPr>
          <a:xfrm>
            <a:off x="548640" y="5498973"/>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79555"/>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71600" y="5498973"/>
            <a:ext cx="4572000" cy="581787"/>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I I S</a:t>
            </a:r>
            <a:endParaRPr lang="en-IE"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Each call uses the version whose parameter type matches the argument. 2.5 is a double, 7 is an int, and “7.0” is a String because of the quotes. The compiler makes this choice before the program runs.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25</a:t>
            </a:fld>
            <a:endParaRPr lang="en-IE"/>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POLYMORPHISM AND OVERLOADING</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Static binding</a:t>
            </a:r>
            <a:endParaRPr lang="en-IE" sz="3400" dirty="0"/>
          </a:p>
        </p:txBody>
      </p:sp>
      <p:sp>
        <p:nvSpPr>
          <p:cNvPr id="5" name="Text 2"/>
          <p:cNvSpPr txBox="1"/>
          <p:nvPr/>
        </p:nvSpPr>
        <p:spPr>
          <a:xfrm>
            <a:off x="548640" y="1783080"/>
            <a:ext cx="4480560" cy="320040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Overloaded methods have the same name, but different headers and different code.</a:t>
            </a:r>
            <a:endParaRPr lang="en-IE" sz="1800" dirty="0"/>
          </a:p>
          <a:p>
            <a:pPr marL="228600" indent="-228600">
              <a:spcAft>
                <a:spcPts val="1200"/>
              </a:spcAft>
              <a:buSzPct val="100000"/>
              <a:buChar char="•"/>
            </a:pPr>
            <a:r>
              <a:rPr lang="en-IE" sz="1800" dirty="0">
                <a:solidFill>
                  <a:schemeClr val="tx1"/>
                </a:solidFill>
              </a:rPr>
              <a:t>The code for each call is attached (bound) at compile time.</a:t>
            </a:r>
            <a:endParaRPr lang="en-IE" sz="1800" dirty="0"/>
          </a:p>
          <a:p>
            <a:pPr marL="228600" indent="-228600">
              <a:buSzPct val="100000"/>
              <a:buChar char="•"/>
            </a:pPr>
            <a:r>
              <a:rPr lang="en-IE" sz="1800" dirty="0">
                <a:solidFill>
                  <a:schemeClr val="tx1"/>
                </a:solidFill>
              </a:rPr>
              <a:t>Because this all happens in advance, it’s called static binding.</a:t>
            </a:r>
            <a:endParaRPr lang="en-IE" sz="1800" dirty="0"/>
          </a:p>
        </p:txBody>
      </p:sp>
      <p:sp>
        <p:nvSpPr>
          <p:cNvPr id="6" name="Text 3"/>
          <p:cNvSpPr txBox="1"/>
          <p:nvPr/>
        </p:nvSpPr>
        <p:spPr>
          <a:xfrm>
            <a:off x="5349240" y="1691640"/>
            <a:ext cx="2194560" cy="292608"/>
          </a:xfrm>
          <a:prstGeom prst="rect">
            <a:avLst/>
          </a:prstGeom>
          <a:noFill/>
          <a:ln/>
        </p:spPr>
        <p:txBody>
          <a:bodyPr wrap="square" lIns="0" tIns="0" rIns="0" bIns="0" rtlCol="0" anchor="t"/>
          <a:lstStyle/>
          <a:p>
            <a:pPr indent="0" marL="0">
              <a:buNone/>
            </a:pPr>
            <a:r>
              <a:rPr lang="en-IE" sz="1300" b="1" dirty="0">
                <a:solidFill>
                  <a:schemeClr val="tx2"/>
                </a:solidFill>
              </a:rPr>
              <a:t>The call</a:t>
            </a:r>
            <a:endParaRPr lang="en-IE" sz="1300" dirty="0"/>
          </a:p>
        </p:txBody>
      </p:sp>
      <p:sp>
        <p:nvSpPr>
          <p:cNvPr id="7" name="Text 4"/>
          <p:cNvSpPr txBox="1"/>
          <p:nvPr/>
        </p:nvSpPr>
        <p:spPr>
          <a:xfrm>
            <a:off x="8001000" y="1691640"/>
            <a:ext cx="3657600" cy="292608"/>
          </a:xfrm>
          <a:prstGeom prst="rect">
            <a:avLst/>
          </a:prstGeom>
          <a:noFill/>
          <a:ln/>
        </p:spPr>
        <p:txBody>
          <a:bodyPr wrap="square" lIns="0" tIns="0" rIns="0" bIns="0" rtlCol="0" anchor="t"/>
          <a:lstStyle/>
          <a:p>
            <a:pPr indent="0" marL="0">
              <a:buNone/>
            </a:pPr>
            <a:r>
              <a:rPr lang="en-IE" sz="1300" b="1" dirty="0">
                <a:solidFill>
                  <a:schemeClr val="tx2"/>
                </a:solidFill>
              </a:rPr>
              <a:t>The version the compiler picks</a:t>
            </a:r>
            <a:endParaRPr lang="en-IE" sz="1300" dirty="0"/>
          </a:p>
        </p:txBody>
      </p:sp>
      <p:sp>
        <p:nvSpPr>
          <p:cNvPr id="8" name="Code chip"/>
          <p:cNvSpPr/>
          <p:nvPr/>
        </p:nvSpPr>
        <p:spPr>
          <a:xfrm>
            <a:off x="5349240" y="2148840"/>
            <a:ext cx="2240280" cy="548640"/>
          </a:xfrm>
          <a:prstGeom prst="roundRect">
            <a:avLst>
              <a:gd name="adj" fmla="val 13333"/>
            </a:avLst>
          </a:prstGeom>
          <a:solidFill>
            <a:schemeClr val="bg2"/>
          </a:solidFill>
          <a:ln/>
        </p:spPr>
        <p:txBody>
          <a:bodyPr wrap="square" lIns="0" tIns="0" rIns="0" bIns="0" rtlCol="0" anchor="ctr"/>
          <a:lstStyle/>
          <a:p>
            <a:pPr algn="ctr" indent="0" marL="0">
              <a:buNone/>
            </a:pPr>
            <a:r>
              <a:rPr lang="en-IE" sz="1600" dirty="0">
                <a:solidFill>
                  <a:schemeClr val="accent2"/>
                </a:solidFill>
                <a:latin typeface="Consolas" pitchFamily="34" charset="0"/>
                <a:ea typeface="Consolas" pitchFamily="34" charset="-122"/>
                <a:cs typeface="Consolas" pitchFamily="34" charset="-120"/>
              </a:rPr>
              <a:t>add(1, 2)</a:t>
            </a:r>
            <a:endParaRPr lang="en-IE" sz="1600" dirty="0"/>
          </a:p>
        </p:txBody>
      </p:sp>
      <p:sp>
        <p:nvSpPr>
          <p:cNvPr id="9" name="Connector"/>
          <p:cNvSpPr/>
          <p:nvPr/>
        </p:nvSpPr>
        <p:spPr>
          <a:xfrm>
            <a:off x="7662672" y="2423160"/>
            <a:ext cx="292608" cy="0"/>
          </a:xfrm>
          <a:prstGeom prst="line">
            <a:avLst/>
          </a:prstGeom>
          <a:noFill/>
          <a:ln w="25400">
            <a:solidFill>
              <a:schemeClr val="accent2"/>
            </a:solidFill>
            <a:prstDash val="solid"/>
            <a:tailEnd type="triangle"/>
          </a:ln>
        </p:spPr>
      </p:sp>
      <p:sp>
        <p:nvSpPr>
          <p:cNvPr id="10" name="Method header"/>
          <p:cNvSpPr/>
          <p:nvPr/>
        </p:nvSpPr>
        <p:spPr>
          <a:xfrm>
            <a:off x="8001000" y="2148840"/>
            <a:ext cx="3639312" cy="548640"/>
          </a:xfrm>
          <a:prstGeom prst="roundRect">
            <a:avLst>
              <a:gd name="adj" fmla="val 13333"/>
            </a:avLst>
          </a:prstGeom>
          <a:solidFill>
            <a:schemeClr val="accent2">
              <a:alpha val="12000"/>
            </a:schemeClr>
          </a:solidFill>
          <a:ln w="12700">
            <a:solidFill>
              <a:schemeClr val="accent2"/>
            </a:solidFill>
          </a:ln>
        </p:spPr>
        <p:txBody>
          <a:bodyPr wrap="square" lIns="0" tIns="0" rIns="0" bIns="0" rtlCol="0" anchor="ctr"/>
          <a:lstStyle/>
          <a:p>
            <a:pPr algn="ctr" indent="0" marL="0">
              <a:buNone/>
            </a:pPr>
            <a:r>
              <a:rPr lang="en-IE" sz="1300" b="1" dirty="0">
                <a:solidFill>
                  <a:schemeClr val="tx1"/>
                </a:solidFill>
                <a:latin typeface="Consolas" pitchFamily="34" charset="0"/>
                <a:ea typeface="Consolas" pitchFamily="34" charset="-122"/>
                <a:cs typeface="Consolas" pitchFamily="34" charset="-120"/>
              </a:rPr>
              <a:t>int add(int a, int b)</a:t>
            </a:r>
            <a:endParaRPr lang="en-IE" sz="1300" dirty="0"/>
          </a:p>
        </p:txBody>
      </p:sp>
      <p:sp>
        <p:nvSpPr>
          <p:cNvPr id="11" name="Code chip"/>
          <p:cNvSpPr/>
          <p:nvPr/>
        </p:nvSpPr>
        <p:spPr>
          <a:xfrm>
            <a:off x="5349240" y="3172968"/>
            <a:ext cx="2240280" cy="548640"/>
          </a:xfrm>
          <a:prstGeom prst="roundRect">
            <a:avLst>
              <a:gd name="adj" fmla="val 13333"/>
            </a:avLst>
          </a:prstGeom>
          <a:solidFill>
            <a:schemeClr val="bg2"/>
          </a:solidFill>
          <a:ln/>
        </p:spPr>
        <p:txBody>
          <a:bodyPr wrap="square" lIns="0" tIns="0" rIns="0" bIns="0" rtlCol="0" anchor="ctr"/>
          <a:lstStyle/>
          <a:p>
            <a:pPr algn="ctr" indent="0" marL="0">
              <a:buNone/>
            </a:pPr>
            <a:r>
              <a:rPr lang="en-IE" sz="1600" dirty="0">
                <a:solidFill>
                  <a:schemeClr val="accent2"/>
                </a:solidFill>
                <a:latin typeface="Consolas" pitchFamily="34" charset="0"/>
                <a:ea typeface="Consolas" pitchFamily="34" charset="-122"/>
                <a:cs typeface="Consolas" pitchFamily="34" charset="-120"/>
              </a:rPr>
              <a:t>add(14, 2, 4)</a:t>
            </a:r>
            <a:endParaRPr lang="en-IE" sz="1600" dirty="0"/>
          </a:p>
        </p:txBody>
      </p:sp>
      <p:sp>
        <p:nvSpPr>
          <p:cNvPr id="12" name="Connector"/>
          <p:cNvSpPr/>
          <p:nvPr/>
        </p:nvSpPr>
        <p:spPr>
          <a:xfrm>
            <a:off x="7662672" y="3447288"/>
            <a:ext cx="292608" cy="0"/>
          </a:xfrm>
          <a:prstGeom prst="line">
            <a:avLst/>
          </a:prstGeom>
          <a:noFill/>
          <a:ln w="25400">
            <a:solidFill>
              <a:schemeClr val="accent2"/>
            </a:solidFill>
            <a:prstDash val="solid"/>
            <a:tailEnd type="triangle"/>
          </a:ln>
        </p:spPr>
      </p:sp>
      <p:sp>
        <p:nvSpPr>
          <p:cNvPr id="13" name="Method header"/>
          <p:cNvSpPr/>
          <p:nvPr/>
        </p:nvSpPr>
        <p:spPr>
          <a:xfrm>
            <a:off x="8001000" y="3172968"/>
            <a:ext cx="3639312" cy="548640"/>
          </a:xfrm>
          <a:prstGeom prst="roundRect">
            <a:avLst>
              <a:gd name="adj" fmla="val 13333"/>
            </a:avLst>
          </a:prstGeom>
          <a:solidFill>
            <a:schemeClr val="accent2">
              <a:alpha val="12000"/>
            </a:schemeClr>
          </a:solidFill>
          <a:ln w="12700">
            <a:solidFill>
              <a:schemeClr val="accent2"/>
            </a:solidFill>
          </a:ln>
        </p:spPr>
        <p:txBody>
          <a:bodyPr wrap="square" lIns="0" tIns="0" rIns="0" bIns="0" rtlCol="0" anchor="ctr"/>
          <a:lstStyle/>
          <a:p>
            <a:pPr algn="ctr" indent="0" marL="0">
              <a:buNone/>
            </a:pPr>
            <a:r>
              <a:rPr lang="en-IE" sz="1300" b="1" dirty="0">
                <a:solidFill>
                  <a:schemeClr val="tx1"/>
                </a:solidFill>
                <a:latin typeface="Consolas" pitchFamily="34" charset="0"/>
                <a:ea typeface="Consolas" pitchFamily="34" charset="-122"/>
                <a:cs typeface="Consolas" pitchFamily="34" charset="-120"/>
              </a:rPr>
              <a:t>int add(int a, int b, int c)</a:t>
            </a:r>
            <a:endParaRPr lang="en-IE" sz="1300" dirty="0"/>
          </a:p>
        </p:txBody>
      </p:sp>
      <p:sp>
        <p:nvSpPr>
          <p:cNvPr id="14" name="Code chip"/>
          <p:cNvSpPr/>
          <p:nvPr/>
        </p:nvSpPr>
        <p:spPr>
          <a:xfrm>
            <a:off x="5349240" y="4197096"/>
            <a:ext cx="2240280" cy="548640"/>
          </a:xfrm>
          <a:prstGeom prst="roundRect">
            <a:avLst>
              <a:gd name="adj" fmla="val 13333"/>
            </a:avLst>
          </a:prstGeom>
          <a:solidFill>
            <a:schemeClr val="bg2"/>
          </a:solidFill>
          <a:ln/>
        </p:spPr>
        <p:txBody>
          <a:bodyPr wrap="square" lIns="0" tIns="0" rIns="0" bIns="0" rtlCol="0" anchor="ctr"/>
          <a:lstStyle/>
          <a:p>
            <a:pPr algn="ctr" indent="0" marL="0">
              <a:buNone/>
            </a:pPr>
            <a:r>
              <a:rPr lang="en-IE" sz="1600" dirty="0">
                <a:solidFill>
                  <a:schemeClr val="accent2"/>
                </a:solidFill>
                <a:latin typeface="Consolas" pitchFamily="34" charset="0"/>
                <a:ea typeface="Consolas" pitchFamily="34" charset="-122"/>
                <a:cs typeface="Consolas" pitchFamily="34" charset="-120"/>
              </a:rPr>
              <a:t>add(5.6, 3.7)</a:t>
            </a:r>
            <a:endParaRPr lang="en-IE" sz="1600" dirty="0"/>
          </a:p>
        </p:txBody>
      </p:sp>
      <p:sp>
        <p:nvSpPr>
          <p:cNvPr id="15" name="Connector"/>
          <p:cNvSpPr/>
          <p:nvPr/>
        </p:nvSpPr>
        <p:spPr>
          <a:xfrm>
            <a:off x="7662672" y="4471416"/>
            <a:ext cx="292608" cy="0"/>
          </a:xfrm>
          <a:prstGeom prst="line">
            <a:avLst/>
          </a:prstGeom>
          <a:noFill/>
          <a:ln w="25400">
            <a:solidFill>
              <a:schemeClr val="accent2"/>
            </a:solidFill>
            <a:prstDash val="solid"/>
            <a:tailEnd type="triangle"/>
          </a:ln>
        </p:spPr>
      </p:sp>
      <p:sp>
        <p:nvSpPr>
          <p:cNvPr id="16" name="Method header"/>
          <p:cNvSpPr/>
          <p:nvPr/>
        </p:nvSpPr>
        <p:spPr>
          <a:xfrm>
            <a:off x="8001000" y="4197096"/>
            <a:ext cx="3639312" cy="548640"/>
          </a:xfrm>
          <a:prstGeom prst="roundRect">
            <a:avLst>
              <a:gd name="adj" fmla="val 13333"/>
            </a:avLst>
          </a:prstGeom>
          <a:solidFill>
            <a:schemeClr val="accent2">
              <a:alpha val="12000"/>
            </a:schemeClr>
          </a:solidFill>
          <a:ln w="12700">
            <a:solidFill>
              <a:schemeClr val="accent2"/>
            </a:solidFill>
          </a:ln>
        </p:spPr>
        <p:txBody>
          <a:bodyPr wrap="square" lIns="0" tIns="0" rIns="0" bIns="0" rtlCol="0" anchor="ctr"/>
          <a:lstStyle/>
          <a:p>
            <a:pPr algn="ctr" indent="0" marL="0">
              <a:buNone/>
            </a:pPr>
            <a:r>
              <a:rPr lang="en-IE" sz="1300" b="1" dirty="0">
                <a:solidFill>
                  <a:schemeClr val="tx1"/>
                </a:solidFill>
                <a:latin typeface="Consolas" pitchFamily="34" charset="0"/>
                <a:ea typeface="Consolas" pitchFamily="34" charset="-122"/>
                <a:cs typeface="Consolas" pitchFamily="34" charset="-120"/>
              </a:rPr>
              <a:t>double add(double a, double b)</a:t>
            </a:r>
            <a:endParaRPr lang="en-IE" sz="1300" dirty="0"/>
          </a:p>
        </p:txBody>
      </p:sp>
      <p:sp>
        <p:nvSpPr>
          <p:cNvPr id="17" name="Note"/>
          <p:cNvSpPr/>
          <p:nvPr/>
        </p:nvSpPr>
        <p:spPr>
          <a:xfrm>
            <a:off x="5349240" y="5349240"/>
            <a:ext cx="6291072" cy="777240"/>
          </a:xfrm>
          <a:prstGeom prst="roundRect">
            <a:avLst>
              <a:gd name="adj" fmla="val 14118"/>
            </a:avLst>
          </a:prstGeom>
          <a:solidFill>
            <a:schemeClr val="bg2"/>
          </a:solidFill>
          <a:ln/>
        </p:spPr>
      </p:sp>
      <p:sp>
        <p:nvSpPr>
          <p:cNvPr id="18" name="Icon tile"/>
          <p:cNvSpPr/>
          <p:nvPr/>
        </p:nvSpPr>
        <p:spPr>
          <a:xfrm>
            <a:off x="5623560" y="5472684"/>
            <a:ext cx="530352" cy="530352"/>
          </a:xfrm>
          <a:prstGeom prst="roundRect">
            <a:avLst>
              <a:gd name="adj" fmla="val 24000"/>
            </a:avLst>
          </a:prstGeom>
          <a:solidFill>
            <a:schemeClr val="accent2">
              <a:alpha val="14000"/>
            </a:schemeClr>
          </a:solidFill>
          <a:ln/>
        </p:spPr>
      </p:sp>
      <p:pic>
        <p:nvPicPr>
          <p:cNvPr id="19" name="clock icon" descr="clock icon">    </p:cNvPr>
          <p:cNvPicPr>
            <a:picLocks noChangeAspect="1"/>
          </p:cNvPicPr>
          <p:nvPr/>
        </p:nvPicPr>
        <p:blipFill>
          <a:blip r:embed="rId1"/>
          <a:stretch>
            <a:fillRect/>
          </a:stretch>
        </p:blipFill>
        <p:spPr>
          <a:xfrm>
            <a:off x="5734934" y="5584058"/>
            <a:ext cx="307604" cy="307604"/>
          </a:xfrm>
          <a:prstGeom prst="rect">
            <a:avLst/>
          </a:prstGeom>
        </p:spPr>
      </p:pic>
      <p:sp>
        <p:nvSpPr>
          <p:cNvPr id="20" name="Text 16"/>
          <p:cNvSpPr txBox="1"/>
          <p:nvPr/>
        </p:nvSpPr>
        <p:spPr>
          <a:xfrm>
            <a:off x="6373368" y="5349240"/>
            <a:ext cx="5010912" cy="777240"/>
          </a:xfrm>
          <a:prstGeom prst="rect">
            <a:avLst/>
          </a:prstGeom>
          <a:noFill/>
          <a:ln/>
        </p:spPr>
        <p:txBody>
          <a:bodyPr wrap="square" lIns="0" tIns="0" rIns="0" bIns="0" rtlCol="0" anchor="ctr"/>
          <a:lstStyle/>
          <a:p>
            <a:pPr indent="0" marL="0">
              <a:buNone/>
            </a:pPr>
            <a:r>
              <a:rPr lang="en-IE" sz="1600" dirty="0">
                <a:solidFill>
                  <a:schemeClr val="tx1"/>
                </a:solidFill>
              </a:rPr>
              <a:t>Decided </a:t>
            </a:r>
            <a:r>
              <a:rPr lang="en-IE" sz="1600" b="1" dirty="0">
                <a:solidFill>
                  <a:schemeClr val="tx1"/>
                </a:solidFill>
              </a:rPr>
              <a:t>before</a:t>
            </a:r>
            <a:r>
              <a:rPr lang="en-IE" sz="1600" dirty="0">
                <a:solidFill>
                  <a:schemeClr val="tx1"/>
                </a:solidFill>
              </a:rPr>
              <a:t> the program runs, by looking at the arguments.</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26</a:t>
            </a:fld>
            <a:endParaRPr lang="en-IE"/>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8</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Overloading</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Why is overloading called static (compile-time) polymorphism?</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only works with methods that are marked static</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Overloaded methods can never be changed later</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 version is chosen while the program is running</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 version is chosen when the code is compiled</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27</a:t>
            </a:fld>
            <a:endParaRPr lang="en-IE"/>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8</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Overloading</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Why is overloading called static (compile-time) polymorphism?</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only works with methods that are marked static</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Overloaded methods can never be changed later</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 version is chosen while the program is running</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The version is chosen when the code is compiled</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The compiler looks at the arguments and picks the matching version before the program runs. The code is bound in advance, so it is called static binding. Overloading works with any method, static or not, and with constructors (A).</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28</a:t>
            </a:fld>
            <a:endParaRPr lang="en-IE"/>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POLYMORPHISM AND OVERLOADING</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How to overload a method</a:t>
            </a:r>
            <a:endParaRPr lang="en-IE" sz="3400" dirty="0"/>
          </a:p>
        </p:txBody>
      </p:sp>
      <p:sp>
        <p:nvSpPr>
          <p:cNvPr id="5" name="Change the number of parameters"/>
          <p:cNvSpPr/>
          <p:nvPr/>
        </p:nvSpPr>
        <p:spPr>
          <a:xfrm>
            <a:off x="548640" y="169164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2048256"/>
            <a:ext cx="658368" cy="658368"/>
          </a:xfrm>
          <a:prstGeom prst="roundRect">
            <a:avLst>
              <a:gd name="adj" fmla="val 24000"/>
            </a:avLst>
          </a:prstGeom>
          <a:solidFill>
            <a:schemeClr val="accent3">
              <a:alpha val="14000"/>
            </a:schemeClr>
          </a:solidFill>
          <a:ln/>
        </p:spPr>
      </p:sp>
      <p:pic>
        <p:nvPicPr>
          <p:cNvPr id="7" name="list numbers icon" descr="list numbers icon">    </p:cNvPr>
          <p:cNvPicPr>
            <a:picLocks noChangeAspect="1"/>
          </p:cNvPicPr>
          <p:nvPr/>
        </p:nvPicPr>
        <p:blipFill>
          <a:blip r:embed="rId1"/>
          <a:stretch>
            <a:fillRect/>
          </a:stretch>
        </p:blipFill>
        <p:spPr>
          <a:xfrm>
            <a:off x="961217" y="2186513"/>
            <a:ext cx="381853" cy="381853"/>
          </a:xfrm>
          <a:prstGeom prst="rect">
            <a:avLst/>
          </a:prstGeom>
        </p:spPr>
      </p:pic>
      <p:sp>
        <p:nvSpPr>
          <p:cNvPr id="8" name="Text 4"/>
          <p:cNvSpPr txBox="1"/>
          <p:nvPr/>
        </p:nvSpPr>
        <p:spPr>
          <a:xfrm>
            <a:off x="1737360" y="1874520"/>
            <a:ext cx="4023360" cy="384048"/>
          </a:xfrm>
          <a:prstGeom prst="rect">
            <a:avLst/>
          </a:prstGeom>
          <a:noFill/>
          <a:ln/>
        </p:spPr>
        <p:txBody>
          <a:bodyPr wrap="square" lIns="0" tIns="0" rIns="0" bIns="0" rtlCol="0" anchor="t"/>
          <a:lstStyle/>
          <a:p>
            <a:pPr indent="0" marL="0">
              <a:buNone/>
            </a:pPr>
            <a:r>
              <a:rPr lang="en-IE" sz="1900" b="1" dirty="0">
                <a:solidFill>
                  <a:schemeClr val="tx1"/>
                </a:solidFill>
              </a:rPr>
              <a:t>Change the number of parameters</a:t>
            </a:r>
            <a:endParaRPr lang="en-IE" sz="1900" dirty="0"/>
          </a:p>
        </p:txBody>
      </p:sp>
      <p:sp>
        <p:nvSpPr>
          <p:cNvPr id="9" name="Text 5"/>
          <p:cNvSpPr txBox="1"/>
          <p:nvPr/>
        </p:nvSpPr>
        <p:spPr>
          <a:xfrm>
            <a:off x="1737360" y="2276856"/>
            <a:ext cx="4023360" cy="658368"/>
          </a:xfrm>
          <a:prstGeom prst="rect">
            <a:avLst/>
          </a:prstGeom>
          <a:noFill/>
          <a:ln/>
        </p:spPr>
        <p:txBody>
          <a:bodyPr wrap="square" lIns="0" tIns="0" rIns="0" bIns="0" rtlCol="0" anchor="t"/>
          <a:lstStyle/>
          <a:p>
            <a:pPr indent="0" marL="0">
              <a:buNone/>
            </a:pPr>
            <a:r>
              <a:rPr lang="en-IE" sz="1500" dirty="0">
                <a:solidFill>
                  <a:schemeClr val="tx2"/>
                </a:solidFill>
              </a:rPr>
              <a:t>Same name, but a different number of parameters.</a:t>
            </a:r>
            <a:endParaRPr lang="en-IE" sz="1500" dirty="0"/>
          </a:p>
        </p:txBody>
      </p:sp>
      <p:sp>
        <p:nvSpPr>
          <p:cNvPr id="10" name="Change the number of parameters code card"/>
          <p:cNvSpPr/>
          <p:nvPr/>
        </p:nvSpPr>
        <p:spPr>
          <a:xfrm>
            <a:off x="6035040" y="1930400"/>
            <a:ext cx="4937760" cy="894080"/>
          </a:xfrm>
          <a:prstGeom prst="roundRect">
            <a:avLst>
              <a:gd name="adj" fmla="val 12273"/>
            </a:avLst>
          </a:prstGeom>
          <a:solidFill>
            <a:schemeClr val="tx1"/>
          </a:solidFill>
          <a:ln/>
          <a:effectLst>
            <a:outerShdw sx="100000" sy="100000" kx="0" ky="0" algn="bl" rotWithShape="0" blurRad="114300" dist="31750" dir="5400000">
              <a:srgbClr val="1D2433">
                <a:alpha val="12000"/>
              </a:srgbClr>
            </a:outerShdw>
          </a:effectLst>
        </p:spPr>
      </p:sp>
      <p:sp>
        <p:nvSpPr>
          <p:cNvPr id="11" name="Change the number of parameters code text"/>
          <p:cNvSpPr txBox="1"/>
          <p:nvPr/>
        </p:nvSpPr>
        <p:spPr>
          <a:xfrm>
            <a:off x="6309360" y="2131568"/>
            <a:ext cx="4389120" cy="49174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add</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a,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b)</a:t>
            </a:r>
            <a:endParaRPr lang="en-IE" sz="1300" dirty="0"/>
          </a:p>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add</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a,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b,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c)</a:t>
            </a:r>
            <a:endParaRPr lang="en-IE" sz="1300" dirty="0"/>
          </a:p>
        </p:txBody>
      </p:sp>
      <p:pic>
        <p:nvPicPr>
          <p:cNvPr id="12" name="Allowed" descr="Allowed">    </p:cNvPr>
          <p:cNvPicPr>
            <a:picLocks noChangeAspect="1"/>
          </p:cNvPicPr>
          <p:nvPr/>
        </p:nvPicPr>
        <p:blipFill>
          <a:blip r:embed="rId2"/>
          <a:stretch>
            <a:fillRect/>
          </a:stretch>
        </p:blipFill>
        <p:spPr>
          <a:xfrm>
            <a:off x="11128248" y="2176272"/>
            <a:ext cx="402336" cy="402336"/>
          </a:xfrm>
          <a:prstGeom prst="rect">
            <a:avLst/>
          </a:prstGeom>
        </p:spPr>
      </p:pic>
      <p:sp>
        <p:nvSpPr>
          <p:cNvPr id="13" name="Change the type of parameters"/>
          <p:cNvSpPr/>
          <p:nvPr/>
        </p:nvSpPr>
        <p:spPr>
          <a:xfrm>
            <a:off x="548640" y="3191256"/>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4" name="Icon tile"/>
          <p:cNvSpPr/>
          <p:nvPr/>
        </p:nvSpPr>
        <p:spPr>
          <a:xfrm>
            <a:off x="822960" y="3547872"/>
            <a:ext cx="658368" cy="658368"/>
          </a:xfrm>
          <a:prstGeom prst="roundRect">
            <a:avLst>
              <a:gd name="adj" fmla="val 24000"/>
            </a:avLst>
          </a:prstGeom>
          <a:solidFill>
            <a:schemeClr val="accent3">
              <a:alpha val="14000"/>
            </a:schemeClr>
          </a:solidFill>
          <a:ln/>
        </p:spPr>
      </p:sp>
      <p:pic>
        <p:nvPicPr>
          <p:cNvPr id="15" name="shapes icon" descr="shapes icon">    </p:cNvPr>
          <p:cNvPicPr>
            <a:picLocks noChangeAspect="1"/>
          </p:cNvPicPr>
          <p:nvPr/>
        </p:nvPicPr>
        <p:blipFill>
          <a:blip r:embed="rId3"/>
          <a:stretch>
            <a:fillRect/>
          </a:stretch>
        </p:blipFill>
        <p:spPr>
          <a:xfrm>
            <a:off x="961217" y="3686129"/>
            <a:ext cx="381853" cy="381853"/>
          </a:xfrm>
          <a:prstGeom prst="rect">
            <a:avLst/>
          </a:prstGeom>
        </p:spPr>
      </p:pic>
      <p:sp>
        <p:nvSpPr>
          <p:cNvPr id="16" name="Text 10"/>
          <p:cNvSpPr txBox="1"/>
          <p:nvPr/>
        </p:nvSpPr>
        <p:spPr>
          <a:xfrm>
            <a:off x="1737360" y="3374136"/>
            <a:ext cx="4023360" cy="384048"/>
          </a:xfrm>
          <a:prstGeom prst="rect">
            <a:avLst/>
          </a:prstGeom>
          <a:noFill/>
          <a:ln/>
        </p:spPr>
        <p:txBody>
          <a:bodyPr wrap="square" lIns="0" tIns="0" rIns="0" bIns="0" rtlCol="0" anchor="t"/>
          <a:lstStyle/>
          <a:p>
            <a:pPr indent="0" marL="0">
              <a:buNone/>
            </a:pPr>
            <a:r>
              <a:rPr lang="en-IE" sz="1900" b="1" dirty="0">
                <a:solidFill>
                  <a:schemeClr val="tx1"/>
                </a:solidFill>
              </a:rPr>
              <a:t>Change the type of parameters</a:t>
            </a:r>
            <a:endParaRPr lang="en-IE" sz="1900" dirty="0"/>
          </a:p>
        </p:txBody>
      </p:sp>
      <p:sp>
        <p:nvSpPr>
          <p:cNvPr id="17" name="Text 11"/>
          <p:cNvSpPr txBox="1"/>
          <p:nvPr/>
        </p:nvSpPr>
        <p:spPr>
          <a:xfrm>
            <a:off x="1737360" y="3776472"/>
            <a:ext cx="4023360" cy="658368"/>
          </a:xfrm>
          <a:prstGeom prst="rect">
            <a:avLst/>
          </a:prstGeom>
          <a:noFill/>
          <a:ln/>
        </p:spPr>
        <p:txBody>
          <a:bodyPr wrap="square" lIns="0" tIns="0" rIns="0" bIns="0" rtlCol="0" anchor="t"/>
          <a:lstStyle/>
          <a:p>
            <a:pPr indent="0" marL="0">
              <a:buNone/>
            </a:pPr>
            <a:r>
              <a:rPr lang="en-IE" sz="1500" dirty="0">
                <a:solidFill>
                  <a:schemeClr val="tx2"/>
                </a:solidFill>
              </a:rPr>
              <a:t>Same name and number, but different parameter types.</a:t>
            </a:r>
            <a:endParaRPr lang="en-IE" sz="1500" dirty="0"/>
          </a:p>
        </p:txBody>
      </p:sp>
      <p:sp>
        <p:nvSpPr>
          <p:cNvPr id="18" name="Change the type of parameters code card"/>
          <p:cNvSpPr/>
          <p:nvPr/>
        </p:nvSpPr>
        <p:spPr>
          <a:xfrm>
            <a:off x="6035040" y="3430016"/>
            <a:ext cx="4937760" cy="894080"/>
          </a:xfrm>
          <a:prstGeom prst="roundRect">
            <a:avLst>
              <a:gd name="adj" fmla="val 12273"/>
            </a:avLst>
          </a:prstGeom>
          <a:solidFill>
            <a:schemeClr val="tx1"/>
          </a:solidFill>
          <a:ln/>
          <a:effectLst>
            <a:outerShdw sx="100000" sy="100000" kx="0" ky="0" algn="bl" rotWithShape="0" blurRad="114300" dist="31750" dir="5400000">
              <a:srgbClr val="1D2433">
                <a:alpha val="12000"/>
              </a:srgbClr>
            </a:outerShdw>
          </a:effectLst>
        </p:spPr>
      </p:sp>
      <p:sp>
        <p:nvSpPr>
          <p:cNvPr id="19" name="Change the type of parameters code text"/>
          <p:cNvSpPr txBox="1"/>
          <p:nvPr/>
        </p:nvSpPr>
        <p:spPr>
          <a:xfrm>
            <a:off x="6309360" y="3631184"/>
            <a:ext cx="4389120" cy="49174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add</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a,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b)</a:t>
            </a:r>
            <a:endParaRPr lang="en-IE" sz="1300" dirty="0"/>
          </a:p>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add</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a, </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b)</a:t>
            </a:r>
            <a:endParaRPr lang="en-IE" sz="1300" dirty="0"/>
          </a:p>
        </p:txBody>
      </p:sp>
      <p:pic>
        <p:nvPicPr>
          <p:cNvPr id="20" name="Allowed" descr="Allowed">    </p:cNvPr>
          <p:cNvPicPr>
            <a:picLocks noChangeAspect="1"/>
          </p:cNvPicPr>
          <p:nvPr/>
        </p:nvPicPr>
        <p:blipFill>
          <a:blip r:embed="rId4"/>
          <a:stretch>
            <a:fillRect/>
          </a:stretch>
        </p:blipFill>
        <p:spPr>
          <a:xfrm>
            <a:off x="11128248" y="3675888"/>
            <a:ext cx="402336" cy="402336"/>
          </a:xfrm>
          <a:prstGeom prst="rect">
            <a:avLst/>
          </a:prstGeom>
        </p:spPr>
      </p:pic>
      <p:sp>
        <p:nvSpPr>
          <p:cNvPr id="21" name="Same name and parameters"/>
          <p:cNvSpPr/>
          <p:nvPr/>
        </p:nvSpPr>
        <p:spPr>
          <a:xfrm>
            <a:off x="548640" y="4690872"/>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22" name="Icon tile"/>
          <p:cNvSpPr/>
          <p:nvPr/>
        </p:nvSpPr>
        <p:spPr>
          <a:xfrm>
            <a:off x="822960" y="5047488"/>
            <a:ext cx="658368" cy="658368"/>
          </a:xfrm>
          <a:prstGeom prst="roundRect">
            <a:avLst>
              <a:gd name="adj" fmla="val 24000"/>
            </a:avLst>
          </a:prstGeom>
          <a:solidFill>
            <a:schemeClr val="accent1">
              <a:alpha val="14000"/>
            </a:schemeClr>
          </a:solidFill>
          <a:ln/>
        </p:spPr>
      </p:sp>
      <p:pic>
        <p:nvPicPr>
          <p:cNvPr id="23" name="copy icon" descr="copy icon">    </p:cNvPr>
          <p:cNvPicPr>
            <a:picLocks noChangeAspect="1"/>
          </p:cNvPicPr>
          <p:nvPr/>
        </p:nvPicPr>
        <p:blipFill>
          <a:blip r:embed="rId5"/>
          <a:stretch>
            <a:fillRect/>
          </a:stretch>
        </p:blipFill>
        <p:spPr>
          <a:xfrm>
            <a:off x="961217" y="5185745"/>
            <a:ext cx="381853" cy="381853"/>
          </a:xfrm>
          <a:prstGeom prst="rect">
            <a:avLst/>
          </a:prstGeom>
        </p:spPr>
      </p:pic>
      <p:sp>
        <p:nvSpPr>
          <p:cNvPr id="24" name="Text 16"/>
          <p:cNvSpPr txBox="1"/>
          <p:nvPr/>
        </p:nvSpPr>
        <p:spPr>
          <a:xfrm>
            <a:off x="1737360" y="4873752"/>
            <a:ext cx="4023360" cy="384048"/>
          </a:xfrm>
          <a:prstGeom prst="rect">
            <a:avLst/>
          </a:prstGeom>
          <a:noFill/>
          <a:ln/>
        </p:spPr>
        <p:txBody>
          <a:bodyPr wrap="square" lIns="0" tIns="0" rIns="0" bIns="0" rtlCol="0" anchor="t"/>
          <a:lstStyle/>
          <a:p>
            <a:pPr indent="0" marL="0">
              <a:buNone/>
            </a:pPr>
            <a:r>
              <a:rPr lang="en-IE" sz="1900" b="1" dirty="0">
                <a:solidFill>
                  <a:schemeClr val="tx1"/>
                </a:solidFill>
              </a:rPr>
              <a:t>Same name and parameters</a:t>
            </a:r>
            <a:endParaRPr lang="en-IE" sz="1900" dirty="0"/>
          </a:p>
        </p:txBody>
      </p:sp>
      <p:sp>
        <p:nvSpPr>
          <p:cNvPr id="25" name="Text 17"/>
          <p:cNvSpPr txBox="1"/>
          <p:nvPr/>
        </p:nvSpPr>
        <p:spPr>
          <a:xfrm>
            <a:off x="1737360" y="5276088"/>
            <a:ext cx="4023360" cy="658368"/>
          </a:xfrm>
          <a:prstGeom prst="rect">
            <a:avLst/>
          </a:prstGeom>
          <a:noFill/>
          <a:ln/>
        </p:spPr>
        <p:txBody>
          <a:bodyPr wrap="square" lIns="0" tIns="0" rIns="0" bIns="0" rtlCol="0" anchor="t"/>
          <a:lstStyle/>
          <a:p>
            <a:pPr indent="0" marL="0">
              <a:buNone/>
            </a:pPr>
            <a:r>
              <a:rPr lang="en-IE" sz="1500" dirty="0">
                <a:solidFill>
                  <a:schemeClr val="tx2"/>
                </a:solidFill>
              </a:rPr>
              <a:t>That is the same signature, so it’s not allowed. The compiler says </a:t>
            </a:r>
            <a:r>
              <a:rPr lang="en-IE" sz="1500" dirty="0">
                <a:solidFill>
                  <a:schemeClr val="accent2"/>
                </a:solidFill>
                <a:latin typeface="Consolas" pitchFamily="34" charset="0"/>
                <a:ea typeface="Consolas" pitchFamily="34" charset="-122"/>
                <a:cs typeface="Consolas" pitchFamily="34" charset="-120"/>
              </a:rPr>
              <a:t>add(int,int)</a:t>
            </a:r>
            <a:r>
              <a:rPr lang="en-IE" sz="1500" dirty="0">
                <a:solidFill>
                  <a:schemeClr val="tx2"/>
                </a:solidFill>
              </a:rPr>
              <a:t> is already defined.</a:t>
            </a:r>
            <a:endParaRPr lang="en-IE" sz="1500" dirty="0"/>
          </a:p>
        </p:txBody>
      </p:sp>
      <p:sp>
        <p:nvSpPr>
          <p:cNvPr id="26" name="Same name and parameters code card"/>
          <p:cNvSpPr/>
          <p:nvPr/>
        </p:nvSpPr>
        <p:spPr>
          <a:xfrm>
            <a:off x="6035040" y="4929632"/>
            <a:ext cx="4937760" cy="876300"/>
          </a:xfrm>
          <a:prstGeom prst="roundRect">
            <a:avLst>
              <a:gd name="adj" fmla="val 12522"/>
            </a:avLst>
          </a:prstGeom>
          <a:solidFill>
            <a:schemeClr val="tx1"/>
          </a:solidFill>
          <a:ln/>
          <a:effectLst>
            <a:outerShdw sx="100000" sy="100000" kx="0" ky="0" algn="bl" rotWithShape="0" blurRad="114300" dist="31750" dir="5400000">
              <a:srgbClr val="1D2433">
                <a:alpha val="12000"/>
              </a:srgbClr>
            </a:outerShdw>
          </a:effectLst>
        </p:spPr>
      </p:sp>
      <p:sp>
        <p:nvSpPr>
          <p:cNvPr id="27" name="Same name and parameters code text"/>
          <p:cNvSpPr txBox="1"/>
          <p:nvPr/>
        </p:nvSpPr>
        <p:spPr>
          <a:xfrm>
            <a:off x="6309360" y="5130800"/>
            <a:ext cx="4389120" cy="473964"/>
          </a:xfrm>
          <a:prstGeom prst="rect">
            <a:avLst/>
          </a:prstGeom>
          <a:noFill/>
          <a:ln/>
        </p:spPr>
        <p:txBody>
          <a:bodyPr wrap="square" lIns="0" tIns="0" rIns="0" bIns="0" rtlCol="0" anchor="t"/>
          <a:lstStyle/>
          <a:p>
            <a:pPr indent="0" marL="0">
              <a:lnSpc>
                <a:spcPts val="1650"/>
              </a:lnSpc>
              <a:buNone/>
            </a:pPr>
            <a:r>
              <a:rPr lang="en-IE" sz="1250" dirty="0">
                <a:solidFill>
                  <a:srgbClr val="FF9F5A"/>
                </a:solidFill>
                <a:latin typeface="Consolas" pitchFamily="34" charset="0"/>
                <a:ea typeface="Consolas" pitchFamily="34" charset="-122"/>
                <a:cs typeface="Consolas" pitchFamily="34" charset="-120"/>
              </a:rPr>
              <a:t>int</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C9B0FF"/>
                </a:solidFill>
                <a:latin typeface="Consolas" pitchFamily="34" charset="0"/>
                <a:ea typeface="Consolas" pitchFamily="34" charset="-122"/>
                <a:cs typeface="Consolas" pitchFamily="34" charset="-120"/>
              </a:rPr>
              <a:t>add</a:t>
            </a:r>
            <a:r>
              <a:rPr lang="en-IE" sz="1250" dirty="0">
                <a:solidFill>
                  <a:srgbClr val="E6EBF2"/>
                </a:solidFill>
                <a:latin typeface="Consolas" pitchFamily="34" charset="0"/>
                <a:ea typeface="Consolas" pitchFamily="34" charset="-122"/>
                <a:cs typeface="Consolas" pitchFamily="34" charset="-120"/>
              </a:rPr>
              <a:t>(</a:t>
            </a:r>
            <a:r>
              <a:rPr lang="en-IE" sz="1250" dirty="0">
                <a:solidFill>
                  <a:srgbClr val="FF9F5A"/>
                </a:solidFill>
                <a:latin typeface="Consolas" pitchFamily="34" charset="0"/>
                <a:ea typeface="Consolas" pitchFamily="34" charset="-122"/>
                <a:cs typeface="Consolas" pitchFamily="34" charset="-120"/>
              </a:rPr>
              <a:t>int</a:t>
            </a:r>
            <a:r>
              <a:rPr lang="en-IE" sz="1250" dirty="0">
                <a:solidFill>
                  <a:srgbClr val="E6EBF2"/>
                </a:solidFill>
                <a:latin typeface="Consolas" pitchFamily="34" charset="0"/>
                <a:ea typeface="Consolas" pitchFamily="34" charset="-122"/>
                <a:cs typeface="Consolas" pitchFamily="34" charset="-120"/>
              </a:rPr>
              <a:t> a, </a:t>
            </a:r>
            <a:r>
              <a:rPr lang="en-IE" sz="1250" dirty="0">
                <a:solidFill>
                  <a:srgbClr val="FF9F5A"/>
                </a:solidFill>
                <a:latin typeface="Consolas" pitchFamily="34" charset="0"/>
                <a:ea typeface="Consolas" pitchFamily="34" charset="-122"/>
                <a:cs typeface="Consolas" pitchFamily="34" charset="-120"/>
              </a:rPr>
              <a:t>int</a:t>
            </a:r>
            <a:r>
              <a:rPr lang="en-IE" sz="1250" dirty="0">
                <a:solidFill>
                  <a:srgbClr val="E6EBF2"/>
                </a:solidFill>
                <a:latin typeface="Consolas" pitchFamily="34" charset="0"/>
                <a:ea typeface="Consolas" pitchFamily="34" charset="-122"/>
                <a:cs typeface="Consolas" pitchFamily="34" charset="-120"/>
              </a:rPr>
              <a:t> b)</a:t>
            </a:r>
            <a:endParaRPr lang="en-IE" sz="1250" dirty="0"/>
          </a:p>
          <a:p>
            <a:pPr indent="0" marL="0">
              <a:lnSpc>
                <a:spcPts val="1650"/>
              </a:lnSpc>
              <a:buNone/>
            </a:pPr>
            <a:r>
              <a:rPr lang="en-IE" sz="1250" dirty="0">
                <a:solidFill>
                  <a:srgbClr val="FF9F5A"/>
                </a:solidFill>
                <a:latin typeface="Consolas" pitchFamily="34" charset="0"/>
                <a:ea typeface="Consolas" pitchFamily="34" charset="-122"/>
                <a:cs typeface="Consolas" pitchFamily="34" charset="-120"/>
              </a:rPr>
              <a:t>double</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C9B0FF"/>
                </a:solidFill>
                <a:latin typeface="Consolas" pitchFamily="34" charset="0"/>
                <a:ea typeface="Consolas" pitchFamily="34" charset="-122"/>
                <a:cs typeface="Consolas" pitchFamily="34" charset="-120"/>
              </a:rPr>
              <a:t>add</a:t>
            </a:r>
            <a:r>
              <a:rPr lang="en-IE" sz="1250" dirty="0">
                <a:solidFill>
                  <a:srgbClr val="E6EBF2"/>
                </a:solidFill>
                <a:latin typeface="Consolas" pitchFamily="34" charset="0"/>
                <a:ea typeface="Consolas" pitchFamily="34" charset="-122"/>
                <a:cs typeface="Consolas" pitchFamily="34" charset="-120"/>
              </a:rPr>
              <a:t>(</a:t>
            </a:r>
            <a:r>
              <a:rPr lang="en-IE" sz="1250" dirty="0">
                <a:solidFill>
                  <a:srgbClr val="FF9F5A"/>
                </a:solidFill>
                <a:latin typeface="Consolas" pitchFamily="34" charset="0"/>
                <a:ea typeface="Consolas" pitchFamily="34" charset="-122"/>
                <a:cs typeface="Consolas" pitchFamily="34" charset="-120"/>
              </a:rPr>
              <a:t>int</a:t>
            </a:r>
            <a:r>
              <a:rPr lang="en-IE" sz="1250" dirty="0">
                <a:solidFill>
                  <a:srgbClr val="E6EBF2"/>
                </a:solidFill>
                <a:latin typeface="Consolas" pitchFamily="34" charset="0"/>
                <a:ea typeface="Consolas" pitchFamily="34" charset="-122"/>
                <a:cs typeface="Consolas" pitchFamily="34" charset="-120"/>
              </a:rPr>
              <a:t> x, </a:t>
            </a:r>
            <a:r>
              <a:rPr lang="en-IE" sz="1250" dirty="0">
                <a:solidFill>
                  <a:srgbClr val="FF9F5A"/>
                </a:solidFill>
                <a:latin typeface="Consolas" pitchFamily="34" charset="0"/>
                <a:ea typeface="Consolas" pitchFamily="34" charset="-122"/>
                <a:cs typeface="Consolas" pitchFamily="34" charset="-120"/>
              </a:rPr>
              <a:t>int</a:t>
            </a:r>
            <a:r>
              <a:rPr lang="en-IE" sz="1250" dirty="0">
                <a:solidFill>
                  <a:srgbClr val="E6EBF2"/>
                </a:solidFill>
                <a:latin typeface="Consolas" pitchFamily="34" charset="0"/>
                <a:ea typeface="Consolas" pitchFamily="34" charset="-122"/>
                <a:cs typeface="Consolas" pitchFamily="34" charset="-120"/>
              </a:rPr>
              <a:t> y)   </a:t>
            </a:r>
            <a:r>
              <a:rPr lang="en-IE" sz="1250" i="1" dirty="0">
                <a:solidFill>
                  <a:srgbClr val="A3AEC2"/>
                </a:solidFill>
                <a:latin typeface="Consolas" pitchFamily="34" charset="0"/>
                <a:ea typeface="Consolas" pitchFamily="34" charset="-122"/>
                <a:cs typeface="Consolas" pitchFamily="34" charset="-120"/>
              </a:rPr>
              <a:t>// same signature</a:t>
            </a:r>
            <a:endParaRPr lang="en-IE" sz="1250" dirty="0"/>
          </a:p>
        </p:txBody>
      </p:sp>
      <p:pic>
        <p:nvPicPr>
          <p:cNvPr id="28" name="Not allowed" descr="Not allowed">    </p:cNvPr>
          <p:cNvPicPr>
            <a:picLocks noChangeAspect="1"/>
          </p:cNvPicPr>
          <p:nvPr/>
        </p:nvPicPr>
        <p:blipFill>
          <a:blip r:embed="rId6"/>
          <a:stretch>
            <a:fillRect/>
          </a:stretch>
        </p:blipFill>
        <p:spPr>
          <a:xfrm>
            <a:off x="11128248" y="5175504"/>
            <a:ext cx="402336" cy="402336"/>
          </a:xfrm>
          <a:prstGeom prst="rect">
            <a:avLst/>
          </a:prstGeom>
        </p:spPr>
      </p:pic>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29</a:t>
            </a:fld>
            <a:endParaRPr lang="en-IE"/>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9</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Overloading</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pair of methods can NOT both be in the same class?</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double area(double r)    and    double area(double w, double h)</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void print(String s)     and    void print(String s, int times)</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int max(int a, int b)    and    double max(double a, double b)</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double area(double r)    and    int area(double side)</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30</a:t>
            </a:fld>
            <a:endParaRPr lang="en-IE"/>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9</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Overloading</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pair of methods can NOT both be in the same class?</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double area(double r)    and    double area(double w, double h)</a:t>
            </a:r>
            <a:endParaRPr lang="en-IE"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void print(String s)     and    void print(String s, int times)</a:t>
            </a:r>
            <a:endParaRPr lang="en-IE" sz="1700" dirty="0"/>
          </a:p>
        </p:txBody>
      </p:sp>
      <p:sp>
        <p:nvSpPr>
          <p:cNvPr id="11"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int max(int a, int b)    and    double max(double a, double b)</a:t>
            </a:r>
            <a:endParaRPr lang="en-IE" sz="1700" dirty="0"/>
          </a:p>
        </p:txBody>
      </p:sp>
      <p:sp>
        <p:nvSpPr>
          <p:cNvPr id="14" name="Option D (correct)"/>
          <p:cNvSpPr/>
          <p:nvPr/>
        </p:nvSpPr>
        <p:spPr>
          <a:xfrm>
            <a:off x="548640" y="3941064"/>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0233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3941064"/>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double area(double r)    and    int area(double side)</a:t>
            </a:r>
            <a:endParaRPr lang="en-IE" sz="1700" dirty="0"/>
          </a:p>
        </p:txBody>
      </p:sp>
      <p:pic>
        <p:nvPicPr>
          <p:cNvPr id="17" name="Correct mark" descr="Correct mark">    </p:cNvPr>
          <p:cNvPicPr>
            <a:picLocks noChangeAspect="1"/>
          </p:cNvPicPr>
          <p:nvPr/>
        </p:nvPicPr>
        <p:blipFill>
          <a:blip r:embed="rId1"/>
          <a:stretch>
            <a:fillRect/>
          </a:stretch>
        </p:blipFill>
        <p:spPr>
          <a:xfrm>
            <a:off x="11094415" y="4050792"/>
            <a:ext cx="365760" cy="365760"/>
          </a:xfrm>
          <a:prstGeom prst="rect">
            <a:avLst/>
          </a:prstGeom>
        </p:spPr>
      </p:pic>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Overloaded methods must differ in the number or the types of their parameters. In D both are area(double). Only the return type and the parameter name differ, so they have the same signature and the code won’t compile.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31</a:t>
            </a:fld>
            <a:endParaRPr lang="en-IE"/>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03</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Overriding</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Children redefining their parents’ methods</a:t>
            </a:r>
            <a:endParaRPr lang="en-IE" sz="2000" dirty="0"/>
          </a:p>
        </p:txBody>
      </p:sp>
      <p:sp>
        <p:nvSpPr>
          <p:cNvPr id="5" name="Topic chip"/>
          <p:cNvSpPr/>
          <p:nvPr/>
        </p:nvSpPr>
        <p:spPr>
          <a:xfrm>
            <a:off x="822960" y="4846320"/>
            <a:ext cx="132689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Overriding</a:t>
            </a:r>
            <a:endParaRPr lang="en-IE" sz="1400" dirty="0"/>
          </a:p>
        </p:txBody>
      </p:sp>
      <p:sp>
        <p:nvSpPr>
          <p:cNvPr id="6" name="Topic chip"/>
          <p:cNvSpPr/>
          <p:nvPr/>
        </p:nvSpPr>
        <p:spPr>
          <a:xfrm>
            <a:off x="2296160" y="4846320"/>
            <a:ext cx="178917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Dynamic binding</a:t>
            </a:r>
            <a:endParaRPr lang="en-IE" sz="1400" dirty="0"/>
          </a:p>
        </p:txBody>
      </p:sp>
      <p:sp>
        <p:nvSpPr>
          <p:cNvPr id="7" name="Topic chip"/>
          <p:cNvSpPr/>
          <p:nvPr/>
        </p:nvSpPr>
        <p:spPr>
          <a:xfrm>
            <a:off x="4231640" y="4846320"/>
            <a:ext cx="123444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@Override</a:t>
            </a:r>
            <a:endParaRPr lang="en-IE" sz="1400" dirty="0"/>
          </a:p>
        </p:txBody>
      </p:sp>
      <p:sp>
        <p:nvSpPr>
          <p:cNvPr id="8" name="Topic chip"/>
          <p:cNvSpPr/>
          <p:nvPr/>
        </p:nvSpPr>
        <p:spPr>
          <a:xfrm>
            <a:off x="5612384" y="4846320"/>
            <a:ext cx="86461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super</a:t>
            </a:r>
            <a:endParaRPr lang="en-IE" sz="1400" dirty="0"/>
          </a:p>
        </p:txBody>
      </p:sp>
      <p:pic>
        <p:nvPicPr>
          <p:cNvPr id="9"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OVERRIDING</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Overriding an inherited method</a:t>
            </a:r>
            <a:endParaRPr lang="en-IE" sz="3400" dirty="0"/>
          </a:p>
        </p:txBody>
      </p:sp>
      <p:sp>
        <p:nvSpPr>
          <p:cNvPr id="5" name="Text 2"/>
          <p:cNvSpPr txBox="1"/>
          <p:nvPr/>
        </p:nvSpPr>
        <p:spPr>
          <a:xfrm>
            <a:off x="548640" y="1783080"/>
            <a:ext cx="4754880" cy="274320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Inheritance gives us another type of polymorphism: overriding.</a:t>
            </a:r>
            <a:endParaRPr lang="en-IE" sz="1800" dirty="0"/>
          </a:p>
          <a:p>
            <a:pPr marL="228600" indent="-228600">
              <a:spcAft>
                <a:spcPts val="1200"/>
              </a:spcAft>
              <a:buSzPct val="100000"/>
              <a:buChar char="•"/>
            </a:pPr>
            <a:r>
              <a:rPr lang="en-IE" sz="1800" dirty="0">
                <a:solidFill>
                  <a:schemeClr val="tx1"/>
                </a:solidFill>
              </a:rPr>
              <a:t>This is run-time (dynamic) polymorphism.</a:t>
            </a:r>
            <a:endParaRPr lang="en-IE" sz="1800" dirty="0"/>
          </a:p>
          <a:p>
            <a:pPr marL="228600" indent="-228600">
              <a:buSzPct val="100000"/>
              <a:buChar char="•"/>
            </a:pPr>
            <a:r>
              <a:rPr lang="en-IE" sz="1800" dirty="0">
                <a:solidFill>
                  <a:schemeClr val="tx1"/>
                </a:solidFill>
              </a:rPr>
              <a:t>When we inherit a method, we can override it and redefine its behaviour.</a:t>
            </a:r>
            <a:endParaRPr lang="en-IE" sz="1800" dirty="0"/>
          </a:p>
        </p:txBody>
      </p:sp>
      <p:sp>
        <p:nvSpPr>
          <p:cNvPr id="6" name="Text 3"/>
          <p:cNvSpPr txBox="1"/>
          <p:nvPr/>
        </p:nvSpPr>
        <p:spPr>
          <a:xfrm>
            <a:off x="5669280" y="1691640"/>
            <a:ext cx="5943600" cy="274320"/>
          </a:xfrm>
          <a:prstGeom prst="rect">
            <a:avLst/>
          </a:prstGeom>
          <a:noFill/>
          <a:ln/>
        </p:spPr>
        <p:txBody>
          <a:bodyPr wrap="square" lIns="0" tIns="0" rIns="0" bIns="0" rtlCol="0" anchor="t"/>
          <a:lstStyle/>
          <a:p>
            <a:pPr indent="0" marL="0">
              <a:buNone/>
            </a:pPr>
            <a:r>
              <a:rPr lang="en-IE" sz="1300" b="1" dirty="0">
                <a:solidFill>
                  <a:schemeClr val="tx2"/>
                </a:solidFill>
              </a:rPr>
              <a:t>In Employee, an abstract (polymorphic) method</a:t>
            </a:r>
            <a:endParaRPr lang="en-IE" sz="1300" dirty="0"/>
          </a:p>
        </p:txBody>
      </p:sp>
      <p:sp>
        <p:nvSpPr>
          <p:cNvPr id="7" name="Abstract calcPay card"/>
          <p:cNvSpPr/>
          <p:nvPr/>
        </p:nvSpPr>
        <p:spPr>
          <a:xfrm>
            <a:off x="5669280" y="2011680"/>
            <a:ext cx="5973775" cy="708660"/>
          </a:xfrm>
          <a:prstGeom prst="roundRect">
            <a:avLst>
              <a:gd name="adj" fmla="val 15484"/>
            </a:avLst>
          </a:prstGeom>
          <a:solidFill>
            <a:schemeClr val="tx1"/>
          </a:solidFill>
          <a:ln/>
          <a:effectLst>
            <a:outerShdw sx="100000" sy="100000" kx="0" ky="0" algn="bl" rotWithShape="0" blurRad="114300" dist="31750" dir="5400000">
              <a:srgbClr val="1D2433">
                <a:alpha val="12000"/>
              </a:srgbClr>
            </a:outerShdw>
          </a:effectLst>
        </p:spPr>
      </p:sp>
      <p:sp>
        <p:nvSpPr>
          <p:cNvPr id="8" name="Abstract calcPay text"/>
          <p:cNvSpPr txBox="1"/>
          <p:nvPr/>
        </p:nvSpPr>
        <p:spPr>
          <a:xfrm>
            <a:off x="5943600" y="2212848"/>
            <a:ext cx="5425135" cy="306324"/>
          </a:xfrm>
          <a:prstGeom prst="rect">
            <a:avLst/>
          </a:prstGeom>
          <a:noFill/>
          <a:ln/>
        </p:spPr>
        <p:txBody>
          <a:bodyPr wrap="square" lIns="0" tIns="0" rIns="0" bIns="0" rtlCol="0" anchor="t"/>
          <a:lstStyle/>
          <a:p>
            <a:pPr indent="0" marL="0">
              <a:lnSpc>
                <a:spcPts val="1980"/>
              </a:lnSpc>
              <a:buNone/>
            </a:pPr>
            <a:r>
              <a:rPr lang="en-IE" sz="1500" dirty="0">
                <a:solidFill>
                  <a:srgbClr val="FF9F5A"/>
                </a:solidFill>
                <a:latin typeface="Consolas" pitchFamily="34" charset="0"/>
                <a:ea typeface="Consolas" pitchFamily="34" charset="-122"/>
                <a:cs typeface="Consolas" pitchFamily="34" charset="-120"/>
              </a:rPr>
              <a:t>abstract</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public</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double</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calcPay</a:t>
            </a:r>
            <a:r>
              <a:rPr lang="en-IE" sz="1500" dirty="0">
                <a:solidFill>
                  <a:srgbClr val="E6EBF2"/>
                </a:solidFill>
                <a:latin typeface="Consolas" pitchFamily="34" charset="0"/>
                <a:ea typeface="Consolas" pitchFamily="34" charset="-122"/>
                <a:cs typeface="Consolas" pitchFamily="34" charset="-120"/>
              </a:rPr>
              <a:t>();</a:t>
            </a:r>
            <a:endParaRPr lang="en-IE" sz="1500" dirty="0"/>
          </a:p>
        </p:txBody>
      </p:sp>
      <p:sp>
        <p:nvSpPr>
          <p:cNvPr id="9" name="Text 6"/>
          <p:cNvSpPr txBox="1"/>
          <p:nvPr/>
        </p:nvSpPr>
        <p:spPr>
          <a:xfrm>
            <a:off x="5669280" y="2894076"/>
            <a:ext cx="5943600" cy="274320"/>
          </a:xfrm>
          <a:prstGeom prst="rect">
            <a:avLst/>
          </a:prstGeom>
          <a:noFill/>
          <a:ln/>
        </p:spPr>
        <p:txBody>
          <a:bodyPr wrap="square" lIns="0" tIns="0" rIns="0" bIns="0" rtlCol="0" anchor="t"/>
          <a:lstStyle/>
          <a:p>
            <a:pPr indent="0" marL="0">
              <a:buNone/>
            </a:pPr>
            <a:r>
              <a:rPr lang="en-IE" sz="1300" b="1" dirty="0">
                <a:solidFill>
                  <a:schemeClr val="tx2"/>
                </a:solidFill>
              </a:rPr>
              <a:t>In FullTimeEmployee</a:t>
            </a:r>
            <a:endParaRPr lang="en-IE" sz="1300" dirty="0"/>
          </a:p>
        </p:txBody>
      </p:sp>
      <p:sp>
        <p:nvSpPr>
          <p:cNvPr id="10" name="In FullTimeEmployee card"/>
          <p:cNvSpPr/>
          <p:nvPr/>
        </p:nvSpPr>
        <p:spPr>
          <a:xfrm>
            <a:off x="5669280" y="3223260"/>
            <a:ext cx="5973775" cy="1162050"/>
          </a:xfrm>
          <a:prstGeom prst="roundRect">
            <a:avLst>
              <a:gd name="adj" fmla="val 9443"/>
            </a:avLst>
          </a:prstGeom>
          <a:solidFill>
            <a:schemeClr val="tx1"/>
          </a:solidFill>
          <a:ln/>
          <a:effectLst>
            <a:outerShdw sx="100000" sy="100000" kx="0" ky="0" algn="bl" rotWithShape="0" blurRad="114300" dist="31750" dir="5400000">
              <a:srgbClr val="1D2433">
                <a:alpha val="12000"/>
              </a:srgbClr>
            </a:outerShdw>
          </a:effectLst>
        </p:spPr>
      </p:sp>
      <p:sp>
        <p:nvSpPr>
          <p:cNvPr id="11" name="In FullTimeEmployee text"/>
          <p:cNvSpPr txBox="1"/>
          <p:nvPr/>
        </p:nvSpPr>
        <p:spPr>
          <a:xfrm>
            <a:off x="5943600" y="3424428"/>
            <a:ext cx="5425135" cy="7597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double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calcPay</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salary + bonus;</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12" name="Text 9"/>
          <p:cNvSpPr txBox="1"/>
          <p:nvPr/>
        </p:nvSpPr>
        <p:spPr>
          <a:xfrm>
            <a:off x="5669280" y="4604766"/>
            <a:ext cx="5943600" cy="274320"/>
          </a:xfrm>
          <a:prstGeom prst="rect">
            <a:avLst/>
          </a:prstGeom>
          <a:noFill/>
          <a:ln/>
        </p:spPr>
        <p:txBody>
          <a:bodyPr wrap="square" lIns="0" tIns="0" rIns="0" bIns="0" rtlCol="0" anchor="t"/>
          <a:lstStyle/>
          <a:p>
            <a:pPr indent="0" marL="0">
              <a:buNone/>
            </a:pPr>
            <a:r>
              <a:rPr lang="en-IE" sz="1300" b="1" dirty="0">
                <a:solidFill>
                  <a:schemeClr val="tx2"/>
                </a:solidFill>
              </a:rPr>
              <a:t>In PartTimeEmployee</a:t>
            </a:r>
            <a:endParaRPr lang="en-IE" sz="1300" dirty="0"/>
          </a:p>
        </p:txBody>
      </p:sp>
      <p:sp>
        <p:nvSpPr>
          <p:cNvPr id="13" name="In PartTimeEmployee card"/>
          <p:cNvSpPr/>
          <p:nvPr/>
        </p:nvSpPr>
        <p:spPr>
          <a:xfrm>
            <a:off x="5669280" y="4933950"/>
            <a:ext cx="5973775" cy="1162050"/>
          </a:xfrm>
          <a:prstGeom prst="roundRect">
            <a:avLst>
              <a:gd name="adj" fmla="val 9443"/>
            </a:avLst>
          </a:prstGeom>
          <a:solidFill>
            <a:schemeClr val="tx1"/>
          </a:solidFill>
          <a:ln/>
          <a:effectLst>
            <a:outerShdw sx="100000" sy="100000" kx="0" ky="0" algn="bl" rotWithShape="0" blurRad="114300" dist="31750" dir="5400000">
              <a:srgbClr val="1D2433">
                <a:alpha val="12000"/>
              </a:srgbClr>
            </a:outerShdw>
          </a:effectLst>
        </p:spPr>
      </p:sp>
      <p:sp>
        <p:nvSpPr>
          <p:cNvPr id="14" name="In PartTimeEmployee text"/>
          <p:cNvSpPr txBox="1"/>
          <p:nvPr/>
        </p:nvSpPr>
        <p:spPr>
          <a:xfrm>
            <a:off x="5943600" y="5135118"/>
            <a:ext cx="5425135" cy="7597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double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calcPay</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hourlyPay * hoursPerWeek * </a:t>
            </a:r>
            <a:r>
              <a:rPr lang="en-IE" sz="1400" dirty="0">
                <a:solidFill>
                  <a:srgbClr val="F2C14E"/>
                </a:solidFill>
                <a:latin typeface="Consolas" pitchFamily="34" charset="0"/>
                <a:ea typeface="Consolas" pitchFamily="34" charset="-122"/>
                <a:cs typeface="Consolas" pitchFamily="34" charset="-120"/>
              </a:rPr>
              <a:t>52</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15" name="Note"/>
          <p:cNvSpPr/>
          <p:nvPr/>
        </p:nvSpPr>
        <p:spPr>
          <a:xfrm>
            <a:off x="548640" y="4846320"/>
            <a:ext cx="4754880" cy="1097280"/>
          </a:xfrm>
          <a:prstGeom prst="roundRect">
            <a:avLst>
              <a:gd name="adj" fmla="val 10000"/>
            </a:avLst>
          </a:prstGeom>
          <a:solidFill>
            <a:schemeClr val="bg2"/>
          </a:solidFill>
          <a:ln/>
        </p:spPr>
      </p:sp>
      <p:sp>
        <p:nvSpPr>
          <p:cNvPr id="16" name="Icon tile"/>
          <p:cNvSpPr/>
          <p:nvPr/>
        </p:nvSpPr>
        <p:spPr>
          <a:xfrm>
            <a:off x="822960" y="5129784"/>
            <a:ext cx="530352" cy="530352"/>
          </a:xfrm>
          <a:prstGeom prst="roundRect">
            <a:avLst>
              <a:gd name="adj" fmla="val 24000"/>
            </a:avLst>
          </a:prstGeom>
          <a:solidFill>
            <a:schemeClr val="accent1">
              <a:alpha val="14000"/>
            </a:schemeClr>
          </a:solidFill>
          <a:ln/>
        </p:spPr>
      </p:sp>
      <p:pic>
        <p:nvPicPr>
          <p:cNvPr id="17" name="arrows clockwise icon" descr="arrows clockwise icon">    </p:cNvPr>
          <p:cNvPicPr>
            <a:picLocks noChangeAspect="1"/>
          </p:cNvPicPr>
          <p:nvPr/>
        </p:nvPicPr>
        <p:blipFill>
          <a:blip r:embed="rId1"/>
          <a:stretch>
            <a:fillRect/>
          </a:stretch>
        </p:blipFill>
        <p:spPr>
          <a:xfrm>
            <a:off x="934334" y="5241158"/>
            <a:ext cx="307604" cy="307604"/>
          </a:xfrm>
          <a:prstGeom prst="rect">
            <a:avLst/>
          </a:prstGeom>
        </p:spPr>
      </p:pic>
      <p:sp>
        <p:nvSpPr>
          <p:cNvPr id="18" name="Text 14"/>
          <p:cNvSpPr txBox="1"/>
          <p:nvPr/>
        </p:nvSpPr>
        <p:spPr>
          <a:xfrm>
            <a:off x="1572768" y="4846320"/>
            <a:ext cx="3474720" cy="1097280"/>
          </a:xfrm>
          <a:prstGeom prst="rect">
            <a:avLst/>
          </a:prstGeom>
          <a:noFill/>
          <a:ln/>
        </p:spPr>
        <p:txBody>
          <a:bodyPr wrap="square" lIns="0" tIns="0" rIns="0" bIns="0" rtlCol="0" anchor="ctr"/>
          <a:lstStyle/>
          <a:p>
            <a:pPr indent="0" marL="0">
              <a:buNone/>
            </a:pPr>
            <a:r>
              <a:rPr lang="en-IE" sz="1600" dirty="0">
                <a:solidFill>
                  <a:schemeClr val="tx1"/>
                </a:solidFill>
              </a:rPr>
              <a:t>Same name and parameters as the parent’s method, but a new body.</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33</a:t>
            </a:fld>
            <a:endParaRPr lang="en-IE"/>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10</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Overriding</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is overriding?</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Two methods in one class with different parameters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child class redefines a method it inherited</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child class adds a new method its parent doesn’t have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child calls its parent’s constructor with super()</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34</a:t>
            </a:fld>
            <a:endParaRPr lang="en-IE"/>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10</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Overriding</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is overriding?</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Two methods in one class with different parameters</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A child class redefines a method it inherited</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A child class adds a new method its parent doesn’t have</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A child calls its parent’s constructor with super()</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Overriding happens with inheritance: the child keeps the method’s name and parameters but gives it new behaviour. A describes overloading.</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35</a:t>
            </a:fld>
            <a:endParaRPr lang="en-IE"/>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OVERRIDING</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Dynamic binding</a:t>
            </a:r>
            <a:endParaRPr lang="en-IE" sz="3400" dirty="0"/>
          </a:p>
        </p:txBody>
      </p:sp>
      <p:sp>
        <p:nvSpPr>
          <p:cNvPr id="5" name="Text 2"/>
          <p:cNvSpPr txBox="1"/>
          <p:nvPr/>
        </p:nvSpPr>
        <p:spPr>
          <a:xfrm>
            <a:off x="548640" y="1783080"/>
            <a:ext cx="4846320" cy="2377440"/>
          </a:xfrm>
          <a:prstGeom prst="rect">
            <a:avLst/>
          </a:prstGeom>
          <a:noFill/>
          <a:ln/>
        </p:spPr>
        <p:txBody>
          <a:bodyPr wrap="square" lIns="0" tIns="0" rIns="0" bIns="0" rtlCol="0" anchor="t"/>
          <a:lstStyle/>
          <a:p>
            <a:pPr marL="228600" indent="-228600">
              <a:spcAft>
                <a:spcPts val="900"/>
              </a:spcAft>
              <a:buSzPct val="100000"/>
              <a:buChar char="•"/>
            </a:pPr>
            <a:r>
              <a:rPr lang="en-IE" sz="1700" dirty="0">
                <a:solidFill>
                  <a:schemeClr val="tx1"/>
                </a:solidFill>
              </a:rPr>
              <a:t>A parent-type variable can hold a child object (this is called upcasting).</a:t>
            </a:r>
            <a:endParaRPr lang="en-IE" sz="1700" dirty="0"/>
          </a:p>
          <a:p>
            <a:pPr marL="228600" indent="-228600">
              <a:spcAft>
                <a:spcPts val="900"/>
              </a:spcAft>
              <a:buSzPct val="100000"/>
              <a:buChar char="•"/>
            </a:pPr>
            <a:r>
              <a:rPr lang="en-IE" sz="1700" dirty="0">
                <a:solidFill>
                  <a:schemeClr val="tx1"/>
                </a:solidFill>
              </a:rPr>
              <a:t>When a method is called, Java runs the version for the actual object, not the variable’s type.</a:t>
            </a:r>
            <a:endParaRPr lang="en-IE" sz="1700" dirty="0"/>
          </a:p>
          <a:p>
            <a:pPr marL="228600" indent="-228600">
              <a:buSzPct val="100000"/>
              <a:buChar char="•"/>
            </a:pPr>
            <a:r>
              <a:rPr lang="en-IE" sz="1700" dirty="0">
                <a:solidFill>
                  <a:schemeClr val="tx1"/>
                </a:solidFill>
              </a:rPr>
              <a:t>The code isn’t attached (bound) until the program runs, so this is dynamic binding.</a:t>
            </a:r>
            <a:endParaRPr lang="en-IE" sz="1700" dirty="0"/>
          </a:p>
        </p:txBody>
      </p:sp>
      <p:sp>
        <p:nvSpPr>
          <p:cNvPr id="6" name="Dynamic binding card"/>
          <p:cNvSpPr/>
          <p:nvPr/>
        </p:nvSpPr>
        <p:spPr>
          <a:xfrm>
            <a:off x="5760720" y="1737360"/>
            <a:ext cx="5882335" cy="942340"/>
          </a:xfrm>
          <a:prstGeom prst="roundRect">
            <a:avLst>
              <a:gd name="adj" fmla="val 11644"/>
            </a:avLst>
          </a:prstGeom>
          <a:solidFill>
            <a:schemeClr val="tx1"/>
          </a:solidFill>
          <a:ln/>
          <a:effectLst>
            <a:outerShdw sx="100000" sy="100000" kx="0" ky="0" algn="bl" rotWithShape="0" blurRad="114300" dist="31750" dir="5400000">
              <a:srgbClr val="1D2433">
                <a:alpha val="12000"/>
              </a:srgbClr>
            </a:outerShdw>
          </a:effectLst>
        </p:spPr>
      </p:sp>
      <p:sp>
        <p:nvSpPr>
          <p:cNvPr id="7" name="Dynamic binding text"/>
          <p:cNvSpPr txBox="1"/>
          <p:nvPr/>
        </p:nvSpPr>
        <p:spPr>
          <a:xfrm>
            <a:off x="6035040" y="1938528"/>
            <a:ext cx="5333695" cy="540004"/>
          </a:xfrm>
          <a:prstGeom prst="rect">
            <a:avLst/>
          </a:prstGeom>
          <a:noFill/>
          <a:ln/>
        </p:spPr>
        <p:txBody>
          <a:bodyPr wrap="square" lIns="0" tIns="0" rIns="0" bIns="0" rtlCol="0" anchor="t"/>
          <a:lstStyle/>
          <a:p>
            <a:pPr indent="0" marL="0">
              <a:lnSpc>
                <a:spcPts val="1910"/>
              </a:lnSpc>
              <a:buNone/>
            </a:pPr>
            <a:r>
              <a:rPr lang="en-IE" sz="1450" dirty="0">
                <a:solidFill>
                  <a:srgbClr val="6CC4E8"/>
                </a:solidFill>
                <a:latin typeface="Consolas" pitchFamily="34" charset="0"/>
                <a:ea typeface="Consolas" pitchFamily="34" charset="-122"/>
                <a:cs typeface="Consolas" pitchFamily="34" charset="-120"/>
              </a:rPr>
              <a:t>Employee</a:t>
            </a:r>
            <a:r>
              <a:rPr lang="en-IE" sz="1450" dirty="0">
                <a:solidFill>
                  <a:srgbClr val="E6EBF2"/>
                </a:solidFill>
                <a:latin typeface="Consolas" pitchFamily="34" charset="0"/>
                <a:ea typeface="Consolas" pitchFamily="34" charset="-122"/>
                <a:cs typeface="Consolas" pitchFamily="34" charset="-120"/>
              </a:rPr>
              <a:t> e = </a:t>
            </a:r>
            <a:r>
              <a:rPr lang="en-IE" sz="1450" dirty="0">
                <a:solidFill>
                  <a:srgbClr val="FF9F5A"/>
                </a:solidFill>
                <a:latin typeface="Consolas" pitchFamily="34" charset="0"/>
                <a:ea typeface="Consolas" pitchFamily="34" charset="-122"/>
                <a:cs typeface="Consolas" pitchFamily="34" charset="-120"/>
              </a:rPr>
              <a:t>new</a:t>
            </a: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C9B0FF"/>
                </a:solidFill>
                <a:latin typeface="Consolas" pitchFamily="34" charset="0"/>
                <a:ea typeface="Consolas" pitchFamily="34" charset="-122"/>
                <a:cs typeface="Consolas" pitchFamily="34" charset="-120"/>
              </a:rPr>
              <a:t>PartTimeEmployee</a:t>
            </a:r>
            <a:r>
              <a:rPr lang="en-IE" sz="1450" dirty="0">
                <a:solidFill>
                  <a:srgbClr val="E6EBF2"/>
                </a:solidFill>
                <a:latin typeface="Consolas" pitchFamily="34" charset="0"/>
                <a:ea typeface="Consolas" pitchFamily="34" charset="-122"/>
                <a:cs typeface="Consolas" pitchFamily="34" charset="-120"/>
              </a:rPr>
              <a:t>(...);</a:t>
            </a:r>
            <a:endParaRPr lang="en-IE" sz="1450" dirty="0"/>
          </a:p>
          <a:p>
            <a:pPr indent="0" marL="0">
              <a:lnSpc>
                <a:spcPts val="1910"/>
              </a:lnSpc>
              <a:buNone/>
            </a:pPr>
            <a:r>
              <a:rPr lang="en-IE" sz="1450" dirty="0">
                <a:solidFill>
                  <a:srgbClr val="E6EBF2"/>
                </a:solidFill>
                <a:latin typeface="Consolas" pitchFamily="34" charset="0"/>
                <a:ea typeface="Consolas" pitchFamily="34" charset="-122"/>
                <a:cs typeface="Consolas" pitchFamily="34" charset="-120"/>
              </a:rPr>
              <a:t>e.</a:t>
            </a:r>
            <a:r>
              <a:rPr lang="en-IE" sz="1450" dirty="0">
                <a:solidFill>
                  <a:srgbClr val="C9B0FF"/>
                </a:solidFill>
                <a:latin typeface="Consolas" pitchFamily="34" charset="0"/>
                <a:ea typeface="Consolas" pitchFamily="34" charset="-122"/>
                <a:cs typeface="Consolas" pitchFamily="34" charset="-120"/>
              </a:rPr>
              <a:t>calcPay</a:t>
            </a:r>
            <a:r>
              <a:rPr lang="en-IE" sz="1450" dirty="0">
                <a:solidFill>
                  <a:srgbClr val="E6EBF2"/>
                </a:solidFill>
                <a:latin typeface="Consolas" pitchFamily="34" charset="0"/>
                <a:ea typeface="Consolas" pitchFamily="34" charset="-122"/>
                <a:cs typeface="Consolas" pitchFamily="34" charset="-120"/>
              </a:rPr>
              <a:t>();   </a:t>
            </a:r>
            <a:r>
              <a:rPr lang="en-IE" sz="1450" i="1" dirty="0">
                <a:solidFill>
                  <a:srgbClr val="A3AEC2"/>
                </a:solidFill>
                <a:latin typeface="Consolas" pitchFamily="34" charset="0"/>
                <a:ea typeface="Consolas" pitchFamily="34" charset="-122"/>
                <a:cs typeface="Consolas" pitchFamily="34" charset="-120"/>
              </a:rPr>
              <a:t>// which calcPay() runs?</a:t>
            </a:r>
            <a:endParaRPr lang="en-IE" sz="1450" dirty="0"/>
          </a:p>
        </p:txBody>
      </p:sp>
      <p:sp>
        <p:nvSpPr>
          <p:cNvPr id="8" name="Which object is it, really?"/>
          <p:cNvSpPr/>
          <p:nvPr/>
        </p:nvSpPr>
        <p:spPr>
          <a:xfrm>
            <a:off x="5760720" y="3045460"/>
            <a:ext cx="5882335" cy="1051560"/>
          </a:xfrm>
          <a:prstGeom prst="roundRect">
            <a:avLst>
              <a:gd name="adj" fmla="val 10435"/>
            </a:avLst>
          </a:prstGeom>
          <a:solidFill>
            <a:schemeClr val="bg1"/>
          </a:solidFill>
          <a:ln/>
          <a:effectLst>
            <a:outerShdw sx="100000" sy="100000" kx="0" ky="0" algn="bl" rotWithShape="0" blurRad="114300" dist="31750" dir="5400000">
              <a:srgbClr val="1D2433">
                <a:alpha val="12000"/>
              </a:srgbClr>
            </a:outerShdw>
          </a:effectLst>
        </p:spPr>
      </p:sp>
      <p:sp>
        <p:nvSpPr>
          <p:cNvPr id="9" name="Icon tile"/>
          <p:cNvSpPr/>
          <p:nvPr/>
        </p:nvSpPr>
        <p:spPr>
          <a:xfrm>
            <a:off x="5989320" y="3296920"/>
            <a:ext cx="548640" cy="548640"/>
          </a:xfrm>
          <a:prstGeom prst="roundRect">
            <a:avLst>
              <a:gd name="adj" fmla="val 24000"/>
            </a:avLst>
          </a:prstGeom>
          <a:solidFill>
            <a:schemeClr val="accent1">
              <a:alpha val="14000"/>
            </a:schemeClr>
          </a:solidFill>
          <a:ln/>
        </p:spPr>
      </p:sp>
      <p:pic>
        <p:nvPicPr>
          <p:cNvPr id="10" name="question icon" descr="question icon">    </p:cNvPr>
          <p:cNvPicPr>
            <a:picLocks noChangeAspect="1"/>
          </p:cNvPicPr>
          <p:nvPr/>
        </p:nvPicPr>
        <p:blipFill>
          <a:blip r:embed="rId1"/>
          <a:stretch>
            <a:fillRect/>
          </a:stretch>
        </p:blipFill>
        <p:spPr>
          <a:xfrm>
            <a:off x="6104534" y="3412134"/>
            <a:ext cx="318211" cy="318211"/>
          </a:xfrm>
          <a:prstGeom prst="rect">
            <a:avLst/>
          </a:prstGeom>
        </p:spPr>
      </p:pic>
      <p:sp>
        <p:nvSpPr>
          <p:cNvPr id="11" name="Text 7"/>
          <p:cNvSpPr txBox="1"/>
          <p:nvPr/>
        </p:nvSpPr>
        <p:spPr>
          <a:xfrm>
            <a:off x="6720840" y="3173476"/>
            <a:ext cx="4693615" cy="384048"/>
          </a:xfrm>
          <a:prstGeom prst="rect">
            <a:avLst/>
          </a:prstGeom>
          <a:noFill/>
          <a:ln/>
        </p:spPr>
        <p:txBody>
          <a:bodyPr wrap="square" lIns="0" tIns="0" rIns="0" bIns="0" rtlCol="0" anchor="ctr"/>
          <a:lstStyle/>
          <a:p>
            <a:pPr indent="0" marL="0">
              <a:buNone/>
            </a:pPr>
            <a:r>
              <a:rPr lang="en-IE" sz="1600" b="1" dirty="0">
                <a:solidFill>
                  <a:schemeClr val="tx1"/>
                </a:solidFill>
              </a:rPr>
              <a:t>Which object is it, really?</a:t>
            </a:r>
            <a:endParaRPr lang="en-IE" sz="1600" dirty="0"/>
          </a:p>
        </p:txBody>
      </p:sp>
      <p:sp>
        <p:nvSpPr>
          <p:cNvPr id="12" name="Text 8"/>
          <p:cNvSpPr txBox="1"/>
          <p:nvPr/>
        </p:nvSpPr>
        <p:spPr>
          <a:xfrm>
            <a:off x="6720840" y="3575812"/>
            <a:ext cx="4693615" cy="365760"/>
          </a:xfrm>
          <a:prstGeom prst="rect">
            <a:avLst/>
          </a:prstGeom>
          <a:noFill/>
          <a:ln/>
        </p:spPr>
        <p:txBody>
          <a:bodyPr wrap="square" lIns="0" tIns="0" rIns="0" bIns="0" rtlCol="0" anchor="ctr"/>
          <a:lstStyle/>
          <a:p>
            <a:pPr indent="0" marL="0">
              <a:buNone/>
            </a:pPr>
            <a:r>
              <a:rPr lang="en-IE" sz="1500" dirty="0">
                <a:solidFill>
                  <a:schemeClr val="tx2"/>
                </a:solidFill>
              </a:rPr>
              <a:t>a PartTimeEmployee</a:t>
            </a:r>
            <a:endParaRPr lang="en-IE" sz="1500" dirty="0"/>
          </a:p>
        </p:txBody>
      </p:sp>
      <p:sp>
        <p:nvSpPr>
          <p:cNvPr id="13" name="Connector"/>
          <p:cNvSpPr/>
          <p:nvPr/>
        </p:nvSpPr>
        <p:spPr>
          <a:xfrm>
            <a:off x="8701888" y="4133596"/>
            <a:ext cx="0" cy="292608"/>
          </a:xfrm>
          <a:prstGeom prst="line">
            <a:avLst/>
          </a:prstGeom>
          <a:noFill/>
          <a:ln w="25400">
            <a:solidFill>
              <a:schemeClr val="accent1"/>
            </a:solidFill>
            <a:prstDash val="solid"/>
            <a:tailEnd type="triangle"/>
          </a:ln>
        </p:spPr>
      </p:sp>
      <p:sp>
        <p:nvSpPr>
          <p:cNvPr id="14" name="So its version of calcPay() runs"/>
          <p:cNvSpPr/>
          <p:nvPr/>
        </p:nvSpPr>
        <p:spPr>
          <a:xfrm>
            <a:off x="5760720" y="4481068"/>
            <a:ext cx="5882335" cy="1051560"/>
          </a:xfrm>
          <a:prstGeom prst="roundRect">
            <a:avLst>
              <a:gd name="adj" fmla="val 10435"/>
            </a:avLst>
          </a:prstGeom>
          <a:solidFill>
            <a:schemeClr val="bg1"/>
          </a:solidFill>
          <a:ln/>
          <a:effectLst>
            <a:outerShdw sx="100000" sy="100000" kx="0" ky="0" algn="bl" rotWithShape="0" blurRad="114300" dist="31750" dir="5400000">
              <a:srgbClr val="1D2433">
                <a:alpha val="12000"/>
              </a:srgbClr>
            </a:outerShdw>
          </a:effectLst>
        </p:spPr>
      </p:sp>
      <p:sp>
        <p:nvSpPr>
          <p:cNvPr id="15" name="Icon tile"/>
          <p:cNvSpPr/>
          <p:nvPr/>
        </p:nvSpPr>
        <p:spPr>
          <a:xfrm>
            <a:off x="5989320" y="4732528"/>
            <a:ext cx="548640" cy="548640"/>
          </a:xfrm>
          <a:prstGeom prst="roundRect">
            <a:avLst>
              <a:gd name="adj" fmla="val 24000"/>
            </a:avLst>
          </a:prstGeom>
          <a:solidFill>
            <a:schemeClr val="accent1">
              <a:alpha val="14000"/>
            </a:schemeClr>
          </a:solidFill>
          <a:ln/>
        </p:spPr>
      </p:sp>
      <p:pic>
        <p:nvPicPr>
          <p:cNvPr id="16" name="play icon" descr="play icon">    </p:cNvPr>
          <p:cNvPicPr>
            <a:picLocks noChangeAspect="1"/>
          </p:cNvPicPr>
          <p:nvPr/>
        </p:nvPicPr>
        <p:blipFill>
          <a:blip r:embed="rId2"/>
          <a:stretch>
            <a:fillRect/>
          </a:stretch>
        </p:blipFill>
        <p:spPr>
          <a:xfrm>
            <a:off x="6104534" y="4847742"/>
            <a:ext cx="318211" cy="318211"/>
          </a:xfrm>
          <a:prstGeom prst="rect">
            <a:avLst/>
          </a:prstGeom>
        </p:spPr>
      </p:pic>
      <p:sp>
        <p:nvSpPr>
          <p:cNvPr id="17" name="Text 12"/>
          <p:cNvSpPr txBox="1"/>
          <p:nvPr/>
        </p:nvSpPr>
        <p:spPr>
          <a:xfrm>
            <a:off x="6720840" y="4609084"/>
            <a:ext cx="4693615" cy="384048"/>
          </a:xfrm>
          <a:prstGeom prst="rect">
            <a:avLst/>
          </a:prstGeom>
          <a:noFill/>
          <a:ln/>
        </p:spPr>
        <p:txBody>
          <a:bodyPr wrap="square" lIns="0" tIns="0" rIns="0" bIns="0" rtlCol="0" anchor="ctr"/>
          <a:lstStyle/>
          <a:p>
            <a:pPr indent="0" marL="0">
              <a:buNone/>
            </a:pPr>
            <a:r>
              <a:rPr lang="en-IE" sz="1600" b="1" dirty="0">
                <a:solidFill>
                  <a:schemeClr val="tx1"/>
                </a:solidFill>
              </a:rPr>
              <a:t>So its version of calcPay() runs</a:t>
            </a:r>
            <a:endParaRPr lang="en-IE" sz="1600" dirty="0"/>
          </a:p>
        </p:txBody>
      </p:sp>
      <p:sp>
        <p:nvSpPr>
          <p:cNvPr id="18" name="Text 13"/>
          <p:cNvSpPr txBox="1"/>
          <p:nvPr/>
        </p:nvSpPr>
        <p:spPr>
          <a:xfrm>
            <a:off x="6720840" y="5011420"/>
            <a:ext cx="4693615" cy="365760"/>
          </a:xfrm>
          <a:prstGeom prst="rect">
            <a:avLst/>
          </a:prstGeom>
          <a:noFill/>
          <a:ln/>
        </p:spPr>
        <p:txBody>
          <a:bodyPr wrap="square" lIns="0" tIns="0" rIns="0" bIns="0" rtlCol="0" anchor="ctr"/>
          <a:lstStyle/>
          <a:p>
            <a:pPr indent="0" marL="0">
              <a:buNone/>
            </a:pPr>
            <a:r>
              <a:rPr lang="en-IE" sz="1500" dirty="0">
                <a:solidFill>
                  <a:schemeClr val="tx2"/>
                </a:solidFill>
                <a:latin typeface="Consolas" pitchFamily="34" charset="0"/>
                <a:ea typeface="Consolas" pitchFamily="34" charset="-122"/>
                <a:cs typeface="Consolas" pitchFamily="34" charset="-120"/>
              </a:rPr>
              <a:t>hourlyPay * hoursPerWeek * 52</a:t>
            </a:r>
            <a:endParaRPr lang="en-IE" sz="1500" dirty="0"/>
          </a:p>
        </p:txBody>
      </p:sp>
      <p:sp>
        <p:nvSpPr>
          <p:cNvPr id="19" name="Text 14"/>
          <p:cNvSpPr txBox="1"/>
          <p:nvPr/>
        </p:nvSpPr>
        <p:spPr>
          <a:xfrm>
            <a:off x="5760720" y="5642356"/>
            <a:ext cx="5882335" cy="292608"/>
          </a:xfrm>
          <a:prstGeom prst="rect">
            <a:avLst/>
          </a:prstGeom>
          <a:noFill/>
          <a:ln/>
        </p:spPr>
        <p:txBody>
          <a:bodyPr wrap="square" lIns="0" tIns="0" rIns="0" bIns="0" rtlCol="0" anchor="t"/>
          <a:lstStyle/>
          <a:p>
            <a:pPr algn="ctr" indent="0" marL="0">
              <a:buNone/>
            </a:pPr>
            <a:r>
              <a:rPr lang="en-IE" sz="1300" i="1" dirty="0">
                <a:solidFill>
                  <a:schemeClr val="tx2"/>
                </a:solidFill>
              </a:rPr>
              <a:t>decided while the program runs</a:t>
            </a:r>
            <a:endParaRPr lang="en-IE" sz="1300" dirty="0"/>
          </a:p>
        </p:txBody>
      </p:sp>
      <p:graphicFrame>
        <p:nvGraphicFramePr>
          <p:cNvPr id="37" name="Overloading vs overriding"/>
          <p:cNvGraphicFramePr>
            <a:graphicFrameLocks noGrp="1"/>
          </p:cNvGraphicFramePr>
          <p:nvPr>
            <p:extLst>
              <p:ext uri="{D42A27DB-BD31-4B8C-83A1-F6EECF244321}">
                <p14:modId xmlns:p14="http://schemas.microsoft.com/office/powerpoint/2010/main" val="1579011935"/>
              </p:ext>
            </p:extLst>
          </p:nvPr>
        </p:nvGraphicFramePr>
        <p:xfrm>
          <a:off x="548640" y="4251960"/>
          <a:ext cx="4846320" cy="914400"/>
        </p:xfrm>
        <a:graphic>
          <a:graphicData uri="http://schemas.openxmlformats.org/drawingml/2006/table">
            <a:tbl>
              <a:tblPr/>
              <a:tblGrid>
                <a:gridCol w="1554480"/>
                <a:gridCol w="1645920"/>
                <a:gridCol w="1645920"/>
              </a:tblGrid>
              <a:tr h="365760">
                <a:tc>
                  <a:txBody>
                    <a:bodyPr/>
                    <a:lstStyle/>
                    <a:p>
                      <a:pPr indent="0" marL="0">
                        <a:buNone/>
                      </a:pPr>
                      <a:endParaRPr lang="en-IE" sz="135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IE" sz="1350" b="1" dirty="0">
                          <a:solidFill>
                            <a:srgbClr val="FFFFFF"/>
                          </a:solidFill>
                        </a:rPr>
                        <a:t>Overloading</a:t>
                      </a:r>
                      <a:endParaRPr lang="en-IE" sz="135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F6B"/>
                    </a:solidFill>
                  </a:tcPr>
                </a:tc>
                <a:tc>
                  <a:txBody>
                    <a:bodyPr/>
                    <a:lstStyle/>
                    <a:p>
                      <a:pPr algn="ctr" indent="0" marL="0">
                        <a:buNone/>
                      </a:pPr>
                      <a:r>
                        <a:rPr lang="en-IE" sz="1350" b="1" dirty="0">
                          <a:solidFill>
                            <a:srgbClr val="FFFFFF"/>
                          </a:solidFill>
                        </a:rPr>
                        <a:t>Overriding</a:t>
                      </a:r>
                      <a:endParaRPr lang="en-IE" sz="135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F6B"/>
                    </a:solidFill>
                  </a:tcPr>
                </a:tc>
              </a:tr>
              <a:tr h="365760">
                <a:tc>
                  <a:txBody>
                    <a:bodyPr/>
                    <a:lstStyle/>
                    <a:p>
                      <a:pPr algn="l" indent="0" marL="0">
                        <a:buNone/>
                      </a:pPr>
                      <a:r>
                        <a:rPr lang="en-IE" sz="1350" b="1" dirty="0">
                          <a:solidFill>
                            <a:srgbClr val="1D2433"/>
                          </a:solidFill>
                        </a:rPr>
                        <a:t>Where</a:t>
                      </a:r>
                      <a:endParaRPr lang="en-IE" sz="135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9"/>
                    </a:solidFill>
                  </a:tcPr>
                </a:tc>
                <a:tc>
                  <a:txBody>
                    <a:bodyPr/>
                    <a:lstStyle/>
                    <a:p>
                      <a:pPr algn="ctr" indent="0" marL="0">
                        <a:buNone/>
                      </a:pPr>
                      <a:r>
                        <a:rPr lang="en-IE" sz="1350" dirty="0">
                          <a:solidFill>
                            <a:srgbClr val="1D2433"/>
                          </a:solidFill>
                        </a:rPr>
                        <a:t>usually one class</a:t>
                      </a:r>
                      <a:endParaRPr lang="en-IE" sz="135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IE" sz="1350" dirty="0">
                          <a:solidFill>
                            <a:srgbClr val="1D2433"/>
                          </a:solidFill>
                        </a:rPr>
                        <a:t>parent and child</a:t>
                      </a:r>
                      <a:endParaRPr lang="en-IE" sz="135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algn="l" indent="0" marL="0">
                        <a:buNone/>
                      </a:pPr>
                      <a:r>
                        <a:rPr lang="en-IE" sz="1350" b="1" dirty="0">
                          <a:solidFill>
                            <a:srgbClr val="1D2433"/>
                          </a:solidFill>
                        </a:rPr>
                        <a:t>What changes</a:t>
                      </a:r>
                      <a:endParaRPr lang="en-IE" sz="135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9"/>
                    </a:solidFill>
                  </a:tcPr>
                </a:tc>
                <a:tc>
                  <a:txBody>
                    <a:bodyPr/>
                    <a:lstStyle/>
                    <a:p>
                      <a:pPr algn="ctr" indent="0" marL="0">
                        <a:buNone/>
                      </a:pPr>
                      <a:r>
                        <a:rPr lang="en-IE" sz="1350" dirty="0">
                          <a:solidFill>
                            <a:srgbClr val="1D2433"/>
                          </a:solidFill>
                        </a:rPr>
                        <a:t>the parameters</a:t>
                      </a:r>
                      <a:endParaRPr lang="en-IE" sz="135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IE" sz="1350" dirty="0">
                          <a:solidFill>
                            <a:srgbClr val="1D2433"/>
                          </a:solidFill>
                        </a:rPr>
                        <a:t>the behaviour</a:t>
                      </a:r>
                      <a:endParaRPr lang="en-IE" sz="135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algn="l" indent="0" marL="0">
                        <a:buNone/>
                      </a:pPr>
                      <a:r>
                        <a:rPr lang="en-IE" sz="1350" b="1" dirty="0">
                          <a:solidFill>
                            <a:srgbClr val="1D2433"/>
                          </a:solidFill>
                        </a:rPr>
                        <a:t>Chosen</a:t>
                      </a:r>
                      <a:endParaRPr lang="en-IE" sz="135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9"/>
                    </a:solidFill>
                  </a:tcPr>
                </a:tc>
                <a:tc>
                  <a:txBody>
                    <a:bodyPr/>
                    <a:lstStyle/>
                    <a:p>
                      <a:pPr algn="ctr" indent="0" marL="0">
                        <a:buNone/>
                      </a:pPr>
                      <a:r>
                        <a:rPr lang="en-IE" sz="1350" dirty="0">
                          <a:solidFill>
                            <a:srgbClr val="1D2433"/>
                          </a:solidFill>
                        </a:rPr>
                        <a:t>at compile time</a:t>
                      </a:r>
                      <a:endParaRPr lang="en-IE" sz="135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IE" sz="1350" dirty="0">
                          <a:solidFill>
                            <a:srgbClr val="1D2433"/>
                          </a:solidFill>
                        </a:rPr>
                        <a:t>at run time</a:t>
                      </a:r>
                      <a:endParaRPr lang="en-IE" sz="135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algn="l" indent="0" marL="0">
                        <a:buNone/>
                      </a:pPr>
                      <a:r>
                        <a:rPr lang="en-IE" sz="1350" b="1" dirty="0">
                          <a:solidFill>
                            <a:srgbClr val="1D2433"/>
                          </a:solidFill>
                        </a:rPr>
                        <a:t>Binding</a:t>
                      </a:r>
                      <a:endParaRPr lang="en-IE" sz="135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9"/>
                    </a:solidFill>
                  </a:tcPr>
                </a:tc>
                <a:tc>
                  <a:txBody>
                    <a:bodyPr/>
                    <a:lstStyle/>
                    <a:p>
                      <a:pPr algn="ctr" indent="0" marL="0">
                        <a:buNone/>
                      </a:pPr>
                      <a:r>
                        <a:rPr lang="en-IE" sz="1350" dirty="0">
                          <a:solidFill>
                            <a:srgbClr val="1D2433"/>
                          </a:solidFill>
                        </a:rPr>
                        <a:t>static</a:t>
                      </a:r>
                      <a:endParaRPr lang="en-IE" sz="135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IE" sz="1350" dirty="0">
                          <a:solidFill>
                            <a:srgbClr val="1D2433"/>
                          </a:solidFill>
                        </a:rPr>
                        <a:t>dynamic</a:t>
                      </a:r>
                      <a:endParaRPr lang="en-IE" sz="135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36</a:t>
            </a:fld>
            <a:endParaRPr lang="en-IE"/>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11</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Overriding</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this code print?</a:t>
            </a:r>
            <a:endParaRPr lang="en-IE" sz="2800" dirty="0"/>
          </a:p>
        </p:txBody>
      </p:sp>
      <p:sp>
        <p:nvSpPr>
          <p:cNvPr id="5" name="Question code card"/>
          <p:cNvSpPr/>
          <p:nvPr/>
        </p:nvSpPr>
        <p:spPr>
          <a:xfrm>
            <a:off x="548640" y="1753616"/>
            <a:ext cx="6035040" cy="4448048"/>
          </a:xfrm>
          <a:prstGeom prst="roundRect">
            <a:avLst>
              <a:gd name="adj" fmla="val 2467"/>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1872488"/>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2247392"/>
            <a:ext cx="5486400" cy="3753104"/>
          </a:xfrm>
          <a:prstGeom prst="rect">
            <a:avLst/>
          </a:prstGeom>
          <a:noFill/>
          <a:ln/>
        </p:spPr>
        <p:txBody>
          <a:bodyPr wrap="square" lIns="0" tIns="0" rIns="0" bIns="0" rtlCol="0" anchor="t"/>
          <a:lstStyle/>
          <a:p>
            <a:pPr indent="0" marL="0">
              <a:lnSpc>
                <a:spcPts val="2240"/>
              </a:lnSpc>
              <a:buNone/>
            </a:pPr>
            <a:r>
              <a:rPr lang="en-IE" sz="1700" dirty="0">
                <a:solidFill>
                  <a:srgbClr val="FF9F5A"/>
                </a:solidFill>
                <a:latin typeface="Consolas" pitchFamily="34" charset="0"/>
                <a:ea typeface="Consolas" pitchFamily="34" charset="-122"/>
                <a:cs typeface="Consolas" pitchFamily="34" charset="-120"/>
              </a:rPr>
              <a:t>abstract</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FF9F5A"/>
                </a:solidFill>
                <a:latin typeface="Consolas" pitchFamily="34" charset="0"/>
                <a:ea typeface="Consolas" pitchFamily="34" charset="-122"/>
                <a:cs typeface="Consolas" pitchFamily="34" charset="-120"/>
              </a:rPr>
              <a:t>class</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6CC4E8"/>
                </a:solidFill>
                <a:latin typeface="Consolas" pitchFamily="34" charset="0"/>
                <a:ea typeface="Consolas" pitchFamily="34" charset="-122"/>
                <a:cs typeface="Consolas" pitchFamily="34" charset="-120"/>
              </a:rPr>
              <a:t>Employee</a:t>
            </a:r>
            <a:r>
              <a:rPr lang="en-IE" sz="1700" dirty="0">
                <a:solidFill>
                  <a:srgbClr val="E6EBF2"/>
                </a:solidFill>
                <a:latin typeface="Consolas" pitchFamily="34" charset="0"/>
                <a:ea typeface="Consolas" pitchFamily="34" charset="-122"/>
                <a:cs typeface="Consolas" pitchFamily="34" charset="-120"/>
              </a:rPr>
              <a:t> {</a:t>
            </a:r>
            <a:endParaRPr lang="en-IE" sz="1700" dirty="0"/>
          </a:p>
          <a:p>
            <a:pPr indent="0" marL="0">
              <a:lnSpc>
                <a:spcPts val="2240"/>
              </a:lnSpc>
              <a:buNone/>
            </a:pP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FF9F5A"/>
                </a:solidFill>
                <a:latin typeface="Consolas" pitchFamily="34" charset="0"/>
                <a:ea typeface="Consolas" pitchFamily="34" charset="-122"/>
                <a:cs typeface="Consolas" pitchFamily="34" charset="-120"/>
              </a:rPr>
              <a:t>abstract</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FF9F5A"/>
                </a:solidFill>
                <a:latin typeface="Consolas" pitchFamily="34" charset="0"/>
                <a:ea typeface="Consolas" pitchFamily="34" charset="-122"/>
                <a:cs typeface="Consolas" pitchFamily="34" charset="-120"/>
              </a:rPr>
              <a:t>double</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C9B0FF"/>
                </a:solidFill>
                <a:latin typeface="Consolas" pitchFamily="34" charset="0"/>
                <a:ea typeface="Consolas" pitchFamily="34" charset="-122"/>
                <a:cs typeface="Consolas" pitchFamily="34" charset="-120"/>
              </a:rPr>
              <a:t>calcPay</a:t>
            </a:r>
            <a:r>
              <a:rPr lang="en-IE" sz="1700" dirty="0">
                <a:solidFill>
                  <a:srgbClr val="E6EBF2"/>
                </a:solidFill>
                <a:latin typeface="Consolas" pitchFamily="34" charset="0"/>
                <a:ea typeface="Consolas" pitchFamily="34" charset="-122"/>
                <a:cs typeface="Consolas" pitchFamily="34" charset="-120"/>
              </a:rPr>
              <a:t>();</a:t>
            </a:r>
            <a:endParaRPr lang="en-IE" sz="1700" dirty="0"/>
          </a:p>
          <a:p>
            <a:pPr indent="0" marL="0">
              <a:lnSpc>
                <a:spcPts val="2240"/>
              </a:lnSpc>
              <a:buNone/>
            </a:pPr>
            <a:r>
              <a:rPr lang="en-IE" sz="1700" dirty="0">
                <a:solidFill>
                  <a:srgbClr val="E6EBF2"/>
                </a:solidFill>
                <a:latin typeface="Consolas" pitchFamily="34" charset="0"/>
                <a:ea typeface="Consolas" pitchFamily="34" charset="-122"/>
                <a:cs typeface="Consolas" pitchFamily="34" charset="-120"/>
              </a:rPr>
              <a:t>}</a:t>
            </a:r>
            <a:endParaRPr lang="en-IE" sz="1700" dirty="0"/>
          </a:p>
          <a:p>
            <a:pPr indent="0" marL="0">
              <a:lnSpc>
                <a:spcPts val="2240"/>
              </a:lnSpc>
              <a:buNone/>
            </a:pPr>
            <a:r>
              <a:rPr lang="en-IE" sz="1700" dirty="0">
                <a:solidFill>
                  <a:srgbClr val="FF9F5A"/>
                </a:solidFill>
                <a:latin typeface="Consolas" pitchFamily="34" charset="0"/>
                <a:ea typeface="Consolas" pitchFamily="34" charset="-122"/>
                <a:cs typeface="Consolas" pitchFamily="34" charset="-120"/>
              </a:rPr>
              <a:t>class</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6CC4E8"/>
                </a:solidFill>
                <a:latin typeface="Consolas" pitchFamily="34" charset="0"/>
                <a:ea typeface="Consolas" pitchFamily="34" charset="-122"/>
                <a:cs typeface="Consolas" pitchFamily="34" charset="-120"/>
              </a:rPr>
              <a:t>FullTimeEmployee</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FF9F5A"/>
                </a:solidFill>
                <a:latin typeface="Consolas" pitchFamily="34" charset="0"/>
                <a:ea typeface="Consolas" pitchFamily="34" charset="-122"/>
                <a:cs typeface="Consolas" pitchFamily="34" charset="-120"/>
              </a:rPr>
              <a:t>extends</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6CC4E8"/>
                </a:solidFill>
                <a:latin typeface="Consolas" pitchFamily="34" charset="0"/>
                <a:ea typeface="Consolas" pitchFamily="34" charset="-122"/>
                <a:cs typeface="Consolas" pitchFamily="34" charset="-120"/>
              </a:rPr>
              <a:t>Employee</a:t>
            </a:r>
            <a:r>
              <a:rPr lang="en-IE" sz="1700" dirty="0">
                <a:solidFill>
                  <a:srgbClr val="E6EBF2"/>
                </a:solidFill>
                <a:latin typeface="Consolas" pitchFamily="34" charset="0"/>
                <a:ea typeface="Consolas" pitchFamily="34" charset="-122"/>
                <a:cs typeface="Consolas" pitchFamily="34" charset="-120"/>
              </a:rPr>
              <a:t> {</a:t>
            </a:r>
            <a:endParaRPr lang="en-IE" sz="1700" dirty="0"/>
          </a:p>
          <a:p>
            <a:pPr indent="0" marL="0">
              <a:lnSpc>
                <a:spcPts val="2240"/>
              </a:lnSpc>
              <a:buNone/>
            </a:pP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FF9F5A"/>
                </a:solidFill>
                <a:latin typeface="Consolas" pitchFamily="34" charset="0"/>
                <a:ea typeface="Consolas" pitchFamily="34" charset="-122"/>
                <a:cs typeface="Consolas" pitchFamily="34" charset="-120"/>
              </a:rPr>
              <a:t>double</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C9B0FF"/>
                </a:solidFill>
                <a:latin typeface="Consolas" pitchFamily="34" charset="0"/>
                <a:ea typeface="Consolas" pitchFamily="34" charset="-122"/>
                <a:cs typeface="Consolas" pitchFamily="34" charset="-120"/>
              </a:rPr>
              <a:t>calcPay</a:t>
            </a:r>
            <a:r>
              <a:rPr lang="en-IE" sz="1700" dirty="0">
                <a:solidFill>
                  <a:srgbClr val="E6EBF2"/>
                </a:solidFill>
                <a:latin typeface="Consolas" pitchFamily="34" charset="0"/>
                <a:ea typeface="Consolas" pitchFamily="34" charset="-122"/>
                <a:cs typeface="Consolas" pitchFamily="34" charset="-120"/>
              </a:rPr>
              <a:t>() { </a:t>
            </a:r>
            <a:r>
              <a:rPr lang="en-IE" sz="1700" dirty="0">
                <a:solidFill>
                  <a:srgbClr val="FF9F5A"/>
                </a:solidFill>
                <a:latin typeface="Consolas" pitchFamily="34" charset="0"/>
                <a:ea typeface="Consolas" pitchFamily="34" charset="-122"/>
                <a:cs typeface="Consolas" pitchFamily="34" charset="-120"/>
              </a:rPr>
              <a:t>return</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F2C14E"/>
                </a:solidFill>
                <a:latin typeface="Consolas" pitchFamily="34" charset="0"/>
                <a:ea typeface="Consolas" pitchFamily="34" charset="-122"/>
                <a:cs typeface="Consolas" pitchFamily="34" charset="-120"/>
              </a:rPr>
              <a:t>3000</a:t>
            </a:r>
            <a:r>
              <a:rPr lang="en-IE" sz="1700" dirty="0">
                <a:solidFill>
                  <a:srgbClr val="E6EBF2"/>
                </a:solidFill>
                <a:latin typeface="Consolas" pitchFamily="34" charset="0"/>
                <a:ea typeface="Consolas" pitchFamily="34" charset="-122"/>
                <a:cs typeface="Consolas" pitchFamily="34" charset="-120"/>
              </a:rPr>
              <a:t>; }</a:t>
            </a:r>
            <a:endParaRPr lang="en-IE" sz="1700" dirty="0"/>
          </a:p>
          <a:p>
            <a:pPr indent="0" marL="0">
              <a:lnSpc>
                <a:spcPts val="2240"/>
              </a:lnSpc>
              <a:buNone/>
            </a:pPr>
            <a:r>
              <a:rPr lang="en-IE" sz="1700" dirty="0">
                <a:solidFill>
                  <a:srgbClr val="E6EBF2"/>
                </a:solidFill>
                <a:latin typeface="Consolas" pitchFamily="34" charset="0"/>
                <a:ea typeface="Consolas" pitchFamily="34" charset="-122"/>
                <a:cs typeface="Consolas" pitchFamily="34" charset="-120"/>
              </a:rPr>
              <a:t>}</a:t>
            </a:r>
            <a:endParaRPr lang="en-IE" sz="1700" dirty="0"/>
          </a:p>
          <a:p>
            <a:pPr indent="0" marL="0">
              <a:lnSpc>
                <a:spcPts val="2240"/>
              </a:lnSpc>
              <a:buNone/>
            </a:pPr>
            <a:r>
              <a:rPr lang="en-IE" sz="1700" dirty="0">
                <a:solidFill>
                  <a:srgbClr val="FF9F5A"/>
                </a:solidFill>
                <a:latin typeface="Consolas" pitchFamily="34" charset="0"/>
                <a:ea typeface="Consolas" pitchFamily="34" charset="-122"/>
                <a:cs typeface="Consolas" pitchFamily="34" charset="-120"/>
              </a:rPr>
              <a:t>class</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6CC4E8"/>
                </a:solidFill>
                <a:latin typeface="Consolas" pitchFamily="34" charset="0"/>
                <a:ea typeface="Consolas" pitchFamily="34" charset="-122"/>
                <a:cs typeface="Consolas" pitchFamily="34" charset="-120"/>
              </a:rPr>
              <a:t>PartTimeEmployee</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FF9F5A"/>
                </a:solidFill>
                <a:latin typeface="Consolas" pitchFamily="34" charset="0"/>
                <a:ea typeface="Consolas" pitchFamily="34" charset="-122"/>
                <a:cs typeface="Consolas" pitchFamily="34" charset="-120"/>
              </a:rPr>
              <a:t>extends</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6CC4E8"/>
                </a:solidFill>
                <a:latin typeface="Consolas" pitchFamily="34" charset="0"/>
                <a:ea typeface="Consolas" pitchFamily="34" charset="-122"/>
                <a:cs typeface="Consolas" pitchFamily="34" charset="-120"/>
              </a:rPr>
              <a:t>Employee</a:t>
            </a:r>
            <a:r>
              <a:rPr lang="en-IE" sz="1700" dirty="0">
                <a:solidFill>
                  <a:srgbClr val="E6EBF2"/>
                </a:solidFill>
                <a:latin typeface="Consolas" pitchFamily="34" charset="0"/>
                <a:ea typeface="Consolas" pitchFamily="34" charset="-122"/>
                <a:cs typeface="Consolas" pitchFamily="34" charset="-120"/>
              </a:rPr>
              <a:t> {</a:t>
            </a:r>
            <a:endParaRPr lang="en-IE" sz="1700" dirty="0"/>
          </a:p>
          <a:p>
            <a:pPr indent="0" marL="0">
              <a:lnSpc>
                <a:spcPts val="2240"/>
              </a:lnSpc>
              <a:buNone/>
            </a:pP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FF9F5A"/>
                </a:solidFill>
                <a:latin typeface="Consolas" pitchFamily="34" charset="0"/>
                <a:ea typeface="Consolas" pitchFamily="34" charset="-122"/>
                <a:cs typeface="Consolas" pitchFamily="34" charset="-120"/>
              </a:rPr>
              <a:t>double</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C9B0FF"/>
                </a:solidFill>
                <a:latin typeface="Consolas" pitchFamily="34" charset="0"/>
                <a:ea typeface="Consolas" pitchFamily="34" charset="-122"/>
                <a:cs typeface="Consolas" pitchFamily="34" charset="-120"/>
              </a:rPr>
              <a:t>calcPay</a:t>
            </a:r>
            <a:r>
              <a:rPr lang="en-IE" sz="1700" dirty="0">
                <a:solidFill>
                  <a:srgbClr val="E6EBF2"/>
                </a:solidFill>
                <a:latin typeface="Consolas" pitchFamily="34" charset="0"/>
                <a:ea typeface="Consolas" pitchFamily="34" charset="-122"/>
                <a:cs typeface="Consolas" pitchFamily="34" charset="-120"/>
              </a:rPr>
              <a:t>() { </a:t>
            </a:r>
            <a:r>
              <a:rPr lang="en-IE" sz="1700" dirty="0">
                <a:solidFill>
                  <a:srgbClr val="FF9F5A"/>
                </a:solidFill>
                <a:latin typeface="Consolas" pitchFamily="34" charset="0"/>
                <a:ea typeface="Consolas" pitchFamily="34" charset="-122"/>
                <a:cs typeface="Consolas" pitchFamily="34" charset="-120"/>
              </a:rPr>
              <a:t>return</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F2C14E"/>
                </a:solidFill>
                <a:latin typeface="Consolas" pitchFamily="34" charset="0"/>
                <a:ea typeface="Consolas" pitchFamily="34" charset="-122"/>
                <a:cs typeface="Consolas" pitchFamily="34" charset="-120"/>
              </a:rPr>
              <a:t>1600</a:t>
            </a:r>
            <a:r>
              <a:rPr lang="en-IE" sz="1700" dirty="0">
                <a:solidFill>
                  <a:srgbClr val="E6EBF2"/>
                </a:solidFill>
                <a:latin typeface="Consolas" pitchFamily="34" charset="0"/>
                <a:ea typeface="Consolas" pitchFamily="34" charset="-122"/>
                <a:cs typeface="Consolas" pitchFamily="34" charset="-120"/>
              </a:rPr>
              <a:t>; }</a:t>
            </a:r>
            <a:endParaRPr lang="en-IE" sz="1700" dirty="0"/>
          </a:p>
          <a:p>
            <a:pPr indent="0" marL="0">
              <a:lnSpc>
                <a:spcPts val="2240"/>
              </a:lnSpc>
              <a:buNone/>
            </a:pPr>
            <a:r>
              <a:rPr lang="en-IE" sz="1700" dirty="0">
                <a:solidFill>
                  <a:srgbClr val="E6EBF2"/>
                </a:solidFill>
                <a:latin typeface="Consolas" pitchFamily="34" charset="0"/>
                <a:ea typeface="Consolas" pitchFamily="34" charset="-122"/>
                <a:cs typeface="Consolas" pitchFamily="34" charset="-120"/>
              </a:rPr>
              <a:t>}</a:t>
            </a:r>
            <a:endParaRPr lang="en-IE" sz="1700" dirty="0"/>
          </a:p>
          <a:p>
            <a:pPr indent="0" marL="0">
              <a:lnSpc>
                <a:spcPts val="2240"/>
              </a:lnSpc>
              <a:buNone/>
            </a:pPr>
            <a:r>
              <a:rPr lang="en-IE" sz="1700" dirty="0">
                <a:solidFill>
                  <a:srgbClr val="E6EBF2"/>
                </a:solidFill>
                <a:latin typeface="Consolas" pitchFamily="34" charset="0"/>
                <a:ea typeface="Consolas" pitchFamily="34" charset="-122"/>
                <a:cs typeface="Consolas" pitchFamily="34" charset="-120"/>
              </a:rPr>
              <a:t> </a:t>
            </a:r>
            <a:endParaRPr lang="en-IE" sz="1700" dirty="0"/>
          </a:p>
          <a:p>
            <a:pPr indent="0" marL="0">
              <a:lnSpc>
                <a:spcPts val="2240"/>
              </a:lnSpc>
              <a:buNone/>
            </a:pPr>
            <a:r>
              <a:rPr lang="en-IE" sz="1700" i="1" dirty="0">
                <a:solidFill>
                  <a:srgbClr val="A3AEC2"/>
                </a:solidFill>
                <a:latin typeface="Consolas" pitchFamily="34" charset="0"/>
                <a:ea typeface="Consolas" pitchFamily="34" charset="-122"/>
                <a:cs typeface="Consolas" pitchFamily="34" charset="-120"/>
              </a:rPr>
              <a:t>// in main:</a:t>
            </a:r>
            <a:endParaRPr lang="en-IE" sz="1700" dirty="0"/>
          </a:p>
          <a:p>
            <a:pPr indent="0" marL="0">
              <a:lnSpc>
                <a:spcPts val="2240"/>
              </a:lnSpc>
              <a:buNone/>
            </a:pPr>
            <a:r>
              <a:rPr lang="en-IE" sz="1700" dirty="0">
                <a:solidFill>
                  <a:srgbClr val="6CC4E8"/>
                </a:solidFill>
                <a:latin typeface="Consolas" pitchFamily="34" charset="0"/>
                <a:ea typeface="Consolas" pitchFamily="34" charset="-122"/>
                <a:cs typeface="Consolas" pitchFamily="34" charset="-120"/>
              </a:rPr>
              <a:t>Employee</a:t>
            </a:r>
            <a:r>
              <a:rPr lang="en-IE" sz="1700" dirty="0">
                <a:solidFill>
                  <a:srgbClr val="E6EBF2"/>
                </a:solidFill>
                <a:latin typeface="Consolas" pitchFamily="34" charset="0"/>
                <a:ea typeface="Consolas" pitchFamily="34" charset="-122"/>
                <a:cs typeface="Consolas" pitchFamily="34" charset="-120"/>
              </a:rPr>
              <a:t> e = </a:t>
            </a:r>
            <a:r>
              <a:rPr lang="en-IE" sz="1700" dirty="0">
                <a:solidFill>
                  <a:srgbClr val="FF9F5A"/>
                </a:solidFill>
                <a:latin typeface="Consolas" pitchFamily="34" charset="0"/>
                <a:ea typeface="Consolas" pitchFamily="34" charset="-122"/>
                <a:cs typeface="Consolas" pitchFamily="34" charset="-120"/>
              </a:rPr>
              <a:t>new</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C9B0FF"/>
                </a:solidFill>
                <a:latin typeface="Consolas" pitchFamily="34" charset="0"/>
                <a:ea typeface="Consolas" pitchFamily="34" charset="-122"/>
                <a:cs typeface="Consolas" pitchFamily="34" charset="-120"/>
              </a:rPr>
              <a:t>PartTimeEmployee</a:t>
            </a:r>
            <a:r>
              <a:rPr lang="en-IE" sz="1700" dirty="0">
                <a:solidFill>
                  <a:srgbClr val="E6EBF2"/>
                </a:solidFill>
                <a:latin typeface="Consolas" pitchFamily="34" charset="0"/>
                <a:ea typeface="Consolas" pitchFamily="34" charset="-122"/>
                <a:cs typeface="Consolas" pitchFamily="34" charset="-120"/>
              </a:rPr>
              <a:t>();</a:t>
            </a:r>
            <a:endParaRPr lang="en-IE" sz="1700" dirty="0"/>
          </a:p>
          <a:p>
            <a:pPr indent="0" marL="0">
              <a:lnSpc>
                <a:spcPts val="2240"/>
              </a:lnSpc>
              <a:buNone/>
            </a:pPr>
            <a:r>
              <a:rPr lang="en-IE" sz="1700" dirty="0">
                <a:solidFill>
                  <a:srgbClr val="6CC4E8"/>
                </a:solidFill>
                <a:latin typeface="Consolas" pitchFamily="34" charset="0"/>
                <a:ea typeface="Consolas" pitchFamily="34" charset="-122"/>
                <a:cs typeface="Consolas" pitchFamily="34" charset="-120"/>
              </a:rPr>
              <a:t>System</a:t>
            </a:r>
            <a:r>
              <a:rPr lang="en-IE" sz="1700" dirty="0">
                <a:solidFill>
                  <a:srgbClr val="E6EBF2"/>
                </a:solidFill>
                <a:latin typeface="Consolas" pitchFamily="34" charset="0"/>
                <a:ea typeface="Consolas" pitchFamily="34" charset="-122"/>
                <a:cs typeface="Consolas" pitchFamily="34" charset="-120"/>
              </a:rPr>
              <a:t>.out.</a:t>
            </a:r>
            <a:r>
              <a:rPr lang="en-IE" sz="1700" dirty="0">
                <a:solidFill>
                  <a:srgbClr val="C9B0FF"/>
                </a:solidFill>
                <a:latin typeface="Consolas" pitchFamily="34" charset="0"/>
                <a:ea typeface="Consolas" pitchFamily="34" charset="-122"/>
                <a:cs typeface="Consolas" pitchFamily="34" charset="-120"/>
              </a:rPr>
              <a:t>println</a:t>
            </a:r>
            <a:r>
              <a:rPr lang="en-IE" sz="1700" dirty="0">
                <a:solidFill>
                  <a:srgbClr val="E6EBF2"/>
                </a:solidFill>
                <a:latin typeface="Consolas" pitchFamily="34" charset="0"/>
                <a:ea typeface="Consolas" pitchFamily="34" charset="-122"/>
                <a:cs typeface="Consolas" pitchFamily="34" charset="-120"/>
              </a:rPr>
              <a:t>(e.</a:t>
            </a:r>
            <a:r>
              <a:rPr lang="en-IE" sz="1700" dirty="0">
                <a:solidFill>
                  <a:srgbClr val="C9B0FF"/>
                </a:solidFill>
                <a:latin typeface="Consolas" pitchFamily="34" charset="0"/>
                <a:ea typeface="Consolas" pitchFamily="34" charset="-122"/>
                <a:cs typeface="Consolas" pitchFamily="34" charset="-120"/>
              </a:rPr>
              <a:t>calcPay</a:t>
            </a:r>
            <a:r>
              <a:rPr lang="en-IE" sz="1700" dirty="0">
                <a:solidFill>
                  <a:srgbClr val="E6EBF2"/>
                </a:solidFill>
                <a:latin typeface="Consolas" pitchFamily="34" charset="0"/>
                <a:ea typeface="Consolas" pitchFamily="34" charset="-122"/>
                <a:cs typeface="Consolas" pitchFamily="34" charset="-120"/>
              </a:rPr>
              <a:t>());</a:t>
            </a:r>
            <a:endParaRPr lang="en-IE" sz="17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3000.0</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1600.0</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4600.0</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tx1"/>
                </a:solidFill>
              </a:rPr>
              <a:t>Compile error: Employee is abstract</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37</a:t>
            </a:fld>
            <a:endParaRPr lang="en-IE"/>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11</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Overriding</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this code print?</a:t>
            </a:r>
            <a:endParaRPr lang="en-IE" sz="2000" dirty="0"/>
          </a:p>
        </p:txBody>
      </p:sp>
      <p:sp>
        <p:nvSpPr>
          <p:cNvPr id="5" name="Answer code card"/>
          <p:cNvSpPr/>
          <p:nvPr/>
        </p:nvSpPr>
        <p:spPr>
          <a:xfrm>
            <a:off x="548640" y="1874520"/>
            <a:ext cx="5623560" cy="1085850"/>
          </a:xfrm>
          <a:prstGeom prst="roundRect">
            <a:avLst>
              <a:gd name="adj" fmla="val 10105"/>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683514"/>
          </a:xfrm>
          <a:prstGeom prst="rect">
            <a:avLst/>
          </a:prstGeom>
          <a:noFill/>
          <a:ln/>
        </p:spPr>
        <p:txBody>
          <a:bodyPr wrap="square" lIns="0" tIns="0" rIns="0" bIns="0" rtlCol="0" anchor="t"/>
          <a:lstStyle/>
          <a:p>
            <a:pPr indent="0" marL="0">
              <a:lnSpc>
                <a:spcPts val="1650"/>
              </a:lnSpc>
              <a:buNone/>
            </a:pPr>
            <a:r>
              <a:rPr lang="en-IE" sz="1250" dirty="0">
                <a:solidFill>
                  <a:srgbClr val="6CC4E8"/>
                </a:solidFill>
                <a:latin typeface="Consolas" pitchFamily="34" charset="0"/>
                <a:ea typeface="Consolas" pitchFamily="34" charset="-122"/>
                <a:cs typeface="Consolas" pitchFamily="34" charset="-120"/>
              </a:rPr>
              <a:t>Employee</a:t>
            </a:r>
            <a:r>
              <a:rPr lang="en-IE" sz="1250" dirty="0">
                <a:solidFill>
                  <a:srgbClr val="E6EBF2"/>
                </a:solidFill>
                <a:latin typeface="Consolas" pitchFamily="34" charset="0"/>
                <a:ea typeface="Consolas" pitchFamily="34" charset="-122"/>
                <a:cs typeface="Consolas" pitchFamily="34" charset="-120"/>
              </a:rPr>
              <a:t> e = </a:t>
            </a:r>
            <a:r>
              <a:rPr lang="en-IE" sz="1250" dirty="0">
                <a:solidFill>
                  <a:srgbClr val="FF9F5A"/>
                </a:solidFill>
                <a:latin typeface="Consolas" pitchFamily="34" charset="0"/>
                <a:ea typeface="Consolas" pitchFamily="34" charset="-122"/>
                <a:cs typeface="Consolas" pitchFamily="34" charset="-120"/>
              </a:rPr>
              <a:t>new</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C9B0FF"/>
                </a:solidFill>
                <a:latin typeface="Consolas" pitchFamily="34" charset="0"/>
                <a:ea typeface="Consolas" pitchFamily="34" charset="-122"/>
                <a:cs typeface="Consolas" pitchFamily="34" charset="-120"/>
              </a:rPr>
              <a:t>PartTimeEmployee</a:t>
            </a:r>
            <a:r>
              <a:rPr lang="en-IE" sz="1250" dirty="0">
                <a:solidFill>
                  <a:srgbClr val="E6EBF2"/>
                </a:solidFill>
                <a:latin typeface="Consolas" pitchFamily="34" charset="0"/>
                <a:ea typeface="Consolas" pitchFamily="34" charset="-122"/>
                <a:cs typeface="Consolas" pitchFamily="34" charset="-120"/>
              </a:rPr>
              <a:t>();</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e.</a:t>
            </a:r>
            <a:r>
              <a:rPr lang="en-IE" sz="1250" dirty="0">
                <a:solidFill>
                  <a:srgbClr val="C9B0FF"/>
                </a:solidFill>
                <a:latin typeface="Consolas" pitchFamily="34" charset="0"/>
                <a:ea typeface="Consolas" pitchFamily="34" charset="-122"/>
                <a:cs typeface="Consolas" pitchFamily="34" charset="-120"/>
              </a:rPr>
              <a:t>calcPay</a:t>
            </a:r>
            <a:r>
              <a:rPr lang="en-IE" sz="1250" dirty="0">
                <a:solidFill>
                  <a:srgbClr val="E6EBF2"/>
                </a:solidFill>
                <a:latin typeface="Consolas" pitchFamily="34" charset="0"/>
                <a:ea typeface="Consolas" pitchFamily="34" charset="-122"/>
                <a:cs typeface="Consolas" pitchFamily="34" charset="-120"/>
              </a:rPr>
              <a:t>();   </a:t>
            </a:r>
            <a:r>
              <a:rPr lang="en-IE" sz="1250" i="1" dirty="0">
                <a:solidFill>
                  <a:srgbClr val="A3AEC2"/>
                </a:solidFill>
                <a:latin typeface="Consolas" pitchFamily="34" charset="0"/>
                <a:ea typeface="Consolas" pitchFamily="34" charset="-122"/>
                <a:cs typeface="Consolas" pitchFamily="34" charset="-120"/>
              </a:rPr>
              <a:t>// the object is a PartTimeEmployee,</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i="1" dirty="0">
                <a:solidFill>
                  <a:srgbClr val="A3AEC2"/>
                </a:solidFill>
                <a:latin typeface="Consolas" pitchFamily="34" charset="0"/>
                <a:ea typeface="Consolas" pitchFamily="34" charset="-122"/>
                <a:cs typeface="Consolas" pitchFamily="34" charset="-120"/>
              </a:rPr>
              <a:t>// so its version runs: 1600.0</a:t>
            </a:r>
            <a:endParaRPr lang="en-IE" sz="1250" dirty="0"/>
          </a:p>
        </p:txBody>
      </p:sp>
      <p:sp>
        <p:nvSpPr>
          <p:cNvPr id="7" name="Option A"/>
          <p:cNvSpPr/>
          <p:nvPr/>
        </p:nvSpPr>
        <p:spPr>
          <a:xfrm>
            <a:off x="548640" y="3188970"/>
            <a:ext cx="5623560" cy="613220"/>
          </a:xfrm>
          <a:prstGeom prst="roundRect">
            <a:avLst>
              <a:gd name="adj" fmla="val 17894"/>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28526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71600" y="3188970"/>
            <a:ext cx="4572000" cy="61322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3000.0</a:t>
            </a:r>
            <a:endParaRPr lang="en-IE" sz="1700" dirty="0"/>
          </a:p>
        </p:txBody>
      </p:sp>
      <p:sp>
        <p:nvSpPr>
          <p:cNvPr id="10" name="Option B (correct)"/>
          <p:cNvSpPr/>
          <p:nvPr/>
        </p:nvSpPr>
        <p:spPr>
          <a:xfrm>
            <a:off x="548640" y="3948494"/>
            <a:ext cx="5623560" cy="613220"/>
          </a:xfrm>
          <a:prstGeom prst="roundRect">
            <a:avLst>
              <a:gd name="adj" fmla="val 17894"/>
            </a:avLst>
          </a:prstGeom>
          <a:solidFill>
            <a:schemeClr val="accent3"/>
          </a:solidFill>
          <a:ln/>
          <a:effectLst>
            <a:outerShdw sx="100000" sy="100000" kx="0" ky="0" algn="bl" rotWithShape="0" blurRad="114300" dist="31750" dir="5400000">
              <a:srgbClr val="1D2433">
                <a:alpha val="12000"/>
              </a:srgbClr>
            </a:outerShdw>
          </a:effectLst>
        </p:spPr>
      </p:sp>
      <p:sp>
        <p:nvSpPr>
          <p:cNvPr id="11" name="Letter B"/>
          <p:cNvSpPr/>
          <p:nvPr/>
        </p:nvSpPr>
        <p:spPr>
          <a:xfrm>
            <a:off x="749808" y="4044791"/>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2" name="Option B text"/>
          <p:cNvSpPr txBox="1"/>
          <p:nvPr/>
        </p:nvSpPr>
        <p:spPr>
          <a:xfrm>
            <a:off x="1371600" y="3948494"/>
            <a:ext cx="4142232" cy="613220"/>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1600.0</a:t>
            </a:r>
            <a:endParaRPr lang="en-IE" sz="1700" dirty="0"/>
          </a:p>
        </p:txBody>
      </p:sp>
      <p:pic>
        <p:nvPicPr>
          <p:cNvPr id="13" name="Correct mark" descr="Correct mark">    </p:cNvPr>
          <p:cNvPicPr>
            <a:picLocks noChangeAspect="1"/>
          </p:cNvPicPr>
          <p:nvPr/>
        </p:nvPicPr>
        <p:blipFill>
          <a:blip r:embed="rId1"/>
          <a:stretch>
            <a:fillRect/>
          </a:stretch>
        </p:blipFill>
        <p:spPr>
          <a:xfrm>
            <a:off x="5623560" y="4072223"/>
            <a:ext cx="365760" cy="365760"/>
          </a:xfrm>
          <a:prstGeom prst="rect">
            <a:avLst/>
          </a:prstGeom>
        </p:spPr>
      </p:pic>
      <p:sp>
        <p:nvSpPr>
          <p:cNvPr id="14" name="Option C"/>
          <p:cNvSpPr/>
          <p:nvPr/>
        </p:nvSpPr>
        <p:spPr>
          <a:xfrm>
            <a:off x="548640" y="4708017"/>
            <a:ext cx="5623560" cy="613220"/>
          </a:xfrm>
          <a:prstGeom prst="roundRect">
            <a:avLst>
              <a:gd name="adj" fmla="val 17894"/>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804315"/>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6" name="Option C text"/>
          <p:cNvSpPr txBox="1"/>
          <p:nvPr/>
        </p:nvSpPr>
        <p:spPr>
          <a:xfrm>
            <a:off x="1371600" y="4708017"/>
            <a:ext cx="4572000" cy="61322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4600.0</a:t>
            </a:r>
            <a:endParaRPr lang="en-IE" sz="1700" dirty="0"/>
          </a:p>
        </p:txBody>
      </p:sp>
      <p:sp>
        <p:nvSpPr>
          <p:cNvPr id="17" name="Option D"/>
          <p:cNvSpPr/>
          <p:nvPr/>
        </p:nvSpPr>
        <p:spPr>
          <a:xfrm>
            <a:off x="548640" y="5467541"/>
            <a:ext cx="5623560" cy="613220"/>
          </a:xfrm>
          <a:prstGeom prst="roundRect">
            <a:avLst>
              <a:gd name="adj" fmla="val 17894"/>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6383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71600" y="5467541"/>
            <a:ext cx="4572000" cy="613220"/>
          </a:xfrm>
          <a:prstGeom prst="rect">
            <a:avLst/>
          </a:prstGeom>
          <a:noFill/>
          <a:ln/>
        </p:spPr>
        <p:txBody>
          <a:bodyPr wrap="square" lIns="0" tIns="0" rIns="0" bIns="0" rtlCol="0" anchor="ctr"/>
          <a:lstStyle/>
          <a:p>
            <a:pPr indent="0" marL="0">
              <a:buNone/>
            </a:pPr>
            <a:r>
              <a:rPr lang="en-IE" sz="1700" dirty="0">
                <a:solidFill>
                  <a:schemeClr val="tx2"/>
                </a:solidFill>
              </a:rPr>
              <a:t>Compile error: Employee is abstract</a:t>
            </a:r>
            <a:endParaRPr lang="en-IE"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The variable’s type is Employee, but the object is a PartTimeEmployee. Java picks the version when the program runs, from the actual object. This is dynamic binding. A variable of an abstract type is fine; only </a:t>
            </a:r>
            <a:r>
              <a:rPr lang="en-IE" sz="1800" dirty="0">
                <a:solidFill>
                  <a:schemeClr val="accent2"/>
                </a:solidFill>
                <a:latin typeface="Consolas" pitchFamily="34" charset="0"/>
                <a:ea typeface="Consolas" pitchFamily="34" charset="-122"/>
                <a:cs typeface="Consolas" pitchFamily="34" charset="-120"/>
              </a:rPr>
              <a:t>new Employee()</a:t>
            </a:r>
            <a:r>
              <a:rPr lang="en-IE" sz="1800" dirty="0">
                <a:solidFill>
                  <a:schemeClr val="tx1"/>
                </a:solidFill>
              </a:rPr>
              <a:t> would fail.</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38</a:t>
            </a:fld>
            <a:endParaRPr lang="en-IE"/>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OVERRIDING</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The @Override annotation</a:t>
            </a:r>
            <a:endParaRPr lang="en-IE" sz="3400" dirty="0"/>
          </a:p>
        </p:txBody>
      </p:sp>
      <p:sp>
        <p:nvSpPr>
          <p:cNvPr id="5" name="Text 2"/>
          <p:cNvSpPr txBox="1"/>
          <p:nvPr/>
        </p:nvSpPr>
        <p:spPr>
          <a:xfrm>
            <a:off x="548640" y="1783080"/>
            <a:ext cx="4846320" cy="402336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Each child effectively overrides its parent’s method of the same name, replacing its behaviour with its own.</a:t>
            </a:r>
            <a:endParaRPr lang="en-IE" sz="1800" dirty="0"/>
          </a:p>
          <a:p>
            <a:pPr marL="228600" indent="-228600">
              <a:spcAft>
                <a:spcPts val="1200"/>
              </a:spcAft>
              <a:buSzPct val="100000"/>
              <a:buChar char="•"/>
            </a:pPr>
            <a:r>
              <a:rPr lang="en-IE" sz="1800" dirty="0">
                <a:solidFill>
                  <a:schemeClr val="tx1"/>
                </a:solidFill>
              </a:rPr>
              <a:t>In Java we mark this with an @Override annotation above the overriding method.</a:t>
            </a:r>
            <a:endParaRPr lang="en-IE" sz="1800" dirty="0"/>
          </a:p>
          <a:p>
            <a:pPr marL="228600" indent="-228600">
              <a:buSzPct val="100000"/>
              <a:buChar char="•"/>
            </a:pPr>
            <a:r>
              <a:rPr lang="en-IE" sz="1800" dirty="0">
                <a:solidFill>
                  <a:schemeClr val="tx1"/>
                </a:solidFill>
              </a:rPr>
              <a:t>It isn’t mandatory, but it helps the compiler understand what we meant to override, in case of a misspelling.</a:t>
            </a:r>
            <a:endParaRPr lang="en-IE" sz="1800" dirty="0"/>
          </a:p>
        </p:txBody>
      </p:sp>
      <p:sp>
        <p:nvSpPr>
          <p:cNvPr id="6" name="Text 3"/>
          <p:cNvSpPr txBox="1"/>
          <p:nvPr/>
        </p:nvSpPr>
        <p:spPr>
          <a:xfrm>
            <a:off x="5760720" y="1691640"/>
            <a:ext cx="3657600" cy="274320"/>
          </a:xfrm>
          <a:prstGeom prst="rect">
            <a:avLst/>
          </a:prstGeom>
          <a:noFill/>
          <a:ln/>
        </p:spPr>
        <p:txBody>
          <a:bodyPr wrap="square" lIns="0" tIns="0" rIns="0" bIns="0" rtlCol="0" anchor="t"/>
          <a:lstStyle/>
          <a:p>
            <a:pPr indent="0" marL="0">
              <a:buNone/>
            </a:pPr>
            <a:r>
              <a:rPr lang="en-IE" sz="1300" b="1" dirty="0">
                <a:solidFill>
                  <a:schemeClr val="tx2"/>
                </a:solidFill>
              </a:rPr>
              <a:t>With the right name</a:t>
            </a:r>
            <a:endParaRPr lang="en-IE" sz="1300" dirty="0"/>
          </a:p>
        </p:txBody>
      </p:sp>
      <p:sp>
        <p:nvSpPr>
          <p:cNvPr id="7" name="Correct override card"/>
          <p:cNvSpPr/>
          <p:nvPr/>
        </p:nvSpPr>
        <p:spPr>
          <a:xfrm>
            <a:off x="5760720" y="2011680"/>
            <a:ext cx="5882335" cy="1330960"/>
          </a:xfrm>
          <a:prstGeom prst="roundRect">
            <a:avLst>
              <a:gd name="adj" fmla="val 8244"/>
            </a:avLst>
          </a:prstGeom>
          <a:solidFill>
            <a:schemeClr val="tx1"/>
          </a:solidFill>
          <a:ln/>
          <a:effectLst>
            <a:outerShdw sx="100000" sy="100000" kx="0" ky="0" algn="bl" rotWithShape="0" blurRad="114300" dist="31750" dir="5400000">
              <a:srgbClr val="1D2433">
                <a:alpha val="12000"/>
              </a:srgbClr>
            </a:outerShdw>
          </a:effectLst>
        </p:spPr>
      </p:sp>
      <p:sp>
        <p:nvSpPr>
          <p:cNvPr id="8" name="Correct override text"/>
          <p:cNvSpPr txBox="1"/>
          <p:nvPr/>
        </p:nvSpPr>
        <p:spPr>
          <a:xfrm>
            <a:off x="6035040" y="2212848"/>
            <a:ext cx="5333695" cy="928624"/>
          </a:xfrm>
          <a:prstGeom prst="rect">
            <a:avLst/>
          </a:prstGeom>
          <a:noFill/>
          <a:ln/>
        </p:spPr>
        <p:txBody>
          <a:bodyPr wrap="square" lIns="0" tIns="0" rIns="0" bIns="0" rtlCol="0" anchor="t"/>
          <a:lstStyle/>
          <a:p>
            <a:pPr indent="0" marL="0">
              <a:lnSpc>
                <a:spcPts val="1720"/>
              </a:lnSpc>
              <a:buNone/>
            </a:pPr>
            <a:r>
              <a:rPr lang="en-IE" sz="1300" dirty="0">
                <a:solidFill>
                  <a:srgbClr val="E8C468"/>
                </a:solidFill>
                <a:latin typeface="Consolas" pitchFamily="34" charset="0"/>
                <a:ea typeface="Consolas" pitchFamily="34" charset="-122"/>
                <a:cs typeface="Consolas" pitchFamily="34" charset="-120"/>
              </a:rPr>
              <a:t>@Override</a:t>
            </a:r>
            <a:endParaRPr lang="en-IE" sz="1300" dirty="0"/>
          </a:p>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String</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toString</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return</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A9DB8C"/>
                </a:solidFill>
                <a:latin typeface="Consolas" pitchFamily="34" charset="0"/>
                <a:ea typeface="Consolas" pitchFamily="34" charset="-122"/>
                <a:cs typeface="Consolas" pitchFamily="34" charset="-120"/>
              </a:rPr>
              <a:t>"Name : "</a:t>
            </a:r>
            <a:r>
              <a:rPr lang="en-IE" sz="1300" dirty="0">
                <a:solidFill>
                  <a:srgbClr val="E6EBF2"/>
                </a:solidFill>
                <a:latin typeface="Consolas" pitchFamily="34" charset="0"/>
                <a:ea typeface="Consolas" pitchFamily="34" charset="-122"/>
                <a:cs typeface="Consolas" pitchFamily="34" charset="-120"/>
              </a:rPr>
              <a:t> + </a:t>
            </a:r>
            <a:r>
              <a:rPr lang="en-IE" sz="1300" dirty="0">
                <a:solidFill>
                  <a:srgbClr val="C9B0FF"/>
                </a:solidFill>
                <a:latin typeface="Consolas" pitchFamily="34" charset="0"/>
                <a:ea typeface="Consolas" pitchFamily="34" charset="-122"/>
                <a:cs typeface="Consolas" pitchFamily="34" charset="-120"/>
              </a:rPr>
              <a:t>getName</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pic>
        <p:nvPicPr>
          <p:cNvPr id="9" name="Works" descr="Works">    </p:cNvPr>
          <p:cNvPicPr>
            <a:picLocks noChangeAspect="1"/>
          </p:cNvPicPr>
          <p:nvPr/>
        </p:nvPicPr>
        <p:blipFill>
          <a:blip r:embed="rId1"/>
          <a:stretch>
            <a:fillRect/>
          </a:stretch>
        </p:blipFill>
        <p:spPr>
          <a:xfrm>
            <a:off x="5760720" y="3415792"/>
            <a:ext cx="347472" cy="347472"/>
          </a:xfrm>
          <a:prstGeom prst="rect">
            <a:avLst/>
          </a:prstGeom>
        </p:spPr>
      </p:pic>
      <p:sp>
        <p:nvSpPr>
          <p:cNvPr id="10" name="Text 6"/>
          <p:cNvSpPr txBox="1"/>
          <p:nvPr/>
        </p:nvSpPr>
        <p:spPr>
          <a:xfrm>
            <a:off x="6217920" y="3397504"/>
            <a:ext cx="5394960" cy="384048"/>
          </a:xfrm>
          <a:prstGeom prst="rect">
            <a:avLst/>
          </a:prstGeom>
          <a:noFill/>
          <a:ln/>
        </p:spPr>
        <p:txBody>
          <a:bodyPr wrap="square" lIns="0" tIns="0" rIns="0" bIns="0" rtlCol="0" anchor="ctr"/>
          <a:lstStyle/>
          <a:p>
            <a:pPr indent="0" marL="0">
              <a:buNone/>
            </a:pPr>
            <a:r>
              <a:rPr lang="en-IE" sz="1450" b="1" dirty="0">
                <a:solidFill>
                  <a:schemeClr val="accent3"/>
                </a:solidFill>
              </a:rPr>
              <a:t>Overrides the toString() it inherits.</a:t>
            </a:r>
            <a:endParaRPr lang="en-IE" sz="1450" dirty="0"/>
          </a:p>
        </p:txBody>
      </p:sp>
      <p:sp>
        <p:nvSpPr>
          <p:cNvPr id="11" name="Text 7"/>
          <p:cNvSpPr txBox="1"/>
          <p:nvPr/>
        </p:nvSpPr>
        <p:spPr>
          <a:xfrm>
            <a:off x="5760720" y="3937000"/>
            <a:ext cx="3657600" cy="274320"/>
          </a:xfrm>
          <a:prstGeom prst="rect">
            <a:avLst/>
          </a:prstGeom>
          <a:noFill/>
          <a:ln/>
        </p:spPr>
        <p:txBody>
          <a:bodyPr wrap="square" lIns="0" tIns="0" rIns="0" bIns="0" rtlCol="0" anchor="t"/>
          <a:lstStyle/>
          <a:p>
            <a:pPr indent="0" marL="0">
              <a:buNone/>
            </a:pPr>
            <a:r>
              <a:rPr lang="en-IE" sz="1300" b="1" dirty="0">
                <a:solidFill>
                  <a:schemeClr val="tx2"/>
                </a:solidFill>
              </a:rPr>
              <a:t>With a typo</a:t>
            </a:r>
            <a:endParaRPr lang="en-IE" sz="1300" dirty="0"/>
          </a:p>
        </p:txBody>
      </p:sp>
      <p:sp>
        <p:nvSpPr>
          <p:cNvPr id="12" name="Typo override card"/>
          <p:cNvSpPr/>
          <p:nvPr/>
        </p:nvSpPr>
        <p:spPr>
          <a:xfrm>
            <a:off x="5760720" y="4238752"/>
            <a:ext cx="5882335" cy="1330960"/>
          </a:xfrm>
          <a:prstGeom prst="roundRect">
            <a:avLst>
              <a:gd name="adj" fmla="val 8244"/>
            </a:avLst>
          </a:prstGeom>
          <a:solidFill>
            <a:schemeClr val="tx1"/>
          </a:solidFill>
          <a:ln/>
          <a:effectLst>
            <a:outerShdw sx="100000" sy="100000" kx="0" ky="0" algn="bl" rotWithShape="0" blurRad="114300" dist="31750" dir="5400000">
              <a:srgbClr val="1D2433">
                <a:alpha val="12000"/>
              </a:srgbClr>
            </a:outerShdw>
          </a:effectLst>
        </p:spPr>
      </p:sp>
      <p:sp>
        <p:nvSpPr>
          <p:cNvPr id="13" name="Typo override text"/>
          <p:cNvSpPr txBox="1"/>
          <p:nvPr/>
        </p:nvSpPr>
        <p:spPr>
          <a:xfrm>
            <a:off x="6035040" y="4439920"/>
            <a:ext cx="5333695" cy="928624"/>
          </a:xfrm>
          <a:prstGeom prst="rect">
            <a:avLst/>
          </a:prstGeom>
          <a:noFill/>
          <a:ln/>
        </p:spPr>
        <p:txBody>
          <a:bodyPr wrap="square" lIns="0" tIns="0" rIns="0" bIns="0" rtlCol="0" anchor="t"/>
          <a:lstStyle/>
          <a:p>
            <a:pPr indent="0" marL="0">
              <a:lnSpc>
                <a:spcPts val="1720"/>
              </a:lnSpc>
              <a:buNone/>
            </a:pPr>
            <a:r>
              <a:rPr lang="en-IE" sz="1300" dirty="0">
                <a:solidFill>
                  <a:srgbClr val="E8C468"/>
                </a:solidFill>
                <a:latin typeface="Consolas" pitchFamily="34" charset="0"/>
                <a:ea typeface="Consolas" pitchFamily="34" charset="-122"/>
                <a:cs typeface="Consolas" pitchFamily="34" charset="-120"/>
              </a:rPr>
              <a:t>@Override</a:t>
            </a:r>
            <a:endParaRPr lang="en-IE" sz="1300" dirty="0"/>
          </a:p>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String</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tostring</a:t>
            </a:r>
            <a:r>
              <a:rPr lang="en-IE" sz="1300" dirty="0">
                <a:solidFill>
                  <a:srgbClr val="E6EBF2"/>
                </a:solidFill>
                <a:latin typeface="Consolas" pitchFamily="34" charset="0"/>
                <a:ea typeface="Consolas" pitchFamily="34" charset="-122"/>
                <a:cs typeface="Consolas" pitchFamily="34" charset="-120"/>
              </a:rPr>
              <a:t>() {   </a:t>
            </a:r>
            <a:r>
              <a:rPr lang="en-IE" sz="1300" i="1" dirty="0">
                <a:solidFill>
                  <a:srgbClr val="A3AEC2"/>
                </a:solidFill>
                <a:latin typeface="Consolas" pitchFamily="34" charset="0"/>
                <a:ea typeface="Consolas" pitchFamily="34" charset="-122"/>
                <a:cs typeface="Consolas" pitchFamily="34" charset="-120"/>
              </a:rPr>
              <a:t>// small s</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return</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A9DB8C"/>
                </a:solidFill>
                <a:latin typeface="Consolas" pitchFamily="34" charset="0"/>
                <a:ea typeface="Consolas" pitchFamily="34" charset="-122"/>
                <a:cs typeface="Consolas" pitchFamily="34" charset="-120"/>
              </a:rPr>
              <a:t>"Name : "</a:t>
            </a:r>
            <a:r>
              <a:rPr lang="en-IE" sz="1300" dirty="0">
                <a:solidFill>
                  <a:srgbClr val="E6EBF2"/>
                </a:solidFill>
                <a:latin typeface="Consolas" pitchFamily="34" charset="0"/>
                <a:ea typeface="Consolas" pitchFamily="34" charset="-122"/>
                <a:cs typeface="Consolas" pitchFamily="34" charset="-120"/>
              </a:rPr>
              <a:t> + </a:t>
            </a:r>
            <a:r>
              <a:rPr lang="en-IE" sz="1300" dirty="0">
                <a:solidFill>
                  <a:srgbClr val="C9B0FF"/>
                </a:solidFill>
                <a:latin typeface="Consolas" pitchFamily="34" charset="0"/>
                <a:ea typeface="Consolas" pitchFamily="34" charset="-122"/>
                <a:cs typeface="Consolas" pitchFamily="34" charset="-120"/>
              </a:rPr>
              <a:t>getName</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pic>
        <p:nvPicPr>
          <p:cNvPr id="14" name="Does not work" descr="Does not work">    </p:cNvPr>
          <p:cNvPicPr>
            <a:picLocks noChangeAspect="1"/>
          </p:cNvPicPr>
          <p:nvPr/>
        </p:nvPicPr>
        <p:blipFill>
          <a:blip r:embed="rId2"/>
          <a:stretch>
            <a:fillRect/>
          </a:stretch>
        </p:blipFill>
        <p:spPr>
          <a:xfrm>
            <a:off x="5760720" y="5679440"/>
            <a:ext cx="347472" cy="347472"/>
          </a:xfrm>
          <a:prstGeom prst="rect">
            <a:avLst/>
          </a:prstGeom>
        </p:spPr>
      </p:pic>
      <p:sp>
        <p:nvSpPr>
          <p:cNvPr id="15" name="Text 10"/>
          <p:cNvSpPr txBox="1"/>
          <p:nvPr/>
        </p:nvSpPr>
        <p:spPr>
          <a:xfrm>
            <a:off x="6217920" y="5624576"/>
            <a:ext cx="5394960" cy="457200"/>
          </a:xfrm>
          <a:prstGeom prst="rect">
            <a:avLst/>
          </a:prstGeom>
          <a:noFill/>
          <a:ln/>
        </p:spPr>
        <p:txBody>
          <a:bodyPr wrap="square" lIns="0" tIns="0" rIns="0" bIns="0" rtlCol="0" anchor="ctr"/>
          <a:lstStyle/>
          <a:p>
            <a:pPr indent="0" marL="0">
              <a:buNone/>
            </a:pPr>
            <a:r>
              <a:rPr lang="en-IE" sz="1250" b="1" dirty="0">
                <a:solidFill>
                  <a:srgbClr val="C0392B"/>
                </a:solidFill>
              </a:rPr>
              <a:t>Error: method does not override or implement a method from a supertype</a:t>
            </a:r>
            <a:endParaRPr lang="en-IE" sz="12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39</a:t>
            </a:fld>
            <a:endParaRPr lang="en-IE"/>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12</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@Override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happens when this code is compiled?</a:t>
            </a:r>
            <a:endParaRPr lang="en-IE" sz="2800" dirty="0"/>
          </a:p>
        </p:txBody>
      </p:sp>
      <p:sp>
        <p:nvSpPr>
          <p:cNvPr id="5" name="Question code card"/>
          <p:cNvSpPr/>
          <p:nvPr/>
        </p:nvSpPr>
        <p:spPr>
          <a:xfrm>
            <a:off x="548640" y="1940306"/>
            <a:ext cx="6035040" cy="4074668"/>
          </a:xfrm>
          <a:prstGeom prst="roundRect">
            <a:avLst>
              <a:gd name="adj" fmla="val 2693"/>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2059178"/>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2434082"/>
            <a:ext cx="5486400" cy="3379724"/>
          </a:xfrm>
          <a:prstGeom prst="rect">
            <a:avLst/>
          </a:prstGeom>
          <a:noFill/>
          <a:ln/>
        </p:spPr>
        <p:txBody>
          <a:bodyPr wrap="square" lIns="0" tIns="0" rIns="0" bIns="0" rtlCol="0" anchor="t"/>
          <a:lstStyle/>
          <a:p>
            <a:pPr indent="0" marL="0">
              <a:lnSpc>
                <a:spcPts val="2380"/>
              </a:lnSpc>
              <a:buNone/>
            </a:pPr>
            <a:r>
              <a:rPr lang="en-IE" sz="1800" dirty="0">
                <a:solidFill>
                  <a:srgbClr val="FF9F5A"/>
                </a:solidFill>
                <a:latin typeface="Consolas" pitchFamily="34" charset="0"/>
                <a:ea typeface="Consolas" pitchFamily="34" charset="-122"/>
                <a:cs typeface="Consolas" pitchFamily="34" charset="-120"/>
              </a:rPr>
              <a:t>class</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6CC4E8"/>
                </a:solidFill>
                <a:latin typeface="Consolas" pitchFamily="34" charset="0"/>
                <a:ea typeface="Consolas" pitchFamily="34" charset="-122"/>
                <a:cs typeface="Consolas" pitchFamily="34" charset="-120"/>
              </a:rPr>
              <a:t>Person</a:t>
            </a:r>
            <a:r>
              <a:rPr lang="en-IE" sz="1800" dirty="0">
                <a:solidFill>
                  <a:srgbClr val="E6EBF2"/>
                </a:solidFill>
                <a:latin typeface="Consolas" pitchFamily="34" charset="0"/>
                <a:ea typeface="Consolas" pitchFamily="34" charset="-122"/>
                <a:cs typeface="Consolas" pitchFamily="34" charset="-120"/>
              </a:rPr>
              <a:t> {</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FF9F5A"/>
                </a:solidFill>
                <a:latin typeface="Consolas" pitchFamily="34" charset="0"/>
                <a:ea typeface="Consolas" pitchFamily="34" charset="-122"/>
                <a:cs typeface="Consolas" pitchFamily="34" charset="-120"/>
              </a:rPr>
              <a:t>public</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FF9F5A"/>
                </a:solidFill>
                <a:latin typeface="Consolas" pitchFamily="34" charset="0"/>
                <a:ea typeface="Consolas" pitchFamily="34" charset="-122"/>
                <a:cs typeface="Consolas" pitchFamily="34" charset="-120"/>
              </a:rPr>
              <a:t>void</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C9B0FF"/>
                </a:solidFill>
                <a:latin typeface="Consolas" pitchFamily="34" charset="0"/>
                <a:ea typeface="Consolas" pitchFamily="34" charset="-122"/>
                <a:cs typeface="Consolas" pitchFamily="34" charset="-120"/>
              </a:rPr>
              <a:t>display</a:t>
            </a:r>
            <a:r>
              <a:rPr lang="en-IE" sz="1800" dirty="0">
                <a:solidFill>
                  <a:srgbClr val="E6EBF2"/>
                </a:solidFill>
                <a:latin typeface="Consolas" pitchFamily="34" charset="0"/>
                <a:ea typeface="Consolas" pitchFamily="34" charset="-122"/>
                <a:cs typeface="Consolas" pitchFamily="34" charset="-120"/>
              </a:rPr>
              <a:t>() {</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6CC4E8"/>
                </a:solidFill>
                <a:latin typeface="Consolas" pitchFamily="34" charset="0"/>
                <a:ea typeface="Consolas" pitchFamily="34" charset="-122"/>
                <a:cs typeface="Consolas" pitchFamily="34" charset="-120"/>
              </a:rPr>
              <a:t>System</a:t>
            </a:r>
            <a:r>
              <a:rPr lang="en-IE" sz="1800" dirty="0">
                <a:solidFill>
                  <a:srgbClr val="E6EBF2"/>
                </a:solidFill>
                <a:latin typeface="Consolas" pitchFamily="34" charset="0"/>
                <a:ea typeface="Consolas" pitchFamily="34" charset="-122"/>
                <a:cs typeface="Consolas" pitchFamily="34" charset="-120"/>
              </a:rPr>
              <a:t>.out.</a:t>
            </a:r>
            <a:r>
              <a:rPr lang="en-IE" sz="1800" dirty="0">
                <a:solidFill>
                  <a:srgbClr val="C9B0FF"/>
                </a:solidFill>
                <a:latin typeface="Consolas" pitchFamily="34" charset="0"/>
                <a:ea typeface="Consolas" pitchFamily="34" charset="-122"/>
                <a:cs typeface="Consolas" pitchFamily="34" charset="-120"/>
              </a:rPr>
              <a:t>println</a:t>
            </a:r>
            <a:r>
              <a:rPr lang="en-IE" sz="1800" dirty="0">
                <a:solidFill>
                  <a:srgbClr val="E6EBF2"/>
                </a:solidFill>
                <a:latin typeface="Consolas" pitchFamily="34" charset="0"/>
                <a:ea typeface="Consolas" pitchFamily="34" charset="-122"/>
                <a:cs typeface="Consolas" pitchFamily="34" charset="-120"/>
              </a:rPr>
              <a:t>(</a:t>
            </a:r>
            <a:r>
              <a:rPr lang="en-IE" sz="1800" dirty="0">
                <a:solidFill>
                  <a:srgbClr val="A9DB8C"/>
                </a:solidFill>
                <a:latin typeface="Consolas" pitchFamily="34" charset="0"/>
                <a:ea typeface="Consolas" pitchFamily="34" charset="-122"/>
                <a:cs typeface="Consolas" pitchFamily="34" charset="-120"/>
              </a:rPr>
              <a:t>"Person"</a:t>
            </a:r>
            <a:r>
              <a:rPr lang="en-IE" sz="1800" dirty="0">
                <a:solidFill>
                  <a:srgbClr val="E6EBF2"/>
                </a:solidFill>
                <a:latin typeface="Consolas" pitchFamily="34" charset="0"/>
                <a:ea typeface="Consolas" pitchFamily="34" charset="-122"/>
                <a:cs typeface="Consolas" pitchFamily="34" charset="-120"/>
              </a:rPr>
              <a:t>);</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    }</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a:t>
            </a:r>
            <a:endParaRPr lang="en-IE" sz="1800" dirty="0"/>
          </a:p>
          <a:p>
            <a:pPr indent="0" marL="0">
              <a:lnSpc>
                <a:spcPts val="2380"/>
              </a:lnSpc>
              <a:buNone/>
            </a:pPr>
            <a:r>
              <a:rPr lang="en-IE" sz="1800" dirty="0">
                <a:solidFill>
                  <a:srgbClr val="FF9F5A"/>
                </a:solidFill>
                <a:latin typeface="Consolas" pitchFamily="34" charset="0"/>
                <a:ea typeface="Consolas" pitchFamily="34" charset="-122"/>
                <a:cs typeface="Consolas" pitchFamily="34" charset="-120"/>
              </a:rPr>
              <a:t>class</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6CC4E8"/>
                </a:solidFill>
                <a:latin typeface="Consolas" pitchFamily="34" charset="0"/>
                <a:ea typeface="Consolas" pitchFamily="34" charset="-122"/>
                <a:cs typeface="Consolas" pitchFamily="34" charset="-120"/>
              </a:rPr>
              <a:t>Student</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FF9F5A"/>
                </a:solidFill>
                <a:latin typeface="Consolas" pitchFamily="34" charset="0"/>
                <a:ea typeface="Consolas" pitchFamily="34" charset="-122"/>
                <a:cs typeface="Consolas" pitchFamily="34" charset="-120"/>
              </a:rPr>
              <a:t>extends</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6CC4E8"/>
                </a:solidFill>
                <a:latin typeface="Consolas" pitchFamily="34" charset="0"/>
                <a:ea typeface="Consolas" pitchFamily="34" charset="-122"/>
                <a:cs typeface="Consolas" pitchFamily="34" charset="-120"/>
              </a:rPr>
              <a:t>Person</a:t>
            </a:r>
            <a:r>
              <a:rPr lang="en-IE" sz="1800" dirty="0">
                <a:solidFill>
                  <a:srgbClr val="E6EBF2"/>
                </a:solidFill>
                <a:latin typeface="Consolas" pitchFamily="34" charset="0"/>
                <a:ea typeface="Consolas" pitchFamily="34" charset="-122"/>
                <a:cs typeface="Consolas" pitchFamily="34" charset="-120"/>
              </a:rPr>
              <a:t> {</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E8C468"/>
                </a:solidFill>
                <a:latin typeface="Consolas" pitchFamily="34" charset="0"/>
                <a:ea typeface="Consolas" pitchFamily="34" charset="-122"/>
                <a:cs typeface="Consolas" pitchFamily="34" charset="-120"/>
              </a:rPr>
              <a:t>@Override</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FF9F5A"/>
                </a:solidFill>
                <a:latin typeface="Consolas" pitchFamily="34" charset="0"/>
                <a:ea typeface="Consolas" pitchFamily="34" charset="-122"/>
                <a:cs typeface="Consolas" pitchFamily="34" charset="-120"/>
              </a:rPr>
              <a:t>public</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FF9F5A"/>
                </a:solidFill>
                <a:latin typeface="Consolas" pitchFamily="34" charset="0"/>
                <a:ea typeface="Consolas" pitchFamily="34" charset="-122"/>
                <a:cs typeface="Consolas" pitchFamily="34" charset="-120"/>
              </a:rPr>
              <a:t>void</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C9B0FF"/>
                </a:solidFill>
                <a:latin typeface="Consolas" pitchFamily="34" charset="0"/>
                <a:ea typeface="Consolas" pitchFamily="34" charset="-122"/>
                <a:cs typeface="Consolas" pitchFamily="34" charset="-120"/>
              </a:rPr>
              <a:t>display</a:t>
            </a:r>
            <a:r>
              <a:rPr lang="en-IE" sz="1800" dirty="0">
                <a:solidFill>
                  <a:srgbClr val="E6EBF2"/>
                </a:solidFill>
                <a:latin typeface="Consolas" pitchFamily="34" charset="0"/>
                <a:ea typeface="Consolas" pitchFamily="34" charset="-122"/>
                <a:cs typeface="Consolas" pitchFamily="34" charset="-120"/>
              </a:rPr>
              <a:t>(</a:t>
            </a:r>
            <a:r>
              <a:rPr lang="en-IE" sz="1800" dirty="0">
                <a:solidFill>
                  <a:srgbClr val="6CC4E8"/>
                </a:solidFill>
                <a:latin typeface="Consolas" pitchFamily="34" charset="0"/>
                <a:ea typeface="Consolas" pitchFamily="34" charset="-122"/>
                <a:cs typeface="Consolas" pitchFamily="34" charset="-120"/>
              </a:rPr>
              <a:t>String</a:t>
            </a:r>
            <a:r>
              <a:rPr lang="en-IE" sz="1800" dirty="0">
                <a:solidFill>
                  <a:srgbClr val="E6EBF2"/>
                </a:solidFill>
                <a:latin typeface="Consolas" pitchFamily="34" charset="0"/>
                <a:ea typeface="Consolas" pitchFamily="34" charset="-122"/>
                <a:cs typeface="Consolas" pitchFamily="34" charset="-120"/>
              </a:rPr>
              <a:t> name) {</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6CC4E8"/>
                </a:solidFill>
                <a:latin typeface="Consolas" pitchFamily="34" charset="0"/>
                <a:ea typeface="Consolas" pitchFamily="34" charset="-122"/>
                <a:cs typeface="Consolas" pitchFamily="34" charset="-120"/>
              </a:rPr>
              <a:t>System</a:t>
            </a:r>
            <a:r>
              <a:rPr lang="en-IE" sz="1800" dirty="0">
                <a:solidFill>
                  <a:srgbClr val="E6EBF2"/>
                </a:solidFill>
                <a:latin typeface="Consolas" pitchFamily="34" charset="0"/>
                <a:ea typeface="Consolas" pitchFamily="34" charset="-122"/>
                <a:cs typeface="Consolas" pitchFamily="34" charset="-120"/>
              </a:rPr>
              <a:t>.out.</a:t>
            </a:r>
            <a:r>
              <a:rPr lang="en-IE" sz="1800" dirty="0">
                <a:solidFill>
                  <a:srgbClr val="C9B0FF"/>
                </a:solidFill>
                <a:latin typeface="Consolas" pitchFamily="34" charset="0"/>
                <a:ea typeface="Consolas" pitchFamily="34" charset="-122"/>
                <a:cs typeface="Consolas" pitchFamily="34" charset="-120"/>
              </a:rPr>
              <a:t>println</a:t>
            </a:r>
            <a:r>
              <a:rPr lang="en-IE" sz="1800" dirty="0">
                <a:solidFill>
                  <a:srgbClr val="E6EBF2"/>
                </a:solidFill>
                <a:latin typeface="Consolas" pitchFamily="34" charset="0"/>
                <a:ea typeface="Consolas" pitchFamily="34" charset="-122"/>
                <a:cs typeface="Consolas" pitchFamily="34" charset="-120"/>
              </a:rPr>
              <a:t>(name);</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    }</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a:t>
            </a:r>
            <a:endParaRPr lang="en-IE" sz="18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tx1"/>
                </a:solidFill>
              </a:rPr>
              <a:t>It compiles and overrides display()</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tx1"/>
                </a:solidFill>
              </a:rPr>
              <a:t>It compiles: @Override is ignored</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tx1"/>
                </a:solidFill>
              </a:rPr>
              <a:t>It only fails when the program runs</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tx1"/>
                </a:solidFill>
              </a:rPr>
              <a:t>Compile error at @Override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40</a:t>
            </a:fld>
            <a:endParaRPr lang="en-IE"/>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12</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@Override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happens when this code is compiled?</a:t>
            </a:r>
            <a:endParaRPr lang="en-IE" sz="2000" dirty="0"/>
          </a:p>
        </p:txBody>
      </p:sp>
      <p:sp>
        <p:nvSpPr>
          <p:cNvPr id="5" name="Answer code card"/>
          <p:cNvSpPr/>
          <p:nvPr/>
        </p:nvSpPr>
        <p:spPr>
          <a:xfrm>
            <a:off x="548640" y="1874520"/>
            <a:ext cx="5623560" cy="1587500"/>
          </a:xfrm>
          <a:prstGeom prst="roundRect">
            <a:avLst>
              <a:gd name="adj" fmla="val 6912"/>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1185164"/>
          </a:xfrm>
          <a:prstGeom prst="rect">
            <a:avLst/>
          </a:prstGeom>
          <a:noFill/>
          <a:ln/>
        </p:spPr>
        <p:txBody>
          <a:bodyPr wrap="square" lIns="0" tIns="0" rIns="0" bIns="0" rtlCol="0" anchor="t"/>
          <a:lstStyle/>
          <a:p>
            <a:pPr indent="0" marL="0">
              <a:lnSpc>
                <a:spcPts val="1780"/>
              </a:lnSpc>
              <a:buNone/>
            </a:pPr>
            <a:r>
              <a:rPr lang="en-IE" sz="1350" dirty="0">
                <a:solidFill>
                  <a:srgbClr val="E8C468"/>
                </a:solidFill>
                <a:latin typeface="Consolas" pitchFamily="34" charset="0"/>
                <a:ea typeface="Consolas" pitchFamily="34" charset="-122"/>
                <a:cs typeface="Consolas" pitchFamily="34" charset="-120"/>
              </a:rPr>
              <a:t>@Override</a:t>
            </a:r>
            <a:endParaRPr lang="en-IE" sz="1350" dirty="0"/>
          </a:p>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void</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display</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6CC4E8"/>
                </a:solidFill>
                <a:latin typeface="Consolas" pitchFamily="34" charset="0"/>
                <a:ea typeface="Consolas" pitchFamily="34" charset="-122"/>
                <a:cs typeface="Consolas" pitchFamily="34" charset="-120"/>
              </a:rPr>
              <a:t>String</a:t>
            </a:r>
            <a:r>
              <a:rPr lang="en-IE" sz="1350" dirty="0">
                <a:solidFill>
                  <a:srgbClr val="E6EBF2"/>
                </a:solidFill>
                <a:latin typeface="Consolas" pitchFamily="34" charset="0"/>
                <a:ea typeface="Consolas" pitchFamily="34" charset="-122"/>
                <a:cs typeface="Consolas" pitchFamily="34" charset="-120"/>
              </a:rPr>
              <a:t> name) {</a:t>
            </a:r>
            <a:endParaRPr lang="en-IE" sz="1350" dirty="0"/>
          </a:p>
          <a:p>
            <a:pPr indent="0" marL="0">
              <a:lnSpc>
                <a:spcPts val="1780"/>
              </a:lnSpc>
              <a:buNone/>
            </a:pPr>
            <a:r>
              <a:rPr lang="en-IE" sz="1350" i="1" dirty="0">
                <a:solidFill>
                  <a:srgbClr val="A3AEC2"/>
                </a:solidFill>
                <a:latin typeface="Consolas" pitchFamily="34" charset="0"/>
                <a:ea typeface="Consolas" pitchFamily="34" charset="-122"/>
                <a:cs typeface="Consolas" pitchFamily="34" charset="-120"/>
              </a:rPr>
              <a:t>// Person has no display(String), so:</a:t>
            </a:r>
            <a:endParaRPr lang="en-IE" sz="1350" dirty="0"/>
          </a:p>
          <a:p>
            <a:pPr indent="0" marL="0">
              <a:lnSpc>
                <a:spcPts val="1780"/>
              </a:lnSpc>
              <a:buNone/>
            </a:pPr>
            <a:r>
              <a:rPr lang="en-IE" sz="1350" i="1" dirty="0">
                <a:solidFill>
                  <a:srgbClr val="A3AEC2"/>
                </a:solidFill>
                <a:latin typeface="Consolas" pitchFamily="34" charset="0"/>
                <a:ea typeface="Consolas" pitchFamily="34" charset="-122"/>
                <a:cs typeface="Consolas" pitchFamily="34" charset="-120"/>
              </a:rPr>
              <a:t>// error: method does not override or implement</a:t>
            </a:r>
            <a:endParaRPr lang="en-IE" sz="1350" dirty="0"/>
          </a:p>
          <a:p>
            <a:pPr indent="0" marL="0">
              <a:lnSpc>
                <a:spcPts val="1780"/>
              </a:lnSpc>
              <a:buNone/>
            </a:pPr>
            <a:r>
              <a:rPr lang="en-IE" sz="1350" i="1" dirty="0">
                <a:solidFill>
                  <a:srgbClr val="A3AEC2"/>
                </a:solidFill>
                <a:latin typeface="Consolas" pitchFamily="34" charset="0"/>
                <a:ea typeface="Consolas" pitchFamily="34" charset="-122"/>
                <a:cs typeface="Consolas" pitchFamily="34" charset="-120"/>
              </a:rPr>
              <a:t>//        a method from a supertype</a:t>
            </a:r>
            <a:endParaRPr lang="en-IE" sz="1350" dirty="0"/>
          </a:p>
        </p:txBody>
      </p:sp>
      <p:sp>
        <p:nvSpPr>
          <p:cNvPr id="7" name="Option A"/>
          <p:cNvSpPr/>
          <p:nvPr/>
        </p:nvSpPr>
        <p:spPr>
          <a:xfrm>
            <a:off x="548640" y="3690620"/>
            <a:ext cx="5623560" cy="487807"/>
          </a:xfrm>
          <a:prstGeom prst="roundRect">
            <a:avLst>
              <a:gd name="adj" fmla="val 22494"/>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754628"/>
            <a:ext cx="359791" cy="359791"/>
          </a:xfrm>
          <a:prstGeom prst="ellipse">
            <a:avLst/>
          </a:prstGeom>
          <a:solidFill>
            <a:schemeClr val="bg2"/>
          </a:solidFill>
          <a:ln/>
        </p:spPr>
        <p:txBody>
          <a:bodyPr wrap="square" lIns="0" tIns="0" rIns="0" bIns="0" rtlCol="0" anchor="ctr"/>
          <a:lstStyle/>
          <a:p>
            <a:pPr algn="ctr" indent="0" marL="0">
              <a:buNone/>
            </a:pPr>
            <a:r>
              <a:rPr lang="en-IE" sz="1400" b="1" dirty="0">
                <a:solidFill>
                  <a:schemeClr val="tx2"/>
                </a:solidFill>
              </a:rPr>
              <a:t>A</a:t>
            </a:r>
            <a:endParaRPr lang="en-IE" sz="1400" dirty="0"/>
          </a:p>
        </p:txBody>
      </p:sp>
      <p:sp>
        <p:nvSpPr>
          <p:cNvPr id="9" name="Option A text"/>
          <p:cNvSpPr txBox="1"/>
          <p:nvPr/>
        </p:nvSpPr>
        <p:spPr>
          <a:xfrm>
            <a:off x="1310767" y="3690620"/>
            <a:ext cx="4632833" cy="487807"/>
          </a:xfrm>
          <a:prstGeom prst="rect">
            <a:avLst/>
          </a:prstGeom>
          <a:noFill/>
          <a:ln/>
        </p:spPr>
        <p:txBody>
          <a:bodyPr wrap="square" lIns="0" tIns="0" rIns="0" bIns="0" rtlCol="0" anchor="ctr"/>
          <a:lstStyle/>
          <a:p>
            <a:pPr indent="0" marL="0">
              <a:buNone/>
            </a:pPr>
            <a:r>
              <a:rPr lang="en-IE" sz="1500" dirty="0">
                <a:solidFill>
                  <a:schemeClr val="tx2"/>
                </a:solidFill>
              </a:rPr>
              <a:t>It compiles and overrides display()</a:t>
            </a:r>
            <a:endParaRPr lang="en-IE" sz="1500" dirty="0"/>
          </a:p>
        </p:txBody>
      </p:sp>
      <p:sp>
        <p:nvSpPr>
          <p:cNvPr id="10" name="Option B"/>
          <p:cNvSpPr/>
          <p:nvPr/>
        </p:nvSpPr>
        <p:spPr>
          <a:xfrm>
            <a:off x="548640" y="4324731"/>
            <a:ext cx="5623560" cy="487807"/>
          </a:xfrm>
          <a:prstGeom prst="roundRect">
            <a:avLst>
              <a:gd name="adj" fmla="val 22494"/>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4388739"/>
            <a:ext cx="359791" cy="359791"/>
          </a:xfrm>
          <a:prstGeom prst="ellipse">
            <a:avLst/>
          </a:prstGeom>
          <a:solidFill>
            <a:schemeClr val="bg2"/>
          </a:solidFill>
          <a:ln/>
        </p:spPr>
        <p:txBody>
          <a:bodyPr wrap="square" lIns="0" tIns="0" rIns="0" bIns="0" rtlCol="0" anchor="ctr"/>
          <a:lstStyle/>
          <a:p>
            <a:pPr algn="ctr" indent="0" marL="0">
              <a:buNone/>
            </a:pPr>
            <a:r>
              <a:rPr lang="en-IE" sz="1400" b="1" dirty="0">
                <a:solidFill>
                  <a:schemeClr val="tx2"/>
                </a:solidFill>
              </a:rPr>
              <a:t>B</a:t>
            </a:r>
            <a:endParaRPr lang="en-IE" sz="1400" dirty="0"/>
          </a:p>
        </p:txBody>
      </p:sp>
      <p:sp>
        <p:nvSpPr>
          <p:cNvPr id="12" name="Option B text"/>
          <p:cNvSpPr txBox="1"/>
          <p:nvPr/>
        </p:nvSpPr>
        <p:spPr>
          <a:xfrm>
            <a:off x="1310767" y="4324731"/>
            <a:ext cx="4632833" cy="487807"/>
          </a:xfrm>
          <a:prstGeom prst="rect">
            <a:avLst/>
          </a:prstGeom>
          <a:noFill/>
          <a:ln/>
        </p:spPr>
        <p:txBody>
          <a:bodyPr wrap="square" lIns="0" tIns="0" rIns="0" bIns="0" rtlCol="0" anchor="ctr"/>
          <a:lstStyle/>
          <a:p>
            <a:pPr indent="0" marL="0">
              <a:buNone/>
            </a:pPr>
            <a:r>
              <a:rPr lang="en-IE" sz="1500" dirty="0">
                <a:solidFill>
                  <a:schemeClr val="tx2"/>
                </a:solidFill>
              </a:rPr>
              <a:t>It compiles: @Override is ignored</a:t>
            </a:r>
            <a:endParaRPr lang="en-IE" sz="1500" dirty="0"/>
          </a:p>
        </p:txBody>
      </p:sp>
      <p:sp>
        <p:nvSpPr>
          <p:cNvPr id="13" name="Option C"/>
          <p:cNvSpPr/>
          <p:nvPr/>
        </p:nvSpPr>
        <p:spPr>
          <a:xfrm>
            <a:off x="548640" y="4958842"/>
            <a:ext cx="5623560" cy="487807"/>
          </a:xfrm>
          <a:prstGeom prst="roundRect">
            <a:avLst>
              <a:gd name="adj" fmla="val 22494"/>
            </a:avLst>
          </a:prstGeom>
          <a:solidFill>
            <a:schemeClr val="bg1"/>
          </a:solidFill>
          <a:ln/>
          <a:effectLst>
            <a:outerShdw sx="100000" sy="100000" kx="0" ky="0" algn="bl" rotWithShape="0" blurRad="76200" dist="19050" dir="5400000">
              <a:srgbClr val="1D2433">
                <a:alpha val="8000"/>
              </a:srgbClr>
            </a:outerShdw>
          </a:effectLst>
        </p:spPr>
      </p:sp>
      <p:sp>
        <p:nvSpPr>
          <p:cNvPr id="14" name="Letter C"/>
          <p:cNvSpPr/>
          <p:nvPr/>
        </p:nvSpPr>
        <p:spPr>
          <a:xfrm>
            <a:off x="749808" y="5022850"/>
            <a:ext cx="359791" cy="359791"/>
          </a:xfrm>
          <a:prstGeom prst="ellipse">
            <a:avLst/>
          </a:prstGeom>
          <a:solidFill>
            <a:schemeClr val="bg2"/>
          </a:solidFill>
          <a:ln/>
        </p:spPr>
        <p:txBody>
          <a:bodyPr wrap="square" lIns="0" tIns="0" rIns="0" bIns="0" rtlCol="0" anchor="ctr"/>
          <a:lstStyle/>
          <a:p>
            <a:pPr algn="ctr" indent="0" marL="0">
              <a:buNone/>
            </a:pPr>
            <a:r>
              <a:rPr lang="en-IE" sz="1400" b="1" dirty="0">
                <a:solidFill>
                  <a:schemeClr val="tx2"/>
                </a:solidFill>
              </a:rPr>
              <a:t>C</a:t>
            </a:r>
            <a:endParaRPr lang="en-IE" sz="1400" dirty="0"/>
          </a:p>
        </p:txBody>
      </p:sp>
      <p:sp>
        <p:nvSpPr>
          <p:cNvPr id="15" name="Option C text"/>
          <p:cNvSpPr txBox="1"/>
          <p:nvPr/>
        </p:nvSpPr>
        <p:spPr>
          <a:xfrm>
            <a:off x="1310767" y="4958842"/>
            <a:ext cx="4632833" cy="487807"/>
          </a:xfrm>
          <a:prstGeom prst="rect">
            <a:avLst/>
          </a:prstGeom>
          <a:noFill/>
          <a:ln/>
        </p:spPr>
        <p:txBody>
          <a:bodyPr wrap="square" lIns="0" tIns="0" rIns="0" bIns="0" rtlCol="0" anchor="ctr"/>
          <a:lstStyle/>
          <a:p>
            <a:pPr indent="0" marL="0">
              <a:buNone/>
            </a:pPr>
            <a:r>
              <a:rPr lang="en-IE" sz="1500" dirty="0">
                <a:solidFill>
                  <a:schemeClr val="tx2"/>
                </a:solidFill>
              </a:rPr>
              <a:t>It only fails when the program runs</a:t>
            </a:r>
            <a:endParaRPr lang="en-IE" sz="1500" dirty="0"/>
          </a:p>
        </p:txBody>
      </p:sp>
      <p:sp>
        <p:nvSpPr>
          <p:cNvPr id="16" name="Option D (correct)"/>
          <p:cNvSpPr/>
          <p:nvPr/>
        </p:nvSpPr>
        <p:spPr>
          <a:xfrm>
            <a:off x="548640" y="5592953"/>
            <a:ext cx="5623560" cy="487807"/>
          </a:xfrm>
          <a:prstGeom prst="roundRect">
            <a:avLst>
              <a:gd name="adj" fmla="val 22494"/>
            </a:avLst>
          </a:prstGeom>
          <a:solidFill>
            <a:schemeClr val="accent3"/>
          </a:solidFill>
          <a:ln/>
          <a:effectLst>
            <a:outerShdw sx="100000" sy="100000" kx="0" ky="0" algn="bl" rotWithShape="0" blurRad="114300" dist="31750" dir="5400000">
              <a:srgbClr val="1D2433">
                <a:alpha val="12000"/>
              </a:srgbClr>
            </a:outerShdw>
          </a:effectLst>
        </p:spPr>
      </p:sp>
      <p:sp>
        <p:nvSpPr>
          <p:cNvPr id="17" name="Letter D"/>
          <p:cNvSpPr/>
          <p:nvPr/>
        </p:nvSpPr>
        <p:spPr>
          <a:xfrm>
            <a:off x="749808" y="5656961"/>
            <a:ext cx="359791" cy="359791"/>
          </a:xfrm>
          <a:prstGeom prst="ellipse">
            <a:avLst/>
          </a:prstGeom>
          <a:solidFill>
            <a:schemeClr val="bg1"/>
          </a:solidFill>
          <a:ln/>
        </p:spPr>
        <p:txBody>
          <a:bodyPr wrap="square" lIns="0" tIns="0" rIns="0" bIns="0" rtlCol="0" anchor="ctr"/>
          <a:lstStyle/>
          <a:p>
            <a:pPr algn="ctr" indent="0" marL="0">
              <a:buNone/>
            </a:pPr>
            <a:r>
              <a:rPr lang="en-IE" sz="1400" b="1" dirty="0">
                <a:solidFill>
                  <a:schemeClr val="accent3"/>
                </a:solidFill>
              </a:rPr>
              <a:t>D</a:t>
            </a:r>
            <a:endParaRPr lang="en-IE" sz="1400" dirty="0"/>
          </a:p>
        </p:txBody>
      </p:sp>
      <p:sp>
        <p:nvSpPr>
          <p:cNvPr id="18" name="Option D text"/>
          <p:cNvSpPr txBox="1"/>
          <p:nvPr/>
        </p:nvSpPr>
        <p:spPr>
          <a:xfrm>
            <a:off x="1310767" y="5592953"/>
            <a:ext cx="4203065" cy="487807"/>
          </a:xfrm>
          <a:prstGeom prst="rect">
            <a:avLst/>
          </a:prstGeom>
          <a:noFill/>
          <a:ln/>
        </p:spPr>
        <p:txBody>
          <a:bodyPr wrap="square" lIns="0" tIns="0" rIns="0" bIns="0" rtlCol="0" anchor="ctr"/>
          <a:lstStyle/>
          <a:p>
            <a:pPr indent="0" marL="0">
              <a:buNone/>
            </a:pPr>
            <a:r>
              <a:rPr lang="en-IE" sz="1500" b="1" dirty="0">
                <a:solidFill>
                  <a:schemeClr val="bg1"/>
                </a:solidFill>
              </a:rPr>
              <a:t>Compile error at @Override</a:t>
            </a:r>
            <a:endParaRPr lang="en-IE" sz="1500" dirty="0"/>
          </a:p>
        </p:txBody>
      </p:sp>
      <p:pic>
        <p:nvPicPr>
          <p:cNvPr id="19" name="Correct mark" descr="Correct mark">    </p:cNvPr>
          <p:cNvPicPr>
            <a:picLocks noChangeAspect="1"/>
          </p:cNvPicPr>
          <p:nvPr/>
        </p:nvPicPr>
        <p:blipFill>
          <a:blip r:embed="rId1"/>
          <a:stretch>
            <a:fillRect/>
          </a:stretch>
        </p:blipFill>
        <p:spPr>
          <a:xfrm>
            <a:off x="5623560" y="5653977"/>
            <a:ext cx="365760" cy="365760"/>
          </a:xfrm>
          <a:prstGeom prst="rect">
            <a:avLst/>
          </a:prstGeom>
        </p:spPr>
      </p:pic>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display(String)</a:t>
            </a:r>
            <a:r>
              <a:rPr lang="en-IE" sz="1800" dirty="0">
                <a:solidFill>
                  <a:schemeClr val="tx1"/>
                </a:solidFill>
              </a:rPr>
              <a:t> has different parameters from </a:t>
            </a:r>
            <a:r>
              <a:rPr lang="en-IE" sz="1800" dirty="0">
                <a:solidFill>
                  <a:schemeClr val="accent2"/>
                </a:solidFill>
                <a:latin typeface="Consolas" pitchFamily="34" charset="0"/>
                <a:ea typeface="Consolas" pitchFamily="34" charset="-122"/>
                <a:cs typeface="Consolas" pitchFamily="34" charset="-120"/>
              </a:rPr>
              <a:t>display()</a:t>
            </a:r>
            <a:r>
              <a:rPr lang="en-IE" sz="1800" dirty="0">
                <a:solidFill>
                  <a:schemeClr val="tx1"/>
                </a:solidFill>
              </a:rPr>
              <a:t>, so it would overload display(), not override it. Without @Override, Java would quietly accept it as a new method. With it, the compiler checks and reports the mistake straight away.</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41</a:t>
            </a:fld>
            <a:endParaRPr lang="en-IE"/>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OVERRIDING</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Overriding and abstraction</a:t>
            </a:r>
            <a:endParaRPr lang="en-IE" sz="3400" dirty="0"/>
          </a:p>
        </p:txBody>
      </p:sp>
      <p:sp>
        <p:nvSpPr>
          <p:cNvPr id="5" name="Normal method in the parent"/>
          <p:cNvSpPr/>
          <p:nvPr/>
        </p:nvSpPr>
        <p:spPr>
          <a:xfrm>
            <a:off x="548640" y="1691640"/>
            <a:ext cx="5387188" cy="3108960"/>
          </a:xfrm>
          <a:prstGeom prst="roundRect">
            <a:avLst>
              <a:gd name="adj" fmla="val 3529"/>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1965960"/>
            <a:ext cx="640080" cy="640080"/>
          </a:xfrm>
          <a:prstGeom prst="roundRect">
            <a:avLst>
              <a:gd name="adj" fmla="val 24000"/>
            </a:avLst>
          </a:prstGeom>
          <a:solidFill>
            <a:schemeClr val="accent3">
              <a:alpha val="14000"/>
            </a:schemeClr>
          </a:solidFill>
          <a:ln/>
        </p:spPr>
      </p:sp>
      <p:pic>
        <p:nvPicPr>
          <p:cNvPr id="7" name="arrows clockwise icon" descr="arrows clockwise icon">    </p:cNvPr>
          <p:cNvPicPr>
            <a:picLocks noChangeAspect="1"/>
          </p:cNvPicPr>
          <p:nvPr/>
        </p:nvPicPr>
        <p:blipFill>
          <a:blip r:embed="rId1"/>
          <a:stretch>
            <a:fillRect/>
          </a:stretch>
        </p:blipFill>
        <p:spPr>
          <a:xfrm>
            <a:off x="957377" y="2100377"/>
            <a:ext cx="371246" cy="371246"/>
          </a:xfrm>
          <a:prstGeom prst="rect">
            <a:avLst/>
          </a:prstGeom>
        </p:spPr>
      </p:pic>
      <p:sp>
        <p:nvSpPr>
          <p:cNvPr id="8" name="Text 4"/>
          <p:cNvSpPr txBox="1"/>
          <p:nvPr/>
        </p:nvSpPr>
        <p:spPr>
          <a:xfrm>
            <a:off x="1600200" y="1965960"/>
            <a:ext cx="4107028" cy="640080"/>
          </a:xfrm>
          <a:prstGeom prst="rect">
            <a:avLst/>
          </a:prstGeom>
          <a:noFill/>
          <a:ln/>
        </p:spPr>
        <p:txBody>
          <a:bodyPr wrap="square" lIns="0" tIns="0" rIns="0" bIns="0" rtlCol="0" anchor="ctr"/>
          <a:lstStyle/>
          <a:p>
            <a:pPr indent="0" marL="0">
              <a:buNone/>
            </a:pPr>
            <a:r>
              <a:rPr lang="en-IE" sz="2000" b="1" dirty="0">
                <a:solidFill>
                  <a:schemeClr val="tx1"/>
                </a:solidFill>
              </a:rPr>
              <a:t>Normal method in the parent</a:t>
            </a:r>
            <a:endParaRPr lang="en-IE" sz="2000" dirty="0"/>
          </a:p>
        </p:txBody>
      </p:sp>
      <p:sp>
        <p:nvSpPr>
          <p:cNvPr id="9" name="Text 5"/>
          <p:cNvSpPr txBox="1"/>
          <p:nvPr/>
        </p:nvSpPr>
        <p:spPr>
          <a:xfrm>
            <a:off x="822960" y="2743200"/>
            <a:ext cx="4838548" cy="685800"/>
          </a:xfrm>
          <a:prstGeom prst="rect">
            <a:avLst/>
          </a:prstGeom>
          <a:noFill/>
          <a:ln/>
        </p:spPr>
        <p:txBody>
          <a:bodyPr wrap="square" lIns="0" tIns="0" rIns="0" bIns="0" rtlCol="0" anchor="t"/>
          <a:lstStyle/>
          <a:p>
            <a:pPr indent="0" marL="0">
              <a:buNone/>
            </a:pPr>
            <a:r>
              <a:rPr lang="en-IE" sz="1600" dirty="0">
                <a:solidFill>
                  <a:schemeClr val="tx2"/>
                </a:solidFill>
              </a:rPr>
              <a:t>The child may override it, if it needs different behaviour. It doesn’t have to.</a:t>
            </a:r>
            <a:endParaRPr lang="en-IE" sz="1600" dirty="0"/>
          </a:p>
        </p:txBody>
      </p:sp>
      <p:sp>
        <p:nvSpPr>
          <p:cNvPr id="10" name="Normal method in the parent code card"/>
          <p:cNvSpPr/>
          <p:nvPr/>
        </p:nvSpPr>
        <p:spPr>
          <a:xfrm>
            <a:off x="822960" y="3520440"/>
            <a:ext cx="4838548" cy="1135380"/>
          </a:xfrm>
          <a:prstGeom prst="roundRect">
            <a:avLst>
              <a:gd name="adj" fmla="val 9664"/>
            </a:avLst>
          </a:prstGeom>
          <a:solidFill>
            <a:schemeClr val="tx1"/>
          </a:solidFill>
          <a:ln/>
          <a:effectLst>
            <a:outerShdw sx="100000" sy="100000" kx="0" ky="0" algn="bl" rotWithShape="0" blurRad="114300" dist="31750" dir="5400000">
              <a:srgbClr val="1D2433">
                <a:alpha val="12000"/>
              </a:srgbClr>
            </a:outerShdw>
          </a:effectLst>
        </p:spPr>
      </p:sp>
      <p:sp>
        <p:nvSpPr>
          <p:cNvPr id="11" name="Normal method in the parent code text"/>
          <p:cNvSpPr txBox="1"/>
          <p:nvPr/>
        </p:nvSpPr>
        <p:spPr>
          <a:xfrm>
            <a:off x="1097280" y="3721608"/>
            <a:ext cx="4289908" cy="73304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class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String</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toString</a:t>
            </a:r>
            <a:r>
              <a:rPr lang="en-IE" sz="1350" dirty="0">
                <a:solidFill>
                  <a:srgbClr val="E6EBF2"/>
                </a:solidFill>
                <a:latin typeface="Consolas" pitchFamily="34" charset="0"/>
                <a:ea typeface="Consolas" pitchFamily="34" charset="-122"/>
                <a:cs typeface="Consolas" pitchFamily="34" charset="-120"/>
              </a:rPr>
              <a:t>() { ...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12" name="Abstract method in the parent"/>
          <p:cNvSpPr/>
          <p:nvPr/>
        </p:nvSpPr>
        <p:spPr>
          <a:xfrm>
            <a:off x="6255868" y="1691640"/>
            <a:ext cx="5387188" cy="3108960"/>
          </a:xfrm>
          <a:prstGeom prst="roundRect">
            <a:avLst>
              <a:gd name="adj" fmla="val 3529"/>
            </a:avLst>
          </a:prstGeom>
          <a:solidFill>
            <a:schemeClr val="bg1"/>
          </a:solidFill>
          <a:ln/>
          <a:effectLst>
            <a:outerShdw sx="100000" sy="100000" kx="0" ky="0" algn="bl" rotWithShape="0" blurRad="114300" dist="31750" dir="5400000">
              <a:srgbClr val="1D2433">
                <a:alpha val="12000"/>
              </a:srgbClr>
            </a:outerShdw>
          </a:effectLst>
        </p:spPr>
      </p:sp>
      <p:sp>
        <p:nvSpPr>
          <p:cNvPr id="13" name="Icon tile"/>
          <p:cNvSpPr/>
          <p:nvPr/>
        </p:nvSpPr>
        <p:spPr>
          <a:xfrm>
            <a:off x="6530188" y="1965960"/>
            <a:ext cx="640080" cy="640080"/>
          </a:xfrm>
          <a:prstGeom prst="roundRect">
            <a:avLst>
              <a:gd name="adj" fmla="val 24000"/>
            </a:avLst>
          </a:prstGeom>
          <a:solidFill>
            <a:schemeClr val="accent1">
              <a:alpha val="14000"/>
            </a:schemeClr>
          </a:solidFill>
          <a:ln/>
        </p:spPr>
      </p:sp>
      <p:pic>
        <p:nvPicPr>
          <p:cNvPr id="14" name="seal warning icon" descr="seal warning icon">    </p:cNvPr>
          <p:cNvPicPr>
            <a:picLocks noChangeAspect="1"/>
          </p:cNvPicPr>
          <p:nvPr/>
        </p:nvPicPr>
        <p:blipFill>
          <a:blip r:embed="rId2"/>
          <a:stretch>
            <a:fillRect/>
          </a:stretch>
        </p:blipFill>
        <p:spPr>
          <a:xfrm>
            <a:off x="6664604" y="2100377"/>
            <a:ext cx="371246" cy="371246"/>
          </a:xfrm>
          <a:prstGeom prst="rect">
            <a:avLst/>
          </a:prstGeom>
        </p:spPr>
      </p:pic>
      <p:sp>
        <p:nvSpPr>
          <p:cNvPr id="15" name="Text 10"/>
          <p:cNvSpPr txBox="1"/>
          <p:nvPr/>
        </p:nvSpPr>
        <p:spPr>
          <a:xfrm>
            <a:off x="7307428" y="1965960"/>
            <a:ext cx="4107028" cy="640080"/>
          </a:xfrm>
          <a:prstGeom prst="rect">
            <a:avLst/>
          </a:prstGeom>
          <a:noFill/>
          <a:ln/>
        </p:spPr>
        <p:txBody>
          <a:bodyPr wrap="square" lIns="0" tIns="0" rIns="0" bIns="0" rtlCol="0" anchor="ctr"/>
          <a:lstStyle/>
          <a:p>
            <a:pPr indent="0" marL="0">
              <a:buNone/>
            </a:pPr>
            <a:r>
              <a:rPr lang="en-IE" sz="2000" b="1" dirty="0">
                <a:solidFill>
                  <a:schemeClr val="tx1"/>
                </a:solidFill>
              </a:rPr>
              <a:t>Abstract method in the parent</a:t>
            </a:r>
            <a:endParaRPr lang="en-IE" sz="2000" dirty="0"/>
          </a:p>
        </p:txBody>
      </p:sp>
      <p:sp>
        <p:nvSpPr>
          <p:cNvPr id="16" name="Text 11"/>
          <p:cNvSpPr txBox="1"/>
          <p:nvPr/>
        </p:nvSpPr>
        <p:spPr>
          <a:xfrm>
            <a:off x="6530188" y="2743200"/>
            <a:ext cx="4838548" cy="685800"/>
          </a:xfrm>
          <a:prstGeom prst="rect">
            <a:avLst/>
          </a:prstGeom>
          <a:noFill/>
          <a:ln/>
        </p:spPr>
        <p:txBody>
          <a:bodyPr wrap="square" lIns="0" tIns="0" rIns="0" bIns="0" rtlCol="0" anchor="t"/>
          <a:lstStyle/>
          <a:p>
            <a:pPr indent="0" marL="0">
              <a:buNone/>
            </a:pPr>
            <a:r>
              <a:rPr lang="en-IE" sz="1600" dirty="0">
                <a:solidFill>
                  <a:schemeClr val="tx2"/>
                </a:solidFill>
              </a:rPr>
              <a:t>The child MUST override it, or be declared abstract too.</a:t>
            </a:r>
            <a:endParaRPr lang="en-IE" sz="1600" dirty="0"/>
          </a:p>
        </p:txBody>
      </p:sp>
      <p:sp>
        <p:nvSpPr>
          <p:cNvPr id="17" name="Abstract method in the parent code card"/>
          <p:cNvSpPr/>
          <p:nvPr/>
        </p:nvSpPr>
        <p:spPr>
          <a:xfrm>
            <a:off x="6530188" y="3520440"/>
            <a:ext cx="4838548" cy="1135380"/>
          </a:xfrm>
          <a:prstGeom prst="roundRect">
            <a:avLst>
              <a:gd name="adj" fmla="val 9664"/>
            </a:avLst>
          </a:prstGeom>
          <a:solidFill>
            <a:schemeClr val="tx1"/>
          </a:solidFill>
          <a:ln/>
          <a:effectLst>
            <a:outerShdw sx="100000" sy="100000" kx="0" ky="0" algn="bl" rotWithShape="0" blurRad="114300" dist="31750" dir="5400000">
              <a:srgbClr val="1D2433">
                <a:alpha val="12000"/>
              </a:srgbClr>
            </a:outerShdw>
          </a:effectLst>
        </p:spPr>
      </p:sp>
      <p:sp>
        <p:nvSpPr>
          <p:cNvPr id="18" name="Abstract method in the parent code text"/>
          <p:cNvSpPr txBox="1"/>
          <p:nvPr/>
        </p:nvSpPr>
        <p:spPr>
          <a:xfrm>
            <a:off x="6804508" y="3721608"/>
            <a:ext cx="4289908" cy="73304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abstract</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class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abstract</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double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calcPay</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19" name="Text 14"/>
          <p:cNvSpPr txBox="1"/>
          <p:nvPr/>
        </p:nvSpPr>
        <p:spPr>
          <a:xfrm>
            <a:off x="548640" y="5029200"/>
            <a:ext cx="11094415" cy="292608"/>
          </a:xfrm>
          <a:prstGeom prst="rect">
            <a:avLst/>
          </a:prstGeom>
          <a:noFill/>
          <a:ln/>
        </p:spPr>
        <p:txBody>
          <a:bodyPr wrap="square" lIns="0" tIns="0" rIns="0" bIns="0" rtlCol="0" anchor="t"/>
          <a:lstStyle/>
          <a:p>
            <a:pPr indent="0" marL="0">
              <a:buNone/>
            </a:pPr>
            <a:r>
              <a:rPr lang="en-IE" sz="1400" b="1" dirty="0">
                <a:solidFill>
                  <a:schemeClr val="tx2"/>
                </a:solidFill>
              </a:rPr>
              <a:t>If FullTimeEmployee forgets calcPay():</a:t>
            </a:r>
            <a:endParaRPr lang="en-IE" sz="1400" dirty="0"/>
          </a:p>
        </p:txBody>
      </p:sp>
      <p:sp>
        <p:nvSpPr>
          <p:cNvPr id="20" name="Compiler error"/>
          <p:cNvSpPr/>
          <p:nvPr/>
        </p:nvSpPr>
        <p:spPr>
          <a:xfrm>
            <a:off x="548640" y="5394960"/>
            <a:ext cx="11094415" cy="731520"/>
          </a:xfrm>
          <a:prstGeom prst="roundRect">
            <a:avLst>
              <a:gd name="adj" fmla="val 15000"/>
            </a:avLst>
          </a:prstGeom>
          <a:solidFill>
            <a:schemeClr val="bg2"/>
          </a:solidFill>
          <a:ln/>
        </p:spPr>
      </p:sp>
      <p:pic>
        <p:nvPicPr>
          <p:cNvPr id="21" name="Error icon" descr="Error icon">    </p:cNvPr>
          <p:cNvPicPr>
            <a:picLocks noChangeAspect="1"/>
          </p:cNvPicPr>
          <p:nvPr/>
        </p:nvPicPr>
        <p:blipFill>
          <a:blip r:embed="rId3"/>
          <a:stretch>
            <a:fillRect/>
          </a:stretch>
        </p:blipFill>
        <p:spPr>
          <a:xfrm>
            <a:off x="777240" y="5577840"/>
            <a:ext cx="365760" cy="365760"/>
          </a:xfrm>
          <a:prstGeom prst="rect">
            <a:avLst/>
          </a:prstGeom>
        </p:spPr>
      </p:pic>
      <p:sp>
        <p:nvSpPr>
          <p:cNvPr id="22" name="Text 16"/>
          <p:cNvSpPr txBox="1"/>
          <p:nvPr/>
        </p:nvSpPr>
        <p:spPr>
          <a:xfrm>
            <a:off x="1280160" y="5394960"/>
            <a:ext cx="10180015" cy="731520"/>
          </a:xfrm>
          <a:prstGeom prst="rect">
            <a:avLst/>
          </a:prstGeom>
          <a:noFill/>
          <a:ln/>
        </p:spPr>
        <p:txBody>
          <a:bodyPr wrap="square" lIns="0" tIns="0" rIns="0" bIns="0" rtlCol="0" anchor="ctr"/>
          <a:lstStyle/>
          <a:p>
            <a:pPr indent="0" marL="0">
              <a:buNone/>
            </a:pPr>
            <a:r>
              <a:rPr lang="en-IE" sz="1350" b="1" dirty="0">
                <a:solidFill>
                  <a:schemeClr val="tx1"/>
                </a:solidFill>
              </a:rPr>
              <a:t>Error: </a:t>
            </a:r>
            <a:r>
              <a:rPr lang="en-IE" sz="1350" dirty="0">
                <a:solidFill>
                  <a:schemeClr val="tx1"/>
                </a:solidFill>
                <a:latin typeface="Consolas" pitchFamily="34" charset="0"/>
                <a:ea typeface="Consolas" pitchFamily="34" charset="-122"/>
                <a:cs typeface="Consolas" pitchFamily="34" charset="-120"/>
              </a:rPr>
              <a:t>FullTimeEmployee is not abstract and does not override abstract method calcPay() in Employee</a:t>
            </a:r>
            <a:endParaRPr lang="en-IE" sz="13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42</a:t>
            </a:fld>
            <a:endParaRPr lang="en-IE"/>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13</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Overriding and abstraction</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Employee has </a:t>
            </a:r>
            <a:r>
              <a:rPr lang="en-IE" sz="2800" b="1" dirty="0">
                <a:solidFill>
                  <a:schemeClr val="accent2"/>
                </a:solidFill>
                <a:latin typeface="Consolas" pitchFamily="34" charset="0"/>
                <a:ea typeface="Consolas" pitchFamily="34" charset="-122"/>
                <a:cs typeface="Consolas" pitchFamily="34" charset="-120"/>
              </a:rPr>
              <a:t>abstract double calcPay()</a:t>
            </a:r>
            <a:r>
              <a:rPr lang="en-IE" sz="2800" b="1" dirty="0">
                <a:solidFill>
                  <a:schemeClr val="tx1"/>
                </a:solidFill>
              </a:rPr>
              <a:t>. FullTimeEmployee extends it without writing calcPay(). What happens?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Compile error, unless FullTimeEmployee is abstract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compiles, and calcPay() simply returns 0.0</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Employee’s version of calcPay() is run instead</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only fails later, when calcPay() is called</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43</a:t>
            </a:fld>
            <a:endParaRPr lang="en-IE"/>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13</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Overriding and abstraction</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Employee has </a:t>
            </a:r>
            <a:r>
              <a:rPr lang="en-IE" sz="2000" b="1" dirty="0">
                <a:solidFill>
                  <a:schemeClr val="tx2"/>
                </a:solidFill>
                <a:latin typeface="Consolas" pitchFamily="34" charset="0"/>
                <a:ea typeface="Consolas" pitchFamily="34" charset="-122"/>
                <a:cs typeface="Consolas" pitchFamily="34" charset="-120"/>
              </a:rPr>
              <a:t>abstract double calcPay()</a:t>
            </a:r>
            <a:r>
              <a:rPr lang="en-IE" sz="2000" b="1" dirty="0">
                <a:solidFill>
                  <a:schemeClr val="tx2"/>
                </a:solidFill>
              </a:rPr>
              <a:t>. FullTimeEmployee extends it without writing calcPay(). What happens?</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Compile error, unless FullTimeEmployee is abstract</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compiles, and calcPay() simply returns 0.0</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Employee’s version of calcPay() is run instead</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only fails later, when calcPay() is called</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An abstract method has no body, so a concrete subclass must override it. The only other option is to declare the subclass abstract too. The compiler says: “FullTimeEmployee is not abstract and does not override abstract method calcPay()”.</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44</a:t>
            </a:fld>
            <a:endParaRPr lang="en-IE"/>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OVERRIDING</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When do we override?</a:t>
            </a:r>
            <a:endParaRPr lang="en-IE" sz="3400" dirty="0"/>
          </a:p>
        </p:txBody>
      </p:sp>
      <p:sp>
        <p:nvSpPr>
          <p:cNvPr id="5" name="The parent method is abstract"/>
          <p:cNvSpPr/>
          <p:nvPr/>
        </p:nvSpPr>
        <p:spPr>
          <a:xfrm>
            <a:off x="548640" y="1737360"/>
            <a:ext cx="5410048" cy="2240280"/>
          </a:xfrm>
          <a:prstGeom prst="roundRect">
            <a:avLst>
              <a:gd name="adj" fmla="val 4898"/>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2011680"/>
            <a:ext cx="566928" cy="566928"/>
          </a:xfrm>
          <a:prstGeom prst="roundRect">
            <a:avLst>
              <a:gd name="adj" fmla="val 24000"/>
            </a:avLst>
          </a:prstGeom>
          <a:solidFill>
            <a:schemeClr val="accent1">
              <a:alpha val="14000"/>
            </a:schemeClr>
          </a:solidFill>
          <a:ln/>
        </p:spPr>
      </p:sp>
      <p:pic>
        <p:nvPicPr>
          <p:cNvPr id="7" name="seal warning icon" descr="seal warning icon">    </p:cNvPr>
          <p:cNvPicPr>
            <a:picLocks noChangeAspect="1"/>
          </p:cNvPicPr>
          <p:nvPr/>
        </p:nvPicPr>
        <p:blipFill>
          <a:blip r:embed="rId1"/>
          <a:stretch>
            <a:fillRect/>
          </a:stretch>
        </p:blipFill>
        <p:spPr>
          <a:xfrm>
            <a:off x="942015" y="2130735"/>
            <a:ext cx="328818" cy="328818"/>
          </a:xfrm>
          <a:prstGeom prst="rect">
            <a:avLst/>
          </a:prstGeom>
        </p:spPr>
      </p:pic>
      <p:sp>
        <p:nvSpPr>
          <p:cNvPr id="8" name="Text 4"/>
          <p:cNvSpPr txBox="1"/>
          <p:nvPr/>
        </p:nvSpPr>
        <p:spPr>
          <a:xfrm>
            <a:off x="822960" y="2688336"/>
            <a:ext cx="4861408" cy="457200"/>
          </a:xfrm>
          <a:prstGeom prst="rect">
            <a:avLst/>
          </a:prstGeom>
          <a:noFill/>
          <a:ln/>
        </p:spPr>
        <p:txBody>
          <a:bodyPr wrap="square" lIns="0" tIns="0" rIns="0" bIns="0" rtlCol="0" anchor="t"/>
          <a:lstStyle/>
          <a:p>
            <a:pPr indent="0" marL="0">
              <a:buNone/>
            </a:pPr>
            <a:r>
              <a:rPr lang="en-IE" sz="1900" b="1" dirty="0">
                <a:solidFill>
                  <a:schemeClr val="tx1"/>
                </a:solidFill>
              </a:rPr>
              <a:t>The parent method is abstract</a:t>
            </a:r>
            <a:endParaRPr lang="en-IE" sz="1900" dirty="0"/>
          </a:p>
        </p:txBody>
      </p:sp>
      <p:sp>
        <p:nvSpPr>
          <p:cNvPr id="9" name="Text 5"/>
          <p:cNvSpPr txBox="1"/>
          <p:nvPr/>
        </p:nvSpPr>
        <p:spPr>
          <a:xfrm>
            <a:off x="822960" y="3200400"/>
            <a:ext cx="4861408" cy="576072"/>
          </a:xfrm>
          <a:prstGeom prst="rect">
            <a:avLst/>
          </a:prstGeom>
          <a:noFill/>
          <a:ln/>
        </p:spPr>
        <p:txBody>
          <a:bodyPr wrap="square" lIns="0" tIns="0" rIns="0" bIns="0" rtlCol="0" anchor="t"/>
          <a:lstStyle/>
          <a:p>
            <a:pPr indent="0" marL="0">
              <a:buNone/>
            </a:pPr>
            <a:r>
              <a:rPr lang="en-IE" sz="1500" dirty="0">
                <a:solidFill>
                  <a:schemeClr val="tx2"/>
                </a:solidFill>
              </a:rPr>
              <a:t>There’s no body to inherit, so the child has to write one.</a:t>
            </a:r>
            <a:endParaRPr lang="en-IE" sz="1500" dirty="0"/>
          </a:p>
        </p:txBody>
      </p:sp>
      <p:sp>
        <p:nvSpPr>
          <p:cNvPr id="10" name="We want different behaviour"/>
          <p:cNvSpPr/>
          <p:nvPr/>
        </p:nvSpPr>
        <p:spPr>
          <a:xfrm>
            <a:off x="6233008" y="1737360"/>
            <a:ext cx="5410048" cy="2240280"/>
          </a:xfrm>
          <a:prstGeom prst="roundRect">
            <a:avLst>
              <a:gd name="adj" fmla="val 4898"/>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6507328" y="2011680"/>
            <a:ext cx="566928" cy="566928"/>
          </a:xfrm>
          <a:prstGeom prst="roundRect">
            <a:avLst>
              <a:gd name="adj" fmla="val 24000"/>
            </a:avLst>
          </a:prstGeom>
          <a:solidFill>
            <a:schemeClr val="accent2">
              <a:alpha val="14000"/>
            </a:schemeClr>
          </a:solidFill>
          <a:ln/>
        </p:spPr>
      </p:sp>
      <p:pic>
        <p:nvPicPr>
          <p:cNvPr id="12" name="arrows clockwise icon" descr="arrows clockwise icon">    </p:cNvPr>
          <p:cNvPicPr>
            <a:picLocks noChangeAspect="1"/>
          </p:cNvPicPr>
          <p:nvPr/>
        </p:nvPicPr>
        <p:blipFill>
          <a:blip r:embed="rId2"/>
          <a:stretch>
            <a:fillRect/>
          </a:stretch>
        </p:blipFill>
        <p:spPr>
          <a:xfrm>
            <a:off x="6626382" y="2130735"/>
            <a:ext cx="328818" cy="328818"/>
          </a:xfrm>
          <a:prstGeom prst="rect">
            <a:avLst/>
          </a:prstGeom>
        </p:spPr>
      </p:pic>
      <p:sp>
        <p:nvSpPr>
          <p:cNvPr id="13" name="Text 8"/>
          <p:cNvSpPr txBox="1"/>
          <p:nvPr/>
        </p:nvSpPr>
        <p:spPr>
          <a:xfrm>
            <a:off x="6507328" y="2688336"/>
            <a:ext cx="4861408" cy="457200"/>
          </a:xfrm>
          <a:prstGeom prst="rect">
            <a:avLst/>
          </a:prstGeom>
          <a:noFill/>
          <a:ln/>
        </p:spPr>
        <p:txBody>
          <a:bodyPr wrap="square" lIns="0" tIns="0" rIns="0" bIns="0" rtlCol="0" anchor="t"/>
          <a:lstStyle/>
          <a:p>
            <a:pPr indent="0" marL="0">
              <a:buNone/>
            </a:pPr>
            <a:r>
              <a:rPr lang="en-IE" sz="1900" b="1" dirty="0">
                <a:solidFill>
                  <a:schemeClr val="tx1"/>
                </a:solidFill>
              </a:rPr>
              <a:t>We want different behaviour</a:t>
            </a:r>
            <a:endParaRPr lang="en-IE" sz="1900" dirty="0"/>
          </a:p>
        </p:txBody>
      </p:sp>
      <p:sp>
        <p:nvSpPr>
          <p:cNvPr id="14" name="Text 9"/>
          <p:cNvSpPr txBox="1"/>
          <p:nvPr/>
        </p:nvSpPr>
        <p:spPr>
          <a:xfrm>
            <a:off x="6507328" y="3200400"/>
            <a:ext cx="4861408" cy="576072"/>
          </a:xfrm>
          <a:prstGeom prst="rect">
            <a:avLst/>
          </a:prstGeom>
          <a:noFill/>
          <a:ln/>
        </p:spPr>
        <p:txBody>
          <a:bodyPr wrap="square" lIns="0" tIns="0" rIns="0" bIns="0" rtlCol="0" anchor="t"/>
          <a:lstStyle/>
          <a:p>
            <a:pPr indent="0" marL="0">
              <a:buNone/>
            </a:pPr>
            <a:r>
              <a:rPr lang="en-IE" sz="1500" dirty="0">
                <a:solidFill>
                  <a:schemeClr val="tx2"/>
                </a:solidFill>
              </a:rPr>
              <a:t>The child needs the method to do something different from the parent.</a:t>
            </a:r>
            <a:endParaRPr lang="en-IE" sz="1500" dirty="0"/>
          </a:p>
        </p:txBody>
      </p:sp>
      <p:sp>
        <p:nvSpPr>
          <p:cNvPr id="15" name="getName()"/>
          <p:cNvSpPr/>
          <p:nvPr/>
        </p:nvSpPr>
        <p:spPr>
          <a:xfrm>
            <a:off x="548640" y="4251960"/>
            <a:ext cx="5410048" cy="1691640"/>
          </a:xfrm>
          <a:prstGeom prst="roundRect">
            <a:avLst>
              <a:gd name="adj" fmla="val 6486"/>
            </a:avLst>
          </a:prstGeom>
          <a:solidFill>
            <a:schemeClr val="bg2"/>
          </a:solidFill>
          <a:ln/>
        </p:spPr>
      </p:sp>
      <p:sp>
        <p:nvSpPr>
          <p:cNvPr id="16" name="Code chip"/>
          <p:cNvSpPr/>
          <p:nvPr/>
        </p:nvSpPr>
        <p:spPr>
          <a:xfrm>
            <a:off x="822960" y="4526280"/>
            <a:ext cx="2011680" cy="502920"/>
          </a:xfrm>
          <a:prstGeom prst="roundRect">
            <a:avLst>
              <a:gd name="adj" fmla="val 14545"/>
            </a:avLst>
          </a:prstGeom>
          <a:solidFill>
            <a:schemeClr val="bg1"/>
          </a:solidFill>
          <a:ln/>
        </p:spPr>
        <p:txBody>
          <a:bodyPr wrap="square" lIns="0" tIns="0" rIns="0" bIns="0" rtlCol="0" anchor="ctr"/>
          <a:lstStyle/>
          <a:p>
            <a:pPr algn="ctr" indent="0" marL="0">
              <a:buNone/>
            </a:pPr>
            <a:r>
              <a:rPr lang="en-IE" sz="1800" dirty="0">
                <a:solidFill>
                  <a:schemeClr val="accent2"/>
                </a:solidFill>
                <a:latin typeface="Consolas" pitchFamily="34" charset="0"/>
                <a:ea typeface="Consolas" pitchFamily="34" charset="-122"/>
                <a:cs typeface="Consolas" pitchFamily="34" charset="-120"/>
              </a:rPr>
              <a:t>getName()</a:t>
            </a:r>
            <a:endParaRPr lang="en-IE" sz="1800" dirty="0"/>
          </a:p>
        </p:txBody>
      </p:sp>
      <p:pic>
        <p:nvPicPr>
          <p:cNvPr id="17" name="No need" descr="No need">    </p:cNvPr>
          <p:cNvPicPr>
            <a:picLocks noChangeAspect="1"/>
          </p:cNvPicPr>
          <p:nvPr/>
        </p:nvPicPr>
        <p:blipFill>
          <a:blip r:embed="rId3"/>
          <a:stretch>
            <a:fillRect/>
          </a:stretch>
        </p:blipFill>
        <p:spPr>
          <a:xfrm>
            <a:off x="5272888" y="4553712"/>
            <a:ext cx="438912" cy="438912"/>
          </a:xfrm>
          <a:prstGeom prst="rect">
            <a:avLst/>
          </a:prstGeom>
        </p:spPr>
      </p:pic>
      <p:sp>
        <p:nvSpPr>
          <p:cNvPr id="18" name="Text 12"/>
          <p:cNvSpPr txBox="1"/>
          <p:nvPr/>
        </p:nvSpPr>
        <p:spPr>
          <a:xfrm>
            <a:off x="822960" y="5166360"/>
            <a:ext cx="4861408" cy="594360"/>
          </a:xfrm>
          <a:prstGeom prst="rect">
            <a:avLst/>
          </a:prstGeom>
          <a:noFill/>
          <a:ln/>
        </p:spPr>
        <p:txBody>
          <a:bodyPr wrap="square" lIns="0" tIns="0" rIns="0" bIns="0" rtlCol="0" anchor="t"/>
          <a:lstStyle/>
          <a:p>
            <a:pPr indent="0" marL="0">
              <a:buNone/>
            </a:pPr>
            <a:r>
              <a:rPr lang="en-IE" sz="1500" dirty="0">
                <a:solidFill>
                  <a:schemeClr val="tx2"/>
                </a:solidFill>
              </a:rPr>
              <a:t>Works the same for every employee, so there’s no need to override it.</a:t>
            </a:r>
            <a:endParaRPr lang="en-IE" sz="1500" dirty="0"/>
          </a:p>
        </p:txBody>
      </p:sp>
      <p:sp>
        <p:nvSpPr>
          <p:cNvPr id="19" name="toString()"/>
          <p:cNvSpPr/>
          <p:nvPr/>
        </p:nvSpPr>
        <p:spPr>
          <a:xfrm>
            <a:off x="6233008" y="4251960"/>
            <a:ext cx="5410048" cy="1691640"/>
          </a:xfrm>
          <a:prstGeom prst="roundRect">
            <a:avLst>
              <a:gd name="adj" fmla="val 6486"/>
            </a:avLst>
          </a:prstGeom>
          <a:solidFill>
            <a:schemeClr val="bg1"/>
          </a:solidFill>
          <a:ln/>
          <a:effectLst>
            <a:outerShdw sx="100000" sy="100000" kx="0" ky="0" algn="bl" rotWithShape="0" blurRad="114300" dist="31750" dir="5400000">
              <a:srgbClr val="1D2433">
                <a:alpha val="12000"/>
              </a:srgbClr>
            </a:outerShdw>
          </a:effectLst>
        </p:spPr>
      </p:sp>
      <p:sp>
        <p:nvSpPr>
          <p:cNvPr id="20" name="Code chip"/>
          <p:cNvSpPr/>
          <p:nvPr/>
        </p:nvSpPr>
        <p:spPr>
          <a:xfrm>
            <a:off x="6507328" y="4526280"/>
            <a:ext cx="2011680" cy="502920"/>
          </a:xfrm>
          <a:prstGeom prst="roundRect">
            <a:avLst>
              <a:gd name="adj" fmla="val 14545"/>
            </a:avLst>
          </a:prstGeom>
          <a:solidFill>
            <a:schemeClr val="bg2"/>
          </a:solidFill>
          <a:ln/>
        </p:spPr>
        <p:txBody>
          <a:bodyPr wrap="square" lIns="0" tIns="0" rIns="0" bIns="0" rtlCol="0" anchor="ctr"/>
          <a:lstStyle/>
          <a:p>
            <a:pPr algn="ctr" indent="0" marL="0">
              <a:buNone/>
            </a:pPr>
            <a:r>
              <a:rPr lang="en-IE" sz="1800" dirty="0">
                <a:solidFill>
                  <a:schemeClr val="accent2"/>
                </a:solidFill>
                <a:latin typeface="Consolas" pitchFamily="34" charset="0"/>
                <a:ea typeface="Consolas" pitchFamily="34" charset="-122"/>
                <a:cs typeface="Consolas" pitchFamily="34" charset="-120"/>
              </a:rPr>
              <a:t>toString()</a:t>
            </a:r>
            <a:endParaRPr lang="en-IE" sz="1800" dirty="0"/>
          </a:p>
        </p:txBody>
      </p:sp>
      <p:pic>
        <p:nvPicPr>
          <p:cNvPr id="21" name="Override" descr="Override">    </p:cNvPr>
          <p:cNvPicPr>
            <a:picLocks noChangeAspect="1"/>
          </p:cNvPicPr>
          <p:nvPr/>
        </p:nvPicPr>
        <p:blipFill>
          <a:blip r:embed="rId4"/>
          <a:stretch>
            <a:fillRect/>
          </a:stretch>
        </p:blipFill>
        <p:spPr>
          <a:xfrm>
            <a:off x="10957255" y="4553712"/>
            <a:ext cx="438912" cy="438912"/>
          </a:xfrm>
          <a:prstGeom prst="rect">
            <a:avLst/>
          </a:prstGeom>
        </p:spPr>
      </p:pic>
      <p:sp>
        <p:nvSpPr>
          <p:cNvPr id="22" name="Text 15"/>
          <p:cNvSpPr txBox="1"/>
          <p:nvPr/>
        </p:nvSpPr>
        <p:spPr>
          <a:xfrm>
            <a:off x="6507328" y="5166360"/>
            <a:ext cx="4861408" cy="594360"/>
          </a:xfrm>
          <a:prstGeom prst="rect">
            <a:avLst/>
          </a:prstGeom>
          <a:noFill/>
          <a:ln/>
        </p:spPr>
        <p:txBody>
          <a:bodyPr wrap="square" lIns="0" tIns="0" rIns="0" bIns="0" rtlCol="0" anchor="t"/>
          <a:lstStyle/>
          <a:p>
            <a:pPr indent="0" marL="0">
              <a:buNone/>
            </a:pPr>
            <a:r>
              <a:rPr lang="en-IE" sz="1500" dirty="0">
                <a:solidFill>
                  <a:schemeClr val="tx2"/>
                </a:solidFill>
              </a:rPr>
              <a:t>Should describe each child’s own attributes, so we override it.</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45</a:t>
            </a:fld>
            <a:endParaRPr lang="en-IE"/>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14</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When to override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of these methods would we normally override in a subclass?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toString()</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getName()</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setName()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main()</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46</a:t>
            </a:fld>
            <a:endParaRPr lang="en-IE"/>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14</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When to override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of these methods would we normally override in a subclass?</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toString()</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getName()</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setName()</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main()</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We override when the child needs different behaviour. toString() should describe the child’s own attributes too, so we override it. An inherited getName() or setName() already does the job.</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47</a:t>
            </a:fld>
            <a:endParaRPr lang="en-IE"/>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OVERRIDING</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Using super to run the parent’s version</a:t>
            </a:r>
            <a:endParaRPr lang="en-IE" sz="3400" dirty="0"/>
          </a:p>
        </p:txBody>
      </p:sp>
      <p:sp>
        <p:nvSpPr>
          <p:cNvPr id="5" name="Text 2"/>
          <p:cNvSpPr txBox="1"/>
          <p:nvPr/>
        </p:nvSpPr>
        <p:spPr>
          <a:xfrm>
            <a:off x="548640" y="1783080"/>
            <a:ext cx="4754880" cy="246888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If we still want the parent’s method to run, while adding something new, we use super.</a:t>
            </a:r>
            <a:endParaRPr lang="en-IE" sz="1800" dirty="0"/>
          </a:p>
          <a:p>
            <a:pPr marL="228600" indent="-228600">
              <a:buSzPct val="100000"/>
              <a:buChar char="•"/>
            </a:pPr>
            <a:r>
              <a:rPr lang="en-IE" sz="1800" dirty="0">
                <a:solidFill>
                  <a:schemeClr val="accent2"/>
                </a:solidFill>
                <a:latin typeface="Consolas" pitchFamily="34" charset="0"/>
                <a:ea typeface="Consolas" pitchFamily="34" charset="-122"/>
                <a:cs typeface="Consolas" pitchFamily="34" charset="-120"/>
              </a:rPr>
              <a:t>super.toString()</a:t>
            </a:r>
            <a:r>
              <a:rPr lang="en-IE" sz="1800" dirty="0">
                <a:solidFill>
                  <a:schemeClr val="tx1"/>
                </a:solidFill>
              </a:rPr>
              <a:t> runs the parent’s version; the child then adds its own information.</a:t>
            </a:r>
            <a:endParaRPr lang="en-IE" sz="1800" dirty="0"/>
          </a:p>
        </p:txBody>
      </p:sp>
      <p:sp>
        <p:nvSpPr>
          <p:cNvPr id="6" name="Text 3"/>
          <p:cNvSpPr txBox="1"/>
          <p:nvPr/>
        </p:nvSpPr>
        <p:spPr>
          <a:xfrm>
            <a:off x="5669280" y="1691640"/>
            <a:ext cx="3657600" cy="274320"/>
          </a:xfrm>
          <a:prstGeom prst="rect">
            <a:avLst/>
          </a:prstGeom>
          <a:noFill/>
          <a:ln/>
        </p:spPr>
        <p:txBody>
          <a:bodyPr wrap="square" lIns="0" tIns="0" rIns="0" bIns="0" rtlCol="0" anchor="t"/>
          <a:lstStyle/>
          <a:p>
            <a:pPr indent="0" marL="0">
              <a:buNone/>
            </a:pPr>
            <a:r>
              <a:rPr lang="en-IE" sz="1300" b="1" dirty="0">
                <a:solidFill>
                  <a:schemeClr val="tx2"/>
                </a:solidFill>
              </a:rPr>
              <a:t>In Employee</a:t>
            </a:r>
            <a:endParaRPr lang="en-IE" sz="1300" dirty="0"/>
          </a:p>
        </p:txBody>
      </p:sp>
      <p:sp>
        <p:nvSpPr>
          <p:cNvPr id="7" name="Employee toString card"/>
          <p:cNvSpPr/>
          <p:nvPr/>
        </p:nvSpPr>
        <p:spPr>
          <a:xfrm>
            <a:off x="5669280" y="2011680"/>
            <a:ext cx="5973775" cy="1295400"/>
          </a:xfrm>
          <a:prstGeom prst="roundRect">
            <a:avLst>
              <a:gd name="adj" fmla="val 8471"/>
            </a:avLst>
          </a:prstGeom>
          <a:solidFill>
            <a:schemeClr val="tx1"/>
          </a:solidFill>
          <a:ln/>
          <a:effectLst>
            <a:outerShdw sx="100000" sy="100000" kx="0" ky="0" algn="bl" rotWithShape="0" blurRad="114300" dist="31750" dir="5400000">
              <a:srgbClr val="1D2433">
                <a:alpha val="12000"/>
              </a:srgbClr>
            </a:outerShdw>
          </a:effectLst>
        </p:spPr>
      </p:sp>
      <p:sp>
        <p:nvSpPr>
          <p:cNvPr id="8" name="Employee toString text"/>
          <p:cNvSpPr txBox="1"/>
          <p:nvPr/>
        </p:nvSpPr>
        <p:spPr>
          <a:xfrm>
            <a:off x="5943600" y="2212848"/>
            <a:ext cx="5425135" cy="893064"/>
          </a:xfrm>
          <a:prstGeom prst="rect">
            <a:avLst/>
          </a:prstGeom>
          <a:noFill/>
          <a:ln/>
        </p:spPr>
        <p:txBody>
          <a:bodyPr wrap="square" lIns="0" tIns="0" rIns="0" bIns="0" rtlCol="0" anchor="t"/>
          <a:lstStyle/>
          <a:p>
            <a:pPr indent="0" marL="0">
              <a:lnSpc>
                <a:spcPts val="1650"/>
              </a:lnSpc>
              <a:buNone/>
            </a:pPr>
            <a:r>
              <a:rPr lang="en-IE" sz="1250" dirty="0">
                <a:solidFill>
                  <a:srgbClr val="E8C468"/>
                </a:solidFill>
                <a:latin typeface="Consolas" pitchFamily="34" charset="0"/>
                <a:ea typeface="Consolas" pitchFamily="34" charset="-122"/>
                <a:cs typeface="Consolas" pitchFamily="34" charset="-120"/>
              </a:rPr>
              <a:t>@Override</a:t>
            </a:r>
            <a:endParaRPr lang="en-IE" sz="1250" dirty="0"/>
          </a:p>
          <a:p>
            <a:pPr indent="0" marL="0">
              <a:lnSpc>
                <a:spcPts val="1650"/>
              </a:lnSpc>
              <a:buNone/>
            </a:pPr>
            <a:r>
              <a:rPr lang="en-IE" sz="1250" dirty="0">
                <a:solidFill>
                  <a:srgbClr val="FF9F5A"/>
                </a:solidFill>
                <a:latin typeface="Consolas" pitchFamily="34" charset="0"/>
                <a:ea typeface="Consolas" pitchFamily="34" charset="-122"/>
                <a:cs typeface="Consolas" pitchFamily="34" charset="-120"/>
              </a:rPr>
              <a:t>public</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6CC4E8"/>
                </a:solidFill>
                <a:latin typeface="Consolas" pitchFamily="34" charset="0"/>
                <a:ea typeface="Consolas" pitchFamily="34" charset="-122"/>
                <a:cs typeface="Consolas" pitchFamily="34" charset="-120"/>
              </a:rPr>
              <a:t>String</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C9B0FF"/>
                </a:solidFill>
                <a:latin typeface="Consolas" pitchFamily="34" charset="0"/>
                <a:ea typeface="Consolas" pitchFamily="34" charset="-122"/>
                <a:cs typeface="Consolas" pitchFamily="34" charset="-120"/>
              </a:rPr>
              <a:t>toString</a:t>
            </a: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return</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A9DB8C"/>
                </a:solidFill>
                <a:latin typeface="Consolas" pitchFamily="34" charset="0"/>
                <a:ea typeface="Consolas" pitchFamily="34" charset="-122"/>
                <a:cs typeface="Consolas" pitchFamily="34" charset="-120"/>
              </a:rPr>
              <a:t>"Name : "</a:t>
            </a:r>
            <a:r>
              <a:rPr lang="en-IE" sz="1250" dirty="0">
                <a:solidFill>
                  <a:srgbClr val="E6EBF2"/>
                </a:solidFill>
                <a:latin typeface="Consolas" pitchFamily="34" charset="0"/>
                <a:ea typeface="Consolas" pitchFamily="34" charset="-122"/>
                <a:cs typeface="Consolas" pitchFamily="34" charset="-120"/>
              </a:rPr>
              <a:t> + </a:t>
            </a:r>
            <a:r>
              <a:rPr lang="en-IE" sz="1250" dirty="0">
                <a:solidFill>
                  <a:srgbClr val="C9B0FF"/>
                </a:solidFill>
                <a:latin typeface="Consolas" pitchFamily="34" charset="0"/>
                <a:ea typeface="Consolas" pitchFamily="34" charset="-122"/>
                <a:cs typeface="Consolas" pitchFamily="34" charset="-120"/>
              </a:rPr>
              <a:t>getName</a:t>
            </a:r>
            <a:r>
              <a:rPr lang="en-IE" sz="1250" dirty="0">
                <a:solidFill>
                  <a:srgbClr val="E6EBF2"/>
                </a:solidFill>
                <a:latin typeface="Consolas" pitchFamily="34" charset="0"/>
                <a:ea typeface="Consolas" pitchFamily="34" charset="-122"/>
                <a:cs typeface="Consolas" pitchFamily="34" charset="-120"/>
              </a:rPr>
              <a:t>() + </a:t>
            </a:r>
            <a:r>
              <a:rPr lang="en-IE" sz="1250" dirty="0">
                <a:solidFill>
                  <a:srgbClr val="A9DB8C"/>
                </a:solidFill>
                <a:latin typeface="Consolas" pitchFamily="34" charset="0"/>
                <a:ea typeface="Consolas" pitchFamily="34" charset="-122"/>
                <a:cs typeface="Consolas" pitchFamily="34" charset="-120"/>
              </a:rPr>
              <a:t>"\nID : "</a:t>
            </a:r>
            <a:r>
              <a:rPr lang="en-IE" sz="1250" dirty="0">
                <a:solidFill>
                  <a:srgbClr val="E6EBF2"/>
                </a:solidFill>
                <a:latin typeface="Consolas" pitchFamily="34" charset="0"/>
                <a:ea typeface="Consolas" pitchFamily="34" charset="-122"/>
                <a:cs typeface="Consolas" pitchFamily="34" charset="-120"/>
              </a:rPr>
              <a:t> + </a:t>
            </a:r>
            <a:r>
              <a:rPr lang="en-IE" sz="1250" dirty="0">
                <a:solidFill>
                  <a:srgbClr val="C9B0FF"/>
                </a:solidFill>
                <a:latin typeface="Consolas" pitchFamily="34" charset="0"/>
                <a:ea typeface="Consolas" pitchFamily="34" charset="-122"/>
                <a:cs typeface="Consolas" pitchFamily="34" charset="-120"/>
              </a:rPr>
              <a:t>getId</a:t>
            </a:r>
            <a:r>
              <a:rPr lang="en-IE" sz="1250" dirty="0">
                <a:solidFill>
                  <a:srgbClr val="E6EBF2"/>
                </a:solidFill>
                <a:latin typeface="Consolas" pitchFamily="34" charset="0"/>
                <a:ea typeface="Consolas" pitchFamily="34" charset="-122"/>
                <a:cs typeface="Consolas" pitchFamily="34" charset="-120"/>
              </a:rPr>
              <a:t>();</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a:t>
            </a:r>
            <a:endParaRPr lang="en-IE" sz="1250" dirty="0"/>
          </a:p>
        </p:txBody>
      </p:sp>
      <p:sp>
        <p:nvSpPr>
          <p:cNvPr id="9" name="Text 6"/>
          <p:cNvSpPr txBox="1"/>
          <p:nvPr/>
        </p:nvSpPr>
        <p:spPr>
          <a:xfrm>
            <a:off x="5669280" y="3480816"/>
            <a:ext cx="3657600" cy="274320"/>
          </a:xfrm>
          <a:prstGeom prst="rect">
            <a:avLst/>
          </a:prstGeom>
          <a:noFill/>
          <a:ln/>
        </p:spPr>
        <p:txBody>
          <a:bodyPr wrap="square" lIns="0" tIns="0" rIns="0" bIns="0" rtlCol="0" anchor="t"/>
          <a:lstStyle/>
          <a:p>
            <a:pPr indent="0" marL="0">
              <a:buNone/>
            </a:pPr>
            <a:r>
              <a:rPr lang="en-IE" sz="1300" b="1" dirty="0">
                <a:solidFill>
                  <a:schemeClr val="tx2"/>
                </a:solidFill>
              </a:rPr>
              <a:t>In FullTimeEmployee</a:t>
            </a:r>
            <a:endParaRPr lang="en-IE" sz="1300" dirty="0"/>
          </a:p>
        </p:txBody>
      </p:sp>
      <p:sp>
        <p:nvSpPr>
          <p:cNvPr id="10" name="FullTimeEmployee toString card"/>
          <p:cNvSpPr/>
          <p:nvPr/>
        </p:nvSpPr>
        <p:spPr>
          <a:xfrm>
            <a:off x="5669280" y="3810000"/>
            <a:ext cx="5973775" cy="1504950"/>
          </a:xfrm>
          <a:prstGeom prst="roundRect">
            <a:avLst>
              <a:gd name="adj" fmla="val 7291"/>
            </a:avLst>
          </a:prstGeom>
          <a:solidFill>
            <a:schemeClr val="tx1"/>
          </a:solidFill>
          <a:ln/>
          <a:effectLst>
            <a:outerShdw sx="100000" sy="100000" kx="0" ky="0" algn="bl" rotWithShape="0" blurRad="114300" dist="31750" dir="5400000">
              <a:srgbClr val="1D2433">
                <a:alpha val="12000"/>
              </a:srgbClr>
            </a:outerShdw>
          </a:effectLst>
        </p:spPr>
      </p:sp>
      <p:sp>
        <p:nvSpPr>
          <p:cNvPr id="11" name="FullTimeEmployee toString text"/>
          <p:cNvSpPr txBox="1"/>
          <p:nvPr/>
        </p:nvSpPr>
        <p:spPr>
          <a:xfrm>
            <a:off x="5943600" y="4011168"/>
            <a:ext cx="5425135" cy="1102614"/>
          </a:xfrm>
          <a:prstGeom prst="rect">
            <a:avLst/>
          </a:prstGeom>
          <a:noFill/>
          <a:ln/>
        </p:spPr>
        <p:txBody>
          <a:bodyPr wrap="square" lIns="0" tIns="0" rIns="0" bIns="0" rtlCol="0" anchor="t"/>
          <a:lstStyle/>
          <a:p>
            <a:pPr indent="0" marL="0">
              <a:lnSpc>
                <a:spcPts val="1650"/>
              </a:lnSpc>
              <a:buNone/>
            </a:pPr>
            <a:r>
              <a:rPr lang="en-IE" sz="1250" dirty="0">
                <a:solidFill>
                  <a:srgbClr val="E8C468"/>
                </a:solidFill>
                <a:latin typeface="Consolas" pitchFamily="34" charset="0"/>
                <a:ea typeface="Consolas" pitchFamily="34" charset="-122"/>
                <a:cs typeface="Consolas" pitchFamily="34" charset="-120"/>
              </a:rPr>
              <a:t>@Override</a:t>
            </a:r>
            <a:endParaRPr lang="en-IE" sz="1250" dirty="0"/>
          </a:p>
          <a:p>
            <a:pPr indent="0" marL="0">
              <a:lnSpc>
                <a:spcPts val="1650"/>
              </a:lnSpc>
              <a:buNone/>
            </a:pPr>
            <a:r>
              <a:rPr lang="en-IE" sz="1250" dirty="0">
                <a:solidFill>
                  <a:srgbClr val="FF9F5A"/>
                </a:solidFill>
                <a:latin typeface="Consolas" pitchFamily="34" charset="0"/>
                <a:ea typeface="Consolas" pitchFamily="34" charset="-122"/>
                <a:cs typeface="Consolas" pitchFamily="34" charset="-120"/>
              </a:rPr>
              <a:t>public</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6CC4E8"/>
                </a:solidFill>
                <a:latin typeface="Consolas" pitchFamily="34" charset="0"/>
                <a:ea typeface="Consolas" pitchFamily="34" charset="-122"/>
                <a:cs typeface="Consolas" pitchFamily="34" charset="-120"/>
              </a:rPr>
              <a:t>String</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C9B0FF"/>
                </a:solidFill>
                <a:latin typeface="Consolas" pitchFamily="34" charset="0"/>
                <a:ea typeface="Consolas" pitchFamily="34" charset="-122"/>
                <a:cs typeface="Consolas" pitchFamily="34" charset="-120"/>
              </a:rPr>
              <a:t>toString</a:t>
            </a: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return</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super</a:t>
            </a:r>
            <a:r>
              <a:rPr lang="en-IE" sz="1250" dirty="0">
                <a:solidFill>
                  <a:srgbClr val="E6EBF2"/>
                </a:solidFill>
                <a:latin typeface="Consolas" pitchFamily="34" charset="0"/>
                <a:ea typeface="Consolas" pitchFamily="34" charset="-122"/>
                <a:cs typeface="Consolas" pitchFamily="34" charset="-120"/>
              </a:rPr>
              <a:t>.</a:t>
            </a:r>
            <a:r>
              <a:rPr lang="en-IE" sz="1250" dirty="0">
                <a:solidFill>
                  <a:srgbClr val="C9B0FF"/>
                </a:solidFill>
                <a:latin typeface="Consolas" pitchFamily="34" charset="0"/>
                <a:ea typeface="Consolas" pitchFamily="34" charset="-122"/>
                <a:cs typeface="Consolas" pitchFamily="34" charset="-120"/>
              </a:rPr>
              <a:t>toString</a:t>
            </a:r>
            <a:r>
              <a:rPr lang="en-IE" sz="1250" dirty="0">
                <a:solidFill>
                  <a:srgbClr val="E6EBF2"/>
                </a:solidFill>
                <a:latin typeface="Consolas" pitchFamily="34" charset="0"/>
                <a:ea typeface="Consolas" pitchFamily="34" charset="-122"/>
                <a:cs typeface="Consolas" pitchFamily="34" charset="-120"/>
              </a:rPr>
              <a:t>()            </a:t>
            </a:r>
            <a:r>
              <a:rPr lang="en-IE" sz="1250" i="1" dirty="0">
                <a:solidFill>
                  <a:srgbClr val="A3AEC2"/>
                </a:solidFill>
                <a:latin typeface="Consolas" pitchFamily="34" charset="0"/>
                <a:ea typeface="Consolas" pitchFamily="34" charset="-122"/>
                <a:cs typeface="Consolas" pitchFamily="34" charset="-120"/>
              </a:rPr>
              <a:t>// name and id</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 </a:t>
            </a:r>
            <a:r>
              <a:rPr lang="en-IE" sz="1250" dirty="0">
                <a:solidFill>
                  <a:srgbClr val="A9DB8C"/>
                </a:solidFill>
                <a:latin typeface="Consolas" pitchFamily="34" charset="0"/>
                <a:ea typeface="Consolas" pitchFamily="34" charset="-122"/>
                <a:cs typeface="Consolas" pitchFamily="34" charset="-120"/>
              </a:rPr>
              <a:t>"\nSalary : "</a:t>
            </a:r>
            <a:r>
              <a:rPr lang="en-IE" sz="1250" dirty="0">
                <a:solidFill>
                  <a:srgbClr val="E6EBF2"/>
                </a:solidFill>
                <a:latin typeface="Consolas" pitchFamily="34" charset="0"/>
                <a:ea typeface="Consolas" pitchFamily="34" charset="-122"/>
                <a:cs typeface="Consolas" pitchFamily="34" charset="-120"/>
              </a:rPr>
              <a:t> + salary;     </a:t>
            </a:r>
            <a:r>
              <a:rPr lang="en-IE" sz="1250" i="1" dirty="0">
                <a:solidFill>
                  <a:srgbClr val="A3AEC2"/>
                </a:solidFill>
                <a:latin typeface="Consolas" pitchFamily="34" charset="0"/>
                <a:ea typeface="Consolas" pitchFamily="34" charset="-122"/>
                <a:cs typeface="Consolas" pitchFamily="34" charset="-120"/>
              </a:rPr>
              <a:t>// then add more</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a:t>
            </a:r>
            <a:endParaRPr lang="en-IE" sz="1250" dirty="0"/>
          </a:p>
        </p:txBody>
      </p:sp>
      <p:sp>
        <p:nvSpPr>
          <p:cNvPr id="12" name="Note"/>
          <p:cNvSpPr/>
          <p:nvPr/>
        </p:nvSpPr>
        <p:spPr>
          <a:xfrm>
            <a:off x="548640" y="4526280"/>
            <a:ext cx="4754880" cy="914400"/>
          </a:xfrm>
          <a:prstGeom prst="roundRect">
            <a:avLst>
              <a:gd name="adj" fmla="val 12000"/>
            </a:avLst>
          </a:prstGeom>
          <a:solidFill>
            <a:schemeClr val="bg2"/>
          </a:solidFill>
          <a:ln/>
        </p:spPr>
      </p:sp>
      <p:sp>
        <p:nvSpPr>
          <p:cNvPr id="13" name="Icon tile"/>
          <p:cNvSpPr/>
          <p:nvPr/>
        </p:nvSpPr>
        <p:spPr>
          <a:xfrm>
            <a:off x="822960" y="4718304"/>
            <a:ext cx="530352" cy="530352"/>
          </a:xfrm>
          <a:prstGeom prst="roundRect">
            <a:avLst>
              <a:gd name="adj" fmla="val 24000"/>
            </a:avLst>
          </a:prstGeom>
          <a:solidFill>
            <a:schemeClr val="accent4">
              <a:alpha val="14000"/>
            </a:schemeClr>
          </a:solidFill>
          <a:ln/>
        </p:spPr>
      </p:sp>
      <p:pic>
        <p:nvPicPr>
          <p:cNvPr id="14" name="arrow up icon" descr="arrow up icon">    </p:cNvPr>
          <p:cNvPicPr>
            <a:picLocks noChangeAspect="1"/>
          </p:cNvPicPr>
          <p:nvPr/>
        </p:nvPicPr>
        <p:blipFill>
          <a:blip r:embed="rId1"/>
          <a:stretch>
            <a:fillRect/>
          </a:stretch>
        </p:blipFill>
        <p:spPr>
          <a:xfrm>
            <a:off x="934334" y="4829678"/>
            <a:ext cx="307604" cy="307604"/>
          </a:xfrm>
          <a:prstGeom prst="rect">
            <a:avLst/>
          </a:prstGeom>
        </p:spPr>
      </p:pic>
      <p:sp>
        <p:nvSpPr>
          <p:cNvPr id="15" name="Text 11"/>
          <p:cNvSpPr txBox="1"/>
          <p:nvPr/>
        </p:nvSpPr>
        <p:spPr>
          <a:xfrm>
            <a:off x="1572768" y="4526280"/>
            <a:ext cx="3474720" cy="914400"/>
          </a:xfrm>
          <a:prstGeom prst="rect">
            <a:avLst/>
          </a:prstGeom>
          <a:noFill/>
          <a:ln/>
        </p:spPr>
        <p:txBody>
          <a:bodyPr wrap="square" lIns="0" tIns="0" rIns="0" bIns="0" rtlCol="0" anchor="ctr"/>
          <a:lstStyle/>
          <a:p>
            <a:pPr indent="0" marL="0">
              <a:buNone/>
            </a:pPr>
            <a:r>
              <a:rPr lang="en-IE" sz="1600" dirty="0">
                <a:solidFill>
                  <a:schemeClr val="accent2"/>
                </a:solidFill>
                <a:latin typeface="Consolas" pitchFamily="34" charset="0"/>
                <a:ea typeface="Consolas" pitchFamily="34" charset="-122"/>
                <a:cs typeface="Consolas" pitchFamily="34" charset="-120"/>
              </a:rPr>
              <a:t>super.</a:t>
            </a:r>
            <a:r>
              <a:rPr lang="en-IE" sz="1600" dirty="0">
                <a:solidFill>
                  <a:schemeClr val="tx1"/>
                </a:solidFill>
              </a:rPr>
              <a:t> means the version in the parent class.</a:t>
            </a:r>
            <a:endParaRPr lang="en-IE" sz="1600" dirty="0"/>
          </a:p>
        </p:txBody>
      </p:sp>
      <p:sp>
        <p:nvSpPr>
          <p:cNvPr id="16" name="Text 12"/>
          <p:cNvSpPr txBox="1"/>
          <p:nvPr/>
        </p:nvSpPr>
        <p:spPr>
          <a:xfrm>
            <a:off x="5669280" y="5424678"/>
            <a:ext cx="5973775" cy="310896"/>
          </a:xfrm>
          <a:prstGeom prst="rect">
            <a:avLst/>
          </a:prstGeom>
          <a:noFill/>
          <a:ln/>
        </p:spPr>
        <p:txBody>
          <a:bodyPr wrap="square" lIns="0" tIns="0" rIns="0" bIns="0" rtlCol="0" anchor="t"/>
          <a:lstStyle/>
          <a:p>
            <a:pPr indent="0" marL="0">
              <a:buNone/>
            </a:pPr>
            <a:r>
              <a:rPr lang="en-IE" sz="1350" i="1" dirty="0">
                <a:solidFill>
                  <a:schemeClr val="tx2"/>
                </a:solidFill>
              </a:rPr>
              <a:t>toString() always returns a String, so it’s never void.</a:t>
            </a:r>
            <a:endParaRPr lang="en-IE" sz="13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48</a:t>
            </a:fld>
            <a:endParaRPr lang="en-IE"/>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15</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super methods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this code print?</a:t>
            </a:r>
            <a:endParaRPr lang="en-IE" sz="2800" dirty="0"/>
          </a:p>
        </p:txBody>
      </p:sp>
      <p:sp>
        <p:nvSpPr>
          <p:cNvPr id="5" name="Question code card"/>
          <p:cNvSpPr/>
          <p:nvPr/>
        </p:nvSpPr>
        <p:spPr>
          <a:xfrm>
            <a:off x="548640" y="2093976"/>
            <a:ext cx="6035040" cy="3767328"/>
          </a:xfrm>
          <a:prstGeom prst="roundRect">
            <a:avLst>
              <a:gd name="adj" fmla="val 2913"/>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2212848"/>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2587752"/>
            <a:ext cx="5486400" cy="3072384"/>
          </a:xfrm>
          <a:prstGeom prst="rect">
            <a:avLst/>
          </a:prstGeom>
          <a:noFill/>
          <a:ln/>
        </p:spPr>
        <p:txBody>
          <a:bodyPr wrap="square" lIns="0" tIns="0" rIns="0" bIns="0" rtlCol="0" anchor="t"/>
          <a:lstStyle/>
          <a:p>
            <a:pPr indent="0" marL="0">
              <a:lnSpc>
                <a:spcPts val="1980"/>
              </a:lnSpc>
              <a:buNone/>
            </a:pPr>
            <a:r>
              <a:rPr lang="en-IE" sz="1500" dirty="0">
                <a:solidFill>
                  <a:srgbClr val="FF9F5A"/>
                </a:solidFill>
                <a:latin typeface="Consolas" pitchFamily="34" charset="0"/>
                <a:ea typeface="Consolas" pitchFamily="34" charset="-122"/>
                <a:cs typeface="Consolas" pitchFamily="34" charset="-120"/>
              </a:rPr>
              <a:t>class</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Employee</a:t>
            </a: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String</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describe</a:t>
            </a:r>
            <a:r>
              <a:rPr lang="en-IE" sz="1500" dirty="0">
                <a:solidFill>
                  <a:srgbClr val="E6EBF2"/>
                </a:solidFill>
                <a:latin typeface="Consolas" pitchFamily="34" charset="0"/>
                <a:ea typeface="Consolas" pitchFamily="34" charset="-122"/>
                <a:cs typeface="Consolas" pitchFamily="34" charset="-120"/>
              </a:rPr>
              <a:t>() { </a:t>
            </a:r>
            <a:r>
              <a:rPr lang="en-IE" sz="1500" dirty="0">
                <a:solidFill>
                  <a:srgbClr val="FF9F5A"/>
                </a:solidFill>
                <a:latin typeface="Consolas" pitchFamily="34" charset="0"/>
                <a:ea typeface="Consolas" pitchFamily="34" charset="-122"/>
                <a:cs typeface="Consolas" pitchFamily="34" charset="-120"/>
              </a:rPr>
              <a:t>return</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A9DB8C"/>
                </a:solidFill>
                <a:latin typeface="Consolas" pitchFamily="34" charset="0"/>
                <a:ea typeface="Consolas" pitchFamily="34" charset="-122"/>
                <a:cs typeface="Consolas" pitchFamily="34" charset="-120"/>
              </a:rPr>
              <a:t>"Employee"</a:t>
            </a: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FF9F5A"/>
                </a:solidFill>
                <a:latin typeface="Consolas" pitchFamily="34" charset="0"/>
                <a:ea typeface="Consolas" pitchFamily="34" charset="-122"/>
                <a:cs typeface="Consolas" pitchFamily="34" charset="-120"/>
              </a:rPr>
              <a:t>class</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Manager</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extends</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Employee</a:t>
            </a: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E8C468"/>
                </a:solidFill>
                <a:latin typeface="Consolas" pitchFamily="34" charset="0"/>
                <a:ea typeface="Consolas" pitchFamily="34" charset="-122"/>
                <a:cs typeface="Consolas" pitchFamily="34" charset="-120"/>
              </a:rPr>
              <a:t>@Override</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String</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describe</a:t>
            </a: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return</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super</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C9B0FF"/>
                </a:solidFill>
                <a:latin typeface="Consolas" pitchFamily="34" charset="0"/>
                <a:ea typeface="Consolas" pitchFamily="34" charset="-122"/>
                <a:cs typeface="Consolas" pitchFamily="34" charset="-120"/>
              </a:rPr>
              <a:t>describe</a:t>
            </a:r>
            <a:r>
              <a:rPr lang="en-IE" sz="1500" dirty="0">
                <a:solidFill>
                  <a:srgbClr val="E6EBF2"/>
                </a:solidFill>
                <a:latin typeface="Consolas" pitchFamily="34" charset="0"/>
                <a:ea typeface="Consolas" pitchFamily="34" charset="-122"/>
                <a:cs typeface="Consolas" pitchFamily="34" charset="-120"/>
              </a:rPr>
              <a:t>() + </a:t>
            </a:r>
            <a:r>
              <a:rPr lang="en-IE" sz="1500" dirty="0">
                <a:solidFill>
                  <a:srgbClr val="A9DB8C"/>
                </a:solidFill>
                <a:latin typeface="Consolas" pitchFamily="34" charset="0"/>
                <a:ea typeface="Consolas" pitchFamily="34" charset="-122"/>
                <a:cs typeface="Consolas" pitchFamily="34" charset="-120"/>
              </a:rPr>
              <a:t>" (manager)"</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i="1" dirty="0">
                <a:solidFill>
                  <a:srgbClr val="A3AEC2"/>
                </a:solidFill>
                <a:latin typeface="Consolas" pitchFamily="34" charset="0"/>
                <a:ea typeface="Consolas" pitchFamily="34" charset="-122"/>
                <a:cs typeface="Consolas" pitchFamily="34" charset="-120"/>
              </a:rPr>
              <a:t>// in main:</a:t>
            </a:r>
            <a:endParaRPr lang="en-IE" sz="1500" dirty="0"/>
          </a:p>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System</a:t>
            </a:r>
            <a:r>
              <a:rPr lang="en-IE" sz="1500" dirty="0">
                <a:solidFill>
                  <a:srgbClr val="E6EBF2"/>
                </a:solidFill>
                <a:latin typeface="Consolas" pitchFamily="34" charset="0"/>
                <a:ea typeface="Consolas" pitchFamily="34" charset="-122"/>
                <a:cs typeface="Consolas" pitchFamily="34" charset="-120"/>
              </a:rPr>
              <a:t>.out.</a:t>
            </a:r>
            <a:r>
              <a:rPr lang="en-IE" sz="1500" dirty="0">
                <a:solidFill>
                  <a:srgbClr val="C9B0FF"/>
                </a:solidFill>
                <a:latin typeface="Consolas" pitchFamily="34" charset="0"/>
                <a:ea typeface="Consolas" pitchFamily="34" charset="-122"/>
                <a:cs typeface="Consolas" pitchFamily="34" charset="-120"/>
              </a:rPr>
              <a:t>println</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FF9F5A"/>
                </a:solidFill>
                <a:latin typeface="Consolas" pitchFamily="34" charset="0"/>
                <a:ea typeface="Consolas" pitchFamily="34" charset="-122"/>
                <a:cs typeface="Consolas" pitchFamily="34" charset="-120"/>
              </a:rPr>
              <a:t>new</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Manager</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C9B0FF"/>
                </a:solidFill>
                <a:latin typeface="Consolas" pitchFamily="34" charset="0"/>
                <a:ea typeface="Consolas" pitchFamily="34" charset="-122"/>
                <a:cs typeface="Consolas" pitchFamily="34" charset="-120"/>
              </a:rPr>
              <a:t>describe</a:t>
            </a:r>
            <a:r>
              <a:rPr lang="en-IE" sz="1500" dirty="0">
                <a:solidFill>
                  <a:srgbClr val="E6EBF2"/>
                </a:solidFill>
                <a:latin typeface="Consolas" pitchFamily="34" charset="0"/>
                <a:ea typeface="Consolas" pitchFamily="34" charset="-122"/>
                <a:cs typeface="Consolas" pitchFamily="34" charset="-120"/>
              </a:rPr>
              <a:t>());</a:t>
            </a:r>
            <a:endParaRPr lang="en-IE" sz="15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Employee</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(manager)</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Employee (manager)</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Manager (manager)</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49</a:t>
            </a:fld>
            <a:endParaRPr lang="en-IE"/>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15</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super methods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this code print?</a:t>
            </a:r>
            <a:endParaRPr lang="en-IE" sz="2000" dirty="0"/>
          </a:p>
        </p:txBody>
      </p:sp>
      <p:sp>
        <p:nvSpPr>
          <p:cNvPr id="5" name="Answer code card"/>
          <p:cNvSpPr/>
          <p:nvPr/>
        </p:nvSpPr>
        <p:spPr>
          <a:xfrm>
            <a:off x="548640" y="1874520"/>
            <a:ext cx="5623560" cy="1162050"/>
          </a:xfrm>
          <a:prstGeom prst="roundRect">
            <a:avLst>
              <a:gd name="adj" fmla="val 9443"/>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7597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super</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C9B0FF"/>
                </a:solidFill>
                <a:latin typeface="Consolas" pitchFamily="34" charset="0"/>
                <a:ea typeface="Consolas" pitchFamily="34" charset="-122"/>
                <a:cs typeface="Consolas" pitchFamily="34" charset="-120"/>
              </a:rPr>
              <a:t>describe</a:t>
            </a:r>
            <a:r>
              <a:rPr lang="en-IE" sz="1400" dirty="0">
                <a:solidFill>
                  <a:srgbClr val="E6EBF2"/>
                </a:solidFill>
                <a:latin typeface="Consolas" pitchFamily="34" charset="0"/>
                <a:ea typeface="Consolas" pitchFamily="34" charset="-122"/>
                <a:cs typeface="Consolas" pitchFamily="34" charset="-120"/>
              </a:rPr>
              <a:t>()           </a:t>
            </a:r>
            <a:r>
              <a:rPr lang="en-IE" sz="1400" i="1" dirty="0">
                <a:solidFill>
                  <a:srgbClr val="A3AEC2"/>
                </a:solidFill>
                <a:latin typeface="Consolas" pitchFamily="34" charset="0"/>
                <a:ea typeface="Consolas" pitchFamily="34" charset="-122"/>
                <a:cs typeface="Consolas" pitchFamily="34" charset="-120"/>
              </a:rPr>
              <a:t>// "Employee"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 </a:t>
            </a:r>
            <a:r>
              <a:rPr lang="en-IE" sz="1400" dirty="0">
                <a:solidFill>
                  <a:srgbClr val="A9DB8C"/>
                </a:solidFill>
                <a:latin typeface="Consolas" pitchFamily="34" charset="0"/>
                <a:ea typeface="Consolas" pitchFamily="34" charset="-122"/>
                <a:cs typeface="Consolas" pitchFamily="34" charset="-120"/>
              </a:rPr>
              <a:t>" (manager)"</a:t>
            </a:r>
            <a:r>
              <a:rPr lang="en-IE" sz="1400" dirty="0">
                <a:solidFill>
                  <a:srgbClr val="E6EBF2"/>
                </a:solidFill>
                <a:latin typeface="Consolas" pitchFamily="34" charset="0"/>
                <a:ea typeface="Consolas" pitchFamily="34" charset="-122"/>
                <a:cs typeface="Consolas" pitchFamily="34" charset="-120"/>
              </a:rPr>
              <a:t>           </a:t>
            </a:r>
            <a:r>
              <a:rPr lang="en-IE" sz="1400" i="1" dirty="0">
                <a:solidFill>
                  <a:srgbClr val="A3AEC2"/>
                </a:solidFill>
                <a:latin typeface="Consolas" pitchFamily="34" charset="0"/>
                <a:ea typeface="Consolas" pitchFamily="34" charset="-122"/>
                <a:cs typeface="Consolas" pitchFamily="34" charset="-120"/>
              </a:rPr>
              <a:t>// added by Manager</a:t>
            </a:r>
            <a:endParaRPr lang="en-IE" sz="1400" dirty="0"/>
          </a:p>
          <a:p>
            <a:pPr indent="0" marL="0">
              <a:lnSpc>
                <a:spcPts val="1850"/>
              </a:lnSpc>
              <a:buNone/>
            </a:pPr>
            <a:r>
              <a:rPr lang="en-IE" sz="1400" i="1" dirty="0">
                <a:solidFill>
                  <a:srgbClr val="A3AEC2"/>
                </a:solidFill>
                <a:latin typeface="Consolas" pitchFamily="34" charset="0"/>
                <a:ea typeface="Consolas" pitchFamily="34" charset="-122"/>
                <a:cs typeface="Consolas" pitchFamily="34" charset="-120"/>
              </a:rPr>
              <a:t>// prints: Employee (manager)</a:t>
            </a:r>
            <a:endParaRPr lang="en-IE" sz="1400" dirty="0"/>
          </a:p>
        </p:txBody>
      </p:sp>
      <p:sp>
        <p:nvSpPr>
          <p:cNvPr id="7" name="Option A"/>
          <p:cNvSpPr/>
          <p:nvPr/>
        </p:nvSpPr>
        <p:spPr>
          <a:xfrm>
            <a:off x="548640" y="3265170"/>
            <a:ext cx="5623560" cy="594170"/>
          </a:xfrm>
          <a:prstGeom prst="roundRect">
            <a:avLst>
              <a:gd name="adj" fmla="val 18467"/>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351943"/>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71600" y="3265170"/>
            <a:ext cx="4572000" cy="59417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Employee</a:t>
            </a:r>
            <a:endParaRPr lang="en-IE" sz="1700" dirty="0"/>
          </a:p>
        </p:txBody>
      </p:sp>
      <p:sp>
        <p:nvSpPr>
          <p:cNvPr id="10" name="Option B"/>
          <p:cNvSpPr/>
          <p:nvPr/>
        </p:nvSpPr>
        <p:spPr>
          <a:xfrm>
            <a:off x="548640" y="4005644"/>
            <a:ext cx="5623560" cy="594170"/>
          </a:xfrm>
          <a:prstGeom prst="roundRect">
            <a:avLst>
              <a:gd name="adj" fmla="val 18467"/>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40924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2" name="Option B text"/>
          <p:cNvSpPr txBox="1"/>
          <p:nvPr/>
        </p:nvSpPr>
        <p:spPr>
          <a:xfrm>
            <a:off x="1371600" y="4005644"/>
            <a:ext cx="4572000" cy="59417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(manager)</a:t>
            </a:r>
            <a:endParaRPr lang="en-IE" sz="1700" dirty="0"/>
          </a:p>
        </p:txBody>
      </p:sp>
      <p:sp>
        <p:nvSpPr>
          <p:cNvPr id="13" name="Option C (correct)"/>
          <p:cNvSpPr/>
          <p:nvPr/>
        </p:nvSpPr>
        <p:spPr>
          <a:xfrm>
            <a:off x="548640" y="4746117"/>
            <a:ext cx="5623560" cy="594170"/>
          </a:xfrm>
          <a:prstGeom prst="roundRect">
            <a:avLst>
              <a:gd name="adj" fmla="val 18467"/>
            </a:avLst>
          </a:prstGeom>
          <a:solidFill>
            <a:schemeClr val="accent3"/>
          </a:solidFill>
          <a:ln/>
          <a:effectLst>
            <a:outerShdw sx="100000" sy="100000" kx="0" ky="0" algn="bl" rotWithShape="0" blurRad="114300" dist="31750" dir="5400000">
              <a:srgbClr val="1D2433">
                <a:alpha val="12000"/>
              </a:srgbClr>
            </a:outerShdw>
          </a:effectLst>
        </p:spPr>
      </p:sp>
      <p:sp>
        <p:nvSpPr>
          <p:cNvPr id="14" name="Letter C"/>
          <p:cNvSpPr/>
          <p:nvPr/>
        </p:nvSpPr>
        <p:spPr>
          <a:xfrm>
            <a:off x="749808" y="483289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5" name="Option C text"/>
          <p:cNvSpPr txBox="1"/>
          <p:nvPr/>
        </p:nvSpPr>
        <p:spPr>
          <a:xfrm>
            <a:off x="1371600" y="4746117"/>
            <a:ext cx="4142232" cy="594170"/>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Employee (manager)</a:t>
            </a:r>
            <a:endParaRPr lang="en-IE" sz="1700" dirty="0"/>
          </a:p>
        </p:txBody>
      </p:sp>
      <p:pic>
        <p:nvPicPr>
          <p:cNvPr id="16" name="Correct mark" descr="Correct mark">    </p:cNvPr>
          <p:cNvPicPr>
            <a:picLocks noChangeAspect="1"/>
          </p:cNvPicPr>
          <p:nvPr/>
        </p:nvPicPr>
        <p:blipFill>
          <a:blip r:embed="rId1"/>
          <a:stretch>
            <a:fillRect/>
          </a:stretch>
        </p:blipFill>
        <p:spPr>
          <a:xfrm>
            <a:off x="5623560" y="4860322"/>
            <a:ext cx="365760" cy="365760"/>
          </a:xfrm>
          <a:prstGeom prst="rect">
            <a:avLst/>
          </a:prstGeom>
        </p:spPr>
      </p:pic>
      <p:sp>
        <p:nvSpPr>
          <p:cNvPr id="17" name="Option D"/>
          <p:cNvSpPr/>
          <p:nvPr/>
        </p:nvSpPr>
        <p:spPr>
          <a:xfrm>
            <a:off x="548640" y="5486591"/>
            <a:ext cx="5623560" cy="594170"/>
          </a:xfrm>
          <a:prstGeom prst="roundRect">
            <a:avLst>
              <a:gd name="adj" fmla="val 18467"/>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73363"/>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71600" y="5486591"/>
            <a:ext cx="4572000" cy="59417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Manager (manager)</a:t>
            </a:r>
            <a:endParaRPr lang="en-IE"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super.describe()</a:t>
            </a:r>
            <a:r>
              <a:rPr lang="en-IE" sz="1800" dirty="0">
                <a:solidFill>
                  <a:schemeClr val="tx1"/>
                </a:solidFill>
              </a:rPr>
              <a:t> runs the parent’s version first, which gives “Employee”. Manager then adds “ (manager)”. This is how a child keeps the parent’s behaviour and adds to it.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50</a:t>
            </a:fld>
            <a:endParaRPr lang="en-IE"/>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04</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toString, instanceof and final</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Printing, checking and stopping</a:t>
            </a:r>
            <a:endParaRPr lang="en-IE" sz="2000" dirty="0"/>
          </a:p>
        </p:txBody>
      </p:sp>
      <p:sp>
        <p:nvSpPr>
          <p:cNvPr id="5" name="Topic chip"/>
          <p:cNvSpPr/>
          <p:nvPr/>
        </p:nvSpPr>
        <p:spPr>
          <a:xfrm>
            <a:off x="822960" y="4846320"/>
            <a:ext cx="1141984"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toString</a:t>
            </a:r>
            <a:endParaRPr lang="en-IE" sz="1400" dirty="0"/>
          </a:p>
        </p:txBody>
      </p:sp>
      <p:sp>
        <p:nvSpPr>
          <p:cNvPr id="6" name="Topic chip"/>
          <p:cNvSpPr/>
          <p:nvPr/>
        </p:nvSpPr>
        <p:spPr>
          <a:xfrm>
            <a:off x="2111248" y="4846320"/>
            <a:ext cx="132689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instanceof</a:t>
            </a:r>
            <a:endParaRPr lang="en-IE" sz="1400" dirty="0"/>
          </a:p>
        </p:txBody>
      </p:sp>
      <p:sp>
        <p:nvSpPr>
          <p:cNvPr id="7" name="Topic chip"/>
          <p:cNvSpPr/>
          <p:nvPr/>
        </p:nvSpPr>
        <p:spPr>
          <a:xfrm>
            <a:off x="3584448" y="4846320"/>
            <a:ext cx="86461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final</a:t>
            </a:r>
            <a:endParaRPr lang="en-IE" sz="1400" dirty="0"/>
          </a:p>
        </p:txBody>
      </p:sp>
      <p:pic>
        <p:nvPicPr>
          <p:cNvPr id="8"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TOSTRING, INSTANCEOF AND FINAL</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toString turns an object into text</a:t>
            </a:r>
            <a:endParaRPr lang="en-IE" sz="3400" dirty="0"/>
          </a:p>
        </p:txBody>
      </p:sp>
      <p:sp>
        <p:nvSpPr>
          <p:cNvPr id="5" name="Text 2"/>
          <p:cNvSpPr txBox="1"/>
          <p:nvPr/>
        </p:nvSpPr>
        <p:spPr>
          <a:xfrm>
            <a:off x="548640" y="1783080"/>
            <a:ext cx="4846320" cy="2377440"/>
          </a:xfrm>
          <a:prstGeom prst="rect">
            <a:avLst/>
          </a:prstGeom>
          <a:noFill/>
          <a:ln/>
        </p:spPr>
        <p:txBody>
          <a:bodyPr wrap="square" lIns="0" tIns="0" rIns="0" bIns="0" rtlCol="0" anchor="t"/>
          <a:lstStyle/>
          <a:p>
            <a:pPr marL="228600" indent="-228600">
              <a:spcAft>
                <a:spcPts val="1400"/>
              </a:spcAft>
              <a:buSzPct val="100000"/>
              <a:buChar char="•"/>
            </a:pPr>
            <a:r>
              <a:rPr lang="en-IE" sz="1900" dirty="0">
                <a:solidFill>
                  <a:schemeClr val="tx1"/>
                </a:solidFill>
              </a:rPr>
              <a:t>toString is a common method that gives back the content of an object’s attributes in one method call.</a:t>
            </a:r>
            <a:endParaRPr lang="en-IE" sz="1900" dirty="0"/>
          </a:p>
          <a:p>
            <a:pPr marL="228600" indent="-228600">
              <a:buSzPct val="100000"/>
              <a:buChar char="•"/>
            </a:pPr>
            <a:r>
              <a:rPr lang="en-IE" sz="1900" dirty="0">
                <a:solidFill>
                  <a:schemeClr val="tx1"/>
                </a:solidFill>
              </a:rPr>
              <a:t>That saves calling each of the getter methods one by one.</a:t>
            </a:r>
            <a:endParaRPr lang="en-IE" sz="1900" dirty="0"/>
          </a:p>
        </p:txBody>
      </p:sp>
      <p:sp>
        <p:nvSpPr>
          <p:cNvPr id="6" name="Employee object"/>
          <p:cNvSpPr/>
          <p:nvPr/>
        </p:nvSpPr>
        <p:spPr>
          <a:xfrm>
            <a:off x="5760720" y="1828800"/>
            <a:ext cx="2286000" cy="2331720"/>
          </a:xfrm>
          <a:prstGeom prst="roundRect">
            <a:avLst>
              <a:gd name="adj" fmla="val 4800"/>
            </a:avLst>
          </a:prstGeom>
          <a:solidFill>
            <a:schemeClr val="bg1"/>
          </a:solidFill>
          <a:ln w="15875">
            <a:solidFill>
              <a:schemeClr val="accent1"/>
            </a:solidFill>
            <a:prstDash val="solid"/>
          </a:ln>
          <a:effectLst>
            <a:outerShdw sx="100000" sy="100000" kx="0" ky="0" algn="bl" rotWithShape="0" blurRad="114300" dist="31750" dir="5400000">
              <a:srgbClr val="1D2433">
                <a:alpha val="12000"/>
              </a:srgbClr>
            </a:outerShdw>
          </a:effectLst>
        </p:spPr>
      </p:sp>
      <p:sp>
        <p:nvSpPr>
          <p:cNvPr id="7" name="Text 4"/>
          <p:cNvSpPr txBox="1"/>
          <p:nvPr/>
        </p:nvSpPr>
        <p:spPr>
          <a:xfrm>
            <a:off x="5943600" y="1965960"/>
            <a:ext cx="1920240" cy="292608"/>
          </a:xfrm>
          <a:prstGeom prst="rect">
            <a:avLst/>
          </a:prstGeom>
          <a:noFill/>
          <a:ln/>
        </p:spPr>
        <p:txBody>
          <a:bodyPr wrap="square" lIns="0" tIns="0" rIns="0" bIns="0" rtlCol="0" anchor="t"/>
          <a:lstStyle/>
          <a:p>
            <a:pPr indent="0" marL="0">
              <a:buNone/>
            </a:pPr>
            <a:r>
              <a:rPr lang="en-IE" sz="1300" b="1" dirty="0">
                <a:solidFill>
                  <a:schemeClr val="accent1"/>
                </a:solidFill>
              </a:rPr>
              <a:t>an employee object</a:t>
            </a:r>
            <a:endParaRPr lang="en-IE" sz="1300" dirty="0"/>
          </a:p>
        </p:txBody>
      </p:sp>
      <p:sp>
        <p:nvSpPr>
          <p:cNvPr id="8" name="Text 5"/>
          <p:cNvSpPr txBox="1"/>
          <p:nvPr/>
        </p:nvSpPr>
        <p:spPr>
          <a:xfrm>
            <a:off x="5943600" y="2377440"/>
            <a:ext cx="2011680" cy="365760"/>
          </a:xfrm>
          <a:prstGeom prst="rect">
            <a:avLst/>
          </a:prstGeom>
          <a:noFill/>
          <a:ln/>
        </p:spPr>
        <p:txBody>
          <a:bodyPr wrap="square" lIns="0" tIns="0" rIns="0" bIns="0" rtlCol="0" anchor="t"/>
          <a:lstStyle/>
          <a:p>
            <a:pPr indent="0" marL="0">
              <a:buNone/>
            </a:pPr>
            <a:r>
              <a:rPr lang="en-IE" sz="1350" dirty="0">
                <a:solidFill>
                  <a:schemeClr val="tx1"/>
                </a:solidFill>
                <a:latin typeface="Consolas" pitchFamily="34" charset="0"/>
                <a:ea typeface="Consolas" pitchFamily="34" charset="-122"/>
                <a:cs typeface="Consolas" pitchFamily="34" charset="-120"/>
              </a:rPr>
              <a:t>name = "Ann"</a:t>
            </a:r>
            <a:endParaRPr lang="en-IE" sz="1350" dirty="0"/>
          </a:p>
        </p:txBody>
      </p:sp>
      <p:sp>
        <p:nvSpPr>
          <p:cNvPr id="9" name="Text 6"/>
          <p:cNvSpPr txBox="1"/>
          <p:nvPr/>
        </p:nvSpPr>
        <p:spPr>
          <a:xfrm>
            <a:off x="5943600" y="2779776"/>
            <a:ext cx="2011680" cy="365760"/>
          </a:xfrm>
          <a:prstGeom prst="rect">
            <a:avLst/>
          </a:prstGeom>
          <a:noFill/>
          <a:ln/>
        </p:spPr>
        <p:txBody>
          <a:bodyPr wrap="square" lIns="0" tIns="0" rIns="0" bIns="0" rtlCol="0" anchor="t"/>
          <a:lstStyle/>
          <a:p>
            <a:pPr indent="0" marL="0">
              <a:buNone/>
            </a:pPr>
            <a:r>
              <a:rPr lang="en-IE" sz="1350" dirty="0">
                <a:solidFill>
                  <a:schemeClr val="tx1"/>
                </a:solidFill>
                <a:latin typeface="Consolas" pitchFamily="34" charset="0"/>
                <a:ea typeface="Consolas" pitchFamily="34" charset="-122"/>
                <a:cs typeface="Consolas" pitchFamily="34" charset="-120"/>
              </a:rPr>
              <a:t>id = 1</a:t>
            </a:r>
            <a:endParaRPr lang="en-IE" sz="1350" dirty="0"/>
          </a:p>
        </p:txBody>
      </p:sp>
      <p:sp>
        <p:nvSpPr>
          <p:cNvPr id="10" name="Text 7"/>
          <p:cNvSpPr txBox="1"/>
          <p:nvPr/>
        </p:nvSpPr>
        <p:spPr>
          <a:xfrm>
            <a:off x="5943600" y="3182112"/>
            <a:ext cx="2011680" cy="365760"/>
          </a:xfrm>
          <a:prstGeom prst="rect">
            <a:avLst/>
          </a:prstGeom>
          <a:noFill/>
          <a:ln/>
        </p:spPr>
        <p:txBody>
          <a:bodyPr wrap="square" lIns="0" tIns="0" rIns="0" bIns="0" rtlCol="0" anchor="t"/>
          <a:lstStyle/>
          <a:p>
            <a:pPr indent="0" marL="0">
              <a:buNone/>
            </a:pPr>
            <a:r>
              <a:rPr lang="en-IE" sz="1350" dirty="0">
                <a:solidFill>
                  <a:schemeClr val="tx1"/>
                </a:solidFill>
                <a:latin typeface="Consolas" pitchFamily="34" charset="0"/>
                <a:ea typeface="Consolas" pitchFamily="34" charset="-122"/>
                <a:cs typeface="Consolas" pitchFamily="34" charset="-120"/>
              </a:rPr>
              <a:t>salary = 30000.0</a:t>
            </a:r>
            <a:endParaRPr lang="en-IE" sz="1350" dirty="0"/>
          </a:p>
        </p:txBody>
      </p:sp>
      <p:sp>
        <p:nvSpPr>
          <p:cNvPr id="11" name="Text 8"/>
          <p:cNvSpPr txBox="1"/>
          <p:nvPr/>
        </p:nvSpPr>
        <p:spPr>
          <a:xfrm>
            <a:off x="5943600" y="3584448"/>
            <a:ext cx="2011680" cy="365760"/>
          </a:xfrm>
          <a:prstGeom prst="rect">
            <a:avLst/>
          </a:prstGeom>
          <a:noFill/>
          <a:ln/>
        </p:spPr>
        <p:txBody>
          <a:bodyPr wrap="square" lIns="0" tIns="0" rIns="0" bIns="0" rtlCol="0" anchor="t"/>
          <a:lstStyle/>
          <a:p>
            <a:pPr indent="0" marL="0">
              <a:buNone/>
            </a:pPr>
            <a:r>
              <a:rPr lang="en-IE" sz="1350" dirty="0">
                <a:solidFill>
                  <a:schemeClr val="tx1"/>
                </a:solidFill>
                <a:latin typeface="Consolas" pitchFamily="34" charset="0"/>
                <a:ea typeface="Consolas" pitchFamily="34" charset="-122"/>
                <a:cs typeface="Consolas" pitchFamily="34" charset="-120"/>
              </a:rPr>
              <a:t>bonus = 2000.0</a:t>
            </a:r>
            <a:endParaRPr lang="en-IE" sz="1350" dirty="0"/>
          </a:p>
        </p:txBody>
      </p:sp>
      <p:sp>
        <p:nvSpPr>
          <p:cNvPr id="12" name="Connector"/>
          <p:cNvSpPr/>
          <p:nvPr/>
        </p:nvSpPr>
        <p:spPr>
          <a:xfrm>
            <a:off x="8138160" y="2994660"/>
            <a:ext cx="1005840" cy="0"/>
          </a:xfrm>
          <a:prstGeom prst="line">
            <a:avLst/>
          </a:prstGeom>
          <a:noFill/>
          <a:ln w="25400">
            <a:solidFill>
              <a:schemeClr val="accent1"/>
            </a:solidFill>
            <a:prstDash val="solid"/>
            <a:tailEnd type="triangle"/>
          </a:ln>
        </p:spPr>
      </p:sp>
      <p:sp>
        <p:nvSpPr>
          <p:cNvPr id="13" name="Text 10"/>
          <p:cNvSpPr txBox="1"/>
          <p:nvPr/>
        </p:nvSpPr>
        <p:spPr>
          <a:xfrm>
            <a:off x="8092440" y="2610612"/>
            <a:ext cx="1097280" cy="292608"/>
          </a:xfrm>
          <a:prstGeom prst="rect">
            <a:avLst/>
          </a:prstGeom>
          <a:noFill/>
          <a:ln/>
        </p:spPr>
        <p:txBody>
          <a:bodyPr wrap="square" lIns="0" tIns="0" rIns="0" bIns="0" rtlCol="0" anchor="t"/>
          <a:lstStyle/>
          <a:p>
            <a:pPr algn="ctr" indent="0" marL="0">
              <a:buNone/>
            </a:pPr>
            <a:r>
              <a:rPr lang="en-IE" sz="1250" b="1" dirty="0">
                <a:solidFill>
                  <a:schemeClr val="accent1"/>
                </a:solidFill>
                <a:latin typeface="Consolas" pitchFamily="34" charset="0"/>
                <a:ea typeface="Consolas" pitchFamily="34" charset="-122"/>
                <a:cs typeface="Consolas" pitchFamily="34" charset="-120"/>
              </a:rPr>
              <a:t>toString()</a:t>
            </a:r>
            <a:endParaRPr lang="en-IE" sz="1250" dirty="0"/>
          </a:p>
        </p:txBody>
      </p:sp>
      <p:sp>
        <p:nvSpPr>
          <p:cNvPr id="14" name="Output card"/>
          <p:cNvSpPr/>
          <p:nvPr/>
        </p:nvSpPr>
        <p:spPr>
          <a:xfrm>
            <a:off x="9235440" y="1828800"/>
            <a:ext cx="2407615" cy="2331720"/>
          </a:xfrm>
          <a:prstGeom prst="roundRect">
            <a:avLst>
              <a:gd name="adj" fmla="val 4706"/>
            </a:avLst>
          </a:prstGeom>
          <a:solidFill>
            <a:schemeClr val="tx1"/>
          </a:solidFill>
          <a:ln/>
          <a:effectLst>
            <a:outerShdw sx="100000" sy="100000" kx="0" ky="0" algn="bl" rotWithShape="0" blurRad="114300" dist="31750" dir="5400000">
              <a:srgbClr val="1D2433">
                <a:alpha val="12000"/>
              </a:srgbClr>
            </a:outerShdw>
          </a:effectLst>
        </p:spPr>
      </p:sp>
      <p:sp>
        <p:nvSpPr>
          <p:cNvPr id="15" name="Text 12"/>
          <p:cNvSpPr txBox="1"/>
          <p:nvPr/>
        </p:nvSpPr>
        <p:spPr>
          <a:xfrm>
            <a:off x="9509760" y="1947672"/>
            <a:ext cx="18589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One String</a:t>
            </a:r>
            <a:endParaRPr lang="en-IE" sz="1050" dirty="0"/>
          </a:p>
        </p:txBody>
      </p:sp>
      <p:sp>
        <p:nvSpPr>
          <p:cNvPr id="16" name="Output text"/>
          <p:cNvSpPr txBox="1"/>
          <p:nvPr/>
        </p:nvSpPr>
        <p:spPr>
          <a:xfrm>
            <a:off x="9509760" y="2286000"/>
            <a:ext cx="1858975" cy="1691640"/>
          </a:xfrm>
          <a:prstGeom prst="rect">
            <a:avLst/>
          </a:prstGeom>
          <a:noFill/>
          <a:ln/>
        </p:spPr>
        <p:txBody>
          <a:bodyPr wrap="square" lIns="0" tIns="0" rIns="0" bIns="0" rtlCol="0" anchor="t"/>
          <a:lstStyle/>
          <a:p>
            <a:pPr indent="0" marL="0">
              <a:lnSpc>
                <a:spcPts val="1755"/>
              </a:lnSpc>
              <a:buNone/>
            </a:pPr>
            <a:r>
              <a:rPr lang="en-IE" sz="1300" dirty="0">
                <a:solidFill>
                  <a:srgbClr val="A9DB8C"/>
                </a:solidFill>
                <a:latin typeface="Consolas" pitchFamily="34" charset="0"/>
                <a:ea typeface="Consolas" pitchFamily="34" charset="-122"/>
                <a:cs typeface="Consolas" pitchFamily="34" charset="-120"/>
              </a:rPr>
              <a:t>Name : Ann</a:t>
            </a:r>
            <a:endParaRPr lang="en-IE" sz="1300" dirty="0"/>
          </a:p>
          <a:p>
            <a:pPr indent="0" marL="0">
              <a:lnSpc>
                <a:spcPts val="1755"/>
              </a:lnSpc>
              <a:buNone/>
            </a:pPr>
            <a:r>
              <a:rPr lang="en-IE" sz="1300" dirty="0">
                <a:solidFill>
                  <a:srgbClr val="A9DB8C"/>
                </a:solidFill>
                <a:latin typeface="Consolas" pitchFamily="34" charset="0"/>
                <a:ea typeface="Consolas" pitchFamily="34" charset="-122"/>
                <a:cs typeface="Consolas" pitchFamily="34" charset="-120"/>
              </a:rPr>
              <a:t>ID : 1</a:t>
            </a:r>
            <a:endParaRPr lang="en-IE" sz="1300" dirty="0"/>
          </a:p>
          <a:p>
            <a:pPr indent="0" marL="0">
              <a:lnSpc>
                <a:spcPts val="1755"/>
              </a:lnSpc>
              <a:buNone/>
            </a:pPr>
            <a:r>
              <a:rPr lang="en-IE" sz="1300" dirty="0">
                <a:solidFill>
                  <a:srgbClr val="A9DB8C"/>
                </a:solidFill>
                <a:latin typeface="Consolas" pitchFamily="34" charset="0"/>
                <a:ea typeface="Consolas" pitchFamily="34" charset="-122"/>
                <a:cs typeface="Consolas" pitchFamily="34" charset="-120"/>
              </a:rPr>
              <a:t>Salary : 30000.0</a:t>
            </a:r>
            <a:endParaRPr lang="en-IE" sz="1300" dirty="0"/>
          </a:p>
          <a:p>
            <a:pPr indent="0" marL="0">
              <a:lnSpc>
                <a:spcPts val="1755"/>
              </a:lnSpc>
              <a:buNone/>
            </a:pPr>
            <a:r>
              <a:rPr lang="en-IE" sz="1300" dirty="0">
                <a:solidFill>
                  <a:srgbClr val="A9DB8C"/>
                </a:solidFill>
                <a:latin typeface="Consolas" pitchFamily="34" charset="0"/>
                <a:ea typeface="Consolas" pitchFamily="34" charset="-122"/>
                <a:cs typeface="Consolas" pitchFamily="34" charset="-120"/>
              </a:rPr>
              <a:t>Bonus : 2000.0</a:t>
            </a:r>
            <a:endParaRPr lang="en-IE" sz="1300" dirty="0"/>
          </a:p>
        </p:txBody>
      </p:sp>
      <p:sp>
        <p:nvSpPr>
          <p:cNvPr id="17" name="Note"/>
          <p:cNvSpPr/>
          <p:nvPr/>
        </p:nvSpPr>
        <p:spPr>
          <a:xfrm>
            <a:off x="548640" y="4663440"/>
            <a:ext cx="11094415" cy="777240"/>
          </a:xfrm>
          <a:prstGeom prst="roundRect">
            <a:avLst>
              <a:gd name="adj" fmla="val 14118"/>
            </a:avLst>
          </a:prstGeom>
          <a:solidFill>
            <a:schemeClr val="bg2"/>
          </a:solidFill>
          <a:ln/>
        </p:spPr>
      </p:sp>
      <p:sp>
        <p:nvSpPr>
          <p:cNvPr id="18" name="Icon tile"/>
          <p:cNvSpPr/>
          <p:nvPr/>
        </p:nvSpPr>
        <p:spPr>
          <a:xfrm>
            <a:off x="822960" y="4786884"/>
            <a:ext cx="530352" cy="530352"/>
          </a:xfrm>
          <a:prstGeom prst="roundRect">
            <a:avLst>
              <a:gd name="adj" fmla="val 24000"/>
            </a:avLst>
          </a:prstGeom>
          <a:solidFill>
            <a:schemeClr val="accent1">
              <a:alpha val="14000"/>
            </a:schemeClr>
          </a:solidFill>
          <a:ln/>
        </p:spPr>
      </p:sp>
      <p:pic>
        <p:nvPicPr>
          <p:cNvPr id="19" name="text aa icon" descr="text aa icon">    </p:cNvPr>
          <p:cNvPicPr>
            <a:picLocks noChangeAspect="1"/>
          </p:cNvPicPr>
          <p:nvPr/>
        </p:nvPicPr>
        <p:blipFill>
          <a:blip r:embed="rId1"/>
          <a:stretch>
            <a:fillRect/>
          </a:stretch>
        </p:blipFill>
        <p:spPr>
          <a:xfrm>
            <a:off x="934334" y="4898258"/>
            <a:ext cx="307604" cy="307604"/>
          </a:xfrm>
          <a:prstGeom prst="rect">
            <a:avLst/>
          </a:prstGeom>
        </p:spPr>
      </p:pic>
      <p:sp>
        <p:nvSpPr>
          <p:cNvPr id="20" name="Text 16"/>
          <p:cNvSpPr txBox="1"/>
          <p:nvPr/>
        </p:nvSpPr>
        <p:spPr>
          <a:xfrm>
            <a:off x="1572768" y="4663440"/>
            <a:ext cx="9814255" cy="777240"/>
          </a:xfrm>
          <a:prstGeom prst="rect">
            <a:avLst/>
          </a:prstGeom>
          <a:noFill/>
          <a:ln/>
        </p:spPr>
        <p:txBody>
          <a:bodyPr wrap="square" lIns="0" tIns="0" rIns="0" bIns="0" rtlCol="0" anchor="ctr"/>
          <a:lstStyle/>
          <a:p>
            <a:pPr indent="0" marL="0">
              <a:buNone/>
            </a:pPr>
            <a:r>
              <a:rPr lang="en-IE" sz="1700" dirty="0">
                <a:solidFill>
                  <a:schemeClr val="tx1"/>
                </a:solidFill>
              </a:rPr>
              <a:t>One call gives us the whole object as text, ready to print.</a:t>
            </a:r>
            <a:endParaRPr lang="en-IE"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52</a:t>
            </a:fld>
            <a:endParaRPr lang="en-IE"/>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16</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toString</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is a toString() method usually for?</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Turning a piece of text into a brand-new object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Checking whether two objects are exactly equal</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Making a copy of the object</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Returning an object’s attributes as one String</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53</a:t>
            </a:fld>
            <a:endParaRPr lang="en-IE"/>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16</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toString</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is a toString() method usually for?</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Turning a piece of text into a brand-new object</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Checking whether two objects are exactly equal</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Making a copy of the object</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Returning an object’s attributes as one String</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toString()</a:t>
            </a:r>
            <a:r>
              <a:rPr lang="en-IE" sz="1800" dirty="0">
                <a:solidFill>
                  <a:schemeClr val="tx1"/>
                </a:solidFill>
              </a:rPr>
              <a:t> returns the content of an object’s attributes in one method call, instead of calling each getter separately. Comparing objects (B) is what equals() is for, and copying is clone() (C).</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54</a:t>
            </a:fld>
            <a:endParaRPr lang="en-IE"/>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TOSTRING, INSTANCEOF AND FINAL</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Every class already has a toString</a:t>
            </a:r>
            <a:endParaRPr lang="en-IE" sz="3400" dirty="0"/>
          </a:p>
        </p:txBody>
      </p:sp>
      <p:sp>
        <p:nvSpPr>
          <p:cNvPr id="5" name="Text 2"/>
          <p:cNvSpPr txBox="1"/>
          <p:nvPr/>
        </p:nvSpPr>
        <p:spPr>
          <a:xfrm>
            <a:off x="548640" y="1783080"/>
            <a:ext cx="5029200" cy="310896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The base Object class has a toString method, so every class has a toString as well.</a:t>
            </a:r>
            <a:endParaRPr lang="en-IE" sz="1800" dirty="0"/>
          </a:p>
          <a:p>
            <a:pPr marL="228600" indent="-228600">
              <a:spcAft>
                <a:spcPts val="1200"/>
              </a:spcAft>
              <a:buSzPct val="100000"/>
              <a:buChar char="•"/>
            </a:pPr>
            <a:r>
              <a:rPr lang="en-IE" sz="1800" dirty="0">
                <a:solidFill>
                  <a:schemeClr val="tx1"/>
                </a:solidFill>
              </a:rPr>
              <a:t>Object’s version normally just gives the class name and a hash code.</a:t>
            </a:r>
            <a:endParaRPr lang="en-IE" sz="1800" dirty="0"/>
          </a:p>
          <a:p>
            <a:pPr marL="228600" indent="-228600">
              <a:buSzPct val="100000"/>
              <a:buChar char="•"/>
            </a:pPr>
            <a:r>
              <a:rPr lang="en-IE" sz="1800" dirty="0">
                <a:solidFill>
                  <a:schemeClr val="tx1"/>
                </a:solidFill>
              </a:rPr>
              <a:t>To print out more useful information, we need to override it.</a:t>
            </a:r>
            <a:endParaRPr lang="en-IE" sz="1800" dirty="0"/>
          </a:p>
        </p:txBody>
      </p:sp>
      <p:sp>
        <p:nvSpPr>
          <p:cNvPr id="6" name="Default toString card"/>
          <p:cNvSpPr/>
          <p:nvPr/>
        </p:nvSpPr>
        <p:spPr>
          <a:xfrm>
            <a:off x="5943600" y="1783080"/>
            <a:ext cx="5699455" cy="1454658"/>
          </a:xfrm>
          <a:prstGeom prst="roundRect">
            <a:avLst>
              <a:gd name="adj" fmla="val 7543"/>
            </a:avLst>
          </a:prstGeom>
          <a:solidFill>
            <a:schemeClr val="tx1"/>
          </a:solidFill>
          <a:ln/>
          <a:effectLst>
            <a:outerShdw sx="100000" sy="100000" kx="0" ky="0" algn="bl" rotWithShape="0" blurRad="114300" dist="31750" dir="5400000">
              <a:srgbClr val="1D2433">
                <a:alpha val="12000"/>
              </a:srgbClr>
            </a:outerShdw>
          </a:effectLst>
        </p:spPr>
      </p:sp>
      <p:sp>
        <p:nvSpPr>
          <p:cNvPr id="7" name="Default toString language"/>
          <p:cNvSpPr txBox="1"/>
          <p:nvPr/>
        </p:nvSpPr>
        <p:spPr>
          <a:xfrm>
            <a:off x="6217920" y="1901952"/>
            <a:ext cx="515081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Default toString text"/>
          <p:cNvSpPr txBox="1"/>
          <p:nvPr/>
        </p:nvSpPr>
        <p:spPr>
          <a:xfrm>
            <a:off x="6217920" y="2276856"/>
            <a:ext cx="5150815" cy="7597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class</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Job</a:t>
            </a:r>
            <a:r>
              <a:rPr lang="en-IE" sz="1400" dirty="0">
                <a:solidFill>
                  <a:srgbClr val="E6EBF2"/>
                </a:solidFill>
                <a:latin typeface="Consolas" pitchFamily="34" charset="0"/>
                <a:ea typeface="Consolas" pitchFamily="34" charset="-122"/>
                <a:cs typeface="Consolas" pitchFamily="34" charset="-120"/>
              </a:rPr>
              <a:t> { }   </a:t>
            </a:r>
            <a:r>
              <a:rPr lang="en-IE" sz="1400" i="1" dirty="0">
                <a:solidFill>
                  <a:srgbClr val="A3AEC2"/>
                </a:solidFill>
                <a:latin typeface="Consolas" pitchFamily="34" charset="0"/>
                <a:ea typeface="Consolas" pitchFamily="34" charset="-122"/>
                <a:cs typeface="Consolas" pitchFamily="34" charset="-120"/>
              </a:rPr>
              <a:t>// no toString() of its own</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System</a:t>
            </a:r>
            <a:r>
              <a:rPr lang="en-IE" sz="1400" dirty="0">
                <a:solidFill>
                  <a:srgbClr val="E6EBF2"/>
                </a:solidFill>
                <a:latin typeface="Consolas" pitchFamily="34" charset="0"/>
                <a:ea typeface="Consolas" pitchFamily="34" charset="-122"/>
                <a:cs typeface="Consolas" pitchFamily="34" charset="-120"/>
              </a:rPr>
              <a:t>.out.</a:t>
            </a:r>
            <a:r>
              <a:rPr lang="en-IE" sz="1400" dirty="0">
                <a:solidFill>
                  <a:srgbClr val="C9B0FF"/>
                </a:solidFill>
                <a:latin typeface="Consolas" pitchFamily="34" charset="0"/>
                <a:ea typeface="Consolas" pitchFamily="34" charset="-122"/>
                <a:cs typeface="Consolas" pitchFamily="34" charset="-120"/>
              </a:rPr>
              <a:t>println</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Job</a:t>
            </a: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9" name="Output card"/>
          <p:cNvSpPr/>
          <p:nvPr/>
        </p:nvSpPr>
        <p:spPr>
          <a:xfrm>
            <a:off x="5943600" y="3512058"/>
            <a:ext cx="5699455" cy="1097280"/>
          </a:xfrm>
          <a:prstGeom prst="roundRect">
            <a:avLst>
              <a:gd name="adj" fmla="val 10000"/>
            </a:avLst>
          </a:prstGeom>
          <a:solidFill>
            <a:schemeClr val="tx1"/>
          </a:solidFill>
          <a:ln/>
          <a:effectLst>
            <a:outerShdw sx="100000" sy="100000" kx="0" ky="0" algn="bl" rotWithShape="0" blurRad="114300" dist="31750" dir="5400000">
              <a:srgbClr val="1D2433">
                <a:alpha val="12000"/>
              </a:srgbClr>
            </a:outerShdw>
          </a:effectLst>
        </p:spPr>
      </p:sp>
      <p:sp>
        <p:nvSpPr>
          <p:cNvPr id="10" name="Text 7"/>
          <p:cNvSpPr txBox="1"/>
          <p:nvPr/>
        </p:nvSpPr>
        <p:spPr>
          <a:xfrm>
            <a:off x="6217920" y="3630930"/>
            <a:ext cx="515081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Output</a:t>
            </a:r>
            <a:endParaRPr lang="en-IE" sz="1050" dirty="0"/>
          </a:p>
        </p:txBody>
      </p:sp>
      <p:sp>
        <p:nvSpPr>
          <p:cNvPr id="11" name="Output text"/>
          <p:cNvSpPr txBox="1"/>
          <p:nvPr/>
        </p:nvSpPr>
        <p:spPr>
          <a:xfrm>
            <a:off x="6217920" y="3969258"/>
            <a:ext cx="5150815" cy="457200"/>
          </a:xfrm>
          <a:prstGeom prst="rect">
            <a:avLst/>
          </a:prstGeom>
          <a:noFill/>
          <a:ln/>
        </p:spPr>
        <p:txBody>
          <a:bodyPr wrap="square" lIns="0" tIns="0" rIns="0" bIns="0" rtlCol="0" anchor="t"/>
          <a:lstStyle/>
          <a:p>
            <a:pPr indent="0" marL="0">
              <a:lnSpc>
                <a:spcPts val="3240"/>
              </a:lnSpc>
              <a:buNone/>
            </a:pPr>
            <a:r>
              <a:rPr lang="en-IE" sz="2400" dirty="0">
                <a:solidFill>
                  <a:srgbClr val="A9DB8C"/>
                </a:solidFill>
                <a:latin typeface="Consolas" pitchFamily="34" charset="0"/>
                <a:ea typeface="Consolas" pitchFamily="34" charset="-122"/>
                <a:cs typeface="Consolas" pitchFamily="34" charset="-120"/>
              </a:rPr>
              <a:t>Job@5a07e868</a:t>
            </a:r>
            <a:endParaRPr lang="en-IE" sz="2400" dirty="0"/>
          </a:p>
        </p:txBody>
      </p:sp>
      <p:sp>
        <p:nvSpPr>
          <p:cNvPr id="12" name="Code chip"/>
          <p:cNvSpPr/>
          <p:nvPr/>
        </p:nvSpPr>
        <p:spPr>
          <a:xfrm>
            <a:off x="5943600" y="4837938"/>
            <a:ext cx="1325880" cy="402336"/>
          </a:xfrm>
          <a:prstGeom prst="roundRect">
            <a:avLst>
              <a:gd name="adj" fmla="val 18182"/>
            </a:avLst>
          </a:prstGeom>
          <a:solidFill>
            <a:schemeClr val="bg2"/>
          </a:solidFill>
          <a:ln/>
        </p:spPr>
        <p:txBody>
          <a:bodyPr wrap="square" lIns="0" tIns="0" rIns="0" bIns="0" rtlCol="0" anchor="ctr"/>
          <a:lstStyle/>
          <a:p>
            <a:pPr algn="ctr" indent="0" marL="0">
              <a:buNone/>
            </a:pPr>
            <a:r>
              <a:rPr lang="en-IE" sz="1500" dirty="0">
                <a:solidFill>
                  <a:schemeClr val="accent2"/>
                </a:solidFill>
                <a:latin typeface="Consolas" pitchFamily="34" charset="0"/>
                <a:ea typeface="Consolas" pitchFamily="34" charset="-122"/>
                <a:cs typeface="Consolas" pitchFamily="34" charset="-120"/>
              </a:rPr>
              <a:t>Job</a:t>
            </a:r>
            <a:endParaRPr lang="en-IE" sz="1500" dirty="0"/>
          </a:p>
        </p:txBody>
      </p:sp>
      <p:sp>
        <p:nvSpPr>
          <p:cNvPr id="13" name="Text 10"/>
          <p:cNvSpPr txBox="1"/>
          <p:nvPr/>
        </p:nvSpPr>
        <p:spPr>
          <a:xfrm>
            <a:off x="7406640" y="4837938"/>
            <a:ext cx="4206240" cy="402336"/>
          </a:xfrm>
          <a:prstGeom prst="rect">
            <a:avLst/>
          </a:prstGeom>
          <a:noFill/>
          <a:ln/>
        </p:spPr>
        <p:txBody>
          <a:bodyPr wrap="square" lIns="0" tIns="0" rIns="0" bIns="0" rtlCol="0" anchor="ctr"/>
          <a:lstStyle/>
          <a:p>
            <a:pPr indent="0" marL="0">
              <a:buNone/>
            </a:pPr>
            <a:r>
              <a:rPr lang="en-IE" sz="1500" dirty="0">
                <a:solidFill>
                  <a:schemeClr val="tx2"/>
                </a:solidFill>
              </a:rPr>
              <a:t>the class name</a:t>
            </a:r>
            <a:endParaRPr lang="en-IE" sz="1500" dirty="0"/>
          </a:p>
        </p:txBody>
      </p:sp>
      <p:sp>
        <p:nvSpPr>
          <p:cNvPr id="14" name="Code chip"/>
          <p:cNvSpPr/>
          <p:nvPr/>
        </p:nvSpPr>
        <p:spPr>
          <a:xfrm>
            <a:off x="5943600" y="5340858"/>
            <a:ext cx="1325880" cy="402336"/>
          </a:xfrm>
          <a:prstGeom prst="roundRect">
            <a:avLst>
              <a:gd name="adj" fmla="val 18182"/>
            </a:avLst>
          </a:prstGeom>
          <a:solidFill>
            <a:schemeClr val="bg2"/>
          </a:solidFill>
          <a:ln/>
        </p:spPr>
        <p:txBody>
          <a:bodyPr wrap="square" lIns="0" tIns="0" rIns="0" bIns="0" rtlCol="0" anchor="ctr"/>
          <a:lstStyle/>
          <a:p>
            <a:pPr algn="ctr" indent="0" marL="0">
              <a:buNone/>
            </a:pPr>
            <a:r>
              <a:rPr lang="en-IE" sz="1500" dirty="0">
                <a:solidFill>
                  <a:schemeClr val="accent2"/>
                </a:solidFill>
                <a:latin typeface="Consolas" pitchFamily="34" charset="0"/>
                <a:ea typeface="Consolas" pitchFamily="34" charset="-122"/>
                <a:cs typeface="Consolas" pitchFamily="34" charset="-120"/>
              </a:rPr>
              <a:t>@</a:t>
            </a:r>
            <a:endParaRPr lang="en-IE" sz="1500" dirty="0"/>
          </a:p>
        </p:txBody>
      </p:sp>
      <p:sp>
        <p:nvSpPr>
          <p:cNvPr id="15" name="Text 12"/>
          <p:cNvSpPr txBox="1"/>
          <p:nvPr/>
        </p:nvSpPr>
        <p:spPr>
          <a:xfrm>
            <a:off x="7406640" y="5340858"/>
            <a:ext cx="4206240" cy="402336"/>
          </a:xfrm>
          <a:prstGeom prst="rect">
            <a:avLst/>
          </a:prstGeom>
          <a:noFill/>
          <a:ln/>
        </p:spPr>
        <p:txBody>
          <a:bodyPr wrap="square" lIns="0" tIns="0" rIns="0" bIns="0" rtlCol="0" anchor="ctr"/>
          <a:lstStyle/>
          <a:p>
            <a:pPr indent="0" marL="0">
              <a:buNone/>
            </a:pPr>
            <a:r>
              <a:rPr lang="en-IE" sz="1500" dirty="0">
                <a:solidFill>
                  <a:schemeClr val="tx2"/>
                </a:solidFill>
              </a:rPr>
              <a:t>an @ sign</a:t>
            </a:r>
            <a:endParaRPr lang="en-IE" sz="1500" dirty="0"/>
          </a:p>
        </p:txBody>
      </p:sp>
      <p:sp>
        <p:nvSpPr>
          <p:cNvPr id="16" name="Code chip"/>
          <p:cNvSpPr/>
          <p:nvPr/>
        </p:nvSpPr>
        <p:spPr>
          <a:xfrm>
            <a:off x="5943600" y="5843778"/>
            <a:ext cx="1325880" cy="402336"/>
          </a:xfrm>
          <a:prstGeom prst="roundRect">
            <a:avLst>
              <a:gd name="adj" fmla="val 18182"/>
            </a:avLst>
          </a:prstGeom>
          <a:solidFill>
            <a:schemeClr val="bg2"/>
          </a:solidFill>
          <a:ln/>
        </p:spPr>
        <p:txBody>
          <a:bodyPr wrap="square" lIns="0" tIns="0" rIns="0" bIns="0" rtlCol="0" anchor="ctr"/>
          <a:lstStyle/>
          <a:p>
            <a:pPr algn="ctr" indent="0" marL="0">
              <a:buNone/>
            </a:pPr>
            <a:r>
              <a:rPr lang="en-IE" sz="1500" dirty="0">
                <a:solidFill>
                  <a:schemeClr val="accent2"/>
                </a:solidFill>
                <a:latin typeface="Consolas" pitchFamily="34" charset="0"/>
                <a:ea typeface="Consolas" pitchFamily="34" charset="-122"/>
                <a:cs typeface="Consolas" pitchFamily="34" charset="-120"/>
              </a:rPr>
              <a:t>5a07e868</a:t>
            </a:r>
            <a:endParaRPr lang="en-IE" sz="1500" dirty="0"/>
          </a:p>
        </p:txBody>
      </p:sp>
      <p:sp>
        <p:nvSpPr>
          <p:cNvPr id="17" name="Text 14"/>
          <p:cNvSpPr txBox="1"/>
          <p:nvPr/>
        </p:nvSpPr>
        <p:spPr>
          <a:xfrm>
            <a:off x="7406640" y="5843778"/>
            <a:ext cx="4206240" cy="402336"/>
          </a:xfrm>
          <a:prstGeom prst="rect">
            <a:avLst/>
          </a:prstGeom>
          <a:noFill/>
          <a:ln/>
        </p:spPr>
        <p:txBody>
          <a:bodyPr wrap="square" lIns="0" tIns="0" rIns="0" bIns="0" rtlCol="0" anchor="ctr"/>
          <a:lstStyle/>
          <a:p>
            <a:pPr indent="0" marL="0">
              <a:buNone/>
            </a:pPr>
            <a:r>
              <a:rPr lang="en-IE" sz="1500" dirty="0">
                <a:solidFill>
                  <a:schemeClr val="tx2"/>
                </a:solidFill>
              </a:rPr>
              <a:t>the object’s hash code, in hexadecimal</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55</a:t>
            </a:fld>
            <a:endParaRPr lang="en-IE"/>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17</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toString</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The class Job has no toString() method of its own. What does </a:t>
            </a:r>
            <a:r>
              <a:rPr lang="en-IE" sz="2800" b="1" dirty="0">
                <a:solidFill>
                  <a:schemeClr val="accent2"/>
                </a:solidFill>
                <a:latin typeface="Consolas" pitchFamily="34" charset="0"/>
                <a:ea typeface="Consolas" pitchFamily="34" charset="-122"/>
                <a:cs typeface="Consolas" pitchFamily="34" charset="-120"/>
              </a:rPr>
              <a:t>System.out.println(new Job());</a:t>
            </a:r>
            <a:r>
              <a:rPr lang="en-IE" sz="2800" b="1" dirty="0">
                <a:solidFill>
                  <a:schemeClr val="tx1"/>
                </a:solidFill>
              </a:rPr>
              <a:t> print?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 values of all of its attributes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Nothing: the code won’t compile</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Something like </a:t>
            </a:r>
            <a:r>
              <a:rPr lang="en-IE" sz="2000" dirty="0">
                <a:solidFill>
                  <a:schemeClr val="accent2"/>
                </a:solidFill>
                <a:latin typeface="Consolas" pitchFamily="34" charset="0"/>
                <a:ea typeface="Consolas" pitchFamily="34" charset="-122"/>
                <a:cs typeface="Consolas" pitchFamily="34" charset="-120"/>
              </a:rPr>
              <a:t>Job@1b6d3586</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Nothing at all: the line is skipped</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56</a:t>
            </a:fld>
            <a:endParaRPr lang="en-IE"/>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17</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toString</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The class Job has no toString() method of its own. What does </a:t>
            </a:r>
            <a:r>
              <a:rPr lang="en-IE" sz="2000" b="1" dirty="0">
                <a:solidFill>
                  <a:schemeClr val="tx2"/>
                </a:solidFill>
                <a:latin typeface="Consolas" pitchFamily="34" charset="0"/>
                <a:ea typeface="Consolas" pitchFamily="34" charset="-122"/>
                <a:cs typeface="Consolas" pitchFamily="34" charset="-120"/>
              </a:rPr>
              <a:t>System.out.println(new Job());</a:t>
            </a:r>
            <a:r>
              <a:rPr lang="en-IE" sz="2000" b="1" dirty="0">
                <a:solidFill>
                  <a:schemeClr val="tx2"/>
                </a:solidFill>
              </a:rPr>
              <a:t> print?</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 values of all of its attributes</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Nothing: the code won’t compile</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Something like </a:t>
            </a:r>
            <a:r>
              <a:rPr lang="en-IE" sz="1700" b="1" dirty="0">
                <a:solidFill>
                  <a:schemeClr val="bg1"/>
                </a:solidFill>
                <a:latin typeface="Consolas" pitchFamily="34" charset="0"/>
                <a:ea typeface="Consolas" pitchFamily="34" charset="-122"/>
                <a:cs typeface="Consolas" pitchFamily="34" charset="-120"/>
              </a:rPr>
              <a:t>Job@1b6d3586</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Nothing at all: the line is skipped</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Job still has a toString(): the one it inherits from Object. That version gives the class name, an @ sign and a hash code. To print something useful, we override toString().</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57</a:t>
            </a:fld>
            <a:endParaRPr lang="en-IE"/>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TOSTRING, INSTANCEOF AND FINAL</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Our own toString, called for us</a:t>
            </a:r>
            <a:endParaRPr lang="en-IE" sz="3400" dirty="0"/>
          </a:p>
        </p:txBody>
      </p:sp>
      <p:sp>
        <p:nvSpPr>
          <p:cNvPr id="5" name="Text 2"/>
          <p:cNvSpPr txBox="1"/>
          <p:nvPr/>
        </p:nvSpPr>
        <p:spPr>
          <a:xfrm>
            <a:off x="548640" y="1691640"/>
            <a:ext cx="3657600" cy="274320"/>
          </a:xfrm>
          <a:prstGeom prst="rect">
            <a:avLst/>
          </a:prstGeom>
          <a:noFill/>
          <a:ln/>
        </p:spPr>
        <p:txBody>
          <a:bodyPr wrap="square" lIns="0" tIns="0" rIns="0" bIns="0" rtlCol="0" anchor="t"/>
          <a:lstStyle/>
          <a:p>
            <a:pPr indent="0" marL="0">
              <a:buNone/>
            </a:pPr>
            <a:r>
              <a:rPr lang="en-IE" sz="1300" b="1" dirty="0">
                <a:solidFill>
                  <a:schemeClr val="tx2"/>
                </a:solidFill>
              </a:rPr>
              <a:t>In FullTimeEmployee</a:t>
            </a:r>
            <a:endParaRPr lang="en-IE" sz="1300" dirty="0"/>
          </a:p>
        </p:txBody>
      </p:sp>
      <p:sp>
        <p:nvSpPr>
          <p:cNvPr id="6" name="toString card"/>
          <p:cNvSpPr/>
          <p:nvPr/>
        </p:nvSpPr>
        <p:spPr>
          <a:xfrm>
            <a:off x="548640" y="2011680"/>
            <a:ext cx="6035040" cy="2717800"/>
          </a:xfrm>
          <a:prstGeom prst="roundRect">
            <a:avLst>
              <a:gd name="adj" fmla="val 4037"/>
            </a:avLst>
          </a:prstGeom>
          <a:solidFill>
            <a:schemeClr val="tx1"/>
          </a:solidFill>
          <a:ln/>
          <a:effectLst>
            <a:outerShdw sx="100000" sy="100000" kx="0" ky="0" algn="bl" rotWithShape="0" blurRad="114300" dist="31750" dir="5400000">
              <a:srgbClr val="1D2433">
                <a:alpha val="12000"/>
              </a:srgbClr>
            </a:outerShdw>
          </a:effectLst>
        </p:spPr>
      </p:sp>
      <p:sp>
        <p:nvSpPr>
          <p:cNvPr id="7" name="toString text"/>
          <p:cNvSpPr txBox="1"/>
          <p:nvPr/>
        </p:nvSpPr>
        <p:spPr>
          <a:xfrm>
            <a:off x="822960" y="2212848"/>
            <a:ext cx="5486400" cy="2315464"/>
          </a:xfrm>
          <a:prstGeom prst="rect">
            <a:avLst/>
          </a:prstGeom>
          <a:noFill/>
          <a:ln/>
        </p:spPr>
        <p:txBody>
          <a:bodyPr wrap="square" lIns="0" tIns="0" rIns="0" bIns="0" rtlCol="0" anchor="t"/>
          <a:lstStyle/>
          <a:p>
            <a:pPr indent="0" marL="0">
              <a:lnSpc>
                <a:spcPts val="1780"/>
              </a:lnSpc>
              <a:buNone/>
            </a:pPr>
            <a:r>
              <a:rPr lang="en-IE" sz="1350" dirty="0">
                <a:solidFill>
                  <a:srgbClr val="E8C468"/>
                </a:solidFill>
                <a:latin typeface="Consolas" pitchFamily="34" charset="0"/>
                <a:ea typeface="Consolas" pitchFamily="34" charset="-122"/>
                <a:cs typeface="Consolas" pitchFamily="34" charset="-120"/>
              </a:rPr>
              <a:t>@Override</a:t>
            </a:r>
            <a:endParaRPr lang="en-IE" sz="1350" dirty="0"/>
          </a:p>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String</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toString</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String</a:t>
            </a:r>
            <a:r>
              <a:rPr lang="en-IE" sz="1350" dirty="0">
                <a:solidFill>
                  <a:srgbClr val="E6EBF2"/>
                </a:solidFill>
                <a:latin typeface="Consolas" pitchFamily="34" charset="0"/>
                <a:ea typeface="Consolas" pitchFamily="34" charset="-122"/>
                <a:cs typeface="Consolas" pitchFamily="34" charset="-120"/>
              </a:rPr>
              <a:t> myString = </a:t>
            </a:r>
            <a:r>
              <a:rPr lang="en-IE" sz="1350" dirty="0">
                <a:solidFill>
                  <a:srgbClr val="A9DB8C"/>
                </a:solidFill>
                <a:latin typeface="Consolas" pitchFamily="34" charset="0"/>
                <a:ea typeface="Consolas" pitchFamily="34" charset="-122"/>
                <a:cs typeface="Consolas" pitchFamily="34" charset="-120"/>
              </a:rPr>
              <a:t>""</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myString += </a:t>
            </a:r>
            <a:r>
              <a:rPr lang="en-IE" sz="1350" dirty="0">
                <a:solidFill>
                  <a:srgbClr val="A9DB8C"/>
                </a:solidFill>
                <a:latin typeface="Consolas" pitchFamily="34" charset="0"/>
                <a:ea typeface="Consolas" pitchFamily="34" charset="-122"/>
                <a:cs typeface="Consolas" pitchFamily="34" charset="-120"/>
              </a:rPr>
              <a:t>"Name : "</a:t>
            </a:r>
            <a:r>
              <a:rPr lang="en-IE" sz="1350" dirty="0">
                <a:solidFill>
                  <a:srgbClr val="E6EBF2"/>
                </a:solidFill>
                <a:latin typeface="Consolas" pitchFamily="34" charset="0"/>
                <a:ea typeface="Consolas" pitchFamily="34" charset="-122"/>
                <a:cs typeface="Consolas" pitchFamily="34" charset="-120"/>
              </a:rPr>
              <a:t> + </a:t>
            </a:r>
            <a:r>
              <a:rPr lang="en-IE" sz="1350" dirty="0">
                <a:solidFill>
                  <a:srgbClr val="C9B0FF"/>
                </a:solidFill>
                <a:latin typeface="Consolas" pitchFamily="34" charset="0"/>
                <a:ea typeface="Consolas" pitchFamily="34" charset="-122"/>
                <a:cs typeface="Consolas" pitchFamily="34" charset="-120"/>
              </a:rPr>
              <a:t>getName</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myString += </a:t>
            </a:r>
            <a:r>
              <a:rPr lang="en-IE" sz="1350" dirty="0">
                <a:solidFill>
                  <a:srgbClr val="A9DB8C"/>
                </a:solidFill>
                <a:latin typeface="Consolas" pitchFamily="34" charset="0"/>
                <a:ea typeface="Consolas" pitchFamily="34" charset="-122"/>
                <a:cs typeface="Consolas" pitchFamily="34" charset="-120"/>
              </a:rPr>
              <a:t>"\nID : "</a:t>
            </a:r>
            <a:r>
              <a:rPr lang="en-IE" sz="1350" dirty="0">
                <a:solidFill>
                  <a:srgbClr val="E6EBF2"/>
                </a:solidFill>
                <a:latin typeface="Consolas" pitchFamily="34" charset="0"/>
                <a:ea typeface="Consolas" pitchFamily="34" charset="-122"/>
                <a:cs typeface="Consolas" pitchFamily="34" charset="-120"/>
              </a:rPr>
              <a:t> + </a:t>
            </a:r>
            <a:r>
              <a:rPr lang="en-IE" sz="1350" dirty="0">
                <a:solidFill>
                  <a:srgbClr val="C9B0FF"/>
                </a:solidFill>
                <a:latin typeface="Consolas" pitchFamily="34" charset="0"/>
                <a:ea typeface="Consolas" pitchFamily="34" charset="-122"/>
                <a:cs typeface="Consolas" pitchFamily="34" charset="-120"/>
              </a:rPr>
              <a:t>getId</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myString += </a:t>
            </a:r>
            <a:r>
              <a:rPr lang="en-IE" sz="1350" dirty="0">
                <a:solidFill>
                  <a:srgbClr val="A9DB8C"/>
                </a:solidFill>
                <a:latin typeface="Consolas" pitchFamily="34" charset="0"/>
                <a:ea typeface="Consolas" pitchFamily="34" charset="-122"/>
                <a:cs typeface="Consolas" pitchFamily="34" charset="-120"/>
              </a:rPr>
              <a:t>"\nSalary : "</a:t>
            </a:r>
            <a:r>
              <a:rPr lang="en-IE" sz="1350" dirty="0">
                <a:solidFill>
                  <a:srgbClr val="E6EBF2"/>
                </a:solidFill>
                <a:latin typeface="Consolas" pitchFamily="34" charset="0"/>
                <a:ea typeface="Consolas" pitchFamily="34" charset="-122"/>
                <a:cs typeface="Consolas" pitchFamily="34" charset="-120"/>
              </a:rPr>
              <a:t> + salary;</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myString += </a:t>
            </a:r>
            <a:r>
              <a:rPr lang="en-IE" sz="1350" dirty="0">
                <a:solidFill>
                  <a:srgbClr val="A9DB8C"/>
                </a:solidFill>
                <a:latin typeface="Consolas" pitchFamily="34" charset="0"/>
                <a:ea typeface="Consolas" pitchFamily="34" charset="-122"/>
                <a:cs typeface="Consolas" pitchFamily="34" charset="-120"/>
              </a:rPr>
              <a:t>"\nBonus : "</a:t>
            </a:r>
            <a:r>
              <a:rPr lang="en-IE" sz="1350" dirty="0">
                <a:solidFill>
                  <a:srgbClr val="E6EBF2"/>
                </a:solidFill>
                <a:latin typeface="Consolas" pitchFamily="34" charset="0"/>
                <a:ea typeface="Consolas" pitchFamily="34" charset="-122"/>
                <a:cs typeface="Consolas" pitchFamily="34" charset="-120"/>
              </a:rPr>
              <a:t> + bonus;</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myString += </a:t>
            </a:r>
            <a:r>
              <a:rPr lang="en-IE" sz="1350" dirty="0">
                <a:solidFill>
                  <a:srgbClr val="A9DB8C"/>
                </a:solidFill>
                <a:latin typeface="Consolas" pitchFamily="34" charset="0"/>
                <a:ea typeface="Consolas" pitchFamily="34" charset="-122"/>
                <a:cs typeface="Consolas" pitchFamily="34" charset="-120"/>
              </a:rPr>
              <a:t>"\nTotal Pay : "</a:t>
            </a:r>
            <a:r>
              <a:rPr lang="en-IE" sz="1350" dirty="0">
                <a:solidFill>
                  <a:srgbClr val="E6EBF2"/>
                </a:solidFill>
                <a:latin typeface="Consolas" pitchFamily="34" charset="0"/>
                <a:ea typeface="Consolas" pitchFamily="34" charset="-122"/>
                <a:cs typeface="Consolas" pitchFamily="34" charset="-120"/>
              </a:rPr>
              <a:t> + </a:t>
            </a:r>
            <a:r>
              <a:rPr lang="en-IE" sz="1350" dirty="0">
                <a:solidFill>
                  <a:srgbClr val="C9B0FF"/>
                </a:solidFill>
                <a:latin typeface="Consolas" pitchFamily="34" charset="0"/>
                <a:ea typeface="Consolas" pitchFamily="34" charset="-122"/>
                <a:cs typeface="Consolas" pitchFamily="34" charset="-120"/>
              </a:rPr>
              <a:t>calcPay</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return</a:t>
            </a:r>
            <a:r>
              <a:rPr lang="en-IE" sz="1350" dirty="0">
                <a:solidFill>
                  <a:srgbClr val="E6EBF2"/>
                </a:solidFill>
                <a:latin typeface="Consolas" pitchFamily="34" charset="0"/>
                <a:ea typeface="Consolas" pitchFamily="34" charset="-122"/>
                <a:cs typeface="Consolas" pitchFamily="34" charset="-120"/>
              </a:rPr>
              <a:t> myString;</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8" name="Text 5"/>
          <p:cNvSpPr txBox="1"/>
          <p:nvPr/>
        </p:nvSpPr>
        <p:spPr>
          <a:xfrm>
            <a:off x="6903720" y="1691640"/>
            <a:ext cx="3657600" cy="274320"/>
          </a:xfrm>
          <a:prstGeom prst="rect">
            <a:avLst/>
          </a:prstGeom>
          <a:noFill/>
          <a:ln/>
        </p:spPr>
        <p:txBody>
          <a:bodyPr wrap="square" lIns="0" tIns="0" rIns="0" bIns="0" rtlCol="0" anchor="t"/>
          <a:lstStyle/>
          <a:p>
            <a:pPr indent="0" marL="0">
              <a:buNone/>
            </a:pPr>
            <a:r>
              <a:rPr lang="en-IE" sz="1300" b="1" dirty="0">
                <a:solidFill>
                  <a:schemeClr val="tx2"/>
                </a:solidFill>
              </a:rPr>
              <a:t>In main</a:t>
            </a:r>
            <a:endParaRPr lang="en-IE" sz="1300" dirty="0"/>
          </a:p>
        </p:txBody>
      </p:sp>
      <p:sp>
        <p:nvSpPr>
          <p:cNvPr id="9" name="Printing card"/>
          <p:cNvSpPr/>
          <p:nvPr/>
        </p:nvSpPr>
        <p:spPr>
          <a:xfrm>
            <a:off x="6903720" y="2011680"/>
            <a:ext cx="4739335" cy="1330960"/>
          </a:xfrm>
          <a:prstGeom prst="roundRect">
            <a:avLst>
              <a:gd name="adj" fmla="val 8244"/>
            </a:avLst>
          </a:prstGeom>
          <a:solidFill>
            <a:schemeClr val="tx1"/>
          </a:solidFill>
          <a:ln/>
          <a:effectLst>
            <a:outerShdw sx="100000" sy="100000" kx="0" ky="0" algn="bl" rotWithShape="0" blurRad="114300" dist="31750" dir="5400000">
              <a:srgbClr val="1D2433">
                <a:alpha val="12000"/>
              </a:srgbClr>
            </a:outerShdw>
          </a:effectLst>
        </p:spPr>
      </p:sp>
      <p:sp>
        <p:nvSpPr>
          <p:cNvPr id="10" name="Printing text"/>
          <p:cNvSpPr txBox="1"/>
          <p:nvPr/>
        </p:nvSpPr>
        <p:spPr>
          <a:xfrm>
            <a:off x="7178040" y="2212848"/>
            <a:ext cx="4190695" cy="928624"/>
          </a:xfrm>
          <a:prstGeom prst="rect">
            <a:avLst/>
          </a:prstGeom>
          <a:noFill/>
          <a:ln/>
        </p:spPr>
        <p:txBody>
          <a:bodyPr wrap="square" lIns="0" tIns="0" rIns="0" bIns="0" rtlCol="0" anchor="t"/>
          <a:lstStyle/>
          <a:p>
            <a:pPr indent="0" marL="0">
              <a:lnSpc>
                <a:spcPts val="1720"/>
              </a:lnSpc>
              <a:buNone/>
            </a:pPr>
            <a:r>
              <a:rPr lang="en-IE" sz="1300" dirty="0">
                <a:solidFill>
                  <a:srgbClr val="6CC4E8"/>
                </a:solidFill>
                <a:latin typeface="Consolas" pitchFamily="34" charset="0"/>
                <a:ea typeface="Consolas" pitchFamily="34" charset="-122"/>
                <a:cs typeface="Consolas" pitchFamily="34" charset="-120"/>
              </a:rPr>
              <a:t>FullTimeEmployee</a:t>
            </a:r>
            <a:r>
              <a:rPr lang="en-IE" sz="1300" dirty="0">
                <a:solidFill>
                  <a:srgbClr val="E6EBF2"/>
                </a:solidFill>
                <a:latin typeface="Consolas" pitchFamily="34" charset="0"/>
                <a:ea typeface="Consolas" pitchFamily="34" charset="-122"/>
                <a:cs typeface="Consolas" pitchFamily="34" charset="-120"/>
              </a:rPr>
              <a:t> employee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new</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FullTimeEmployee</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A9DB8C"/>
                </a:solidFill>
                <a:latin typeface="Consolas" pitchFamily="34" charset="0"/>
                <a:ea typeface="Consolas" pitchFamily="34" charset="-122"/>
                <a:cs typeface="Consolas" pitchFamily="34" charset="-120"/>
              </a:rPr>
              <a:t>"Ann"</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2C14E"/>
                </a:solidFill>
                <a:latin typeface="Consolas" pitchFamily="34" charset="0"/>
                <a:ea typeface="Consolas" pitchFamily="34" charset="-122"/>
                <a:cs typeface="Consolas" pitchFamily="34" charset="-120"/>
              </a:rPr>
              <a:t>1</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2C14E"/>
                </a:solidFill>
                <a:latin typeface="Consolas" pitchFamily="34" charset="0"/>
                <a:ea typeface="Consolas" pitchFamily="34" charset="-122"/>
                <a:cs typeface="Consolas" pitchFamily="34" charset="-120"/>
              </a:rPr>
              <a:t>30000</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2C14E"/>
                </a:solidFill>
                <a:latin typeface="Consolas" pitchFamily="34" charset="0"/>
                <a:ea typeface="Consolas" pitchFamily="34" charset="-122"/>
                <a:cs typeface="Consolas" pitchFamily="34" charset="-120"/>
              </a:rPr>
              <a:t>2000</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6CC4E8"/>
                </a:solidFill>
                <a:latin typeface="Consolas" pitchFamily="34" charset="0"/>
                <a:ea typeface="Consolas" pitchFamily="34" charset="-122"/>
                <a:cs typeface="Consolas" pitchFamily="34" charset="-120"/>
              </a:rPr>
              <a:t>System</a:t>
            </a:r>
            <a:r>
              <a:rPr lang="en-IE" sz="1300" dirty="0">
                <a:solidFill>
                  <a:srgbClr val="E6EBF2"/>
                </a:solidFill>
                <a:latin typeface="Consolas" pitchFamily="34" charset="0"/>
                <a:ea typeface="Consolas" pitchFamily="34" charset="-122"/>
                <a:cs typeface="Consolas" pitchFamily="34" charset="-120"/>
              </a:rPr>
              <a:t>.out.</a:t>
            </a:r>
            <a:r>
              <a:rPr lang="en-IE" sz="1300" dirty="0">
                <a:solidFill>
                  <a:srgbClr val="C9B0FF"/>
                </a:solidFill>
                <a:latin typeface="Consolas" pitchFamily="34" charset="0"/>
                <a:ea typeface="Consolas" pitchFamily="34" charset="-122"/>
                <a:cs typeface="Consolas" pitchFamily="34" charset="-120"/>
              </a:rPr>
              <a:t>println</a:t>
            </a:r>
            <a:r>
              <a:rPr lang="en-IE" sz="1300" dirty="0">
                <a:solidFill>
                  <a:srgbClr val="E6EBF2"/>
                </a:solidFill>
                <a:latin typeface="Consolas" pitchFamily="34" charset="0"/>
                <a:ea typeface="Consolas" pitchFamily="34" charset="-122"/>
                <a:cs typeface="Consolas" pitchFamily="34" charset="-120"/>
              </a:rPr>
              <a:t>(employee);</a:t>
            </a:r>
            <a:endParaRPr lang="en-IE" sz="1300" dirty="0"/>
          </a:p>
        </p:txBody>
      </p:sp>
      <p:sp>
        <p:nvSpPr>
          <p:cNvPr id="11" name="Output card"/>
          <p:cNvSpPr/>
          <p:nvPr/>
        </p:nvSpPr>
        <p:spPr>
          <a:xfrm>
            <a:off x="6903720" y="3571240"/>
            <a:ext cx="4739335" cy="1874520"/>
          </a:xfrm>
          <a:prstGeom prst="roundRect">
            <a:avLst>
              <a:gd name="adj" fmla="val 5854"/>
            </a:avLst>
          </a:prstGeom>
          <a:solidFill>
            <a:schemeClr val="tx1"/>
          </a:solidFill>
          <a:ln/>
          <a:effectLst>
            <a:outerShdw sx="100000" sy="100000" kx="0" ky="0" algn="bl" rotWithShape="0" blurRad="114300" dist="31750" dir="5400000">
              <a:srgbClr val="1D2433">
                <a:alpha val="12000"/>
              </a:srgbClr>
            </a:outerShdw>
          </a:effectLst>
        </p:spPr>
      </p:sp>
      <p:sp>
        <p:nvSpPr>
          <p:cNvPr id="12" name="Text 9"/>
          <p:cNvSpPr txBox="1"/>
          <p:nvPr/>
        </p:nvSpPr>
        <p:spPr>
          <a:xfrm>
            <a:off x="7178040" y="3690112"/>
            <a:ext cx="419069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Output</a:t>
            </a:r>
            <a:endParaRPr lang="en-IE" sz="1050" dirty="0"/>
          </a:p>
        </p:txBody>
      </p:sp>
      <p:sp>
        <p:nvSpPr>
          <p:cNvPr id="13" name="Output text"/>
          <p:cNvSpPr txBox="1"/>
          <p:nvPr/>
        </p:nvSpPr>
        <p:spPr>
          <a:xfrm>
            <a:off x="7178040" y="4028440"/>
            <a:ext cx="4190695" cy="1234440"/>
          </a:xfrm>
          <a:prstGeom prst="rect">
            <a:avLst/>
          </a:prstGeom>
          <a:noFill/>
          <a:ln/>
        </p:spPr>
        <p:txBody>
          <a:bodyPr wrap="square" lIns="0" tIns="0" rIns="0" bIns="0" rtlCol="0" anchor="t"/>
          <a:lstStyle/>
          <a:p>
            <a:pPr indent="0" marL="0">
              <a:lnSpc>
                <a:spcPts val="1755"/>
              </a:lnSpc>
              <a:buNone/>
            </a:pPr>
            <a:r>
              <a:rPr lang="en-IE" sz="1300" dirty="0">
                <a:solidFill>
                  <a:srgbClr val="A9DB8C"/>
                </a:solidFill>
                <a:latin typeface="Consolas" pitchFamily="34" charset="0"/>
                <a:ea typeface="Consolas" pitchFamily="34" charset="-122"/>
                <a:cs typeface="Consolas" pitchFamily="34" charset="-120"/>
              </a:rPr>
              <a:t>Name : Ann</a:t>
            </a:r>
            <a:endParaRPr lang="en-IE" sz="1300" dirty="0"/>
          </a:p>
          <a:p>
            <a:pPr indent="0" marL="0">
              <a:lnSpc>
                <a:spcPts val="1755"/>
              </a:lnSpc>
              <a:buNone/>
            </a:pPr>
            <a:r>
              <a:rPr lang="en-IE" sz="1300" dirty="0">
                <a:solidFill>
                  <a:srgbClr val="A9DB8C"/>
                </a:solidFill>
                <a:latin typeface="Consolas" pitchFamily="34" charset="0"/>
                <a:ea typeface="Consolas" pitchFamily="34" charset="-122"/>
                <a:cs typeface="Consolas" pitchFamily="34" charset="-120"/>
              </a:rPr>
              <a:t>ID : 1</a:t>
            </a:r>
            <a:endParaRPr lang="en-IE" sz="1300" dirty="0"/>
          </a:p>
          <a:p>
            <a:pPr indent="0" marL="0">
              <a:lnSpc>
                <a:spcPts val="1755"/>
              </a:lnSpc>
              <a:buNone/>
            </a:pPr>
            <a:r>
              <a:rPr lang="en-IE" sz="1300" dirty="0">
                <a:solidFill>
                  <a:srgbClr val="A9DB8C"/>
                </a:solidFill>
                <a:latin typeface="Consolas" pitchFamily="34" charset="0"/>
                <a:ea typeface="Consolas" pitchFamily="34" charset="-122"/>
                <a:cs typeface="Consolas" pitchFamily="34" charset="-120"/>
              </a:rPr>
              <a:t>Salary : 30000.0</a:t>
            </a:r>
            <a:endParaRPr lang="en-IE" sz="1300" dirty="0"/>
          </a:p>
          <a:p>
            <a:pPr indent="0" marL="0">
              <a:lnSpc>
                <a:spcPts val="1755"/>
              </a:lnSpc>
              <a:buNone/>
            </a:pPr>
            <a:r>
              <a:rPr lang="en-IE" sz="1300" dirty="0">
                <a:solidFill>
                  <a:srgbClr val="A9DB8C"/>
                </a:solidFill>
                <a:latin typeface="Consolas" pitchFamily="34" charset="0"/>
                <a:ea typeface="Consolas" pitchFamily="34" charset="-122"/>
                <a:cs typeface="Consolas" pitchFamily="34" charset="-120"/>
              </a:rPr>
              <a:t>Bonus : 2000.0</a:t>
            </a:r>
            <a:endParaRPr lang="en-IE" sz="1300" dirty="0"/>
          </a:p>
          <a:p>
            <a:pPr indent="0" marL="0">
              <a:lnSpc>
                <a:spcPts val="1755"/>
              </a:lnSpc>
              <a:buNone/>
            </a:pPr>
            <a:r>
              <a:rPr lang="en-IE" sz="1300" dirty="0">
                <a:solidFill>
                  <a:srgbClr val="A9DB8C"/>
                </a:solidFill>
                <a:latin typeface="Consolas" pitchFamily="34" charset="0"/>
                <a:ea typeface="Consolas" pitchFamily="34" charset="-122"/>
                <a:cs typeface="Consolas" pitchFamily="34" charset="-120"/>
              </a:rPr>
              <a:t>Total Pay : 32000.0</a:t>
            </a:r>
            <a:endParaRPr lang="en-IE" sz="1300" dirty="0"/>
          </a:p>
        </p:txBody>
      </p:sp>
      <p:sp>
        <p:nvSpPr>
          <p:cNvPr id="14" name="Note"/>
          <p:cNvSpPr/>
          <p:nvPr/>
        </p:nvSpPr>
        <p:spPr>
          <a:xfrm>
            <a:off x="548640" y="5003800"/>
            <a:ext cx="6035040" cy="868680"/>
          </a:xfrm>
          <a:prstGeom prst="roundRect">
            <a:avLst>
              <a:gd name="adj" fmla="val 12632"/>
            </a:avLst>
          </a:prstGeom>
          <a:solidFill>
            <a:schemeClr val="bg2"/>
          </a:solidFill>
          <a:ln/>
        </p:spPr>
      </p:sp>
      <p:sp>
        <p:nvSpPr>
          <p:cNvPr id="15" name="Icon tile"/>
          <p:cNvSpPr/>
          <p:nvPr/>
        </p:nvSpPr>
        <p:spPr>
          <a:xfrm>
            <a:off x="822960" y="5172964"/>
            <a:ext cx="530352" cy="530352"/>
          </a:xfrm>
          <a:prstGeom prst="roundRect">
            <a:avLst>
              <a:gd name="adj" fmla="val 24000"/>
            </a:avLst>
          </a:prstGeom>
          <a:solidFill>
            <a:schemeClr val="accent1">
              <a:alpha val="14000"/>
            </a:schemeClr>
          </a:solidFill>
          <a:ln/>
        </p:spPr>
      </p:sp>
      <p:pic>
        <p:nvPicPr>
          <p:cNvPr id="16" name="printer icon" descr="printer icon">    </p:cNvPr>
          <p:cNvPicPr>
            <a:picLocks noChangeAspect="1"/>
          </p:cNvPicPr>
          <p:nvPr/>
        </p:nvPicPr>
        <p:blipFill>
          <a:blip r:embed="rId1"/>
          <a:stretch>
            <a:fillRect/>
          </a:stretch>
        </p:blipFill>
        <p:spPr>
          <a:xfrm>
            <a:off x="934334" y="5284338"/>
            <a:ext cx="307604" cy="307604"/>
          </a:xfrm>
          <a:prstGeom prst="rect">
            <a:avLst/>
          </a:prstGeom>
        </p:spPr>
      </p:pic>
      <p:sp>
        <p:nvSpPr>
          <p:cNvPr id="17" name="Text 13"/>
          <p:cNvSpPr txBox="1"/>
          <p:nvPr/>
        </p:nvSpPr>
        <p:spPr>
          <a:xfrm>
            <a:off x="1572768" y="5003800"/>
            <a:ext cx="4754880" cy="868680"/>
          </a:xfrm>
          <a:prstGeom prst="rect">
            <a:avLst/>
          </a:prstGeom>
          <a:noFill/>
          <a:ln/>
        </p:spPr>
        <p:txBody>
          <a:bodyPr wrap="square" lIns="0" tIns="0" rIns="0" bIns="0" rtlCol="0" anchor="ctr"/>
          <a:lstStyle/>
          <a:p>
            <a:pPr indent="0" marL="0">
              <a:buNone/>
            </a:pPr>
            <a:r>
              <a:rPr lang="en-IE" sz="1550" dirty="0">
                <a:solidFill>
                  <a:schemeClr val="tx1"/>
                </a:solidFill>
              </a:rPr>
              <a:t>Employee is abstract, so we print a FullTimeEmployee, and println calls its toString() for us.</a:t>
            </a:r>
            <a:endParaRPr lang="en-IE" sz="15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58</a:t>
            </a:fld>
            <a:endParaRPr lang="en-IE"/>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18</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toString</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method does </a:t>
            </a:r>
            <a:r>
              <a:rPr lang="en-IE" sz="2800" b="1" dirty="0">
                <a:solidFill>
                  <a:schemeClr val="accent2"/>
                </a:solidFill>
                <a:latin typeface="Consolas" pitchFamily="34" charset="0"/>
                <a:ea typeface="Consolas" pitchFamily="34" charset="-122"/>
                <a:cs typeface="Consolas" pitchFamily="34" charset="-120"/>
              </a:rPr>
              <a:t>System.out.println(employee);</a:t>
            </a:r>
            <a:r>
              <a:rPr lang="en-IE" sz="2800" b="1" dirty="0">
                <a:solidFill>
                  <a:schemeClr val="tx1"/>
                </a:solidFill>
              </a:rPr>
              <a:t> call for us?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getName()</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toString()</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equals()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calcPay()</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59</a:t>
            </a:fld>
            <a:endParaRPr lang="en-IE"/>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18</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toString</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method does </a:t>
            </a:r>
            <a:r>
              <a:rPr lang="en-IE" sz="2000" b="1" dirty="0">
                <a:solidFill>
                  <a:schemeClr val="tx2"/>
                </a:solidFill>
                <a:latin typeface="Consolas" pitchFamily="34" charset="0"/>
                <a:ea typeface="Consolas" pitchFamily="34" charset="-122"/>
                <a:cs typeface="Consolas" pitchFamily="34" charset="-120"/>
              </a:rPr>
              <a:t>System.out.println(employee);</a:t>
            </a:r>
            <a:r>
              <a:rPr lang="en-IE" sz="2000" b="1" dirty="0">
                <a:solidFill>
                  <a:schemeClr val="tx2"/>
                </a:solidFill>
              </a:rPr>
              <a:t> call for us?</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getName()</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toString()</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equals()</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calcPay()</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We don’t need to call toString() ourselves. When we print an object, Java calls its toString() automatically and prints the text it returns.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60</a:t>
            </a:fld>
            <a:endParaRPr lang="en-IE"/>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TOSTRING, INSTANCEOF AND FINAL</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Checking types with instanceof</a:t>
            </a:r>
            <a:endParaRPr lang="en-IE" sz="3400" dirty="0"/>
          </a:p>
        </p:txBody>
      </p:sp>
      <p:sp>
        <p:nvSpPr>
          <p:cNvPr id="5" name="Text 2"/>
          <p:cNvSpPr txBox="1"/>
          <p:nvPr/>
        </p:nvSpPr>
        <p:spPr>
          <a:xfrm>
            <a:off x="548640" y="1783080"/>
            <a:ext cx="5120640" cy="2011680"/>
          </a:xfrm>
          <a:prstGeom prst="rect">
            <a:avLst/>
          </a:prstGeom>
          <a:noFill/>
          <a:ln/>
        </p:spPr>
        <p:txBody>
          <a:bodyPr wrap="square" lIns="0" tIns="0" rIns="0" bIns="0" rtlCol="0" anchor="t"/>
          <a:lstStyle/>
          <a:p>
            <a:pPr marL="228600" indent="-228600">
              <a:spcAft>
                <a:spcPts val="1400"/>
              </a:spcAft>
              <a:buSzPct val="100000"/>
              <a:buChar char="•"/>
            </a:pPr>
            <a:r>
              <a:rPr lang="en-IE" sz="1900" dirty="0">
                <a:solidFill>
                  <a:schemeClr val="tx1"/>
                </a:solidFill>
              </a:rPr>
              <a:t>To check whether an object is an instance of a class, or of one of its children, we use instanceof.</a:t>
            </a:r>
            <a:endParaRPr lang="en-IE" sz="1900" dirty="0"/>
          </a:p>
          <a:p>
            <a:pPr marL="228600" indent="-228600">
              <a:buSzPct val="100000"/>
              <a:buChar char="•"/>
            </a:pPr>
            <a:r>
              <a:rPr lang="en-IE" sz="1900" dirty="0">
                <a:solidFill>
                  <a:schemeClr val="tx1"/>
                </a:solidFill>
              </a:rPr>
              <a:t>It returns true or false.</a:t>
            </a:r>
            <a:endParaRPr lang="en-IE" sz="1900" dirty="0"/>
          </a:p>
        </p:txBody>
      </p:sp>
      <p:sp>
        <p:nvSpPr>
          <p:cNvPr id="6" name="instanceof card"/>
          <p:cNvSpPr/>
          <p:nvPr/>
        </p:nvSpPr>
        <p:spPr>
          <a:xfrm>
            <a:off x="548640" y="3886200"/>
            <a:ext cx="4937760" cy="2060448"/>
          </a:xfrm>
          <a:prstGeom prst="roundRect">
            <a:avLst>
              <a:gd name="adj" fmla="val 5325"/>
            </a:avLst>
          </a:prstGeom>
          <a:solidFill>
            <a:schemeClr val="tx1"/>
          </a:solidFill>
          <a:ln/>
          <a:effectLst>
            <a:outerShdw sx="100000" sy="100000" kx="0" ky="0" algn="bl" rotWithShape="0" blurRad="114300" dist="31750" dir="5400000">
              <a:srgbClr val="1D2433">
                <a:alpha val="12000"/>
              </a:srgbClr>
            </a:outerShdw>
          </a:effectLst>
        </p:spPr>
      </p:sp>
      <p:sp>
        <p:nvSpPr>
          <p:cNvPr id="7" name="instanceof language"/>
          <p:cNvSpPr txBox="1"/>
          <p:nvPr/>
        </p:nvSpPr>
        <p:spPr>
          <a:xfrm>
            <a:off x="822960" y="4005072"/>
            <a:ext cx="438912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instanceof text"/>
          <p:cNvSpPr txBox="1"/>
          <p:nvPr/>
        </p:nvSpPr>
        <p:spPr>
          <a:xfrm>
            <a:off x="822960" y="4379976"/>
            <a:ext cx="4389120" cy="1365504"/>
          </a:xfrm>
          <a:prstGeom prst="rect">
            <a:avLst/>
          </a:prstGeom>
          <a:noFill/>
          <a:ln/>
        </p:spPr>
        <p:txBody>
          <a:bodyPr wrap="square" lIns="0" tIns="0" rIns="0" bIns="0" rtlCol="0" anchor="t"/>
          <a:lstStyle/>
          <a:p>
            <a:pPr indent="0" marL="0">
              <a:lnSpc>
                <a:spcPts val="1720"/>
              </a:lnSpc>
              <a:buNone/>
            </a:pPr>
            <a:r>
              <a:rPr lang="en-IE" sz="1300" dirty="0">
                <a:solidFill>
                  <a:srgbClr val="6CC4E8"/>
                </a:solidFill>
                <a:latin typeface="Consolas" pitchFamily="34" charset="0"/>
                <a:ea typeface="Consolas" pitchFamily="34" charset="-122"/>
                <a:cs typeface="Consolas" pitchFamily="34" charset="-120"/>
              </a:rPr>
              <a:t>Car</a:t>
            </a:r>
            <a:r>
              <a:rPr lang="en-IE" sz="1300" dirty="0">
                <a:solidFill>
                  <a:srgbClr val="E6EBF2"/>
                </a:solidFill>
                <a:latin typeface="Consolas" pitchFamily="34" charset="0"/>
                <a:ea typeface="Consolas" pitchFamily="34" charset="-122"/>
                <a:cs typeface="Consolas" pitchFamily="34" charset="-120"/>
              </a:rPr>
              <a:t> car = </a:t>
            </a:r>
            <a:r>
              <a:rPr lang="en-IE" sz="1300" dirty="0">
                <a:solidFill>
                  <a:srgbClr val="FF9F5A"/>
                </a:solidFill>
                <a:latin typeface="Consolas" pitchFamily="34" charset="0"/>
                <a:ea typeface="Consolas" pitchFamily="34" charset="-122"/>
                <a:cs typeface="Consolas" pitchFamily="34" charset="-120"/>
              </a:rPr>
              <a:t>new</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Car</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6CC4E8"/>
                </a:solidFill>
                <a:latin typeface="Consolas" pitchFamily="34" charset="0"/>
                <a:ea typeface="Consolas" pitchFamily="34" charset="-122"/>
                <a:cs typeface="Consolas" pitchFamily="34" charset="-120"/>
              </a:rPr>
              <a:t>Vehicle</a:t>
            </a:r>
            <a:r>
              <a:rPr lang="en-IE" sz="1300" dirty="0">
                <a:solidFill>
                  <a:srgbClr val="E6EBF2"/>
                </a:solidFill>
                <a:latin typeface="Consolas" pitchFamily="34" charset="0"/>
                <a:ea typeface="Consolas" pitchFamily="34" charset="-122"/>
                <a:cs typeface="Consolas" pitchFamily="34" charset="-120"/>
              </a:rPr>
              <a:t> boat = </a:t>
            </a:r>
            <a:r>
              <a:rPr lang="en-IE" sz="1300" dirty="0">
                <a:solidFill>
                  <a:srgbClr val="FF9F5A"/>
                </a:solidFill>
                <a:latin typeface="Consolas" pitchFamily="34" charset="0"/>
                <a:ea typeface="Consolas" pitchFamily="34" charset="-122"/>
                <a:cs typeface="Consolas" pitchFamily="34" charset="-120"/>
              </a:rPr>
              <a:t>new</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Boat</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if</a:t>
            </a:r>
            <a:r>
              <a:rPr lang="en-IE" sz="1300" dirty="0">
                <a:solidFill>
                  <a:srgbClr val="E6EBF2"/>
                </a:solidFill>
                <a:latin typeface="Consolas" pitchFamily="34" charset="0"/>
                <a:ea typeface="Consolas" pitchFamily="34" charset="-122"/>
                <a:cs typeface="Consolas" pitchFamily="34" charset="-120"/>
              </a:rPr>
              <a:t> (car </a:t>
            </a:r>
            <a:r>
              <a:rPr lang="en-IE" sz="1300" dirty="0">
                <a:solidFill>
                  <a:srgbClr val="FF9F5A"/>
                </a:solidFill>
                <a:latin typeface="Consolas" pitchFamily="34" charset="0"/>
                <a:ea typeface="Consolas" pitchFamily="34" charset="-122"/>
                <a:cs typeface="Consolas" pitchFamily="34" charset="-120"/>
              </a:rPr>
              <a:t>instanceof</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Vehicle</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System</a:t>
            </a:r>
            <a:r>
              <a:rPr lang="en-IE" sz="1300" dirty="0">
                <a:solidFill>
                  <a:srgbClr val="E6EBF2"/>
                </a:solidFill>
                <a:latin typeface="Consolas" pitchFamily="34" charset="0"/>
                <a:ea typeface="Consolas" pitchFamily="34" charset="-122"/>
                <a:cs typeface="Consolas" pitchFamily="34" charset="-120"/>
              </a:rPr>
              <a:t>.out.</a:t>
            </a:r>
            <a:r>
              <a:rPr lang="en-IE" sz="1300" dirty="0">
                <a:solidFill>
                  <a:srgbClr val="C9B0FF"/>
                </a:solidFill>
                <a:latin typeface="Consolas" pitchFamily="34" charset="0"/>
                <a:ea typeface="Consolas" pitchFamily="34" charset="-122"/>
                <a:cs typeface="Consolas" pitchFamily="34" charset="-120"/>
              </a:rPr>
              <a:t>println</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A9DB8C"/>
                </a:solidFill>
                <a:latin typeface="Consolas" pitchFamily="34" charset="0"/>
                <a:ea typeface="Consolas" pitchFamily="34" charset="-122"/>
                <a:cs typeface="Consolas" pitchFamily="34" charset="-120"/>
              </a:rPr>
              <a:t>"car is a Vehicle"</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9" name="Text 6"/>
          <p:cNvSpPr txBox="1"/>
          <p:nvPr/>
        </p:nvSpPr>
        <p:spPr>
          <a:xfrm>
            <a:off x="5897880" y="1783080"/>
            <a:ext cx="5760720" cy="320040"/>
          </a:xfrm>
          <a:prstGeom prst="rect">
            <a:avLst/>
          </a:prstGeom>
          <a:noFill/>
          <a:ln/>
        </p:spPr>
        <p:txBody>
          <a:bodyPr wrap="square" lIns="0" tIns="0" rIns="0" bIns="0" rtlCol="0" anchor="t"/>
          <a:lstStyle/>
          <a:p>
            <a:pPr indent="0" marL="0">
              <a:buNone/>
            </a:pPr>
            <a:r>
              <a:rPr lang="en-IE" sz="1500" b="1" dirty="0">
                <a:solidFill>
                  <a:schemeClr val="tx2"/>
                </a:solidFill>
              </a:rPr>
              <a:t>With Car and Boat both extending Vehicle:</a:t>
            </a:r>
            <a:endParaRPr lang="en-IE" sz="1500" dirty="0"/>
          </a:p>
        </p:txBody>
      </p:sp>
      <p:sp>
        <p:nvSpPr>
          <p:cNvPr id="10" name="car instanceof Car"/>
          <p:cNvSpPr/>
          <p:nvPr/>
        </p:nvSpPr>
        <p:spPr>
          <a:xfrm>
            <a:off x="5897880" y="2286000"/>
            <a:ext cx="5745175" cy="841248"/>
          </a:xfrm>
          <a:prstGeom prst="roundRect">
            <a:avLst>
              <a:gd name="adj" fmla="val 13043"/>
            </a:avLst>
          </a:prstGeom>
          <a:solidFill>
            <a:schemeClr val="bg1"/>
          </a:solidFill>
          <a:ln/>
          <a:effectLst>
            <a:outerShdw sx="100000" sy="100000" kx="0" ky="0" algn="bl" rotWithShape="0" blurRad="114300" dist="31750" dir="5400000">
              <a:srgbClr val="1D2433">
                <a:alpha val="12000"/>
              </a:srgbClr>
            </a:outerShdw>
          </a:effectLst>
        </p:spPr>
      </p:sp>
      <p:sp>
        <p:nvSpPr>
          <p:cNvPr id="11" name="Text 8"/>
          <p:cNvSpPr txBox="1"/>
          <p:nvPr/>
        </p:nvSpPr>
        <p:spPr>
          <a:xfrm>
            <a:off x="6172200" y="2286000"/>
            <a:ext cx="3566160" cy="841248"/>
          </a:xfrm>
          <a:prstGeom prst="rect">
            <a:avLst/>
          </a:prstGeom>
          <a:noFill/>
          <a:ln/>
        </p:spPr>
        <p:txBody>
          <a:bodyPr wrap="square" lIns="0" tIns="0" rIns="0" bIns="0" rtlCol="0" anchor="ctr"/>
          <a:lstStyle/>
          <a:p>
            <a:pPr indent="0" marL="0">
              <a:buNone/>
            </a:pPr>
            <a:r>
              <a:rPr lang="en-IE" sz="1700" b="1" dirty="0">
                <a:solidFill>
                  <a:schemeClr val="tx1"/>
                </a:solidFill>
                <a:latin typeface="Consolas" pitchFamily="34" charset="0"/>
                <a:ea typeface="Consolas" pitchFamily="34" charset="-122"/>
                <a:cs typeface="Consolas" pitchFamily="34" charset="-120"/>
              </a:rPr>
              <a:t>car instanceof Car</a:t>
            </a:r>
            <a:endParaRPr lang="en-IE" sz="1700" dirty="0"/>
          </a:p>
        </p:txBody>
      </p:sp>
      <p:sp>
        <p:nvSpPr>
          <p:cNvPr id="12" name="Result"/>
          <p:cNvSpPr/>
          <p:nvPr/>
        </p:nvSpPr>
        <p:spPr>
          <a:xfrm>
            <a:off x="9921240" y="2468880"/>
            <a:ext cx="1097280" cy="475488"/>
          </a:xfrm>
          <a:prstGeom prst="roundRect">
            <a:avLst>
              <a:gd name="adj" fmla="val 50000"/>
            </a:avLst>
          </a:prstGeom>
          <a:solidFill>
            <a:schemeClr val="accent3"/>
          </a:solidFill>
          <a:ln/>
        </p:spPr>
        <p:txBody>
          <a:bodyPr wrap="square" lIns="0" tIns="0" rIns="0" bIns="0" rtlCol="0" anchor="ctr"/>
          <a:lstStyle/>
          <a:p>
            <a:pPr algn="ctr" indent="0" marL="0">
              <a:buNone/>
            </a:pPr>
            <a:r>
              <a:rPr lang="en-IE" sz="1600" b="1" dirty="0">
                <a:solidFill>
                  <a:schemeClr val="bg1"/>
                </a:solidFill>
                <a:latin typeface="Consolas" pitchFamily="34" charset="0"/>
                <a:ea typeface="Consolas" pitchFamily="34" charset="-122"/>
                <a:cs typeface="Consolas" pitchFamily="34" charset="-120"/>
              </a:rPr>
              <a:t>true</a:t>
            </a:r>
            <a:endParaRPr lang="en-IE" sz="1600" dirty="0"/>
          </a:p>
        </p:txBody>
      </p:sp>
      <p:sp>
        <p:nvSpPr>
          <p:cNvPr id="13" name="car instanceof Vehicle"/>
          <p:cNvSpPr/>
          <p:nvPr/>
        </p:nvSpPr>
        <p:spPr>
          <a:xfrm>
            <a:off x="5897880" y="3310128"/>
            <a:ext cx="5745175" cy="841248"/>
          </a:xfrm>
          <a:prstGeom prst="roundRect">
            <a:avLst>
              <a:gd name="adj" fmla="val 13043"/>
            </a:avLst>
          </a:prstGeom>
          <a:solidFill>
            <a:schemeClr val="bg1"/>
          </a:solidFill>
          <a:ln/>
          <a:effectLst>
            <a:outerShdw sx="100000" sy="100000" kx="0" ky="0" algn="bl" rotWithShape="0" blurRad="114300" dist="31750" dir="5400000">
              <a:srgbClr val="1D2433">
                <a:alpha val="12000"/>
              </a:srgbClr>
            </a:outerShdw>
          </a:effectLst>
        </p:spPr>
      </p:sp>
      <p:sp>
        <p:nvSpPr>
          <p:cNvPr id="14" name="Text 11"/>
          <p:cNvSpPr txBox="1"/>
          <p:nvPr/>
        </p:nvSpPr>
        <p:spPr>
          <a:xfrm>
            <a:off x="6172200" y="3310128"/>
            <a:ext cx="3566160" cy="841248"/>
          </a:xfrm>
          <a:prstGeom prst="rect">
            <a:avLst/>
          </a:prstGeom>
          <a:noFill/>
          <a:ln/>
        </p:spPr>
        <p:txBody>
          <a:bodyPr wrap="square" lIns="0" tIns="0" rIns="0" bIns="0" rtlCol="0" anchor="ctr"/>
          <a:lstStyle/>
          <a:p>
            <a:pPr indent="0" marL="0">
              <a:buNone/>
            </a:pPr>
            <a:r>
              <a:rPr lang="en-IE" sz="1700" b="1" dirty="0">
                <a:solidFill>
                  <a:schemeClr val="tx1"/>
                </a:solidFill>
                <a:latin typeface="Consolas" pitchFamily="34" charset="0"/>
                <a:ea typeface="Consolas" pitchFamily="34" charset="-122"/>
                <a:cs typeface="Consolas" pitchFamily="34" charset="-120"/>
              </a:rPr>
              <a:t>car instanceof Vehicle</a:t>
            </a:r>
            <a:endParaRPr lang="en-IE" sz="1700" dirty="0"/>
          </a:p>
        </p:txBody>
      </p:sp>
      <p:sp>
        <p:nvSpPr>
          <p:cNvPr id="15" name="Result"/>
          <p:cNvSpPr/>
          <p:nvPr/>
        </p:nvSpPr>
        <p:spPr>
          <a:xfrm>
            <a:off x="9921240" y="3493008"/>
            <a:ext cx="1097280" cy="475488"/>
          </a:xfrm>
          <a:prstGeom prst="roundRect">
            <a:avLst>
              <a:gd name="adj" fmla="val 50000"/>
            </a:avLst>
          </a:prstGeom>
          <a:solidFill>
            <a:schemeClr val="accent3"/>
          </a:solidFill>
          <a:ln/>
        </p:spPr>
        <p:txBody>
          <a:bodyPr wrap="square" lIns="0" tIns="0" rIns="0" bIns="0" rtlCol="0" anchor="ctr"/>
          <a:lstStyle/>
          <a:p>
            <a:pPr algn="ctr" indent="0" marL="0">
              <a:buNone/>
            </a:pPr>
            <a:r>
              <a:rPr lang="en-IE" sz="1600" b="1" dirty="0">
                <a:solidFill>
                  <a:schemeClr val="bg1"/>
                </a:solidFill>
                <a:latin typeface="Consolas" pitchFamily="34" charset="0"/>
                <a:ea typeface="Consolas" pitchFamily="34" charset="-122"/>
                <a:cs typeface="Consolas" pitchFamily="34" charset="-120"/>
              </a:rPr>
              <a:t>true</a:t>
            </a:r>
            <a:endParaRPr lang="en-IE" sz="1600" dirty="0"/>
          </a:p>
        </p:txBody>
      </p:sp>
      <p:sp>
        <p:nvSpPr>
          <p:cNvPr id="16" name="boat instanceof Car"/>
          <p:cNvSpPr/>
          <p:nvPr/>
        </p:nvSpPr>
        <p:spPr>
          <a:xfrm>
            <a:off x="5897880" y="4334256"/>
            <a:ext cx="5745175" cy="841248"/>
          </a:xfrm>
          <a:prstGeom prst="roundRect">
            <a:avLst>
              <a:gd name="adj" fmla="val 13043"/>
            </a:avLst>
          </a:prstGeom>
          <a:solidFill>
            <a:schemeClr val="bg1"/>
          </a:solidFill>
          <a:ln/>
          <a:effectLst>
            <a:outerShdw sx="100000" sy="100000" kx="0" ky="0" algn="bl" rotWithShape="0" blurRad="114300" dist="31750" dir="5400000">
              <a:srgbClr val="1D2433">
                <a:alpha val="12000"/>
              </a:srgbClr>
            </a:outerShdw>
          </a:effectLst>
        </p:spPr>
      </p:sp>
      <p:sp>
        <p:nvSpPr>
          <p:cNvPr id="17" name="Text 14"/>
          <p:cNvSpPr txBox="1"/>
          <p:nvPr/>
        </p:nvSpPr>
        <p:spPr>
          <a:xfrm>
            <a:off x="6172200" y="4334256"/>
            <a:ext cx="3566160" cy="841248"/>
          </a:xfrm>
          <a:prstGeom prst="rect">
            <a:avLst/>
          </a:prstGeom>
          <a:noFill/>
          <a:ln/>
        </p:spPr>
        <p:txBody>
          <a:bodyPr wrap="square" lIns="0" tIns="0" rIns="0" bIns="0" rtlCol="0" anchor="ctr"/>
          <a:lstStyle/>
          <a:p>
            <a:pPr indent="0" marL="0">
              <a:buNone/>
            </a:pPr>
            <a:r>
              <a:rPr lang="en-IE" sz="1700" b="1" dirty="0">
                <a:solidFill>
                  <a:schemeClr val="tx1"/>
                </a:solidFill>
                <a:latin typeface="Consolas" pitchFamily="34" charset="0"/>
                <a:ea typeface="Consolas" pitchFamily="34" charset="-122"/>
                <a:cs typeface="Consolas" pitchFamily="34" charset="-120"/>
              </a:rPr>
              <a:t>boat instanceof Car</a:t>
            </a:r>
            <a:endParaRPr lang="en-IE" sz="1700" dirty="0"/>
          </a:p>
        </p:txBody>
      </p:sp>
      <p:sp>
        <p:nvSpPr>
          <p:cNvPr id="18" name="Result"/>
          <p:cNvSpPr/>
          <p:nvPr/>
        </p:nvSpPr>
        <p:spPr>
          <a:xfrm>
            <a:off x="9921240" y="4517136"/>
            <a:ext cx="1097280" cy="475488"/>
          </a:xfrm>
          <a:prstGeom prst="roundRect">
            <a:avLst>
              <a:gd name="adj" fmla="val 50000"/>
            </a:avLst>
          </a:prstGeom>
          <a:solidFill>
            <a:schemeClr val="bg2"/>
          </a:solidFill>
          <a:ln/>
        </p:spPr>
        <p:txBody>
          <a:bodyPr wrap="square" lIns="0" tIns="0" rIns="0" bIns="0" rtlCol="0" anchor="ctr"/>
          <a:lstStyle/>
          <a:p>
            <a:pPr algn="ctr" indent="0" marL="0">
              <a:buNone/>
            </a:pPr>
            <a:r>
              <a:rPr lang="en-IE" sz="1600" b="1" dirty="0">
                <a:solidFill>
                  <a:schemeClr val="tx2"/>
                </a:solidFill>
                <a:latin typeface="Consolas" pitchFamily="34" charset="0"/>
                <a:ea typeface="Consolas" pitchFamily="34" charset="-122"/>
                <a:cs typeface="Consolas" pitchFamily="34" charset="-120"/>
              </a:rPr>
              <a:t>false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61</a:t>
            </a:fld>
            <a:endParaRPr lang="en-IE"/>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19</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instanceof</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Car extends Vehicle. After </a:t>
            </a:r>
            <a:r>
              <a:rPr lang="en-IE" sz="2800" b="1" dirty="0">
                <a:solidFill>
                  <a:schemeClr val="accent2"/>
                </a:solidFill>
                <a:latin typeface="Consolas" pitchFamily="34" charset="0"/>
                <a:ea typeface="Consolas" pitchFamily="34" charset="-122"/>
                <a:cs typeface="Consolas" pitchFamily="34" charset="-120"/>
              </a:rPr>
              <a:t>Car car = new Car()</a:t>
            </a:r>
            <a:r>
              <a:rPr lang="en-IE" sz="2800" b="1" dirty="0">
                <a:solidFill>
                  <a:schemeClr val="tx1"/>
                </a:solidFill>
              </a:rPr>
              <a:t>, what is </a:t>
            </a:r>
            <a:r>
              <a:rPr lang="en-IE" sz="2800" b="1" dirty="0">
                <a:solidFill>
                  <a:schemeClr val="accent2"/>
                </a:solidFill>
                <a:latin typeface="Consolas" pitchFamily="34" charset="0"/>
                <a:ea typeface="Consolas" pitchFamily="34" charset="-122"/>
                <a:cs typeface="Consolas" pitchFamily="34" charset="-120"/>
              </a:rPr>
              <a:t>car instanceof Vehicle</a:t>
            </a:r>
            <a:r>
              <a:rPr lang="en-IE" sz="2800" b="1" dirty="0">
                <a:solidFill>
                  <a:schemeClr val="tx1"/>
                </a:solidFill>
              </a:rPr>
              <a: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true</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false</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null</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compile error</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62</a:t>
            </a:fld>
            <a:endParaRPr lang="en-IE"/>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19</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instanceof</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Car extends Vehicle. After </a:t>
            </a:r>
            <a:r>
              <a:rPr lang="en-IE" sz="2000" b="1" dirty="0">
                <a:solidFill>
                  <a:schemeClr val="tx2"/>
                </a:solidFill>
                <a:latin typeface="Consolas" pitchFamily="34" charset="0"/>
                <a:ea typeface="Consolas" pitchFamily="34" charset="-122"/>
                <a:cs typeface="Consolas" pitchFamily="34" charset="-120"/>
              </a:rPr>
              <a:t>Car car = new Car()</a:t>
            </a:r>
            <a:r>
              <a:rPr lang="en-IE" sz="2000" b="1" dirty="0">
                <a:solidFill>
                  <a:schemeClr val="tx2"/>
                </a:solidFill>
              </a:rPr>
              <a:t>, what is </a:t>
            </a:r>
            <a:r>
              <a:rPr lang="en-IE" sz="2000" b="1" dirty="0">
                <a:solidFill>
                  <a:schemeClr val="tx2"/>
                </a:solidFill>
                <a:latin typeface="Consolas" pitchFamily="34" charset="0"/>
                <a:ea typeface="Consolas" pitchFamily="34" charset="-122"/>
                <a:cs typeface="Consolas" pitchFamily="34" charset="-120"/>
              </a:rPr>
              <a:t>car instanceof Vehicle</a:t>
            </a:r>
            <a:r>
              <a:rPr lang="en-IE" sz="2000" b="1" dirty="0">
                <a:solidFill>
                  <a:schemeClr val="tx2"/>
                </a:solidFill>
              </a:rPr>
              <a:t>?</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true</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false</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null</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A compile error</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instanceof</a:t>
            </a:r>
            <a:r>
              <a:rPr lang="en-IE" sz="1800" dirty="0">
                <a:solidFill>
                  <a:schemeClr val="tx1"/>
                </a:solidFill>
              </a:rPr>
              <a:t> checks whether an object belongs to a class or one of its subclasses, and gives true or false. A Car is a Vehicle, so the answer is true.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63</a:t>
            </a:fld>
            <a:endParaRPr lang="en-IE"/>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TOSTRING, INSTANCEOF AND FINAL</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Final classes</a:t>
            </a:r>
            <a:endParaRPr lang="en-IE" sz="3400" dirty="0"/>
          </a:p>
        </p:txBody>
      </p:sp>
      <p:sp>
        <p:nvSpPr>
          <p:cNvPr id="5" name="Text 2"/>
          <p:cNvSpPr txBox="1"/>
          <p:nvPr/>
        </p:nvSpPr>
        <p:spPr>
          <a:xfrm>
            <a:off x="548640" y="1783080"/>
            <a:ext cx="4937760" cy="256032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We can end a succession.</a:t>
            </a:r>
            <a:endParaRPr lang="en-IE" sz="1800" dirty="0"/>
          </a:p>
          <a:p>
            <a:pPr marL="228600" indent="-228600">
              <a:spcAft>
                <a:spcPts val="1200"/>
              </a:spcAft>
              <a:buSzPct val="100000"/>
              <a:buChar char="•"/>
            </a:pPr>
            <a:r>
              <a:rPr lang="en-IE" sz="1800" dirty="0">
                <a:solidFill>
                  <a:schemeClr val="tx1"/>
                </a:solidFill>
              </a:rPr>
              <a:t>The keyword final on a class means it can’t be inherited from, so we can’t extend it.</a:t>
            </a:r>
            <a:endParaRPr lang="en-IE" sz="1800" dirty="0"/>
          </a:p>
          <a:p>
            <a:pPr marL="228600" indent="-228600">
              <a:buSzPct val="100000"/>
              <a:buChar char="•"/>
            </a:pPr>
            <a:r>
              <a:rPr lang="en-IE" sz="1800" dirty="0">
                <a:solidFill>
                  <a:schemeClr val="tx1"/>
                </a:solidFill>
              </a:rPr>
              <a:t>A class can’t be abstract and final at the same time.</a:t>
            </a:r>
            <a:endParaRPr lang="en-IE" sz="1800" dirty="0"/>
          </a:p>
        </p:txBody>
      </p:sp>
      <p:sp>
        <p:nvSpPr>
          <p:cNvPr id="6" name="Final class card"/>
          <p:cNvSpPr/>
          <p:nvPr/>
        </p:nvSpPr>
        <p:spPr>
          <a:xfrm>
            <a:off x="548640" y="4343400"/>
            <a:ext cx="4937760" cy="1880108"/>
          </a:xfrm>
          <a:prstGeom prst="roundRect">
            <a:avLst>
              <a:gd name="adj" fmla="val 5836"/>
            </a:avLst>
          </a:prstGeom>
          <a:solidFill>
            <a:schemeClr val="tx1"/>
          </a:solidFill>
          <a:ln/>
          <a:effectLst>
            <a:outerShdw sx="100000" sy="100000" kx="0" ky="0" algn="bl" rotWithShape="0" blurRad="114300" dist="31750" dir="5400000">
              <a:srgbClr val="1D2433">
                <a:alpha val="12000"/>
              </a:srgbClr>
            </a:outerShdw>
          </a:effectLst>
        </p:spPr>
      </p:sp>
      <p:sp>
        <p:nvSpPr>
          <p:cNvPr id="7" name="Final class language"/>
          <p:cNvSpPr txBox="1"/>
          <p:nvPr/>
        </p:nvSpPr>
        <p:spPr>
          <a:xfrm>
            <a:off x="822960" y="4462272"/>
            <a:ext cx="438912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Final class text"/>
          <p:cNvSpPr txBox="1"/>
          <p:nvPr/>
        </p:nvSpPr>
        <p:spPr>
          <a:xfrm>
            <a:off x="822960" y="4837176"/>
            <a:ext cx="4389120" cy="118516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final</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class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PartTimeEmployee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extends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private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double</a:t>
            </a:r>
            <a:r>
              <a:rPr lang="en-IE" sz="1350" dirty="0">
                <a:solidFill>
                  <a:srgbClr val="E6EBF2"/>
                </a:solidFill>
                <a:latin typeface="Consolas" pitchFamily="34" charset="0"/>
                <a:ea typeface="Consolas" pitchFamily="34" charset="-122"/>
                <a:cs typeface="Consolas" pitchFamily="34" charset="-120"/>
              </a:rPr>
              <a:t> hoursPerWeek;</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9" name="Box Employee"/>
          <p:cNvSpPr/>
          <p:nvPr/>
        </p:nvSpPr>
        <p:spPr>
          <a:xfrm>
            <a:off x="7726680" y="1828800"/>
            <a:ext cx="2377440" cy="640080"/>
          </a:xfrm>
          <a:prstGeom prst="roundRect">
            <a:avLst>
              <a:gd name="adj" fmla="val 11429"/>
            </a:avLst>
          </a:prstGeom>
          <a:solidFill>
            <a:schemeClr val="accent2">
              <a:alpha val="14000"/>
            </a:schemeClr>
          </a:solidFill>
          <a:ln w="19050">
            <a:solidFill>
              <a:schemeClr val="accent2"/>
            </a:solidFill>
            <a:prstDash val="solid"/>
          </a:ln>
        </p:spPr>
      </p:sp>
      <p:sp>
        <p:nvSpPr>
          <p:cNvPr id="10" name="Text 7"/>
          <p:cNvSpPr txBox="1"/>
          <p:nvPr/>
        </p:nvSpPr>
        <p:spPr>
          <a:xfrm>
            <a:off x="7726680" y="1828800"/>
            <a:ext cx="2377440" cy="640080"/>
          </a:xfrm>
          <a:prstGeom prst="rect">
            <a:avLst/>
          </a:prstGeom>
          <a:noFill/>
          <a:ln/>
        </p:spPr>
        <p:txBody>
          <a:bodyPr wrap="square" lIns="0" tIns="0" rIns="0" bIns="0" rtlCol="0" anchor="ctr"/>
          <a:lstStyle/>
          <a:p>
            <a:pPr algn="ctr" indent="0" marL="0">
              <a:buNone/>
            </a:pPr>
            <a:r>
              <a:rPr lang="en-IE" sz="1700" b="1" i="1" dirty="0">
                <a:solidFill>
                  <a:schemeClr val="tx1"/>
                </a:solidFill>
              </a:rPr>
              <a:t>Employee</a:t>
            </a:r>
            <a:endParaRPr lang="en-IE" sz="1700" dirty="0"/>
          </a:p>
        </p:txBody>
      </p:sp>
      <p:sp>
        <p:nvSpPr>
          <p:cNvPr id="11" name="Box FullTimeEmployee"/>
          <p:cNvSpPr/>
          <p:nvPr/>
        </p:nvSpPr>
        <p:spPr>
          <a:xfrm>
            <a:off x="6080760" y="3246120"/>
            <a:ext cx="2514600" cy="640080"/>
          </a:xfrm>
          <a:prstGeom prst="roundRect">
            <a:avLst>
              <a:gd name="adj" fmla="val 11429"/>
            </a:avLst>
          </a:prstGeom>
          <a:solidFill>
            <a:schemeClr val="accent2">
              <a:alpha val="14000"/>
            </a:schemeClr>
          </a:solidFill>
          <a:ln w="19050">
            <a:solidFill>
              <a:schemeClr val="accent2"/>
            </a:solidFill>
            <a:prstDash val="solid"/>
          </a:ln>
        </p:spPr>
      </p:sp>
      <p:sp>
        <p:nvSpPr>
          <p:cNvPr id="12" name="Text 9"/>
          <p:cNvSpPr txBox="1"/>
          <p:nvPr/>
        </p:nvSpPr>
        <p:spPr>
          <a:xfrm>
            <a:off x="6080760" y="3246120"/>
            <a:ext cx="2514600" cy="640080"/>
          </a:xfrm>
          <a:prstGeom prst="rect">
            <a:avLst/>
          </a:prstGeom>
          <a:noFill/>
          <a:ln/>
        </p:spPr>
        <p:txBody>
          <a:bodyPr wrap="square" lIns="0" tIns="0" rIns="0" bIns="0" rtlCol="0" anchor="ctr"/>
          <a:lstStyle/>
          <a:p>
            <a:pPr algn="ctr" indent="0" marL="0">
              <a:buNone/>
            </a:pPr>
            <a:r>
              <a:rPr lang="en-IE" sz="1450" b="1" dirty="0">
                <a:solidFill>
                  <a:schemeClr val="tx1"/>
                </a:solidFill>
              </a:rPr>
              <a:t>FullTimeEmployee</a:t>
            </a:r>
            <a:endParaRPr lang="en-IE" sz="1450" dirty="0"/>
          </a:p>
        </p:txBody>
      </p:sp>
      <p:sp>
        <p:nvSpPr>
          <p:cNvPr id="13" name="Box PartTimeEmployee"/>
          <p:cNvSpPr/>
          <p:nvPr/>
        </p:nvSpPr>
        <p:spPr>
          <a:xfrm>
            <a:off x="9098280" y="3246120"/>
            <a:ext cx="2514600" cy="749808"/>
          </a:xfrm>
          <a:prstGeom prst="roundRect">
            <a:avLst>
              <a:gd name="adj" fmla="val 9756"/>
            </a:avLst>
          </a:prstGeom>
          <a:solidFill>
            <a:schemeClr val="accent1">
              <a:alpha val="14000"/>
            </a:schemeClr>
          </a:solidFill>
          <a:ln w="19050">
            <a:solidFill>
              <a:schemeClr val="accent1"/>
            </a:solidFill>
            <a:prstDash val="solid"/>
          </a:ln>
        </p:spPr>
      </p:sp>
      <p:sp>
        <p:nvSpPr>
          <p:cNvPr id="14" name="Text 11"/>
          <p:cNvSpPr txBox="1"/>
          <p:nvPr/>
        </p:nvSpPr>
        <p:spPr>
          <a:xfrm>
            <a:off x="9098280" y="3291840"/>
            <a:ext cx="2514600" cy="219456"/>
          </a:xfrm>
          <a:prstGeom prst="rect">
            <a:avLst/>
          </a:prstGeom>
          <a:noFill/>
          <a:ln/>
        </p:spPr>
        <p:txBody>
          <a:bodyPr wrap="square" lIns="0" tIns="0" rIns="0" bIns="0" rtlCol="0" anchor="ctr"/>
          <a:lstStyle/>
          <a:p>
            <a:pPr algn="ctr" indent="0" marL="0">
              <a:buNone/>
            </a:pPr>
            <a:r>
              <a:rPr lang="en-IE" sz="1100" i="1" dirty="0">
                <a:solidFill>
                  <a:schemeClr val="tx2"/>
                </a:solidFill>
              </a:rPr>
              <a:t>«final»</a:t>
            </a:r>
            <a:endParaRPr lang="en-IE" sz="1100" dirty="0"/>
          </a:p>
        </p:txBody>
      </p:sp>
      <p:sp>
        <p:nvSpPr>
          <p:cNvPr id="15" name="Text 12"/>
          <p:cNvSpPr txBox="1"/>
          <p:nvPr/>
        </p:nvSpPr>
        <p:spPr>
          <a:xfrm>
            <a:off x="9098280" y="3483864"/>
            <a:ext cx="2514600" cy="475488"/>
          </a:xfrm>
          <a:prstGeom prst="rect">
            <a:avLst/>
          </a:prstGeom>
          <a:noFill/>
          <a:ln/>
        </p:spPr>
        <p:txBody>
          <a:bodyPr wrap="square" lIns="0" tIns="0" rIns="0" bIns="0" rtlCol="0" anchor="ctr"/>
          <a:lstStyle/>
          <a:p>
            <a:pPr algn="ctr" indent="0" marL="0">
              <a:buNone/>
            </a:pPr>
            <a:r>
              <a:rPr lang="en-IE" sz="1450" b="1" dirty="0">
                <a:solidFill>
                  <a:schemeClr val="tx1"/>
                </a:solidFill>
              </a:rPr>
              <a:t>PartTimeEmployee</a:t>
            </a:r>
            <a:endParaRPr lang="en-IE" sz="1450" dirty="0"/>
          </a:p>
        </p:txBody>
      </p:sp>
      <p:sp>
        <p:nvSpPr>
          <p:cNvPr id="16" name="Line"/>
          <p:cNvSpPr/>
          <p:nvPr/>
        </p:nvSpPr>
        <p:spPr>
          <a:xfrm flipV="1">
            <a:off x="8915400" y="2651760"/>
            <a:ext cx="0" cy="205740"/>
          </a:xfrm>
          <a:prstGeom prst="line">
            <a:avLst/>
          </a:prstGeom>
          <a:noFill/>
          <a:ln w="19050">
            <a:solidFill>
              <a:schemeClr val="tx1"/>
            </a:solidFill>
            <a:prstDash val="solid"/>
          </a:ln>
        </p:spPr>
      </p:sp>
      <p:sp>
        <p:nvSpPr>
          <p:cNvPr id="17" name="Line"/>
          <p:cNvSpPr/>
          <p:nvPr/>
        </p:nvSpPr>
        <p:spPr>
          <a:xfrm>
            <a:off x="7338060" y="2857500"/>
            <a:ext cx="3017520" cy="0"/>
          </a:xfrm>
          <a:prstGeom prst="line">
            <a:avLst/>
          </a:prstGeom>
          <a:noFill/>
          <a:ln w="19050">
            <a:solidFill>
              <a:schemeClr val="tx1"/>
            </a:solidFill>
            <a:prstDash val="solid"/>
          </a:ln>
        </p:spPr>
      </p:sp>
      <p:sp>
        <p:nvSpPr>
          <p:cNvPr id="18" name="Line"/>
          <p:cNvSpPr/>
          <p:nvPr/>
        </p:nvSpPr>
        <p:spPr>
          <a:xfrm flipV="1">
            <a:off x="7338060" y="2857500"/>
            <a:ext cx="0" cy="388620"/>
          </a:xfrm>
          <a:prstGeom prst="line">
            <a:avLst/>
          </a:prstGeom>
          <a:noFill/>
          <a:ln w="19050">
            <a:solidFill>
              <a:schemeClr val="tx1"/>
            </a:solidFill>
            <a:prstDash val="solid"/>
          </a:ln>
        </p:spPr>
      </p:sp>
      <p:sp>
        <p:nvSpPr>
          <p:cNvPr id="19" name="Line"/>
          <p:cNvSpPr/>
          <p:nvPr/>
        </p:nvSpPr>
        <p:spPr>
          <a:xfrm flipV="1">
            <a:off x="10355580" y="2857500"/>
            <a:ext cx="0" cy="388620"/>
          </a:xfrm>
          <a:prstGeom prst="line">
            <a:avLst/>
          </a:prstGeom>
          <a:noFill/>
          <a:ln w="19050">
            <a:solidFill>
              <a:schemeClr val="tx1"/>
            </a:solidFill>
            <a:prstDash val="solid"/>
          </a:ln>
        </p:spPr>
      </p:sp>
      <p:sp>
        <p:nvSpPr>
          <p:cNvPr id="20" name="Inheritance arrow head"/>
          <p:cNvSpPr/>
          <p:nvPr/>
        </p:nvSpPr>
        <p:spPr>
          <a:xfrm>
            <a:off x="8805672" y="2468880"/>
            <a:ext cx="219456" cy="182880"/>
          </a:xfrm>
          <a:prstGeom prst="triangle">
            <a:avLst/>
          </a:prstGeom>
          <a:solidFill>
            <a:schemeClr val="bg1"/>
          </a:solidFill>
          <a:ln w="19050">
            <a:solidFill>
              <a:schemeClr val="tx1"/>
            </a:solidFill>
            <a:prstDash val="solid"/>
          </a:ln>
        </p:spPr>
      </p:sp>
      <p:sp>
        <p:nvSpPr>
          <p:cNvPr id="21" name="Box Intern"/>
          <p:cNvSpPr/>
          <p:nvPr/>
        </p:nvSpPr>
        <p:spPr>
          <a:xfrm>
            <a:off x="9098280" y="4846320"/>
            <a:ext cx="2514600" cy="566928"/>
          </a:xfrm>
          <a:prstGeom prst="roundRect">
            <a:avLst>
              <a:gd name="adj" fmla="val 12903"/>
            </a:avLst>
          </a:prstGeom>
          <a:solidFill>
            <a:schemeClr val="accent2">
              <a:alpha val="6000"/>
            </a:schemeClr>
          </a:solidFill>
          <a:ln w="19050">
            <a:solidFill>
              <a:schemeClr val="tx2"/>
            </a:solidFill>
            <a:prstDash val="dash"/>
          </a:ln>
        </p:spPr>
      </p:sp>
      <p:sp>
        <p:nvSpPr>
          <p:cNvPr id="22" name="Text 19"/>
          <p:cNvSpPr txBox="1"/>
          <p:nvPr/>
        </p:nvSpPr>
        <p:spPr>
          <a:xfrm>
            <a:off x="9098280" y="4846320"/>
            <a:ext cx="2514600" cy="566928"/>
          </a:xfrm>
          <a:prstGeom prst="rect">
            <a:avLst/>
          </a:prstGeom>
          <a:noFill/>
          <a:ln/>
        </p:spPr>
        <p:txBody>
          <a:bodyPr wrap="square" lIns="0" tIns="0" rIns="0" bIns="0" rtlCol="0" anchor="ctr"/>
          <a:lstStyle/>
          <a:p>
            <a:pPr algn="ctr" indent="0" marL="0">
              <a:buNone/>
            </a:pPr>
            <a:r>
              <a:rPr lang="en-IE" sz="1500" b="1" dirty="0">
                <a:solidFill>
                  <a:schemeClr val="tx2"/>
                </a:solidFill>
              </a:rPr>
              <a:t>Intern</a:t>
            </a:r>
            <a:endParaRPr lang="en-IE" sz="1500" dirty="0"/>
          </a:p>
        </p:txBody>
      </p:sp>
      <p:sp>
        <p:nvSpPr>
          <p:cNvPr id="23" name="Line"/>
          <p:cNvSpPr/>
          <p:nvPr/>
        </p:nvSpPr>
        <p:spPr>
          <a:xfrm flipV="1">
            <a:off x="10355580" y="4041648"/>
            <a:ext cx="0" cy="804672"/>
          </a:xfrm>
          <a:prstGeom prst="line">
            <a:avLst/>
          </a:prstGeom>
          <a:noFill/>
          <a:ln w="19050">
            <a:solidFill>
              <a:schemeClr val="tx2"/>
            </a:solidFill>
            <a:prstDash val="dash"/>
          </a:ln>
        </p:spPr>
      </p:sp>
      <p:pic>
        <p:nvPicPr>
          <p:cNvPr id="24" name="Not allowed" descr="Not allowed">    </p:cNvPr>
          <p:cNvPicPr>
            <a:picLocks noChangeAspect="1"/>
          </p:cNvPicPr>
          <p:nvPr/>
        </p:nvPicPr>
        <p:blipFill>
          <a:blip r:embed="rId1"/>
          <a:stretch>
            <a:fillRect/>
          </a:stretch>
        </p:blipFill>
        <p:spPr>
          <a:xfrm>
            <a:off x="10492740" y="4192524"/>
            <a:ext cx="457200" cy="457200"/>
          </a:xfrm>
          <a:prstGeom prst="rect">
            <a:avLst/>
          </a:prstGeom>
        </p:spPr>
      </p:pic>
      <p:sp>
        <p:nvSpPr>
          <p:cNvPr id="25" name="Text 21"/>
          <p:cNvSpPr txBox="1"/>
          <p:nvPr/>
        </p:nvSpPr>
        <p:spPr>
          <a:xfrm>
            <a:off x="5897880" y="5577840"/>
            <a:ext cx="5742432" cy="320040"/>
          </a:xfrm>
          <a:prstGeom prst="rect">
            <a:avLst/>
          </a:prstGeom>
          <a:noFill/>
          <a:ln/>
        </p:spPr>
        <p:txBody>
          <a:bodyPr wrap="square" lIns="0" tIns="0" rIns="0" bIns="0" rtlCol="0" anchor="t"/>
          <a:lstStyle/>
          <a:p>
            <a:pPr algn="r" indent="0" marL="0">
              <a:buNone/>
            </a:pPr>
            <a:r>
              <a:rPr lang="en-IE" sz="1200" dirty="0">
                <a:solidFill>
                  <a:srgbClr val="C0392B"/>
                </a:solidFill>
                <a:latin typeface="Consolas" pitchFamily="34" charset="0"/>
                <a:ea typeface="Consolas" pitchFamily="34" charset="-122"/>
                <a:cs typeface="Consolas" pitchFamily="34" charset="-120"/>
              </a:rPr>
              <a:t>cannot inherit from final PartTimeEmployee</a:t>
            </a:r>
            <a:endParaRPr lang="en-IE" sz="12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64</a:t>
            </a:fld>
            <a:endParaRPr lang="en-IE"/>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20</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Final classes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PartTimeEmployee is declared </a:t>
            </a:r>
            <a:r>
              <a:rPr lang="en-IE" sz="2800" b="1" dirty="0">
                <a:solidFill>
                  <a:schemeClr val="accent2"/>
                </a:solidFill>
                <a:latin typeface="Consolas" pitchFamily="34" charset="0"/>
                <a:ea typeface="Consolas" pitchFamily="34" charset="-122"/>
                <a:cs typeface="Consolas" pitchFamily="34" charset="-120"/>
              </a:rPr>
              <a:t>final</a:t>
            </a:r>
            <a:r>
              <a:rPr lang="en-IE" sz="2800" b="1" dirty="0">
                <a:solidFill>
                  <a:schemeClr val="tx1"/>
                </a:solidFill>
              </a:rPr>
              <a:t>. What happens with </a:t>
            </a:r>
            <a:r>
              <a:rPr lang="en-IE" sz="2800" b="1" dirty="0">
                <a:solidFill>
                  <a:schemeClr val="accent2"/>
                </a:solidFill>
                <a:latin typeface="Consolas" pitchFamily="34" charset="0"/>
                <a:ea typeface="Consolas" pitchFamily="34" charset="-122"/>
                <a:cs typeface="Consolas" pitchFamily="34" charset="-120"/>
              </a:rPr>
              <a:t>class Intern extends PartTimeEmployee</a:t>
            </a:r>
            <a:r>
              <a:rPr lang="en-IE" sz="2800" b="1" dirty="0">
                <a:solidFill>
                  <a:schemeClr val="tx1"/>
                </a:solidFill>
              </a:rPr>
              <a: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works, but Intern can’t add any attributes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works, but only if Intern is abstract</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Compile error: a final class can’t be extended</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Compile error: Intern must be final too</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65</a:t>
            </a:fld>
            <a:endParaRPr lang="en-IE"/>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20</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Final classes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PartTimeEmployee is declared </a:t>
            </a:r>
            <a:r>
              <a:rPr lang="en-IE" sz="2000" b="1" dirty="0">
                <a:solidFill>
                  <a:schemeClr val="tx2"/>
                </a:solidFill>
                <a:latin typeface="Consolas" pitchFamily="34" charset="0"/>
                <a:ea typeface="Consolas" pitchFamily="34" charset="-122"/>
                <a:cs typeface="Consolas" pitchFamily="34" charset="-120"/>
              </a:rPr>
              <a:t>final</a:t>
            </a:r>
            <a:r>
              <a:rPr lang="en-IE" sz="2000" b="1" dirty="0">
                <a:solidFill>
                  <a:schemeClr val="tx2"/>
                </a:solidFill>
              </a:rPr>
              <a:t>. What happens with </a:t>
            </a:r>
            <a:r>
              <a:rPr lang="en-IE" sz="2000" b="1" dirty="0">
                <a:solidFill>
                  <a:schemeClr val="tx2"/>
                </a:solidFill>
                <a:latin typeface="Consolas" pitchFamily="34" charset="0"/>
                <a:ea typeface="Consolas" pitchFamily="34" charset="-122"/>
                <a:cs typeface="Consolas" pitchFamily="34" charset="-120"/>
              </a:rPr>
              <a:t>class Intern extends PartTimeEmployee</a:t>
            </a:r>
            <a:r>
              <a:rPr lang="en-IE" sz="2000" b="1" dirty="0">
                <a:solidFill>
                  <a:schemeClr val="tx2"/>
                </a:solidFill>
              </a:rPr>
              <a:t>?</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works, but Intern can’t add any attributes</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works, but only if Intern is abstract</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Compile error: a final class can’t be extended</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Compile error: Intern must be final too</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final</a:t>
            </a:r>
            <a:r>
              <a:rPr lang="en-IE" sz="1800" dirty="0">
                <a:solidFill>
                  <a:schemeClr val="tx1"/>
                </a:solidFill>
              </a:rPr>
              <a:t> on a class ends the succession: no class can extend it. The compiler says “cannot inherit from final PartTimeEmployee”, and making Intern final too (D) doesn’t help.</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66</a:t>
            </a:fld>
            <a:endParaRPr lang="en-IE"/>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21</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Final classes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Here Employee has no abstract methods. Which class declaration will NOT compile?</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final class PartTimeEmployee extends Employee { }</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abstract class Employee { }</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abstract final class Employee { }</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class Manager extends Employee { }</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67</a:t>
            </a:fld>
            <a:endParaRPr lang="en-IE"/>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21</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Final classes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Here Employee has no abstract methods. Which class declaration will NOT compile?</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final class PartTimeEmployee extends Employee { }</a:t>
            </a:r>
            <a:endParaRPr lang="en-IE"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abstract class Employee { }</a:t>
            </a:r>
            <a:endParaRPr lang="en-IE" sz="1700" dirty="0"/>
          </a:p>
        </p:txBody>
      </p:sp>
      <p:sp>
        <p:nvSpPr>
          <p:cNvPr id="11" name="Option C (correct)"/>
          <p:cNvSpPr/>
          <p:nvPr/>
        </p:nvSpPr>
        <p:spPr>
          <a:xfrm>
            <a:off x="548640" y="3236976"/>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3192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236976"/>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public abstract final class Employee { }</a:t>
            </a:r>
            <a:endParaRPr lang="en-IE" sz="1700" dirty="0"/>
          </a:p>
        </p:txBody>
      </p:sp>
      <p:pic>
        <p:nvPicPr>
          <p:cNvPr id="14" name="Correct mark" descr="Correct mark">    </p:cNvPr>
          <p:cNvPicPr>
            <a:picLocks noChangeAspect="1"/>
          </p:cNvPicPr>
          <p:nvPr/>
        </p:nvPicPr>
        <p:blipFill>
          <a:blip r:embed="rId1"/>
          <a:stretch>
            <a:fillRect/>
          </a:stretch>
        </p:blipFill>
        <p:spPr>
          <a:xfrm>
            <a:off x="11094415" y="3346704"/>
            <a:ext cx="365760" cy="365760"/>
          </a:xfrm>
          <a:prstGeom prst="rect">
            <a:avLst/>
          </a:prstGeom>
        </p:spPr>
      </p:pic>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class Manager extends Employee { }</a:t>
            </a:r>
            <a:endParaRPr lang="en-IE"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A class can’t be abstract and final at the same time: abstract means “extend me”, final means “never extend me”. The compiler reports an illegal combination of modifiers.</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68</a:t>
            </a:fld>
            <a:endParaRPr lang="en-IE"/>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TOSTRING, INSTANCEOF AND FINAL</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Final methods</a:t>
            </a:r>
            <a:endParaRPr lang="en-IE" sz="3400" dirty="0"/>
          </a:p>
        </p:txBody>
      </p:sp>
      <p:sp>
        <p:nvSpPr>
          <p:cNvPr id="5" name="Text 2"/>
          <p:cNvSpPr txBox="1"/>
          <p:nvPr/>
        </p:nvSpPr>
        <p:spPr>
          <a:xfrm>
            <a:off x="548640" y="1783080"/>
            <a:ext cx="4937760" cy="365760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We can also make methods final.</a:t>
            </a:r>
            <a:endParaRPr lang="en-IE" sz="1800" dirty="0"/>
          </a:p>
          <a:p>
            <a:pPr marL="228600" indent="-228600">
              <a:spcAft>
                <a:spcPts val="1200"/>
              </a:spcAft>
              <a:buSzPct val="100000"/>
              <a:buChar char="•"/>
            </a:pPr>
            <a:r>
              <a:rPr lang="en-IE" sz="1800" dirty="0">
                <a:solidFill>
                  <a:schemeClr val="tx1"/>
                </a:solidFill>
              </a:rPr>
              <a:t>This means they can’t be overridden in the child class.</a:t>
            </a:r>
            <a:endParaRPr lang="en-IE" sz="1800" dirty="0"/>
          </a:p>
          <a:p>
            <a:pPr marL="228600" indent="-228600">
              <a:buSzPct val="100000"/>
              <a:buChar char="•"/>
            </a:pPr>
            <a:r>
              <a:rPr lang="en-IE" sz="1800" dirty="0">
                <a:solidFill>
                  <a:schemeClr val="tx1"/>
                </a:solidFill>
              </a:rPr>
              <a:t>Final attributes are inherited as normal (private still means private); final only means the value can’t change once it’s set.</a:t>
            </a:r>
            <a:endParaRPr lang="en-IE" sz="1800" dirty="0"/>
          </a:p>
        </p:txBody>
      </p:sp>
      <p:sp>
        <p:nvSpPr>
          <p:cNvPr id="6" name="Text 3"/>
          <p:cNvSpPr txBox="1"/>
          <p:nvPr/>
        </p:nvSpPr>
        <p:spPr>
          <a:xfrm>
            <a:off x="5897880" y="1691640"/>
            <a:ext cx="3657600" cy="274320"/>
          </a:xfrm>
          <a:prstGeom prst="rect">
            <a:avLst/>
          </a:prstGeom>
          <a:noFill/>
          <a:ln/>
        </p:spPr>
        <p:txBody>
          <a:bodyPr wrap="square" lIns="0" tIns="0" rIns="0" bIns="0" rtlCol="0" anchor="t"/>
          <a:lstStyle/>
          <a:p>
            <a:pPr indent="0" marL="0">
              <a:buNone/>
            </a:pPr>
            <a:r>
              <a:rPr lang="en-IE" sz="1300" b="1" dirty="0">
                <a:solidFill>
                  <a:schemeClr val="tx2"/>
                </a:solidFill>
              </a:rPr>
              <a:t>In Employee</a:t>
            </a:r>
            <a:endParaRPr lang="en-IE" sz="1300" dirty="0"/>
          </a:p>
        </p:txBody>
      </p:sp>
      <p:sp>
        <p:nvSpPr>
          <p:cNvPr id="7" name="Final method card"/>
          <p:cNvSpPr/>
          <p:nvPr/>
        </p:nvSpPr>
        <p:spPr>
          <a:xfrm>
            <a:off x="5897880" y="2011680"/>
            <a:ext cx="5745175" cy="1162050"/>
          </a:xfrm>
          <a:prstGeom prst="roundRect">
            <a:avLst>
              <a:gd name="adj" fmla="val 9443"/>
            </a:avLst>
          </a:prstGeom>
          <a:solidFill>
            <a:schemeClr val="tx1"/>
          </a:solidFill>
          <a:ln/>
          <a:effectLst>
            <a:outerShdw sx="100000" sy="100000" kx="0" ky="0" algn="bl" rotWithShape="0" blurRad="114300" dist="31750" dir="5400000">
              <a:srgbClr val="1D2433">
                <a:alpha val="12000"/>
              </a:srgbClr>
            </a:outerShdw>
          </a:effectLst>
        </p:spPr>
      </p:sp>
      <p:sp>
        <p:nvSpPr>
          <p:cNvPr id="8" name="Final method text"/>
          <p:cNvSpPr txBox="1"/>
          <p:nvPr/>
        </p:nvSpPr>
        <p:spPr>
          <a:xfrm>
            <a:off x="6172200" y="2212848"/>
            <a:ext cx="5196535" cy="7597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final</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void</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setupKeyCard</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9" name="Text 6"/>
          <p:cNvSpPr txBox="1"/>
          <p:nvPr/>
        </p:nvSpPr>
        <p:spPr>
          <a:xfrm>
            <a:off x="5897880" y="3347466"/>
            <a:ext cx="4572000" cy="274320"/>
          </a:xfrm>
          <a:prstGeom prst="rect">
            <a:avLst/>
          </a:prstGeom>
          <a:noFill/>
          <a:ln/>
        </p:spPr>
        <p:txBody>
          <a:bodyPr wrap="square" lIns="0" tIns="0" rIns="0" bIns="0" rtlCol="0" anchor="t"/>
          <a:lstStyle/>
          <a:p>
            <a:pPr indent="0" marL="0">
              <a:buNone/>
            </a:pPr>
            <a:r>
              <a:rPr lang="en-IE" sz="1300" b="1" dirty="0">
                <a:solidFill>
                  <a:schemeClr val="tx2"/>
                </a:solidFill>
              </a:rPr>
              <a:t>In Manager (a subclass)</a:t>
            </a:r>
            <a:endParaRPr lang="en-IE" sz="1300" dirty="0"/>
          </a:p>
        </p:txBody>
      </p:sp>
      <p:sp>
        <p:nvSpPr>
          <p:cNvPr id="10" name="Trying to override card"/>
          <p:cNvSpPr/>
          <p:nvPr/>
        </p:nvSpPr>
        <p:spPr>
          <a:xfrm>
            <a:off x="5897880" y="3676650"/>
            <a:ext cx="5745175" cy="1397000"/>
          </a:xfrm>
          <a:prstGeom prst="roundRect">
            <a:avLst>
              <a:gd name="adj" fmla="val 7855"/>
            </a:avLst>
          </a:prstGeom>
          <a:solidFill>
            <a:schemeClr val="tx1"/>
          </a:solidFill>
          <a:ln/>
          <a:effectLst>
            <a:outerShdw sx="100000" sy="100000" kx="0" ky="0" algn="bl" rotWithShape="0" blurRad="114300" dist="31750" dir="5400000">
              <a:srgbClr val="1D2433">
                <a:alpha val="12000"/>
              </a:srgbClr>
            </a:outerShdw>
          </a:effectLst>
        </p:spPr>
      </p:sp>
      <p:sp>
        <p:nvSpPr>
          <p:cNvPr id="11" name="Trying to override text"/>
          <p:cNvSpPr txBox="1"/>
          <p:nvPr/>
        </p:nvSpPr>
        <p:spPr>
          <a:xfrm>
            <a:off x="6172200" y="3877818"/>
            <a:ext cx="5196535" cy="994664"/>
          </a:xfrm>
          <a:prstGeom prst="rect">
            <a:avLst/>
          </a:prstGeom>
          <a:noFill/>
          <a:ln/>
        </p:spPr>
        <p:txBody>
          <a:bodyPr wrap="square" lIns="0" tIns="0" rIns="0" bIns="0" rtlCol="0" anchor="t"/>
          <a:lstStyle/>
          <a:p>
            <a:pPr indent="0" marL="0">
              <a:lnSpc>
                <a:spcPts val="1850"/>
              </a:lnSpc>
              <a:buNone/>
            </a:pPr>
            <a:r>
              <a:rPr lang="en-IE" sz="1400" dirty="0">
                <a:solidFill>
                  <a:srgbClr val="E8C468"/>
                </a:solidFill>
                <a:latin typeface="Consolas" pitchFamily="34" charset="0"/>
                <a:ea typeface="Consolas" pitchFamily="34" charset="-122"/>
                <a:cs typeface="Consolas" pitchFamily="34" charset="-120"/>
              </a:rPr>
              <a:t>@Override</a:t>
            </a:r>
            <a:endParaRPr lang="en-IE" sz="1400" dirty="0"/>
          </a:p>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void</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setupKeyCard</a:t>
            </a:r>
            <a:r>
              <a:rPr lang="en-IE" sz="1400" dirty="0">
                <a:solidFill>
                  <a:srgbClr val="E6EBF2"/>
                </a:solidFill>
                <a:latin typeface="Consolas" pitchFamily="34" charset="0"/>
                <a:ea typeface="Consolas" pitchFamily="34" charset="-122"/>
                <a:cs typeface="Consolas" pitchFamily="34" charset="-120"/>
              </a:rPr>
              <a:t>() {   </a:t>
            </a:r>
            <a:r>
              <a:rPr lang="en-IE" sz="1400" i="1" dirty="0">
                <a:solidFill>
                  <a:srgbClr val="A3AEC2"/>
                </a:solidFill>
                <a:latin typeface="Consolas" pitchFamily="34" charset="0"/>
                <a:ea typeface="Consolas" pitchFamily="34" charset="-122"/>
                <a:cs typeface="Consolas" pitchFamily="34" charset="-120"/>
              </a:rPr>
              <a:t>// not allowed</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pic>
        <p:nvPicPr>
          <p:cNvPr id="12" name="Does not work" descr="Does not work">    </p:cNvPr>
          <p:cNvPicPr>
            <a:picLocks noChangeAspect="1"/>
          </p:cNvPicPr>
          <p:nvPr/>
        </p:nvPicPr>
        <p:blipFill>
          <a:blip r:embed="rId1"/>
          <a:stretch>
            <a:fillRect/>
          </a:stretch>
        </p:blipFill>
        <p:spPr>
          <a:xfrm>
            <a:off x="5897880" y="5256530"/>
            <a:ext cx="347472" cy="347472"/>
          </a:xfrm>
          <a:prstGeom prst="rect">
            <a:avLst/>
          </a:prstGeom>
        </p:spPr>
      </p:pic>
      <p:sp>
        <p:nvSpPr>
          <p:cNvPr id="13" name="Text 9"/>
          <p:cNvSpPr txBox="1"/>
          <p:nvPr/>
        </p:nvSpPr>
        <p:spPr>
          <a:xfrm>
            <a:off x="6355080" y="5146802"/>
            <a:ext cx="5287975" cy="566928"/>
          </a:xfrm>
          <a:prstGeom prst="rect">
            <a:avLst/>
          </a:prstGeom>
          <a:noFill/>
          <a:ln/>
        </p:spPr>
        <p:txBody>
          <a:bodyPr wrap="square" lIns="0" tIns="0" rIns="0" bIns="0" rtlCol="0" anchor="ctr"/>
          <a:lstStyle/>
          <a:p>
            <a:pPr indent="0" marL="0">
              <a:buNone/>
            </a:pPr>
            <a:r>
              <a:rPr lang="en-IE" sz="1250" b="1" dirty="0">
                <a:solidFill>
                  <a:srgbClr val="C0392B"/>
                </a:solidFill>
              </a:rPr>
              <a:t>Error: setupKeyCard() in Manager cannot override setupKeyCard() in Employee; overridden method is final</a:t>
            </a:r>
            <a:endParaRPr lang="en-IE" sz="1250" dirty="0"/>
          </a:p>
        </p:txBody>
      </p:sp>
      <p:pic>
        <p:nvPicPr>
          <p:cNvPr id="14" name="Works" descr="Works">    </p:cNvPr>
          <p:cNvPicPr>
            <a:picLocks noChangeAspect="1"/>
          </p:cNvPicPr>
          <p:nvPr/>
        </p:nvPicPr>
        <p:blipFill>
          <a:blip r:embed="rId2"/>
          <a:stretch>
            <a:fillRect/>
          </a:stretch>
        </p:blipFill>
        <p:spPr>
          <a:xfrm>
            <a:off x="5897880" y="5818886"/>
            <a:ext cx="347472" cy="347472"/>
          </a:xfrm>
          <a:prstGeom prst="rect">
            <a:avLst/>
          </a:prstGeom>
        </p:spPr>
      </p:pic>
      <p:sp>
        <p:nvSpPr>
          <p:cNvPr id="15" name="Text 10"/>
          <p:cNvSpPr txBox="1"/>
          <p:nvPr/>
        </p:nvSpPr>
        <p:spPr>
          <a:xfrm>
            <a:off x="6355080" y="5786882"/>
            <a:ext cx="5287975" cy="411480"/>
          </a:xfrm>
          <a:prstGeom prst="rect">
            <a:avLst/>
          </a:prstGeom>
          <a:noFill/>
          <a:ln/>
        </p:spPr>
        <p:txBody>
          <a:bodyPr wrap="square" lIns="0" tIns="0" rIns="0" bIns="0" rtlCol="0" anchor="ctr"/>
          <a:lstStyle/>
          <a:p>
            <a:pPr indent="0" marL="0">
              <a:buNone/>
            </a:pPr>
            <a:r>
              <a:rPr lang="en-IE" sz="1400" b="1" dirty="0">
                <a:solidFill>
                  <a:schemeClr val="accent3"/>
                </a:solidFill>
              </a:rPr>
              <a:t>Calling it is fine: setupKeyCard();</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69</a:t>
            </a:fld>
            <a:endParaRPr lang="en-IE"/>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22</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Final methods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accent2"/>
                </a:solidFill>
                <a:latin typeface="Consolas" pitchFamily="34" charset="0"/>
                <a:ea typeface="Consolas" pitchFamily="34" charset="-122"/>
                <a:cs typeface="Consolas" pitchFamily="34" charset="-120"/>
              </a:rPr>
              <a:t>setupKeyCard()</a:t>
            </a:r>
            <a:r>
              <a:rPr lang="en-IE" sz="2800" b="1" dirty="0">
                <a:solidFill>
                  <a:schemeClr val="tx1"/>
                </a:solidFill>
              </a:rPr>
              <a:t> is final in Employee. What can a subclass NOT do with it?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Call it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Override it</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Inherit it</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Overload it with different parameters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70</a:t>
            </a:fld>
            <a:endParaRPr lang="en-IE"/>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22</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Final methods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latin typeface="Consolas" pitchFamily="34" charset="0"/>
                <a:ea typeface="Consolas" pitchFamily="34" charset="-122"/>
                <a:cs typeface="Consolas" pitchFamily="34" charset="-120"/>
              </a:rPr>
              <a:t>setupKeyCard()</a:t>
            </a:r>
            <a:r>
              <a:rPr lang="en-IE" sz="2000" b="1" dirty="0">
                <a:solidFill>
                  <a:schemeClr val="tx2"/>
                </a:solidFill>
              </a:rPr>
              <a:t> is final in Employee. What can a subclass NOT do with it?</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Call it</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Override it</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Inherit it</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Overload it with different parameters</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final method can’t be overridden in a child class. The child still inherits it and can call it; it just can’t replace its behaviour. Overloading it (D) is still allowed, because a different parameter list makes a different method.</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71</a:t>
            </a:fld>
            <a:endParaRPr lang="en-IE"/>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WRAP-UP</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Lecture 4 at a glance</a:t>
            </a:r>
            <a:endParaRPr lang="en-IE" sz="3400" dirty="0"/>
          </a:p>
        </p:txBody>
      </p:sp>
      <p:sp>
        <p:nvSpPr>
          <p:cNvPr id="5" name="Card"/>
          <p:cNvSpPr/>
          <p:nvPr/>
        </p:nvSpPr>
        <p:spPr>
          <a:xfrm>
            <a:off x="548640"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04672" y="2039112"/>
            <a:ext cx="548640" cy="548640"/>
          </a:xfrm>
          <a:prstGeom prst="roundRect">
            <a:avLst>
              <a:gd name="adj" fmla="val 24000"/>
            </a:avLst>
          </a:prstGeom>
          <a:solidFill>
            <a:schemeClr val="accent1">
              <a:alpha val="14000"/>
            </a:schemeClr>
          </a:solidFill>
          <a:ln/>
        </p:spPr>
      </p:sp>
      <p:pic>
        <p:nvPicPr>
          <p:cNvPr id="7" name="tree structure icon" descr="tree structure icon">    </p:cNvPr>
          <p:cNvPicPr>
            <a:picLocks noChangeAspect="1"/>
          </p:cNvPicPr>
          <p:nvPr/>
        </p:nvPicPr>
        <p:blipFill>
          <a:blip r:embed="rId1"/>
          <a:stretch>
            <a:fillRect/>
          </a:stretch>
        </p:blipFill>
        <p:spPr>
          <a:xfrm>
            <a:off x="919886" y="2154326"/>
            <a:ext cx="318211" cy="318211"/>
          </a:xfrm>
          <a:prstGeom prst="rect">
            <a:avLst/>
          </a:prstGeom>
        </p:spPr>
      </p:pic>
      <p:sp>
        <p:nvSpPr>
          <p:cNvPr id="8" name="Text 4"/>
          <p:cNvSpPr txBox="1"/>
          <p:nvPr/>
        </p:nvSpPr>
        <p:spPr>
          <a:xfrm>
            <a:off x="1481328"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Object</a:t>
            </a:r>
            <a:endParaRPr lang="en-IE" sz="1900" dirty="0"/>
          </a:p>
        </p:txBody>
      </p:sp>
      <p:sp>
        <p:nvSpPr>
          <p:cNvPr id="9" name="Text 5"/>
          <p:cNvSpPr txBox="1"/>
          <p:nvPr/>
        </p:nvSpPr>
        <p:spPr>
          <a:xfrm>
            <a:off x="804672"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The base class of every class. It gives us toString(), equals() and more.</a:t>
            </a:r>
            <a:endParaRPr lang="en-IE" sz="1500" dirty="0"/>
          </a:p>
        </p:txBody>
      </p:sp>
      <p:sp>
        <p:nvSpPr>
          <p:cNvPr id="10" name="Card"/>
          <p:cNvSpPr/>
          <p:nvPr/>
        </p:nvSpPr>
        <p:spPr>
          <a:xfrm>
            <a:off x="3379394"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3635426" y="2039112"/>
            <a:ext cx="548640" cy="548640"/>
          </a:xfrm>
          <a:prstGeom prst="roundRect">
            <a:avLst>
              <a:gd name="adj" fmla="val 24000"/>
            </a:avLst>
          </a:prstGeom>
          <a:solidFill>
            <a:schemeClr val="accent5">
              <a:alpha val="14000"/>
            </a:schemeClr>
          </a:solidFill>
          <a:ln/>
        </p:spPr>
      </p:sp>
      <p:pic>
        <p:nvPicPr>
          <p:cNvPr id="12" name="blueprint icon" descr="blueprint icon">    </p:cNvPr>
          <p:cNvPicPr>
            <a:picLocks noChangeAspect="1"/>
          </p:cNvPicPr>
          <p:nvPr/>
        </p:nvPicPr>
        <p:blipFill>
          <a:blip r:embed="rId2"/>
          <a:stretch>
            <a:fillRect/>
          </a:stretch>
        </p:blipFill>
        <p:spPr>
          <a:xfrm>
            <a:off x="3750640" y="2154326"/>
            <a:ext cx="318211" cy="318211"/>
          </a:xfrm>
          <a:prstGeom prst="rect">
            <a:avLst/>
          </a:prstGeom>
        </p:spPr>
      </p:pic>
      <p:sp>
        <p:nvSpPr>
          <p:cNvPr id="13" name="Text 8"/>
          <p:cNvSpPr txBox="1"/>
          <p:nvPr/>
        </p:nvSpPr>
        <p:spPr>
          <a:xfrm>
            <a:off x="4312082"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Abstract vs concrete</a:t>
            </a:r>
            <a:endParaRPr lang="en-IE" sz="1900" dirty="0"/>
          </a:p>
        </p:txBody>
      </p:sp>
      <p:sp>
        <p:nvSpPr>
          <p:cNvPr id="14" name="Text 9"/>
          <p:cNvSpPr txBox="1"/>
          <p:nvPr/>
        </p:nvSpPr>
        <p:spPr>
          <a:xfrm>
            <a:off x="3635426"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Abstract: never makes objects. Concrete (the default): can.</a:t>
            </a:r>
            <a:endParaRPr lang="en-IE" sz="1500" dirty="0"/>
          </a:p>
        </p:txBody>
      </p:sp>
      <p:sp>
        <p:nvSpPr>
          <p:cNvPr id="15" name="Card"/>
          <p:cNvSpPr/>
          <p:nvPr/>
        </p:nvSpPr>
        <p:spPr>
          <a:xfrm>
            <a:off x="6210148"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6" name="Icon tile"/>
          <p:cNvSpPr/>
          <p:nvPr/>
        </p:nvSpPr>
        <p:spPr>
          <a:xfrm>
            <a:off x="6466180" y="2039112"/>
            <a:ext cx="548640" cy="548640"/>
          </a:xfrm>
          <a:prstGeom prst="roundRect">
            <a:avLst>
              <a:gd name="adj" fmla="val 24000"/>
            </a:avLst>
          </a:prstGeom>
          <a:solidFill>
            <a:schemeClr val="accent2">
              <a:alpha val="14000"/>
            </a:schemeClr>
          </a:solidFill>
          <a:ln/>
        </p:spPr>
      </p:sp>
      <p:pic>
        <p:nvPicPr>
          <p:cNvPr id="17" name="wrench icon" descr="wrench icon">    </p:cNvPr>
          <p:cNvPicPr>
            <a:picLocks noChangeAspect="1"/>
          </p:cNvPicPr>
          <p:nvPr/>
        </p:nvPicPr>
        <p:blipFill>
          <a:blip r:embed="rId3"/>
          <a:stretch>
            <a:fillRect/>
          </a:stretch>
        </p:blipFill>
        <p:spPr>
          <a:xfrm>
            <a:off x="6581394" y="2154326"/>
            <a:ext cx="318211" cy="318211"/>
          </a:xfrm>
          <a:prstGeom prst="rect">
            <a:avLst/>
          </a:prstGeom>
        </p:spPr>
      </p:pic>
      <p:sp>
        <p:nvSpPr>
          <p:cNvPr id="18" name="Text 12"/>
          <p:cNvSpPr txBox="1"/>
          <p:nvPr/>
        </p:nvSpPr>
        <p:spPr>
          <a:xfrm>
            <a:off x="7142836"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Overloading</a:t>
            </a:r>
            <a:endParaRPr lang="en-IE" sz="1900" dirty="0"/>
          </a:p>
        </p:txBody>
      </p:sp>
      <p:sp>
        <p:nvSpPr>
          <p:cNvPr id="19" name="Text 13"/>
          <p:cNvSpPr txBox="1"/>
          <p:nvPr/>
        </p:nvSpPr>
        <p:spPr>
          <a:xfrm>
            <a:off x="6466180"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Same name, different parameters. Chosen at compile time (static binding).</a:t>
            </a:r>
            <a:endParaRPr lang="en-IE" sz="1500" dirty="0"/>
          </a:p>
        </p:txBody>
      </p:sp>
      <p:sp>
        <p:nvSpPr>
          <p:cNvPr id="20" name="Card"/>
          <p:cNvSpPr/>
          <p:nvPr/>
        </p:nvSpPr>
        <p:spPr>
          <a:xfrm>
            <a:off x="9040901"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9296933" y="2039112"/>
            <a:ext cx="548640" cy="548640"/>
          </a:xfrm>
          <a:prstGeom prst="roundRect">
            <a:avLst>
              <a:gd name="adj" fmla="val 24000"/>
            </a:avLst>
          </a:prstGeom>
          <a:solidFill>
            <a:schemeClr val="accent1">
              <a:alpha val="14000"/>
            </a:schemeClr>
          </a:solidFill>
          <a:ln/>
        </p:spPr>
      </p:sp>
      <p:pic>
        <p:nvPicPr>
          <p:cNvPr id="22" name="arrows clockwise icon" descr="arrows clockwise icon">    </p:cNvPr>
          <p:cNvPicPr>
            <a:picLocks noChangeAspect="1"/>
          </p:cNvPicPr>
          <p:nvPr/>
        </p:nvPicPr>
        <p:blipFill>
          <a:blip r:embed="rId4"/>
          <a:stretch>
            <a:fillRect/>
          </a:stretch>
        </p:blipFill>
        <p:spPr>
          <a:xfrm>
            <a:off x="9412148" y="2154326"/>
            <a:ext cx="318211" cy="318211"/>
          </a:xfrm>
          <a:prstGeom prst="rect">
            <a:avLst/>
          </a:prstGeom>
        </p:spPr>
      </p:pic>
      <p:sp>
        <p:nvSpPr>
          <p:cNvPr id="23" name="Text 16"/>
          <p:cNvSpPr txBox="1"/>
          <p:nvPr/>
        </p:nvSpPr>
        <p:spPr>
          <a:xfrm>
            <a:off x="9973589"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Overriding</a:t>
            </a:r>
            <a:endParaRPr lang="en-IE" sz="1900" dirty="0"/>
          </a:p>
        </p:txBody>
      </p:sp>
      <p:sp>
        <p:nvSpPr>
          <p:cNvPr id="24" name="Text 17"/>
          <p:cNvSpPr txBox="1"/>
          <p:nvPr/>
        </p:nvSpPr>
        <p:spPr>
          <a:xfrm>
            <a:off x="9296933"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A child redefines a method. Chosen at run time (dynamic binding).</a:t>
            </a:r>
            <a:endParaRPr lang="en-IE" sz="1500" dirty="0"/>
          </a:p>
        </p:txBody>
      </p:sp>
      <p:sp>
        <p:nvSpPr>
          <p:cNvPr id="25" name="Card"/>
          <p:cNvSpPr/>
          <p:nvPr/>
        </p:nvSpPr>
        <p:spPr>
          <a:xfrm>
            <a:off x="548640"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6" name="Icon tile"/>
          <p:cNvSpPr/>
          <p:nvPr/>
        </p:nvSpPr>
        <p:spPr>
          <a:xfrm>
            <a:off x="804672" y="4279392"/>
            <a:ext cx="548640" cy="548640"/>
          </a:xfrm>
          <a:prstGeom prst="roundRect">
            <a:avLst>
              <a:gd name="adj" fmla="val 24000"/>
            </a:avLst>
          </a:prstGeom>
          <a:solidFill>
            <a:schemeClr val="accent3">
              <a:alpha val="14000"/>
            </a:schemeClr>
          </a:solidFill>
          <a:ln/>
        </p:spPr>
      </p:sp>
      <p:pic>
        <p:nvPicPr>
          <p:cNvPr id="27" name="seal check icon" descr="seal check icon">    </p:cNvPr>
          <p:cNvPicPr>
            <a:picLocks noChangeAspect="1"/>
          </p:cNvPicPr>
          <p:nvPr/>
        </p:nvPicPr>
        <p:blipFill>
          <a:blip r:embed="rId5"/>
          <a:stretch>
            <a:fillRect/>
          </a:stretch>
        </p:blipFill>
        <p:spPr>
          <a:xfrm>
            <a:off x="919886" y="4394606"/>
            <a:ext cx="318211" cy="318211"/>
          </a:xfrm>
          <a:prstGeom prst="rect">
            <a:avLst/>
          </a:prstGeom>
        </p:spPr>
      </p:pic>
      <p:sp>
        <p:nvSpPr>
          <p:cNvPr id="28" name="Text 20"/>
          <p:cNvSpPr txBox="1"/>
          <p:nvPr/>
        </p:nvSpPr>
        <p:spPr>
          <a:xfrm>
            <a:off x="1481328"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latin typeface="Consolas" pitchFamily="34" charset="0"/>
                <a:ea typeface="Consolas" pitchFamily="34" charset="-122"/>
                <a:cs typeface="Consolas" pitchFamily="34" charset="-120"/>
              </a:rPr>
              <a:t>@Override</a:t>
            </a:r>
            <a:endParaRPr lang="en-IE" sz="1900" dirty="0"/>
          </a:p>
        </p:txBody>
      </p:sp>
      <p:sp>
        <p:nvSpPr>
          <p:cNvPr id="29" name="Text 21"/>
          <p:cNvSpPr txBox="1"/>
          <p:nvPr/>
        </p:nvSpPr>
        <p:spPr>
          <a:xfrm>
            <a:off x="804672"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Asks the compiler to check that we really are overriding.</a:t>
            </a:r>
            <a:endParaRPr lang="en-IE" sz="1500" dirty="0"/>
          </a:p>
        </p:txBody>
      </p:sp>
      <p:sp>
        <p:nvSpPr>
          <p:cNvPr id="30" name="Card"/>
          <p:cNvSpPr/>
          <p:nvPr/>
        </p:nvSpPr>
        <p:spPr>
          <a:xfrm>
            <a:off x="3379394"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1" name="Icon tile"/>
          <p:cNvSpPr/>
          <p:nvPr/>
        </p:nvSpPr>
        <p:spPr>
          <a:xfrm>
            <a:off x="3635426" y="4279392"/>
            <a:ext cx="548640" cy="548640"/>
          </a:xfrm>
          <a:prstGeom prst="roundRect">
            <a:avLst>
              <a:gd name="adj" fmla="val 24000"/>
            </a:avLst>
          </a:prstGeom>
          <a:solidFill>
            <a:schemeClr val="accent4">
              <a:alpha val="14000"/>
            </a:schemeClr>
          </a:solidFill>
          <a:ln/>
        </p:spPr>
      </p:sp>
      <p:pic>
        <p:nvPicPr>
          <p:cNvPr id="32" name="text aa icon" descr="text aa icon">    </p:cNvPr>
          <p:cNvPicPr>
            <a:picLocks noChangeAspect="1"/>
          </p:cNvPicPr>
          <p:nvPr/>
        </p:nvPicPr>
        <p:blipFill>
          <a:blip r:embed="rId6"/>
          <a:stretch>
            <a:fillRect/>
          </a:stretch>
        </p:blipFill>
        <p:spPr>
          <a:xfrm>
            <a:off x="3750640" y="4394606"/>
            <a:ext cx="318211" cy="318211"/>
          </a:xfrm>
          <a:prstGeom prst="rect">
            <a:avLst/>
          </a:prstGeom>
        </p:spPr>
      </p:pic>
      <p:sp>
        <p:nvSpPr>
          <p:cNvPr id="33" name="Text 24"/>
          <p:cNvSpPr txBox="1"/>
          <p:nvPr/>
        </p:nvSpPr>
        <p:spPr>
          <a:xfrm>
            <a:off x="4312082"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latin typeface="Consolas" pitchFamily="34" charset="0"/>
                <a:ea typeface="Consolas" pitchFamily="34" charset="-122"/>
                <a:cs typeface="Consolas" pitchFamily="34" charset="-120"/>
              </a:rPr>
              <a:t>toString()</a:t>
            </a:r>
            <a:endParaRPr lang="en-IE" sz="1900" dirty="0"/>
          </a:p>
        </p:txBody>
      </p:sp>
      <p:sp>
        <p:nvSpPr>
          <p:cNvPr id="34" name="Text 25"/>
          <p:cNvSpPr txBox="1"/>
          <p:nvPr/>
        </p:nvSpPr>
        <p:spPr>
          <a:xfrm>
            <a:off x="3635426"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An object as text. Called for us when we print the object.</a:t>
            </a:r>
            <a:endParaRPr lang="en-IE" sz="1500" dirty="0"/>
          </a:p>
        </p:txBody>
      </p:sp>
      <p:sp>
        <p:nvSpPr>
          <p:cNvPr id="35" name="Card"/>
          <p:cNvSpPr/>
          <p:nvPr/>
        </p:nvSpPr>
        <p:spPr>
          <a:xfrm>
            <a:off x="6210148"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6" name="Icon tile"/>
          <p:cNvSpPr/>
          <p:nvPr/>
        </p:nvSpPr>
        <p:spPr>
          <a:xfrm>
            <a:off x="6466180" y="4279392"/>
            <a:ext cx="548640" cy="548640"/>
          </a:xfrm>
          <a:prstGeom prst="roundRect">
            <a:avLst>
              <a:gd name="adj" fmla="val 24000"/>
            </a:avLst>
          </a:prstGeom>
          <a:solidFill>
            <a:schemeClr val="accent5">
              <a:alpha val="14000"/>
            </a:schemeClr>
          </a:solidFill>
          <a:ln/>
        </p:spPr>
      </p:sp>
      <p:pic>
        <p:nvPicPr>
          <p:cNvPr id="37" name="magnifying glass icon" descr="magnifying glass icon">    </p:cNvPr>
          <p:cNvPicPr>
            <a:picLocks noChangeAspect="1"/>
          </p:cNvPicPr>
          <p:nvPr/>
        </p:nvPicPr>
        <p:blipFill>
          <a:blip r:embed="rId7"/>
          <a:stretch>
            <a:fillRect/>
          </a:stretch>
        </p:blipFill>
        <p:spPr>
          <a:xfrm>
            <a:off x="6581394" y="4394606"/>
            <a:ext cx="318211" cy="318211"/>
          </a:xfrm>
          <a:prstGeom prst="rect">
            <a:avLst/>
          </a:prstGeom>
        </p:spPr>
      </p:pic>
      <p:sp>
        <p:nvSpPr>
          <p:cNvPr id="38" name="Text 28"/>
          <p:cNvSpPr txBox="1"/>
          <p:nvPr/>
        </p:nvSpPr>
        <p:spPr>
          <a:xfrm>
            <a:off x="7142836"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latin typeface="Consolas" pitchFamily="34" charset="0"/>
                <a:ea typeface="Consolas" pitchFamily="34" charset="-122"/>
                <a:cs typeface="Consolas" pitchFamily="34" charset="-120"/>
              </a:rPr>
              <a:t>instanceof</a:t>
            </a:r>
            <a:endParaRPr lang="en-IE" sz="1900" dirty="0"/>
          </a:p>
        </p:txBody>
      </p:sp>
      <p:sp>
        <p:nvSpPr>
          <p:cNvPr id="39" name="Text 29"/>
          <p:cNvSpPr txBox="1"/>
          <p:nvPr/>
        </p:nvSpPr>
        <p:spPr>
          <a:xfrm>
            <a:off x="6466180"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True if an object is an instance of a class or its subclasses.</a:t>
            </a:r>
            <a:endParaRPr lang="en-IE" sz="1500" dirty="0"/>
          </a:p>
        </p:txBody>
      </p:sp>
      <p:sp>
        <p:nvSpPr>
          <p:cNvPr id="40" name="Card"/>
          <p:cNvSpPr/>
          <p:nvPr/>
        </p:nvSpPr>
        <p:spPr>
          <a:xfrm>
            <a:off x="9040901"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41" name="Icon tile"/>
          <p:cNvSpPr/>
          <p:nvPr/>
        </p:nvSpPr>
        <p:spPr>
          <a:xfrm>
            <a:off x="9296933" y="4279392"/>
            <a:ext cx="548640" cy="548640"/>
          </a:xfrm>
          <a:prstGeom prst="roundRect">
            <a:avLst>
              <a:gd name="adj" fmla="val 24000"/>
            </a:avLst>
          </a:prstGeom>
          <a:solidFill>
            <a:schemeClr val="accent1">
              <a:alpha val="14000"/>
            </a:schemeClr>
          </a:solidFill>
          <a:ln/>
        </p:spPr>
      </p:sp>
      <p:pic>
        <p:nvPicPr>
          <p:cNvPr id="42" name="prohibit icon" descr="prohibit icon">    </p:cNvPr>
          <p:cNvPicPr>
            <a:picLocks noChangeAspect="1"/>
          </p:cNvPicPr>
          <p:nvPr/>
        </p:nvPicPr>
        <p:blipFill>
          <a:blip r:embed="rId8"/>
          <a:stretch>
            <a:fillRect/>
          </a:stretch>
        </p:blipFill>
        <p:spPr>
          <a:xfrm>
            <a:off x="9412148" y="4394606"/>
            <a:ext cx="318211" cy="318211"/>
          </a:xfrm>
          <a:prstGeom prst="rect">
            <a:avLst/>
          </a:prstGeom>
        </p:spPr>
      </p:pic>
      <p:sp>
        <p:nvSpPr>
          <p:cNvPr id="43" name="Text 32"/>
          <p:cNvSpPr txBox="1"/>
          <p:nvPr/>
        </p:nvSpPr>
        <p:spPr>
          <a:xfrm>
            <a:off x="9973589"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latin typeface="Consolas" pitchFamily="34" charset="0"/>
                <a:ea typeface="Consolas" pitchFamily="34" charset="-122"/>
                <a:cs typeface="Consolas" pitchFamily="34" charset="-120"/>
              </a:rPr>
              <a:t>final</a:t>
            </a:r>
            <a:endParaRPr lang="en-IE" sz="1900" dirty="0"/>
          </a:p>
        </p:txBody>
      </p:sp>
      <p:sp>
        <p:nvSpPr>
          <p:cNvPr id="44" name="Text 33"/>
          <p:cNvSpPr txBox="1"/>
          <p:nvPr/>
        </p:nvSpPr>
        <p:spPr>
          <a:xfrm>
            <a:off x="9296933"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A final class can’t be extended; a final method can’t be overridden.</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72</a:t>
            </a:fld>
            <a:endParaRPr lang="en-IE"/>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lIns="0" tIns="0" rIns="0" bIns="0" rtlCol="0" anchor="t"/>
          <a:lstStyle/>
          <a:p>
            <a:pPr algn="l" indent="0" marL="0">
              <a:buNone/>
            </a:pPr>
            <a:r>
              <a:rPr lang="en-IE" sz="6400" b="1" dirty="0">
                <a:solidFill>
                  <a:schemeClr val="bg1"/>
                </a:solidFill>
              </a:rPr>
              <a:t>Questions?</a:t>
            </a:r>
            <a:endParaRPr lang="en-IE" sz="6400" dirty="0"/>
          </a:p>
        </p:txBody>
      </p:sp>
      <p:sp>
        <p:nvSpPr>
          <p:cNvPr id="3" name="Text 0"/>
          <p:cNvSpPr/>
          <p:nvPr>
            <p:ph idx="101" type="body" hasCustomPrompt="1"/>
          </p:nvPr>
        </p:nvSpPr>
        <p:spPr>
          <a:xfrm>
            <a:off x="822960" y="3611880"/>
            <a:ext cx="6766560" cy="822960"/>
          </a:xfrm>
          <a:prstGeom prst="rect">
            <a:avLst/>
          </a:prstGeom>
          <a:noFill/>
          <a:ln/>
        </p:spPr>
        <p:txBody>
          <a:bodyPr wrap="square" lIns="0" tIns="0" rIns="0" bIns="0" rtlCol="0" anchor="t"/>
          <a:lstStyle/>
          <a:p>
            <a:pPr indent="0" marL="0">
              <a:buNone/>
            </a:pPr>
            <a:r>
              <a:rPr lang="en-IE" sz="2200" dirty="0">
                <a:solidFill>
                  <a:schemeClr val="bg2"/>
                </a:solidFill>
              </a:rPr>
              <a:t>Object-Oriented Programming  ·  Lecture 4</a:t>
            </a:r>
            <a:endParaRPr lang="en-IE" sz="2200" dirty="0"/>
          </a:p>
        </p:txBody>
      </p:sp>
      <p:pic>
        <p:nvPicPr>
          <p:cNvPr id="4" name="Questions icon" descr="Questions icon">    </p:cNvPr>
          <p:cNvPicPr>
            <a:picLocks noChangeAspect="1"/>
          </p:cNvPicPr>
          <p:nvPr/>
        </p:nvPicPr>
        <p:blipFill>
          <a:blip r:embed="rId1">
            <a:alphaModFix amt="22000"/>
          </a:blip>
          <a:stretch>
            <a:fillRect/>
          </a:stretch>
        </p:blipFill>
        <p:spPr>
          <a:xfrm>
            <a:off x="7955280" y="1463040"/>
            <a:ext cx="3566160" cy="3566160"/>
          </a:xfrm>
          <a:prstGeom prst="rect">
            <a:avLst/>
          </a:prstGeom>
        </p:spPr>
      </p:pic>
    </p:spTree>
  </p:cSld>
  <p:clrMapOvr>
    <a:masterClrMapping/>
  </p:clrMapOvr>
</p:sld>
</file>

<file path=ppt/theme/theme1.xml><?xml version="1.0" encoding="utf-8"?>
<a:theme xmlns:a="http://schemas.openxmlformats.org/drawingml/2006/main" name="Blueprint">
  <a:themeElements>
    <a:clrScheme name="Blueprint">
      <a:dk1>
        <a:srgbClr val="1D2433"/>
      </a:dk1>
      <a:lt1>
        <a:srgbClr val="FFFFFF"/>
      </a:lt1>
      <a:dk2>
        <a:srgbClr val="5A6577"/>
      </a:dk2>
      <a:lt2>
        <a:srgbClr val="F2F5F9"/>
      </a:lt2>
      <a:accent1>
        <a:srgbClr val="E07A1F"/>
      </a:accent1>
      <a:accent2>
        <a:srgbClr val="1F3F6B"/>
      </a:accent2>
      <a:accent3>
        <a:srgbClr val="178A5B"/>
      </a:accent3>
      <a:accent4>
        <a:srgbClr val="2F6DB0"/>
      </a:accent4>
      <a:accent5>
        <a:srgbClr val="7457C2"/>
      </a:accent5>
      <a:accent6>
        <a:srgbClr val="F2C14E"/>
      </a:accent6>
      <a:hlink>
        <a:srgbClr val="2F6DB0"/>
      </a:hlink>
      <a:folHlink>
        <a:srgbClr val="7457C2"/>
      </a:folHlink>
    </a:clrScheme>
    <a:fontScheme name="Blueprin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4725</Words>
  <Application>Microsoft Office PowerPoint</Application>
  <PresentationFormat>On-screen Show (16:9)</PresentationFormat>
  <Paragraphs>1074</Paragraphs>
  <Slides>73</Slides>
  <Notes>73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73</vt:i4>
      </vt:variant>
    </vt:vector>
  </HeadingPairs>
  <TitlesOfParts>
    <vt:vector size="77" baseType="lpstr">
      <vt:lpstr>Arial</vt:lpstr>
      <vt:lpstr>Calibri</vt:lpstr>
      <vt:lpstr>Consolas</vt:lpstr>
      <vt:lpstr>Blueprint</vt:lpstr>
      <vt:lpstr>Abstract classes and polymorphism</vt:lpstr>
      <vt:lpstr>What we cover today</vt:lpstr>
      <vt:lpstr>Object and the class hierarchy</vt:lpstr>
      <vt:lpstr>The Object class</vt:lpstr>
      <vt:lpstr>Employee extends Person, and Person has no extends of its own. Which statement is true?</vt:lpstr>
      <vt:lpstr>Employee extends Person, and Person has no extends of its own. Which statement is true?</vt:lpstr>
      <vt:lpstr>What every object gets from Object</vt:lpstr>
      <vt:lpstr>Which Object method gives back a copy of the object?</vt:lpstr>
      <vt:lpstr>Which Object method gives back a copy of the object?</vt:lpstr>
      <vt:lpstr>The class hierarchy</vt:lpstr>
      <vt:lpstr>In the hierarchy Object → Person → Employee → FullTimeEmployee, what does FullTimeEmployee inherit from?</vt:lpstr>
      <vt:lpstr>In the hierarchy Object → Person → Employee → FullTimeEmployee, what does FullTimeEmployee inherit from?</vt:lpstr>
      <vt:lpstr>Abstract and concrete classes</vt:lpstr>
      <vt:lpstr>Which statement about abstract and concrete classes is true?</vt:lpstr>
      <vt:lpstr>Which statement about abstract and concrete classes is true?</vt:lpstr>
      <vt:lpstr>Rules for abstract classes</vt:lpstr>
      <vt:lpstr>A class has one abstract method. What must be true?</vt:lpstr>
      <vt:lpstr>A class has one abstract method. What must be true?</vt:lpstr>
      <vt:lpstr>Polymorphism and overloading</vt:lpstr>
      <vt:lpstr>Polymorphism means many forms</vt:lpstr>
      <vt:lpstr>In Java, what does polymorphism mean?</vt:lpstr>
      <vt:lpstr>In Java, what does polymorphism mean?</vt:lpstr>
      <vt:lpstr>Overloading a method</vt:lpstr>
      <vt:lpstr>What does this code print?</vt:lpstr>
      <vt:lpstr>What does this code print?</vt:lpstr>
      <vt:lpstr>Static binding</vt:lpstr>
      <vt:lpstr>Why is overloading called static (compile-time) polymorphism?</vt:lpstr>
      <vt:lpstr>Why is overloading called static (compile-time) polymorphism?</vt:lpstr>
      <vt:lpstr>How to overload a method</vt:lpstr>
      <vt:lpstr>Which pair of methods can NOT both be in the same class?</vt:lpstr>
      <vt:lpstr>Which pair of methods can NOT both be in the same class?</vt:lpstr>
      <vt:lpstr>Overriding</vt:lpstr>
      <vt:lpstr>Overriding an inherited method</vt:lpstr>
      <vt:lpstr>What is overriding?</vt:lpstr>
      <vt:lpstr>What is overriding?</vt:lpstr>
      <vt:lpstr>Dynamic binding</vt:lpstr>
      <vt:lpstr>What does this code print?</vt:lpstr>
      <vt:lpstr>What does this code print?</vt:lpstr>
      <vt:lpstr>The @Override annotation</vt:lpstr>
      <vt:lpstr>What happens when this code is compiled?</vt:lpstr>
      <vt:lpstr>What happens when this code is compiled?</vt:lpstr>
      <vt:lpstr>Overriding and abstraction</vt:lpstr>
      <vt:lpstr>Employee has abstract double calcPay() . FullTimeEmployee extends it without writing calcPay(). What happens?</vt:lpstr>
      <vt:lpstr>Employee has abstract double calcPay() . FullTimeEmployee extends it without writing calcPay(). What happens?</vt:lpstr>
      <vt:lpstr>When do we override?</vt:lpstr>
      <vt:lpstr>Which of these methods would we normally override in a subclass?</vt:lpstr>
      <vt:lpstr>Which of these methods would we normally override in a subclass?</vt:lpstr>
      <vt:lpstr>Using super to run the parent’s version</vt:lpstr>
      <vt:lpstr>What does this code print?</vt:lpstr>
      <vt:lpstr>What does this code print?</vt:lpstr>
      <vt:lpstr>toString, instanceof and final</vt:lpstr>
      <vt:lpstr>toString turns an object into text</vt:lpstr>
      <vt:lpstr>What is a toString() method usually for?</vt:lpstr>
      <vt:lpstr>What is a toString() method usually for?</vt:lpstr>
      <vt:lpstr>Every class already has a toString</vt:lpstr>
      <vt:lpstr>The class Job has no toString() method of its own. What does System.out.println(new Job()); print?</vt:lpstr>
      <vt:lpstr>The class Job has no toString() method of its own. What does System.out.println(new Job()); print?</vt:lpstr>
      <vt:lpstr>Our own toString, called for us</vt:lpstr>
      <vt:lpstr>Which method does System.out.println(employee); call for us?</vt:lpstr>
      <vt:lpstr>Which method does System.out.println(employee); call for us?</vt:lpstr>
      <vt:lpstr>Checking types with instanceof</vt:lpstr>
      <vt:lpstr>Car extends Vehicle. After Car car = new Car() , what is car instanceof Vehicle ?</vt:lpstr>
      <vt:lpstr>Car extends Vehicle. After Car car = new Car() , what is car instanceof Vehicle ?</vt:lpstr>
      <vt:lpstr>Final classes</vt:lpstr>
      <vt:lpstr>PartTimeEmployee is declared final . What happens with class Intern extends PartTimeEmployee ?</vt:lpstr>
      <vt:lpstr>PartTimeEmployee is declared final . What happens with class Intern extends PartTimeEmployee ?</vt:lpstr>
      <vt:lpstr>Here Employee has no abstract methods. Which class declaration will NOT compile?</vt:lpstr>
      <vt:lpstr>Here Employee has no abstract methods. Which class declaration will NOT compile?</vt:lpstr>
      <vt:lpstr>Final methods</vt:lpstr>
      <vt:lpstr>setupKeyCard() is final in Employee. What can a subclass NOT do with it?</vt:lpstr>
      <vt:lpstr>setupKeyCard() is final in Employee. What can a subclass NOT do with it?</vt:lpstr>
      <vt:lpstr>Lecture 4 at a glance</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Programming: Lecture 4, Abstract Classes and Polymorphism</dc:title>
  <dc:subject>Lecture 4 ideas in plain words, with quick checks</dc:subject>
  <dc:creator>Saeid Rezaei</dc:creator>
  <cp:lastModifiedBy>Saeid Rezaei</cp:lastModifiedBy>
  <cp:revision>1</cp:revision>
  <dcterms:created xsi:type="dcterms:W3CDTF">2026-10-11T09:59:12Z</dcterms:created>
  <dcterms:modified xsi:type="dcterms:W3CDTF">2026-10-11T09:59:12Z</dcterms:modified>
</cp:coreProperties>
</file>
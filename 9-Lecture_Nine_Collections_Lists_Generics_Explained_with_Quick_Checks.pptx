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0b0f8bc-d8b4-0f04-58f2-f8b4e2c01d5a}">
          <p14:sldIdLst>
            <p14:sldId id="256"/>
            <p14:sldId id="257"/>
          </p14:sldIdLst>
        </p14:section>
        <p14:section name="1. Collection classes" id="{066e9dde-554c-bf21-8809-e07552ec1eb9}">
          <p14:sldIdLst>
            <p14:sldId id="258"/>
            <p14:sldId id="259"/>
            <p14:sldId id="260"/>
            <p14:sldId id="261"/>
            <p14:sldId id="262"/>
            <p14:sldId id="263"/>
            <p14:sldId id="264"/>
            <p14:sldId id="265"/>
            <p14:sldId id="266"/>
            <p14:sldId id="267"/>
          </p14:sldIdLst>
        </p14:section>
        <p14:section name="2. Lists" id="{15e53ce1-0ea1-9d0c-307e-497714d45ec9}">
          <p14:sldIdLst>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3. Generics" id="{0efdd0b4-69e1-e505-4adf-7070badf4ed0}">
          <p14:sldIdLst>
            <p14:sldId id="290"/>
            <p14:sldId id="291"/>
            <p14:sldId id="292"/>
            <p14:sldId id="293"/>
            <p14:sldId id="294"/>
            <p14:sldId id="295"/>
            <p14:sldId id="296"/>
            <p14:sldId id="297"/>
            <p14:sldId id="298"/>
            <p14:sldId id="299"/>
            <p14:sldId id="300"/>
            <p14:sldId id="301"/>
            <p14:sldId id="302"/>
            <p14:sldId id="303"/>
            <p14:sldId id="304"/>
          </p14:sldIdLst>
        </p14:section>
        <p14:section name="4. Generic classes" id="{bbbccc08-d78c-6cf0-129a-ac65d08576ee}">
          <p14:sldIdLst>
            <p14:sldId id="305"/>
            <p14:sldId id="306"/>
            <p14:sldId id="307"/>
            <p14:sldId id="308"/>
            <p14:sldId id="309"/>
            <p14:sldId id="310"/>
            <p14:sldId id="311"/>
            <p14:sldId id="312"/>
            <p14:sldId id="313"/>
            <p14:sldId id="314"/>
            <p14:sldId id="315"/>
            <p14:sldId id="316"/>
          </p14:sldIdLst>
        </p14:section>
        <p14:section name="Wrap-up" id="{d8bb2c64-d333-82aa-03ff-ccbd38e65828}">
          <p14:sldIdLst>
            <p14:sldId id="317"/>
            <p14:sldId id="3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9 is about collections: classes that hold a group of objects and grow as we add to them, and generics, which let one class work with any type. The picture on the right is the whole idea in one go. An array of three Strings is full, so a fourth word has nowhere to go. An ArrayList simply grows when we add the fourth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today: collection classes, lists, generics, and writing our own generic class. After each idea there is a quick check with four options. Give everyone about 30 seconds, take a show of hands for A, B, C and D, then go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why we need collections when we already have arrays, and how the Java Collections Framework is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is just a group of objects we want to store and work with. We can already keep a list of values in an array, but an array’s size is fixed the moment we create it. The array on the right has room for three words, so the fourth assignment throws an ArrayIndexOutOfBoundsException, the exception we met in Lecture 8. An ArrayList has no such limit: it grows as we add, and size() tells us how many items it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“It stays at 5, so we’d need a new, bigger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“It stays at 5, so we’d need a new, bigger array”.
An array’s size is fixed when it’s created, so it stays at 5, and storing at index 5 throws an ArrayIndexOutOfBoundsException. To hold more, we’d make a bigger array and copy the values across, which is what an ArrayList does for us behind the scenes.
This links back to Lecture 8: the exception message says Index 5 out of bounds for length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Java Collections Framework is a set of interfaces, and classes that implement them, for storing groups of objects. Its data structures expand and contract as we add and remove. They store objects: wrapper classes like Integer, or our own classes like Student. Every collection interface is generic, so we say the element type when we create one. Some of the collections are interfaces, such as List, and each interface has one or more classes that implement it, such as ArrayList and LinkedList. We always create objects from the classes. The Collections class, from Lecture 7, adds algorithms such as sort and shuffle.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lecture’s hierarchy diagram, redrawn. Green boxes are interfaces and orange boxes are classes, and each line leads up to the interface or class it extends or implements. Collection itself extends Iterable, which is why we can use a for-each loop on any collection. List, Queue and Set all extend Collection. Today we work on the List side: ArrayList, LinkedList and Vector, with Stack as a subclass of Vector. Map is a separate tree: it stores pairs of keys and values, so it isn’t a Collection. I’ve left out a few extra links to keep the picture readable; for example, LinkedList also implements Deque.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“List”.
List is an interface: it says what a list can do, but we can’t create a List object from it. The classes ArrayList, LinkedList and Vector implement List, so those are what we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“Map”.
Map has its own tree in the diagram. It stores pairs of keys and values rather than single items, so it doesn’t extend Collection, while List, Set and Queue all do.
If anyone asks: trying Collection&lt;String&gt; c = new HashMap&lt;String, String&gt;(); gives a compile error, because a HashMap is not a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the List interface and the classes that implement it. We’ll see how an ArrayList and a LinkedList store their items, when to pick which, and what a Vector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 collection where items are kept in order by their position, and each one has an index starting at 0, just like an array. List gives us methods for adding, removing and sorting. List itself is only an interface, so we create an ArrayList or a LinkedList and can keep it in a List variable, as in the code. The lecture slide uses the name list for both lines; two variables in the same method need different names, so I’ve called them names and others. A small fix to the lecture slide: it says List is implemented by two collections. Those are the two we use most, but Vector and Stack implement List too, as the framework diagram shows. Moving through a list in both directions is done with a ListIterator, which has next and previous.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“List is an interface, so we can’t create a List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“List is an interface, so we can’t create a List object”.
An interface only says what a list can do, so new List&lt;String&gt;() fails with “List is abstract; cannot be instantiated”. We create an object of a class that implements it, new ArrayList&lt;String&gt;(), and can still keep it in a List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ArrayList is a dynamic array. It keeps its items in an ordinary array inside it, and when that array is full it makes a bigger one and copies the items across, which is why it seems to grow by itself. Because the items sit in an array, getting one by its index is quick. It keeps items in order: add puts an item at the end, or at an index we choose. Duplicates and null values are both allowed. The code is the lecture’s example. I’ve added the last println so we can see the list after remove("goodbye"): the other items close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“2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“2 welcome”.
remove("goodbye") takes the item out and the list closes the gap, so welcome moves from index 2 to index 1. That leaves 2 items, and get(1) gives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“Repeated Strings and null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“Repeated Strings and null values”.
An ArrayList allows duplicates and null values, so a list can hold [a, a, null]. It also grows as needed, so its starting size is no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linked list each item sits in a node, and each node holds a reference to the next node. The list keeps a reference to the first node, the head, and finds any item by starting there and following the links one node at a time. A small fix to the lecture slide: it says the tail is a null element. The tail is the last real node, d here; what is null is its next reference, because nothing comes after it. And another one: the slides say we don’t use indexing with a linked list. Java’s LinkedList is a List, so it does have get(i); it just has to walk along the links to reach that index, which is slower than an ArrayList. Java’s version also links each node back to the one before, so it can be walked from either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“null, as d is the last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“null, as d is the last node”.
d is the tail, the last real node. Nothing comes after it, so its next reference is null, and that’s how the list knows it has reached the end. The tail isn’t an extra empty node; it’s 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“It starts at the head and follows the next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“It starts at the head and follows the next links”.
Each node only knows where the next one is, so the list starts at the head, a, and follows the links: a to b, then b to c. A node here can’t look back, so starting at d wouldn’t help. An ArrayList can jump straight to an index because its items sit in an array.
Java’s own LinkedList links both ways, and for an item nearer the end it does start from the tail. In the one-way list on the slide, the head is the only way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ArrayList and LinkedList are both concrete implementations of the List interface, and which one we pick depends on what the program does most. An ArrayList is the best choice when we mostly get items by index and only add or remove at the end. Inserting or removing in the middle means shifting every later item along. A LinkedList is the one for inserting and deleting anywhere: once we’re at the right node, it just changes a couple of links. Getting to that node still means walking the list. And if nothing is ever inserted or deleted, a plain array is the most efficient of the three. Both lists grow and shrink; an array never changes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“A LinkedList, as it just changes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“A LinkedList, as it just changes links”.
When a program inserts or deletes elements anywhere in the list, the lecture says to choose LinkedList. An ArrayList has to shift items along to open or close a gap, and an array can’t change its size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“An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“An array”.
Nothing is ever inserted or deleted, and there are always 12 of them. The lecture says that when no insertion or deletion is needed, an array is the most efficient data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Vector is very like an ArrayList: it’s indexed like an array, and it grows and shrinks as needed. The main difference is that a Vector is synchronized. A thread is one path through a program, and a program can run several threads at the same time. With a Vector, only one thread can use it at a time, so two threads can’t change it at once and mix up its contents. That’s why the lecture says to use a Vector when concurrency is an issue. Java’s Stack class is a subclass of Vector, which gives a stack the ability to change its size while keeping its indexes. Vector is one of Java’s older classes, so in programs with a single thread you’ll nearly always see ArrayList instead. Even with several threads, newer code tends to use Collections.synchronizedList or the classes in java.util.concurrent rather than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“A Vector is synchronized”.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“A Vector is synchronized”.
Both grow and shrink, and both are indexed like an array. A Vector is synchronized, so when several threads share it, only one can use it at a time. An ArrayList isn’t synchronized.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generics. We’ll see how the type in angle brackets works, why it makes one class reusable for every type, the main ArrayList methods, and what the letters E, T, K, V and N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Generics let us say which type of element a class works with at the moment we use it. Arrays already work like this: we don’t need an int array class and a String array class; int[] and String[] are the same idea with a different element type. With a generic class the element type goes in angle brackets, and the compiler then checks every item we add, so words.add(42) is stopped before the program runs. A correction to the lecture slides: they say a generic type is written &lt;?&gt; and an array of them as ?[] numbers. The question mark is the wildcard, which we only use when we use a generic type, as in List&lt;?&gt;, meaning a list of some type. When we write a generic class we give the type parameter a name such as E or T, and the array is E[] values. We’ll see that in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“It won’t compile: 42 isn’t a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“It won’t compile: 42 isn’t a String”.
The type in the brackets tells the compiler that words only holds Strings. 42 is an int, so the compiler rejects the line with “int cannot be converted to String”, before the program can run. Catching that kind of mistake early is the point of generics.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ArrayList takes its element type as a parameter, it works with any type, which makes it far more reusable. We say it’s type-independent. Without generics we’d need a StringArrayList class, an IntegerArrayList class, a StudentArrayList class and so on, or at least an overloaded add method for every type, as on the left. With generics there’s one class and one add method, and E is filled in when we create the list, so the calls look the same whatever we store. A small fix to the lecture slide: it gives the method as E add(E element). The real method returns a boolean, true once the item is added; the methods slide after the quick check has the full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“One class works for any element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“One class works for any element type”.
E is filled in when we create the list, so the same class and the same methods work for Strings, Integers, Students or any other class. Without generics we’d write, and fix, a separate class for every type. C is a trap: generics still need wrapper classes, as Part 4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methods work the same whatever the list holds; E just means the element type, so for an ArrayList&lt;String&gt;, get gives back a String. Two fixes to the lecture slide. add(E element) returns a boolean, true once the item is added, not an E. And contains takes an Object and returns a boolean with a small b, the primitive type, not the Boolean class. The lecture has set and remove right: set gives back the item it replaced, and remove(int index) gives back the item it removed. I’ve added the other remove, which takes the item itself, as in remove("goodbye"): it returns true or false, depending on whether the item was there. The ? super E inside sort is a wildcard: it means a Comparator for E, or for a parent class of E. We met Comparators in Lecture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“[Dan, Cara, Bob]”.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“[Dan, Cara, Bob]”.
add(1, "Cara") puts Cara at index 1 and moves Bob along, giving [Ann, Cara, Bob]. Then set(0, "Dan") replaces Ann rather than adding a new item, so the list is [Dan, Cara, Bob].
D is what we’d get if set added a new item instead of replacing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“"Dan", the item it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“"Dan", the item it removed”.
remove(int index) takes the item out of the list and gives it back, so we get "Dan" and the list becomes [Cara, Bob]. Careful: remove("goodbye"), with an item instead of an index, is a different method that returns true or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generic class is written, the element type is a type parameter, and there are a few common names for it. E is for an element in a collection, T for any type, K and V for the key and the value in a pair, as in a Map, and N for a number. The question mark is different: it’s the wildcard, an unknown type, and we use it when we use a generic type, not to name one. The letters themselves have no effect on the code. add(E element), add(T type) and add(Z zorgs) would all work exactly the same; we use the usual letters so that anyone reading our code can tell what we expect it to store. One small slip on the lecture slide: “part pf” should read “part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“Nothing: Z is just a different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“Nothing: Z is just a different name”.
A type parameter is a placeholder name, a bit like a variable name for a type. Box&lt;Z&gt; and Box&lt;T&gt; work the same way. We use E, T, K, V and N by habit, so others can guess what our class expects.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writing our own generic class, the lecture’s Print class, using it with different types, and why primitive types need wrapper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lecture’s Print class. The &lt;E&gt; after the class name is the type parameter: it says the element type will be given later. Inside the class, E is used like any type, so print takes an E[] and the loop goes through each E value. When we create a Print&lt;Integer&gt;, E means Integer for that object. The letter has no effect: public class Print&lt;A&gt; would work just as well. E simply tells others it holds elements. Two corrections to the lecture slides. The class header is shown as public class ClassName &lt;?&gt;, which won’t compile: the parameter needs a name such as E or T. And the slide says generic methods can only be declared in a generic class. A method that uses the class’s E, like print, does have to be inside that class, but any class can also have a generic method with its own parameter, such as public static &lt;T&gt; void show(T item). We don’t need those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“public class Print&lt;E&gt;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“public class Print&lt;E&gt; {”.
The type parameter is a name in angle brackets straight after the class name. A uses ?, the wildcard, which only appears when we use a generic type, so it won’t compile. B has the brackets in the wrong place, and C fails because generic isn’t a Java keyword.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lecture’s Main class. We make a Print&lt;Integer&gt; and give it the Integer array, then a Print&lt;String&gt; and give it the String array. It’s the same class each time; only E changes. The output is each value on its own line. Notice the array is Integer[], not int[], because E has to be a class. That’s the last idea of the lecture, coming up after the quick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“integers.print(words);”.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“integers.print(words);”.
integers is a Print&lt;Integer&gt;, so its print method takes an Integer[], but words is a String[], so the compiler rejects the call. A and B match their types, and D is fine: Print works with any class, Double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limit: a generic class only works with objects, so it can’t take primitive types like int, double or char. Each primitive has a wrapper class that holds its value as an object, so we write ArrayList&lt;Integer&gt;, not ArrayList&lt;int&gt;, and ArrayList&lt;Character&gt;, not ArrayList&lt;char&gt;. ArrayList&lt;int&gt; gives the compile error unexpected type, required: reference, found: int. We can still pass plain values: numbers.add(3) works because Java wraps the 3 in an Integer for us, which is called autoboxing, and unwraps it again when we read it back, which is called unboxing.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“ArrayList&lt;Character&gt; letters = new ArrayList&lt;Character&gt;();”.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“ArrayList&lt;Character&gt; letters = new ArrayList&lt;Character&gt;();”.
Generic types need classes, so char has to be wrapped in Character. Both char and int are primitives, so A and C won’t compile, and character with a small c isn’t a class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“Java turns the int 3 into an Integer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“Java turns the int 3 into an Integer for us”.
This is autoboxing: Java wraps the int 3 in an Integer object for us. When we read it back with numbers.get(0), Java unwraps it again, which is called unboxing. The list itself only ever holds Integer objects.
new Integer(3) is deprecated in current Java; if we ever need to wrap a value ourselves, Integer.valueOf(3) is the way to 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ideas from today on one slide. A good one to leave up while taking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The summary slide before this one is a good one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Head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rtlCol="0"/>
          <a:lstStyle>
            <a:lvl1pPr indent="0" marL="0">
              <a:buNone/>
              <a:defRPr lang="en-US" sz="1400" b="1" spc="3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822960" y="2011680"/>
            <a:ext cx="6035040" cy="178308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
        <p:nvSpPr>
          <p:cNvPr id="4" name="Text 0"/>
          <p:cNvSpPr/>
          <p:nvPr>
            <p:ph idx="102" type="body" hasCustomPrompt="1"/>
          </p:nvPr>
        </p:nvSpPr>
        <p:spPr>
          <a:xfrm>
            <a:off x="822960" y="3794760"/>
            <a:ext cx="5669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rtlCol="0"/>
          <a:lstStyle>
            <a:lvl1pPr indent="0" marL="0">
              <a:buNone/>
              <a:defRPr lang="en-US" sz="9600" b="1" dirty="0">
                <a:solidFill>
                  <a:schemeClr val="accent1"/>
                </a:solidFill>
              </a:defRPr>
            </a:lvl1pPr>
          </a:lstStyle>
          <a:p>
            <a:pPr indent="0" marL="0">
              <a:buNone/>
            </a:pP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US" sz="1200" b="1" spc="150" kern="0" dirty="0">
                <a:solidFill>
                  <a:schemeClr val="tx2"/>
                </a:solidFill>
              </a:defRPr>
            </a:lvl1pPr>
          </a:lstStyle>
          <a:p>
            <a:pPr indent="0" marL="0">
              <a:buNone/>
            </a:pP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tx2"/>
                </a:solidFill>
              </a:rPr>
              <a:t>Object-Oriented Programming  ·  Lecture 9</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ick Che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tx2"/>
                </a:solidFill>
              </a:rPr>
              <a:t>Object-Oriented Programming  ·  Lecture 9</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11091672" cy="777240"/>
          </a:xfrm>
          <a:prstGeom prst="rect">
            <a:avLst/>
          </a:prstGeom>
          <a:noFill/>
          <a:ln/>
        </p:spPr>
        <p:txBody>
          <a:bodyPr wrap="square" rtlCol="0"/>
          <a:lstStyle>
            <a:lvl1pPr algn="l" indent="0" marL="0">
              <a:buNone/>
              <a:defRPr lang="en-US" sz="2000" b="1" dirty="0">
                <a:solidFill>
                  <a:schemeClr val="tx2"/>
                </a:solidFill>
              </a:defRPr>
            </a:lvl1pPr>
          </a:lstStyle>
          <a:p>
            <a:pPr algn="l" indent="0" marL="0">
              <a:buNone/>
            </a:pPr>
            <a:endParaRPr lang="en-US" sz="20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tx2"/>
                </a:solidFill>
              </a:rPr>
              <a:t>Object-Oriented Programming  ·  Lecture 9</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rtlCol="0"/>
          <a:lstStyle>
            <a:lvl1pPr algn="l" indent="0" marL="0">
              <a:buNone/>
              <a:defRPr lang="en-US" sz="6400" b="1" dirty="0">
                <a:solidFill>
                  <a:schemeClr val="bg1"/>
                </a:solidFill>
              </a:defRPr>
            </a:lvl1pPr>
          </a:lstStyle>
          <a:p>
            <a:pPr algn="l" indent="0" marL="0">
              <a:buNone/>
            </a:pPr>
            <a:endParaRPr lang="en-US" sz="6400" dirty="0"/>
          </a:p>
        </p:txBody>
      </p:sp>
      <p:sp>
        <p:nvSpPr>
          <p:cNvPr id="3" name="Text 0"/>
          <p:cNvSpPr/>
          <p:nvPr>
            <p:ph idx="101" type="body" hasCustomPrompt="1"/>
          </p:nvPr>
        </p:nvSpPr>
        <p:spPr>
          <a:xfrm>
            <a:off x="822960" y="3611880"/>
            <a:ext cx="6766560" cy="82296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6.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6.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6.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6.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6.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6.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6.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6.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4.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6.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6.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6.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6.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6.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6.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6.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4.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6.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4.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6.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6.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slideLayout" Target="../slideLayouts/slideLayout4.xml"/><Relationship Id="rId10"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7.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lIns="0" tIns="0" rIns="0" bIns="0" rtlCol="0" anchor="ctr"/>
          <a:lstStyle/>
          <a:p>
            <a:pPr indent="0" marL="0">
              <a:buNone/>
            </a:pPr>
            <a:r>
              <a:rPr lang="en-US" sz="1400" b="1" spc="300" kern="0" dirty="0">
                <a:solidFill>
                  <a:schemeClr val="accent6"/>
                </a:solidFill>
              </a:rPr>
              <a:t>LECTURE 9</a:t>
            </a:r>
            <a:endParaRPr lang="en-US" sz="1400" dirty="0"/>
          </a:p>
        </p:txBody>
      </p:sp>
      <p:sp>
        <p:nvSpPr>
          <p:cNvPr id="3" name="Text 0"/>
          <p:cNvSpPr/>
          <p:nvPr>
            <p:ph idx="101" type="title" hasCustomPrompt="1"/>
          </p:nvPr>
        </p:nvSpPr>
        <p:spPr>
          <a:xfrm>
            <a:off x="822960" y="2011680"/>
            <a:ext cx="6035040" cy="1783080"/>
          </a:xfrm>
          <a:prstGeom prst="rect">
            <a:avLst/>
          </a:prstGeom>
          <a:noFill/>
          <a:ln/>
        </p:spPr>
        <p:txBody>
          <a:bodyPr wrap="square" lIns="0" tIns="0" rIns="0" bIns="0" rtlCol="0" anchor="t"/>
          <a:lstStyle/>
          <a:p>
            <a:pPr algn="l" indent="0" marL="0">
              <a:buNone/>
            </a:pPr>
            <a:r>
              <a:rPr lang="en-US" sz="5200" b="1" dirty="0">
                <a:solidFill>
                  <a:schemeClr val="bg1"/>
                </a:solidFill>
              </a:rPr>
              <a:t>Collections, Lists and Generics</a:t>
            </a:r>
            <a:endParaRPr lang="en-US" sz="5200" dirty="0"/>
          </a:p>
        </p:txBody>
      </p:sp>
      <p:sp>
        <p:nvSpPr>
          <p:cNvPr id="4" name="Text 0"/>
          <p:cNvSpPr/>
          <p:nvPr>
            <p:ph idx="102" type="body" hasCustomPrompt="1"/>
          </p:nvPr>
        </p:nvSpPr>
        <p:spPr>
          <a:xfrm>
            <a:off x="822960" y="3794760"/>
            <a:ext cx="5669280" cy="914400"/>
          </a:xfrm>
          <a:prstGeom prst="rect">
            <a:avLst/>
          </a:prstGeom>
          <a:noFill/>
          <a:ln/>
        </p:spPr>
        <p:txBody>
          <a:bodyPr wrap="square" lIns="0" tIns="0" rIns="0" bIns="0" rtlCol="0" anchor="t"/>
          <a:lstStyle/>
          <a:p>
            <a:pPr indent="0" marL="0">
              <a:buNone/>
            </a:pPr>
            <a:r>
              <a:rPr lang="en-US" sz="2000" dirty="0">
                <a:solidFill>
                  <a:schemeClr val="bg2"/>
                </a:solidFill>
              </a:rPr>
              <a:t>Collection classes, ArrayList and LinkedList, Vector, generic types and generic classes</a:t>
            </a:r>
            <a:endParaRPr lang="en-US" sz="2000" dirty="0"/>
          </a:p>
        </p:txBody>
      </p:sp>
      <p:sp>
        <p:nvSpPr>
          <p:cNvPr id="6" name="Text 3"/>
          <p:cNvSpPr txBox="1"/>
          <p:nvPr/>
        </p:nvSpPr>
        <p:spPr>
          <a:xfrm>
            <a:off x="6903720" y="1298448"/>
            <a:ext cx="4718304" cy="292608"/>
          </a:xfrm>
          <a:prstGeom prst="rect">
            <a:avLst/>
          </a:prstGeom>
          <a:noFill/>
          <a:ln/>
        </p:spPr>
        <p:txBody>
          <a:bodyPr wrap="square" lIns="0" tIns="0" rIns="0" bIns="0" rtlCol="0" anchor="t"/>
          <a:lstStyle/>
          <a:p>
            <a:pPr algn="l" indent="0" marL="0">
              <a:buNone/>
            </a:pPr>
            <a:r>
              <a:rPr lang="en-US" sz="1300" i="1" dirty="0">
                <a:solidFill>
                  <a:schemeClr val="bg2"/>
                </a:solidFill>
              </a:rPr>
              <a:t>an array of 3 is full</a:t>
            </a:r>
            <a:endParaRPr lang="en-US" sz="1300" dirty="0"/>
          </a:p>
        </p:txBody>
      </p:sp>
      <p:sp>
        <p:nvSpPr>
          <p:cNvPr id="7" name="Array slot 0"/>
          <p:cNvSpPr/>
          <p:nvPr/>
        </p:nvSpPr>
        <p:spPr>
          <a:xfrm>
            <a:off x="6903720" y="1645920"/>
            <a:ext cx="1097280" cy="566928"/>
          </a:xfrm>
          <a:prstGeom prst="roundRect">
            <a:avLst>
              <a:gd name="adj" fmla="val 16129"/>
            </a:avLst>
          </a:prstGeom>
          <a:solidFill>
            <a:schemeClr val="bg1">
              <a:alpha val="12000"/>
            </a:schemeClr>
          </a:solidFill>
          <a:ln w="19050">
            <a:solidFill>
              <a:schemeClr val="bg1"/>
            </a:solidFill>
            <a:prstDash val="solid"/>
          </a:ln>
        </p:spPr>
      </p:sp>
      <p:sp>
        <p:nvSpPr>
          <p:cNvPr id="8" name="Text 5"/>
          <p:cNvSpPr txBox="1"/>
          <p:nvPr/>
        </p:nvSpPr>
        <p:spPr>
          <a:xfrm>
            <a:off x="6903720" y="1645920"/>
            <a:ext cx="1097280"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hello</a:t>
            </a:r>
            <a:endParaRPr lang="en-US" sz="1500" dirty="0"/>
          </a:p>
        </p:txBody>
      </p:sp>
      <p:sp>
        <p:nvSpPr>
          <p:cNvPr id="9" name="Array slot 1"/>
          <p:cNvSpPr/>
          <p:nvPr/>
        </p:nvSpPr>
        <p:spPr>
          <a:xfrm>
            <a:off x="8110728" y="1645920"/>
            <a:ext cx="1097280" cy="566928"/>
          </a:xfrm>
          <a:prstGeom prst="roundRect">
            <a:avLst>
              <a:gd name="adj" fmla="val 16129"/>
            </a:avLst>
          </a:prstGeom>
          <a:solidFill>
            <a:schemeClr val="bg1">
              <a:alpha val="12000"/>
            </a:schemeClr>
          </a:solidFill>
          <a:ln w="19050">
            <a:solidFill>
              <a:schemeClr val="bg1"/>
            </a:solidFill>
            <a:prstDash val="solid"/>
          </a:ln>
        </p:spPr>
      </p:sp>
      <p:sp>
        <p:nvSpPr>
          <p:cNvPr id="10" name="Text 7"/>
          <p:cNvSpPr txBox="1"/>
          <p:nvPr/>
        </p:nvSpPr>
        <p:spPr>
          <a:xfrm>
            <a:off x="8110728" y="1645920"/>
            <a:ext cx="1097280"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goodbye</a:t>
            </a:r>
            <a:endParaRPr lang="en-US" sz="1500" dirty="0"/>
          </a:p>
        </p:txBody>
      </p:sp>
      <p:sp>
        <p:nvSpPr>
          <p:cNvPr id="11" name="Array slot 2"/>
          <p:cNvSpPr/>
          <p:nvPr/>
        </p:nvSpPr>
        <p:spPr>
          <a:xfrm>
            <a:off x="9317736" y="1645920"/>
            <a:ext cx="1097280" cy="566928"/>
          </a:xfrm>
          <a:prstGeom prst="roundRect">
            <a:avLst>
              <a:gd name="adj" fmla="val 16129"/>
            </a:avLst>
          </a:prstGeom>
          <a:solidFill>
            <a:schemeClr val="bg1">
              <a:alpha val="12000"/>
            </a:schemeClr>
          </a:solidFill>
          <a:ln w="19050">
            <a:solidFill>
              <a:schemeClr val="bg1"/>
            </a:solidFill>
            <a:prstDash val="solid"/>
          </a:ln>
        </p:spPr>
      </p:sp>
      <p:sp>
        <p:nvSpPr>
          <p:cNvPr id="12" name="Text 9"/>
          <p:cNvSpPr txBox="1"/>
          <p:nvPr/>
        </p:nvSpPr>
        <p:spPr>
          <a:xfrm>
            <a:off x="9317736" y="1645920"/>
            <a:ext cx="1097280"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welcome</a:t>
            </a:r>
            <a:endParaRPr lang="en-US" sz="1500" dirty="0"/>
          </a:p>
        </p:txBody>
      </p:sp>
      <p:sp>
        <p:nvSpPr>
          <p:cNvPr id="13" name="No room"/>
          <p:cNvSpPr/>
          <p:nvPr/>
        </p:nvSpPr>
        <p:spPr>
          <a:xfrm>
            <a:off x="10524744" y="1645920"/>
            <a:ext cx="1097280" cy="566928"/>
          </a:xfrm>
          <a:prstGeom prst="roundRect">
            <a:avLst>
              <a:gd name="adj" fmla="val 16129"/>
            </a:avLst>
          </a:prstGeom>
          <a:solidFill>
            <a:schemeClr val="bg1">
              <a:alpha val="3000"/>
            </a:schemeClr>
          </a:solidFill>
          <a:ln w="19050">
            <a:solidFill>
              <a:schemeClr val="bg1">
                <a:alpha val="55000"/>
              </a:schemeClr>
            </a:solidFill>
            <a:prstDash val="dash"/>
          </a:ln>
        </p:spPr>
      </p:sp>
      <p:sp>
        <p:nvSpPr>
          <p:cNvPr id="14" name="Text 11"/>
          <p:cNvSpPr txBox="1"/>
          <p:nvPr/>
        </p:nvSpPr>
        <p:spPr>
          <a:xfrm>
            <a:off x="10524744" y="1645920"/>
            <a:ext cx="1097280" cy="566928"/>
          </a:xfrm>
          <a:prstGeom prst="rect">
            <a:avLst/>
          </a:prstGeom>
          <a:noFill/>
          <a:ln/>
        </p:spPr>
        <p:txBody>
          <a:bodyPr wrap="square" lIns="0" tIns="0" rIns="0" bIns="0" rtlCol="0" anchor="ctr"/>
          <a:lstStyle/>
          <a:p>
            <a:pPr algn="ctr" indent="0" marL="0">
              <a:buNone/>
            </a:pPr>
            <a:r>
              <a:rPr lang="en-US" sz="1500" b="1" dirty="0">
                <a:solidFill>
                  <a:schemeClr val="bg2"/>
                </a:solidFill>
                <a:latin typeface="Consolas" pitchFamily="34" charset="0"/>
                <a:ea typeface="Consolas" pitchFamily="34" charset="-122"/>
                <a:cs typeface="Consolas" pitchFamily="34" charset="-120"/>
              </a:rPr>
              <a:t>hi</a:t>
            </a:r>
            <a:endParaRPr lang="en-US" sz="1500" dirty="0"/>
          </a:p>
        </p:txBody>
      </p:sp>
      <p:pic>
        <p:nvPicPr>
          <p:cNvPr id="15" name="Image 0" descr="No room mark">    </p:cNvPr>
          <p:cNvPicPr>
            <a:picLocks noChangeAspect="1"/>
          </p:cNvPicPr>
          <p:nvPr/>
        </p:nvPicPr>
        <p:blipFill>
          <a:blip r:embed="rId1"/>
          <a:stretch>
            <a:fillRect/>
          </a:stretch>
        </p:blipFill>
        <p:spPr>
          <a:xfrm>
            <a:off x="11439144" y="1481328"/>
            <a:ext cx="329184" cy="329184"/>
          </a:xfrm>
          <a:prstGeom prst="rect">
            <a:avLst/>
          </a:prstGeom>
        </p:spPr>
      </p:pic>
      <p:sp>
        <p:nvSpPr>
          <p:cNvPr id="16" name="Shape 12"/>
          <p:cNvSpPr/>
          <p:nvPr/>
        </p:nvSpPr>
        <p:spPr>
          <a:xfrm>
            <a:off x="9262872" y="3163824"/>
            <a:ext cx="0" cy="448056"/>
          </a:xfrm>
          <a:prstGeom prst="line">
            <a:avLst/>
          </a:prstGeom>
          <a:noFill/>
          <a:ln w="22225">
            <a:solidFill>
              <a:schemeClr val="bg1"/>
            </a:solidFill>
            <a:prstDash val="solid"/>
            <a:tailEnd type="triangle"/>
          </a:ln>
        </p:spPr>
      </p:sp>
      <p:sp>
        <p:nvSpPr>
          <p:cNvPr id="17" name="Add call"/>
          <p:cNvSpPr/>
          <p:nvPr/>
        </p:nvSpPr>
        <p:spPr>
          <a:xfrm>
            <a:off x="7708392" y="2724912"/>
            <a:ext cx="3108960" cy="438912"/>
          </a:xfrm>
          <a:prstGeom prst="roundRect">
            <a:avLst>
              <a:gd name="adj" fmla="val 16667"/>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nsolas" pitchFamily="34" charset="0"/>
                <a:ea typeface="Consolas" pitchFamily="34" charset="-122"/>
                <a:cs typeface="Consolas" pitchFamily="34" charset="-120"/>
              </a:rPr>
              <a:t>list.add("hi")</a:t>
            </a:r>
            <a:endParaRPr lang="en-US" sz="1400" dirty="0"/>
          </a:p>
        </p:txBody>
      </p:sp>
      <p:sp>
        <p:nvSpPr>
          <p:cNvPr id="18" name="List item 0"/>
          <p:cNvSpPr/>
          <p:nvPr/>
        </p:nvSpPr>
        <p:spPr>
          <a:xfrm>
            <a:off x="6903720" y="3703320"/>
            <a:ext cx="1097280" cy="566928"/>
          </a:xfrm>
          <a:prstGeom prst="roundRect">
            <a:avLst>
              <a:gd name="adj" fmla="val 16129"/>
            </a:avLst>
          </a:prstGeom>
          <a:solidFill>
            <a:schemeClr val="accent6"/>
          </a:solidFill>
          <a:ln/>
        </p:spPr>
      </p:sp>
      <p:sp>
        <p:nvSpPr>
          <p:cNvPr id="19" name="Text 15"/>
          <p:cNvSpPr txBox="1"/>
          <p:nvPr/>
        </p:nvSpPr>
        <p:spPr>
          <a:xfrm>
            <a:off x="6903720" y="3703320"/>
            <a:ext cx="1097280" cy="566928"/>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hello</a:t>
            </a:r>
            <a:endParaRPr lang="en-US" sz="1500" dirty="0"/>
          </a:p>
        </p:txBody>
      </p:sp>
      <p:sp>
        <p:nvSpPr>
          <p:cNvPr id="20" name="Text 16"/>
          <p:cNvSpPr txBox="1"/>
          <p:nvPr/>
        </p:nvSpPr>
        <p:spPr>
          <a:xfrm>
            <a:off x="6903720" y="4315968"/>
            <a:ext cx="1097280" cy="219456"/>
          </a:xfrm>
          <a:prstGeom prst="rect">
            <a:avLst/>
          </a:prstGeom>
          <a:noFill/>
          <a:ln/>
        </p:spPr>
        <p:txBody>
          <a:bodyPr wrap="square" lIns="0" tIns="0" rIns="0" bIns="0" rtlCol="0" anchor="t"/>
          <a:lstStyle/>
          <a:p>
            <a:pPr algn="ctr" indent="0" marL="0">
              <a:buNone/>
            </a:pPr>
            <a:r>
              <a:rPr lang="en-US" sz="1200" dirty="0">
                <a:solidFill>
                  <a:schemeClr val="bg2"/>
                </a:solidFill>
                <a:latin typeface="Consolas" pitchFamily="34" charset="0"/>
                <a:ea typeface="Consolas" pitchFamily="34" charset="-122"/>
                <a:cs typeface="Consolas" pitchFamily="34" charset="-120"/>
              </a:rPr>
              <a:t>0</a:t>
            </a:r>
            <a:endParaRPr lang="en-US" sz="1200" dirty="0"/>
          </a:p>
        </p:txBody>
      </p:sp>
      <p:sp>
        <p:nvSpPr>
          <p:cNvPr id="21" name="List item 1"/>
          <p:cNvSpPr/>
          <p:nvPr/>
        </p:nvSpPr>
        <p:spPr>
          <a:xfrm>
            <a:off x="8110728" y="3703320"/>
            <a:ext cx="1097280" cy="566928"/>
          </a:xfrm>
          <a:prstGeom prst="roundRect">
            <a:avLst>
              <a:gd name="adj" fmla="val 16129"/>
            </a:avLst>
          </a:prstGeom>
          <a:solidFill>
            <a:schemeClr val="accent6"/>
          </a:solidFill>
          <a:ln/>
        </p:spPr>
      </p:sp>
      <p:sp>
        <p:nvSpPr>
          <p:cNvPr id="22" name="Text 18"/>
          <p:cNvSpPr txBox="1"/>
          <p:nvPr/>
        </p:nvSpPr>
        <p:spPr>
          <a:xfrm>
            <a:off x="8110728" y="3703320"/>
            <a:ext cx="1097280" cy="566928"/>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goodbye</a:t>
            </a:r>
            <a:endParaRPr lang="en-US" sz="1500" dirty="0"/>
          </a:p>
        </p:txBody>
      </p:sp>
      <p:sp>
        <p:nvSpPr>
          <p:cNvPr id="23" name="Text 19"/>
          <p:cNvSpPr txBox="1"/>
          <p:nvPr/>
        </p:nvSpPr>
        <p:spPr>
          <a:xfrm>
            <a:off x="8110728" y="4315968"/>
            <a:ext cx="1097280" cy="219456"/>
          </a:xfrm>
          <a:prstGeom prst="rect">
            <a:avLst/>
          </a:prstGeom>
          <a:noFill/>
          <a:ln/>
        </p:spPr>
        <p:txBody>
          <a:bodyPr wrap="square" lIns="0" tIns="0" rIns="0" bIns="0" rtlCol="0" anchor="t"/>
          <a:lstStyle/>
          <a:p>
            <a:pPr algn="ctr" indent="0" marL="0">
              <a:buNone/>
            </a:pPr>
            <a:r>
              <a:rPr lang="en-US" sz="1200" dirty="0">
                <a:solidFill>
                  <a:schemeClr val="bg2"/>
                </a:solidFill>
                <a:latin typeface="Consolas" pitchFamily="34" charset="0"/>
                <a:ea typeface="Consolas" pitchFamily="34" charset="-122"/>
                <a:cs typeface="Consolas" pitchFamily="34" charset="-120"/>
              </a:rPr>
              <a:t>1</a:t>
            </a:r>
            <a:endParaRPr lang="en-US" sz="1200" dirty="0"/>
          </a:p>
        </p:txBody>
      </p:sp>
      <p:sp>
        <p:nvSpPr>
          <p:cNvPr id="24" name="List item 2"/>
          <p:cNvSpPr/>
          <p:nvPr/>
        </p:nvSpPr>
        <p:spPr>
          <a:xfrm>
            <a:off x="9317736" y="3703320"/>
            <a:ext cx="1097280" cy="566928"/>
          </a:xfrm>
          <a:prstGeom prst="roundRect">
            <a:avLst>
              <a:gd name="adj" fmla="val 16129"/>
            </a:avLst>
          </a:prstGeom>
          <a:solidFill>
            <a:schemeClr val="accent6"/>
          </a:solidFill>
          <a:ln/>
        </p:spPr>
      </p:sp>
      <p:sp>
        <p:nvSpPr>
          <p:cNvPr id="25" name="Text 21"/>
          <p:cNvSpPr txBox="1"/>
          <p:nvPr/>
        </p:nvSpPr>
        <p:spPr>
          <a:xfrm>
            <a:off x="9317736" y="3703320"/>
            <a:ext cx="1097280" cy="566928"/>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welcome</a:t>
            </a:r>
            <a:endParaRPr lang="en-US" sz="1500" dirty="0"/>
          </a:p>
        </p:txBody>
      </p:sp>
      <p:sp>
        <p:nvSpPr>
          <p:cNvPr id="26" name="Text 22"/>
          <p:cNvSpPr txBox="1"/>
          <p:nvPr/>
        </p:nvSpPr>
        <p:spPr>
          <a:xfrm>
            <a:off x="9317736" y="4315968"/>
            <a:ext cx="1097280" cy="219456"/>
          </a:xfrm>
          <a:prstGeom prst="rect">
            <a:avLst/>
          </a:prstGeom>
          <a:noFill/>
          <a:ln/>
        </p:spPr>
        <p:txBody>
          <a:bodyPr wrap="square" lIns="0" tIns="0" rIns="0" bIns="0" rtlCol="0" anchor="t"/>
          <a:lstStyle/>
          <a:p>
            <a:pPr algn="ctr" indent="0" marL="0">
              <a:buNone/>
            </a:pPr>
            <a:r>
              <a:rPr lang="en-US" sz="1200" dirty="0">
                <a:solidFill>
                  <a:schemeClr val="bg2"/>
                </a:solidFill>
                <a:latin typeface="Consolas" pitchFamily="34" charset="0"/>
                <a:ea typeface="Consolas" pitchFamily="34" charset="-122"/>
                <a:cs typeface="Consolas" pitchFamily="34" charset="-120"/>
              </a:rPr>
              <a:t>2</a:t>
            </a:r>
            <a:endParaRPr lang="en-US" sz="1200" dirty="0"/>
          </a:p>
        </p:txBody>
      </p:sp>
      <p:sp>
        <p:nvSpPr>
          <p:cNvPr id="27" name="List item 3"/>
          <p:cNvSpPr/>
          <p:nvPr/>
        </p:nvSpPr>
        <p:spPr>
          <a:xfrm>
            <a:off x="10524744" y="3703320"/>
            <a:ext cx="1097280" cy="566928"/>
          </a:xfrm>
          <a:prstGeom prst="roundRect">
            <a:avLst>
              <a:gd name="adj" fmla="val 16129"/>
            </a:avLst>
          </a:prstGeom>
          <a:solidFill>
            <a:schemeClr val="accent6"/>
          </a:solidFill>
          <a:ln/>
        </p:spPr>
      </p:sp>
      <p:sp>
        <p:nvSpPr>
          <p:cNvPr id="28" name="Text 24"/>
          <p:cNvSpPr txBox="1"/>
          <p:nvPr/>
        </p:nvSpPr>
        <p:spPr>
          <a:xfrm>
            <a:off x="10524744" y="3703320"/>
            <a:ext cx="1097280" cy="566928"/>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hi</a:t>
            </a:r>
            <a:endParaRPr lang="en-US" sz="1500" dirty="0"/>
          </a:p>
        </p:txBody>
      </p:sp>
      <p:sp>
        <p:nvSpPr>
          <p:cNvPr id="29" name="Text 25"/>
          <p:cNvSpPr txBox="1"/>
          <p:nvPr/>
        </p:nvSpPr>
        <p:spPr>
          <a:xfrm>
            <a:off x="10524744" y="4315968"/>
            <a:ext cx="1097280" cy="219456"/>
          </a:xfrm>
          <a:prstGeom prst="rect">
            <a:avLst/>
          </a:prstGeom>
          <a:noFill/>
          <a:ln/>
        </p:spPr>
        <p:txBody>
          <a:bodyPr wrap="square" lIns="0" tIns="0" rIns="0" bIns="0" rtlCol="0" anchor="t"/>
          <a:lstStyle/>
          <a:p>
            <a:pPr algn="ctr" indent="0" marL="0">
              <a:buNone/>
            </a:pPr>
            <a:r>
              <a:rPr lang="en-US" sz="1200" dirty="0">
                <a:solidFill>
                  <a:schemeClr val="bg2"/>
                </a:solidFill>
                <a:latin typeface="Consolas" pitchFamily="34" charset="0"/>
                <a:ea typeface="Consolas" pitchFamily="34" charset="-122"/>
                <a:cs typeface="Consolas" pitchFamily="34" charset="-120"/>
              </a:rPr>
              <a:t>3</a:t>
            </a:r>
            <a:endParaRPr lang="en-US" sz="1200" dirty="0"/>
          </a:p>
        </p:txBody>
      </p:sp>
      <p:sp>
        <p:nvSpPr>
          <p:cNvPr id="30" name="Text 26"/>
          <p:cNvSpPr txBox="1"/>
          <p:nvPr/>
        </p:nvSpPr>
        <p:spPr>
          <a:xfrm>
            <a:off x="6903720" y="4590288"/>
            <a:ext cx="4718304" cy="292608"/>
          </a:xfrm>
          <a:prstGeom prst="rect">
            <a:avLst/>
          </a:prstGeom>
          <a:noFill/>
          <a:ln/>
        </p:spPr>
        <p:txBody>
          <a:bodyPr wrap="square" lIns="0" tIns="0" rIns="0" bIns="0" rtlCol="0" anchor="t"/>
          <a:lstStyle/>
          <a:p>
            <a:pPr algn="ctr" indent="0" marL="0">
              <a:buNone/>
            </a:pPr>
            <a:r>
              <a:rPr lang="en-US" sz="1300" i="1" dirty="0">
                <a:solidFill>
                  <a:schemeClr val="bg2"/>
                </a:solidFill>
              </a:rPr>
              <a:t>an ArrayList grows as we add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LECTURE 9</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What we cover today</a:t>
            </a:r>
            <a:endParaRPr lang="en-US" sz="3400" dirty="0"/>
          </a:p>
        </p:txBody>
      </p:sp>
      <p:sp>
        <p:nvSpPr>
          <p:cNvPr id="4" name="Text 2"/>
          <p:cNvSpPr txBox="1"/>
          <p:nvPr/>
        </p:nvSpPr>
        <p:spPr>
          <a:xfrm>
            <a:off x="548640" y="1746504"/>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01</a:t>
            </a:r>
            <a:endParaRPr lang="en-US" sz="3000" dirty="0"/>
          </a:p>
        </p:txBody>
      </p:sp>
      <p:sp>
        <p:nvSpPr>
          <p:cNvPr id="5" name="Text 3"/>
          <p:cNvSpPr txBox="1"/>
          <p:nvPr/>
        </p:nvSpPr>
        <p:spPr>
          <a:xfrm>
            <a:off x="1463040" y="1783080"/>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Collection classes</a:t>
            </a:r>
            <a:endParaRPr lang="en-US" sz="2100" dirty="0"/>
          </a:p>
        </p:txBody>
      </p:sp>
      <p:sp>
        <p:nvSpPr>
          <p:cNvPr id="6" name="Text 4"/>
          <p:cNvSpPr txBox="1"/>
          <p:nvPr/>
        </p:nvSpPr>
        <p:spPr>
          <a:xfrm>
            <a:off x="1463040" y="2194560"/>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Groups of objects that grow and shrink</a:t>
            </a:r>
            <a:endParaRPr lang="en-US" sz="1500" dirty="0"/>
          </a:p>
        </p:txBody>
      </p:sp>
      <p:sp>
        <p:nvSpPr>
          <p:cNvPr id="7" name="Text 5"/>
          <p:cNvSpPr txBox="1"/>
          <p:nvPr/>
        </p:nvSpPr>
        <p:spPr>
          <a:xfrm>
            <a:off x="548640" y="2816352"/>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02</a:t>
            </a:r>
            <a:endParaRPr lang="en-US" sz="3000" dirty="0"/>
          </a:p>
        </p:txBody>
      </p:sp>
      <p:sp>
        <p:nvSpPr>
          <p:cNvPr id="8" name="Text 6"/>
          <p:cNvSpPr txBox="1"/>
          <p:nvPr/>
        </p:nvSpPr>
        <p:spPr>
          <a:xfrm>
            <a:off x="1463040" y="2852928"/>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Lists</a:t>
            </a:r>
            <a:endParaRPr lang="en-US" sz="2100" dirty="0"/>
          </a:p>
        </p:txBody>
      </p:sp>
      <p:sp>
        <p:nvSpPr>
          <p:cNvPr id="9" name="Text 7"/>
          <p:cNvSpPr txBox="1"/>
          <p:nvPr/>
        </p:nvSpPr>
        <p:spPr>
          <a:xfrm>
            <a:off x="1463040" y="3264408"/>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List, ArrayList, LinkedList and Vector</a:t>
            </a:r>
            <a:endParaRPr lang="en-US" sz="1500" dirty="0"/>
          </a:p>
        </p:txBody>
      </p:sp>
      <p:sp>
        <p:nvSpPr>
          <p:cNvPr id="10" name="Text 8"/>
          <p:cNvSpPr txBox="1"/>
          <p:nvPr/>
        </p:nvSpPr>
        <p:spPr>
          <a:xfrm>
            <a:off x="548640" y="3886200"/>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03</a:t>
            </a:r>
            <a:endParaRPr lang="en-US" sz="3000" dirty="0"/>
          </a:p>
        </p:txBody>
      </p:sp>
      <p:sp>
        <p:nvSpPr>
          <p:cNvPr id="11" name="Text 9"/>
          <p:cNvSpPr txBox="1"/>
          <p:nvPr/>
        </p:nvSpPr>
        <p:spPr>
          <a:xfrm>
            <a:off x="1463040" y="3922776"/>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Generics</a:t>
            </a:r>
            <a:endParaRPr lang="en-US" sz="2100" dirty="0"/>
          </a:p>
        </p:txBody>
      </p:sp>
      <p:sp>
        <p:nvSpPr>
          <p:cNvPr id="12" name="Text 10"/>
          <p:cNvSpPr txBox="1"/>
          <p:nvPr/>
        </p:nvSpPr>
        <p:spPr>
          <a:xfrm>
            <a:off x="1463040" y="4334256"/>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Telling a collection what type it holds</a:t>
            </a:r>
            <a:endParaRPr lang="en-US" sz="1500" dirty="0"/>
          </a:p>
        </p:txBody>
      </p:sp>
      <p:sp>
        <p:nvSpPr>
          <p:cNvPr id="13" name="Text 11"/>
          <p:cNvSpPr txBox="1"/>
          <p:nvPr/>
        </p:nvSpPr>
        <p:spPr>
          <a:xfrm>
            <a:off x="548640" y="4956048"/>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04</a:t>
            </a:r>
            <a:endParaRPr lang="en-US" sz="3000" dirty="0"/>
          </a:p>
        </p:txBody>
      </p:sp>
      <p:sp>
        <p:nvSpPr>
          <p:cNvPr id="14" name="Text 12"/>
          <p:cNvSpPr txBox="1"/>
          <p:nvPr/>
        </p:nvSpPr>
        <p:spPr>
          <a:xfrm>
            <a:off x="1463040" y="4992624"/>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Generic classes</a:t>
            </a:r>
            <a:endParaRPr lang="en-US" sz="2100" dirty="0"/>
          </a:p>
        </p:txBody>
      </p:sp>
      <p:sp>
        <p:nvSpPr>
          <p:cNvPr id="15" name="Text 13"/>
          <p:cNvSpPr txBox="1"/>
          <p:nvPr/>
        </p:nvSpPr>
        <p:spPr>
          <a:xfrm>
            <a:off x="1463040" y="5404104"/>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Writing a class that works with any type</a:t>
            </a:r>
            <a:endParaRPr lang="en-US" sz="1500" dirty="0"/>
          </a:p>
        </p:txBody>
      </p:sp>
      <p:sp>
        <p:nvSpPr>
          <p:cNvPr id="16" name="How it works"/>
          <p:cNvSpPr/>
          <p:nvPr/>
        </p:nvSpPr>
        <p:spPr>
          <a:xfrm>
            <a:off x="7543800" y="1783080"/>
            <a:ext cx="4099255" cy="4160520"/>
          </a:xfrm>
          <a:prstGeom prst="roundRect">
            <a:avLst>
              <a:gd name="adj" fmla="val 2677"/>
            </a:avLst>
          </a:prstGeom>
          <a:solidFill>
            <a:schemeClr val="bg2"/>
          </a:solidFill>
          <a:ln/>
        </p:spPr>
      </p:sp>
      <p:sp>
        <p:nvSpPr>
          <p:cNvPr id="17" name="Text 15"/>
          <p:cNvSpPr txBox="1"/>
          <p:nvPr/>
        </p:nvSpPr>
        <p:spPr>
          <a:xfrm>
            <a:off x="7909560" y="2103120"/>
            <a:ext cx="3367735" cy="411480"/>
          </a:xfrm>
          <a:prstGeom prst="rect">
            <a:avLst/>
          </a:prstGeom>
          <a:noFill/>
          <a:ln/>
        </p:spPr>
        <p:txBody>
          <a:bodyPr wrap="square" lIns="0" tIns="0" rIns="0" bIns="0" rtlCol="0" anchor="t"/>
          <a:lstStyle/>
          <a:p>
            <a:pPr algn="l" indent="0" marL="0">
              <a:buNone/>
            </a:pPr>
            <a:r>
              <a:rPr lang="en-US" sz="1900" b="1" dirty="0">
                <a:solidFill>
                  <a:schemeClr val="tx1"/>
                </a:solidFill>
              </a:rPr>
              <a:t>How each topic works</a:t>
            </a:r>
            <a:endParaRPr lang="en-US" sz="1900" dirty="0"/>
          </a:p>
        </p:txBody>
      </p:sp>
      <p:sp>
        <p:nvSpPr>
          <p:cNvPr id="18" name="Icon tile"/>
          <p:cNvSpPr/>
          <p:nvPr/>
        </p:nvSpPr>
        <p:spPr>
          <a:xfrm>
            <a:off x="7909560" y="2788920"/>
            <a:ext cx="603504" cy="603504"/>
          </a:xfrm>
          <a:prstGeom prst="roundRect">
            <a:avLst>
              <a:gd name="adj" fmla="val 24000"/>
            </a:avLst>
          </a:prstGeom>
          <a:solidFill>
            <a:schemeClr val="accent2">
              <a:alpha val="14000"/>
            </a:schemeClr>
          </a:solidFill>
          <a:ln/>
        </p:spPr>
      </p:sp>
      <p:pic>
        <p:nvPicPr>
          <p:cNvPr id="19" name="Image 0" descr="book open text icon">    </p:cNvPr>
          <p:cNvPicPr>
            <a:picLocks noChangeAspect="1"/>
          </p:cNvPicPr>
          <p:nvPr/>
        </p:nvPicPr>
        <p:blipFill>
          <a:blip r:embed="rId1"/>
          <a:stretch>
            <a:fillRect/>
          </a:stretch>
        </p:blipFill>
        <p:spPr>
          <a:xfrm>
            <a:off x="8036296" y="2915656"/>
            <a:ext cx="350032" cy="350032"/>
          </a:xfrm>
          <a:prstGeom prst="rect">
            <a:avLst/>
          </a:prstGeom>
        </p:spPr>
      </p:pic>
      <p:sp>
        <p:nvSpPr>
          <p:cNvPr id="20" name="Text 17"/>
          <p:cNvSpPr txBox="1"/>
          <p:nvPr/>
        </p:nvSpPr>
        <p:spPr>
          <a:xfrm>
            <a:off x="8732520" y="2752344"/>
            <a:ext cx="2590495" cy="676656"/>
          </a:xfrm>
          <a:prstGeom prst="rect">
            <a:avLst/>
          </a:prstGeom>
          <a:noFill/>
          <a:ln/>
        </p:spPr>
        <p:txBody>
          <a:bodyPr wrap="square" lIns="0" tIns="0" rIns="0" bIns="0" rtlCol="0" anchor="ctr"/>
          <a:lstStyle/>
          <a:p>
            <a:pPr algn="l" indent="0" marL="0">
              <a:buNone/>
            </a:pPr>
            <a:r>
              <a:rPr lang="en-US" sz="1600" dirty="0">
                <a:solidFill>
                  <a:schemeClr val="tx1"/>
                </a:solidFill>
              </a:rPr>
              <a:t>Read the idea and look at the example</a:t>
            </a:r>
            <a:endParaRPr lang="en-US" sz="1600" dirty="0"/>
          </a:p>
        </p:txBody>
      </p:sp>
      <p:sp>
        <p:nvSpPr>
          <p:cNvPr id="21" name="Icon tile"/>
          <p:cNvSpPr/>
          <p:nvPr/>
        </p:nvSpPr>
        <p:spPr>
          <a:xfrm>
            <a:off x="7909560" y="3776472"/>
            <a:ext cx="603504" cy="603504"/>
          </a:xfrm>
          <a:prstGeom prst="roundRect">
            <a:avLst>
              <a:gd name="adj" fmla="val 24000"/>
            </a:avLst>
          </a:prstGeom>
          <a:solidFill>
            <a:schemeClr val="accent2">
              <a:alpha val="14000"/>
            </a:schemeClr>
          </a:solidFill>
          <a:ln/>
        </p:spPr>
      </p:sp>
      <p:pic>
        <p:nvPicPr>
          <p:cNvPr id="22" name="Image 1" descr="cursor click icon">    </p:cNvPr>
          <p:cNvPicPr>
            <a:picLocks noChangeAspect="1"/>
          </p:cNvPicPr>
          <p:nvPr/>
        </p:nvPicPr>
        <p:blipFill>
          <a:blip r:embed="rId2"/>
          <a:stretch>
            <a:fillRect/>
          </a:stretch>
        </p:blipFill>
        <p:spPr>
          <a:xfrm>
            <a:off x="8036296" y="3903208"/>
            <a:ext cx="350032" cy="350032"/>
          </a:xfrm>
          <a:prstGeom prst="rect">
            <a:avLst/>
          </a:prstGeom>
        </p:spPr>
      </p:pic>
      <p:sp>
        <p:nvSpPr>
          <p:cNvPr id="23" name="Text 19"/>
          <p:cNvSpPr txBox="1"/>
          <p:nvPr/>
        </p:nvSpPr>
        <p:spPr>
          <a:xfrm>
            <a:off x="8732520" y="3739896"/>
            <a:ext cx="2590495" cy="676656"/>
          </a:xfrm>
          <a:prstGeom prst="rect">
            <a:avLst/>
          </a:prstGeom>
          <a:noFill/>
          <a:ln/>
        </p:spPr>
        <p:txBody>
          <a:bodyPr wrap="square" lIns="0" tIns="0" rIns="0" bIns="0" rtlCol="0" anchor="ctr"/>
          <a:lstStyle/>
          <a:p>
            <a:pPr algn="l" indent="0" marL="0">
              <a:buNone/>
            </a:pPr>
            <a:r>
              <a:rPr lang="en-US" sz="1600" dirty="0">
                <a:solidFill>
                  <a:schemeClr val="tx1"/>
                </a:solidFill>
              </a:rPr>
              <a:t>Try the quick check: A, B, C or D?</a:t>
            </a:r>
            <a:endParaRPr lang="en-US" sz="1600" dirty="0"/>
          </a:p>
        </p:txBody>
      </p:sp>
      <p:sp>
        <p:nvSpPr>
          <p:cNvPr id="24" name="Icon tile"/>
          <p:cNvSpPr/>
          <p:nvPr/>
        </p:nvSpPr>
        <p:spPr>
          <a:xfrm>
            <a:off x="7909560" y="4764024"/>
            <a:ext cx="603504" cy="603504"/>
          </a:xfrm>
          <a:prstGeom prst="roundRect">
            <a:avLst>
              <a:gd name="adj" fmla="val 24000"/>
            </a:avLst>
          </a:prstGeom>
          <a:solidFill>
            <a:schemeClr val="accent2">
              <a:alpha val="14000"/>
            </a:schemeClr>
          </a:solidFill>
          <a:ln/>
        </p:spPr>
      </p:sp>
      <p:pic>
        <p:nvPicPr>
          <p:cNvPr id="25" name="Image 2" descr="check circle icon">    </p:cNvPr>
          <p:cNvPicPr>
            <a:picLocks noChangeAspect="1"/>
          </p:cNvPicPr>
          <p:nvPr/>
        </p:nvPicPr>
        <p:blipFill>
          <a:blip r:embed="rId3"/>
          <a:stretch>
            <a:fillRect/>
          </a:stretch>
        </p:blipFill>
        <p:spPr>
          <a:xfrm>
            <a:off x="8036296" y="4890760"/>
            <a:ext cx="350032" cy="350032"/>
          </a:xfrm>
          <a:prstGeom prst="rect">
            <a:avLst/>
          </a:prstGeom>
        </p:spPr>
      </p:pic>
      <p:sp>
        <p:nvSpPr>
          <p:cNvPr id="26" name="Text 21"/>
          <p:cNvSpPr txBox="1"/>
          <p:nvPr/>
        </p:nvSpPr>
        <p:spPr>
          <a:xfrm>
            <a:off x="8732520" y="4727448"/>
            <a:ext cx="2590495" cy="676656"/>
          </a:xfrm>
          <a:prstGeom prst="rect">
            <a:avLst/>
          </a:prstGeom>
          <a:noFill/>
          <a:ln/>
        </p:spPr>
        <p:txBody>
          <a:bodyPr wrap="square" lIns="0" tIns="0" rIns="0" bIns="0" rtlCol="0" anchor="ctr"/>
          <a:lstStyle/>
          <a:p>
            <a:pPr algn="l" indent="0" marL="0">
              <a:buNone/>
            </a:pPr>
            <a:r>
              <a:rPr lang="en-US" sz="1600" dirty="0">
                <a:solidFill>
                  <a:schemeClr val="tx1"/>
                </a:solidFill>
              </a:rPr>
              <a:t>See the answer, and why, on the next slide</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01</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Collection classes</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Groups of objects that grow and shrink</a:t>
            </a:r>
            <a:endParaRPr lang="en-US" sz="2000" dirty="0"/>
          </a:p>
        </p:txBody>
      </p:sp>
      <p:sp>
        <p:nvSpPr>
          <p:cNvPr id="5" name="Topic chip"/>
          <p:cNvSpPr/>
          <p:nvPr/>
        </p:nvSpPr>
        <p:spPr>
          <a:xfrm>
            <a:off x="822960" y="4846320"/>
            <a:ext cx="957285"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Arrays</a:t>
            </a:r>
            <a:endParaRPr lang="en-US" sz="1400" dirty="0"/>
          </a:p>
        </p:txBody>
      </p:sp>
      <p:sp>
        <p:nvSpPr>
          <p:cNvPr id="6" name="Topic chip"/>
          <p:cNvSpPr/>
          <p:nvPr/>
        </p:nvSpPr>
        <p:spPr>
          <a:xfrm>
            <a:off x="1926549" y="4846320"/>
            <a:ext cx="1419743"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Collections</a:t>
            </a:r>
            <a:endParaRPr lang="en-US" sz="1400" dirty="0"/>
          </a:p>
        </p:txBody>
      </p:sp>
      <p:sp>
        <p:nvSpPr>
          <p:cNvPr id="7" name="Topic chip"/>
          <p:cNvSpPr/>
          <p:nvPr/>
        </p:nvSpPr>
        <p:spPr>
          <a:xfrm>
            <a:off x="3492597" y="4846320"/>
            <a:ext cx="160472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The framework</a:t>
            </a:r>
            <a:endParaRPr lang="en-US" sz="1400" dirty="0"/>
          </a:p>
        </p:txBody>
      </p:sp>
      <p:pic>
        <p:nvPicPr>
          <p:cNvPr id="8"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COLLECTION CLASSES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Arrays have a fixed size</a:t>
            </a:r>
            <a:endParaRPr lang="en-US" sz="3400" dirty="0"/>
          </a:p>
        </p:txBody>
      </p:sp>
      <p:sp>
        <p:nvSpPr>
          <p:cNvPr id="5" name="Text 2"/>
          <p:cNvSpPr txBox="1"/>
          <p:nvPr/>
        </p:nvSpPr>
        <p:spPr>
          <a:xfrm>
            <a:off x="548640" y="1783080"/>
            <a:ext cx="4937760" cy="274320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rPr>
              <a:t>A collection holds a group of objects that we want to store and work with.</a:t>
            </a:r>
            <a:endParaRPr lang="en-US" sz="1800" dirty="0"/>
          </a:p>
          <a:p>
            <a:pPr marL="228600" indent="-228600">
              <a:spcAft>
                <a:spcPts val="1200"/>
              </a:spcAft>
              <a:buSzPct val="100000"/>
              <a:buChar char="•"/>
            </a:pPr>
            <a:r>
              <a:rPr lang="en-US" sz="1800" dirty="0">
                <a:solidFill>
                  <a:schemeClr val="tx1"/>
                </a:solidFill>
              </a:rPr>
              <a:t>An array can hold a list too, but its size is fixed when it’s created.</a:t>
            </a:r>
            <a:endParaRPr lang="en-US" sz="1800" dirty="0"/>
          </a:p>
          <a:p>
            <a:pPr marL="228600" indent="-228600">
              <a:buSzPct val="100000"/>
              <a:buChar char="•"/>
            </a:pPr>
            <a:r>
              <a:rPr lang="en-US" sz="1800" dirty="0">
                <a:solidFill>
                  <a:schemeClr val="tx1"/>
                </a:solidFill>
              </a:rPr>
              <a:t>Collection classes such as </a:t>
            </a:r>
            <a:r>
              <a:rPr lang="en-US" sz="1800" dirty="0">
                <a:solidFill>
                  <a:schemeClr val="accent2"/>
                </a:solidFill>
                <a:latin typeface="Consolas" pitchFamily="34" charset="0"/>
                <a:ea typeface="Consolas" pitchFamily="34" charset="-122"/>
                <a:cs typeface="Consolas" pitchFamily="34" charset="-120"/>
              </a:rPr>
              <a:t>ArrayList</a:t>
            </a:r>
            <a:r>
              <a:rPr lang="en-US" sz="1800" dirty="0">
                <a:solidFill>
                  <a:schemeClr val="tx1"/>
                </a:solidFill>
              </a:rPr>
              <a:t> grow and shrink as items are added and removed.</a:t>
            </a:r>
            <a:endParaRPr lang="en-US" sz="1800" dirty="0"/>
          </a:p>
        </p:txBody>
      </p:sp>
      <p:pic>
        <p:nvPicPr>
          <p:cNvPr id="6" name="Image 0" descr="Does not work">    </p:cNvPr>
          <p:cNvPicPr>
            <a:picLocks noChangeAspect="1"/>
          </p:cNvPicPr>
          <p:nvPr/>
        </p:nvPicPr>
        <p:blipFill>
          <a:blip r:embed="rId1"/>
          <a:stretch>
            <a:fillRect/>
          </a:stretch>
        </p:blipFill>
        <p:spPr>
          <a:xfrm>
            <a:off x="548640" y="4818888"/>
            <a:ext cx="347472" cy="347472"/>
          </a:xfrm>
          <a:prstGeom prst="rect">
            <a:avLst/>
          </a:prstGeom>
        </p:spPr>
      </p:pic>
      <p:sp>
        <p:nvSpPr>
          <p:cNvPr id="7" name="Text 3"/>
          <p:cNvSpPr txBox="1"/>
          <p:nvPr/>
        </p:nvSpPr>
        <p:spPr>
          <a:xfrm>
            <a:off x="1005840" y="4800600"/>
            <a:ext cx="4480560" cy="384048"/>
          </a:xfrm>
          <a:prstGeom prst="rect">
            <a:avLst/>
          </a:prstGeom>
          <a:noFill/>
          <a:ln/>
        </p:spPr>
        <p:txBody>
          <a:bodyPr wrap="square" lIns="0" tIns="0" rIns="0" bIns="0" rtlCol="0" anchor="ctr"/>
          <a:lstStyle/>
          <a:p>
            <a:pPr algn="l" indent="0" marL="0">
              <a:buNone/>
            </a:pPr>
            <a:r>
              <a:rPr lang="en-US" sz="1500" b="1" dirty="0">
                <a:solidFill>
                  <a:srgbClr val="C0392B"/>
                </a:solidFill>
              </a:rPr>
              <a:t>An array of 3 has no room for a fourth</a:t>
            </a:r>
            <a:endParaRPr lang="en-US" sz="1500" dirty="0"/>
          </a:p>
        </p:txBody>
      </p:sp>
      <p:pic>
        <p:nvPicPr>
          <p:cNvPr id="8" name="Image 1" descr="Works">    </p:cNvPr>
          <p:cNvPicPr>
            <a:picLocks noChangeAspect="1"/>
          </p:cNvPicPr>
          <p:nvPr/>
        </p:nvPicPr>
        <p:blipFill>
          <a:blip r:embed="rId2"/>
          <a:stretch>
            <a:fillRect/>
          </a:stretch>
        </p:blipFill>
        <p:spPr>
          <a:xfrm>
            <a:off x="548640" y="5321808"/>
            <a:ext cx="347472" cy="347472"/>
          </a:xfrm>
          <a:prstGeom prst="rect">
            <a:avLst/>
          </a:prstGeom>
        </p:spPr>
      </p:pic>
      <p:sp>
        <p:nvSpPr>
          <p:cNvPr id="9" name="Text 4"/>
          <p:cNvSpPr txBox="1"/>
          <p:nvPr/>
        </p:nvSpPr>
        <p:spPr>
          <a:xfrm>
            <a:off x="1005840" y="5303520"/>
            <a:ext cx="4480560" cy="384048"/>
          </a:xfrm>
          <a:prstGeom prst="rect">
            <a:avLst/>
          </a:prstGeom>
          <a:noFill/>
          <a:ln/>
        </p:spPr>
        <p:txBody>
          <a:bodyPr wrap="square" lIns="0" tIns="0" rIns="0" bIns="0" rtlCol="0" anchor="ctr"/>
          <a:lstStyle/>
          <a:p>
            <a:pPr algn="l" indent="0" marL="0">
              <a:buNone/>
            </a:pPr>
            <a:r>
              <a:rPr lang="en-US" sz="1500" b="1" dirty="0">
                <a:solidFill>
                  <a:schemeClr val="accent3"/>
                </a:solidFill>
              </a:rPr>
              <a:t>The ArrayList grows to hold 4</a:t>
            </a:r>
            <a:endParaRPr lang="en-US" sz="1500" dirty="0"/>
          </a:p>
        </p:txBody>
      </p:sp>
      <p:sp>
        <p:nvSpPr>
          <p:cNvPr id="10" name="Array card"/>
          <p:cNvSpPr/>
          <p:nvPr/>
        </p:nvSpPr>
        <p:spPr>
          <a:xfrm>
            <a:off x="5852160" y="1691640"/>
            <a:ext cx="5790895" cy="1839468"/>
          </a:xfrm>
          <a:prstGeom prst="roundRect">
            <a:avLst>
              <a:gd name="adj" fmla="val 5965"/>
            </a:avLst>
          </a:prstGeom>
          <a:solidFill>
            <a:schemeClr val="tx1"/>
          </a:solidFill>
          <a:ln/>
          <a:effectLst>
            <a:outerShdw sx="100000" sy="100000" kx="0" ky="0" algn="bl" rotWithShape="0" blurRad="114300" dist="31750" dir="5400000">
              <a:srgbClr val="1D2433">
                <a:alpha val="12000"/>
              </a:srgbClr>
            </a:outerShdw>
          </a:effectLst>
        </p:spPr>
      </p:sp>
      <p:sp>
        <p:nvSpPr>
          <p:cNvPr id="11" name="Array label"/>
          <p:cNvSpPr txBox="1"/>
          <p:nvPr/>
        </p:nvSpPr>
        <p:spPr>
          <a:xfrm>
            <a:off x="6126480" y="1810512"/>
            <a:ext cx="524225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2" name="Array text"/>
          <p:cNvSpPr txBox="1"/>
          <p:nvPr/>
        </p:nvSpPr>
        <p:spPr>
          <a:xfrm>
            <a:off x="6126480" y="2185416"/>
            <a:ext cx="5242255" cy="1144524"/>
          </a:xfrm>
          <a:prstGeom prst="rect">
            <a:avLst/>
          </a:prstGeom>
          <a:noFill/>
          <a:ln/>
        </p:spPr>
        <p:txBody>
          <a:bodyPr wrap="square" lIns="0" tIns="0" rIns="0" bIns="0" rtlCol="0" anchor="t"/>
          <a:lstStyle/>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 words =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F2C14E"/>
                </a:solidFill>
                <a:latin typeface="Consolas" pitchFamily="34" charset="0"/>
                <a:ea typeface="Consolas" pitchFamily="34" charset="-122"/>
                <a:cs typeface="Consolas" pitchFamily="34" charset="-120"/>
              </a:rPr>
              <a:t>3</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words[</a:t>
            </a:r>
            <a:r>
              <a:rPr lang="en-US" sz="1300" dirty="0">
                <a:solidFill>
                  <a:srgbClr val="F2C14E"/>
                </a:solidFill>
                <a:latin typeface="Consolas" pitchFamily="34" charset="0"/>
                <a:ea typeface="Consolas" pitchFamily="34" charset="-122"/>
                <a:cs typeface="Consolas" pitchFamily="34" charset="-120"/>
              </a:rPr>
              <a:t>0</a:t>
            </a:r>
            <a:r>
              <a:rPr lang="en-US" sz="1300" dirty="0">
                <a:solidFill>
                  <a:srgbClr val="E6EBF2"/>
                </a:solidFill>
                <a:latin typeface="Consolas" pitchFamily="34" charset="0"/>
                <a:ea typeface="Consolas" pitchFamily="34" charset="-122"/>
                <a:cs typeface="Consolas" pitchFamily="34" charset="-120"/>
              </a:rPr>
              <a:t>] = </a:t>
            </a:r>
            <a:r>
              <a:rPr lang="en-US" sz="1300" dirty="0">
                <a:solidFill>
                  <a:srgbClr val="A9DB8C"/>
                </a:solidFill>
                <a:latin typeface="Consolas" pitchFamily="34" charset="0"/>
                <a:ea typeface="Consolas" pitchFamily="34" charset="-122"/>
                <a:cs typeface="Consolas" pitchFamily="34" charset="-120"/>
              </a:rPr>
              <a:t>"hello"</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words[</a:t>
            </a:r>
            <a:r>
              <a:rPr lang="en-US" sz="1300" dirty="0">
                <a:solidFill>
                  <a:srgbClr val="F2C14E"/>
                </a:solidFill>
                <a:latin typeface="Consolas" pitchFamily="34" charset="0"/>
                <a:ea typeface="Consolas" pitchFamily="34" charset="-122"/>
                <a:cs typeface="Consolas" pitchFamily="34" charset="-120"/>
              </a:rPr>
              <a:t>1</a:t>
            </a:r>
            <a:r>
              <a:rPr lang="en-US" sz="1300" dirty="0">
                <a:solidFill>
                  <a:srgbClr val="E6EBF2"/>
                </a:solidFill>
                <a:latin typeface="Consolas" pitchFamily="34" charset="0"/>
                <a:ea typeface="Consolas" pitchFamily="34" charset="-122"/>
                <a:cs typeface="Consolas" pitchFamily="34" charset="-120"/>
              </a:rPr>
              <a:t>] = </a:t>
            </a:r>
            <a:r>
              <a:rPr lang="en-US" sz="1300" dirty="0">
                <a:solidFill>
                  <a:srgbClr val="A9DB8C"/>
                </a:solidFill>
                <a:latin typeface="Consolas" pitchFamily="34" charset="0"/>
                <a:ea typeface="Consolas" pitchFamily="34" charset="-122"/>
                <a:cs typeface="Consolas" pitchFamily="34" charset="-120"/>
              </a:rPr>
              <a:t>"goodbye"</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words[</a:t>
            </a:r>
            <a:r>
              <a:rPr lang="en-US" sz="1300" dirty="0">
                <a:solidFill>
                  <a:srgbClr val="F2C14E"/>
                </a:solidFill>
                <a:latin typeface="Consolas" pitchFamily="34" charset="0"/>
                <a:ea typeface="Consolas" pitchFamily="34" charset="-122"/>
                <a:cs typeface="Consolas" pitchFamily="34" charset="-120"/>
              </a:rPr>
              <a:t>2</a:t>
            </a:r>
            <a:r>
              <a:rPr lang="en-US" sz="1300" dirty="0">
                <a:solidFill>
                  <a:srgbClr val="E6EBF2"/>
                </a:solidFill>
                <a:latin typeface="Consolas" pitchFamily="34" charset="0"/>
                <a:ea typeface="Consolas" pitchFamily="34" charset="-122"/>
                <a:cs typeface="Consolas" pitchFamily="34" charset="-120"/>
              </a:rPr>
              <a:t>] = </a:t>
            </a:r>
            <a:r>
              <a:rPr lang="en-US" sz="1300" dirty="0">
                <a:solidFill>
                  <a:srgbClr val="A9DB8C"/>
                </a:solidFill>
                <a:latin typeface="Consolas" pitchFamily="34" charset="0"/>
                <a:ea typeface="Consolas" pitchFamily="34" charset="-122"/>
                <a:cs typeface="Consolas" pitchFamily="34" charset="-120"/>
              </a:rPr>
              <a:t>"welcome"</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words[</a:t>
            </a:r>
            <a:r>
              <a:rPr lang="en-US" sz="1300" dirty="0">
                <a:solidFill>
                  <a:srgbClr val="F2C14E"/>
                </a:solidFill>
                <a:latin typeface="Consolas" pitchFamily="34" charset="0"/>
                <a:ea typeface="Consolas" pitchFamily="34" charset="-122"/>
                <a:cs typeface="Consolas" pitchFamily="34" charset="-120"/>
              </a:rPr>
              <a:t>3</a:t>
            </a:r>
            <a:r>
              <a:rPr lang="en-US" sz="1300" dirty="0">
                <a:solidFill>
                  <a:srgbClr val="E6EBF2"/>
                </a:solidFill>
                <a:latin typeface="Consolas" pitchFamily="34" charset="0"/>
                <a:ea typeface="Consolas" pitchFamily="34" charset="-122"/>
                <a:cs typeface="Consolas" pitchFamily="34" charset="-120"/>
              </a:rPr>
              <a:t>] = </a:t>
            </a:r>
            <a:r>
              <a:rPr lang="en-US" sz="1300" dirty="0">
                <a:solidFill>
                  <a:srgbClr val="A9DB8C"/>
                </a:solidFill>
                <a:latin typeface="Consolas" pitchFamily="34" charset="0"/>
                <a:ea typeface="Consolas" pitchFamily="34" charset="-122"/>
                <a:cs typeface="Consolas" pitchFamily="34" charset="-120"/>
              </a:rPr>
              <a:t>"hi"</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ArrayIndexOutOfBoundsException</a:t>
            </a:r>
            <a:endParaRPr lang="en-US" sz="1300" dirty="0"/>
          </a:p>
        </p:txBody>
      </p:sp>
      <p:sp>
        <p:nvSpPr>
          <p:cNvPr id="13" name="ArrayList card"/>
          <p:cNvSpPr/>
          <p:nvPr/>
        </p:nvSpPr>
        <p:spPr>
          <a:xfrm>
            <a:off x="5852160" y="3759708"/>
            <a:ext cx="5790895" cy="2057400"/>
          </a:xfrm>
          <a:prstGeom prst="roundRect">
            <a:avLst>
              <a:gd name="adj" fmla="val 5333"/>
            </a:avLst>
          </a:prstGeom>
          <a:solidFill>
            <a:schemeClr val="tx1"/>
          </a:solidFill>
          <a:ln/>
          <a:effectLst>
            <a:outerShdw sx="100000" sy="100000" kx="0" ky="0" algn="bl" rotWithShape="0" blurRad="114300" dist="31750" dir="5400000">
              <a:srgbClr val="1D2433">
                <a:alpha val="12000"/>
              </a:srgbClr>
            </a:outerShdw>
          </a:effectLst>
        </p:spPr>
      </p:sp>
      <p:sp>
        <p:nvSpPr>
          <p:cNvPr id="14" name="ArrayList label"/>
          <p:cNvSpPr txBox="1"/>
          <p:nvPr/>
        </p:nvSpPr>
        <p:spPr>
          <a:xfrm>
            <a:off x="6126480" y="3878580"/>
            <a:ext cx="524225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5" name="ArrayList text"/>
          <p:cNvSpPr txBox="1"/>
          <p:nvPr/>
        </p:nvSpPr>
        <p:spPr>
          <a:xfrm>
            <a:off x="6126480" y="4253484"/>
            <a:ext cx="5242255" cy="1362456"/>
          </a:xfrm>
          <a:prstGeom prst="rect">
            <a:avLst/>
          </a:prstGeom>
          <a:noFill/>
          <a:ln/>
        </p:spPr>
        <p:txBody>
          <a:bodyPr wrap="square" lIns="0" tIns="0" rIns="0" bIns="0" rtlCol="0" anchor="t"/>
          <a:lstStyle/>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ArrayList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&gt; list =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6CC4E8"/>
                </a:solidFill>
                <a:latin typeface="Consolas" pitchFamily="34" charset="0"/>
                <a:ea typeface="Consolas" pitchFamily="34" charset="-122"/>
                <a:cs typeface="Consolas" pitchFamily="34" charset="-120"/>
              </a:rPr>
              <a:t>ArrayList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&gt;();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list.</a:t>
            </a:r>
            <a:r>
              <a:rPr lang="en-US" sz="1300" dirty="0">
                <a:solidFill>
                  <a:srgbClr val="C9B0FF"/>
                </a:solidFill>
                <a:latin typeface="Consolas" pitchFamily="34" charset="0"/>
                <a:ea typeface="Consolas" pitchFamily="34" charset="-122"/>
                <a:cs typeface="Consolas" pitchFamily="34" charset="-120"/>
              </a:rPr>
              <a:t>add</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"hello"</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list.</a:t>
            </a:r>
            <a:r>
              <a:rPr lang="en-US" sz="1300" dirty="0">
                <a:solidFill>
                  <a:srgbClr val="C9B0FF"/>
                </a:solidFill>
                <a:latin typeface="Consolas" pitchFamily="34" charset="0"/>
                <a:ea typeface="Consolas" pitchFamily="34" charset="-122"/>
                <a:cs typeface="Consolas" pitchFamily="34" charset="-120"/>
              </a:rPr>
              <a:t>add</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"goodbye"</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list.</a:t>
            </a:r>
            <a:r>
              <a:rPr lang="en-US" sz="1300" dirty="0">
                <a:solidFill>
                  <a:srgbClr val="C9B0FF"/>
                </a:solidFill>
                <a:latin typeface="Consolas" pitchFamily="34" charset="0"/>
                <a:ea typeface="Consolas" pitchFamily="34" charset="-122"/>
                <a:cs typeface="Consolas" pitchFamily="34" charset="-120"/>
              </a:rPr>
              <a:t>add</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"welcome"</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list.</a:t>
            </a:r>
            <a:r>
              <a:rPr lang="en-US" sz="1300" dirty="0">
                <a:solidFill>
                  <a:srgbClr val="C9B0FF"/>
                </a:solidFill>
                <a:latin typeface="Consolas" pitchFamily="34" charset="0"/>
                <a:ea typeface="Consolas" pitchFamily="34" charset="-122"/>
                <a:cs typeface="Consolas" pitchFamily="34" charset="-120"/>
              </a:rPr>
              <a:t>add</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"hi"</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the list grows</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(list.</a:t>
            </a:r>
            <a:r>
              <a:rPr lang="en-US" sz="1300" dirty="0">
                <a:solidFill>
                  <a:srgbClr val="C9B0FF"/>
                </a:solidFill>
                <a:latin typeface="Consolas" pitchFamily="34" charset="0"/>
                <a:ea typeface="Consolas" pitchFamily="34" charset="-122"/>
                <a:cs typeface="Consolas" pitchFamily="34" charset="-120"/>
              </a:rPr>
              <a:t>size</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4</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Arrays and collections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An array is made with </a:t>
            </a:r>
            <a:r>
              <a:rPr lang="en-US" sz="2800" b="1" dirty="0">
                <a:solidFill>
                  <a:schemeClr val="accent2"/>
                </a:solidFill>
                <a:latin typeface="Consolas" pitchFamily="34" charset="0"/>
                <a:ea typeface="Consolas" pitchFamily="34" charset="-122"/>
                <a:cs typeface="Consolas" pitchFamily="34" charset="-120"/>
              </a:rPr>
              <a:t>new int[5]</a:t>
            </a:r>
            <a:r>
              <a:rPr lang="en-US" sz="2800" b="1" dirty="0">
                <a:solidFill>
                  <a:schemeClr val="tx1"/>
                </a:solidFill>
              </a:rPr>
              <a:t>. What happens to its size when the program needs a sixth number?</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grows to 6 by itself</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doubles to 10</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stays at 5, so we’d need a new, bigger array</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The first number is dropped to make room</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Arrays and collections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An array is made with </a:t>
            </a:r>
            <a:r>
              <a:rPr lang="en-US" sz="2000" b="1" dirty="0">
                <a:solidFill>
                  <a:schemeClr val="tx2"/>
                </a:solidFill>
                <a:latin typeface="Consolas" pitchFamily="34" charset="0"/>
                <a:ea typeface="Consolas" pitchFamily="34" charset="-122"/>
                <a:cs typeface="Consolas" pitchFamily="34" charset="-120"/>
              </a:rPr>
              <a:t>new int[5]</a:t>
            </a:r>
            <a:r>
              <a:rPr lang="en-US" sz="2000" b="1" dirty="0">
                <a:solidFill>
                  <a:schemeClr val="tx2"/>
                </a:solidFill>
              </a:rPr>
              <a:t>. What happens to its size when the program needs a sixth number?</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grows to 6 by itself</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doubles to 10</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It stays at 5, so we’d need a new, bigger array</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The first number is dropped to make room</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An array’s size is fixed when it’s created, so it stays at 5, and storing at index 5 throws an ArrayIndexOutOfBoundsException. To hold more, we’d make a bigger array and copy the values across, which is what an ArrayList does for us behind the scenes.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COLLECTION CLASSES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The Java Collections Framework</a:t>
            </a:r>
            <a:endParaRPr lang="en-US" sz="3400" dirty="0"/>
          </a:p>
        </p:txBody>
      </p:sp>
      <p:sp>
        <p:nvSpPr>
          <p:cNvPr id="5" name="Text 2"/>
          <p:cNvSpPr txBox="1"/>
          <p:nvPr/>
        </p:nvSpPr>
        <p:spPr>
          <a:xfrm>
            <a:off x="548640" y="1783080"/>
            <a:ext cx="5760720" cy="429768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The framework is a set of interfaces, and classes that implement them, for storing groups of objects.</a:t>
            </a:r>
            <a:endParaRPr lang="en-US" sz="1700" dirty="0"/>
          </a:p>
          <a:p>
            <a:pPr marL="228600" indent="-228600">
              <a:spcAft>
                <a:spcPts val="1000"/>
              </a:spcAft>
              <a:buSzPct val="100000"/>
              <a:buChar char="•"/>
            </a:pPr>
            <a:r>
              <a:rPr lang="en-US" sz="1700" dirty="0">
                <a:solidFill>
                  <a:schemeClr val="tx1"/>
                </a:solidFill>
              </a:rPr>
              <a:t>Its data structures expand and contract as items come and go.</a:t>
            </a:r>
            <a:endParaRPr lang="en-US" sz="1700" dirty="0"/>
          </a:p>
          <a:p>
            <a:pPr marL="228600" indent="-228600">
              <a:spcAft>
                <a:spcPts val="1000"/>
              </a:spcAft>
              <a:buSzPct val="100000"/>
              <a:buChar char="•"/>
            </a:pPr>
            <a:r>
              <a:rPr lang="en-US" sz="1700" dirty="0">
                <a:solidFill>
                  <a:schemeClr val="tx1"/>
                </a:solidFill>
              </a:rPr>
              <a:t>They store objects: wrapper classes such as </a:t>
            </a:r>
            <a:r>
              <a:rPr lang="en-US" sz="1700" dirty="0">
                <a:solidFill>
                  <a:schemeClr val="accent2"/>
                </a:solidFill>
                <a:latin typeface="Consolas" pitchFamily="34" charset="0"/>
                <a:ea typeface="Consolas" pitchFamily="34" charset="-122"/>
                <a:cs typeface="Consolas" pitchFamily="34" charset="-120"/>
              </a:rPr>
              <a:t>Integer</a:t>
            </a:r>
            <a:r>
              <a:rPr lang="en-US" sz="1700" dirty="0">
                <a:solidFill>
                  <a:schemeClr val="tx1"/>
                </a:solidFill>
              </a:rPr>
              <a:t>, or our own classes such as </a:t>
            </a:r>
            <a:r>
              <a:rPr lang="en-US" sz="1700" dirty="0">
                <a:solidFill>
                  <a:schemeClr val="accent2"/>
                </a:solidFill>
                <a:latin typeface="Consolas" pitchFamily="34" charset="0"/>
                <a:ea typeface="Consolas" pitchFamily="34" charset="-122"/>
                <a:cs typeface="Consolas" pitchFamily="34" charset="-120"/>
              </a:rPr>
              <a:t>Student</a:t>
            </a:r>
            <a:r>
              <a:rPr lang="en-US" sz="1700" dirty="0">
                <a:solidFill>
                  <a:schemeClr val="tx1"/>
                </a:solidFill>
              </a:rPr>
              <a:t>.</a:t>
            </a:r>
            <a:endParaRPr lang="en-US" sz="1700" dirty="0"/>
          </a:p>
          <a:p>
            <a:pPr marL="228600" indent="-228600">
              <a:spcAft>
                <a:spcPts val="1000"/>
              </a:spcAft>
              <a:buSzPct val="100000"/>
              <a:buChar char="•"/>
            </a:pPr>
            <a:r>
              <a:rPr lang="en-US" sz="1700" dirty="0">
                <a:solidFill>
                  <a:schemeClr val="tx1"/>
                </a:solidFill>
              </a:rPr>
              <a:t>Every collection interface is generic, so we set the element type when we create one.</a:t>
            </a:r>
            <a:endParaRPr lang="en-US" sz="1700" dirty="0"/>
          </a:p>
          <a:p>
            <a:pPr marL="228600" indent="-228600">
              <a:buSzPct val="100000"/>
              <a:buChar char="•"/>
            </a:pPr>
            <a:r>
              <a:rPr lang="en-US" sz="1700" dirty="0">
                <a:solidFill>
                  <a:schemeClr val="tx1"/>
                </a:solidFill>
              </a:rPr>
              <a:t>There are methods for searching, adding and removing, and the </a:t>
            </a:r>
            <a:r>
              <a:rPr lang="en-US" sz="1700" dirty="0">
                <a:solidFill>
                  <a:schemeClr val="accent2"/>
                </a:solidFill>
                <a:latin typeface="Consolas" pitchFamily="34" charset="0"/>
                <a:ea typeface="Consolas" pitchFamily="34" charset="-122"/>
                <a:cs typeface="Consolas" pitchFamily="34" charset="-120"/>
              </a:rPr>
              <a:t>Collections</a:t>
            </a:r>
            <a:r>
              <a:rPr lang="en-US" sz="1700" dirty="0">
                <a:solidFill>
                  <a:schemeClr val="tx1"/>
                </a:solidFill>
              </a:rPr>
              <a:t> class adds algorithms such as </a:t>
            </a:r>
            <a:r>
              <a:rPr lang="en-US" sz="1700" dirty="0">
                <a:solidFill>
                  <a:schemeClr val="accent2"/>
                </a:solidFill>
                <a:latin typeface="Consolas" pitchFamily="34" charset="0"/>
                <a:ea typeface="Consolas" pitchFamily="34" charset="-122"/>
                <a:cs typeface="Consolas" pitchFamily="34" charset="-120"/>
              </a:rPr>
              <a:t>sort</a:t>
            </a:r>
            <a:r>
              <a:rPr lang="en-US" sz="1700" dirty="0">
                <a:solidFill>
                  <a:schemeClr val="tx1"/>
                </a:solidFill>
              </a:rPr>
              <a:t> and </a:t>
            </a:r>
            <a:r>
              <a:rPr lang="en-US" sz="1700" dirty="0">
                <a:solidFill>
                  <a:schemeClr val="accent2"/>
                </a:solidFill>
                <a:latin typeface="Consolas" pitchFamily="34" charset="0"/>
                <a:ea typeface="Consolas" pitchFamily="34" charset="-122"/>
                <a:cs typeface="Consolas" pitchFamily="34" charset="-120"/>
              </a:rPr>
              <a:t>shuffle</a:t>
            </a:r>
            <a:r>
              <a:rPr lang="en-US" sz="1700" dirty="0">
                <a:solidFill>
                  <a:schemeClr val="tx1"/>
                </a:solidFill>
              </a:rPr>
              <a:t>.</a:t>
            </a:r>
            <a:endParaRPr lang="en-US" sz="1700" dirty="0"/>
          </a:p>
        </p:txBody>
      </p:sp>
      <p:sp>
        <p:nvSpPr>
          <p:cNvPr id="6" name="Text 3"/>
          <p:cNvSpPr txBox="1"/>
          <p:nvPr/>
        </p:nvSpPr>
        <p:spPr>
          <a:xfrm>
            <a:off x="6766560" y="1691640"/>
            <a:ext cx="4873752" cy="274320"/>
          </a:xfrm>
          <a:prstGeom prst="rect">
            <a:avLst/>
          </a:prstGeom>
          <a:noFill/>
          <a:ln/>
        </p:spPr>
        <p:txBody>
          <a:bodyPr wrap="square" lIns="0" tIns="0" rIns="0" bIns="0" rtlCol="0" anchor="t"/>
          <a:lstStyle/>
          <a:p>
            <a:pPr algn="ctr" indent="0" marL="0">
              <a:buNone/>
            </a:pPr>
            <a:r>
              <a:rPr lang="en-US" sz="1300" i="1" dirty="0">
                <a:solidFill>
                  <a:schemeClr val="tx2"/>
                </a:solidFill>
              </a:rPr>
              <a:t>an interface: what a list can do</a:t>
            </a:r>
            <a:endParaRPr lang="en-US" sz="1300" dirty="0"/>
          </a:p>
        </p:txBody>
      </p:sp>
      <p:sp>
        <p:nvSpPr>
          <p:cNvPr id="7" name="Shape 4"/>
          <p:cNvSpPr/>
          <p:nvPr/>
        </p:nvSpPr>
        <p:spPr>
          <a:xfrm>
            <a:off x="8156448" y="2011680"/>
            <a:ext cx="2103120" cy="548640"/>
          </a:xfrm>
          <a:prstGeom prst="roundRect">
            <a:avLst>
              <a:gd name="adj" fmla="val 16667"/>
            </a:avLst>
          </a:prstGeom>
          <a:solidFill>
            <a:schemeClr val="accent3">
              <a:alpha val="14000"/>
            </a:schemeClr>
          </a:solidFill>
          <a:ln w="19050">
            <a:solidFill>
              <a:schemeClr val="accent3"/>
            </a:solidFill>
            <a:prstDash val="solid"/>
          </a:ln>
        </p:spPr>
      </p:sp>
      <p:sp>
        <p:nvSpPr>
          <p:cNvPr id="8" name="Text 5"/>
          <p:cNvSpPr txBox="1"/>
          <p:nvPr/>
        </p:nvSpPr>
        <p:spPr>
          <a:xfrm>
            <a:off x="8156448" y="2011680"/>
            <a:ext cx="210312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nsolas" pitchFamily="34" charset="0"/>
                <a:ea typeface="Consolas" pitchFamily="34" charset="-122"/>
                <a:cs typeface="Consolas" pitchFamily="34" charset="-120"/>
              </a:rPr>
              <a:t>List</a:t>
            </a:r>
            <a:endParaRPr lang="en-US" sz="1800" dirty="0"/>
          </a:p>
        </p:txBody>
      </p:sp>
      <p:sp>
        <p:nvSpPr>
          <p:cNvPr id="9" name="Shape 6"/>
          <p:cNvSpPr/>
          <p:nvPr/>
        </p:nvSpPr>
        <p:spPr>
          <a:xfrm>
            <a:off x="6812280" y="3429000"/>
            <a:ext cx="2194560" cy="548640"/>
          </a:xfrm>
          <a:prstGeom prst="roundRect">
            <a:avLst>
              <a:gd name="adj" fmla="val 16667"/>
            </a:avLst>
          </a:prstGeom>
          <a:solidFill>
            <a:schemeClr val="accent1">
              <a:alpha val="14000"/>
            </a:schemeClr>
          </a:solidFill>
          <a:ln w="19050">
            <a:solidFill>
              <a:schemeClr val="accent1"/>
            </a:solidFill>
            <a:prstDash val="solid"/>
          </a:ln>
        </p:spPr>
      </p:sp>
      <p:sp>
        <p:nvSpPr>
          <p:cNvPr id="10" name="Text 7"/>
          <p:cNvSpPr txBox="1"/>
          <p:nvPr/>
        </p:nvSpPr>
        <p:spPr>
          <a:xfrm>
            <a:off x="6812280" y="3429000"/>
            <a:ext cx="2194560" cy="548640"/>
          </a:xfrm>
          <a:prstGeom prst="rect">
            <a:avLst/>
          </a:prstGeom>
          <a:noFill/>
          <a:ln/>
        </p:spPr>
        <p:txBody>
          <a:bodyPr wrap="square" lIns="0" tIns="0" rIns="0" bIns="0" rtlCol="0" anchor="ctr"/>
          <a:lstStyle/>
          <a:p>
            <a:pPr algn="ctr" indent="0" marL="0">
              <a:buNone/>
            </a:pPr>
            <a:r>
              <a:rPr lang="en-US" sz="1700" b="1" dirty="0">
                <a:solidFill>
                  <a:schemeClr val="tx1"/>
                </a:solidFill>
                <a:latin typeface="Consolas" pitchFamily="34" charset="0"/>
                <a:ea typeface="Consolas" pitchFamily="34" charset="-122"/>
                <a:cs typeface="Consolas" pitchFamily="34" charset="-120"/>
              </a:rPr>
              <a:t>ArrayList</a:t>
            </a:r>
            <a:endParaRPr lang="en-US" sz="1700" dirty="0"/>
          </a:p>
        </p:txBody>
      </p:sp>
      <p:sp>
        <p:nvSpPr>
          <p:cNvPr id="11" name="Shape 8"/>
          <p:cNvSpPr/>
          <p:nvPr/>
        </p:nvSpPr>
        <p:spPr>
          <a:xfrm>
            <a:off x="9418320" y="3429000"/>
            <a:ext cx="2194560" cy="548640"/>
          </a:xfrm>
          <a:prstGeom prst="roundRect">
            <a:avLst>
              <a:gd name="adj" fmla="val 16667"/>
            </a:avLst>
          </a:prstGeom>
          <a:solidFill>
            <a:schemeClr val="accent1">
              <a:alpha val="14000"/>
            </a:schemeClr>
          </a:solidFill>
          <a:ln w="19050">
            <a:solidFill>
              <a:schemeClr val="accent1"/>
            </a:solidFill>
            <a:prstDash val="solid"/>
          </a:ln>
        </p:spPr>
      </p:sp>
      <p:sp>
        <p:nvSpPr>
          <p:cNvPr id="12" name="Text 9"/>
          <p:cNvSpPr txBox="1"/>
          <p:nvPr/>
        </p:nvSpPr>
        <p:spPr>
          <a:xfrm>
            <a:off x="9418320" y="3429000"/>
            <a:ext cx="2194560" cy="548640"/>
          </a:xfrm>
          <a:prstGeom prst="rect">
            <a:avLst/>
          </a:prstGeom>
          <a:noFill/>
          <a:ln/>
        </p:spPr>
        <p:txBody>
          <a:bodyPr wrap="square" lIns="0" tIns="0" rIns="0" bIns="0" rtlCol="0" anchor="ctr"/>
          <a:lstStyle/>
          <a:p>
            <a:pPr algn="ctr" indent="0" marL="0">
              <a:buNone/>
            </a:pPr>
            <a:r>
              <a:rPr lang="en-US" sz="1700" b="1" dirty="0">
                <a:solidFill>
                  <a:schemeClr val="tx1"/>
                </a:solidFill>
                <a:latin typeface="Consolas" pitchFamily="34" charset="0"/>
                <a:ea typeface="Consolas" pitchFamily="34" charset="-122"/>
                <a:cs typeface="Consolas" pitchFamily="34" charset="-120"/>
              </a:rPr>
              <a:t>LinkedList</a:t>
            </a:r>
            <a:endParaRPr lang="en-US" sz="1700" dirty="0"/>
          </a:p>
        </p:txBody>
      </p:sp>
      <p:sp>
        <p:nvSpPr>
          <p:cNvPr id="13" name="Shape 10"/>
          <p:cNvSpPr/>
          <p:nvPr/>
        </p:nvSpPr>
        <p:spPr>
          <a:xfrm flipV="1">
            <a:off x="7909560" y="2578608"/>
            <a:ext cx="822960" cy="850392"/>
          </a:xfrm>
          <a:prstGeom prst="line">
            <a:avLst/>
          </a:prstGeom>
          <a:noFill/>
          <a:ln w="19050">
            <a:solidFill>
              <a:schemeClr val="tx2"/>
            </a:solidFill>
            <a:prstDash val="solid"/>
            <a:tailEnd type="triangle"/>
          </a:ln>
        </p:spPr>
      </p:sp>
      <p:sp>
        <p:nvSpPr>
          <p:cNvPr id="14" name="Shape 11"/>
          <p:cNvSpPr/>
          <p:nvPr/>
        </p:nvSpPr>
        <p:spPr>
          <a:xfrm flipH="1" flipV="1">
            <a:off x="9692640" y="2578608"/>
            <a:ext cx="822960" cy="850392"/>
          </a:xfrm>
          <a:prstGeom prst="line">
            <a:avLst/>
          </a:prstGeom>
          <a:noFill/>
          <a:ln w="19050">
            <a:solidFill>
              <a:schemeClr val="tx2"/>
            </a:solidFill>
            <a:prstDash val="solid"/>
            <a:tailEnd type="triangle"/>
          </a:ln>
        </p:spPr>
      </p:sp>
      <p:sp>
        <p:nvSpPr>
          <p:cNvPr id="15" name="Text 12"/>
          <p:cNvSpPr txBox="1"/>
          <p:nvPr/>
        </p:nvSpPr>
        <p:spPr>
          <a:xfrm>
            <a:off x="6766560" y="4041648"/>
            <a:ext cx="4873752" cy="274320"/>
          </a:xfrm>
          <a:prstGeom prst="rect">
            <a:avLst/>
          </a:prstGeom>
          <a:noFill/>
          <a:ln/>
        </p:spPr>
        <p:txBody>
          <a:bodyPr wrap="square" lIns="0" tIns="0" rIns="0" bIns="0" rtlCol="0" anchor="t"/>
          <a:lstStyle/>
          <a:p>
            <a:pPr algn="ctr" indent="0" marL="0">
              <a:buNone/>
            </a:pPr>
            <a:r>
              <a:rPr lang="en-US" sz="1300" i="1" dirty="0">
                <a:solidFill>
                  <a:schemeClr val="tx2"/>
                </a:solidFill>
              </a:rPr>
              <a:t>classes: two ways of doing it</a:t>
            </a:r>
            <a:endParaRPr lang="en-US" sz="1300" dirty="0"/>
          </a:p>
        </p:txBody>
      </p:sp>
      <p:sp>
        <p:nvSpPr>
          <p:cNvPr id="16" name="Note"/>
          <p:cNvSpPr/>
          <p:nvPr/>
        </p:nvSpPr>
        <p:spPr>
          <a:xfrm>
            <a:off x="6766560" y="4709160"/>
            <a:ext cx="4876495" cy="1051560"/>
          </a:xfrm>
          <a:prstGeom prst="roundRect">
            <a:avLst>
              <a:gd name="adj" fmla="val 10435"/>
            </a:avLst>
          </a:prstGeom>
          <a:solidFill>
            <a:schemeClr val="bg2"/>
          </a:solidFill>
          <a:ln/>
        </p:spPr>
      </p:sp>
      <p:sp>
        <p:nvSpPr>
          <p:cNvPr id="17" name="Icon tile"/>
          <p:cNvSpPr/>
          <p:nvPr/>
        </p:nvSpPr>
        <p:spPr>
          <a:xfrm>
            <a:off x="7040880" y="4969764"/>
            <a:ext cx="530352" cy="530352"/>
          </a:xfrm>
          <a:prstGeom prst="roundRect">
            <a:avLst>
              <a:gd name="adj" fmla="val 24000"/>
            </a:avLst>
          </a:prstGeom>
          <a:solidFill>
            <a:schemeClr val="accent2">
              <a:alpha val="14000"/>
            </a:schemeClr>
          </a:solidFill>
          <a:ln/>
        </p:spPr>
      </p:sp>
      <p:pic>
        <p:nvPicPr>
          <p:cNvPr id="18" name="Image 0" descr="info icon">    </p:cNvPr>
          <p:cNvPicPr>
            <a:picLocks noChangeAspect="1"/>
          </p:cNvPicPr>
          <p:nvPr/>
        </p:nvPicPr>
        <p:blipFill>
          <a:blip r:embed="rId1"/>
          <a:stretch>
            <a:fillRect/>
          </a:stretch>
        </p:blipFill>
        <p:spPr>
          <a:xfrm>
            <a:off x="7152254" y="5081138"/>
            <a:ext cx="307604" cy="307604"/>
          </a:xfrm>
          <a:prstGeom prst="rect">
            <a:avLst/>
          </a:prstGeom>
        </p:spPr>
      </p:pic>
      <p:sp>
        <p:nvSpPr>
          <p:cNvPr id="19" name="Text 15"/>
          <p:cNvSpPr txBox="1"/>
          <p:nvPr/>
        </p:nvSpPr>
        <p:spPr>
          <a:xfrm>
            <a:off x="7790688" y="4709160"/>
            <a:ext cx="3596335" cy="1051560"/>
          </a:xfrm>
          <a:prstGeom prst="rect">
            <a:avLst/>
          </a:prstGeom>
          <a:noFill/>
          <a:ln/>
        </p:spPr>
        <p:txBody>
          <a:bodyPr wrap="square" lIns="0" tIns="0" rIns="0" bIns="0" rtlCol="0" anchor="ctr"/>
          <a:lstStyle/>
          <a:p>
            <a:pPr algn="l" indent="0" marL="0">
              <a:buNone/>
            </a:pPr>
            <a:r>
              <a:rPr lang="en-US" sz="1500" dirty="0">
                <a:solidFill>
                  <a:schemeClr val="tx1"/>
                </a:solidFill>
              </a:rPr>
              <a:t>We create objects from the classes, not the interface: </a:t>
            </a:r>
            <a:r>
              <a:rPr lang="en-US" sz="1500" dirty="0">
                <a:solidFill>
                  <a:schemeClr val="accent2"/>
                </a:solidFill>
                <a:latin typeface="Consolas" pitchFamily="34" charset="0"/>
                <a:ea typeface="Consolas" pitchFamily="34" charset="-122"/>
                <a:cs typeface="Consolas" pitchFamily="34" charset="-120"/>
              </a:rPr>
              <a:t>new ArrayList&lt;String&gt;()</a:t>
            </a: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COLLECTION CLASSES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The Collections Framework at a glance</a:t>
            </a:r>
            <a:endParaRPr lang="en-US" sz="3400" dirty="0"/>
          </a:p>
        </p:txBody>
      </p:sp>
      <p:sp>
        <p:nvSpPr>
          <p:cNvPr id="5" name="Iterable"/>
          <p:cNvSpPr/>
          <p:nvPr/>
        </p:nvSpPr>
        <p:spPr>
          <a:xfrm>
            <a:off x="2926080" y="1627632"/>
            <a:ext cx="1645920" cy="402336"/>
          </a:xfrm>
          <a:prstGeom prst="roundRect">
            <a:avLst>
              <a:gd name="adj" fmla="val 18182"/>
            </a:avLst>
          </a:prstGeom>
          <a:solidFill>
            <a:schemeClr val="accent3">
              <a:alpha val="14000"/>
            </a:schemeClr>
          </a:solidFill>
          <a:ln w="15875">
            <a:solidFill>
              <a:schemeClr val="accent3"/>
            </a:solidFill>
            <a:prstDash val="solid"/>
          </a:ln>
        </p:spPr>
      </p:sp>
      <p:sp>
        <p:nvSpPr>
          <p:cNvPr id="6" name="Text 3"/>
          <p:cNvSpPr txBox="1"/>
          <p:nvPr/>
        </p:nvSpPr>
        <p:spPr>
          <a:xfrm>
            <a:off x="2926080" y="1627632"/>
            <a:ext cx="16459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Iterable</a:t>
            </a:r>
            <a:endParaRPr lang="en-US" sz="1300" dirty="0"/>
          </a:p>
        </p:txBody>
      </p:sp>
      <p:sp>
        <p:nvSpPr>
          <p:cNvPr id="7" name="Collection"/>
          <p:cNvSpPr/>
          <p:nvPr/>
        </p:nvSpPr>
        <p:spPr>
          <a:xfrm>
            <a:off x="2926080" y="2240280"/>
            <a:ext cx="1645920" cy="402336"/>
          </a:xfrm>
          <a:prstGeom prst="roundRect">
            <a:avLst>
              <a:gd name="adj" fmla="val 18182"/>
            </a:avLst>
          </a:prstGeom>
          <a:solidFill>
            <a:schemeClr val="accent3">
              <a:alpha val="14000"/>
            </a:schemeClr>
          </a:solidFill>
          <a:ln w="15875">
            <a:solidFill>
              <a:schemeClr val="accent3"/>
            </a:solidFill>
            <a:prstDash val="solid"/>
          </a:ln>
        </p:spPr>
      </p:sp>
      <p:sp>
        <p:nvSpPr>
          <p:cNvPr id="8" name="Text 5"/>
          <p:cNvSpPr txBox="1"/>
          <p:nvPr/>
        </p:nvSpPr>
        <p:spPr>
          <a:xfrm>
            <a:off x="2926080" y="2240280"/>
            <a:ext cx="16459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Collection</a:t>
            </a:r>
            <a:endParaRPr lang="en-US" sz="1300" dirty="0"/>
          </a:p>
        </p:txBody>
      </p:sp>
      <p:sp>
        <p:nvSpPr>
          <p:cNvPr id="9" name="Shape 6"/>
          <p:cNvSpPr/>
          <p:nvPr/>
        </p:nvSpPr>
        <p:spPr>
          <a:xfrm flipV="1">
            <a:off x="3749040" y="2029968"/>
            <a:ext cx="0" cy="210312"/>
          </a:xfrm>
          <a:prstGeom prst="line">
            <a:avLst/>
          </a:prstGeom>
          <a:noFill/>
          <a:ln w="15875">
            <a:solidFill>
              <a:schemeClr val="tx2"/>
            </a:solidFill>
            <a:prstDash val="solid"/>
            <a:tailEnd type="triangle"/>
          </a:ln>
        </p:spPr>
      </p:sp>
      <p:sp>
        <p:nvSpPr>
          <p:cNvPr id="10" name="List"/>
          <p:cNvSpPr/>
          <p:nvPr/>
        </p:nvSpPr>
        <p:spPr>
          <a:xfrm>
            <a:off x="548640" y="2926080"/>
            <a:ext cx="1645920" cy="402336"/>
          </a:xfrm>
          <a:prstGeom prst="roundRect">
            <a:avLst>
              <a:gd name="adj" fmla="val 18182"/>
            </a:avLst>
          </a:prstGeom>
          <a:solidFill>
            <a:schemeClr val="accent3">
              <a:alpha val="14000"/>
            </a:schemeClr>
          </a:solidFill>
          <a:ln w="15875">
            <a:solidFill>
              <a:schemeClr val="accent3"/>
            </a:solidFill>
            <a:prstDash val="solid"/>
          </a:ln>
        </p:spPr>
      </p:sp>
      <p:sp>
        <p:nvSpPr>
          <p:cNvPr id="11" name="Text 8"/>
          <p:cNvSpPr txBox="1"/>
          <p:nvPr/>
        </p:nvSpPr>
        <p:spPr>
          <a:xfrm>
            <a:off x="548640" y="2926080"/>
            <a:ext cx="16459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List</a:t>
            </a:r>
            <a:endParaRPr lang="en-US" sz="1300" dirty="0"/>
          </a:p>
        </p:txBody>
      </p:sp>
      <p:sp>
        <p:nvSpPr>
          <p:cNvPr id="12" name="Queue"/>
          <p:cNvSpPr/>
          <p:nvPr/>
        </p:nvSpPr>
        <p:spPr>
          <a:xfrm>
            <a:off x="2926080" y="2926080"/>
            <a:ext cx="1645920" cy="402336"/>
          </a:xfrm>
          <a:prstGeom prst="roundRect">
            <a:avLst>
              <a:gd name="adj" fmla="val 18182"/>
            </a:avLst>
          </a:prstGeom>
          <a:solidFill>
            <a:schemeClr val="accent3">
              <a:alpha val="14000"/>
            </a:schemeClr>
          </a:solidFill>
          <a:ln w="15875">
            <a:solidFill>
              <a:schemeClr val="accent3"/>
            </a:solidFill>
            <a:prstDash val="solid"/>
          </a:ln>
        </p:spPr>
      </p:sp>
      <p:sp>
        <p:nvSpPr>
          <p:cNvPr id="13" name="Text 10"/>
          <p:cNvSpPr txBox="1"/>
          <p:nvPr/>
        </p:nvSpPr>
        <p:spPr>
          <a:xfrm>
            <a:off x="2926080" y="2926080"/>
            <a:ext cx="16459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Queue</a:t>
            </a:r>
            <a:endParaRPr lang="en-US" sz="1300" dirty="0"/>
          </a:p>
        </p:txBody>
      </p:sp>
      <p:sp>
        <p:nvSpPr>
          <p:cNvPr id="14" name="Set"/>
          <p:cNvSpPr/>
          <p:nvPr/>
        </p:nvSpPr>
        <p:spPr>
          <a:xfrm>
            <a:off x="5303520" y="2926080"/>
            <a:ext cx="1645920" cy="402336"/>
          </a:xfrm>
          <a:prstGeom prst="roundRect">
            <a:avLst>
              <a:gd name="adj" fmla="val 18182"/>
            </a:avLst>
          </a:prstGeom>
          <a:solidFill>
            <a:schemeClr val="accent3">
              <a:alpha val="14000"/>
            </a:schemeClr>
          </a:solidFill>
          <a:ln w="15875">
            <a:solidFill>
              <a:schemeClr val="accent3"/>
            </a:solidFill>
            <a:prstDash val="solid"/>
          </a:ln>
        </p:spPr>
      </p:sp>
      <p:sp>
        <p:nvSpPr>
          <p:cNvPr id="15" name="Text 12"/>
          <p:cNvSpPr txBox="1"/>
          <p:nvPr/>
        </p:nvSpPr>
        <p:spPr>
          <a:xfrm>
            <a:off x="5303520" y="2926080"/>
            <a:ext cx="16459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Set</a:t>
            </a:r>
            <a:endParaRPr lang="en-US" sz="1300" dirty="0"/>
          </a:p>
        </p:txBody>
      </p:sp>
      <p:sp>
        <p:nvSpPr>
          <p:cNvPr id="16" name="Shape 13"/>
          <p:cNvSpPr/>
          <p:nvPr/>
        </p:nvSpPr>
        <p:spPr>
          <a:xfrm>
            <a:off x="1371600" y="2761488"/>
            <a:ext cx="4754880" cy="0"/>
          </a:xfrm>
          <a:prstGeom prst="line">
            <a:avLst/>
          </a:prstGeom>
          <a:noFill/>
          <a:ln w="15875">
            <a:solidFill>
              <a:schemeClr val="tx2"/>
            </a:solidFill>
            <a:prstDash val="solid"/>
          </a:ln>
        </p:spPr>
      </p:sp>
      <p:sp>
        <p:nvSpPr>
          <p:cNvPr id="17" name="Shape 14"/>
          <p:cNvSpPr/>
          <p:nvPr/>
        </p:nvSpPr>
        <p:spPr>
          <a:xfrm flipV="1">
            <a:off x="1371600" y="2761488"/>
            <a:ext cx="0" cy="164592"/>
          </a:xfrm>
          <a:prstGeom prst="line">
            <a:avLst/>
          </a:prstGeom>
          <a:noFill/>
          <a:ln w="15875">
            <a:solidFill>
              <a:schemeClr val="tx2"/>
            </a:solidFill>
            <a:prstDash val="solid"/>
          </a:ln>
        </p:spPr>
      </p:sp>
      <p:sp>
        <p:nvSpPr>
          <p:cNvPr id="18" name="Shape 15"/>
          <p:cNvSpPr/>
          <p:nvPr/>
        </p:nvSpPr>
        <p:spPr>
          <a:xfrm flipV="1">
            <a:off x="6126480" y="2761488"/>
            <a:ext cx="0" cy="164592"/>
          </a:xfrm>
          <a:prstGeom prst="line">
            <a:avLst/>
          </a:prstGeom>
          <a:noFill/>
          <a:ln w="15875">
            <a:solidFill>
              <a:schemeClr val="tx2"/>
            </a:solidFill>
            <a:prstDash val="solid"/>
          </a:ln>
        </p:spPr>
      </p:sp>
      <p:sp>
        <p:nvSpPr>
          <p:cNvPr id="19" name="Shape 16"/>
          <p:cNvSpPr/>
          <p:nvPr/>
        </p:nvSpPr>
        <p:spPr>
          <a:xfrm flipV="1">
            <a:off x="3749040" y="2761488"/>
            <a:ext cx="0" cy="164592"/>
          </a:xfrm>
          <a:prstGeom prst="line">
            <a:avLst/>
          </a:prstGeom>
          <a:noFill/>
          <a:ln w="15875">
            <a:solidFill>
              <a:schemeClr val="tx2"/>
            </a:solidFill>
            <a:prstDash val="solid"/>
          </a:ln>
        </p:spPr>
      </p:sp>
      <p:sp>
        <p:nvSpPr>
          <p:cNvPr id="20" name="Shape 17"/>
          <p:cNvSpPr/>
          <p:nvPr/>
        </p:nvSpPr>
        <p:spPr>
          <a:xfrm flipV="1">
            <a:off x="3749040" y="2642616"/>
            <a:ext cx="0" cy="118872"/>
          </a:xfrm>
          <a:prstGeom prst="line">
            <a:avLst/>
          </a:prstGeom>
          <a:noFill/>
          <a:ln w="15875">
            <a:solidFill>
              <a:schemeClr val="tx2"/>
            </a:solidFill>
            <a:prstDash val="solid"/>
            <a:tailEnd type="triangle"/>
          </a:ln>
        </p:spPr>
      </p:sp>
      <p:sp>
        <p:nvSpPr>
          <p:cNvPr id="21" name="ArrayList"/>
          <p:cNvSpPr/>
          <p:nvPr/>
        </p:nvSpPr>
        <p:spPr>
          <a:xfrm>
            <a:off x="960120" y="3566160"/>
            <a:ext cx="1600200" cy="402336"/>
          </a:xfrm>
          <a:prstGeom prst="roundRect">
            <a:avLst>
              <a:gd name="adj" fmla="val 18182"/>
            </a:avLst>
          </a:prstGeom>
          <a:solidFill>
            <a:schemeClr val="accent1">
              <a:alpha val="14000"/>
            </a:schemeClr>
          </a:solidFill>
          <a:ln w="15875">
            <a:solidFill>
              <a:schemeClr val="accent1"/>
            </a:solidFill>
            <a:prstDash val="solid"/>
          </a:ln>
        </p:spPr>
      </p:sp>
      <p:sp>
        <p:nvSpPr>
          <p:cNvPr id="22" name="Text 19"/>
          <p:cNvSpPr txBox="1"/>
          <p:nvPr/>
        </p:nvSpPr>
        <p:spPr>
          <a:xfrm>
            <a:off x="960120" y="3566160"/>
            <a:ext cx="160020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ArrayList</a:t>
            </a:r>
            <a:endParaRPr lang="en-US" sz="1300" dirty="0"/>
          </a:p>
        </p:txBody>
      </p:sp>
      <p:sp>
        <p:nvSpPr>
          <p:cNvPr id="23" name="LinkedList"/>
          <p:cNvSpPr/>
          <p:nvPr/>
        </p:nvSpPr>
        <p:spPr>
          <a:xfrm>
            <a:off x="960120" y="4096512"/>
            <a:ext cx="1600200" cy="402336"/>
          </a:xfrm>
          <a:prstGeom prst="roundRect">
            <a:avLst>
              <a:gd name="adj" fmla="val 18182"/>
            </a:avLst>
          </a:prstGeom>
          <a:solidFill>
            <a:schemeClr val="accent1">
              <a:alpha val="14000"/>
            </a:schemeClr>
          </a:solidFill>
          <a:ln w="15875">
            <a:solidFill>
              <a:schemeClr val="accent1"/>
            </a:solidFill>
            <a:prstDash val="solid"/>
          </a:ln>
        </p:spPr>
      </p:sp>
      <p:sp>
        <p:nvSpPr>
          <p:cNvPr id="24" name="Text 21"/>
          <p:cNvSpPr txBox="1"/>
          <p:nvPr/>
        </p:nvSpPr>
        <p:spPr>
          <a:xfrm>
            <a:off x="960120" y="4096512"/>
            <a:ext cx="160020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LinkedList</a:t>
            </a:r>
            <a:endParaRPr lang="en-US" sz="1300" dirty="0"/>
          </a:p>
        </p:txBody>
      </p:sp>
      <p:sp>
        <p:nvSpPr>
          <p:cNvPr id="25" name="Vector"/>
          <p:cNvSpPr/>
          <p:nvPr/>
        </p:nvSpPr>
        <p:spPr>
          <a:xfrm>
            <a:off x="960120" y="4626864"/>
            <a:ext cx="1600200" cy="402336"/>
          </a:xfrm>
          <a:prstGeom prst="roundRect">
            <a:avLst>
              <a:gd name="adj" fmla="val 18182"/>
            </a:avLst>
          </a:prstGeom>
          <a:solidFill>
            <a:schemeClr val="accent1">
              <a:alpha val="14000"/>
            </a:schemeClr>
          </a:solidFill>
          <a:ln w="15875">
            <a:solidFill>
              <a:schemeClr val="accent1"/>
            </a:solidFill>
            <a:prstDash val="solid"/>
          </a:ln>
        </p:spPr>
      </p:sp>
      <p:sp>
        <p:nvSpPr>
          <p:cNvPr id="26" name="Text 23"/>
          <p:cNvSpPr txBox="1"/>
          <p:nvPr/>
        </p:nvSpPr>
        <p:spPr>
          <a:xfrm>
            <a:off x="960120" y="4626864"/>
            <a:ext cx="160020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Vector</a:t>
            </a:r>
            <a:endParaRPr lang="en-US" sz="1300" dirty="0"/>
          </a:p>
        </p:txBody>
      </p:sp>
      <p:sp>
        <p:nvSpPr>
          <p:cNvPr id="27" name="Shape 24"/>
          <p:cNvSpPr/>
          <p:nvPr/>
        </p:nvSpPr>
        <p:spPr>
          <a:xfrm flipV="1">
            <a:off x="731520" y="3328416"/>
            <a:ext cx="0" cy="1499616"/>
          </a:xfrm>
          <a:prstGeom prst="line">
            <a:avLst/>
          </a:prstGeom>
          <a:noFill/>
          <a:ln w="15875">
            <a:solidFill>
              <a:schemeClr val="tx2"/>
            </a:solidFill>
            <a:prstDash val="solid"/>
            <a:tailEnd type="triangle"/>
          </a:ln>
        </p:spPr>
      </p:sp>
      <p:sp>
        <p:nvSpPr>
          <p:cNvPr id="28" name="Shape 25"/>
          <p:cNvSpPr/>
          <p:nvPr/>
        </p:nvSpPr>
        <p:spPr>
          <a:xfrm>
            <a:off x="731520" y="3767328"/>
            <a:ext cx="228600" cy="0"/>
          </a:xfrm>
          <a:prstGeom prst="line">
            <a:avLst/>
          </a:prstGeom>
          <a:noFill/>
          <a:ln w="15875">
            <a:solidFill>
              <a:schemeClr val="tx2"/>
            </a:solidFill>
            <a:prstDash val="solid"/>
          </a:ln>
        </p:spPr>
      </p:sp>
      <p:sp>
        <p:nvSpPr>
          <p:cNvPr id="29" name="Shape 26"/>
          <p:cNvSpPr/>
          <p:nvPr/>
        </p:nvSpPr>
        <p:spPr>
          <a:xfrm>
            <a:off x="731520" y="4297680"/>
            <a:ext cx="228600" cy="0"/>
          </a:xfrm>
          <a:prstGeom prst="line">
            <a:avLst/>
          </a:prstGeom>
          <a:noFill/>
          <a:ln w="15875">
            <a:solidFill>
              <a:schemeClr val="tx2"/>
            </a:solidFill>
            <a:prstDash val="solid"/>
          </a:ln>
        </p:spPr>
      </p:sp>
      <p:sp>
        <p:nvSpPr>
          <p:cNvPr id="30" name="Shape 27"/>
          <p:cNvSpPr/>
          <p:nvPr/>
        </p:nvSpPr>
        <p:spPr>
          <a:xfrm>
            <a:off x="731520" y="4828032"/>
            <a:ext cx="228600" cy="0"/>
          </a:xfrm>
          <a:prstGeom prst="line">
            <a:avLst/>
          </a:prstGeom>
          <a:noFill/>
          <a:ln w="15875">
            <a:solidFill>
              <a:schemeClr val="tx2"/>
            </a:solidFill>
            <a:prstDash val="solid"/>
          </a:ln>
        </p:spPr>
      </p:sp>
      <p:sp>
        <p:nvSpPr>
          <p:cNvPr id="31" name="Stack"/>
          <p:cNvSpPr/>
          <p:nvPr/>
        </p:nvSpPr>
        <p:spPr>
          <a:xfrm>
            <a:off x="960120" y="5248656"/>
            <a:ext cx="1600200" cy="402336"/>
          </a:xfrm>
          <a:prstGeom prst="roundRect">
            <a:avLst>
              <a:gd name="adj" fmla="val 18182"/>
            </a:avLst>
          </a:prstGeom>
          <a:solidFill>
            <a:schemeClr val="accent1">
              <a:alpha val="14000"/>
            </a:schemeClr>
          </a:solidFill>
          <a:ln w="15875">
            <a:solidFill>
              <a:schemeClr val="accent1"/>
            </a:solidFill>
            <a:prstDash val="solid"/>
          </a:ln>
        </p:spPr>
      </p:sp>
      <p:sp>
        <p:nvSpPr>
          <p:cNvPr id="32" name="Text 29"/>
          <p:cNvSpPr txBox="1"/>
          <p:nvPr/>
        </p:nvSpPr>
        <p:spPr>
          <a:xfrm>
            <a:off x="960120" y="5248656"/>
            <a:ext cx="160020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Stack</a:t>
            </a:r>
            <a:endParaRPr lang="en-US" sz="1300" dirty="0"/>
          </a:p>
        </p:txBody>
      </p:sp>
      <p:sp>
        <p:nvSpPr>
          <p:cNvPr id="33" name="Shape 30"/>
          <p:cNvSpPr/>
          <p:nvPr/>
        </p:nvSpPr>
        <p:spPr>
          <a:xfrm flipV="1">
            <a:off x="1760220" y="5029200"/>
            <a:ext cx="0" cy="219456"/>
          </a:xfrm>
          <a:prstGeom prst="line">
            <a:avLst/>
          </a:prstGeom>
          <a:noFill/>
          <a:ln w="15875">
            <a:solidFill>
              <a:schemeClr val="tx2"/>
            </a:solidFill>
            <a:prstDash val="solid"/>
            <a:tailEnd type="triangle"/>
          </a:ln>
        </p:spPr>
      </p:sp>
      <p:sp>
        <p:nvSpPr>
          <p:cNvPr id="34" name="PriorityQueue"/>
          <p:cNvSpPr/>
          <p:nvPr/>
        </p:nvSpPr>
        <p:spPr>
          <a:xfrm>
            <a:off x="3337560" y="3566160"/>
            <a:ext cx="1783080" cy="402336"/>
          </a:xfrm>
          <a:prstGeom prst="roundRect">
            <a:avLst>
              <a:gd name="adj" fmla="val 18182"/>
            </a:avLst>
          </a:prstGeom>
          <a:solidFill>
            <a:schemeClr val="accent1">
              <a:alpha val="14000"/>
            </a:schemeClr>
          </a:solidFill>
          <a:ln w="15875">
            <a:solidFill>
              <a:schemeClr val="accent1"/>
            </a:solidFill>
            <a:prstDash val="solid"/>
          </a:ln>
        </p:spPr>
      </p:sp>
      <p:sp>
        <p:nvSpPr>
          <p:cNvPr id="35" name="Text 32"/>
          <p:cNvSpPr txBox="1"/>
          <p:nvPr/>
        </p:nvSpPr>
        <p:spPr>
          <a:xfrm>
            <a:off x="3337560" y="3566160"/>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PriorityQueue</a:t>
            </a:r>
            <a:endParaRPr lang="en-US" sz="1300" dirty="0"/>
          </a:p>
        </p:txBody>
      </p:sp>
      <p:sp>
        <p:nvSpPr>
          <p:cNvPr id="36" name="Deque"/>
          <p:cNvSpPr/>
          <p:nvPr/>
        </p:nvSpPr>
        <p:spPr>
          <a:xfrm>
            <a:off x="3337560" y="4096512"/>
            <a:ext cx="1783080" cy="402336"/>
          </a:xfrm>
          <a:prstGeom prst="roundRect">
            <a:avLst>
              <a:gd name="adj" fmla="val 18182"/>
            </a:avLst>
          </a:prstGeom>
          <a:solidFill>
            <a:schemeClr val="accent3">
              <a:alpha val="14000"/>
            </a:schemeClr>
          </a:solidFill>
          <a:ln w="15875">
            <a:solidFill>
              <a:schemeClr val="accent3"/>
            </a:solidFill>
            <a:prstDash val="solid"/>
          </a:ln>
        </p:spPr>
      </p:sp>
      <p:sp>
        <p:nvSpPr>
          <p:cNvPr id="37" name="Text 34"/>
          <p:cNvSpPr txBox="1"/>
          <p:nvPr/>
        </p:nvSpPr>
        <p:spPr>
          <a:xfrm>
            <a:off x="3337560" y="4096512"/>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Deque</a:t>
            </a:r>
            <a:endParaRPr lang="en-US" sz="1300" dirty="0"/>
          </a:p>
        </p:txBody>
      </p:sp>
      <p:sp>
        <p:nvSpPr>
          <p:cNvPr id="38" name="Shape 35"/>
          <p:cNvSpPr/>
          <p:nvPr/>
        </p:nvSpPr>
        <p:spPr>
          <a:xfrm flipV="1">
            <a:off x="3108960" y="3328416"/>
            <a:ext cx="0" cy="969264"/>
          </a:xfrm>
          <a:prstGeom prst="line">
            <a:avLst/>
          </a:prstGeom>
          <a:noFill/>
          <a:ln w="15875">
            <a:solidFill>
              <a:schemeClr val="tx2"/>
            </a:solidFill>
            <a:prstDash val="solid"/>
            <a:tailEnd type="triangle"/>
          </a:ln>
        </p:spPr>
      </p:sp>
      <p:sp>
        <p:nvSpPr>
          <p:cNvPr id="39" name="Shape 36"/>
          <p:cNvSpPr/>
          <p:nvPr/>
        </p:nvSpPr>
        <p:spPr>
          <a:xfrm>
            <a:off x="3108960" y="3767328"/>
            <a:ext cx="228600" cy="0"/>
          </a:xfrm>
          <a:prstGeom prst="line">
            <a:avLst/>
          </a:prstGeom>
          <a:noFill/>
          <a:ln w="15875">
            <a:solidFill>
              <a:schemeClr val="tx2"/>
            </a:solidFill>
            <a:prstDash val="solid"/>
          </a:ln>
        </p:spPr>
      </p:sp>
      <p:sp>
        <p:nvSpPr>
          <p:cNvPr id="40" name="Shape 37"/>
          <p:cNvSpPr/>
          <p:nvPr/>
        </p:nvSpPr>
        <p:spPr>
          <a:xfrm>
            <a:off x="3108960" y="4297680"/>
            <a:ext cx="228600" cy="0"/>
          </a:xfrm>
          <a:prstGeom prst="line">
            <a:avLst/>
          </a:prstGeom>
          <a:noFill/>
          <a:ln w="15875">
            <a:solidFill>
              <a:schemeClr val="tx2"/>
            </a:solidFill>
            <a:prstDash val="solid"/>
          </a:ln>
        </p:spPr>
      </p:sp>
      <p:sp>
        <p:nvSpPr>
          <p:cNvPr id="41" name="ArrayDeque"/>
          <p:cNvSpPr/>
          <p:nvPr/>
        </p:nvSpPr>
        <p:spPr>
          <a:xfrm>
            <a:off x="3337560" y="4718304"/>
            <a:ext cx="1783080" cy="402336"/>
          </a:xfrm>
          <a:prstGeom prst="roundRect">
            <a:avLst>
              <a:gd name="adj" fmla="val 18182"/>
            </a:avLst>
          </a:prstGeom>
          <a:solidFill>
            <a:schemeClr val="accent1">
              <a:alpha val="14000"/>
            </a:schemeClr>
          </a:solidFill>
          <a:ln w="15875">
            <a:solidFill>
              <a:schemeClr val="accent1"/>
            </a:solidFill>
            <a:prstDash val="solid"/>
          </a:ln>
        </p:spPr>
      </p:sp>
      <p:sp>
        <p:nvSpPr>
          <p:cNvPr id="42" name="Text 39"/>
          <p:cNvSpPr txBox="1"/>
          <p:nvPr/>
        </p:nvSpPr>
        <p:spPr>
          <a:xfrm>
            <a:off x="3337560" y="4718304"/>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ArrayDeque</a:t>
            </a:r>
            <a:endParaRPr lang="en-US" sz="1300" dirty="0"/>
          </a:p>
        </p:txBody>
      </p:sp>
      <p:sp>
        <p:nvSpPr>
          <p:cNvPr id="43" name="Shape 40"/>
          <p:cNvSpPr/>
          <p:nvPr/>
        </p:nvSpPr>
        <p:spPr>
          <a:xfrm flipV="1">
            <a:off x="4229100" y="4498848"/>
            <a:ext cx="0" cy="219456"/>
          </a:xfrm>
          <a:prstGeom prst="line">
            <a:avLst/>
          </a:prstGeom>
          <a:noFill/>
          <a:ln w="15875">
            <a:solidFill>
              <a:schemeClr val="tx2"/>
            </a:solidFill>
            <a:prstDash val="solid"/>
            <a:tailEnd type="triangle"/>
          </a:ln>
        </p:spPr>
      </p:sp>
      <p:sp>
        <p:nvSpPr>
          <p:cNvPr id="44" name="HashSet"/>
          <p:cNvSpPr/>
          <p:nvPr/>
        </p:nvSpPr>
        <p:spPr>
          <a:xfrm>
            <a:off x="5715000" y="3566160"/>
            <a:ext cx="1783080" cy="402336"/>
          </a:xfrm>
          <a:prstGeom prst="roundRect">
            <a:avLst>
              <a:gd name="adj" fmla="val 18182"/>
            </a:avLst>
          </a:prstGeom>
          <a:solidFill>
            <a:schemeClr val="accent1">
              <a:alpha val="14000"/>
            </a:schemeClr>
          </a:solidFill>
          <a:ln w="15875">
            <a:solidFill>
              <a:schemeClr val="accent1"/>
            </a:solidFill>
            <a:prstDash val="solid"/>
          </a:ln>
        </p:spPr>
      </p:sp>
      <p:sp>
        <p:nvSpPr>
          <p:cNvPr id="45" name="Text 42"/>
          <p:cNvSpPr txBox="1"/>
          <p:nvPr/>
        </p:nvSpPr>
        <p:spPr>
          <a:xfrm>
            <a:off x="5715000" y="3566160"/>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HashSet</a:t>
            </a:r>
            <a:endParaRPr lang="en-US" sz="1300" dirty="0"/>
          </a:p>
        </p:txBody>
      </p:sp>
      <p:sp>
        <p:nvSpPr>
          <p:cNvPr id="46" name="LinkedHashSet"/>
          <p:cNvSpPr/>
          <p:nvPr/>
        </p:nvSpPr>
        <p:spPr>
          <a:xfrm>
            <a:off x="5715000" y="4096512"/>
            <a:ext cx="1783080" cy="402336"/>
          </a:xfrm>
          <a:prstGeom prst="roundRect">
            <a:avLst>
              <a:gd name="adj" fmla="val 18182"/>
            </a:avLst>
          </a:prstGeom>
          <a:solidFill>
            <a:schemeClr val="accent1">
              <a:alpha val="14000"/>
            </a:schemeClr>
          </a:solidFill>
          <a:ln w="15875">
            <a:solidFill>
              <a:schemeClr val="accent1"/>
            </a:solidFill>
            <a:prstDash val="solid"/>
          </a:ln>
        </p:spPr>
      </p:sp>
      <p:sp>
        <p:nvSpPr>
          <p:cNvPr id="47" name="Text 44"/>
          <p:cNvSpPr txBox="1"/>
          <p:nvPr/>
        </p:nvSpPr>
        <p:spPr>
          <a:xfrm>
            <a:off x="5715000" y="4096512"/>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LinkedHashSet</a:t>
            </a:r>
            <a:endParaRPr lang="en-US" sz="1300" dirty="0"/>
          </a:p>
        </p:txBody>
      </p:sp>
      <p:sp>
        <p:nvSpPr>
          <p:cNvPr id="48" name="SortedSet"/>
          <p:cNvSpPr/>
          <p:nvPr/>
        </p:nvSpPr>
        <p:spPr>
          <a:xfrm>
            <a:off x="5715000" y="4626864"/>
            <a:ext cx="1783080" cy="402336"/>
          </a:xfrm>
          <a:prstGeom prst="roundRect">
            <a:avLst>
              <a:gd name="adj" fmla="val 18182"/>
            </a:avLst>
          </a:prstGeom>
          <a:solidFill>
            <a:schemeClr val="accent3">
              <a:alpha val="14000"/>
            </a:schemeClr>
          </a:solidFill>
          <a:ln w="15875">
            <a:solidFill>
              <a:schemeClr val="accent3"/>
            </a:solidFill>
            <a:prstDash val="solid"/>
          </a:ln>
        </p:spPr>
      </p:sp>
      <p:sp>
        <p:nvSpPr>
          <p:cNvPr id="49" name="Text 46"/>
          <p:cNvSpPr txBox="1"/>
          <p:nvPr/>
        </p:nvSpPr>
        <p:spPr>
          <a:xfrm>
            <a:off x="5715000" y="4626864"/>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SortedSet</a:t>
            </a:r>
            <a:endParaRPr lang="en-US" sz="1300" dirty="0"/>
          </a:p>
        </p:txBody>
      </p:sp>
      <p:sp>
        <p:nvSpPr>
          <p:cNvPr id="50" name="Shape 47"/>
          <p:cNvSpPr/>
          <p:nvPr/>
        </p:nvSpPr>
        <p:spPr>
          <a:xfrm flipV="1">
            <a:off x="5486400" y="3328416"/>
            <a:ext cx="0" cy="1499616"/>
          </a:xfrm>
          <a:prstGeom prst="line">
            <a:avLst/>
          </a:prstGeom>
          <a:noFill/>
          <a:ln w="15875">
            <a:solidFill>
              <a:schemeClr val="tx2"/>
            </a:solidFill>
            <a:prstDash val="solid"/>
            <a:tailEnd type="triangle"/>
          </a:ln>
        </p:spPr>
      </p:sp>
      <p:sp>
        <p:nvSpPr>
          <p:cNvPr id="51" name="Shape 48"/>
          <p:cNvSpPr/>
          <p:nvPr/>
        </p:nvSpPr>
        <p:spPr>
          <a:xfrm>
            <a:off x="5486400" y="3767328"/>
            <a:ext cx="228600" cy="0"/>
          </a:xfrm>
          <a:prstGeom prst="line">
            <a:avLst/>
          </a:prstGeom>
          <a:noFill/>
          <a:ln w="15875">
            <a:solidFill>
              <a:schemeClr val="tx2"/>
            </a:solidFill>
            <a:prstDash val="solid"/>
          </a:ln>
        </p:spPr>
      </p:sp>
      <p:sp>
        <p:nvSpPr>
          <p:cNvPr id="52" name="Shape 49"/>
          <p:cNvSpPr/>
          <p:nvPr/>
        </p:nvSpPr>
        <p:spPr>
          <a:xfrm>
            <a:off x="5486400" y="4297680"/>
            <a:ext cx="228600" cy="0"/>
          </a:xfrm>
          <a:prstGeom prst="line">
            <a:avLst/>
          </a:prstGeom>
          <a:noFill/>
          <a:ln w="15875">
            <a:solidFill>
              <a:schemeClr val="tx2"/>
            </a:solidFill>
            <a:prstDash val="solid"/>
          </a:ln>
        </p:spPr>
      </p:sp>
      <p:sp>
        <p:nvSpPr>
          <p:cNvPr id="53" name="Shape 50"/>
          <p:cNvSpPr/>
          <p:nvPr/>
        </p:nvSpPr>
        <p:spPr>
          <a:xfrm>
            <a:off x="5486400" y="4828032"/>
            <a:ext cx="228600" cy="0"/>
          </a:xfrm>
          <a:prstGeom prst="line">
            <a:avLst/>
          </a:prstGeom>
          <a:noFill/>
          <a:ln w="15875">
            <a:solidFill>
              <a:schemeClr val="tx2"/>
            </a:solidFill>
            <a:prstDash val="solid"/>
          </a:ln>
        </p:spPr>
      </p:sp>
      <p:sp>
        <p:nvSpPr>
          <p:cNvPr id="54" name="TreeSet"/>
          <p:cNvSpPr/>
          <p:nvPr/>
        </p:nvSpPr>
        <p:spPr>
          <a:xfrm>
            <a:off x="5715000" y="5248656"/>
            <a:ext cx="1783080" cy="402336"/>
          </a:xfrm>
          <a:prstGeom prst="roundRect">
            <a:avLst>
              <a:gd name="adj" fmla="val 18182"/>
            </a:avLst>
          </a:prstGeom>
          <a:solidFill>
            <a:schemeClr val="accent1">
              <a:alpha val="14000"/>
            </a:schemeClr>
          </a:solidFill>
          <a:ln w="15875">
            <a:solidFill>
              <a:schemeClr val="accent1"/>
            </a:solidFill>
            <a:prstDash val="solid"/>
          </a:ln>
        </p:spPr>
      </p:sp>
      <p:sp>
        <p:nvSpPr>
          <p:cNvPr id="55" name="Text 52"/>
          <p:cNvSpPr txBox="1"/>
          <p:nvPr/>
        </p:nvSpPr>
        <p:spPr>
          <a:xfrm>
            <a:off x="5715000" y="5248656"/>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TreeSet</a:t>
            </a:r>
            <a:endParaRPr lang="en-US" sz="1300" dirty="0"/>
          </a:p>
        </p:txBody>
      </p:sp>
      <p:sp>
        <p:nvSpPr>
          <p:cNvPr id="56" name="Shape 53"/>
          <p:cNvSpPr/>
          <p:nvPr/>
        </p:nvSpPr>
        <p:spPr>
          <a:xfrm flipV="1">
            <a:off x="6606540" y="5029200"/>
            <a:ext cx="0" cy="219456"/>
          </a:xfrm>
          <a:prstGeom prst="line">
            <a:avLst/>
          </a:prstGeom>
          <a:noFill/>
          <a:ln w="15875">
            <a:solidFill>
              <a:schemeClr val="tx2"/>
            </a:solidFill>
            <a:prstDash val="solid"/>
            <a:tailEnd type="triangle"/>
          </a:ln>
        </p:spPr>
      </p:sp>
      <p:sp>
        <p:nvSpPr>
          <p:cNvPr id="57" name="Shape 54"/>
          <p:cNvSpPr/>
          <p:nvPr/>
        </p:nvSpPr>
        <p:spPr>
          <a:xfrm>
            <a:off x="8138160" y="1691640"/>
            <a:ext cx="0" cy="4023360"/>
          </a:xfrm>
          <a:prstGeom prst="line">
            <a:avLst/>
          </a:prstGeom>
          <a:noFill/>
          <a:ln w="15875">
            <a:solidFill>
              <a:srgbClr val="D5DCE6"/>
            </a:solidFill>
            <a:prstDash val="dash"/>
          </a:ln>
        </p:spPr>
      </p:sp>
      <p:sp>
        <p:nvSpPr>
          <p:cNvPr id="58" name="Text 55"/>
          <p:cNvSpPr txBox="1"/>
          <p:nvPr/>
        </p:nvSpPr>
        <p:spPr>
          <a:xfrm>
            <a:off x="8778240" y="1645920"/>
            <a:ext cx="2862072" cy="274320"/>
          </a:xfrm>
          <a:prstGeom prst="rect">
            <a:avLst/>
          </a:prstGeom>
          <a:noFill/>
          <a:ln/>
        </p:spPr>
        <p:txBody>
          <a:bodyPr wrap="square" lIns="0" tIns="0" rIns="0" bIns="0" rtlCol="0" anchor="t"/>
          <a:lstStyle/>
          <a:p>
            <a:pPr algn="l" indent="0" marL="0">
              <a:buNone/>
            </a:pPr>
            <a:r>
              <a:rPr lang="en-US" sz="1250" i="1" dirty="0">
                <a:solidFill>
                  <a:schemeClr val="tx2"/>
                </a:solidFill>
              </a:rPr>
              <a:t>a separate tree: not a Collection</a:t>
            </a:r>
            <a:endParaRPr lang="en-US" sz="1250" dirty="0"/>
          </a:p>
        </p:txBody>
      </p:sp>
      <p:sp>
        <p:nvSpPr>
          <p:cNvPr id="59" name="Map"/>
          <p:cNvSpPr/>
          <p:nvPr/>
        </p:nvSpPr>
        <p:spPr>
          <a:xfrm>
            <a:off x="8778240" y="2240280"/>
            <a:ext cx="1645920" cy="402336"/>
          </a:xfrm>
          <a:prstGeom prst="roundRect">
            <a:avLst>
              <a:gd name="adj" fmla="val 18182"/>
            </a:avLst>
          </a:prstGeom>
          <a:solidFill>
            <a:schemeClr val="accent3">
              <a:alpha val="14000"/>
            </a:schemeClr>
          </a:solidFill>
          <a:ln w="15875">
            <a:solidFill>
              <a:schemeClr val="accent3"/>
            </a:solidFill>
            <a:prstDash val="solid"/>
          </a:ln>
        </p:spPr>
      </p:sp>
      <p:sp>
        <p:nvSpPr>
          <p:cNvPr id="60" name="Text 57"/>
          <p:cNvSpPr txBox="1"/>
          <p:nvPr/>
        </p:nvSpPr>
        <p:spPr>
          <a:xfrm>
            <a:off x="8778240" y="2240280"/>
            <a:ext cx="16459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Map</a:t>
            </a:r>
            <a:endParaRPr lang="en-US" sz="1300" dirty="0"/>
          </a:p>
        </p:txBody>
      </p:sp>
      <p:sp>
        <p:nvSpPr>
          <p:cNvPr id="61" name="HashMap"/>
          <p:cNvSpPr/>
          <p:nvPr/>
        </p:nvSpPr>
        <p:spPr>
          <a:xfrm>
            <a:off x="9189720" y="2926080"/>
            <a:ext cx="1920240" cy="402336"/>
          </a:xfrm>
          <a:prstGeom prst="roundRect">
            <a:avLst>
              <a:gd name="adj" fmla="val 18182"/>
            </a:avLst>
          </a:prstGeom>
          <a:solidFill>
            <a:schemeClr val="accent1">
              <a:alpha val="14000"/>
            </a:schemeClr>
          </a:solidFill>
          <a:ln w="15875">
            <a:solidFill>
              <a:schemeClr val="accent1"/>
            </a:solidFill>
            <a:prstDash val="solid"/>
          </a:ln>
        </p:spPr>
      </p:sp>
      <p:sp>
        <p:nvSpPr>
          <p:cNvPr id="62" name="Text 59"/>
          <p:cNvSpPr txBox="1"/>
          <p:nvPr/>
        </p:nvSpPr>
        <p:spPr>
          <a:xfrm>
            <a:off x="9189720" y="2926080"/>
            <a:ext cx="19202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HashMap</a:t>
            </a:r>
            <a:endParaRPr lang="en-US" sz="1300" dirty="0"/>
          </a:p>
        </p:txBody>
      </p:sp>
      <p:sp>
        <p:nvSpPr>
          <p:cNvPr id="63" name="LinkedHashMap"/>
          <p:cNvSpPr/>
          <p:nvPr/>
        </p:nvSpPr>
        <p:spPr>
          <a:xfrm>
            <a:off x="9189720" y="3456432"/>
            <a:ext cx="1920240" cy="402336"/>
          </a:xfrm>
          <a:prstGeom prst="roundRect">
            <a:avLst>
              <a:gd name="adj" fmla="val 18182"/>
            </a:avLst>
          </a:prstGeom>
          <a:solidFill>
            <a:schemeClr val="accent1">
              <a:alpha val="14000"/>
            </a:schemeClr>
          </a:solidFill>
          <a:ln w="15875">
            <a:solidFill>
              <a:schemeClr val="accent1"/>
            </a:solidFill>
            <a:prstDash val="solid"/>
          </a:ln>
        </p:spPr>
      </p:sp>
      <p:sp>
        <p:nvSpPr>
          <p:cNvPr id="64" name="Text 61"/>
          <p:cNvSpPr txBox="1"/>
          <p:nvPr/>
        </p:nvSpPr>
        <p:spPr>
          <a:xfrm>
            <a:off x="9189720" y="3456432"/>
            <a:ext cx="19202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LinkedHashMap</a:t>
            </a:r>
            <a:endParaRPr lang="en-US" sz="1300" dirty="0"/>
          </a:p>
        </p:txBody>
      </p:sp>
      <p:sp>
        <p:nvSpPr>
          <p:cNvPr id="65" name="Hashtable"/>
          <p:cNvSpPr/>
          <p:nvPr/>
        </p:nvSpPr>
        <p:spPr>
          <a:xfrm>
            <a:off x="9189720" y="3986784"/>
            <a:ext cx="1920240" cy="402336"/>
          </a:xfrm>
          <a:prstGeom prst="roundRect">
            <a:avLst>
              <a:gd name="adj" fmla="val 18182"/>
            </a:avLst>
          </a:prstGeom>
          <a:solidFill>
            <a:schemeClr val="accent1">
              <a:alpha val="14000"/>
            </a:schemeClr>
          </a:solidFill>
          <a:ln w="15875">
            <a:solidFill>
              <a:schemeClr val="accent1"/>
            </a:solidFill>
            <a:prstDash val="solid"/>
          </a:ln>
        </p:spPr>
      </p:sp>
      <p:sp>
        <p:nvSpPr>
          <p:cNvPr id="66" name="Text 63"/>
          <p:cNvSpPr txBox="1"/>
          <p:nvPr/>
        </p:nvSpPr>
        <p:spPr>
          <a:xfrm>
            <a:off x="9189720" y="3986784"/>
            <a:ext cx="19202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Hashtable</a:t>
            </a:r>
            <a:endParaRPr lang="en-US" sz="1300" dirty="0"/>
          </a:p>
        </p:txBody>
      </p:sp>
      <p:sp>
        <p:nvSpPr>
          <p:cNvPr id="67" name="SortedMap"/>
          <p:cNvSpPr/>
          <p:nvPr/>
        </p:nvSpPr>
        <p:spPr>
          <a:xfrm>
            <a:off x="9189720" y="4517136"/>
            <a:ext cx="1920240" cy="402336"/>
          </a:xfrm>
          <a:prstGeom prst="roundRect">
            <a:avLst>
              <a:gd name="adj" fmla="val 18182"/>
            </a:avLst>
          </a:prstGeom>
          <a:solidFill>
            <a:schemeClr val="accent3">
              <a:alpha val="14000"/>
            </a:schemeClr>
          </a:solidFill>
          <a:ln w="15875">
            <a:solidFill>
              <a:schemeClr val="accent3"/>
            </a:solidFill>
            <a:prstDash val="solid"/>
          </a:ln>
        </p:spPr>
      </p:sp>
      <p:sp>
        <p:nvSpPr>
          <p:cNvPr id="68" name="Text 65"/>
          <p:cNvSpPr txBox="1"/>
          <p:nvPr/>
        </p:nvSpPr>
        <p:spPr>
          <a:xfrm>
            <a:off x="9189720" y="4517136"/>
            <a:ext cx="19202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SortedMap</a:t>
            </a:r>
            <a:endParaRPr lang="en-US" sz="1300" dirty="0"/>
          </a:p>
        </p:txBody>
      </p:sp>
      <p:sp>
        <p:nvSpPr>
          <p:cNvPr id="69" name="Shape 66"/>
          <p:cNvSpPr/>
          <p:nvPr/>
        </p:nvSpPr>
        <p:spPr>
          <a:xfrm flipV="1">
            <a:off x="8961120" y="2642616"/>
            <a:ext cx="0" cy="2075688"/>
          </a:xfrm>
          <a:prstGeom prst="line">
            <a:avLst/>
          </a:prstGeom>
          <a:noFill/>
          <a:ln w="15875">
            <a:solidFill>
              <a:schemeClr val="tx2"/>
            </a:solidFill>
            <a:prstDash val="solid"/>
            <a:tailEnd type="triangle"/>
          </a:ln>
        </p:spPr>
      </p:sp>
      <p:sp>
        <p:nvSpPr>
          <p:cNvPr id="70" name="Shape 67"/>
          <p:cNvSpPr/>
          <p:nvPr/>
        </p:nvSpPr>
        <p:spPr>
          <a:xfrm>
            <a:off x="8961120" y="3127248"/>
            <a:ext cx="228600" cy="0"/>
          </a:xfrm>
          <a:prstGeom prst="line">
            <a:avLst/>
          </a:prstGeom>
          <a:noFill/>
          <a:ln w="15875">
            <a:solidFill>
              <a:schemeClr val="tx2"/>
            </a:solidFill>
            <a:prstDash val="solid"/>
          </a:ln>
        </p:spPr>
      </p:sp>
      <p:sp>
        <p:nvSpPr>
          <p:cNvPr id="71" name="Shape 68"/>
          <p:cNvSpPr/>
          <p:nvPr/>
        </p:nvSpPr>
        <p:spPr>
          <a:xfrm>
            <a:off x="8961120" y="3657600"/>
            <a:ext cx="228600" cy="0"/>
          </a:xfrm>
          <a:prstGeom prst="line">
            <a:avLst/>
          </a:prstGeom>
          <a:noFill/>
          <a:ln w="15875">
            <a:solidFill>
              <a:schemeClr val="tx2"/>
            </a:solidFill>
            <a:prstDash val="solid"/>
          </a:ln>
        </p:spPr>
      </p:sp>
      <p:sp>
        <p:nvSpPr>
          <p:cNvPr id="72" name="Shape 69"/>
          <p:cNvSpPr/>
          <p:nvPr/>
        </p:nvSpPr>
        <p:spPr>
          <a:xfrm>
            <a:off x="8961120" y="4187952"/>
            <a:ext cx="228600" cy="0"/>
          </a:xfrm>
          <a:prstGeom prst="line">
            <a:avLst/>
          </a:prstGeom>
          <a:noFill/>
          <a:ln w="15875">
            <a:solidFill>
              <a:schemeClr val="tx2"/>
            </a:solidFill>
            <a:prstDash val="solid"/>
          </a:ln>
        </p:spPr>
      </p:sp>
      <p:sp>
        <p:nvSpPr>
          <p:cNvPr id="73" name="Shape 70"/>
          <p:cNvSpPr/>
          <p:nvPr/>
        </p:nvSpPr>
        <p:spPr>
          <a:xfrm>
            <a:off x="8961120" y="4718304"/>
            <a:ext cx="228600" cy="0"/>
          </a:xfrm>
          <a:prstGeom prst="line">
            <a:avLst/>
          </a:prstGeom>
          <a:noFill/>
          <a:ln w="15875">
            <a:solidFill>
              <a:schemeClr val="tx2"/>
            </a:solidFill>
            <a:prstDash val="solid"/>
          </a:ln>
        </p:spPr>
      </p:sp>
      <p:sp>
        <p:nvSpPr>
          <p:cNvPr id="74" name="TreeMap"/>
          <p:cNvSpPr/>
          <p:nvPr/>
        </p:nvSpPr>
        <p:spPr>
          <a:xfrm>
            <a:off x="9189720" y="5138928"/>
            <a:ext cx="1920240" cy="402336"/>
          </a:xfrm>
          <a:prstGeom prst="roundRect">
            <a:avLst>
              <a:gd name="adj" fmla="val 18182"/>
            </a:avLst>
          </a:prstGeom>
          <a:solidFill>
            <a:schemeClr val="accent1">
              <a:alpha val="14000"/>
            </a:schemeClr>
          </a:solidFill>
          <a:ln w="15875">
            <a:solidFill>
              <a:schemeClr val="accent1"/>
            </a:solidFill>
            <a:prstDash val="solid"/>
          </a:ln>
        </p:spPr>
      </p:sp>
      <p:sp>
        <p:nvSpPr>
          <p:cNvPr id="75" name="Text 72"/>
          <p:cNvSpPr txBox="1"/>
          <p:nvPr/>
        </p:nvSpPr>
        <p:spPr>
          <a:xfrm>
            <a:off x="9189720" y="5138928"/>
            <a:ext cx="19202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TreeMap</a:t>
            </a:r>
            <a:endParaRPr lang="en-US" sz="1300" dirty="0"/>
          </a:p>
        </p:txBody>
      </p:sp>
      <p:sp>
        <p:nvSpPr>
          <p:cNvPr id="76" name="Shape 73"/>
          <p:cNvSpPr/>
          <p:nvPr/>
        </p:nvSpPr>
        <p:spPr>
          <a:xfrm flipV="1">
            <a:off x="10149840" y="4919472"/>
            <a:ext cx="0" cy="219456"/>
          </a:xfrm>
          <a:prstGeom prst="line">
            <a:avLst/>
          </a:prstGeom>
          <a:noFill/>
          <a:ln w="15875">
            <a:solidFill>
              <a:schemeClr val="tx2"/>
            </a:solidFill>
            <a:prstDash val="solid"/>
            <a:tailEnd type="triangle"/>
          </a:ln>
        </p:spPr>
      </p:sp>
      <p:sp>
        <p:nvSpPr>
          <p:cNvPr id="77" name="Shape 74"/>
          <p:cNvSpPr/>
          <p:nvPr/>
        </p:nvSpPr>
        <p:spPr>
          <a:xfrm>
            <a:off x="548640" y="5943600"/>
            <a:ext cx="384048" cy="237744"/>
          </a:xfrm>
          <a:prstGeom prst="roundRect">
            <a:avLst>
              <a:gd name="adj" fmla="val 19231"/>
            </a:avLst>
          </a:prstGeom>
          <a:solidFill>
            <a:schemeClr val="accent3">
              <a:alpha val="14000"/>
            </a:schemeClr>
          </a:solidFill>
          <a:ln w="15875">
            <a:solidFill>
              <a:schemeClr val="accent3"/>
            </a:solidFill>
            <a:prstDash val="solid"/>
          </a:ln>
        </p:spPr>
      </p:sp>
      <p:sp>
        <p:nvSpPr>
          <p:cNvPr id="78" name="Text 75"/>
          <p:cNvSpPr txBox="1"/>
          <p:nvPr/>
        </p:nvSpPr>
        <p:spPr>
          <a:xfrm>
            <a:off x="1024128" y="5907024"/>
            <a:ext cx="1097280" cy="310896"/>
          </a:xfrm>
          <a:prstGeom prst="rect">
            <a:avLst/>
          </a:prstGeom>
          <a:noFill/>
          <a:ln/>
        </p:spPr>
        <p:txBody>
          <a:bodyPr wrap="square" lIns="0" tIns="0" rIns="0" bIns="0" rtlCol="0" anchor="ctr"/>
          <a:lstStyle/>
          <a:p>
            <a:pPr algn="l" indent="0" marL="0">
              <a:buNone/>
            </a:pPr>
            <a:r>
              <a:rPr lang="en-US" sz="1300" dirty="0">
                <a:solidFill>
                  <a:schemeClr val="tx2"/>
                </a:solidFill>
              </a:rPr>
              <a:t>interface</a:t>
            </a:r>
            <a:endParaRPr lang="en-US" sz="1300" dirty="0"/>
          </a:p>
        </p:txBody>
      </p:sp>
      <p:sp>
        <p:nvSpPr>
          <p:cNvPr id="79" name="Shape 76"/>
          <p:cNvSpPr/>
          <p:nvPr/>
        </p:nvSpPr>
        <p:spPr>
          <a:xfrm>
            <a:off x="2148840" y="5943600"/>
            <a:ext cx="384048" cy="237744"/>
          </a:xfrm>
          <a:prstGeom prst="roundRect">
            <a:avLst>
              <a:gd name="adj" fmla="val 19231"/>
            </a:avLst>
          </a:prstGeom>
          <a:solidFill>
            <a:schemeClr val="accent1">
              <a:alpha val="14000"/>
            </a:schemeClr>
          </a:solidFill>
          <a:ln w="15875">
            <a:solidFill>
              <a:schemeClr val="accent1"/>
            </a:solidFill>
            <a:prstDash val="solid"/>
          </a:ln>
        </p:spPr>
      </p:sp>
      <p:sp>
        <p:nvSpPr>
          <p:cNvPr id="80" name="Text 77"/>
          <p:cNvSpPr txBox="1"/>
          <p:nvPr/>
        </p:nvSpPr>
        <p:spPr>
          <a:xfrm>
            <a:off x="2624328" y="5907024"/>
            <a:ext cx="914400" cy="310896"/>
          </a:xfrm>
          <a:prstGeom prst="rect">
            <a:avLst/>
          </a:prstGeom>
          <a:noFill/>
          <a:ln/>
        </p:spPr>
        <p:txBody>
          <a:bodyPr wrap="square" lIns="0" tIns="0" rIns="0" bIns="0" rtlCol="0" anchor="ctr"/>
          <a:lstStyle/>
          <a:p>
            <a:pPr algn="l" indent="0" marL="0">
              <a:buNone/>
            </a:pPr>
            <a:r>
              <a:rPr lang="en-US" sz="1300" dirty="0">
                <a:solidFill>
                  <a:schemeClr val="tx2"/>
                </a:solidFill>
              </a:rPr>
              <a:t>class</a:t>
            </a:r>
            <a:endParaRPr lang="en-US" sz="1300" dirty="0"/>
          </a:p>
        </p:txBody>
      </p:sp>
      <p:sp>
        <p:nvSpPr>
          <p:cNvPr id="81" name="Shape 78"/>
          <p:cNvSpPr/>
          <p:nvPr/>
        </p:nvSpPr>
        <p:spPr>
          <a:xfrm>
            <a:off x="3611880" y="6062472"/>
            <a:ext cx="457200" cy="0"/>
          </a:xfrm>
          <a:prstGeom prst="line">
            <a:avLst/>
          </a:prstGeom>
          <a:noFill/>
          <a:ln w="15875">
            <a:solidFill>
              <a:schemeClr val="tx2"/>
            </a:solidFill>
            <a:prstDash val="solid"/>
            <a:tailEnd type="triangle"/>
          </a:ln>
        </p:spPr>
      </p:sp>
      <p:sp>
        <p:nvSpPr>
          <p:cNvPr id="82" name="Text 79"/>
          <p:cNvSpPr txBox="1"/>
          <p:nvPr/>
        </p:nvSpPr>
        <p:spPr>
          <a:xfrm>
            <a:off x="4206240" y="5907024"/>
            <a:ext cx="4572000" cy="310896"/>
          </a:xfrm>
          <a:prstGeom prst="rect">
            <a:avLst/>
          </a:prstGeom>
          <a:noFill/>
          <a:ln/>
        </p:spPr>
        <p:txBody>
          <a:bodyPr wrap="square" lIns="0" tIns="0" rIns="0" bIns="0" rtlCol="0" anchor="ctr"/>
          <a:lstStyle/>
          <a:p>
            <a:pPr algn="l" indent="0" marL="0">
              <a:buNone/>
            </a:pPr>
            <a:r>
              <a:rPr lang="en-US" sz="1300" dirty="0">
                <a:solidFill>
                  <a:schemeClr val="tx2"/>
                </a:solidFill>
              </a:rPr>
              <a:t>leads to what it extends or implements</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The framework</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In the Collections Framework, which of these is an interface rather than a class?</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ArrayList</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LinkedList</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Vector</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List</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The framework</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In the Collections Framework, which of these is an interface rather than a class?</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ArrayList</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LinkedList</a:t>
            </a:r>
            <a:endParaRPr lang="en-US"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Vector</a:t>
            </a:r>
            <a:endParaRPr lang="en-US"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4645152"/>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List</a:t>
            </a:r>
            <a:endParaRPr lang="en-US" sz="1700" dirty="0"/>
          </a:p>
        </p:txBody>
      </p:sp>
      <p:pic>
        <p:nvPicPr>
          <p:cNvPr id="17" name="Image 0"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List</a:t>
            </a:r>
            <a:r>
              <a:rPr lang="en-US" sz="1800" dirty="0">
                <a:solidFill>
                  <a:schemeClr val="tx1"/>
                </a:solidFill>
              </a:rPr>
              <a:t> is an interface: it says what a list can do, but we can’t create a </a:t>
            </a:r>
            <a:r>
              <a:rPr lang="en-US" sz="1800" dirty="0">
                <a:solidFill>
                  <a:schemeClr val="accent2"/>
                </a:solidFill>
                <a:latin typeface="Consolas" pitchFamily="34" charset="0"/>
                <a:ea typeface="Consolas" pitchFamily="34" charset="-122"/>
                <a:cs typeface="Consolas" pitchFamily="34" charset="-120"/>
              </a:rPr>
              <a:t>List</a:t>
            </a:r>
            <a:r>
              <a:rPr lang="en-US" sz="1800" dirty="0">
                <a:solidFill>
                  <a:schemeClr val="tx1"/>
                </a:solidFill>
              </a:rPr>
              <a:t> object from it. The classes </a:t>
            </a:r>
            <a:r>
              <a:rPr lang="en-US" sz="1800" dirty="0">
                <a:solidFill>
                  <a:schemeClr val="accent2"/>
                </a:solidFill>
                <a:latin typeface="Consolas" pitchFamily="34" charset="0"/>
                <a:ea typeface="Consolas" pitchFamily="34" charset="-122"/>
                <a:cs typeface="Consolas" pitchFamily="34" charset="-120"/>
              </a:rPr>
              <a:t>ArrayList</a:t>
            </a:r>
            <a:r>
              <a:rPr lang="en-US" sz="1800" dirty="0">
                <a:solidFill>
                  <a:schemeClr val="tx1"/>
                </a:solidFill>
              </a:rPr>
              <a:t>, </a:t>
            </a:r>
            <a:r>
              <a:rPr lang="en-US" sz="1800" dirty="0">
                <a:solidFill>
                  <a:schemeClr val="accent2"/>
                </a:solidFill>
                <a:latin typeface="Consolas" pitchFamily="34" charset="0"/>
                <a:ea typeface="Consolas" pitchFamily="34" charset="-122"/>
                <a:cs typeface="Consolas" pitchFamily="34" charset="-120"/>
              </a:rPr>
              <a:t>LinkedList</a:t>
            </a:r>
            <a:r>
              <a:rPr lang="en-US" sz="1800" dirty="0">
                <a:solidFill>
                  <a:schemeClr val="tx1"/>
                </a:solidFill>
              </a:rPr>
              <a:t> and </a:t>
            </a:r>
            <a:r>
              <a:rPr lang="en-US" sz="1800" dirty="0">
                <a:solidFill>
                  <a:schemeClr val="accent2"/>
                </a:solidFill>
                <a:latin typeface="Consolas" pitchFamily="34" charset="0"/>
                <a:ea typeface="Consolas" pitchFamily="34" charset="-122"/>
                <a:cs typeface="Consolas" pitchFamily="34" charset="-120"/>
              </a:rPr>
              <a:t>Vector</a:t>
            </a:r>
            <a:r>
              <a:rPr lang="en-US" sz="1800" dirty="0">
                <a:solidFill>
                  <a:schemeClr val="tx1"/>
                </a:solidFill>
              </a:rPr>
              <a:t> implement </a:t>
            </a:r>
            <a:r>
              <a:rPr lang="en-US" sz="1800" dirty="0">
                <a:solidFill>
                  <a:schemeClr val="accent2"/>
                </a:solidFill>
                <a:latin typeface="Consolas" pitchFamily="34" charset="0"/>
                <a:ea typeface="Consolas" pitchFamily="34" charset="-122"/>
                <a:cs typeface="Consolas" pitchFamily="34" charset="-120"/>
              </a:rPr>
              <a:t>List</a:t>
            </a:r>
            <a:r>
              <a:rPr lang="en-US" sz="1800" dirty="0">
                <a:solidFill>
                  <a:schemeClr val="tx1"/>
                </a:solidFill>
              </a:rPr>
              <a:t>, so those are what we create.</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3</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The framework</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of these doesn’t extend the </a:t>
            </a:r>
            <a:r>
              <a:rPr lang="en-US" sz="2800" b="1" dirty="0">
                <a:solidFill>
                  <a:schemeClr val="accent2"/>
                </a:solidFill>
                <a:latin typeface="Consolas" pitchFamily="34" charset="0"/>
                <a:ea typeface="Consolas" pitchFamily="34" charset="-122"/>
                <a:cs typeface="Consolas" pitchFamily="34" charset="-120"/>
              </a:rPr>
              <a:t>Collection</a:t>
            </a:r>
            <a:r>
              <a:rPr lang="en-US" sz="2800" b="1" dirty="0">
                <a:solidFill>
                  <a:schemeClr val="tx1"/>
                </a:solidFill>
              </a:rPr>
              <a:t> interface, even though it’s part of the framework?</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List</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Set</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Map</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Queue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3</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The framework</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of these doesn’t extend the </a:t>
            </a:r>
            <a:r>
              <a:rPr lang="en-US" sz="2000" b="1" dirty="0">
                <a:solidFill>
                  <a:schemeClr val="tx2"/>
                </a:solidFill>
                <a:latin typeface="Consolas" pitchFamily="34" charset="0"/>
                <a:ea typeface="Consolas" pitchFamily="34" charset="-122"/>
                <a:cs typeface="Consolas" pitchFamily="34" charset="-120"/>
              </a:rPr>
              <a:t>Collection</a:t>
            </a:r>
            <a:r>
              <a:rPr lang="en-US" sz="2000" b="1" dirty="0">
                <a:solidFill>
                  <a:schemeClr val="tx2"/>
                </a:solidFill>
              </a:rPr>
              <a:t> interface, even though it’s part of the framework?</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List</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Set</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Map</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Queue</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Map</a:t>
            </a:r>
            <a:r>
              <a:rPr lang="en-US" sz="1800" dirty="0">
                <a:solidFill>
                  <a:schemeClr val="tx1"/>
                </a:solidFill>
              </a:rPr>
              <a:t> has its own tree in the diagram. It stores pairs of keys and values rather than single items, so it doesn’t extend </a:t>
            </a:r>
            <a:r>
              <a:rPr lang="en-US" sz="1800" dirty="0">
                <a:solidFill>
                  <a:schemeClr val="accent2"/>
                </a:solidFill>
                <a:latin typeface="Consolas" pitchFamily="34" charset="0"/>
                <a:ea typeface="Consolas" pitchFamily="34" charset="-122"/>
                <a:cs typeface="Consolas" pitchFamily="34" charset="-120"/>
              </a:rPr>
              <a:t>Collection</a:t>
            </a:r>
            <a:r>
              <a:rPr lang="en-US" sz="1800" dirty="0">
                <a:solidFill>
                  <a:schemeClr val="tx1"/>
                </a:solidFill>
              </a:rPr>
              <a:t>, while </a:t>
            </a:r>
            <a:r>
              <a:rPr lang="en-US" sz="1800" dirty="0">
                <a:solidFill>
                  <a:schemeClr val="accent2"/>
                </a:solidFill>
                <a:latin typeface="Consolas" pitchFamily="34" charset="0"/>
                <a:ea typeface="Consolas" pitchFamily="34" charset="-122"/>
                <a:cs typeface="Consolas" pitchFamily="34" charset="-120"/>
              </a:rPr>
              <a:t>List</a:t>
            </a:r>
            <a:r>
              <a:rPr lang="en-US" sz="1800" dirty="0">
                <a:solidFill>
                  <a:schemeClr val="tx1"/>
                </a:solidFill>
              </a:rPr>
              <a:t>, </a:t>
            </a:r>
            <a:r>
              <a:rPr lang="en-US" sz="1800" dirty="0">
                <a:solidFill>
                  <a:schemeClr val="accent2"/>
                </a:solidFill>
                <a:latin typeface="Consolas" pitchFamily="34" charset="0"/>
                <a:ea typeface="Consolas" pitchFamily="34" charset="-122"/>
                <a:cs typeface="Consolas" pitchFamily="34" charset="-120"/>
              </a:rPr>
              <a:t>Set</a:t>
            </a:r>
            <a:r>
              <a:rPr lang="en-US" sz="1800" dirty="0">
                <a:solidFill>
                  <a:schemeClr val="tx1"/>
                </a:solidFill>
              </a:rPr>
              <a:t> and </a:t>
            </a:r>
            <a:r>
              <a:rPr lang="en-US" sz="1800" dirty="0">
                <a:solidFill>
                  <a:schemeClr val="accent2"/>
                </a:solidFill>
                <a:latin typeface="Consolas" pitchFamily="34" charset="0"/>
                <a:ea typeface="Consolas" pitchFamily="34" charset="-122"/>
                <a:cs typeface="Consolas" pitchFamily="34" charset="-120"/>
              </a:rPr>
              <a:t>Queue</a:t>
            </a:r>
            <a:r>
              <a:rPr lang="en-US" sz="1800" dirty="0">
                <a:solidFill>
                  <a:schemeClr val="tx1"/>
                </a:solidFill>
              </a:rPr>
              <a:t> all do.</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02</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Lists</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List, ArrayList, LinkedList and Vector</a:t>
            </a:r>
            <a:endParaRPr lang="en-US" sz="2000" dirty="0"/>
          </a:p>
        </p:txBody>
      </p:sp>
      <p:sp>
        <p:nvSpPr>
          <p:cNvPr id="5" name="Topic chip"/>
          <p:cNvSpPr/>
          <p:nvPr/>
        </p:nvSpPr>
        <p:spPr>
          <a:xfrm>
            <a:off x="822960" y="4846320"/>
            <a:ext cx="77230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List</a:t>
            </a:r>
            <a:endParaRPr lang="en-US" sz="1400" dirty="0"/>
          </a:p>
        </p:txBody>
      </p:sp>
      <p:sp>
        <p:nvSpPr>
          <p:cNvPr id="6" name="Topic chip"/>
          <p:cNvSpPr/>
          <p:nvPr/>
        </p:nvSpPr>
        <p:spPr>
          <a:xfrm>
            <a:off x="1741566" y="4846320"/>
            <a:ext cx="123476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ArrayList</a:t>
            </a:r>
            <a:endParaRPr lang="en-US" sz="1400" dirty="0"/>
          </a:p>
        </p:txBody>
      </p:sp>
      <p:sp>
        <p:nvSpPr>
          <p:cNvPr id="7" name="Topic chip"/>
          <p:cNvSpPr/>
          <p:nvPr/>
        </p:nvSpPr>
        <p:spPr>
          <a:xfrm>
            <a:off x="3122630" y="4846320"/>
            <a:ext cx="13272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LinkedList</a:t>
            </a:r>
            <a:endParaRPr lang="en-US" sz="1400" dirty="0"/>
          </a:p>
        </p:txBody>
      </p:sp>
      <p:sp>
        <p:nvSpPr>
          <p:cNvPr id="8" name="Topic chip"/>
          <p:cNvSpPr/>
          <p:nvPr/>
        </p:nvSpPr>
        <p:spPr>
          <a:xfrm>
            <a:off x="4596186" y="4846320"/>
            <a:ext cx="957285"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Vector</a:t>
            </a:r>
            <a:endParaRPr lang="en-US" sz="1400" dirty="0"/>
          </a:p>
        </p:txBody>
      </p:sp>
      <p:pic>
        <p:nvPicPr>
          <p:cNvPr id="9"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LISTS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 List keeps items in order</a:t>
            </a:r>
            <a:endParaRPr lang="en-US" sz="3400" dirty="0"/>
          </a:p>
        </p:txBody>
      </p:sp>
      <p:sp>
        <p:nvSpPr>
          <p:cNvPr id="5" name="Text 2"/>
          <p:cNvSpPr txBox="1"/>
          <p:nvPr/>
        </p:nvSpPr>
        <p:spPr>
          <a:xfrm>
            <a:off x="548640" y="1783080"/>
            <a:ext cx="5394960" cy="429768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accent2"/>
                </a:solidFill>
                <a:latin typeface="Consolas" pitchFamily="34" charset="0"/>
                <a:ea typeface="Consolas" pitchFamily="34" charset="-122"/>
                <a:cs typeface="Consolas" pitchFamily="34" charset="-120"/>
              </a:rPr>
              <a:t>List</a:t>
            </a:r>
            <a:r>
              <a:rPr lang="en-US" sz="1700" dirty="0">
                <a:solidFill>
                  <a:schemeClr val="tx1"/>
                </a:solidFill>
              </a:rPr>
              <a:t> is a collection that keeps items in order by their position. It’s in </a:t>
            </a:r>
            <a:r>
              <a:rPr lang="en-US" sz="1700" dirty="0">
                <a:solidFill>
                  <a:schemeClr val="accent2"/>
                </a:solidFill>
                <a:latin typeface="Consolas" pitchFamily="34" charset="0"/>
                <a:ea typeface="Consolas" pitchFamily="34" charset="-122"/>
                <a:cs typeface="Consolas" pitchFamily="34" charset="-120"/>
              </a:rPr>
              <a:t>java.util</a:t>
            </a:r>
            <a:r>
              <a:rPr lang="en-US" sz="1700" dirty="0">
                <a:solidFill>
                  <a:schemeClr val="tx1"/>
                </a:solidFill>
              </a:rPr>
              <a:t>.</a:t>
            </a:r>
            <a:endParaRPr lang="en-US" sz="1700" dirty="0"/>
          </a:p>
          <a:p>
            <a:pPr marL="228600" indent="-228600">
              <a:spcAft>
                <a:spcPts val="1000"/>
              </a:spcAft>
              <a:buSzPct val="100000"/>
              <a:buChar char="•"/>
            </a:pPr>
            <a:r>
              <a:rPr lang="en-US" sz="1700" dirty="0">
                <a:solidFill>
                  <a:schemeClr val="tx1"/>
                </a:solidFill>
              </a:rPr>
              <a:t>Each item has an index, starting at 0, so we can reach it by its position.</a:t>
            </a:r>
            <a:endParaRPr lang="en-US" sz="1700" dirty="0"/>
          </a:p>
          <a:p>
            <a:pPr marL="228600" indent="-228600">
              <a:spcAft>
                <a:spcPts val="1000"/>
              </a:spcAft>
              <a:buSzPct val="100000"/>
              <a:buChar char="•"/>
            </a:pPr>
            <a:r>
              <a:rPr lang="en-US" sz="1700" dirty="0">
                <a:solidFill>
                  <a:schemeClr val="tx1"/>
                </a:solidFill>
              </a:rPr>
              <a:t>It has methods for adding, removing and sorting items.</a:t>
            </a:r>
            <a:endParaRPr lang="en-US" sz="1700" dirty="0"/>
          </a:p>
          <a:p>
            <a:pPr marL="228600" indent="-228600">
              <a:spcAft>
                <a:spcPts val="1000"/>
              </a:spcAft>
              <a:buSzPct val="100000"/>
              <a:buChar char="•"/>
            </a:pPr>
            <a:r>
              <a:rPr lang="en-US" sz="1700" dirty="0">
                <a:solidFill>
                  <a:schemeClr val="accent2"/>
                </a:solidFill>
                <a:latin typeface="Consolas" pitchFamily="34" charset="0"/>
                <a:ea typeface="Consolas" pitchFamily="34" charset="-122"/>
                <a:cs typeface="Consolas" pitchFamily="34" charset="-120"/>
              </a:rPr>
              <a:t>List</a:t>
            </a:r>
            <a:r>
              <a:rPr lang="en-US" sz="1700" dirty="0">
                <a:solidFill>
                  <a:schemeClr val="tx1"/>
                </a:solidFill>
              </a:rPr>
              <a:t> is only an interface. </a:t>
            </a:r>
            <a:r>
              <a:rPr lang="en-US" sz="1700" dirty="0">
                <a:solidFill>
                  <a:schemeClr val="accent2"/>
                </a:solidFill>
                <a:latin typeface="Consolas" pitchFamily="34" charset="0"/>
                <a:ea typeface="Consolas" pitchFamily="34" charset="-122"/>
                <a:cs typeface="Consolas" pitchFamily="34" charset="-120"/>
              </a:rPr>
              <a:t>ArrayList</a:t>
            </a:r>
            <a:r>
              <a:rPr lang="en-US" sz="1700" dirty="0">
                <a:solidFill>
                  <a:schemeClr val="tx1"/>
                </a:solidFill>
              </a:rPr>
              <a:t> and </a:t>
            </a:r>
            <a:r>
              <a:rPr lang="en-US" sz="1700" dirty="0">
                <a:solidFill>
                  <a:schemeClr val="accent2"/>
                </a:solidFill>
                <a:latin typeface="Consolas" pitchFamily="34" charset="0"/>
                <a:ea typeface="Consolas" pitchFamily="34" charset="-122"/>
                <a:cs typeface="Consolas" pitchFamily="34" charset="-120"/>
              </a:rPr>
              <a:t>LinkedList</a:t>
            </a:r>
            <a:r>
              <a:rPr lang="en-US" sz="1700" dirty="0">
                <a:solidFill>
                  <a:schemeClr val="tx1"/>
                </a:solidFill>
              </a:rPr>
              <a:t> are the two classes we’ll use for it.</a:t>
            </a:r>
            <a:endParaRPr lang="en-US" sz="1700" dirty="0"/>
          </a:p>
          <a:p>
            <a:pPr marL="228600" indent="-228600">
              <a:buSzPct val="100000"/>
              <a:buChar char="•"/>
            </a:pPr>
            <a:r>
              <a:rPr lang="en-US" sz="1700" dirty="0">
                <a:solidFill>
                  <a:schemeClr val="tx1"/>
                </a:solidFill>
              </a:rPr>
              <a:t>We can move through a list forwards or backwards.</a:t>
            </a:r>
            <a:endParaRPr lang="en-US" sz="1700" dirty="0"/>
          </a:p>
        </p:txBody>
      </p:sp>
      <p:sp>
        <p:nvSpPr>
          <p:cNvPr id="6" name="Text 3"/>
          <p:cNvSpPr txBox="1"/>
          <p:nvPr/>
        </p:nvSpPr>
        <p:spPr>
          <a:xfrm>
            <a:off x="6355080" y="1664208"/>
            <a:ext cx="1188720" cy="256032"/>
          </a:xfrm>
          <a:prstGeom prst="rect">
            <a:avLst/>
          </a:prstGeom>
          <a:noFill/>
          <a:ln/>
        </p:spPr>
        <p:txBody>
          <a:bodyPr wrap="square" lIns="0" tIns="0" rIns="0" bIns="0" rtlCol="0" anchor="t"/>
          <a:lstStyle/>
          <a:p>
            <a:pPr algn="ctr" indent="0" marL="0">
              <a:buNone/>
            </a:pPr>
            <a:r>
              <a:rPr lang="en-US" sz="1300" dirty="0">
                <a:solidFill>
                  <a:schemeClr val="tx2"/>
                </a:solidFill>
                <a:latin typeface="Consolas" pitchFamily="34" charset="0"/>
                <a:ea typeface="Consolas" pitchFamily="34" charset="-122"/>
                <a:cs typeface="Consolas" pitchFamily="34" charset="-120"/>
              </a:rPr>
              <a:t>0</a:t>
            </a:r>
            <a:endParaRPr lang="en-US" sz="1300" dirty="0"/>
          </a:p>
        </p:txBody>
      </p:sp>
      <p:sp>
        <p:nvSpPr>
          <p:cNvPr id="7" name="Item 0"/>
          <p:cNvSpPr/>
          <p:nvPr/>
        </p:nvSpPr>
        <p:spPr>
          <a:xfrm>
            <a:off x="6355080" y="1938528"/>
            <a:ext cx="1188720" cy="548640"/>
          </a:xfrm>
          <a:prstGeom prst="roundRect">
            <a:avLst>
              <a:gd name="adj" fmla="val 16667"/>
            </a:avLst>
          </a:prstGeom>
          <a:solidFill>
            <a:schemeClr val="accent4">
              <a:alpha val="14000"/>
            </a:schemeClr>
          </a:solidFill>
          <a:ln w="19050">
            <a:solidFill>
              <a:schemeClr val="accent4"/>
            </a:solidFill>
            <a:prstDash val="solid"/>
          </a:ln>
        </p:spPr>
      </p:sp>
      <p:sp>
        <p:nvSpPr>
          <p:cNvPr id="8" name="Text 5"/>
          <p:cNvSpPr txBox="1"/>
          <p:nvPr/>
        </p:nvSpPr>
        <p:spPr>
          <a:xfrm>
            <a:off x="6355080" y="1938528"/>
            <a:ext cx="118872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"Ann"</a:t>
            </a:r>
            <a:endParaRPr lang="en-US" sz="1600" dirty="0"/>
          </a:p>
        </p:txBody>
      </p:sp>
      <p:sp>
        <p:nvSpPr>
          <p:cNvPr id="9" name="Text 6"/>
          <p:cNvSpPr txBox="1"/>
          <p:nvPr/>
        </p:nvSpPr>
        <p:spPr>
          <a:xfrm>
            <a:off x="7680960" y="1664208"/>
            <a:ext cx="1188720" cy="256032"/>
          </a:xfrm>
          <a:prstGeom prst="rect">
            <a:avLst/>
          </a:prstGeom>
          <a:noFill/>
          <a:ln/>
        </p:spPr>
        <p:txBody>
          <a:bodyPr wrap="square" lIns="0" tIns="0" rIns="0" bIns="0" rtlCol="0" anchor="t"/>
          <a:lstStyle/>
          <a:p>
            <a:pPr algn="ctr" indent="0" marL="0">
              <a:buNone/>
            </a:pPr>
            <a:r>
              <a:rPr lang="en-US" sz="1300" dirty="0">
                <a:solidFill>
                  <a:schemeClr val="tx2"/>
                </a:solidFill>
                <a:latin typeface="Consolas" pitchFamily="34" charset="0"/>
                <a:ea typeface="Consolas" pitchFamily="34" charset="-122"/>
                <a:cs typeface="Consolas" pitchFamily="34" charset="-120"/>
              </a:rPr>
              <a:t>1</a:t>
            </a:r>
            <a:endParaRPr lang="en-US" sz="1300" dirty="0"/>
          </a:p>
        </p:txBody>
      </p:sp>
      <p:sp>
        <p:nvSpPr>
          <p:cNvPr id="10" name="Item 1"/>
          <p:cNvSpPr/>
          <p:nvPr/>
        </p:nvSpPr>
        <p:spPr>
          <a:xfrm>
            <a:off x="7680960" y="1938528"/>
            <a:ext cx="1188720" cy="548640"/>
          </a:xfrm>
          <a:prstGeom prst="roundRect">
            <a:avLst>
              <a:gd name="adj" fmla="val 16667"/>
            </a:avLst>
          </a:prstGeom>
          <a:solidFill>
            <a:schemeClr val="accent4">
              <a:alpha val="14000"/>
            </a:schemeClr>
          </a:solidFill>
          <a:ln w="19050">
            <a:solidFill>
              <a:schemeClr val="accent4"/>
            </a:solidFill>
            <a:prstDash val="solid"/>
          </a:ln>
        </p:spPr>
      </p:sp>
      <p:sp>
        <p:nvSpPr>
          <p:cNvPr id="11" name="Text 8"/>
          <p:cNvSpPr txBox="1"/>
          <p:nvPr/>
        </p:nvSpPr>
        <p:spPr>
          <a:xfrm>
            <a:off x="7680960" y="1938528"/>
            <a:ext cx="118872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"Bob"</a:t>
            </a:r>
            <a:endParaRPr lang="en-US" sz="1600" dirty="0"/>
          </a:p>
        </p:txBody>
      </p:sp>
      <p:sp>
        <p:nvSpPr>
          <p:cNvPr id="12" name="Text 9"/>
          <p:cNvSpPr txBox="1"/>
          <p:nvPr/>
        </p:nvSpPr>
        <p:spPr>
          <a:xfrm>
            <a:off x="9006840" y="1664208"/>
            <a:ext cx="1188720" cy="256032"/>
          </a:xfrm>
          <a:prstGeom prst="rect">
            <a:avLst/>
          </a:prstGeom>
          <a:noFill/>
          <a:ln/>
        </p:spPr>
        <p:txBody>
          <a:bodyPr wrap="square" lIns="0" tIns="0" rIns="0" bIns="0" rtlCol="0" anchor="t"/>
          <a:lstStyle/>
          <a:p>
            <a:pPr algn="ctr" indent="0" marL="0">
              <a:buNone/>
            </a:pPr>
            <a:r>
              <a:rPr lang="en-US" sz="1300" dirty="0">
                <a:solidFill>
                  <a:schemeClr val="tx2"/>
                </a:solidFill>
                <a:latin typeface="Consolas" pitchFamily="34" charset="0"/>
                <a:ea typeface="Consolas" pitchFamily="34" charset="-122"/>
                <a:cs typeface="Consolas" pitchFamily="34" charset="-120"/>
              </a:rPr>
              <a:t>2</a:t>
            </a:r>
            <a:endParaRPr lang="en-US" sz="1300" dirty="0"/>
          </a:p>
        </p:txBody>
      </p:sp>
      <p:sp>
        <p:nvSpPr>
          <p:cNvPr id="13" name="Item 2"/>
          <p:cNvSpPr/>
          <p:nvPr/>
        </p:nvSpPr>
        <p:spPr>
          <a:xfrm>
            <a:off x="9006840" y="1938528"/>
            <a:ext cx="1188720" cy="548640"/>
          </a:xfrm>
          <a:prstGeom prst="roundRect">
            <a:avLst>
              <a:gd name="adj" fmla="val 16667"/>
            </a:avLst>
          </a:prstGeom>
          <a:solidFill>
            <a:schemeClr val="accent6"/>
          </a:solidFill>
          <a:ln/>
        </p:spPr>
      </p:sp>
      <p:sp>
        <p:nvSpPr>
          <p:cNvPr id="14" name="Text 11"/>
          <p:cNvSpPr txBox="1"/>
          <p:nvPr/>
        </p:nvSpPr>
        <p:spPr>
          <a:xfrm>
            <a:off x="9006840" y="1938528"/>
            <a:ext cx="118872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"Cara"</a:t>
            </a:r>
            <a:endParaRPr lang="en-US" sz="1600" dirty="0"/>
          </a:p>
        </p:txBody>
      </p:sp>
      <p:sp>
        <p:nvSpPr>
          <p:cNvPr id="15" name="Text 12"/>
          <p:cNvSpPr txBox="1"/>
          <p:nvPr/>
        </p:nvSpPr>
        <p:spPr>
          <a:xfrm>
            <a:off x="10332720" y="1664208"/>
            <a:ext cx="1188720" cy="256032"/>
          </a:xfrm>
          <a:prstGeom prst="rect">
            <a:avLst/>
          </a:prstGeom>
          <a:noFill/>
          <a:ln/>
        </p:spPr>
        <p:txBody>
          <a:bodyPr wrap="square" lIns="0" tIns="0" rIns="0" bIns="0" rtlCol="0" anchor="t"/>
          <a:lstStyle/>
          <a:p>
            <a:pPr algn="ctr" indent="0" marL="0">
              <a:buNone/>
            </a:pPr>
            <a:r>
              <a:rPr lang="en-US" sz="1300" dirty="0">
                <a:solidFill>
                  <a:schemeClr val="tx2"/>
                </a:solidFill>
                <a:latin typeface="Consolas" pitchFamily="34" charset="0"/>
                <a:ea typeface="Consolas" pitchFamily="34" charset="-122"/>
                <a:cs typeface="Consolas" pitchFamily="34" charset="-120"/>
              </a:rPr>
              <a:t>3</a:t>
            </a:r>
            <a:endParaRPr lang="en-US" sz="1300" dirty="0"/>
          </a:p>
        </p:txBody>
      </p:sp>
      <p:sp>
        <p:nvSpPr>
          <p:cNvPr id="16" name="Item 3"/>
          <p:cNvSpPr/>
          <p:nvPr/>
        </p:nvSpPr>
        <p:spPr>
          <a:xfrm>
            <a:off x="10332720" y="1938528"/>
            <a:ext cx="1188720" cy="548640"/>
          </a:xfrm>
          <a:prstGeom prst="roundRect">
            <a:avLst>
              <a:gd name="adj" fmla="val 16667"/>
            </a:avLst>
          </a:prstGeom>
          <a:solidFill>
            <a:schemeClr val="accent4">
              <a:alpha val="14000"/>
            </a:schemeClr>
          </a:solidFill>
          <a:ln w="19050">
            <a:solidFill>
              <a:schemeClr val="accent4"/>
            </a:solidFill>
            <a:prstDash val="solid"/>
          </a:ln>
        </p:spPr>
      </p:sp>
      <p:sp>
        <p:nvSpPr>
          <p:cNvPr id="17" name="Text 14"/>
          <p:cNvSpPr txBox="1"/>
          <p:nvPr/>
        </p:nvSpPr>
        <p:spPr>
          <a:xfrm>
            <a:off x="10332720" y="1938528"/>
            <a:ext cx="118872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"Dan"</a:t>
            </a:r>
            <a:endParaRPr lang="en-US" sz="1600" dirty="0"/>
          </a:p>
        </p:txBody>
      </p:sp>
      <p:sp>
        <p:nvSpPr>
          <p:cNvPr id="18" name="Text 15"/>
          <p:cNvSpPr txBox="1"/>
          <p:nvPr/>
        </p:nvSpPr>
        <p:spPr>
          <a:xfrm>
            <a:off x="6355080" y="2560320"/>
            <a:ext cx="5166360" cy="274320"/>
          </a:xfrm>
          <a:prstGeom prst="rect">
            <a:avLst/>
          </a:prstGeom>
          <a:noFill/>
          <a:ln/>
        </p:spPr>
        <p:txBody>
          <a:bodyPr wrap="square" lIns="0" tIns="0" rIns="0" bIns="0" rtlCol="0" anchor="t"/>
          <a:lstStyle/>
          <a:p>
            <a:pPr algn="ctr" indent="0" marL="0">
              <a:buNone/>
            </a:pPr>
            <a:r>
              <a:rPr lang="en-US" sz="1400" dirty="0">
                <a:solidFill>
                  <a:schemeClr val="tx2"/>
                </a:solidFill>
              </a:rPr>
              <a:t>After adding Ann, Bob, Cara and Dan, </a:t>
            </a:r>
            <a:r>
              <a:rPr lang="en-US" sz="1400" dirty="0">
                <a:solidFill>
                  <a:schemeClr val="accent2"/>
                </a:solidFill>
                <a:latin typeface="Consolas" pitchFamily="34" charset="0"/>
                <a:ea typeface="Consolas" pitchFamily="34" charset="-122"/>
                <a:cs typeface="Consolas" pitchFamily="34" charset="-120"/>
              </a:rPr>
              <a:t>names.get(2)</a:t>
            </a:r>
            <a:r>
              <a:rPr lang="en-US" sz="1400" dirty="0">
                <a:solidFill>
                  <a:schemeClr val="tx2"/>
                </a:solidFill>
              </a:rPr>
              <a:t> gives </a:t>
            </a:r>
            <a:r>
              <a:rPr lang="en-US" sz="1400" dirty="0">
                <a:solidFill>
                  <a:schemeClr val="accent2"/>
                </a:solidFill>
                <a:latin typeface="Consolas" pitchFamily="34" charset="0"/>
                <a:ea typeface="Consolas" pitchFamily="34" charset="-122"/>
                <a:cs typeface="Consolas" pitchFamily="34" charset="-120"/>
              </a:rPr>
              <a:t>"Cara"</a:t>
            </a:r>
            <a:endParaRPr lang="en-US" sz="1400" dirty="0"/>
          </a:p>
        </p:txBody>
      </p:sp>
      <p:sp>
        <p:nvSpPr>
          <p:cNvPr id="19" name="List card"/>
          <p:cNvSpPr/>
          <p:nvPr/>
        </p:nvSpPr>
        <p:spPr>
          <a:xfrm>
            <a:off x="6245352" y="3108960"/>
            <a:ext cx="5394960" cy="2057400"/>
          </a:xfrm>
          <a:prstGeom prst="roundRect">
            <a:avLst>
              <a:gd name="adj" fmla="val 5333"/>
            </a:avLst>
          </a:prstGeom>
          <a:solidFill>
            <a:schemeClr val="tx1"/>
          </a:solidFill>
          <a:ln/>
          <a:effectLst>
            <a:outerShdw sx="100000" sy="100000" kx="0" ky="0" algn="bl" rotWithShape="0" blurRad="114300" dist="31750" dir="5400000">
              <a:srgbClr val="1D2433">
                <a:alpha val="12000"/>
              </a:srgbClr>
            </a:outerShdw>
          </a:effectLst>
        </p:spPr>
      </p:sp>
      <p:sp>
        <p:nvSpPr>
          <p:cNvPr id="20" name="List label"/>
          <p:cNvSpPr txBox="1"/>
          <p:nvPr/>
        </p:nvSpPr>
        <p:spPr>
          <a:xfrm>
            <a:off x="6519672" y="3227832"/>
            <a:ext cx="48463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21" name="List text"/>
          <p:cNvSpPr txBox="1"/>
          <p:nvPr/>
        </p:nvSpPr>
        <p:spPr>
          <a:xfrm>
            <a:off x="6519672" y="3602736"/>
            <a:ext cx="4846320" cy="1362456"/>
          </a:xfrm>
          <a:prstGeom prst="rect">
            <a:avLst/>
          </a:prstGeom>
          <a:noFill/>
          <a:ln/>
        </p:spPr>
        <p:txBody>
          <a:bodyPr wrap="square" lIns="0" tIns="0" rIns="0" bIns="0" rtlCol="0" anchor="t"/>
          <a:lstStyle/>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import </a:t>
            </a:r>
            <a:r>
              <a:rPr lang="en-US" sz="1300" dirty="0">
                <a:solidFill>
                  <a:srgbClr val="E6EBF2"/>
                </a:solidFill>
                <a:latin typeface="Consolas" pitchFamily="34" charset="0"/>
                <a:ea typeface="Consolas" pitchFamily="34" charset="-122"/>
                <a:cs typeface="Consolas" pitchFamily="34" charset="-120"/>
              </a:rPr>
              <a:t>java.util.</a:t>
            </a:r>
            <a:r>
              <a:rPr lang="en-US" sz="1300" dirty="0">
                <a:solidFill>
                  <a:srgbClr val="6CC4E8"/>
                </a:solidFill>
                <a:latin typeface="Consolas" pitchFamily="34" charset="0"/>
                <a:ea typeface="Consolas" pitchFamily="34" charset="-122"/>
                <a:cs typeface="Consolas" pitchFamily="34" charset="-120"/>
              </a:rPr>
              <a:t>ArrayList</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import </a:t>
            </a:r>
            <a:r>
              <a:rPr lang="en-US" sz="1300" dirty="0">
                <a:solidFill>
                  <a:srgbClr val="E6EBF2"/>
                </a:solidFill>
                <a:latin typeface="Consolas" pitchFamily="34" charset="0"/>
                <a:ea typeface="Consolas" pitchFamily="34" charset="-122"/>
                <a:cs typeface="Consolas" pitchFamily="34" charset="-120"/>
              </a:rPr>
              <a:t>java.util.</a:t>
            </a:r>
            <a:r>
              <a:rPr lang="en-US" sz="1300" dirty="0">
                <a:solidFill>
                  <a:srgbClr val="6CC4E8"/>
                </a:solidFill>
                <a:latin typeface="Consolas" pitchFamily="34" charset="0"/>
                <a:ea typeface="Consolas" pitchFamily="34" charset="-122"/>
                <a:cs typeface="Consolas" pitchFamily="34" charset="-120"/>
              </a:rPr>
              <a:t>LinkedList</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import </a:t>
            </a:r>
            <a:r>
              <a:rPr lang="en-US" sz="1300" dirty="0">
                <a:solidFill>
                  <a:srgbClr val="E6EBF2"/>
                </a:solidFill>
                <a:latin typeface="Consolas" pitchFamily="34" charset="0"/>
                <a:ea typeface="Consolas" pitchFamily="34" charset="-122"/>
                <a:cs typeface="Consolas" pitchFamily="34" charset="-120"/>
              </a:rPr>
              <a:t>java.util.</a:t>
            </a:r>
            <a:r>
              <a:rPr lang="en-US" sz="1300" dirty="0">
                <a:solidFill>
                  <a:srgbClr val="6CC4E8"/>
                </a:solidFill>
                <a:latin typeface="Consolas" pitchFamily="34" charset="0"/>
                <a:ea typeface="Consolas" pitchFamily="34" charset="-122"/>
                <a:cs typeface="Consolas" pitchFamily="34" charset="-120"/>
              </a:rPr>
              <a:t>List</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List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&gt; names =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6CC4E8"/>
                </a:solidFill>
                <a:latin typeface="Consolas" pitchFamily="34" charset="0"/>
                <a:ea typeface="Consolas" pitchFamily="34" charset="-122"/>
                <a:cs typeface="Consolas" pitchFamily="34" charset="-120"/>
              </a:rPr>
              <a:t>ArrayList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&gt;();</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List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&gt; others =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6CC4E8"/>
                </a:solidFill>
                <a:latin typeface="Consolas" pitchFamily="34" charset="0"/>
                <a:ea typeface="Consolas" pitchFamily="34" charset="-122"/>
                <a:cs typeface="Consolas" pitchFamily="34" charset="-120"/>
              </a:rPr>
              <a:t>LinkedList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&gt;();</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4</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List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Why won’t </a:t>
            </a:r>
            <a:r>
              <a:rPr lang="en-US" sz="2800" b="1" dirty="0">
                <a:solidFill>
                  <a:schemeClr val="accent2"/>
                </a:solidFill>
                <a:latin typeface="Consolas" pitchFamily="34" charset="0"/>
                <a:ea typeface="Consolas" pitchFamily="34" charset="-122"/>
                <a:cs typeface="Consolas" pitchFamily="34" charset="-120"/>
              </a:rPr>
              <a:t>List&lt;String&gt; list = new List&lt;String&gt;();</a:t>
            </a:r>
            <a:r>
              <a:rPr lang="en-US" sz="2800" b="1" dirty="0">
                <a:solidFill>
                  <a:schemeClr val="tx1"/>
                </a:solidFill>
              </a:rPr>
              <a:t> compile?</a:t>
            </a:r>
            <a:endParaRPr lang="en-US" sz="2800" dirty="0"/>
          </a:p>
        </p:txBody>
      </p:sp>
      <p:sp>
        <p:nvSpPr>
          <p:cNvPr id="5" name="Option A"/>
          <p:cNvSpPr/>
          <p:nvPr/>
        </p:nvSpPr>
        <p:spPr>
          <a:xfrm>
            <a:off x="548640" y="233172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48716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377440"/>
            <a:ext cx="9795967" cy="713232"/>
          </a:xfrm>
          <a:prstGeom prst="rect">
            <a:avLst/>
          </a:prstGeom>
          <a:noFill/>
          <a:ln/>
        </p:spPr>
        <p:txBody>
          <a:bodyPr wrap="square" lIns="0" tIns="0" rIns="0" bIns="0" rtlCol="0" anchor="ctr"/>
          <a:lstStyle/>
          <a:p>
            <a:pPr indent="0" marL="0">
              <a:buNone/>
            </a:pPr>
            <a:r>
              <a:rPr lang="en-US" sz="1900" dirty="0">
                <a:solidFill>
                  <a:schemeClr val="accent2"/>
                </a:solidFill>
                <a:latin typeface="Consolas" pitchFamily="34" charset="0"/>
                <a:ea typeface="Consolas" pitchFamily="34" charset="-122"/>
                <a:cs typeface="Consolas" pitchFamily="34" charset="-120"/>
              </a:rPr>
              <a:t>List</a:t>
            </a:r>
            <a:r>
              <a:rPr lang="en-US" sz="1900" dirty="0">
                <a:solidFill>
                  <a:schemeClr val="tx1"/>
                </a:solidFill>
              </a:rPr>
              <a:t> is an interface, so we can’t create a </a:t>
            </a:r>
            <a:r>
              <a:rPr lang="en-US" sz="1900" dirty="0">
                <a:solidFill>
                  <a:schemeClr val="accent2"/>
                </a:solidFill>
                <a:latin typeface="Consolas" pitchFamily="34" charset="0"/>
                <a:ea typeface="Consolas" pitchFamily="34" charset="-122"/>
                <a:cs typeface="Consolas" pitchFamily="34" charset="-120"/>
              </a:rPr>
              <a:t>List</a:t>
            </a:r>
            <a:r>
              <a:rPr lang="en-US" sz="1900" dirty="0">
                <a:solidFill>
                  <a:schemeClr val="tx1"/>
                </a:solidFill>
              </a:rPr>
              <a:t> object</a:t>
            </a:r>
            <a:endParaRPr lang="en-US" sz="1900" dirty="0"/>
          </a:p>
        </p:txBody>
      </p:sp>
      <p:sp>
        <p:nvSpPr>
          <p:cNvPr id="8" name="Option B"/>
          <p:cNvSpPr/>
          <p:nvPr/>
        </p:nvSpPr>
        <p:spPr>
          <a:xfrm>
            <a:off x="548640" y="331927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47472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364992"/>
            <a:ext cx="9795967" cy="713232"/>
          </a:xfrm>
          <a:prstGeom prst="rect">
            <a:avLst/>
          </a:prstGeom>
          <a:noFill/>
          <a:ln/>
        </p:spPr>
        <p:txBody>
          <a:bodyPr wrap="square" lIns="0" tIns="0" rIns="0" bIns="0" rtlCol="0" anchor="ctr"/>
          <a:lstStyle/>
          <a:p>
            <a:pPr indent="0" marL="0">
              <a:buNone/>
            </a:pPr>
            <a:r>
              <a:rPr lang="en-US" sz="1900" dirty="0">
                <a:solidFill>
                  <a:schemeClr val="accent2"/>
                </a:solidFill>
                <a:latin typeface="Consolas" pitchFamily="34" charset="0"/>
                <a:ea typeface="Consolas" pitchFamily="34" charset="-122"/>
                <a:cs typeface="Consolas" pitchFamily="34" charset="-120"/>
              </a:rPr>
              <a:t>List</a:t>
            </a:r>
            <a:r>
              <a:rPr lang="en-US" sz="1900" dirty="0">
                <a:solidFill>
                  <a:schemeClr val="tx1"/>
                </a:solidFill>
              </a:rPr>
              <a:t> needs a size in the brackets</a:t>
            </a:r>
            <a:endParaRPr lang="en-US" sz="1900" dirty="0"/>
          </a:p>
        </p:txBody>
      </p:sp>
      <p:sp>
        <p:nvSpPr>
          <p:cNvPr id="11" name="Option C"/>
          <p:cNvSpPr/>
          <p:nvPr/>
        </p:nvSpPr>
        <p:spPr>
          <a:xfrm>
            <a:off x="548640" y="430682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622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352544"/>
            <a:ext cx="9795967" cy="713232"/>
          </a:xfrm>
          <a:prstGeom prst="rect">
            <a:avLst/>
          </a:prstGeom>
          <a:noFill/>
          <a:ln/>
        </p:spPr>
        <p:txBody>
          <a:bodyPr wrap="square" lIns="0" tIns="0" rIns="0" bIns="0" rtlCol="0" anchor="ctr"/>
          <a:lstStyle/>
          <a:p>
            <a:pPr indent="0" marL="0">
              <a:buNone/>
            </a:pPr>
            <a:r>
              <a:rPr lang="en-US" sz="1900" dirty="0">
                <a:solidFill>
                  <a:schemeClr val="tx1"/>
                </a:solidFill>
              </a:rPr>
              <a:t>A </a:t>
            </a:r>
            <a:r>
              <a:rPr lang="en-US" sz="1900" dirty="0">
                <a:solidFill>
                  <a:schemeClr val="accent2"/>
                </a:solidFill>
                <a:latin typeface="Consolas" pitchFamily="34" charset="0"/>
                <a:ea typeface="Consolas" pitchFamily="34" charset="-122"/>
                <a:cs typeface="Consolas" pitchFamily="34" charset="-120"/>
              </a:rPr>
              <a:t>List</a:t>
            </a:r>
            <a:r>
              <a:rPr lang="en-US" sz="1900" dirty="0">
                <a:solidFill>
                  <a:schemeClr val="tx1"/>
                </a:solidFill>
              </a:rPr>
              <a:t> can’t hold Strings</a:t>
            </a:r>
            <a:endParaRPr lang="en-US" sz="1900" dirty="0"/>
          </a:p>
        </p:txBody>
      </p:sp>
      <p:sp>
        <p:nvSpPr>
          <p:cNvPr id="14" name="Option D"/>
          <p:cNvSpPr/>
          <p:nvPr/>
        </p:nvSpPr>
        <p:spPr>
          <a:xfrm>
            <a:off x="548640" y="529437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44982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340096"/>
            <a:ext cx="9795967" cy="713232"/>
          </a:xfrm>
          <a:prstGeom prst="rect">
            <a:avLst/>
          </a:prstGeom>
          <a:noFill/>
          <a:ln/>
        </p:spPr>
        <p:txBody>
          <a:bodyPr wrap="square" lIns="0" tIns="0" rIns="0" bIns="0" rtlCol="0" anchor="ctr"/>
          <a:lstStyle/>
          <a:p>
            <a:pPr indent="0" marL="0">
              <a:buNone/>
            </a:pPr>
            <a:r>
              <a:rPr lang="en-US" sz="1900" dirty="0">
                <a:solidFill>
                  <a:schemeClr val="tx1"/>
                </a:solidFill>
              </a:rPr>
              <a:t>We forgot to import </a:t>
            </a:r>
            <a:r>
              <a:rPr lang="en-US" sz="1900" dirty="0">
                <a:solidFill>
                  <a:schemeClr val="accent2"/>
                </a:solidFill>
                <a:latin typeface="Consolas" pitchFamily="34" charset="0"/>
                <a:ea typeface="Consolas" pitchFamily="34" charset="-122"/>
                <a:cs typeface="Consolas" pitchFamily="34" charset="-120"/>
              </a:rPr>
              <a:t>ArrayList</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4</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List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Why won’t </a:t>
            </a:r>
            <a:r>
              <a:rPr lang="en-US" sz="2000" b="1" dirty="0">
                <a:solidFill>
                  <a:schemeClr val="tx2"/>
                </a:solidFill>
                <a:latin typeface="Consolas" pitchFamily="34" charset="0"/>
                <a:ea typeface="Consolas" pitchFamily="34" charset="-122"/>
                <a:cs typeface="Consolas" pitchFamily="34" charset="-120"/>
              </a:rPr>
              <a:t>List&lt;String&gt; list = new List&lt;String&gt;();</a:t>
            </a:r>
            <a:r>
              <a:rPr lang="en-US" sz="2000" b="1" dirty="0">
                <a:solidFill>
                  <a:schemeClr val="tx2"/>
                </a:solidFill>
              </a:rPr>
              <a:t> compile?</a:t>
            </a:r>
            <a:endParaRPr lang="en-US" sz="2000" dirty="0"/>
          </a:p>
        </p:txBody>
      </p:sp>
      <p:sp>
        <p:nvSpPr>
          <p:cNvPr id="5" name="Option A (correct)"/>
          <p:cNvSpPr/>
          <p:nvPr/>
        </p:nvSpPr>
        <p:spPr>
          <a:xfrm>
            <a:off x="548640" y="1828800"/>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191109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28800"/>
            <a:ext cx="9704527" cy="585216"/>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List</a:t>
            </a:r>
            <a:r>
              <a:rPr lang="en-US" sz="1700" b="1" dirty="0">
                <a:solidFill>
                  <a:schemeClr val="bg1"/>
                </a:solidFill>
              </a:rPr>
              <a:t> is an interface, so we can’t create a </a:t>
            </a:r>
            <a:r>
              <a:rPr lang="en-US" sz="1700" b="1" dirty="0">
                <a:solidFill>
                  <a:schemeClr val="bg1"/>
                </a:solidFill>
                <a:latin typeface="Consolas" pitchFamily="34" charset="0"/>
                <a:ea typeface="Consolas" pitchFamily="34" charset="-122"/>
                <a:cs typeface="Consolas" pitchFamily="34" charset="-120"/>
              </a:rPr>
              <a:t>List</a:t>
            </a:r>
            <a:r>
              <a:rPr lang="en-US" sz="1700" b="1" dirty="0">
                <a:solidFill>
                  <a:schemeClr val="bg1"/>
                </a:solidFill>
              </a:rPr>
              <a:t> object</a:t>
            </a:r>
            <a:endParaRPr lang="en-US" sz="1700" dirty="0"/>
          </a:p>
        </p:txBody>
      </p:sp>
      <p:pic>
        <p:nvPicPr>
          <p:cNvPr id="8" name="Image 0" descr="Correct mark">    </p:cNvPr>
          <p:cNvPicPr>
            <a:picLocks noChangeAspect="1"/>
          </p:cNvPicPr>
          <p:nvPr/>
        </p:nvPicPr>
        <p:blipFill>
          <a:blip r:embed="rId1"/>
          <a:stretch>
            <a:fillRect/>
          </a:stretch>
        </p:blipFill>
        <p:spPr>
          <a:xfrm>
            <a:off x="11094415" y="1938528"/>
            <a:ext cx="365760" cy="365760"/>
          </a:xfrm>
          <a:prstGeom prst="rect">
            <a:avLst/>
          </a:prstGeom>
        </p:spPr>
      </p:pic>
      <p:sp>
        <p:nvSpPr>
          <p:cNvPr id="9"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List</a:t>
            </a:r>
            <a:r>
              <a:rPr lang="en-US" sz="1700" dirty="0">
                <a:solidFill>
                  <a:schemeClr val="tx2"/>
                </a:solidFill>
              </a:rPr>
              <a:t> needs a size in the brackets</a:t>
            </a:r>
            <a:endParaRPr lang="en-US" sz="1700" dirty="0"/>
          </a:p>
        </p:txBody>
      </p:sp>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rPr>
              <a:t>A </a:t>
            </a:r>
            <a:r>
              <a:rPr lang="en-US" sz="1700" dirty="0">
                <a:solidFill>
                  <a:schemeClr val="tx2"/>
                </a:solidFill>
                <a:latin typeface="Consolas" pitchFamily="34" charset="0"/>
                <a:ea typeface="Consolas" pitchFamily="34" charset="-122"/>
                <a:cs typeface="Consolas" pitchFamily="34" charset="-120"/>
              </a:rPr>
              <a:t>List</a:t>
            </a:r>
            <a:r>
              <a:rPr lang="en-US" sz="1700" dirty="0">
                <a:solidFill>
                  <a:schemeClr val="tx2"/>
                </a:solidFill>
              </a:rPr>
              <a:t> can’t hold Strings</a:t>
            </a:r>
            <a:endParaRPr lang="en-US"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US" sz="1700" dirty="0">
                <a:solidFill>
                  <a:schemeClr val="tx2"/>
                </a:solidFill>
              </a:rPr>
              <a:t>We forgot to import </a:t>
            </a:r>
            <a:r>
              <a:rPr lang="en-US" sz="1700" dirty="0">
                <a:solidFill>
                  <a:schemeClr val="tx2"/>
                </a:solidFill>
                <a:latin typeface="Consolas" pitchFamily="34" charset="0"/>
                <a:ea typeface="Consolas" pitchFamily="34" charset="-122"/>
                <a:cs typeface="Consolas" pitchFamily="34" charset="-120"/>
              </a:rPr>
              <a:t>ArrayList</a:t>
            </a:r>
            <a:endParaRPr lang="en-US"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tx1"/>
                </a:solidFill>
              </a:rPr>
              <a:t>An interface only says what a list can do, so </a:t>
            </a:r>
            <a:r>
              <a:rPr lang="en-US" sz="1600" dirty="0">
                <a:solidFill>
                  <a:schemeClr val="accent2"/>
                </a:solidFill>
                <a:latin typeface="Consolas" pitchFamily="34" charset="0"/>
                <a:ea typeface="Consolas" pitchFamily="34" charset="-122"/>
                <a:cs typeface="Consolas" pitchFamily="34" charset="-120"/>
              </a:rPr>
              <a:t>new List&lt;String&gt;()</a:t>
            </a:r>
            <a:r>
              <a:rPr lang="en-US" sz="1600" dirty="0">
                <a:solidFill>
                  <a:schemeClr val="tx1"/>
                </a:solidFill>
              </a:rPr>
              <a:t> fails with “List is abstract; cannot be instantiated”. We create an object of a class that implements it, </a:t>
            </a:r>
            <a:r>
              <a:rPr lang="en-US" sz="1600" dirty="0">
                <a:solidFill>
                  <a:schemeClr val="accent2"/>
                </a:solidFill>
                <a:latin typeface="Consolas" pitchFamily="34" charset="0"/>
                <a:ea typeface="Consolas" pitchFamily="34" charset="-122"/>
                <a:cs typeface="Consolas" pitchFamily="34" charset="-120"/>
              </a:rPr>
              <a:t>new ArrayList&lt;String&gt;()</a:t>
            </a:r>
            <a:r>
              <a:rPr lang="en-US" sz="1600" dirty="0">
                <a:solidFill>
                  <a:schemeClr val="tx1"/>
                </a:solidFill>
              </a:rPr>
              <a:t>, and can still keep it in a </a:t>
            </a:r>
            <a:r>
              <a:rPr lang="en-US" sz="1600" dirty="0">
                <a:solidFill>
                  <a:schemeClr val="accent2"/>
                </a:solidFill>
                <a:latin typeface="Consolas" pitchFamily="34" charset="0"/>
                <a:ea typeface="Consolas" pitchFamily="34" charset="-122"/>
                <a:cs typeface="Consolas" pitchFamily="34" charset="-120"/>
              </a:rPr>
              <a:t>List</a:t>
            </a:r>
            <a:r>
              <a:rPr lang="en-US" sz="1600" dirty="0">
                <a:solidFill>
                  <a:schemeClr val="tx1"/>
                </a:solidFill>
              </a:rPr>
              <a:t> variable.</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LISTS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ArrayList: a dynamic array</a:t>
            </a:r>
            <a:endParaRPr lang="en-US" sz="3400" dirty="0"/>
          </a:p>
        </p:txBody>
      </p:sp>
      <p:sp>
        <p:nvSpPr>
          <p:cNvPr id="5" name="Text 2"/>
          <p:cNvSpPr txBox="1"/>
          <p:nvPr/>
        </p:nvSpPr>
        <p:spPr>
          <a:xfrm>
            <a:off x="548640" y="1783080"/>
            <a:ext cx="5120640" cy="429768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An </a:t>
            </a:r>
            <a:r>
              <a:rPr lang="en-US" sz="1700" dirty="0">
                <a:solidFill>
                  <a:schemeClr val="accent2"/>
                </a:solidFill>
                <a:latin typeface="Consolas" pitchFamily="34" charset="0"/>
                <a:ea typeface="Consolas" pitchFamily="34" charset="-122"/>
                <a:cs typeface="Consolas" pitchFamily="34" charset="-120"/>
              </a:rPr>
              <a:t>ArrayList</a:t>
            </a:r>
            <a:r>
              <a:rPr lang="en-US" sz="1700" dirty="0">
                <a:solidFill>
                  <a:schemeClr val="tx1"/>
                </a:solidFill>
              </a:rPr>
              <a:t> keeps its items in an array inside it, so getting an item by its index is quick.</a:t>
            </a:r>
            <a:endParaRPr lang="en-US" sz="1700" dirty="0"/>
          </a:p>
          <a:p>
            <a:pPr marL="228600" indent="-228600">
              <a:spcAft>
                <a:spcPts val="1000"/>
              </a:spcAft>
              <a:buSzPct val="100000"/>
              <a:buChar char="•"/>
            </a:pPr>
            <a:r>
              <a:rPr lang="en-US" sz="1700" dirty="0">
                <a:solidFill>
                  <a:schemeClr val="tx1"/>
                </a:solidFill>
              </a:rPr>
              <a:t>When the array runs out of room, it moves the items to a bigger one.</a:t>
            </a:r>
            <a:endParaRPr lang="en-US" sz="1700" dirty="0"/>
          </a:p>
          <a:p>
            <a:pPr marL="228600" indent="-228600">
              <a:spcAft>
                <a:spcPts val="1000"/>
              </a:spcAft>
              <a:buSzPct val="100000"/>
              <a:buChar char="•"/>
            </a:pPr>
            <a:r>
              <a:rPr lang="en-US" sz="1700" dirty="0">
                <a:solidFill>
                  <a:schemeClr val="tx1"/>
                </a:solidFill>
              </a:rPr>
              <a:t>Items stay in order: </a:t>
            </a:r>
            <a:r>
              <a:rPr lang="en-US" sz="1700" dirty="0">
                <a:solidFill>
                  <a:schemeClr val="accent2"/>
                </a:solidFill>
                <a:latin typeface="Consolas" pitchFamily="34" charset="0"/>
                <a:ea typeface="Consolas" pitchFamily="34" charset="-122"/>
                <a:cs typeface="Consolas" pitchFamily="34" charset="-120"/>
              </a:rPr>
              <a:t>add</a:t>
            </a:r>
            <a:r>
              <a:rPr lang="en-US" sz="1700" dirty="0">
                <a:solidFill>
                  <a:schemeClr val="tx1"/>
                </a:solidFill>
              </a:rPr>
              <a:t> puts an item at the end, or at an index we give.</a:t>
            </a:r>
            <a:endParaRPr lang="en-US" sz="1700" dirty="0"/>
          </a:p>
          <a:p>
            <a:pPr marL="228600" indent="-228600">
              <a:buSzPct val="100000"/>
              <a:buChar char="•"/>
            </a:pPr>
            <a:r>
              <a:rPr lang="en-US" sz="1700" dirty="0">
                <a:solidFill>
                  <a:schemeClr val="tx1"/>
                </a:solidFill>
              </a:rPr>
              <a:t>Duplicates and </a:t>
            </a:r>
            <a:r>
              <a:rPr lang="en-US" sz="1700" dirty="0">
                <a:solidFill>
                  <a:schemeClr val="accent2"/>
                </a:solidFill>
                <a:latin typeface="Consolas" pitchFamily="34" charset="0"/>
                <a:ea typeface="Consolas" pitchFamily="34" charset="-122"/>
                <a:cs typeface="Consolas" pitchFamily="34" charset="-120"/>
              </a:rPr>
              <a:t>null</a:t>
            </a:r>
            <a:r>
              <a:rPr lang="en-US" sz="1700" dirty="0">
                <a:solidFill>
                  <a:schemeClr val="tx1"/>
                </a:solidFill>
              </a:rPr>
              <a:t> values are allowed.</a:t>
            </a:r>
            <a:endParaRPr lang="en-US" sz="1700" dirty="0"/>
          </a:p>
        </p:txBody>
      </p:sp>
      <p:sp>
        <p:nvSpPr>
          <p:cNvPr id="6" name="ArrayList example card"/>
          <p:cNvSpPr/>
          <p:nvPr/>
        </p:nvSpPr>
        <p:spPr>
          <a:xfrm>
            <a:off x="6035040" y="1691640"/>
            <a:ext cx="5608015" cy="2635758"/>
          </a:xfrm>
          <a:prstGeom prst="roundRect">
            <a:avLst>
              <a:gd name="adj" fmla="val 4163"/>
            </a:avLst>
          </a:prstGeom>
          <a:solidFill>
            <a:schemeClr val="tx1"/>
          </a:solidFill>
          <a:ln/>
          <a:effectLst>
            <a:outerShdw sx="100000" sy="100000" kx="0" ky="0" algn="bl" rotWithShape="0" blurRad="114300" dist="31750" dir="5400000">
              <a:srgbClr val="1D2433">
                <a:alpha val="12000"/>
              </a:srgbClr>
            </a:outerShdw>
          </a:effectLst>
        </p:spPr>
      </p:sp>
      <p:sp>
        <p:nvSpPr>
          <p:cNvPr id="7" name="ArrayList example label"/>
          <p:cNvSpPr txBox="1"/>
          <p:nvPr/>
        </p:nvSpPr>
        <p:spPr>
          <a:xfrm>
            <a:off x="6309360" y="1810512"/>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8" name="ArrayList example text"/>
          <p:cNvSpPr txBox="1"/>
          <p:nvPr/>
        </p:nvSpPr>
        <p:spPr>
          <a:xfrm>
            <a:off x="6309360" y="2185416"/>
            <a:ext cx="5059375" cy="1940814"/>
          </a:xfrm>
          <a:prstGeom prst="rect">
            <a:avLst/>
          </a:prstGeom>
          <a:noFill/>
          <a:ln/>
        </p:spPr>
        <p:txBody>
          <a:bodyPr wrap="square" lIns="0" tIns="0" rIns="0" bIns="0" rtlCol="0" anchor="t"/>
          <a:lstStyle/>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ArrayList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&gt; words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6CC4E8"/>
                </a:solidFill>
                <a:latin typeface="Consolas" pitchFamily="34" charset="0"/>
                <a:ea typeface="Consolas" pitchFamily="34" charset="-122"/>
                <a:cs typeface="Consolas" pitchFamily="34" charset="-120"/>
              </a:rPr>
              <a:t>ArrayList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&gt;();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words.</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"hello"</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words.</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"goodbye"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words.</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"welcome"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for </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6CC4E8"/>
                </a:solidFill>
                <a:latin typeface="Consolas" pitchFamily="34" charset="0"/>
                <a:ea typeface="Consolas" pitchFamily="34" charset="-122"/>
                <a:cs typeface="Consolas" pitchFamily="34" charset="-120"/>
              </a:rPr>
              <a:t>String </a:t>
            </a:r>
            <a:r>
              <a:rPr lang="en-US" sz="1250" dirty="0">
                <a:solidFill>
                  <a:srgbClr val="E6EBF2"/>
                </a:solidFill>
                <a:latin typeface="Consolas" pitchFamily="34" charset="0"/>
                <a:ea typeface="Consolas" pitchFamily="34" charset="-122"/>
                <a:cs typeface="Consolas" pitchFamily="34" charset="-120"/>
              </a:rPr>
              <a:t>word : words)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(word);</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words.</a:t>
            </a:r>
            <a:r>
              <a:rPr lang="en-US" sz="1250" dirty="0">
                <a:solidFill>
                  <a:srgbClr val="C9B0FF"/>
                </a:solidFill>
                <a:latin typeface="Consolas" pitchFamily="34" charset="0"/>
                <a:ea typeface="Consolas" pitchFamily="34" charset="-122"/>
                <a:cs typeface="Consolas" pitchFamily="34" charset="-120"/>
              </a:rPr>
              <a:t>remove</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"goodbye"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(words);</a:t>
            </a:r>
            <a:endParaRPr lang="en-US" sz="1250" dirty="0"/>
          </a:p>
        </p:txBody>
      </p:sp>
      <p:sp>
        <p:nvSpPr>
          <p:cNvPr id="9" name="Output card"/>
          <p:cNvSpPr/>
          <p:nvPr/>
        </p:nvSpPr>
        <p:spPr>
          <a:xfrm>
            <a:off x="6035040" y="4528566"/>
            <a:ext cx="5608015" cy="1641348"/>
          </a:xfrm>
          <a:prstGeom prst="roundRect">
            <a:avLst>
              <a:gd name="adj" fmla="val 6685"/>
            </a:avLst>
          </a:prstGeom>
          <a:solidFill>
            <a:schemeClr val="tx1"/>
          </a:solidFill>
          <a:ln/>
          <a:effectLst>
            <a:outerShdw sx="100000" sy="100000" kx="0" ky="0" algn="bl" rotWithShape="0" blurRad="114300" dist="31750" dir="5400000">
              <a:srgbClr val="1D2433">
                <a:alpha val="12000"/>
              </a:srgbClr>
            </a:outerShdw>
          </a:effectLst>
        </p:spPr>
      </p:sp>
      <p:sp>
        <p:nvSpPr>
          <p:cNvPr id="10" name="Output label"/>
          <p:cNvSpPr txBox="1"/>
          <p:nvPr/>
        </p:nvSpPr>
        <p:spPr>
          <a:xfrm>
            <a:off x="6309360" y="4647438"/>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11" name="Output text"/>
          <p:cNvSpPr txBox="1"/>
          <p:nvPr/>
        </p:nvSpPr>
        <p:spPr>
          <a:xfrm>
            <a:off x="6309360" y="5022342"/>
            <a:ext cx="5059375" cy="946404"/>
          </a:xfrm>
          <a:prstGeom prst="rect">
            <a:avLst/>
          </a:prstGeom>
          <a:noFill/>
          <a:ln/>
        </p:spPr>
        <p:txBody>
          <a:bodyPr wrap="square" lIns="0" tIns="0" rIns="0" bIns="0" rtlCol="0" anchor="t"/>
          <a:lstStyle/>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hello</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goodbye</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welcome</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[hello, welcome]</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5</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ArrayList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this code print?</a:t>
            </a:r>
            <a:endParaRPr lang="en-US" sz="2800" dirty="0"/>
          </a:p>
        </p:txBody>
      </p:sp>
      <p:sp>
        <p:nvSpPr>
          <p:cNvPr id="5" name="Question code card"/>
          <p:cNvSpPr/>
          <p:nvPr/>
        </p:nvSpPr>
        <p:spPr>
          <a:xfrm>
            <a:off x="548640" y="2948940"/>
            <a:ext cx="6035040" cy="2057400"/>
          </a:xfrm>
          <a:prstGeom prst="roundRect">
            <a:avLst>
              <a:gd name="adj" fmla="val 5333"/>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3067812"/>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3442716"/>
            <a:ext cx="5486400" cy="1362456"/>
          </a:xfrm>
          <a:prstGeom prst="rect">
            <a:avLst/>
          </a:prstGeom>
          <a:noFill/>
          <a:ln/>
        </p:spPr>
        <p:txBody>
          <a:bodyPr wrap="square" lIns="0" tIns="0" rIns="0" bIns="0" rtlCol="0" anchor="t"/>
          <a:lstStyle/>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ArrayList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&gt; words =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6CC4E8"/>
                </a:solidFill>
                <a:latin typeface="Consolas" pitchFamily="34" charset="0"/>
                <a:ea typeface="Consolas" pitchFamily="34" charset="-122"/>
                <a:cs typeface="Consolas" pitchFamily="34" charset="-120"/>
              </a:rPr>
              <a:t>ArrayList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&gt;();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words.</a:t>
            </a:r>
            <a:r>
              <a:rPr lang="en-US" sz="1300" dirty="0">
                <a:solidFill>
                  <a:srgbClr val="C9B0FF"/>
                </a:solidFill>
                <a:latin typeface="Consolas" pitchFamily="34" charset="0"/>
                <a:ea typeface="Consolas" pitchFamily="34" charset="-122"/>
                <a:cs typeface="Consolas" pitchFamily="34" charset="-120"/>
              </a:rPr>
              <a:t>add</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"hello"</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words.</a:t>
            </a:r>
            <a:r>
              <a:rPr lang="en-US" sz="1300" dirty="0">
                <a:solidFill>
                  <a:srgbClr val="C9B0FF"/>
                </a:solidFill>
                <a:latin typeface="Consolas" pitchFamily="34" charset="0"/>
                <a:ea typeface="Consolas" pitchFamily="34" charset="-122"/>
                <a:cs typeface="Consolas" pitchFamily="34" charset="-120"/>
              </a:rPr>
              <a:t>add</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"goodbye"</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words.</a:t>
            </a:r>
            <a:r>
              <a:rPr lang="en-US" sz="1300" dirty="0">
                <a:solidFill>
                  <a:srgbClr val="C9B0FF"/>
                </a:solidFill>
                <a:latin typeface="Consolas" pitchFamily="34" charset="0"/>
                <a:ea typeface="Consolas" pitchFamily="34" charset="-122"/>
                <a:cs typeface="Consolas" pitchFamily="34" charset="-120"/>
              </a:rPr>
              <a:t>add</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"welcome"</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words.</a:t>
            </a:r>
            <a:r>
              <a:rPr lang="en-US" sz="1300" dirty="0">
                <a:solidFill>
                  <a:srgbClr val="C9B0FF"/>
                </a:solidFill>
                <a:latin typeface="Consolas" pitchFamily="34" charset="0"/>
                <a:ea typeface="Consolas" pitchFamily="34" charset="-122"/>
                <a:cs typeface="Consolas" pitchFamily="34" charset="-120"/>
              </a:rPr>
              <a:t>remove</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"goodbye"</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(words.</a:t>
            </a:r>
            <a:r>
              <a:rPr lang="en-US" sz="1300" dirty="0">
                <a:solidFill>
                  <a:srgbClr val="C9B0FF"/>
                </a:solidFill>
                <a:latin typeface="Consolas" pitchFamily="34" charset="0"/>
                <a:ea typeface="Consolas" pitchFamily="34" charset="-122"/>
                <a:cs typeface="Consolas" pitchFamily="34" charset="-120"/>
              </a:rPr>
              <a:t>size</a:t>
            </a:r>
            <a:r>
              <a:rPr lang="en-US" sz="1300" dirty="0">
                <a:solidFill>
                  <a:srgbClr val="E6EBF2"/>
                </a:solidFill>
                <a:latin typeface="Consolas" pitchFamily="34" charset="0"/>
                <a:ea typeface="Consolas" pitchFamily="34" charset="-122"/>
                <a:cs typeface="Consolas" pitchFamily="34" charset="-120"/>
              </a:rPr>
              <a:t>() + </a:t>
            </a:r>
            <a:r>
              <a:rPr lang="en-US" sz="1300" dirty="0">
                <a:solidFill>
                  <a:srgbClr val="A9DB8C"/>
                </a:solidFill>
                <a:latin typeface="Consolas" pitchFamily="34" charset="0"/>
                <a:ea typeface="Consolas" pitchFamily="34" charset="-122"/>
                <a:cs typeface="Consolas" pitchFamily="34" charset="-120"/>
              </a:rPr>
              <a:t>" " </a:t>
            </a:r>
            <a:r>
              <a:rPr lang="en-US" sz="1300" dirty="0">
                <a:solidFill>
                  <a:srgbClr val="E6EBF2"/>
                </a:solidFill>
                <a:latin typeface="Consolas" pitchFamily="34" charset="0"/>
                <a:ea typeface="Consolas" pitchFamily="34" charset="-122"/>
                <a:cs typeface="Consolas" pitchFamily="34" charset="-120"/>
              </a:rPr>
              <a:t>+ words.</a:t>
            </a:r>
            <a:r>
              <a:rPr lang="en-US" sz="1300" dirty="0">
                <a:solidFill>
                  <a:srgbClr val="C9B0FF"/>
                </a:solidFill>
                <a:latin typeface="Consolas" pitchFamily="34" charset="0"/>
                <a:ea typeface="Consolas" pitchFamily="34" charset="-122"/>
                <a:cs typeface="Consolas" pitchFamily="34" charset="-120"/>
              </a:rPr>
              <a:t>get</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F2C14E"/>
                </a:solidFill>
                <a:latin typeface="Consolas" pitchFamily="34" charset="0"/>
                <a:ea typeface="Consolas" pitchFamily="34" charset="-122"/>
                <a:cs typeface="Consolas" pitchFamily="34" charset="-120"/>
              </a:rPr>
              <a:t>1</a:t>
            </a:r>
            <a:r>
              <a:rPr lang="en-US" sz="1300" dirty="0">
                <a:solidFill>
                  <a:srgbClr val="E6EBF2"/>
                </a:solidFill>
                <a:latin typeface="Consolas" pitchFamily="34" charset="0"/>
                <a:ea typeface="Consolas" pitchFamily="34" charset="-122"/>
                <a:cs typeface="Consolas" pitchFamily="34" charset="-120"/>
              </a:rPr>
              <a:t>));</a:t>
            </a:r>
            <a:endParaRPr lang="en-US" sz="13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3 goodbye</a:t>
            </a:r>
            <a:endParaRPr lang="en-US"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2 welcome</a:t>
            </a:r>
            <a:endParaRPr lang="en-US"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2 goodbye</a:t>
            </a:r>
            <a:endParaRPr lang="en-US"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3 welcome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5</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ArrayList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this code print?</a:t>
            </a:r>
            <a:endParaRPr lang="en-US" sz="2000" dirty="0"/>
          </a:p>
        </p:txBody>
      </p:sp>
      <p:sp>
        <p:nvSpPr>
          <p:cNvPr id="5" name="Answer code card"/>
          <p:cNvSpPr/>
          <p:nvPr/>
        </p:nvSpPr>
        <p:spPr>
          <a:xfrm>
            <a:off x="548640" y="1874520"/>
            <a:ext cx="5623560" cy="1261872"/>
          </a:xfrm>
          <a:prstGeom prst="roundRect">
            <a:avLst>
              <a:gd name="adj" fmla="val 8696"/>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859536"/>
          </a:xfrm>
          <a:prstGeom prst="rect">
            <a:avLst/>
          </a:prstGeom>
          <a:noFill/>
          <a:ln/>
        </p:spPr>
        <p:txBody>
          <a:bodyPr wrap="square" lIns="0" tIns="0" rIns="0" bIns="0" rtlCol="0" anchor="t"/>
          <a:lstStyle/>
          <a:p>
            <a:pPr indent="0" marL="0">
              <a:lnSpc>
                <a:spcPts val="2110"/>
              </a:lnSpc>
              <a:buNone/>
            </a:pPr>
            <a:r>
              <a:rPr lang="en-US" sz="1600" i="1" dirty="0">
                <a:solidFill>
                  <a:srgbClr val="A3AEC2"/>
                </a:solidFill>
                <a:latin typeface="Consolas" pitchFamily="34" charset="0"/>
                <a:ea typeface="Consolas" pitchFamily="34" charset="-122"/>
                <a:cs typeface="Consolas" pitchFamily="34" charset="-120"/>
              </a:rPr>
              <a:t>// after remove: [hello, welcome]</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words.</a:t>
            </a:r>
            <a:r>
              <a:rPr lang="en-US" sz="1600" dirty="0">
                <a:solidFill>
                  <a:srgbClr val="C9B0FF"/>
                </a:solidFill>
                <a:latin typeface="Consolas" pitchFamily="34" charset="0"/>
                <a:ea typeface="Consolas" pitchFamily="34" charset="-122"/>
                <a:cs typeface="Consolas" pitchFamily="34" charset="-120"/>
              </a:rPr>
              <a:t>size</a:t>
            </a:r>
            <a:r>
              <a:rPr lang="en-US" sz="1600" dirty="0">
                <a:solidFill>
                  <a:srgbClr val="E6EBF2"/>
                </a:solidFill>
                <a:latin typeface="Consolas" pitchFamily="34" charset="0"/>
                <a:ea typeface="Consolas" pitchFamily="34" charset="-122"/>
                <a:cs typeface="Consolas" pitchFamily="34" charset="-120"/>
              </a:rPr>
              <a:t>()   </a:t>
            </a:r>
            <a:r>
              <a:rPr lang="en-US" sz="1600" i="1" dirty="0">
                <a:solidFill>
                  <a:srgbClr val="A3AEC2"/>
                </a:solidFill>
                <a:latin typeface="Consolas" pitchFamily="34" charset="0"/>
                <a:ea typeface="Consolas" pitchFamily="34" charset="-122"/>
                <a:cs typeface="Consolas" pitchFamily="34" charset="-120"/>
              </a:rPr>
              <a:t>// 2</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words.</a:t>
            </a:r>
            <a:r>
              <a:rPr lang="en-US" sz="1600" dirty="0">
                <a:solidFill>
                  <a:srgbClr val="C9B0FF"/>
                </a:solidFill>
                <a:latin typeface="Consolas" pitchFamily="34" charset="0"/>
                <a:ea typeface="Consolas" pitchFamily="34" charset="-122"/>
                <a:cs typeface="Consolas" pitchFamily="34" charset="-120"/>
              </a:rPr>
              <a:t>get</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F2C14E"/>
                </a:solidFill>
                <a:latin typeface="Consolas" pitchFamily="34" charset="0"/>
                <a:ea typeface="Consolas" pitchFamily="34" charset="-122"/>
                <a:cs typeface="Consolas" pitchFamily="34" charset="-120"/>
              </a:rPr>
              <a:t>1</a:t>
            </a:r>
            <a:r>
              <a:rPr lang="en-US" sz="1600" dirty="0">
                <a:solidFill>
                  <a:srgbClr val="E6EBF2"/>
                </a:solidFill>
                <a:latin typeface="Consolas" pitchFamily="34" charset="0"/>
                <a:ea typeface="Consolas" pitchFamily="34" charset="-122"/>
                <a:cs typeface="Consolas" pitchFamily="34" charset="-120"/>
              </a:rPr>
              <a:t>)   </a:t>
            </a:r>
            <a:r>
              <a:rPr lang="en-US" sz="1600" i="1" dirty="0">
                <a:solidFill>
                  <a:srgbClr val="A3AEC2"/>
                </a:solidFill>
                <a:latin typeface="Consolas" pitchFamily="34" charset="0"/>
                <a:ea typeface="Consolas" pitchFamily="34" charset="-122"/>
                <a:cs typeface="Consolas" pitchFamily="34" charset="-120"/>
              </a:rPr>
              <a:t>// "welcome"</a:t>
            </a:r>
            <a:endParaRPr lang="en-US" sz="1600" dirty="0"/>
          </a:p>
        </p:txBody>
      </p:sp>
      <p:sp>
        <p:nvSpPr>
          <p:cNvPr id="7" name="Option A"/>
          <p:cNvSpPr/>
          <p:nvPr/>
        </p:nvSpPr>
        <p:spPr>
          <a:xfrm>
            <a:off x="548640" y="3364992"/>
            <a:ext cx="5623560" cy="569214"/>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439287"/>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364992"/>
            <a:ext cx="4572000" cy="569214"/>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3 goodbye</a:t>
            </a:r>
            <a:endParaRPr lang="en-US" sz="1700" dirty="0"/>
          </a:p>
        </p:txBody>
      </p:sp>
      <p:sp>
        <p:nvSpPr>
          <p:cNvPr id="10" name="Option B (correct)"/>
          <p:cNvSpPr/>
          <p:nvPr/>
        </p:nvSpPr>
        <p:spPr>
          <a:xfrm>
            <a:off x="548640" y="4080510"/>
            <a:ext cx="5623560" cy="569214"/>
          </a:xfrm>
          <a:prstGeom prst="roundRect">
            <a:avLst>
              <a:gd name="adj" fmla="val 19000"/>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154805"/>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2" name="Option B text"/>
          <p:cNvSpPr txBox="1"/>
          <p:nvPr/>
        </p:nvSpPr>
        <p:spPr>
          <a:xfrm>
            <a:off x="1371600" y="4080510"/>
            <a:ext cx="4233672" cy="569214"/>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2 welcome</a:t>
            </a:r>
            <a:endParaRPr lang="en-US" sz="1700" dirty="0"/>
          </a:p>
        </p:txBody>
      </p:sp>
      <p:pic>
        <p:nvPicPr>
          <p:cNvPr id="13" name="Image 0" descr="Correct mark">    </p:cNvPr>
          <p:cNvPicPr>
            <a:picLocks noChangeAspect="1"/>
          </p:cNvPicPr>
          <p:nvPr/>
        </p:nvPicPr>
        <p:blipFill>
          <a:blip r:embed="rId1"/>
          <a:stretch>
            <a:fillRect/>
          </a:stretch>
        </p:blipFill>
        <p:spPr>
          <a:xfrm>
            <a:off x="5623560" y="4182237"/>
            <a:ext cx="365760" cy="365760"/>
          </a:xfrm>
          <a:prstGeom prst="rect">
            <a:avLst/>
          </a:prstGeom>
        </p:spPr>
      </p:pic>
      <p:sp>
        <p:nvSpPr>
          <p:cNvPr id="14" name="Option C"/>
          <p:cNvSpPr/>
          <p:nvPr/>
        </p:nvSpPr>
        <p:spPr>
          <a:xfrm>
            <a:off x="548640" y="4796028"/>
            <a:ext cx="5623560" cy="569214"/>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70323"/>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6" name="Option C text"/>
          <p:cNvSpPr txBox="1"/>
          <p:nvPr/>
        </p:nvSpPr>
        <p:spPr>
          <a:xfrm>
            <a:off x="1371600" y="4796028"/>
            <a:ext cx="4572000" cy="569214"/>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2 goodbye</a:t>
            </a:r>
            <a:endParaRPr lang="en-US" sz="1700" dirty="0"/>
          </a:p>
        </p:txBody>
      </p:sp>
      <p:sp>
        <p:nvSpPr>
          <p:cNvPr id="17" name="Option D"/>
          <p:cNvSpPr/>
          <p:nvPr/>
        </p:nvSpPr>
        <p:spPr>
          <a:xfrm>
            <a:off x="548640" y="5511546"/>
            <a:ext cx="5623560" cy="569214"/>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85841"/>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511546"/>
            <a:ext cx="4572000" cy="569214"/>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3 welcome</a:t>
            </a:r>
            <a:endParaRPr lang="en-US"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remove("goodbye")</a:t>
            </a:r>
            <a:r>
              <a:rPr lang="en-US" sz="1800" dirty="0">
                <a:solidFill>
                  <a:schemeClr val="tx1"/>
                </a:solidFill>
              </a:rPr>
              <a:t> takes the item out and the list closes the gap, so welcome moves from index 2 to index 1. That leaves 2 items, and </a:t>
            </a:r>
            <a:r>
              <a:rPr lang="en-US" sz="1800" dirty="0">
                <a:solidFill>
                  <a:schemeClr val="accent2"/>
                </a:solidFill>
                <a:latin typeface="Consolas" pitchFamily="34" charset="0"/>
                <a:ea typeface="Consolas" pitchFamily="34" charset="-122"/>
                <a:cs typeface="Consolas" pitchFamily="34" charset="-120"/>
              </a:rPr>
              <a:t>get(1)</a:t>
            </a:r>
            <a:r>
              <a:rPr lang="en-US" sz="1800" dirty="0">
                <a:solidFill>
                  <a:schemeClr val="tx1"/>
                </a:solidFill>
              </a:rPr>
              <a:t> gives welcome.</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6</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ArrayList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is true about what an </a:t>
            </a:r>
            <a:r>
              <a:rPr lang="en-US" sz="2800" b="1" dirty="0">
                <a:solidFill>
                  <a:schemeClr val="accent2"/>
                </a:solidFill>
                <a:latin typeface="Consolas" pitchFamily="34" charset="0"/>
                <a:ea typeface="Consolas" pitchFamily="34" charset="-122"/>
                <a:cs typeface="Consolas" pitchFamily="34" charset="-120"/>
              </a:rPr>
              <a:t>ArrayList&lt;String&gt;</a:t>
            </a:r>
            <a:r>
              <a:rPr lang="en-US" sz="2800" b="1" dirty="0">
                <a:solidFill>
                  <a:schemeClr val="tx1"/>
                </a:solidFill>
              </a:rPr>
              <a:t> can hold?</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Only different Strings, with no repeats</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Repeated Strings, but never </a:t>
            </a:r>
            <a:r>
              <a:rPr lang="en-US" sz="2000" dirty="0">
                <a:solidFill>
                  <a:schemeClr val="accent2"/>
                </a:solidFill>
                <a:latin typeface="Consolas" pitchFamily="34" charset="0"/>
                <a:ea typeface="Consolas" pitchFamily="34" charset="-122"/>
                <a:cs typeface="Consolas" pitchFamily="34" charset="-120"/>
              </a:rPr>
              <a:t>null</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Only as many Strings as its starting size</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Repeated Strings and </a:t>
            </a:r>
            <a:r>
              <a:rPr lang="en-US" sz="2000" dirty="0">
                <a:solidFill>
                  <a:schemeClr val="accent2"/>
                </a:solidFill>
                <a:latin typeface="Consolas" pitchFamily="34" charset="0"/>
                <a:ea typeface="Consolas" pitchFamily="34" charset="-122"/>
                <a:cs typeface="Consolas" pitchFamily="34" charset="-120"/>
              </a:rPr>
              <a:t>null</a:t>
            </a:r>
            <a:r>
              <a:rPr lang="en-US" sz="2000" dirty="0">
                <a:solidFill>
                  <a:schemeClr val="tx1"/>
                </a:solidFill>
              </a:rPr>
              <a:t> values</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6</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ArrayList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is true about what an </a:t>
            </a:r>
            <a:r>
              <a:rPr lang="en-US" sz="2000" b="1" dirty="0">
                <a:solidFill>
                  <a:schemeClr val="tx2"/>
                </a:solidFill>
                <a:latin typeface="Consolas" pitchFamily="34" charset="0"/>
                <a:ea typeface="Consolas" pitchFamily="34" charset="-122"/>
                <a:cs typeface="Consolas" pitchFamily="34" charset="-120"/>
              </a:rPr>
              <a:t>ArrayList&lt;String&gt;</a:t>
            </a:r>
            <a:r>
              <a:rPr lang="en-US" sz="2000" b="1" dirty="0">
                <a:solidFill>
                  <a:schemeClr val="tx2"/>
                </a:solidFill>
              </a:rPr>
              <a:t> can hold?</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Only different Strings, with no repeats</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Repeated Strings, but never </a:t>
            </a:r>
            <a:r>
              <a:rPr lang="en-US" sz="1700" dirty="0">
                <a:solidFill>
                  <a:schemeClr val="tx2"/>
                </a:solidFill>
                <a:latin typeface="Consolas" pitchFamily="34" charset="0"/>
                <a:ea typeface="Consolas" pitchFamily="34" charset="-122"/>
                <a:cs typeface="Consolas" pitchFamily="34" charset="-120"/>
              </a:rPr>
              <a:t>null</a:t>
            </a:r>
            <a:endParaRPr lang="en-US"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Only as many Strings as its starting size</a:t>
            </a:r>
            <a:endParaRPr lang="en-US"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4645152"/>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Repeated Strings and </a:t>
            </a:r>
            <a:r>
              <a:rPr lang="en-US" sz="1700" b="1" dirty="0">
                <a:solidFill>
                  <a:schemeClr val="bg1"/>
                </a:solidFill>
                <a:latin typeface="Consolas" pitchFamily="34" charset="0"/>
                <a:ea typeface="Consolas" pitchFamily="34" charset="-122"/>
                <a:cs typeface="Consolas" pitchFamily="34" charset="-120"/>
              </a:rPr>
              <a:t>null</a:t>
            </a:r>
            <a:r>
              <a:rPr lang="en-US" sz="1700" b="1" dirty="0">
                <a:solidFill>
                  <a:schemeClr val="bg1"/>
                </a:solidFill>
              </a:rPr>
              <a:t> values</a:t>
            </a:r>
            <a:endParaRPr lang="en-US" sz="1700" dirty="0"/>
          </a:p>
        </p:txBody>
      </p:sp>
      <p:pic>
        <p:nvPicPr>
          <p:cNvPr id="17" name="Image 0"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An ArrayList allows duplicates and </a:t>
            </a:r>
            <a:r>
              <a:rPr lang="en-US" sz="1800" dirty="0">
                <a:solidFill>
                  <a:schemeClr val="accent2"/>
                </a:solidFill>
                <a:latin typeface="Consolas" pitchFamily="34" charset="0"/>
                <a:ea typeface="Consolas" pitchFamily="34" charset="-122"/>
                <a:cs typeface="Consolas" pitchFamily="34" charset="-120"/>
              </a:rPr>
              <a:t>null</a:t>
            </a:r>
            <a:r>
              <a:rPr lang="en-US" sz="1800" dirty="0">
                <a:solidFill>
                  <a:schemeClr val="tx1"/>
                </a:solidFill>
              </a:rPr>
              <a:t> values, so a list can hold </a:t>
            </a:r>
            <a:r>
              <a:rPr lang="en-US" sz="1800" dirty="0">
                <a:solidFill>
                  <a:schemeClr val="accent2"/>
                </a:solidFill>
                <a:latin typeface="Consolas" pitchFamily="34" charset="0"/>
                <a:ea typeface="Consolas" pitchFamily="34" charset="-122"/>
                <a:cs typeface="Consolas" pitchFamily="34" charset="-120"/>
              </a:rPr>
              <a:t>[a, a, null]</a:t>
            </a:r>
            <a:r>
              <a:rPr lang="en-US" sz="1800" dirty="0">
                <a:solidFill>
                  <a:schemeClr val="tx1"/>
                </a:solidFill>
              </a:rPr>
              <a:t>. It also grows as needed, so its starting size is no limit.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LISTS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LinkedList: items linked one to the next</a:t>
            </a:r>
            <a:endParaRPr lang="en-US" sz="3400" dirty="0"/>
          </a:p>
        </p:txBody>
      </p:sp>
      <p:sp>
        <p:nvSpPr>
          <p:cNvPr id="5" name="Text 2"/>
          <p:cNvSpPr txBox="1"/>
          <p:nvPr/>
        </p:nvSpPr>
        <p:spPr>
          <a:xfrm>
            <a:off x="548640" y="1737360"/>
            <a:ext cx="11094415" cy="17373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In a linked list, each item sits in a node, and each node points to the next one.</a:t>
            </a:r>
            <a:endParaRPr lang="en-US" sz="1700" dirty="0"/>
          </a:p>
          <a:p>
            <a:pPr marL="228600" indent="-228600">
              <a:spcAft>
                <a:spcPts val="800"/>
              </a:spcAft>
              <a:buSzPct val="100000"/>
              <a:buChar char="•"/>
            </a:pPr>
            <a:r>
              <a:rPr lang="en-US" sz="1700" dirty="0">
                <a:solidFill>
                  <a:schemeClr val="tx1"/>
                </a:solidFill>
              </a:rPr>
              <a:t>The list holds a reference to the first node, the head.</a:t>
            </a:r>
            <a:endParaRPr lang="en-US" sz="1700" dirty="0"/>
          </a:p>
          <a:p>
            <a:pPr marL="228600" indent="-228600">
              <a:spcAft>
                <a:spcPts val="800"/>
              </a:spcAft>
              <a:buSzPct val="100000"/>
              <a:buChar char="•"/>
            </a:pPr>
            <a:r>
              <a:rPr lang="en-US" sz="1700" dirty="0">
                <a:solidFill>
                  <a:schemeClr val="tx1"/>
                </a:solidFill>
              </a:rPr>
              <a:t>The last node is the tail. Nothing comes after it, so its next reference is </a:t>
            </a:r>
            <a:r>
              <a:rPr lang="en-US" sz="1700" dirty="0">
                <a:solidFill>
                  <a:schemeClr val="accent2"/>
                </a:solidFill>
                <a:latin typeface="Consolas" pitchFamily="34" charset="0"/>
                <a:ea typeface="Consolas" pitchFamily="34" charset="-122"/>
                <a:cs typeface="Consolas" pitchFamily="34" charset="-120"/>
              </a:rPr>
              <a:t>null</a:t>
            </a:r>
            <a:r>
              <a:rPr lang="en-US" sz="1700" dirty="0">
                <a:solidFill>
                  <a:schemeClr val="tx1"/>
                </a:solidFill>
              </a:rPr>
              <a:t>.</a:t>
            </a:r>
            <a:endParaRPr lang="en-US" sz="1700" dirty="0"/>
          </a:p>
          <a:p>
            <a:pPr marL="228600" indent="-228600">
              <a:buSzPct val="100000"/>
              <a:buChar char="•"/>
            </a:pPr>
            <a:r>
              <a:rPr lang="en-US" sz="1700" dirty="0">
                <a:solidFill>
                  <a:schemeClr val="tx1"/>
                </a:solidFill>
              </a:rPr>
              <a:t>To reach an item, the list starts at the head and follows the links one node at a time.</a:t>
            </a:r>
            <a:endParaRPr lang="en-US" sz="1700" dirty="0"/>
          </a:p>
        </p:txBody>
      </p:sp>
      <p:sp>
        <p:nvSpPr>
          <p:cNvPr id="6" name="Shape 3"/>
          <p:cNvSpPr/>
          <p:nvPr/>
        </p:nvSpPr>
        <p:spPr>
          <a:xfrm>
            <a:off x="548640" y="3840480"/>
            <a:ext cx="1280160" cy="566928"/>
          </a:xfrm>
          <a:prstGeom prst="roundRect">
            <a:avLst>
              <a:gd name="adj" fmla="val 16129"/>
            </a:avLst>
          </a:prstGeom>
          <a:solidFill>
            <a:schemeClr val="bg1"/>
          </a:solidFill>
          <a:ln w="19050">
            <a:solidFill>
              <a:schemeClr val="accent2"/>
            </a:solidFill>
            <a:prstDash val="solid"/>
          </a:ln>
        </p:spPr>
      </p:sp>
      <p:sp>
        <p:nvSpPr>
          <p:cNvPr id="7" name="Text 4"/>
          <p:cNvSpPr txBox="1"/>
          <p:nvPr/>
        </p:nvSpPr>
        <p:spPr>
          <a:xfrm>
            <a:off x="548640" y="3840480"/>
            <a:ext cx="1280160" cy="566928"/>
          </a:xfrm>
          <a:prstGeom prst="rect">
            <a:avLst/>
          </a:prstGeom>
          <a:noFill/>
          <a:ln/>
        </p:spPr>
        <p:txBody>
          <a:bodyPr wrap="square" lIns="0" tIns="0" rIns="0" bIns="0" rtlCol="0" anchor="ctr"/>
          <a:lstStyle/>
          <a:p>
            <a:pPr algn="ctr" indent="0" marL="0">
              <a:buNone/>
            </a:pPr>
            <a:r>
              <a:rPr lang="en-US" sz="1600" b="1" dirty="0">
                <a:solidFill>
                  <a:schemeClr val="accent2"/>
                </a:solidFill>
                <a:latin typeface="Consolas" pitchFamily="34" charset="0"/>
                <a:ea typeface="Consolas" pitchFamily="34" charset="-122"/>
                <a:cs typeface="Consolas" pitchFamily="34" charset="-120"/>
              </a:rPr>
              <a:t>myList</a:t>
            </a:r>
            <a:endParaRPr lang="en-US" sz="1600" dirty="0"/>
          </a:p>
        </p:txBody>
      </p:sp>
      <p:sp>
        <p:nvSpPr>
          <p:cNvPr id="8" name="Shape 5"/>
          <p:cNvSpPr/>
          <p:nvPr/>
        </p:nvSpPr>
        <p:spPr>
          <a:xfrm>
            <a:off x="1828800" y="4123944"/>
            <a:ext cx="530352" cy="0"/>
          </a:xfrm>
          <a:prstGeom prst="line">
            <a:avLst/>
          </a:prstGeom>
          <a:noFill/>
          <a:ln w="22225">
            <a:solidFill>
              <a:schemeClr val="accent2"/>
            </a:solidFill>
            <a:prstDash val="solid"/>
            <a:tailEnd type="triangle"/>
          </a:ln>
        </p:spPr>
      </p:sp>
      <p:sp>
        <p:nvSpPr>
          <p:cNvPr id="9" name="Node a"/>
          <p:cNvSpPr/>
          <p:nvPr/>
        </p:nvSpPr>
        <p:spPr>
          <a:xfrm>
            <a:off x="2377440" y="3840480"/>
            <a:ext cx="868680" cy="566928"/>
          </a:xfrm>
          <a:prstGeom prst="roundRect">
            <a:avLst>
              <a:gd name="adj" fmla="val 9677"/>
            </a:avLst>
          </a:prstGeom>
          <a:solidFill>
            <a:schemeClr val="accent4">
              <a:alpha val="14000"/>
            </a:schemeClr>
          </a:solidFill>
          <a:ln w="19050">
            <a:solidFill>
              <a:schemeClr val="accent4"/>
            </a:solidFill>
            <a:prstDash val="solid"/>
          </a:ln>
        </p:spPr>
      </p:sp>
      <p:sp>
        <p:nvSpPr>
          <p:cNvPr id="10" name="Text 7"/>
          <p:cNvSpPr txBox="1"/>
          <p:nvPr/>
        </p:nvSpPr>
        <p:spPr>
          <a:xfrm>
            <a:off x="2377440" y="3840480"/>
            <a:ext cx="86868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Consolas" pitchFamily="34" charset="0"/>
                <a:ea typeface="Consolas" pitchFamily="34" charset="-122"/>
                <a:cs typeface="Consolas" pitchFamily="34" charset="-120"/>
              </a:rPr>
              <a:t>a</a:t>
            </a:r>
            <a:endParaRPr lang="en-US" sz="1800" dirty="0"/>
          </a:p>
        </p:txBody>
      </p:sp>
      <p:sp>
        <p:nvSpPr>
          <p:cNvPr id="11" name="Next a"/>
          <p:cNvSpPr/>
          <p:nvPr/>
        </p:nvSpPr>
        <p:spPr>
          <a:xfrm>
            <a:off x="3246120" y="3840480"/>
            <a:ext cx="548640" cy="566928"/>
          </a:xfrm>
          <a:prstGeom prst="roundRect">
            <a:avLst>
              <a:gd name="adj" fmla="val 10000"/>
            </a:avLst>
          </a:prstGeom>
          <a:solidFill>
            <a:schemeClr val="bg1"/>
          </a:solidFill>
          <a:ln w="19050">
            <a:solidFill>
              <a:schemeClr val="accent4"/>
            </a:solidFill>
            <a:prstDash val="solid"/>
          </a:ln>
        </p:spPr>
      </p:sp>
      <p:sp>
        <p:nvSpPr>
          <p:cNvPr id="12" name="Shape 9"/>
          <p:cNvSpPr/>
          <p:nvPr/>
        </p:nvSpPr>
        <p:spPr>
          <a:xfrm>
            <a:off x="3456432" y="4059936"/>
            <a:ext cx="128016" cy="128016"/>
          </a:xfrm>
          <a:prstGeom prst="ellipse">
            <a:avLst/>
          </a:prstGeom>
          <a:solidFill>
            <a:schemeClr val="accent2"/>
          </a:solidFill>
          <a:ln/>
        </p:spPr>
      </p:sp>
      <p:sp>
        <p:nvSpPr>
          <p:cNvPr id="13" name="Shape 10"/>
          <p:cNvSpPr/>
          <p:nvPr/>
        </p:nvSpPr>
        <p:spPr>
          <a:xfrm>
            <a:off x="3520440" y="4123944"/>
            <a:ext cx="1078992" cy="0"/>
          </a:xfrm>
          <a:prstGeom prst="line">
            <a:avLst/>
          </a:prstGeom>
          <a:noFill/>
          <a:ln w="22225">
            <a:solidFill>
              <a:schemeClr val="accent2"/>
            </a:solidFill>
            <a:prstDash val="solid"/>
            <a:tailEnd type="triangle"/>
          </a:ln>
        </p:spPr>
      </p:sp>
      <p:sp>
        <p:nvSpPr>
          <p:cNvPr id="14" name="Text 11"/>
          <p:cNvSpPr txBox="1"/>
          <p:nvPr/>
        </p:nvSpPr>
        <p:spPr>
          <a:xfrm>
            <a:off x="3648456" y="3547872"/>
            <a:ext cx="822960" cy="237744"/>
          </a:xfrm>
          <a:prstGeom prst="rect">
            <a:avLst/>
          </a:prstGeom>
          <a:noFill/>
          <a:ln/>
        </p:spPr>
        <p:txBody>
          <a:bodyPr wrap="square" lIns="0" tIns="0" rIns="0" bIns="0" rtlCol="0" anchor="t"/>
          <a:lstStyle/>
          <a:p>
            <a:pPr algn="ctr" indent="0" marL="0">
              <a:buNone/>
            </a:pPr>
            <a:r>
              <a:rPr lang="en-US" sz="1200" i="1" dirty="0">
                <a:solidFill>
                  <a:schemeClr val="tx2"/>
                </a:solidFill>
              </a:rPr>
              <a:t>next</a:t>
            </a:r>
            <a:endParaRPr lang="en-US" sz="1200" dirty="0"/>
          </a:p>
        </p:txBody>
      </p:sp>
      <p:sp>
        <p:nvSpPr>
          <p:cNvPr id="15" name="Node b"/>
          <p:cNvSpPr/>
          <p:nvPr/>
        </p:nvSpPr>
        <p:spPr>
          <a:xfrm>
            <a:off x="4617720" y="3840480"/>
            <a:ext cx="868680" cy="566928"/>
          </a:xfrm>
          <a:prstGeom prst="roundRect">
            <a:avLst>
              <a:gd name="adj" fmla="val 9677"/>
            </a:avLst>
          </a:prstGeom>
          <a:solidFill>
            <a:schemeClr val="accent4">
              <a:alpha val="14000"/>
            </a:schemeClr>
          </a:solidFill>
          <a:ln w="19050">
            <a:solidFill>
              <a:schemeClr val="accent4"/>
            </a:solidFill>
            <a:prstDash val="solid"/>
          </a:ln>
        </p:spPr>
      </p:sp>
      <p:sp>
        <p:nvSpPr>
          <p:cNvPr id="16" name="Text 13"/>
          <p:cNvSpPr txBox="1"/>
          <p:nvPr/>
        </p:nvSpPr>
        <p:spPr>
          <a:xfrm>
            <a:off x="4617720" y="3840480"/>
            <a:ext cx="86868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Consolas" pitchFamily="34" charset="0"/>
                <a:ea typeface="Consolas" pitchFamily="34" charset="-122"/>
                <a:cs typeface="Consolas" pitchFamily="34" charset="-120"/>
              </a:rPr>
              <a:t>b</a:t>
            </a:r>
            <a:endParaRPr lang="en-US" sz="1800" dirty="0"/>
          </a:p>
        </p:txBody>
      </p:sp>
      <p:sp>
        <p:nvSpPr>
          <p:cNvPr id="17" name="Next b"/>
          <p:cNvSpPr/>
          <p:nvPr/>
        </p:nvSpPr>
        <p:spPr>
          <a:xfrm>
            <a:off x="5486400" y="3840480"/>
            <a:ext cx="548640" cy="566928"/>
          </a:xfrm>
          <a:prstGeom prst="roundRect">
            <a:avLst>
              <a:gd name="adj" fmla="val 10000"/>
            </a:avLst>
          </a:prstGeom>
          <a:solidFill>
            <a:schemeClr val="bg1"/>
          </a:solidFill>
          <a:ln w="19050">
            <a:solidFill>
              <a:schemeClr val="accent4"/>
            </a:solidFill>
            <a:prstDash val="solid"/>
          </a:ln>
        </p:spPr>
      </p:sp>
      <p:sp>
        <p:nvSpPr>
          <p:cNvPr id="18" name="Shape 15"/>
          <p:cNvSpPr/>
          <p:nvPr/>
        </p:nvSpPr>
        <p:spPr>
          <a:xfrm>
            <a:off x="5696712" y="4059936"/>
            <a:ext cx="128016" cy="128016"/>
          </a:xfrm>
          <a:prstGeom prst="ellipse">
            <a:avLst/>
          </a:prstGeom>
          <a:solidFill>
            <a:schemeClr val="accent2"/>
          </a:solidFill>
          <a:ln/>
        </p:spPr>
      </p:sp>
      <p:sp>
        <p:nvSpPr>
          <p:cNvPr id="19" name="Shape 16"/>
          <p:cNvSpPr/>
          <p:nvPr/>
        </p:nvSpPr>
        <p:spPr>
          <a:xfrm>
            <a:off x="5760720" y="4123944"/>
            <a:ext cx="1078992" cy="0"/>
          </a:xfrm>
          <a:prstGeom prst="line">
            <a:avLst/>
          </a:prstGeom>
          <a:noFill/>
          <a:ln w="22225">
            <a:solidFill>
              <a:schemeClr val="accent2"/>
            </a:solidFill>
            <a:prstDash val="solid"/>
            <a:tailEnd type="triangle"/>
          </a:ln>
        </p:spPr>
      </p:sp>
      <p:sp>
        <p:nvSpPr>
          <p:cNvPr id="20" name="Text 17"/>
          <p:cNvSpPr txBox="1"/>
          <p:nvPr/>
        </p:nvSpPr>
        <p:spPr>
          <a:xfrm>
            <a:off x="5888736" y="3547872"/>
            <a:ext cx="822960" cy="237744"/>
          </a:xfrm>
          <a:prstGeom prst="rect">
            <a:avLst/>
          </a:prstGeom>
          <a:noFill/>
          <a:ln/>
        </p:spPr>
        <p:txBody>
          <a:bodyPr wrap="square" lIns="0" tIns="0" rIns="0" bIns="0" rtlCol="0" anchor="t"/>
          <a:lstStyle/>
          <a:p>
            <a:pPr algn="ctr" indent="0" marL="0">
              <a:buNone/>
            </a:pPr>
            <a:r>
              <a:rPr lang="en-US" sz="1200" i="1" dirty="0">
                <a:solidFill>
                  <a:schemeClr val="tx2"/>
                </a:solidFill>
              </a:rPr>
              <a:t>next</a:t>
            </a:r>
            <a:endParaRPr lang="en-US" sz="1200" dirty="0"/>
          </a:p>
        </p:txBody>
      </p:sp>
      <p:sp>
        <p:nvSpPr>
          <p:cNvPr id="21" name="Node c"/>
          <p:cNvSpPr/>
          <p:nvPr/>
        </p:nvSpPr>
        <p:spPr>
          <a:xfrm>
            <a:off x="6858000" y="3840480"/>
            <a:ext cx="868680" cy="566928"/>
          </a:xfrm>
          <a:prstGeom prst="roundRect">
            <a:avLst>
              <a:gd name="adj" fmla="val 9677"/>
            </a:avLst>
          </a:prstGeom>
          <a:solidFill>
            <a:schemeClr val="accent4">
              <a:alpha val="14000"/>
            </a:schemeClr>
          </a:solidFill>
          <a:ln w="19050">
            <a:solidFill>
              <a:schemeClr val="accent4"/>
            </a:solidFill>
            <a:prstDash val="solid"/>
          </a:ln>
        </p:spPr>
      </p:sp>
      <p:sp>
        <p:nvSpPr>
          <p:cNvPr id="22" name="Text 19"/>
          <p:cNvSpPr txBox="1"/>
          <p:nvPr/>
        </p:nvSpPr>
        <p:spPr>
          <a:xfrm>
            <a:off x="6858000" y="3840480"/>
            <a:ext cx="86868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Consolas" pitchFamily="34" charset="0"/>
                <a:ea typeface="Consolas" pitchFamily="34" charset="-122"/>
                <a:cs typeface="Consolas" pitchFamily="34" charset="-120"/>
              </a:rPr>
              <a:t>c</a:t>
            </a:r>
            <a:endParaRPr lang="en-US" sz="1800" dirty="0"/>
          </a:p>
        </p:txBody>
      </p:sp>
      <p:sp>
        <p:nvSpPr>
          <p:cNvPr id="23" name="Next c"/>
          <p:cNvSpPr/>
          <p:nvPr/>
        </p:nvSpPr>
        <p:spPr>
          <a:xfrm>
            <a:off x="7726680" y="3840480"/>
            <a:ext cx="548640" cy="566928"/>
          </a:xfrm>
          <a:prstGeom prst="roundRect">
            <a:avLst>
              <a:gd name="adj" fmla="val 10000"/>
            </a:avLst>
          </a:prstGeom>
          <a:solidFill>
            <a:schemeClr val="bg1"/>
          </a:solidFill>
          <a:ln w="19050">
            <a:solidFill>
              <a:schemeClr val="accent4"/>
            </a:solidFill>
            <a:prstDash val="solid"/>
          </a:ln>
        </p:spPr>
      </p:sp>
      <p:sp>
        <p:nvSpPr>
          <p:cNvPr id="24" name="Shape 21"/>
          <p:cNvSpPr/>
          <p:nvPr/>
        </p:nvSpPr>
        <p:spPr>
          <a:xfrm>
            <a:off x="7936992" y="4059936"/>
            <a:ext cx="128016" cy="128016"/>
          </a:xfrm>
          <a:prstGeom prst="ellipse">
            <a:avLst/>
          </a:prstGeom>
          <a:solidFill>
            <a:schemeClr val="accent2"/>
          </a:solidFill>
          <a:ln/>
        </p:spPr>
      </p:sp>
      <p:sp>
        <p:nvSpPr>
          <p:cNvPr id="25" name="Shape 22"/>
          <p:cNvSpPr/>
          <p:nvPr/>
        </p:nvSpPr>
        <p:spPr>
          <a:xfrm>
            <a:off x="8001000" y="4123944"/>
            <a:ext cx="1078992" cy="0"/>
          </a:xfrm>
          <a:prstGeom prst="line">
            <a:avLst/>
          </a:prstGeom>
          <a:noFill/>
          <a:ln w="22225">
            <a:solidFill>
              <a:schemeClr val="accent2"/>
            </a:solidFill>
            <a:prstDash val="solid"/>
            <a:tailEnd type="triangle"/>
          </a:ln>
        </p:spPr>
      </p:sp>
      <p:sp>
        <p:nvSpPr>
          <p:cNvPr id="26" name="Text 23"/>
          <p:cNvSpPr txBox="1"/>
          <p:nvPr/>
        </p:nvSpPr>
        <p:spPr>
          <a:xfrm>
            <a:off x="8129016" y="3547872"/>
            <a:ext cx="822960" cy="237744"/>
          </a:xfrm>
          <a:prstGeom prst="rect">
            <a:avLst/>
          </a:prstGeom>
          <a:noFill/>
          <a:ln/>
        </p:spPr>
        <p:txBody>
          <a:bodyPr wrap="square" lIns="0" tIns="0" rIns="0" bIns="0" rtlCol="0" anchor="t"/>
          <a:lstStyle/>
          <a:p>
            <a:pPr algn="ctr" indent="0" marL="0">
              <a:buNone/>
            </a:pPr>
            <a:r>
              <a:rPr lang="en-US" sz="1200" i="1" dirty="0">
                <a:solidFill>
                  <a:schemeClr val="tx2"/>
                </a:solidFill>
              </a:rPr>
              <a:t>next</a:t>
            </a:r>
            <a:endParaRPr lang="en-US" sz="1200" dirty="0"/>
          </a:p>
        </p:txBody>
      </p:sp>
      <p:sp>
        <p:nvSpPr>
          <p:cNvPr id="27" name="Node d"/>
          <p:cNvSpPr/>
          <p:nvPr/>
        </p:nvSpPr>
        <p:spPr>
          <a:xfrm>
            <a:off x="9098280" y="3840480"/>
            <a:ext cx="868680" cy="566928"/>
          </a:xfrm>
          <a:prstGeom prst="roundRect">
            <a:avLst>
              <a:gd name="adj" fmla="val 9677"/>
            </a:avLst>
          </a:prstGeom>
          <a:solidFill>
            <a:schemeClr val="accent4">
              <a:alpha val="14000"/>
            </a:schemeClr>
          </a:solidFill>
          <a:ln w="19050">
            <a:solidFill>
              <a:schemeClr val="accent4"/>
            </a:solidFill>
            <a:prstDash val="solid"/>
          </a:ln>
        </p:spPr>
      </p:sp>
      <p:sp>
        <p:nvSpPr>
          <p:cNvPr id="28" name="Text 25"/>
          <p:cNvSpPr txBox="1"/>
          <p:nvPr/>
        </p:nvSpPr>
        <p:spPr>
          <a:xfrm>
            <a:off x="9098280" y="3840480"/>
            <a:ext cx="86868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Consolas" pitchFamily="34" charset="0"/>
                <a:ea typeface="Consolas" pitchFamily="34" charset="-122"/>
                <a:cs typeface="Consolas" pitchFamily="34" charset="-120"/>
              </a:rPr>
              <a:t>d</a:t>
            </a:r>
            <a:endParaRPr lang="en-US" sz="1800" dirty="0"/>
          </a:p>
        </p:txBody>
      </p:sp>
      <p:sp>
        <p:nvSpPr>
          <p:cNvPr id="29" name="Next d"/>
          <p:cNvSpPr/>
          <p:nvPr/>
        </p:nvSpPr>
        <p:spPr>
          <a:xfrm>
            <a:off x="9966960" y="3840480"/>
            <a:ext cx="685800" cy="566928"/>
          </a:xfrm>
          <a:prstGeom prst="roundRect">
            <a:avLst>
              <a:gd name="adj" fmla="val 9677"/>
            </a:avLst>
          </a:prstGeom>
          <a:solidFill>
            <a:schemeClr val="bg1"/>
          </a:solidFill>
          <a:ln w="19050">
            <a:solidFill>
              <a:schemeClr val="accent4"/>
            </a:solidFill>
            <a:prstDash val="solid"/>
          </a:ln>
        </p:spPr>
      </p:sp>
      <p:sp>
        <p:nvSpPr>
          <p:cNvPr id="30" name="Text 27"/>
          <p:cNvSpPr txBox="1"/>
          <p:nvPr/>
        </p:nvSpPr>
        <p:spPr>
          <a:xfrm>
            <a:off x="9966960" y="3840480"/>
            <a:ext cx="685800" cy="566928"/>
          </a:xfrm>
          <a:prstGeom prst="rect">
            <a:avLst/>
          </a:prstGeom>
          <a:noFill/>
          <a:ln/>
        </p:spPr>
        <p:txBody>
          <a:bodyPr wrap="square" lIns="0" tIns="0" rIns="0" bIns="0" rtlCol="0" anchor="ctr"/>
          <a:lstStyle/>
          <a:p>
            <a:pPr algn="ctr" indent="0" marL="0">
              <a:buNone/>
            </a:pPr>
            <a:r>
              <a:rPr lang="en-US" sz="1300" dirty="0">
                <a:solidFill>
                  <a:schemeClr val="tx2"/>
                </a:solidFill>
                <a:latin typeface="Consolas" pitchFamily="34" charset="0"/>
                <a:ea typeface="Consolas" pitchFamily="34" charset="-122"/>
                <a:cs typeface="Consolas" pitchFamily="34" charset="-120"/>
              </a:rPr>
              <a:t>null</a:t>
            </a:r>
            <a:endParaRPr lang="en-US" sz="1300" dirty="0"/>
          </a:p>
        </p:txBody>
      </p:sp>
      <p:sp>
        <p:nvSpPr>
          <p:cNvPr id="31" name="Text 28"/>
          <p:cNvSpPr txBox="1"/>
          <p:nvPr/>
        </p:nvSpPr>
        <p:spPr>
          <a:xfrm>
            <a:off x="2377440" y="4480560"/>
            <a:ext cx="868680" cy="256032"/>
          </a:xfrm>
          <a:prstGeom prst="rect">
            <a:avLst/>
          </a:prstGeom>
          <a:noFill/>
          <a:ln/>
        </p:spPr>
        <p:txBody>
          <a:bodyPr wrap="square" lIns="0" tIns="0" rIns="0" bIns="0" rtlCol="0" anchor="t"/>
          <a:lstStyle/>
          <a:p>
            <a:pPr algn="ctr" indent="0" marL="0">
              <a:buNone/>
            </a:pPr>
            <a:r>
              <a:rPr lang="en-US" sz="1300" i="1" dirty="0">
                <a:solidFill>
                  <a:schemeClr val="tx2"/>
                </a:solidFill>
              </a:rPr>
              <a:t>head</a:t>
            </a:r>
            <a:endParaRPr lang="en-US" sz="1300" dirty="0"/>
          </a:p>
        </p:txBody>
      </p:sp>
      <p:sp>
        <p:nvSpPr>
          <p:cNvPr id="32" name="Text 29"/>
          <p:cNvSpPr txBox="1"/>
          <p:nvPr/>
        </p:nvSpPr>
        <p:spPr>
          <a:xfrm>
            <a:off x="9098280" y="4480560"/>
            <a:ext cx="868680" cy="256032"/>
          </a:xfrm>
          <a:prstGeom prst="rect">
            <a:avLst/>
          </a:prstGeom>
          <a:noFill/>
          <a:ln/>
        </p:spPr>
        <p:txBody>
          <a:bodyPr wrap="square" lIns="0" tIns="0" rIns="0" bIns="0" rtlCol="0" anchor="t"/>
          <a:lstStyle/>
          <a:p>
            <a:pPr algn="ctr" indent="0" marL="0">
              <a:buNone/>
            </a:pPr>
            <a:r>
              <a:rPr lang="en-US" sz="1300" i="1" dirty="0">
                <a:solidFill>
                  <a:schemeClr val="tx2"/>
                </a:solidFill>
              </a:rPr>
              <a:t>tail</a:t>
            </a:r>
            <a:endParaRPr lang="en-US" sz="1300" dirty="0"/>
          </a:p>
        </p:txBody>
      </p:sp>
      <p:sp>
        <p:nvSpPr>
          <p:cNvPr id="33" name="Note"/>
          <p:cNvSpPr/>
          <p:nvPr/>
        </p:nvSpPr>
        <p:spPr>
          <a:xfrm>
            <a:off x="548640" y="5120640"/>
            <a:ext cx="11094415" cy="868680"/>
          </a:xfrm>
          <a:prstGeom prst="roundRect">
            <a:avLst>
              <a:gd name="adj" fmla="val 12632"/>
            </a:avLst>
          </a:prstGeom>
          <a:solidFill>
            <a:schemeClr val="bg2"/>
          </a:solidFill>
          <a:ln/>
        </p:spPr>
      </p:sp>
      <p:sp>
        <p:nvSpPr>
          <p:cNvPr id="34" name="Icon tile"/>
          <p:cNvSpPr/>
          <p:nvPr/>
        </p:nvSpPr>
        <p:spPr>
          <a:xfrm>
            <a:off x="822960" y="5289804"/>
            <a:ext cx="530352" cy="530352"/>
          </a:xfrm>
          <a:prstGeom prst="roundRect">
            <a:avLst>
              <a:gd name="adj" fmla="val 24000"/>
            </a:avLst>
          </a:prstGeom>
          <a:solidFill>
            <a:schemeClr val="accent2">
              <a:alpha val="14000"/>
            </a:schemeClr>
          </a:solidFill>
          <a:ln/>
        </p:spPr>
      </p:sp>
      <p:pic>
        <p:nvPicPr>
          <p:cNvPr id="35" name="Image 0" descr="arrows left right icon">    </p:cNvPr>
          <p:cNvPicPr>
            <a:picLocks noChangeAspect="1"/>
          </p:cNvPicPr>
          <p:nvPr/>
        </p:nvPicPr>
        <p:blipFill>
          <a:blip r:embed="rId1"/>
          <a:stretch>
            <a:fillRect/>
          </a:stretch>
        </p:blipFill>
        <p:spPr>
          <a:xfrm>
            <a:off x="934334" y="5401178"/>
            <a:ext cx="307604" cy="307604"/>
          </a:xfrm>
          <a:prstGeom prst="rect">
            <a:avLst/>
          </a:prstGeom>
        </p:spPr>
      </p:pic>
      <p:sp>
        <p:nvSpPr>
          <p:cNvPr id="36" name="Text 32"/>
          <p:cNvSpPr txBox="1"/>
          <p:nvPr/>
        </p:nvSpPr>
        <p:spPr>
          <a:xfrm>
            <a:off x="1572768" y="5120640"/>
            <a:ext cx="9814255" cy="868680"/>
          </a:xfrm>
          <a:prstGeom prst="rect">
            <a:avLst/>
          </a:prstGeom>
          <a:noFill/>
          <a:ln/>
        </p:spPr>
        <p:txBody>
          <a:bodyPr wrap="square" lIns="0" tIns="0" rIns="0" bIns="0" rtlCol="0" anchor="ctr"/>
          <a:lstStyle/>
          <a:p>
            <a:pPr algn="l" indent="0" marL="0">
              <a:buNone/>
            </a:pPr>
            <a:r>
              <a:rPr lang="en-US" sz="1500" dirty="0">
                <a:solidFill>
                  <a:schemeClr val="tx1"/>
                </a:solidFill>
              </a:rPr>
              <a:t>Java’s </a:t>
            </a:r>
            <a:r>
              <a:rPr lang="en-US" sz="1500" dirty="0">
                <a:solidFill>
                  <a:schemeClr val="accent2"/>
                </a:solidFill>
                <a:latin typeface="Consolas" pitchFamily="34" charset="0"/>
                <a:ea typeface="Consolas" pitchFamily="34" charset="-122"/>
                <a:cs typeface="Consolas" pitchFamily="34" charset="-120"/>
              </a:rPr>
              <a:t>LinkedList</a:t>
            </a:r>
            <a:r>
              <a:rPr lang="en-US" sz="1500" dirty="0">
                <a:solidFill>
                  <a:schemeClr val="tx1"/>
                </a:solidFill>
              </a:rPr>
              <a:t> also links each node back to the one before. It does have </a:t>
            </a:r>
            <a:r>
              <a:rPr lang="en-US" sz="1500" dirty="0">
                <a:solidFill>
                  <a:schemeClr val="accent2"/>
                </a:solidFill>
                <a:latin typeface="Consolas" pitchFamily="34" charset="0"/>
                <a:ea typeface="Consolas" pitchFamily="34" charset="-122"/>
                <a:cs typeface="Consolas" pitchFamily="34" charset="-120"/>
              </a:rPr>
              <a:t>get(i)</a:t>
            </a:r>
            <a:r>
              <a:rPr lang="en-US" sz="1500" dirty="0">
                <a:solidFill>
                  <a:schemeClr val="tx1"/>
                </a:solidFill>
              </a:rPr>
              <a:t>, but walks the links to get there.</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7</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LinkedList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In the linked list a → b → c → d, what does d’s next reference hold?</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link back to the head, a</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The index 3</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 empty node called the tail</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null</a:t>
            </a:r>
            <a:r>
              <a:rPr lang="en-US" sz="2000" dirty="0">
                <a:solidFill>
                  <a:schemeClr val="tx1"/>
                </a:solidFill>
              </a:rPr>
              <a:t>, as d is the last node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7</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LinkedList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In the linked list a → b → c → d, what does d’s next reference hold?</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A link back to the head, a</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The index 3</a:t>
            </a:r>
            <a:endParaRPr lang="en-US"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An empty node called the tail</a:t>
            </a:r>
            <a:endParaRPr lang="en-US"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4645152"/>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null</a:t>
            </a:r>
            <a:r>
              <a:rPr lang="en-US" sz="1700" b="1" dirty="0">
                <a:solidFill>
                  <a:schemeClr val="bg1"/>
                </a:solidFill>
              </a:rPr>
              <a:t>, as d is the last node</a:t>
            </a:r>
            <a:endParaRPr lang="en-US" sz="1700" dirty="0"/>
          </a:p>
        </p:txBody>
      </p:sp>
      <p:pic>
        <p:nvPicPr>
          <p:cNvPr id="17" name="Image 0"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d is the tail, the last real node. Nothing comes after it, so its next reference is </a:t>
            </a:r>
            <a:r>
              <a:rPr lang="en-US" sz="1800" dirty="0">
                <a:solidFill>
                  <a:schemeClr val="accent2"/>
                </a:solidFill>
                <a:latin typeface="Consolas" pitchFamily="34" charset="0"/>
                <a:ea typeface="Consolas" pitchFamily="34" charset="-122"/>
                <a:cs typeface="Consolas" pitchFamily="34" charset="-120"/>
              </a:rPr>
              <a:t>null</a:t>
            </a:r>
            <a:r>
              <a:rPr lang="en-US" sz="1800" dirty="0">
                <a:solidFill>
                  <a:schemeClr val="tx1"/>
                </a:solidFill>
              </a:rPr>
              <a:t>, and that’s how the list knows it has reached the end. The tail isn’t an extra empty node; it’s d itself.</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8</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LinkedList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In a one-way linked list, where each node only knows the next one, how does the list reach c in a → b → c → d?</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jumps straight to index 2</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starts at the head and follows the next links</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starts at the tail, d, and works back</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copies the list into an array first</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8</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LinkedList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In a one-way linked list, where each node only knows the next one, how does the list reach c in a → b → c → d?</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jumps straight to index 2</a:t>
            </a:r>
            <a:endParaRPr lang="en-US"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798064"/>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It starts at the head and follows the next links</a:t>
            </a:r>
            <a:endParaRPr lang="en-US" sz="1700" dirty="0"/>
          </a:p>
        </p:txBody>
      </p:sp>
      <p:pic>
        <p:nvPicPr>
          <p:cNvPr id="11" name="Image 0"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starts at the tail, d, and works back</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copies the list into an array first</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Each node only knows where the next one is, so the list starts at the head, a, and follows the links: a to b, then b to c. A node here can’t look back, so starting at d wouldn’t help. An ArrayList can jump straight to an index because its items sit in an array.</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LISTS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Array, ArrayList or LinkedList?</a:t>
            </a:r>
            <a:endParaRPr lang="en-US" sz="340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063240"/>
                <a:gridCol w="2423160"/>
                <a:gridCol w="2743200"/>
                <a:gridCol w="2864815"/>
              </a:tblGrid>
              <a:tr h="512064">
                <a:tc>
                  <a:txBody>
                    <a:bodyPr/>
                    <a:lstStyle/>
                    <a:p>
                      <a:pPr indent="0" marL="0">
                        <a:buNone/>
                      </a:pP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b="1" dirty="0">
                          <a:solidFill>
                            <a:srgbClr val="FFFFFF"/>
                          </a:solidFill>
                        </a:rPr>
                        <a:t>Array</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indent="0" marL="0">
                        <a:buNone/>
                      </a:pPr>
                      <a:r>
                        <a:rPr lang="en-US" sz="1500" b="1" dirty="0">
                          <a:solidFill>
                            <a:srgbClr val="FFFFFF"/>
                          </a:solidFill>
                        </a:rPr>
                        <a:t>ArrayList</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indent="0" marL="0">
                        <a:buNone/>
                      </a:pPr>
                      <a:r>
                        <a:rPr lang="en-US" sz="1500" b="1" dirty="0">
                          <a:solidFill>
                            <a:srgbClr val="FFFFFF"/>
                          </a:solidFill>
                        </a:rPr>
                        <a:t>LinkedList</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r>
              <a:tr h="530352">
                <a:tc>
                  <a:txBody>
                    <a:bodyPr/>
                    <a:lstStyle/>
                    <a:p>
                      <a:pPr indent="0" marL="0">
                        <a:buNone/>
                      </a:pPr>
                      <a:r>
                        <a:rPr lang="en-US" sz="1500" b="1" dirty="0">
                          <a:solidFill>
                            <a:srgbClr val="1D2433"/>
                          </a:solidFill>
                        </a:rPr>
                        <a:t>Size</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500" dirty="0">
                          <a:solidFill>
                            <a:srgbClr val="1D2433"/>
                          </a:solidFill>
                        </a:rPr>
                        <a:t>Fixed when it’s created</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Grows and shrinks</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Grows and shrinks</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D2433"/>
                          </a:solidFill>
                        </a:rPr>
                        <a:t>Get an item by index</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500" dirty="0">
                          <a:solidFill>
                            <a:srgbClr val="1D2433"/>
                          </a:solidFill>
                        </a:rPr>
                        <a:t>Quick</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Quick</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Slow: walks the links</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D2433"/>
                          </a:solidFill>
                        </a:rPr>
                        <a:t>Insert or delete in the middle</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500" dirty="0">
                          <a:solidFill>
                            <a:srgbClr val="1D2433"/>
                          </a:solidFill>
                        </a:rPr>
                        <a:t>Can’t: the size is fixed</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Slow: later items shift along</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Quick once it’s at the right node</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D2433"/>
                          </a:solidFill>
                        </a:rPr>
                        <a:t>Best when</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500" dirty="0">
                          <a:solidFill>
                            <a:srgbClr val="1D2433"/>
                          </a:solidFill>
                        </a:rPr>
                        <a:t>Nothing is inserted or deleted</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We mostly read by index and add at the end</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We insert and delete anywhere in the list</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bl>
          </a:graphicData>
        </a:graphic>
      </p:graphicFrame>
      <p:sp>
        <p:nvSpPr>
          <p:cNvPr id="6" name="Note"/>
          <p:cNvSpPr/>
          <p:nvPr/>
        </p:nvSpPr>
        <p:spPr>
          <a:xfrm>
            <a:off x="548640" y="4983480"/>
            <a:ext cx="11094415" cy="914400"/>
          </a:xfrm>
          <a:prstGeom prst="roundRect">
            <a:avLst>
              <a:gd name="adj" fmla="val 12000"/>
            </a:avLst>
          </a:prstGeom>
          <a:solidFill>
            <a:schemeClr val="bg2"/>
          </a:solidFill>
          <a:ln/>
        </p:spPr>
      </p:sp>
      <p:sp>
        <p:nvSpPr>
          <p:cNvPr id="7" name="Icon tile"/>
          <p:cNvSpPr/>
          <p:nvPr/>
        </p:nvSpPr>
        <p:spPr>
          <a:xfrm>
            <a:off x="822960" y="5175504"/>
            <a:ext cx="530352" cy="530352"/>
          </a:xfrm>
          <a:prstGeom prst="roundRect">
            <a:avLst>
              <a:gd name="adj" fmla="val 24000"/>
            </a:avLst>
          </a:prstGeom>
          <a:solidFill>
            <a:schemeClr val="accent2">
              <a:alpha val="14000"/>
            </a:schemeClr>
          </a:solidFill>
          <a:ln/>
        </p:spPr>
      </p:sp>
      <p:pic>
        <p:nvPicPr>
          <p:cNvPr id="8" name="Image 0" descr="signpost icon">    </p:cNvPr>
          <p:cNvPicPr>
            <a:picLocks noChangeAspect="1"/>
          </p:cNvPicPr>
          <p:nvPr/>
        </p:nvPicPr>
        <p:blipFill>
          <a:blip r:embed="rId1"/>
          <a:stretch>
            <a:fillRect/>
          </a:stretch>
        </p:blipFill>
        <p:spPr>
          <a:xfrm>
            <a:off x="934334" y="5286878"/>
            <a:ext cx="307604" cy="307604"/>
          </a:xfrm>
          <a:prstGeom prst="rect">
            <a:avLst/>
          </a:prstGeom>
        </p:spPr>
      </p:pic>
      <p:sp>
        <p:nvSpPr>
          <p:cNvPr id="9" name="Text 4"/>
          <p:cNvSpPr txBox="1"/>
          <p:nvPr/>
        </p:nvSpPr>
        <p:spPr>
          <a:xfrm>
            <a:off x="1572768" y="4983480"/>
            <a:ext cx="9814255" cy="914400"/>
          </a:xfrm>
          <a:prstGeom prst="rect">
            <a:avLst/>
          </a:prstGeom>
          <a:noFill/>
          <a:ln/>
        </p:spPr>
        <p:txBody>
          <a:bodyPr wrap="square" lIns="0" tIns="0" rIns="0" bIns="0" rtlCol="0" anchor="ctr"/>
          <a:lstStyle/>
          <a:p>
            <a:pPr algn="l" indent="0" marL="0">
              <a:buNone/>
            </a:pPr>
            <a:r>
              <a:rPr lang="en-US" sz="1600" dirty="0">
                <a:solidFill>
                  <a:schemeClr val="tx1"/>
                </a:solidFill>
              </a:rPr>
              <a:t>The lecture’s rule of thumb: </a:t>
            </a:r>
            <a:r>
              <a:rPr lang="en-US" sz="1600" dirty="0">
                <a:solidFill>
                  <a:schemeClr val="accent2"/>
                </a:solidFill>
                <a:latin typeface="Consolas" pitchFamily="34" charset="0"/>
                <a:ea typeface="Consolas" pitchFamily="34" charset="-122"/>
                <a:cs typeface="Consolas" pitchFamily="34" charset="-120"/>
              </a:rPr>
              <a:t>ArrayList</a:t>
            </a:r>
            <a:r>
              <a:rPr lang="en-US" sz="1600" dirty="0">
                <a:solidFill>
                  <a:schemeClr val="tx1"/>
                </a:solidFill>
              </a:rPr>
              <a:t> for access by index, </a:t>
            </a:r>
            <a:r>
              <a:rPr lang="en-US" sz="1600" dirty="0">
                <a:solidFill>
                  <a:schemeClr val="accent2"/>
                </a:solidFill>
                <a:latin typeface="Consolas" pitchFamily="34" charset="0"/>
                <a:ea typeface="Consolas" pitchFamily="34" charset="-122"/>
                <a:cs typeface="Consolas" pitchFamily="34" charset="-120"/>
              </a:rPr>
              <a:t>LinkedList</a:t>
            </a:r>
            <a:r>
              <a:rPr lang="en-US" sz="1600" dirty="0">
                <a:solidFill>
                  <a:schemeClr val="tx1"/>
                </a:solidFill>
              </a:rPr>
              <a:t> for inserting and deleting anywhere, and an array when nothing is inserted or deleted.</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9</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Choosing a list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A music app inserts and removes songs all over a playlist, and rarely looks one up by number. Which does the lecture suggest?</a:t>
            </a:r>
            <a:endParaRPr lang="en-US" sz="2800" dirty="0"/>
          </a:p>
        </p:txBody>
      </p:sp>
      <p:sp>
        <p:nvSpPr>
          <p:cNvPr id="5" name="Option A"/>
          <p:cNvSpPr/>
          <p:nvPr/>
        </p:nvSpPr>
        <p:spPr>
          <a:xfrm>
            <a:off x="548640" y="233172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48716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377440"/>
            <a:ext cx="9795967" cy="713232"/>
          </a:xfrm>
          <a:prstGeom prst="rect">
            <a:avLst/>
          </a:prstGeom>
          <a:noFill/>
          <a:ln/>
        </p:spPr>
        <p:txBody>
          <a:bodyPr wrap="square" lIns="0" tIns="0" rIns="0" bIns="0" rtlCol="0" anchor="ctr"/>
          <a:lstStyle/>
          <a:p>
            <a:pPr indent="0" marL="0">
              <a:buNone/>
            </a:pPr>
            <a:r>
              <a:rPr lang="en-US" sz="1900" dirty="0">
                <a:solidFill>
                  <a:schemeClr val="tx1"/>
                </a:solidFill>
              </a:rPr>
              <a:t>An array, as arrays are the fastest</a:t>
            </a:r>
            <a:endParaRPr lang="en-US" sz="1900" dirty="0"/>
          </a:p>
        </p:txBody>
      </p:sp>
      <p:sp>
        <p:nvSpPr>
          <p:cNvPr id="8" name="Option B"/>
          <p:cNvSpPr/>
          <p:nvPr/>
        </p:nvSpPr>
        <p:spPr>
          <a:xfrm>
            <a:off x="548640" y="331927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47472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364992"/>
            <a:ext cx="9795967" cy="713232"/>
          </a:xfrm>
          <a:prstGeom prst="rect">
            <a:avLst/>
          </a:prstGeom>
          <a:noFill/>
          <a:ln/>
        </p:spPr>
        <p:txBody>
          <a:bodyPr wrap="square" lIns="0" tIns="0" rIns="0" bIns="0" rtlCol="0" anchor="ctr"/>
          <a:lstStyle/>
          <a:p>
            <a:pPr indent="0" marL="0">
              <a:buNone/>
            </a:pPr>
            <a:r>
              <a:rPr lang="en-US" sz="1900" dirty="0">
                <a:solidFill>
                  <a:schemeClr val="tx1"/>
                </a:solidFill>
              </a:rPr>
              <a:t>An </a:t>
            </a:r>
            <a:r>
              <a:rPr lang="en-US" sz="1900" dirty="0">
                <a:solidFill>
                  <a:schemeClr val="accent2"/>
                </a:solidFill>
                <a:latin typeface="Consolas" pitchFamily="34" charset="0"/>
                <a:ea typeface="Consolas" pitchFamily="34" charset="-122"/>
                <a:cs typeface="Consolas" pitchFamily="34" charset="-120"/>
              </a:rPr>
              <a:t>ArrayList</a:t>
            </a:r>
            <a:r>
              <a:rPr lang="en-US" sz="1900" dirty="0">
                <a:solidFill>
                  <a:schemeClr val="tx1"/>
                </a:solidFill>
              </a:rPr>
              <a:t>, as it uses indexes</a:t>
            </a:r>
            <a:endParaRPr lang="en-US" sz="1900" dirty="0"/>
          </a:p>
        </p:txBody>
      </p:sp>
      <p:sp>
        <p:nvSpPr>
          <p:cNvPr id="11" name="Option C"/>
          <p:cNvSpPr/>
          <p:nvPr/>
        </p:nvSpPr>
        <p:spPr>
          <a:xfrm>
            <a:off x="548640" y="430682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622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352544"/>
            <a:ext cx="9795967" cy="713232"/>
          </a:xfrm>
          <a:prstGeom prst="rect">
            <a:avLst/>
          </a:prstGeom>
          <a:noFill/>
          <a:ln/>
        </p:spPr>
        <p:txBody>
          <a:bodyPr wrap="square" lIns="0" tIns="0" rIns="0" bIns="0" rtlCol="0" anchor="ctr"/>
          <a:lstStyle/>
          <a:p>
            <a:pPr indent="0" marL="0">
              <a:buNone/>
            </a:pPr>
            <a:r>
              <a:rPr lang="en-US" sz="1900" dirty="0">
                <a:solidFill>
                  <a:schemeClr val="tx1"/>
                </a:solidFill>
              </a:rPr>
              <a:t>A </a:t>
            </a:r>
            <a:r>
              <a:rPr lang="en-US" sz="1900" dirty="0">
                <a:solidFill>
                  <a:schemeClr val="accent2"/>
                </a:solidFill>
                <a:latin typeface="Consolas" pitchFamily="34" charset="0"/>
                <a:ea typeface="Consolas" pitchFamily="34" charset="-122"/>
                <a:cs typeface="Consolas" pitchFamily="34" charset="-120"/>
              </a:rPr>
              <a:t>Vector</a:t>
            </a:r>
            <a:r>
              <a:rPr lang="en-US" sz="1900" dirty="0">
                <a:solidFill>
                  <a:schemeClr val="tx1"/>
                </a:solidFill>
              </a:rPr>
              <a:t>, as it’s synchronized</a:t>
            </a:r>
            <a:endParaRPr lang="en-US" sz="1900" dirty="0"/>
          </a:p>
        </p:txBody>
      </p:sp>
      <p:sp>
        <p:nvSpPr>
          <p:cNvPr id="14" name="Option D"/>
          <p:cNvSpPr/>
          <p:nvPr/>
        </p:nvSpPr>
        <p:spPr>
          <a:xfrm>
            <a:off x="548640" y="529437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44982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340096"/>
            <a:ext cx="9795967" cy="713232"/>
          </a:xfrm>
          <a:prstGeom prst="rect">
            <a:avLst/>
          </a:prstGeom>
          <a:noFill/>
          <a:ln/>
        </p:spPr>
        <p:txBody>
          <a:bodyPr wrap="square" lIns="0" tIns="0" rIns="0" bIns="0" rtlCol="0" anchor="ctr"/>
          <a:lstStyle/>
          <a:p>
            <a:pPr indent="0" marL="0">
              <a:buNone/>
            </a:pPr>
            <a:r>
              <a:rPr lang="en-US" sz="1900" dirty="0">
                <a:solidFill>
                  <a:schemeClr val="tx1"/>
                </a:solidFill>
              </a:rPr>
              <a:t>A </a:t>
            </a:r>
            <a:r>
              <a:rPr lang="en-US" sz="1900" dirty="0">
                <a:solidFill>
                  <a:schemeClr val="accent2"/>
                </a:solidFill>
                <a:latin typeface="Consolas" pitchFamily="34" charset="0"/>
                <a:ea typeface="Consolas" pitchFamily="34" charset="-122"/>
                <a:cs typeface="Consolas" pitchFamily="34" charset="-120"/>
              </a:rPr>
              <a:t>LinkedList</a:t>
            </a:r>
            <a:r>
              <a:rPr lang="en-US" sz="1900" dirty="0">
                <a:solidFill>
                  <a:schemeClr val="tx1"/>
                </a:solidFill>
              </a:rPr>
              <a:t>, as it just changes links</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9</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Choosing a list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A music app inserts and removes songs all over a playlist, and rarely looks one up by number. Which does the lecture suggest?</a:t>
            </a:r>
            <a:endParaRPr lang="en-US"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US" sz="1700" dirty="0">
                <a:solidFill>
                  <a:schemeClr val="tx2"/>
                </a:solidFill>
              </a:rPr>
              <a:t>An array, as arrays are the fastest</a:t>
            </a:r>
            <a:endParaRPr lang="en-US"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US" sz="1700" dirty="0">
                <a:solidFill>
                  <a:schemeClr val="tx2"/>
                </a:solidFill>
              </a:rPr>
              <a:t>An </a:t>
            </a:r>
            <a:r>
              <a:rPr lang="en-US" sz="1700" dirty="0">
                <a:solidFill>
                  <a:schemeClr val="tx2"/>
                </a:solidFill>
                <a:latin typeface="Consolas" pitchFamily="34" charset="0"/>
                <a:ea typeface="Consolas" pitchFamily="34" charset="-122"/>
                <a:cs typeface="Consolas" pitchFamily="34" charset="-120"/>
              </a:rPr>
              <a:t>ArrayList</a:t>
            </a:r>
            <a:r>
              <a:rPr lang="en-US" sz="1700" dirty="0">
                <a:solidFill>
                  <a:schemeClr val="tx2"/>
                </a:solidFill>
              </a:rPr>
              <a:t>, as it uses indexes</a:t>
            </a:r>
            <a:endParaRPr lang="en-US"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rPr>
              <a:t>A </a:t>
            </a:r>
            <a:r>
              <a:rPr lang="en-US" sz="1700" dirty="0">
                <a:solidFill>
                  <a:schemeClr val="tx2"/>
                </a:solidFill>
                <a:latin typeface="Consolas" pitchFamily="34" charset="0"/>
                <a:ea typeface="Consolas" pitchFamily="34" charset="-122"/>
                <a:cs typeface="Consolas" pitchFamily="34" charset="-120"/>
              </a:rPr>
              <a:t>Vector</a:t>
            </a:r>
            <a:r>
              <a:rPr lang="en-US" sz="1700" dirty="0">
                <a:solidFill>
                  <a:schemeClr val="tx2"/>
                </a:solidFill>
              </a:rPr>
              <a:t>, as it’s synchronized</a:t>
            </a:r>
            <a:endParaRPr lang="en-US"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3941064"/>
            <a:ext cx="9704527" cy="585216"/>
          </a:xfrm>
          <a:prstGeom prst="rect">
            <a:avLst/>
          </a:prstGeom>
          <a:noFill/>
          <a:ln/>
        </p:spPr>
        <p:txBody>
          <a:bodyPr wrap="square" lIns="0" tIns="0" rIns="0" bIns="0" rtlCol="0" anchor="ctr"/>
          <a:lstStyle/>
          <a:p>
            <a:pPr indent="0" marL="0">
              <a:buNone/>
            </a:pPr>
            <a:r>
              <a:rPr lang="en-US" sz="1700" b="1" dirty="0">
                <a:solidFill>
                  <a:schemeClr val="bg1"/>
                </a:solidFill>
              </a:rPr>
              <a:t>A </a:t>
            </a:r>
            <a:r>
              <a:rPr lang="en-US" sz="1700" b="1" dirty="0">
                <a:solidFill>
                  <a:schemeClr val="bg1"/>
                </a:solidFill>
                <a:latin typeface="Consolas" pitchFamily="34" charset="0"/>
                <a:ea typeface="Consolas" pitchFamily="34" charset="-122"/>
                <a:cs typeface="Consolas" pitchFamily="34" charset="-120"/>
              </a:rPr>
              <a:t>LinkedList</a:t>
            </a:r>
            <a:r>
              <a:rPr lang="en-US" sz="1700" b="1" dirty="0">
                <a:solidFill>
                  <a:schemeClr val="bg1"/>
                </a:solidFill>
              </a:rPr>
              <a:t>, as it just changes links</a:t>
            </a:r>
            <a:endParaRPr lang="en-US" sz="1700" dirty="0"/>
          </a:p>
        </p:txBody>
      </p:sp>
      <p:pic>
        <p:nvPicPr>
          <p:cNvPr id="17" name="Image 0"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tx1"/>
                </a:solidFill>
              </a:rPr>
              <a:t>When a program inserts or deletes elements anywhere in the list, the lecture says to choose LinkedList. An ArrayList has to shift items along to open or close a gap, and an array can’t change its size at all.</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10</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Choosing a list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The 12 month names never change. Which is the best fit to store them?</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 array</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 </a:t>
            </a:r>
            <a:r>
              <a:rPr lang="en-US" sz="2000" dirty="0">
                <a:solidFill>
                  <a:schemeClr val="accent2"/>
                </a:solidFill>
                <a:latin typeface="Consolas" pitchFamily="34" charset="0"/>
                <a:ea typeface="Consolas" pitchFamily="34" charset="-122"/>
                <a:cs typeface="Consolas" pitchFamily="34" charset="-120"/>
              </a:rPr>
              <a:t>ArrayList</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a:t>
            </a:r>
            <a:r>
              <a:rPr lang="en-US" sz="2000" dirty="0">
                <a:solidFill>
                  <a:schemeClr val="accent2"/>
                </a:solidFill>
                <a:latin typeface="Consolas" pitchFamily="34" charset="0"/>
                <a:ea typeface="Consolas" pitchFamily="34" charset="-122"/>
                <a:cs typeface="Consolas" pitchFamily="34" charset="-120"/>
              </a:rPr>
              <a:t>LinkedList</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a:t>
            </a:r>
            <a:r>
              <a:rPr lang="en-US" sz="2000" dirty="0">
                <a:solidFill>
                  <a:schemeClr val="accent2"/>
                </a:solidFill>
                <a:latin typeface="Consolas" pitchFamily="34" charset="0"/>
                <a:ea typeface="Consolas" pitchFamily="34" charset="-122"/>
                <a:cs typeface="Consolas" pitchFamily="34" charset="-120"/>
              </a:rPr>
              <a:t>Vector</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10</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Choosing a list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The 12 month names never change. Which is the best fit to store them?</a:t>
            </a:r>
            <a:endParaRPr lang="en-US"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74520"/>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An array</a:t>
            </a:r>
            <a:endParaRPr lang="en-US" sz="1700" dirty="0"/>
          </a:p>
        </p:txBody>
      </p:sp>
      <p:pic>
        <p:nvPicPr>
          <p:cNvPr id="8" name="Image 0"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An </a:t>
            </a:r>
            <a:r>
              <a:rPr lang="en-US" sz="1700" dirty="0">
                <a:solidFill>
                  <a:schemeClr val="tx2"/>
                </a:solidFill>
                <a:latin typeface="Consolas" pitchFamily="34" charset="0"/>
                <a:ea typeface="Consolas" pitchFamily="34" charset="-122"/>
                <a:cs typeface="Consolas" pitchFamily="34" charset="-120"/>
              </a:rPr>
              <a:t>ArrayList</a:t>
            </a:r>
            <a:endParaRPr lang="en-US"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A </a:t>
            </a:r>
            <a:r>
              <a:rPr lang="en-US" sz="1700" dirty="0">
                <a:solidFill>
                  <a:schemeClr val="tx2"/>
                </a:solidFill>
                <a:latin typeface="Consolas" pitchFamily="34" charset="0"/>
                <a:ea typeface="Consolas" pitchFamily="34" charset="-122"/>
                <a:cs typeface="Consolas" pitchFamily="34" charset="-120"/>
              </a:rPr>
              <a:t>LinkedList</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A </a:t>
            </a:r>
            <a:r>
              <a:rPr lang="en-US" sz="1700" dirty="0">
                <a:solidFill>
                  <a:schemeClr val="tx2"/>
                </a:solidFill>
                <a:latin typeface="Consolas" pitchFamily="34" charset="0"/>
                <a:ea typeface="Consolas" pitchFamily="34" charset="-122"/>
                <a:cs typeface="Consolas" pitchFamily="34" charset="-120"/>
              </a:rPr>
              <a:t>Vector</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Nothing is ever inserted or deleted, and there are always 12 of them. The lecture says that when no insertion or deletion is needed, an array is the most efficient data structure.</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LISTS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Vector: a synchronized list</a:t>
            </a:r>
            <a:endParaRPr lang="en-US" sz="3400" dirty="0"/>
          </a:p>
        </p:txBody>
      </p:sp>
      <p:sp>
        <p:nvSpPr>
          <p:cNvPr id="5" name="ArrayList"/>
          <p:cNvSpPr/>
          <p:nvPr/>
        </p:nvSpPr>
        <p:spPr>
          <a:xfrm>
            <a:off x="548640" y="1691640"/>
            <a:ext cx="5387188" cy="3246120"/>
          </a:xfrm>
          <a:prstGeom prst="roundRect">
            <a:avLst>
              <a:gd name="adj" fmla="val 3380"/>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1965960"/>
            <a:ext cx="640080" cy="640080"/>
          </a:xfrm>
          <a:prstGeom prst="roundRect">
            <a:avLst>
              <a:gd name="adj" fmla="val 24000"/>
            </a:avLst>
          </a:prstGeom>
          <a:solidFill>
            <a:schemeClr val="accent4">
              <a:alpha val="14000"/>
            </a:schemeClr>
          </a:solidFill>
          <a:ln/>
        </p:spPr>
      </p:sp>
      <p:pic>
        <p:nvPicPr>
          <p:cNvPr id="7" name="Image 0" descr="rows icon">    </p:cNvPr>
          <p:cNvPicPr>
            <a:picLocks noChangeAspect="1"/>
          </p:cNvPicPr>
          <p:nvPr/>
        </p:nvPicPr>
        <p:blipFill>
          <a:blip r:embed="rId1"/>
          <a:stretch>
            <a:fillRect/>
          </a:stretch>
        </p:blipFill>
        <p:spPr>
          <a:xfrm>
            <a:off x="957377" y="2100377"/>
            <a:ext cx="371246" cy="371246"/>
          </a:xfrm>
          <a:prstGeom prst="rect">
            <a:avLst/>
          </a:prstGeom>
        </p:spPr>
      </p:pic>
      <p:sp>
        <p:nvSpPr>
          <p:cNvPr id="8" name="Text 4"/>
          <p:cNvSpPr txBox="1"/>
          <p:nvPr/>
        </p:nvSpPr>
        <p:spPr>
          <a:xfrm>
            <a:off x="1600200" y="1965960"/>
            <a:ext cx="4107028" cy="640080"/>
          </a:xfrm>
          <a:prstGeom prst="rect">
            <a:avLst/>
          </a:prstGeom>
          <a:noFill/>
          <a:ln/>
        </p:spPr>
        <p:txBody>
          <a:bodyPr wrap="square" lIns="0" tIns="0" rIns="0" bIns="0" rtlCol="0" anchor="ctr"/>
          <a:lstStyle/>
          <a:p>
            <a:pPr algn="l" indent="0" marL="0">
              <a:buNone/>
            </a:pPr>
            <a:r>
              <a:rPr lang="en-US" sz="2400" b="1" dirty="0">
                <a:solidFill>
                  <a:schemeClr val="accent4"/>
                </a:solidFill>
              </a:rPr>
              <a:t>ArrayList</a:t>
            </a:r>
            <a:endParaRPr lang="en-US" sz="2400" dirty="0"/>
          </a:p>
        </p:txBody>
      </p:sp>
      <p:sp>
        <p:nvSpPr>
          <p:cNvPr id="9" name="Text 5"/>
          <p:cNvSpPr txBox="1"/>
          <p:nvPr/>
        </p:nvSpPr>
        <p:spPr>
          <a:xfrm>
            <a:off x="868680" y="2880360"/>
            <a:ext cx="4747108" cy="17830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Grows and shrinks as needed</a:t>
            </a:r>
            <a:endParaRPr lang="en-US" sz="1600" dirty="0"/>
          </a:p>
          <a:p>
            <a:pPr marL="228600" indent="-228600">
              <a:spcAft>
                <a:spcPts val="1000"/>
              </a:spcAft>
              <a:buSzPct val="100000"/>
              <a:buChar char="•"/>
            </a:pPr>
            <a:r>
              <a:rPr lang="en-US" sz="1600" dirty="0">
                <a:solidFill>
                  <a:schemeClr val="tx1"/>
                </a:solidFill>
              </a:rPr>
              <a:t>Indexed like an array</a:t>
            </a:r>
            <a:endParaRPr lang="en-US" sz="1600" dirty="0"/>
          </a:p>
          <a:p>
            <a:pPr marL="228600" indent="-228600">
              <a:spcAft>
                <a:spcPts val="1000"/>
              </a:spcAft>
              <a:buSzPct val="100000"/>
              <a:buChar char="•"/>
            </a:pPr>
            <a:r>
              <a:rPr lang="en-US" sz="1600" dirty="0">
                <a:solidFill>
                  <a:schemeClr val="tx1"/>
                </a:solidFill>
              </a:rPr>
              <a:t>Not synchronized: two threads could change it at the same time</a:t>
            </a:r>
            <a:endParaRPr lang="en-US" sz="1600" dirty="0"/>
          </a:p>
          <a:p>
            <a:pPr marL="228600" indent="-228600">
              <a:buSzPct val="100000"/>
              <a:buChar char="•"/>
            </a:pPr>
            <a:r>
              <a:rPr lang="en-US" sz="1600" dirty="0">
                <a:solidFill>
                  <a:schemeClr val="tx1"/>
                </a:solidFill>
              </a:rPr>
              <a:t>Fine when only one thread uses the list</a:t>
            </a:r>
            <a:endParaRPr lang="en-US" sz="1600" dirty="0"/>
          </a:p>
        </p:txBody>
      </p:sp>
      <p:sp>
        <p:nvSpPr>
          <p:cNvPr id="10" name="Vector"/>
          <p:cNvSpPr/>
          <p:nvPr/>
        </p:nvSpPr>
        <p:spPr>
          <a:xfrm>
            <a:off x="6255868" y="1691640"/>
            <a:ext cx="5387188" cy="3246120"/>
          </a:xfrm>
          <a:prstGeom prst="roundRect">
            <a:avLst>
              <a:gd name="adj" fmla="val 3380"/>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6530188" y="1965960"/>
            <a:ext cx="640080" cy="640080"/>
          </a:xfrm>
          <a:prstGeom prst="roundRect">
            <a:avLst>
              <a:gd name="adj" fmla="val 24000"/>
            </a:avLst>
          </a:prstGeom>
          <a:solidFill>
            <a:schemeClr val="accent5">
              <a:alpha val="14000"/>
            </a:schemeClr>
          </a:solidFill>
          <a:ln/>
        </p:spPr>
      </p:sp>
      <p:pic>
        <p:nvPicPr>
          <p:cNvPr id="12" name="Image 1" descr="lock key icon">    </p:cNvPr>
          <p:cNvPicPr>
            <a:picLocks noChangeAspect="1"/>
          </p:cNvPicPr>
          <p:nvPr/>
        </p:nvPicPr>
        <p:blipFill>
          <a:blip r:embed="rId2"/>
          <a:stretch>
            <a:fillRect/>
          </a:stretch>
        </p:blipFill>
        <p:spPr>
          <a:xfrm>
            <a:off x="6664604" y="2100377"/>
            <a:ext cx="371246" cy="371246"/>
          </a:xfrm>
          <a:prstGeom prst="rect">
            <a:avLst/>
          </a:prstGeom>
        </p:spPr>
      </p:pic>
      <p:sp>
        <p:nvSpPr>
          <p:cNvPr id="13" name="Text 8"/>
          <p:cNvSpPr txBox="1"/>
          <p:nvPr/>
        </p:nvSpPr>
        <p:spPr>
          <a:xfrm>
            <a:off x="7307428" y="1965960"/>
            <a:ext cx="4107028" cy="640080"/>
          </a:xfrm>
          <a:prstGeom prst="rect">
            <a:avLst/>
          </a:prstGeom>
          <a:noFill/>
          <a:ln/>
        </p:spPr>
        <p:txBody>
          <a:bodyPr wrap="square" lIns="0" tIns="0" rIns="0" bIns="0" rtlCol="0" anchor="ctr"/>
          <a:lstStyle/>
          <a:p>
            <a:pPr algn="l" indent="0" marL="0">
              <a:buNone/>
            </a:pPr>
            <a:r>
              <a:rPr lang="en-US" sz="2400" b="1" dirty="0">
                <a:solidFill>
                  <a:schemeClr val="accent5"/>
                </a:solidFill>
              </a:rPr>
              <a:t>Vector</a:t>
            </a:r>
            <a:endParaRPr lang="en-US" sz="2400" dirty="0"/>
          </a:p>
        </p:txBody>
      </p:sp>
      <p:sp>
        <p:nvSpPr>
          <p:cNvPr id="14" name="Text 9"/>
          <p:cNvSpPr txBox="1"/>
          <p:nvPr/>
        </p:nvSpPr>
        <p:spPr>
          <a:xfrm>
            <a:off x="6575908" y="2880360"/>
            <a:ext cx="4747108" cy="17830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Grows and shrinks as needed</a:t>
            </a:r>
            <a:endParaRPr lang="en-US" sz="1600" dirty="0"/>
          </a:p>
          <a:p>
            <a:pPr marL="228600" indent="-228600">
              <a:spcAft>
                <a:spcPts val="1000"/>
              </a:spcAft>
              <a:buSzPct val="100000"/>
              <a:buChar char="•"/>
            </a:pPr>
            <a:r>
              <a:rPr lang="en-US" sz="1600" dirty="0">
                <a:solidFill>
                  <a:schemeClr val="tx1"/>
                </a:solidFill>
              </a:rPr>
              <a:t>Indexed like an array</a:t>
            </a:r>
            <a:endParaRPr lang="en-US" sz="1600" dirty="0"/>
          </a:p>
          <a:p>
            <a:pPr marL="228600" indent="-228600">
              <a:spcAft>
                <a:spcPts val="1000"/>
              </a:spcAft>
              <a:buSzPct val="100000"/>
              <a:buChar char="•"/>
            </a:pPr>
            <a:r>
              <a:rPr lang="en-US" sz="1600" dirty="0">
                <a:solidFill>
                  <a:schemeClr val="tx1"/>
                </a:solidFill>
              </a:rPr>
              <a:t>Synchronized: only one thread can use it at a time</a:t>
            </a:r>
            <a:endParaRPr lang="en-US" sz="1600" dirty="0"/>
          </a:p>
          <a:p>
            <a:pPr marL="228600" indent="-228600">
              <a:buSzPct val="100000"/>
              <a:buChar char="•"/>
            </a:pPr>
            <a:r>
              <a:rPr lang="en-US" sz="1600" dirty="0">
                <a:solidFill>
                  <a:schemeClr val="tx1"/>
                </a:solidFill>
              </a:rPr>
              <a:t>The lecture’s choice when several threads share a list</a:t>
            </a:r>
            <a:endParaRPr lang="en-US" sz="1600" dirty="0"/>
          </a:p>
        </p:txBody>
      </p:sp>
      <p:sp>
        <p:nvSpPr>
          <p:cNvPr id="15" name="Note"/>
          <p:cNvSpPr/>
          <p:nvPr/>
        </p:nvSpPr>
        <p:spPr>
          <a:xfrm>
            <a:off x="548640" y="5212080"/>
            <a:ext cx="11094415" cy="822960"/>
          </a:xfrm>
          <a:prstGeom prst="roundRect">
            <a:avLst>
              <a:gd name="adj" fmla="val 13333"/>
            </a:avLst>
          </a:prstGeom>
          <a:solidFill>
            <a:schemeClr val="bg2"/>
          </a:solidFill>
          <a:ln/>
        </p:spPr>
      </p:sp>
      <p:sp>
        <p:nvSpPr>
          <p:cNvPr id="16" name="Icon tile"/>
          <p:cNvSpPr/>
          <p:nvPr/>
        </p:nvSpPr>
        <p:spPr>
          <a:xfrm>
            <a:off x="822960" y="5358384"/>
            <a:ext cx="530352" cy="530352"/>
          </a:xfrm>
          <a:prstGeom prst="roundRect">
            <a:avLst>
              <a:gd name="adj" fmla="val 24000"/>
            </a:avLst>
          </a:prstGeom>
          <a:solidFill>
            <a:schemeClr val="accent5">
              <a:alpha val="14000"/>
            </a:schemeClr>
          </a:solidFill>
          <a:ln/>
        </p:spPr>
      </p:sp>
      <p:pic>
        <p:nvPicPr>
          <p:cNvPr id="17" name="Image 2" descr="stack icon">    </p:cNvPr>
          <p:cNvPicPr>
            <a:picLocks noChangeAspect="1"/>
          </p:cNvPicPr>
          <p:nvPr/>
        </p:nvPicPr>
        <p:blipFill>
          <a:blip r:embed="rId3"/>
          <a:stretch>
            <a:fillRect/>
          </a:stretch>
        </p:blipFill>
        <p:spPr>
          <a:xfrm>
            <a:off x="934334" y="5469758"/>
            <a:ext cx="307604" cy="307604"/>
          </a:xfrm>
          <a:prstGeom prst="rect">
            <a:avLst/>
          </a:prstGeom>
        </p:spPr>
      </p:pic>
      <p:sp>
        <p:nvSpPr>
          <p:cNvPr id="18" name="Text 12"/>
          <p:cNvSpPr txBox="1"/>
          <p:nvPr/>
        </p:nvSpPr>
        <p:spPr>
          <a:xfrm>
            <a:off x="1572768" y="5212080"/>
            <a:ext cx="9814255" cy="822960"/>
          </a:xfrm>
          <a:prstGeom prst="rect">
            <a:avLst/>
          </a:prstGeom>
          <a:noFill/>
          <a:ln/>
        </p:spPr>
        <p:txBody>
          <a:bodyPr wrap="square" lIns="0" tIns="0" rIns="0" bIns="0" rtlCol="0" anchor="ctr"/>
          <a:lstStyle/>
          <a:p>
            <a:pPr algn="l" indent="0" marL="0">
              <a:buNone/>
            </a:pPr>
            <a:r>
              <a:rPr lang="en-US" sz="1600" dirty="0">
                <a:solidFill>
                  <a:schemeClr val="tx1"/>
                </a:solidFill>
              </a:rPr>
              <a:t>Java’s </a:t>
            </a:r>
            <a:r>
              <a:rPr lang="en-US" sz="1600" dirty="0">
                <a:solidFill>
                  <a:schemeClr val="accent2"/>
                </a:solidFill>
                <a:latin typeface="Consolas" pitchFamily="34" charset="0"/>
                <a:ea typeface="Consolas" pitchFamily="34" charset="-122"/>
                <a:cs typeface="Consolas" pitchFamily="34" charset="-120"/>
              </a:rPr>
              <a:t>Stack</a:t>
            </a:r>
            <a:r>
              <a:rPr lang="en-US" sz="1600" dirty="0">
                <a:solidFill>
                  <a:schemeClr val="tx1"/>
                </a:solidFill>
              </a:rPr>
              <a:t> class is a subclass of </a:t>
            </a:r>
            <a:r>
              <a:rPr lang="en-US" sz="1600" dirty="0">
                <a:solidFill>
                  <a:schemeClr val="accent2"/>
                </a:solidFill>
                <a:latin typeface="Consolas" pitchFamily="34" charset="0"/>
                <a:ea typeface="Consolas" pitchFamily="34" charset="-122"/>
                <a:cs typeface="Consolas" pitchFamily="34" charset="-120"/>
              </a:rPr>
              <a:t>Vector</a:t>
            </a:r>
            <a:r>
              <a:rPr lang="en-US" sz="1600" dirty="0">
                <a:solidFill>
                  <a:schemeClr val="tx1"/>
                </a:solidFill>
              </a:rPr>
              <a:t>, so a stack can change its size and still keep its indexes.</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11</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Vector</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is the main difference between a </a:t>
            </a:r>
            <a:r>
              <a:rPr lang="en-US" sz="2800" b="1" dirty="0">
                <a:solidFill>
                  <a:schemeClr val="accent2"/>
                </a:solidFill>
                <a:latin typeface="Consolas" pitchFamily="34" charset="0"/>
                <a:ea typeface="Consolas" pitchFamily="34" charset="-122"/>
                <a:cs typeface="Consolas" pitchFamily="34" charset="-120"/>
              </a:rPr>
              <a:t>Vector</a:t>
            </a:r>
            <a:r>
              <a:rPr lang="en-US" sz="2800" b="1" dirty="0">
                <a:solidFill>
                  <a:schemeClr val="tx1"/>
                </a:solidFill>
              </a:rPr>
              <a:t> and an </a:t>
            </a:r>
            <a:r>
              <a:rPr lang="en-US" sz="2800" b="1" dirty="0">
                <a:solidFill>
                  <a:schemeClr val="accent2"/>
                </a:solidFill>
                <a:latin typeface="Consolas" pitchFamily="34" charset="0"/>
                <a:ea typeface="Consolas" pitchFamily="34" charset="-122"/>
                <a:cs typeface="Consolas" pitchFamily="34" charset="-120"/>
              </a:rPr>
              <a:t>ArrayList</a:t>
            </a:r>
            <a:r>
              <a:rPr lang="en-US" sz="2800" b="1" dirty="0">
                <a:solidFill>
                  <a:schemeClr val="tx1"/>
                </a:solidFill>
              </a:rPr>
              <a:t>?</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Only a Vector can grow</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Vector is synchronized</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Only an ArrayList uses indexes</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Vector can’t hold objects</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11</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Vector</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is the main difference between a </a:t>
            </a:r>
            <a:r>
              <a:rPr lang="en-US" sz="2000" b="1" dirty="0">
                <a:solidFill>
                  <a:schemeClr val="tx2"/>
                </a:solidFill>
                <a:latin typeface="Consolas" pitchFamily="34" charset="0"/>
                <a:ea typeface="Consolas" pitchFamily="34" charset="-122"/>
                <a:cs typeface="Consolas" pitchFamily="34" charset="-120"/>
              </a:rPr>
              <a:t>Vector</a:t>
            </a:r>
            <a:r>
              <a:rPr lang="en-US" sz="2000" b="1" dirty="0">
                <a:solidFill>
                  <a:schemeClr val="tx2"/>
                </a:solidFill>
              </a:rPr>
              <a:t> and an </a:t>
            </a:r>
            <a:r>
              <a:rPr lang="en-US" sz="2000" b="1" dirty="0">
                <a:solidFill>
                  <a:schemeClr val="tx2"/>
                </a:solidFill>
                <a:latin typeface="Consolas" pitchFamily="34" charset="0"/>
                <a:ea typeface="Consolas" pitchFamily="34" charset="-122"/>
                <a:cs typeface="Consolas" pitchFamily="34" charset="-120"/>
              </a:rPr>
              <a:t>ArrayList</a:t>
            </a:r>
            <a:r>
              <a:rPr lang="en-US" sz="2000" b="1" dirty="0">
                <a:solidFill>
                  <a:schemeClr val="tx2"/>
                </a:solidFill>
              </a:rPr>
              <a:t>?</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Only a Vector can grow</a:t>
            </a:r>
            <a:endParaRPr lang="en-US"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798064"/>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A Vector is synchronized</a:t>
            </a:r>
            <a:endParaRPr lang="en-US" sz="1700" dirty="0"/>
          </a:p>
        </p:txBody>
      </p:sp>
      <p:pic>
        <p:nvPicPr>
          <p:cNvPr id="11" name="Image 0"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Only an ArrayList uses indexes</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A Vector can’t hold objects</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Both grow and shrink, and both are indexed like an array. A Vector is synchronized, so when several threads share it, only one can use it at a time. An ArrayList isn’t synchronized.</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03</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Generics</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Telling a collection what type it holds</a:t>
            </a:r>
            <a:endParaRPr lang="en-US" sz="2000" dirty="0"/>
          </a:p>
        </p:txBody>
      </p:sp>
      <p:sp>
        <p:nvSpPr>
          <p:cNvPr id="5" name="Topic chip"/>
          <p:cNvSpPr/>
          <p:nvPr/>
        </p:nvSpPr>
        <p:spPr>
          <a:xfrm>
            <a:off x="822960" y="4846320"/>
            <a:ext cx="1974693"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ArrayList&lt;String&gt;</a:t>
            </a:r>
            <a:endParaRPr lang="en-US" sz="1400" dirty="0"/>
          </a:p>
        </p:txBody>
      </p:sp>
      <p:sp>
        <p:nvSpPr>
          <p:cNvPr id="6" name="Topic chip"/>
          <p:cNvSpPr/>
          <p:nvPr/>
        </p:nvSpPr>
        <p:spPr>
          <a:xfrm>
            <a:off x="2943957" y="4846320"/>
            <a:ext cx="1974693"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ArrayList methods</a:t>
            </a:r>
            <a:endParaRPr lang="en-US" sz="1400" dirty="0"/>
          </a:p>
        </p:txBody>
      </p:sp>
      <p:sp>
        <p:nvSpPr>
          <p:cNvPr id="7" name="Topic chip"/>
          <p:cNvSpPr/>
          <p:nvPr/>
        </p:nvSpPr>
        <p:spPr>
          <a:xfrm>
            <a:off x="5064953" y="4846320"/>
            <a:ext cx="1789709"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Type parameters</a:t>
            </a:r>
            <a:endParaRPr lang="en-US" sz="1400" dirty="0"/>
          </a:p>
        </p:txBody>
      </p:sp>
      <p:pic>
        <p:nvPicPr>
          <p:cNvPr id="8"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GENERICS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Generics: say the type when you use the class</a:t>
            </a:r>
            <a:endParaRPr lang="en-US" sz="3400" dirty="0"/>
          </a:p>
        </p:txBody>
      </p:sp>
      <p:sp>
        <p:nvSpPr>
          <p:cNvPr id="5" name="Text 2"/>
          <p:cNvSpPr txBox="1"/>
          <p:nvPr/>
        </p:nvSpPr>
        <p:spPr>
          <a:xfrm>
            <a:off x="548640" y="1783080"/>
            <a:ext cx="5029200" cy="429768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Generics let us say which type of element a class works with when we use it.</a:t>
            </a:r>
            <a:endParaRPr lang="en-US" sz="1700" dirty="0"/>
          </a:p>
          <a:p>
            <a:pPr marL="228600" indent="-228600">
              <a:spcAft>
                <a:spcPts val="1000"/>
              </a:spcAft>
              <a:buSzPct val="100000"/>
              <a:buChar char="•"/>
            </a:pPr>
            <a:r>
              <a:rPr lang="en-US" sz="1700" dirty="0">
                <a:solidFill>
                  <a:schemeClr val="tx1"/>
                </a:solidFill>
              </a:rPr>
              <a:t>Arrays already work like this: </a:t>
            </a:r>
            <a:r>
              <a:rPr lang="en-US" sz="1700" dirty="0">
                <a:solidFill>
                  <a:schemeClr val="accent2"/>
                </a:solidFill>
                <a:latin typeface="Consolas" pitchFamily="34" charset="0"/>
                <a:ea typeface="Consolas" pitchFamily="34" charset="-122"/>
                <a:cs typeface="Consolas" pitchFamily="34" charset="-120"/>
              </a:rPr>
              <a:t>int[]</a:t>
            </a:r>
            <a:r>
              <a:rPr lang="en-US" sz="1700" dirty="0">
                <a:solidFill>
                  <a:schemeClr val="tx1"/>
                </a:solidFill>
              </a:rPr>
              <a:t> holds ints and </a:t>
            </a:r>
            <a:r>
              <a:rPr lang="en-US" sz="1700" dirty="0">
                <a:solidFill>
                  <a:schemeClr val="accent2"/>
                </a:solidFill>
                <a:latin typeface="Consolas" pitchFamily="34" charset="0"/>
                <a:ea typeface="Consolas" pitchFamily="34" charset="-122"/>
                <a:cs typeface="Consolas" pitchFamily="34" charset="-120"/>
              </a:rPr>
              <a:t>String[]</a:t>
            </a:r>
            <a:r>
              <a:rPr lang="en-US" sz="1700" dirty="0">
                <a:solidFill>
                  <a:schemeClr val="tx1"/>
                </a:solidFill>
              </a:rPr>
              <a:t> holds Strings, with no separate array class for each.</a:t>
            </a:r>
            <a:endParaRPr lang="en-US" sz="1700" dirty="0"/>
          </a:p>
          <a:p>
            <a:pPr marL="228600" indent="-228600">
              <a:spcAft>
                <a:spcPts val="1000"/>
              </a:spcAft>
              <a:buSzPct val="100000"/>
              <a:buChar char="•"/>
            </a:pPr>
            <a:r>
              <a:rPr lang="en-US" sz="1700" dirty="0">
                <a:solidFill>
                  <a:schemeClr val="tx1"/>
                </a:solidFill>
              </a:rPr>
              <a:t>For a generic class, the type goes in angle brackets: </a:t>
            </a:r>
            <a:r>
              <a:rPr lang="en-US" sz="1700" dirty="0">
                <a:solidFill>
                  <a:schemeClr val="accent2"/>
                </a:solidFill>
                <a:latin typeface="Consolas" pitchFamily="34" charset="0"/>
                <a:ea typeface="Consolas" pitchFamily="34" charset="-122"/>
                <a:cs typeface="Consolas" pitchFamily="34" charset="-120"/>
              </a:rPr>
              <a:t>ArrayList&lt;String&gt;</a:t>
            </a:r>
            <a:r>
              <a:rPr lang="en-US" sz="1700" dirty="0">
                <a:solidFill>
                  <a:schemeClr val="tx1"/>
                </a:solidFill>
              </a:rPr>
              <a:t>, </a:t>
            </a:r>
            <a:r>
              <a:rPr lang="en-US" sz="1700" dirty="0">
                <a:solidFill>
                  <a:schemeClr val="accent2"/>
                </a:solidFill>
                <a:latin typeface="Consolas" pitchFamily="34" charset="0"/>
                <a:ea typeface="Consolas" pitchFamily="34" charset="-122"/>
                <a:cs typeface="Consolas" pitchFamily="34" charset="-120"/>
              </a:rPr>
              <a:t>ArrayList&lt;Integer&gt;</a:t>
            </a:r>
            <a:r>
              <a:rPr lang="en-US" sz="1700" dirty="0">
                <a:solidFill>
                  <a:schemeClr val="tx1"/>
                </a:solidFill>
              </a:rPr>
              <a:t>, </a:t>
            </a:r>
            <a:r>
              <a:rPr lang="en-US" sz="1700" dirty="0">
                <a:solidFill>
                  <a:schemeClr val="accent2"/>
                </a:solidFill>
                <a:latin typeface="Consolas" pitchFamily="34" charset="0"/>
                <a:ea typeface="Consolas" pitchFamily="34" charset="-122"/>
                <a:cs typeface="Consolas" pitchFamily="34" charset="-120"/>
              </a:rPr>
              <a:t>ArrayList&lt;Student&gt;</a:t>
            </a:r>
            <a:r>
              <a:rPr lang="en-US" sz="1700" dirty="0">
                <a:solidFill>
                  <a:schemeClr val="tx1"/>
                </a:solidFill>
              </a:rPr>
              <a:t>.</a:t>
            </a:r>
            <a:endParaRPr lang="en-US" sz="1700" dirty="0"/>
          </a:p>
          <a:p>
            <a:pPr marL="228600" indent="-228600">
              <a:buSzPct val="100000"/>
              <a:buChar char="•"/>
            </a:pPr>
            <a:r>
              <a:rPr lang="en-US" sz="1700" dirty="0">
                <a:solidFill>
                  <a:schemeClr val="tx1"/>
                </a:solidFill>
              </a:rPr>
              <a:t>The compiler then checks everything we add.</a:t>
            </a:r>
            <a:endParaRPr lang="en-US" sz="1700" dirty="0"/>
          </a:p>
        </p:txBody>
      </p:sp>
      <p:sp>
        <p:nvSpPr>
          <p:cNvPr id="6" name="Generics card"/>
          <p:cNvSpPr/>
          <p:nvPr/>
        </p:nvSpPr>
        <p:spPr>
          <a:xfrm>
            <a:off x="5852160" y="1691640"/>
            <a:ext cx="5790895" cy="2426208"/>
          </a:xfrm>
          <a:prstGeom prst="roundRect">
            <a:avLst>
              <a:gd name="adj" fmla="val 4523"/>
            </a:avLst>
          </a:prstGeom>
          <a:solidFill>
            <a:schemeClr val="tx1"/>
          </a:solidFill>
          <a:ln/>
          <a:effectLst>
            <a:outerShdw sx="100000" sy="100000" kx="0" ky="0" algn="bl" rotWithShape="0" blurRad="114300" dist="31750" dir="5400000">
              <a:srgbClr val="1D2433">
                <a:alpha val="12000"/>
              </a:srgbClr>
            </a:outerShdw>
          </a:effectLst>
        </p:spPr>
      </p:sp>
      <p:sp>
        <p:nvSpPr>
          <p:cNvPr id="7" name="Generics label"/>
          <p:cNvSpPr txBox="1"/>
          <p:nvPr/>
        </p:nvSpPr>
        <p:spPr>
          <a:xfrm>
            <a:off x="6126480" y="1810512"/>
            <a:ext cx="524225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8" name="Generics text"/>
          <p:cNvSpPr txBox="1"/>
          <p:nvPr/>
        </p:nvSpPr>
        <p:spPr>
          <a:xfrm>
            <a:off x="6126480" y="2185416"/>
            <a:ext cx="5242255" cy="1731264"/>
          </a:xfrm>
          <a:prstGeom prst="rect">
            <a:avLst/>
          </a:prstGeom>
          <a:noFill/>
          <a:ln/>
        </p:spPr>
        <p:txBody>
          <a:bodyPr wrap="square" lIns="0" tIns="0" rIns="0" bIns="0" rtlCol="0" anchor="t"/>
          <a:lstStyle/>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ArrayList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&gt; words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6CC4E8"/>
                </a:solidFill>
                <a:latin typeface="Consolas" pitchFamily="34" charset="0"/>
                <a:ea typeface="Consolas" pitchFamily="34" charset="-122"/>
                <a:cs typeface="Consolas" pitchFamily="34" charset="-120"/>
              </a:rPr>
              <a:t>ArrayList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&gt;();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ArrayList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Integer</a:t>
            </a:r>
            <a:r>
              <a:rPr lang="en-US" sz="1250" dirty="0">
                <a:solidFill>
                  <a:srgbClr val="E6EBF2"/>
                </a:solidFill>
                <a:latin typeface="Consolas" pitchFamily="34" charset="0"/>
                <a:ea typeface="Consolas" pitchFamily="34" charset="-122"/>
                <a:cs typeface="Consolas" pitchFamily="34" charset="-120"/>
              </a:rPr>
              <a:t>&gt; numbers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6CC4E8"/>
                </a:solidFill>
                <a:latin typeface="Consolas" pitchFamily="34" charset="0"/>
                <a:ea typeface="Consolas" pitchFamily="34" charset="-122"/>
                <a:cs typeface="Consolas" pitchFamily="34" charset="-120"/>
              </a:rPr>
              <a:t>ArrayList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Integer</a:t>
            </a:r>
            <a:r>
              <a:rPr lang="en-US" sz="1250" dirty="0">
                <a:solidFill>
                  <a:srgbClr val="E6EBF2"/>
                </a:solidFill>
                <a:latin typeface="Consolas" pitchFamily="34" charset="0"/>
                <a:ea typeface="Consolas" pitchFamily="34" charset="-122"/>
                <a:cs typeface="Consolas" pitchFamily="34" charset="-120"/>
              </a:rPr>
              <a:t>&gt;();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ArrayList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Student</a:t>
            </a:r>
            <a:r>
              <a:rPr lang="en-US" sz="1250" dirty="0">
                <a:solidFill>
                  <a:srgbClr val="E6EBF2"/>
                </a:solidFill>
                <a:latin typeface="Consolas" pitchFamily="34" charset="0"/>
                <a:ea typeface="Consolas" pitchFamily="34" charset="-122"/>
                <a:cs typeface="Consolas" pitchFamily="34" charset="-120"/>
              </a:rPr>
              <a:t>&gt; students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6CC4E8"/>
                </a:solidFill>
                <a:latin typeface="Consolas" pitchFamily="34" charset="0"/>
                <a:ea typeface="Consolas" pitchFamily="34" charset="-122"/>
                <a:cs typeface="Consolas" pitchFamily="34" charset="-120"/>
              </a:rPr>
              <a:t>ArrayList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Student</a:t>
            </a:r>
            <a:r>
              <a:rPr lang="en-US" sz="1250" dirty="0">
                <a:solidFill>
                  <a:srgbClr val="E6EBF2"/>
                </a:solidFill>
                <a:latin typeface="Consolas" pitchFamily="34" charset="0"/>
                <a:ea typeface="Consolas" pitchFamily="34" charset="-122"/>
                <a:cs typeface="Consolas" pitchFamily="34" charset="-120"/>
              </a:rPr>
              <a:t>&gt;();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words.</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"Hello"</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numbers.</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F2C14E"/>
                </a:solidFill>
                <a:latin typeface="Consolas" pitchFamily="34" charset="0"/>
                <a:ea typeface="Consolas" pitchFamily="34" charset="-122"/>
                <a:cs typeface="Consolas" pitchFamily="34" charset="-120"/>
              </a:rPr>
              <a:t>3</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Student </a:t>
            </a:r>
            <a:r>
              <a:rPr lang="en-US" sz="1250" dirty="0">
                <a:solidFill>
                  <a:srgbClr val="E6EBF2"/>
                </a:solidFill>
                <a:latin typeface="Consolas" pitchFamily="34" charset="0"/>
                <a:ea typeface="Consolas" pitchFamily="34" charset="-122"/>
                <a:cs typeface="Consolas" pitchFamily="34" charset="-120"/>
              </a:rPr>
              <a:t>bob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C9B0FF"/>
                </a:solidFill>
                <a:latin typeface="Consolas" pitchFamily="34" charset="0"/>
                <a:ea typeface="Consolas" pitchFamily="34" charset="-122"/>
                <a:cs typeface="Consolas" pitchFamily="34" charset="-120"/>
              </a:rPr>
              <a:t>Student</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students.</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(bob);</a:t>
            </a:r>
            <a:endParaRPr lang="en-US" sz="1250" dirty="0"/>
          </a:p>
        </p:txBody>
      </p:sp>
      <p:pic>
        <p:nvPicPr>
          <p:cNvPr id="9" name="Image 0" descr="Works">    </p:cNvPr>
          <p:cNvPicPr>
            <a:picLocks noChangeAspect="1"/>
          </p:cNvPicPr>
          <p:nvPr/>
        </p:nvPicPr>
        <p:blipFill>
          <a:blip r:embed="rId1"/>
          <a:stretch>
            <a:fillRect/>
          </a:stretch>
        </p:blipFill>
        <p:spPr>
          <a:xfrm>
            <a:off x="5852160" y="4410456"/>
            <a:ext cx="347472" cy="347472"/>
          </a:xfrm>
          <a:prstGeom prst="rect">
            <a:avLst/>
          </a:prstGeom>
        </p:spPr>
      </p:pic>
      <p:sp>
        <p:nvSpPr>
          <p:cNvPr id="10" name="Text 6"/>
          <p:cNvSpPr txBox="1"/>
          <p:nvPr/>
        </p:nvSpPr>
        <p:spPr>
          <a:xfrm>
            <a:off x="6309360" y="4392168"/>
            <a:ext cx="5333695" cy="384048"/>
          </a:xfrm>
          <a:prstGeom prst="rect">
            <a:avLst/>
          </a:prstGeom>
          <a:noFill/>
          <a:ln/>
        </p:spPr>
        <p:txBody>
          <a:bodyPr wrap="square" lIns="0" tIns="0" rIns="0" bIns="0" rtlCol="0" anchor="ctr"/>
          <a:lstStyle/>
          <a:p>
            <a:pPr algn="l" indent="0" marL="0">
              <a:buNone/>
            </a:pPr>
            <a:r>
              <a:rPr lang="en-US" sz="1500" b="1" dirty="0">
                <a:solidFill>
                  <a:schemeClr val="accent3"/>
                </a:solidFill>
              </a:rPr>
              <a:t>Each add is checked against the type in the brackets</a:t>
            </a:r>
            <a:endParaRPr lang="en-US" sz="1500" dirty="0"/>
          </a:p>
        </p:txBody>
      </p:sp>
      <p:pic>
        <p:nvPicPr>
          <p:cNvPr id="11" name="Image 1" descr="Does not work">    </p:cNvPr>
          <p:cNvPicPr>
            <a:picLocks noChangeAspect="1"/>
          </p:cNvPicPr>
          <p:nvPr/>
        </p:nvPicPr>
        <p:blipFill>
          <a:blip r:embed="rId2"/>
          <a:stretch>
            <a:fillRect/>
          </a:stretch>
        </p:blipFill>
        <p:spPr>
          <a:xfrm>
            <a:off x="5852160" y="4913376"/>
            <a:ext cx="347472" cy="347472"/>
          </a:xfrm>
          <a:prstGeom prst="rect">
            <a:avLst/>
          </a:prstGeom>
        </p:spPr>
      </p:pic>
      <p:sp>
        <p:nvSpPr>
          <p:cNvPr id="12" name="Text 7"/>
          <p:cNvSpPr txBox="1"/>
          <p:nvPr/>
        </p:nvSpPr>
        <p:spPr>
          <a:xfrm>
            <a:off x="6309360" y="4895088"/>
            <a:ext cx="5333695" cy="384048"/>
          </a:xfrm>
          <a:prstGeom prst="rect">
            <a:avLst/>
          </a:prstGeom>
          <a:noFill/>
          <a:ln/>
        </p:spPr>
        <p:txBody>
          <a:bodyPr wrap="square" lIns="0" tIns="0" rIns="0" bIns="0" rtlCol="0" anchor="ctr"/>
          <a:lstStyle/>
          <a:p>
            <a:pPr algn="l" indent="0" marL="0">
              <a:buNone/>
            </a:pPr>
            <a:r>
              <a:rPr lang="en-US" sz="1500" b="1" dirty="0">
                <a:solidFill>
                  <a:srgbClr val="C0392B"/>
                </a:solidFill>
                <a:latin typeface="Consolas" pitchFamily="34" charset="0"/>
                <a:ea typeface="Consolas" pitchFamily="34" charset="-122"/>
                <a:cs typeface="Consolas" pitchFamily="34" charset="-120"/>
              </a:rPr>
              <a:t>words.add(42);</a:t>
            </a:r>
            <a:r>
              <a:rPr lang="en-US" sz="1500" b="1" dirty="0">
                <a:solidFill>
                  <a:srgbClr val="C0392B"/>
                </a:solidFill>
              </a:rPr>
              <a:t> won’t compile: 42 isn’t a String</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12</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Generics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accent2"/>
                </a:solidFill>
                <a:latin typeface="Consolas" pitchFamily="34" charset="0"/>
                <a:ea typeface="Consolas" pitchFamily="34" charset="-122"/>
                <a:cs typeface="Consolas" pitchFamily="34" charset="-120"/>
              </a:rPr>
              <a:t>words</a:t>
            </a:r>
            <a:r>
              <a:rPr lang="en-US" sz="2800" b="1" dirty="0">
                <a:solidFill>
                  <a:schemeClr val="tx1"/>
                </a:solidFill>
              </a:rPr>
              <a:t> is an </a:t>
            </a:r>
            <a:r>
              <a:rPr lang="en-US" sz="2800" b="1" dirty="0">
                <a:solidFill>
                  <a:schemeClr val="accent2"/>
                </a:solidFill>
                <a:latin typeface="Consolas" pitchFamily="34" charset="0"/>
                <a:ea typeface="Consolas" pitchFamily="34" charset="-122"/>
                <a:cs typeface="Consolas" pitchFamily="34" charset="-120"/>
              </a:rPr>
              <a:t>ArrayList&lt;String&gt;</a:t>
            </a:r>
            <a:r>
              <a:rPr lang="en-US" sz="2800" b="1" dirty="0">
                <a:solidFill>
                  <a:schemeClr val="tx1"/>
                </a:solidFill>
              </a:rPr>
              <a:t>. What happens with </a:t>
            </a:r>
            <a:r>
              <a:rPr lang="en-US" sz="2800" b="1" dirty="0">
                <a:solidFill>
                  <a:schemeClr val="accent2"/>
                </a:solidFill>
                <a:latin typeface="Consolas" pitchFamily="34" charset="0"/>
                <a:ea typeface="Consolas" pitchFamily="34" charset="-122"/>
                <a:cs typeface="Consolas" pitchFamily="34" charset="-120"/>
              </a:rPr>
              <a:t>words.add(42)</a:t>
            </a:r>
            <a:r>
              <a:rPr lang="en-US" sz="2800" b="1" dirty="0">
                <a:solidFill>
                  <a:schemeClr val="tx1"/>
                </a:solidFill>
              </a:rPr>
              <a:t>?</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42 is stored as the text </a:t>
            </a:r>
            <a:r>
              <a:rPr lang="en-US" sz="2000" dirty="0">
                <a:solidFill>
                  <a:schemeClr val="accent2"/>
                </a:solidFill>
                <a:latin typeface="Consolas" pitchFamily="34" charset="0"/>
                <a:ea typeface="Consolas" pitchFamily="34" charset="-122"/>
                <a:cs typeface="Consolas" pitchFamily="34" charset="-120"/>
              </a:rPr>
              <a:t>"42"</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compiles, but crashes when it runs</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won’t compile: 42 isn’t a String</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42 replaces the first word</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12</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Generics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latin typeface="Consolas" pitchFamily="34" charset="0"/>
                <a:ea typeface="Consolas" pitchFamily="34" charset="-122"/>
                <a:cs typeface="Consolas" pitchFamily="34" charset="-120"/>
              </a:rPr>
              <a:t>words</a:t>
            </a:r>
            <a:r>
              <a:rPr lang="en-US" sz="2000" b="1" dirty="0">
                <a:solidFill>
                  <a:schemeClr val="tx2"/>
                </a:solidFill>
              </a:rPr>
              <a:t> is an </a:t>
            </a:r>
            <a:r>
              <a:rPr lang="en-US" sz="2000" b="1" dirty="0">
                <a:solidFill>
                  <a:schemeClr val="tx2"/>
                </a:solidFill>
                <a:latin typeface="Consolas" pitchFamily="34" charset="0"/>
                <a:ea typeface="Consolas" pitchFamily="34" charset="-122"/>
                <a:cs typeface="Consolas" pitchFamily="34" charset="-120"/>
              </a:rPr>
              <a:t>ArrayList&lt;String&gt;</a:t>
            </a:r>
            <a:r>
              <a:rPr lang="en-US" sz="2000" b="1" dirty="0">
                <a:solidFill>
                  <a:schemeClr val="tx2"/>
                </a:solidFill>
              </a:rPr>
              <a:t>. What happens with </a:t>
            </a:r>
            <a:r>
              <a:rPr lang="en-US" sz="2000" b="1" dirty="0">
                <a:solidFill>
                  <a:schemeClr val="tx2"/>
                </a:solidFill>
                <a:latin typeface="Consolas" pitchFamily="34" charset="0"/>
                <a:ea typeface="Consolas" pitchFamily="34" charset="-122"/>
                <a:cs typeface="Consolas" pitchFamily="34" charset="-120"/>
              </a:rPr>
              <a:t>words.add(42)</a:t>
            </a:r>
            <a:r>
              <a:rPr lang="en-US" sz="2000" b="1" dirty="0">
                <a:solidFill>
                  <a:schemeClr val="tx2"/>
                </a:solidFill>
              </a:rPr>
              <a:t>?</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42 is stored as the text </a:t>
            </a:r>
            <a:r>
              <a:rPr lang="en-US" sz="1700" dirty="0">
                <a:solidFill>
                  <a:schemeClr val="tx2"/>
                </a:solidFill>
                <a:latin typeface="Consolas" pitchFamily="34" charset="0"/>
                <a:ea typeface="Consolas" pitchFamily="34" charset="-122"/>
                <a:cs typeface="Consolas" pitchFamily="34" charset="-120"/>
              </a:rPr>
              <a:t>"42"</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compiles, but crashes when it runs</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It won’t compile: 42 isn’t a String</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42 replaces the first word</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The type in the brackets tells the compiler that </a:t>
            </a:r>
            <a:r>
              <a:rPr lang="en-US" sz="1800" dirty="0">
                <a:solidFill>
                  <a:schemeClr val="accent2"/>
                </a:solidFill>
                <a:latin typeface="Consolas" pitchFamily="34" charset="0"/>
                <a:ea typeface="Consolas" pitchFamily="34" charset="-122"/>
                <a:cs typeface="Consolas" pitchFamily="34" charset="-120"/>
              </a:rPr>
              <a:t>words</a:t>
            </a:r>
            <a:r>
              <a:rPr lang="en-US" sz="1800" dirty="0">
                <a:solidFill>
                  <a:schemeClr val="tx1"/>
                </a:solidFill>
              </a:rPr>
              <a:t> only holds Strings. 42 is an int, so the compiler rejects the line with “int cannot be converted to String”, before the program can run. Catching that kind of mistake early is the point of generics.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GENERICS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One class for every type</a:t>
            </a:r>
            <a:endParaRPr lang="en-US" sz="3400" dirty="0"/>
          </a:p>
        </p:txBody>
      </p:sp>
      <p:pic>
        <p:nvPicPr>
          <p:cNvPr id="5" name="Image 0" descr="Without generics">    </p:cNvPr>
          <p:cNvPicPr>
            <a:picLocks noChangeAspect="1"/>
          </p:cNvPicPr>
          <p:nvPr/>
        </p:nvPicPr>
        <p:blipFill>
          <a:blip r:embed="rId1"/>
          <a:stretch>
            <a:fillRect/>
          </a:stretch>
        </p:blipFill>
        <p:spPr>
          <a:xfrm>
            <a:off x="548640" y="1700784"/>
            <a:ext cx="365760" cy="365760"/>
          </a:xfrm>
          <a:prstGeom prst="rect">
            <a:avLst/>
          </a:prstGeom>
        </p:spPr>
      </p:pic>
      <p:sp>
        <p:nvSpPr>
          <p:cNvPr id="6" name="Text 2"/>
          <p:cNvSpPr txBox="1"/>
          <p:nvPr/>
        </p:nvSpPr>
        <p:spPr>
          <a:xfrm>
            <a:off x="1024128" y="1682496"/>
            <a:ext cx="4206240" cy="402336"/>
          </a:xfrm>
          <a:prstGeom prst="rect">
            <a:avLst/>
          </a:prstGeom>
          <a:noFill/>
          <a:ln/>
        </p:spPr>
        <p:txBody>
          <a:bodyPr wrap="square" lIns="0" tIns="0" rIns="0" bIns="0" rtlCol="0" anchor="ctr"/>
          <a:lstStyle/>
          <a:p>
            <a:pPr algn="l" indent="0" marL="0">
              <a:buNone/>
            </a:pPr>
            <a:r>
              <a:rPr lang="en-US" sz="1800" b="1" dirty="0">
                <a:solidFill>
                  <a:srgbClr val="C0392B"/>
                </a:solidFill>
              </a:rPr>
              <a:t>Without generics</a:t>
            </a:r>
            <a:endParaRPr lang="en-US" sz="1800" dirty="0"/>
          </a:p>
        </p:txBody>
      </p:sp>
      <p:sp>
        <p:nvSpPr>
          <p:cNvPr id="7" name="Shape 3"/>
          <p:cNvSpPr/>
          <p:nvPr/>
        </p:nvSpPr>
        <p:spPr>
          <a:xfrm>
            <a:off x="548640" y="2286000"/>
            <a:ext cx="4480560" cy="438912"/>
          </a:xfrm>
          <a:prstGeom prst="roundRect">
            <a:avLst>
              <a:gd name="adj" fmla="val 16667"/>
            </a:avLst>
          </a:prstGeom>
          <a:solidFill>
            <a:schemeClr val="bg2"/>
          </a:solidFill>
          <a:ln w="12700">
            <a:solidFill>
              <a:schemeClr val="tx2"/>
            </a:solidFill>
            <a:prstDash val="solid"/>
          </a:ln>
        </p:spPr>
      </p:sp>
      <p:sp>
        <p:nvSpPr>
          <p:cNvPr id="8" name="Text 4"/>
          <p:cNvSpPr txBox="1"/>
          <p:nvPr/>
        </p:nvSpPr>
        <p:spPr>
          <a:xfrm>
            <a:off x="548640" y="2286000"/>
            <a:ext cx="4480560" cy="438912"/>
          </a:xfrm>
          <a:prstGeom prst="rect">
            <a:avLst/>
          </a:prstGeom>
          <a:noFill/>
          <a:ln/>
        </p:spPr>
        <p:txBody>
          <a:bodyPr wrap="square" lIns="0" tIns="0" rIns="0" bIns="0" rtlCol="0" anchor="ctr"/>
          <a:lstStyle/>
          <a:p>
            <a:pPr algn="ctr" indent="0" marL="0">
              <a:buNone/>
            </a:pPr>
            <a:r>
              <a:rPr lang="en-US" sz="1500" dirty="0">
                <a:solidFill>
                  <a:schemeClr val="tx2"/>
                </a:solidFill>
                <a:latin typeface="Consolas" pitchFamily="34" charset="0"/>
                <a:ea typeface="Consolas" pitchFamily="34" charset="-122"/>
                <a:cs typeface="Consolas" pitchFamily="34" charset="-120"/>
              </a:rPr>
              <a:t>StringArrayList</a:t>
            </a:r>
            <a:endParaRPr lang="en-US" sz="1500" dirty="0"/>
          </a:p>
        </p:txBody>
      </p:sp>
      <p:sp>
        <p:nvSpPr>
          <p:cNvPr id="9" name="Shape 5"/>
          <p:cNvSpPr/>
          <p:nvPr/>
        </p:nvSpPr>
        <p:spPr>
          <a:xfrm>
            <a:off x="548640" y="2834640"/>
            <a:ext cx="4480560" cy="438912"/>
          </a:xfrm>
          <a:prstGeom prst="roundRect">
            <a:avLst>
              <a:gd name="adj" fmla="val 16667"/>
            </a:avLst>
          </a:prstGeom>
          <a:solidFill>
            <a:schemeClr val="bg2"/>
          </a:solidFill>
          <a:ln w="12700">
            <a:solidFill>
              <a:schemeClr val="tx2"/>
            </a:solidFill>
            <a:prstDash val="solid"/>
          </a:ln>
        </p:spPr>
      </p:sp>
      <p:sp>
        <p:nvSpPr>
          <p:cNvPr id="10" name="Text 6"/>
          <p:cNvSpPr txBox="1"/>
          <p:nvPr/>
        </p:nvSpPr>
        <p:spPr>
          <a:xfrm>
            <a:off x="548640" y="2834640"/>
            <a:ext cx="4480560" cy="438912"/>
          </a:xfrm>
          <a:prstGeom prst="rect">
            <a:avLst/>
          </a:prstGeom>
          <a:noFill/>
          <a:ln/>
        </p:spPr>
        <p:txBody>
          <a:bodyPr wrap="square" lIns="0" tIns="0" rIns="0" bIns="0" rtlCol="0" anchor="ctr"/>
          <a:lstStyle/>
          <a:p>
            <a:pPr algn="ctr" indent="0" marL="0">
              <a:buNone/>
            </a:pPr>
            <a:r>
              <a:rPr lang="en-US" sz="1500" dirty="0">
                <a:solidFill>
                  <a:schemeClr val="tx2"/>
                </a:solidFill>
                <a:latin typeface="Consolas" pitchFamily="34" charset="0"/>
                <a:ea typeface="Consolas" pitchFamily="34" charset="-122"/>
                <a:cs typeface="Consolas" pitchFamily="34" charset="-120"/>
              </a:rPr>
              <a:t>IntegerArrayList</a:t>
            </a:r>
            <a:endParaRPr lang="en-US" sz="1500" dirty="0"/>
          </a:p>
        </p:txBody>
      </p:sp>
      <p:sp>
        <p:nvSpPr>
          <p:cNvPr id="11" name="Shape 7"/>
          <p:cNvSpPr/>
          <p:nvPr/>
        </p:nvSpPr>
        <p:spPr>
          <a:xfrm>
            <a:off x="548640" y="3383280"/>
            <a:ext cx="4480560" cy="438912"/>
          </a:xfrm>
          <a:prstGeom prst="roundRect">
            <a:avLst>
              <a:gd name="adj" fmla="val 16667"/>
            </a:avLst>
          </a:prstGeom>
          <a:solidFill>
            <a:schemeClr val="bg2"/>
          </a:solidFill>
          <a:ln w="12700">
            <a:solidFill>
              <a:schemeClr val="tx2"/>
            </a:solidFill>
            <a:prstDash val="solid"/>
          </a:ln>
        </p:spPr>
      </p:sp>
      <p:sp>
        <p:nvSpPr>
          <p:cNvPr id="12" name="Text 8"/>
          <p:cNvSpPr txBox="1"/>
          <p:nvPr/>
        </p:nvSpPr>
        <p:spPr>
          <a:xfrm>
            <a:off x="548640" y="3383280"/>
            <a:ext cx="4480560" cy="438912"/>
          </a:xfrm>
          <a:prstGeom prst="rect">
            <a:avLst/>
          </a:prstGeom>
          <a:noFill/>
          <a:ln/>
        </p:spPr>
        <p:txBody>
          <a:bodyPr wrap="square" lIns="0" tIns="0" rIns="0" bIns="0" rtlCol="0" anchor="ctr"/>
          <a:lstStyle/>
          <a:p>
            <a:pPr algn="ctr" indent="0" marL="0">
              <a:buNone/>
            </a:pPr>
            <a:r>
              <a:rPr lang="en-US" sz="1500" dirty="0">
                <a:solidFill>
                  <a:schemeClr val="tx2"/>
                </a:solidFill>
                <a:latin typeface="Consolas" pitchFamily="34" charset="0"/>
                <a:ea typeface="Consolas" pitchFamily="34" charset="-122"/>
                <a:cs typeface="Consolas" pitchFamily="34" charset="-120"/>
              </a:rPr>
              <a:t>StudentArrayList</a:t>
            </a:r>
            <a:endParaRPr lang="en-US" sz="1500" dirty="0"/>
          </a:p>
        </p:txBody>
      </p:sp>
      <p:sp>
        <p:nvSpPr>
          <p:cNvPr id="13" name="Text 9"/>
          <p:cNvSpPr txBox="1"/>
          <p:nvPr/>
        </p:nvSpPr>
        <p:spPr>
          <a:xfrm>
            <a:off x="548640" y="3977640"/>
            <a:ext cx="4480560" cy="292608"/>
          </a:xfrm>
          <a:prstGeom prst="rect">
            <a:avLst/>
          </a:prstGeom>
          <a:noFill/>
          <a:ln/>
        </p:spPr>
        <p:txBody>
          <a:bodyPr wrap="square" lIns="0" tIns="0" rIns="0" bIns="0" rtlCol="0" anchor="t"/>
          <a:lstStyle/>
          <a:p>
            <a:pPr algn="l" indent="0" marL="0">
              <a:buNone/>
            </a:pPr>
            <a:r>
              <a:rPr lang="en-US" sz="1500" dirty="0">
                <a:solidFill>
                  <a:schemeClr val="tx2"/>
                </a:solidFill>
              </a:rPr>
              <a:t>or an overloaded add for every type:</a:t>
            </a:r>
            <a:endParaRPr lang="en-US" sz="1500" dirty="0"/>
          </a:p>
        </p:txBody>
      </p:sp>
      <p:sp>
        <p:nvSpPr>
          <p:cNvPr id="14" name="Code chip"/>
          <p:cNvSpPr/>
          <p:nvPr/>
        </p:nvSpPr>
        <p:spPr>
          <a:xfrm>
            <a:off x="548640" y="4370832"/>
            <a:ext cx="4480560" cy="384048"/>
          </a:xfrm>
          <a:prstGeom prst="roundRect">
            <a:avLst>
              <a:gd name="adj" fmla="val 19048"/>
            </a:avLst>
          </a:prstGeom>
          <a:solidFill>
            <a:schemeClr val="bg2"/>
          </a:solidFill>
          <a:ln/>
        </p:spPr>
        <p:txBody>
          <a:bodyPr wrap="square" lIns="152400" tIns="0" rIns="0" bIns="0" rtlCol="0" anchor="ctr"/>
          <a:lstStyle/>
          <a:p>
            <a:pPr algn="l" indent="0" marL="0">
              <a:buNone/>
            </a:pPr>
            <a:r>
              <a:rPr lang="en-US" sz="1350" dirty="0">
                <a:solidFill>
                  <a:schemeClr val="tx2"/>
                </a:solidFill>
                <a:latin typeface="Consolas" pitchFamily="34" charset="0"/>
                <a:ea typeface="Consolas" pitchFamily="34" charset="-122"/>
                <a:cs typeface="Consolas" pitchFamily="34" charset="-120"/>
              </a:rPr>
              <a:t>public void add(int element)</a:t>
            </a:r>
            <a:endParaRPr lang="en-US" sz="1350" dirty="0"/>
          </a:p>
        </p:txBody>
      </p:sp>
      <p:sp>
        <p:nvSpPr>
          <p:cNvPr id="15" name="Code chip"/>
          <p:cNvSpPr/>
          <p:nvPr/>
        </p:nvSpPr>
        <p:spPr>
          <a:xfrm>
            <a:off x="548640" y="4846320"/>
            <a:ext cx="4480560" cy="384048"/>
          </a:xfrm>
          <a:prstGeom prst="roundRect">
            <a:avLst>
              <a:gd name="adj" fmla="val 19048"/>
            </a:avLst>
          </a:prstGeom>
          <a:solidFill>
            <a:schemeClr val="bg2"/>
          </a:solidFill>
          <a:ln/>
        </p:spPr>
        <p:txBody>
          <a:bodyPr wrap="square" lIns="152400" tIns="0" rIns="0" bIns="0" rtlCol="0" anchor="ctr"/>
          <a:lstStyle/>
          <a:p>
            <a:pPr algn="l" indent="0" marL="0">
              <a:buNone/>
            </a:pPr>
            <a:r>
              <a:rPr lang="en-US" sz="1350" dirty="0">
                <a:solidFill>
                  <a:schemeClr val="tx2"/>
                </a:solidFill>
                <a:latin typeface="Consolas" pitchFamily="34" charset="0"/>
                <a:ea typeface="Consolas" pitchFamily="34" charset="-122"/>
                <a:cs typeface="Consolas" pitchFamily="34" charset="-120"/>
              </a:rPr>
              <a:t>public void add(double element)</a:t>
            </a:r>
            <a:endParaRPr lang="en-US" sz="1350" dirty="0"/>
          </a:p>
        </p:txBody>
      </p:sp>
      <p:sp>
        <p:nvSpPr>
          <p:cNvPr id="16" name="Code chip"/>
          <p:cNvSpPr/>
          <p:nvPr/>
        </p:nvSpPr>
        <p:spPr>
          <a:xfrm>
            <a:off x="548640" y="5321808"/>
            <a:ext cx="4480560" cy="384048"/>
          </a:xfrm>
          <a:prstGeom prst="roundRect">
            <a:avLst>
              <a:gd name="adj" fmla="val 19048"/>
            </a:avLst>
          </a:prstGeom>
          <a:solidFill>
            <a:schemeClr val="bg2"/>
          </a:solidFill>
          <a:ln/>
        </p:spPr>
        <p:txBody>
          <a:bodyPr wrap="square" lIns="152400" tIns="0" rIns="0" bIns="0" rtlCol="0" anchor="ctr"/>
          <a:lstStyle/>
          <a:p>
            <a:pPr algn="l" indent="0" marL="0">
              <a:buNone/>
            </a:pPr>
            <a:r>
              <a:rPr lang="en-US" sz="1350" dirty="0">
                <a:solidFill>
                  <a:schemeClr val="tx2"/>
                </a:solidFill>
                <a:latin typeface="Consolas" pitchFamily="34" charset="0"/>
                <a:ea typeface="Consolas" pitchFamily="34" charset="-122"/>
                <a:cs typeface="Consolas" pitchFamily="34" charset="-120"/>
              </a:rPr>
              <a:t>public void add(String element)</a:t>
            </a:r>
            <a:endParaRPr lang="en-US" sz="1350" dirty="0"/>
          </a:p>
        </p:txBody>
      </p:sp>
      <p:sp>
        <p:nvSpPr>
          <p:cNvPr id="17" name="Shape 13"/>
          <p:cNvSpPr/>
          <p:nvPr/>
        </p:nvSpPr>
        <p:spPr>
          <a:xfrm>
            <a:off x="5669280" y="1783080"/>
            <a:ext cx="0" cy="3977640"/>
          </a:xfrm>
          <a:prstGeom prst="line">
            <a:avLst/>
          </a:prstGeom>
          <a:noFill/>
          <a:ln w="15875">
            <a:solidFill>
              <a:srgbClr val="D5DCE6"/>
            </a:solidFill>
            <a:prstDash val="solid"/>
          </a:ln>
        </p:spPr>
      </p:sp>
      <p:pic>
        <p:nvPicPr>
          <p:cNvPr id="18" name="Image 1" descr="With generics">    </p:cNvPr>
          <p:cNvPicPr>
            <a:picLocks noChangeAspect="1"/>
          </p:cNvPicPr>
          <p:nvPr/>
        </p:nvPicPr>
        <p:blipFill>
          <a:blip r:embed="rId2"/>
          <a:stretch>
            <a:fillRect/>
          </a:stretch>
        </p:blipFill>
        <p:spPr>
          <a:xfrm>
            <a:off x="6217920" y="1700784"/>
            <a:ext cx="365760" cy="365760"/>
          </a:xfrm>
          <a:prstGeom prst="rect">
            <a:avLst/>
          </a:prstGeom>
        </p:spPr>
      </p:pic>
      <p:sp>
        <p:nvSpPr>
          <p:cNvPr id="19" name="Text 14"/>
          <p:cNvSpPr txBox="1"/>
          <p:nvPr/>
        </p:nvSpPr>
        <p:spPr>
          <a:xfrm>
            <a:off x="6693408" y="1682496"/>
            <a:ext cx="4572000" cy="402336"/>
          </a:xfrm>
          <a:prstGeom prst="rect">
            <a:avLst/>
          </a:prstGeom>
          <a:noFill/>
          <a:ln/>
        </p:spPr>
        <p:txBody>
          <a:bodyPr wrap="square" lIns="0" tIns="0" rIns="0" bIns="0" rtlCol="0" anchor="ctr"/>
          <a:lstStyle/>
          <a:p>
            <a:pPr algn="l" indent="0" marL="0">
              <a:buNone/>
            </a:pPr>
            <a:r>
              <a:rPr lang="en-US" sz="1800" b="1" dirty="0">
                <a:solidFill>
                  <a:schemeClr val="accent3"/>
                </a:solidFill>
              </a:rPr>
              <a:t>With generics</a:t>
            </a:r>
            <a:endParaRPr lang="en-US" sz="1800" dirty="0"/>
          </a:p>
        </p:txBody>
      </p:sp>
      <p:sp>
        <p:nvSpPr>
          <p:cNvPr id="20" name="Shape 15"/>
          <p:cNvSpPr/>
          <p:nvPr/>
        </p:nvSpPr>
        <p:spPr>
          <a:xfrm>
            <a:off x="6217920" y="2286000"/>
            <a:ext cx="5425135" cy="685800"/>
          </a:xfrm>
          <a:prstGeom prst="roundRect">
            <a:avLst>
              <a:gd name="adj" fmla="val 13333"/>
            </a:avLst>
          </a:prstGeom>
          <a:solidFill>
            <a:schemeClr val="accent4">
              <a:alpha val="14000"/>
            </a:schemeClr>
          </a:solidFill>
          <a:ln w="22225">
            <a:solidFill>
              <a:schemeClr val="accent4"/>
            </a:solidFill>
            <a:prstDash val="solid"/>
          </a:ln>
        </p:spPr>
      </p:sp>
      <p:sp>
        <p:nvSpPr>
          <p:cNvPr id="21" name="Text 16"/>
          <p:cNvSpPr txBox="1"/>
          <p:nvPr/>
        </p:nvSpPr>
        <p:spPr>
          <a:xfrm>
            <a:off x="6217920" y="2286000"/>
            <a:ext cx="5425135" cy="6858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ArrayList&lt;E&gt;   add(E element)</a:t>
            </a:r>
            <a:endParaRPr lang="en-US" sz="1800" dirty="0"/>
          </a:p>
        </p:txBody>
      </p:sp>
      <p:sp>
        <p:nvSpPr>
          <p:cNvPr id="22" name="Text 17"/>
          <p:cNvSpPr txBox="1"/>
          <p:nvPr/>
        </p:nvSpPr>
        <p:spPr>
          <a:xfrm>
            <a:off x="6217920" y="3154680"/>
            <a:ext cx="5425135" cy="292608"/>
          </a:xfrm>
          <a:prstGeom prst="rect">
            <a:avLst/>
          </a:prstGeom>
          <a:noFill/>
          <a:ln/>
        </p:spPr>
        <p:txBody>
          <a:bodyPr wrap="square" lIns="0" tIns="0" rIns="0" bIns="0" rtlCol="0" anchor="t"/>
          <a:lstStyle/>
          <a:p>
            <a:pPr algn="l" indent="0" marL="0">
              <a:buNone/>
            </a:pPr>
            <a:r>
              <a:rPr lang="en-US" sz="1500" dirty="0">
                <a:solidFill>
                  <a:schemeClr val="tx2"/>
                </a:solidFill>
              </a:rPr>
              <a:t>E is filled in when we create the list:</a:t>
            </a:r>
            <a:endParaRPr lang="en-US" sz="1500" dirty="0"/>
          </a:p>
        </p:txBody>
      </p:sp>
      <p:sp>
        <p:nvSpPr>
          <p:cNvPr id="23" name="Code chip"/>
          <p:cNvSpPr/>
          <p:nvPr/>
        </p:nvSpPr>
        <p:spPr>
          <a:xfrm>
            <a:off x="6217920" y="3566160"/>
            <a:ext cx="2423160" cy="411480"/>
          </a:xfrm>
          <a:prstGeom prst="roundRect">
            <a:avLst>
              <a:gd name="adj" fmla="val 1777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ArrayList&lt;String&gt;</a:t>
            </a:r>
            <a:endParaRPr lang="en-US" sz="1400" dirty="0"/>
          </a:p>
        </p:txBody>
      </p:sp>
      <p:sp>
        <p:nvSpPr>
          <p:cNvPr id="24" name="Shape 19"/>
          <p:cNvSpPr/>
          <p:nvPr/>
        </p:nvSpPr>
        <p:spPr>
          <a:xfrm>
            <a:off x="8686800" y="3771900"/>
            <a:ext cx="411480" cy="0"/>
          </a:xfrm>
          <a:prstGeom prst="line">
            <a:avLst/>
          </a:prstGeom>
          <a:noFill/>
          <a:ln w="19050">
            <a:solidFill>
              <a:schemeClr val="tx2"/>
            </a:solidFill>
            <a:prstDash val="solid"/>
            <a:tailEnd type="triangle"/>
          </a:ln>
        </p:spPr>
      </p:sp>
      <p:sp>
        <p:nvSpPr>
          <p:cNvPr id="25" name="Code chip"/>
          <p:cNvSpPr/>
          <p:nvPr/>
        </p:nvSpPr>
        <p:spPr>
          <a:xfrm>
            <a:off x="9144000" y="3566160"/>
            <a:ext cx="2499055" cy="411480"/>
          </a:xfrm>
          <a:prstGeom prst="roundRect">
            <a:avLst>
              <a:gd name="adj" fmla="val 1777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words.add("Hello")</a:t>
            </a:r>
            <a:endParaRPr lang="en-US" sz="1400" dirty="0"/>
          </a:p>
        </p:txBody>
      </p:sp>
      <p:sp>
        <p:nvSpPr>
          <p:cNvPr id="26" name="Code chip"/>
          <p:cNvSpPr/>
          <p:nvPr/>
        </p:nvSpPr>
        <p:spPr>
          <a:xfrm>
            <a:off x="6217920" y="4114800"/>
            <a:ext cx="2423160" cy="411480"/>
          </a:xfrm>
          <a:prstGeom prst="roundRect">
            <a:avLst>
              <a:gd name="adj" fmla="val 1777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ArrayList&lt;Integer&gt;</a:t>
            </a:r>
            <a:endParaRPr lang="en-US" sz="1400" dirty="0"/>
          </a:p>
        </p:txBody>
      </p:sp>
      <p:sp>
        <p:nvSpPr>
          <p:cNvPr id="27" name="Shape 22"/>
          <p:cNvSpPr/>
          <p:nvPr/>
        </p:nvSpPr>
        <p:spPr>
          <a:xfrm>
            <a:off x="8686800" y="4320540"/>
            <a:ext cx="411480" cy="0"/>
          </a:xfrm>
          <a:prstGeom prst="line">
            <a:avLst/>
          </a:prstGeom>
          <a:noFill/>
          <a:ln w="19050">
            <a:solidFill>
              <a:schemeClr val="tx2"/>
            </a:solidFill>
            <a:prstDash val="solid"/>
            <a:tailEnd type="triangle"/>
          </a:ln>
        </p:spPr>
      </p:sp>
      <p:sp>
        <p:nvSpPr>
          <p:cNvPr id="28" name="Code chip"/>
          <p:cNvSpPr/>
          <p:nvPr/>
        </p:nvSpPr>
        <p:spPr>
          <a:xfrm>
            <a:off x="9144000" y="4114800"/>
            <a:ext cx="2499055" cy="411480"/>
          </a:xfrm>
          <a:prstGeom prst="roundRect">
            <a:avLst>
              <a:gd name="adj" fmla="val 1777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numbers.add(3)</a:t>
            </a:r>
            <a:endParaRPr lang="en-US" sz="1400" dirty="0"/>
          </a:p>
        </p:txBody>
      </p:sp>
      <p:sp>
        <p:nvSpPr>
          <p:cNvPr id="29" name="Code chip"/>
          <p:cNvSpPr/>
          <p:nvPr/>
        </p:nvSpPr>
        <p:spPr>
          <a:xfrm>
            <a:off x="6217920" y="4663440"/>
            <a:ext cx="2423160" cy="411480"/>
          </a:xfrm>
          <a:prstGeom prst="roundRect">
            <a:avLst>
              <a:gd name="adj" fmla="val 1777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ArrayList&lt;Student&gt;</a:t>
            </a:r>
            <a:endParaRPr lang="en-US" sz="1400" dirty="0"/>
          </a:p>
        </p:txBody>
      </p:sp>
      <p:sp>
        <p:nvSpPr>
          <p:cNvPr id="30" name="Shape 25"/>
          <p:cNvSpPr/>
          <p:nvPr/>
        </p:nvSpPr>
        <p:spPr>
          <a:xfrm>
            <a:off x="8686800" y="4869180"/>
            <a:ext cx="411480" cy="0"/>
          </a:xfrm>
          <a:prstGeom prst="line">
            <a:avLst/>
          </a:prstGeom>
          <a:noFill/>
          <a:ln w="19050">
            <a:solidFill>
              <a:schemeClr val="tx2"/>
            </a:solidFill>
            <a:prstDash val="solid"/>
            <a:tailEnd type="triangle"/>
          </a:ln>
        </p:spPr>
      </p:sp>
      <p:sp>
        <p:nvSpPr>
          <p:cNvPr id="31" name="Code chip"/>
          <p:cNvSpPr/>
          <p:nvPr/>
        </p:nvSpPr>
        <p:spPr>
          <a:xfrm>
            <a:off x="9144000" y="4663440"/>
            <a:ext cx="2499055" cy="411480"/>
          </a:xfrm>
          <a:prstGeom prst="roundRect">
            <a:avLst>
              <a:gd name="adj" fmla="val 1777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students.add(bob)</a:t>
            </a:r>
            <a:endParaRPr lang="en-US" sz="1400" dirty="0"/>
          </a:p>
        </p:txBody>
      </p:sp>
      <p:pic>
        <p:nvPicPr>
          <p:cNvPr id="32" name="Image 2" descr="Works">    </p:cNvPr>
          <p:cNvPicPr>
            <a:picLocks noChangeAspect="1"/>
          </p:cNvPicPr>
          <p:nvPr/>
        </p:nvPicPr>
        <p:blipFill>
          <a:blip r:embed="rId3"/>
          <a:stretch>
            <a:fillRect/>
          </a:stretch>
        </p:blipFill>
        <p:spPr>
          <a:xfrm>
            <a:off x="6217920" y="5303520"/>
            <a:ext cx="347472" cy="347472"/>
          </a:xfrm>
          <a:prstGeom prst="rect">
            <a:avLst/>
          </a:prstGeom>
        </p:spPr>
      </p:pic>
      <p:sp>
        <p:nvSpPr>
          <p:cNvPr id="33" name="Text 27"/>
          <p:cNvSpPr txBox="1"/>
          <p:nvPr/>
        </p:nvSpPr>
        <p:spPr>
          <a:xfrm>
            <a:off x="6675120" y="5285232"/>
            <a:ext cx="4967935" cy="384048"/>
          </a:xfrm>
          <a:prstGeom prst="rect">
            <a:avLst/>
          </a:prstGeom>
          <a:noFill/>
          <a:ln/>
        </p:spPr>
        <p:txBody>
          <a:bodyPr wrap="square" lIns="0" tIns="0" rIns="0" bIns="0" rtlCol="0" anchor="ctr"/>
          <a:lstStyle/>
          <a:p>
            <a:pPr algn="l" indent="0" marL="0">
              <a:buNone/>
            </a:pPr>
            <a:r>
              <a:rPr lang="en-US" sz="1500" b="1" dirty="0">
                <a:solidFill>
                  <a:schemeClr val="accent3"/>
                </a:solidFill>
              </a:rPr>
              <a:t>One class and one add method for every type</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13</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One class for every type</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Why is one generic </a:t>
            </a:r>
            <a:r>
              <a:rPr lang="en-US" sz="2800" b="1" dirty="0">
                <a:solidFill>
                  <a:schemeClr val="accent2"/>
                </a:solidFill>
                <a:latin typeface="Consolas" pitchFamily="34" charset="0"/>
                <a:ea typeface="Consolas" pitchFamily="34" charset="-122"/>
                <a:cs typeface="Consolas" pitchFamily="34" charset="-120"/>
              </a:rPr>
              <a:t>ArrayList&lt;E&gt;</a:t>
            </a:r>
            <a:r>
              <a:rPr lang="en-US" sz="2800" b="1" dirty="0">
                <a:solidFill>
                  <a:schemeClr val="tx1"/>
                </a:solidFill>
              </a:rPr>
              <a:t> better than a separate list class for each type?</a:t>
            </a:r>
            <a:endParaRPr lang="en-US" sz="2800" dirty="0"/>
          </a:p>
        </p:txBody>
      </p:sp>
      <p:sp>
        <p:nvSpPr>
          <p:cNvPr id="5" name="Option A"/>
          <p:cNvSpPr/>
          <p:nvPr/>
        </p:nvSpPr>
        <p:spPr>
          <a:xfrm>
            <a:off x="548640" y="233172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48716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377440"/>
            <a:ext cx="9795967" cy="713232"/>
          </a:xfrm>
          <a:prstGeom prst="rect">
            <a:avLst/>
          </a:prstGeom>
          <a:noFill/>
          <a:ln/>
        </p:spPr>
        <p:txBody>
          <a:bodyPr wrap="square" lIns="0" tIns="0" rIns="0" bIns="0" rtlCol="0" anchor="ctr"/>
          <a:lstStyle/>
          <a:p>
            <a:pPr indent="0" marL="0">
              <a:buNone/>
            </a:pPr>
            <a:r>
              <a:rPr lang="en-US" sz="1900" dirty="0">
                <a:solidFill>
                  <a:schemeClr val="tx1"/>
                </a:solidFill>
              </a:rPr>
              <a:t>It runs faster than three separate classes</a:t>
            </a:r>
            <a:endParaRPr lang="en-US" sz="1900" dirty="0"/>
          </a:p>
        </p:txBody>
      </p:sp>
      <p:sp>
        <p:nvSpPr>
          <p:cNvPr id="8" name="Option B"/>
          <p:cNvSpPr/>
          <p:nvPr/>
        </p:nvSpPr>
        <p:spPr>
          <a:xfrm>
            <a:off x="548640" y="331927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47472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364992"/>
            <a:ext cx="9795967" cy="713232"/>
          </a:xfrm>
          <a:prstGeom prst="rect">
            <a:avLst/>
          </a:prstGeom>
          <a:noFill/>
          <a:ln/>
        </p:spPr>
        <p:txBody>
          <a:bodyPr wrap="square" lIns="0" tIns="0" rIns="0" bIns="0" rtlCol="0" anchor="ctr"/>
          <a:lstStyle/>
          <a:p>
            <a:pPr indent="0" marL="0">
              <a:buNone/>
            </a:pPr>
            <a:r>
              <a:rPr lang="en-US" sz="1900" dirty="0">
                <a:solidFill>
                  <a:schemeClr val="tx1"/>
                </a:solidFill>
              </a:rPr>
              <a:t>One class works for any element type</a:t>
            </a:r>
            <a:endParaRPr lang="en-US" sz="1900" dirty="0"/>
          </a:p>
        </p:txBody>
      </p:sp>
      <p:sp>
        <p:nvSpPr>
          <p:cNvPr id="11" name="Option C"/>
          <p:cNvSpPr/>
          <p:nvPr/>
        </p:nvSpPr>
        <p:spPr>
          <a:xfrm>
            <a:off x="548640" y="430682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622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352544"/>
            <a:ext cx="9795967" cy="713232"/>
          </a:xfrm>
          <a:prstGeom prst="rect">
            <a:avLst/>
          </a:prstGeom>
          <a:noFill/>
          <a:ln/>
        </p:spPr>
        <p:txBody>
          <a:bodyPr wrap="square" lIns="0" tIns="0" rIns="0" bIns="0" rtlCol="0" anchor="ctr"/>
          <a:lstStyle/>
          <a:p>
            <a:pPr indent="0" marL="0">
              <a:buNone/>
            </a:pPr>
            <a:r>
              <a:rPr lang="en-US" sz="1900" dirty="0">
                <a:solidFill>
                  <a:schemeClr val="tx1"/>
                </a:solidFill>
              </a:rPr>
              <a:t>It can hold ints without wrapper classes</a:t>
            </a:r>
            <a:endParaRPr lang="en-US" sz="1900" dirty="0"/>
          </a:p>
        </p:txBody>
      </p:sp>
      <p:sp>
        <p:nvSpPr>
          <p:cNvPr id="14" name="Option D"/>
          <p:cNvSpPr/>
          <p:nvPr/>
        </p:nvSpPr>
        <p:spPr>
          <a:xfrm>
            <a:off x="548640" y="529437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44982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340096"/>
            <a:ext cx="9795967" cy="713232"/>
          </a:xfrm>
          <a:prstGeom prst="rect">
            <a:avLst/>
          </a:prstGeom>
          <a:noFill/>
          <a:ln/>
        </p:spPr>
        <p:txBody>
          <a:bodyPr wrap="square" lIns="0" tIns="0" rIns="0" bIns="0" rtlCol="0" anchor="ctr"/>
          <a:lstStyle/>
          <a:p>
            <a:pPr indent="0" marL="0">
              <a:buNone/>
            </a:pPr>
            <a:r>
              <a:rPr lang="en-US" sz="1900" dirty="0">
                <a:solidFill>
                  <a:schemeClr val="tx1"/>
                </a:solidFill>
              </a:rPr>
              <a:t>It stops the list from growing too big</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13</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One class for every type</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Why is one generic </a:t>
            </a:r>
            <a:r>
              <a:rPr lang="en-US" sz="2000" b="1" dirty="0">
                <a:solidFill>
                  <a:schemeClr val="tx2"/>
                </a:solidFill>
                <a:latin typeface="Consolas" pitchFamily="34" charset="0"/>
                <a:ea typeface="Consolas" pitchFamily="34" charset="-122"/>
                <a:cs typeface="Consolas" pitchFamily="34" charset="-120"/>
              </a:rPr>
              <a:t>ArrayList&lt;E&gt;</a:t>
            </a:r>
            <a:r>
              <a:rPr lang="en-US" sz="2000" b="1" dirty="0">
                <a:solidFill>
                  <a:schemeClr val="tx2"/>
                </a:solidFill>
              </a:rPr>
              <a:t> better than a separate list class for each type?</a:t>
            </a:r>
            <a:endParaRPr lang="en-US"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US" sz="1700" dirty="0">
                <a:solidFill>
                  <a:schemeClr val="tx2"/>
                </a:solidFill>
              </a:rPr>
              <a:t>It runs faster than three separate classes</a:t>
            </a:r>
            <a:endParaRPr lang="en-US" sz="1700" dirty="0"/>
          </a:p>
        </p:txBody>
      </p:sp>
      <p:sp>
        <p:nvSpPr>
          <p:cNvPr id="8" name="Option B (correct)"/>
          <p:cNvSpPr/>
          <p:nvPr/>
        </p:nvSpPr>
        <p:spPr>
          <a:xfrm>
            <a:off x="548640" y="2532888"/>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615184"/>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532888"/>
            <a:ext cx="9704527" cy="585216"/>
          </a:xfrm>
          <a:prstGeom prst="rect">
            <a:avLst/>
          </a:prstGeom>
          <a:noFill/>
          <a:ln/>
        </p:spPr>
        <p:txBody>
          <a:bodyPr wrap="square" lIns="0" tIns="0" rIns="0" bIns="0" rtlCol="0" anchor="ctr"/>
          <a:lstStyle/>
          <a:p>
            <a:pPr indent="0" marL="0">
              <a:buNone/>
            </a:pPr>
            <a:r>
              <a:rPr lang="en-US" sz="1700" b="1" dirty="0">
                <a:solidFill>
                  <a:schemeClr val="bg1"/>
                </a:solidFill>
              </a:rPr>
              <a:t>One class works for any element type</a:t>
            </a:r>
            <a:endParaRPr lang="en-US" sz="1700" dirty="0"/>
          </a:p>
        </p:txBody>
      </p:sp>
      <p:pic>
        <p:nvPicPr>
          <p:cNvPr id="11" name="Image 0" descr="Correct mark">    </p:cNvPr>
          <p:cNvPicPr>
            <a:picLocks noChangeAspect="1"/>
          </p:cNvPicPr>
          <p:nvPr/>
        </p:nvPicPr>
        <p:blipFill>
          <a:blip r:embed="rId1"/>
          <a:stretch>
            <a:fillRect/>
          </a:stretch>
        </p:blipFill>
        <p:spPr>
          <a:xfrm>
            <a:off x="11094415" y="2642616"/>
            <a:ext cx="365760" cy="365760"/>
          </a:xfrm>
          <a:prstGeom prst="rect">
            <a:avLst/>
          </a:prstGeom>
        </p:spPr>
      </p:pic>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rPr>
              <a:t>It can hold ints without wrapper classes</a:t>
            </a:r>
            <a:endParaRPr lang="en-US"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US" sz="1700" dirty="0">
                <a:solidFill>
                  <a:schemeClr val="tx2"/>
                </a:solidFill>
              </a:rPr>
              <a:t>It stops the list from growing too big</a:t>
            </a:r>
            <a:endParaRPr lang="en-US"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tx1"/>
                </a:solidFill>
              </a:rPr>
              <a:t>E is filled in when we create the list, so the same class and the same methods work for Strings, Integers, Students or any other class. Without generics we’d write, and fix, a separate class for every type. C is a trap: generics still need wrapper classes, as Part 4 shows.</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GENERICS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ArrayList methods</a:t>
            </a:r>
            <a:endParaRPr lang="en-US" sz="3400" dirty="0"/>
          </a:p>
        </p:txBody>
      </p:sp>
      <p:graphicFrame>
        <p:nvGraphicFramePr>
          <p:cNvPr id="43"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371600"/>
                <a:gridCol w="3931920"/>
                <a:gridCol w="5790895"/>
              </a:tblGrid>
              <a:tr h="411480">
                <a:tc>
                  <a:txBody>
                    <a:bodyPr/>
                    <a:lstStyle/>
                    <a:p>
                      <a:pPr indent="0" marL="0">
                        <a:buNone/>
                      </a:pPr>
                      <a:r>
                        <a:rPr lang="en-US" sz="1500" b="1" dirty="0">
                          <a:solidFill>
                            <a:srgbClr val="FFFFFF"/>
                          </a:solidFill>
                        </a:rPr>
                        <a:t>Returns</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indent="0" marL="0">
                        <a:buNone/>
                      </a:pPr>
                      <a:r>
                        <a:rPr lang="en-US" sz="1500" b="1" dirty="0">
                          <a:solidFill>
                            <a:srgbClr val="FFFFFF"/>
                          </a:solidFill>
                        </a:rPr>
                        <a:t>Method</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indent="0" marL="0">
                        <a:buNone/>
                      </a:pPr>
                      <a:r>
                        <a:rPr lang="en-US" sz="1500" b="1" dirty="0">
                          <a:solidFill>
                            <a:srgbClr val="FFFFFF"/>
                          </a:solidFill>
                        </a:rPr>
                        <a:t>What it does</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r>
              <a:tr h="41148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boolean</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add(E e)</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Adds e at the end, then returns true</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void</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add(int index, E e)</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Puts e at that index; later items move up one place</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E</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get(int index)</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Gives back the item at that index</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E</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set(int index, E e)</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Replaces the item at that index and gives back the old one</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E</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remove(int index)</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Takes out the item at that index and gives it back</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boolean</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remove(Object o)</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Takes out the first match; true if it was there</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int</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size()</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Gives back how many items the list holds</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boolean</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contains(Object o)</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Gives back true if the list holds o</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void</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sort(Comparator&lt;? super E&gt; c)</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rPr>
                        <a:t>Sorts the list in the order the Comparator gives</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943600"/>
            <a:ext cx="11094415" cy="292608"/>
          </a:xfrm>
          <a:prstGeom prst="rect">
            <a:avLst/>
          </a:prstGeom>
          <a:noFill/>
          <a:ln/>
        </p:spPr>
        <p:txBody>
          <a:bodyPr wrap="square" lIns="0" tIns="0" rIns="0" bIns="0" rtlCol="0" anchor="t"/>
          <a:lstStyle/>
          <a:p>
            <a:pPr algn="l" indent="0" marL="0">
              <a:buNone/>
            </a:pPr>
            <a:r>
              <a:rPr lang="en-US" sz="1300" i="1" dirty="0">
                <a:solidFill>
                  <a:schemeClr val="tx2"/>
                </a:solidFill>
              </a:rPr>
              <a:t>E is the element type: for an </a:t>
            </a:r>
            <a:r>
              <a:rPr lang="en-US" sz="1300" dirty="0">
                <a:solidFill>
                  <a:schemeClr val="accent2"/>
                </a:solidFill>
                <a:latin typeface="Consolas" pitchFamily="34" charset="0"/>
                <a:ea typeface="Consolas" pitchFamily="34" charset="-122"/>
                <a:cs typeface="Consolas" pitchFamily="34" charset="-120"/>
              </a:rPr>
              <a:t>ArrayList&lt;String&gt;</a:t>
            </a:r>
            <a:r>
              <a:rPr lang="en-US" sz="1300" i="1" dirty="0">
                <a:solidFill>
                  <a:schemeClr val="tx2"/>
                </a:solidFill>
              </a:rPr>
              <a:t>, </a:t>
            </a:r>
            <a:r>
              <a:rPr lang="en-US" sz="1300" dirty="0">
                <a:solidFill>
                  <a:schemeClr val="accent2"/>
                </a:solidFill>
                <a:latin typeface="Consolas" pitchFamily="34" charset="0"/>
                <a:ea typeface="Consolas" pitchFamily="34" charset="-122"/>
                <a:cs typeface="Consolas" pitchFamily="34" charset="-120"/>
              </a:rPr>
              <a:t>get</a:t>
            </a:r>
            <a:r>
              <a:rPr lang="en-US" sz="1300" i="1" dirty="0">
                <a:solidFill>
                  <a:schemeClr val="tx2"/>
                </a:solidFill>
              </a:rPr>
              <a:t> gives back a String.</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14</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ArrayList methods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this code print?</a:t>
            </a:r>
            <a:endParaRPr lang="en-US" sz="2800" dirty="0"/>
          </a:p>
        </p:txBody>
      </p:sp>
      <p:sp>
        <p:nvSpPr>
          <p:cNvPr id="5" name="Question code card"/>
          <p:cNvSpPr/>
          <p:nvPr/>
        </p:nvSpPr>
        <p:spPr>
          <a:xfrm>
            <a:off x="548640" y="2898648"/>
            <a:ext cx="6035040" cy="2157984"/>
          </a:xfrm>
          <a:prstGeom prst="roundRect">
            <a:avLst>
              <a:gd name="adj" fmla="val 5085"/>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3017520"/>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3392424"/>
            <a:ext cx="5486400" cy="1463040"/>
          </a:xfrm>
          <a:prstGeom prst="rect">
            <a:avLst/>
          </a:prstGeom>
          <a:noFill/>
          <a:ln/>
        </p:spPr>
        <p:txBody>
          <a:bodyPr wrap="square" lIns="0" tIns="0" rIns="0" bIns="0" rtlCol="0" anchor="t"/>
          <a:lstStyle/>
          <a:p>
            <a:pPr indent="0" marL="0">
              <a:lnSpc>
                <a:spcPts val="1850"/>
              </a:lnSpc>
              <a:buNone/>
            </a:pPr>
            <a:r>
              <a:rPr lang="en-US" sz="1400" dirty="0">
                <a:solidFill>
                  <a:srgbClr val="6CC4E8"/>
                </a:solidFill>
                <a:latin typeface="Consolas" pitchFamily="34" charset="0"/>
                <a:ea typeface="Consolas" pitchFamily="34" charset="-122"/>
                <a:cs typeface="Consolas" pitchFamily="34" charset="-120"/>
              </a:rPr>
              <a:t>ArrayList</a:t>
            </a:r>
            <a:r>
              <a:rPr lang="en-US" sz="1400" dirty="0">
                <a:solidFill>
                  <a:srgbClr val="E6EBF2"/>
                </a:solidFill>
                <a:latin typeface="Consolas" pitchFamily="34" charset="0"/>
                <a:ea typeface="Consolas" pitchFamily="34" charset="-122"/>
                <a:cs typeface="Consolas" pitchFamily="34" charset="-120"/>
              </a:rPr>
              <a:t>&lt;</a:t>
            </a:r>
            <a:r>
              <a:rPr lang="en-US" sz="1400" dirty="0">
                <a:solidFill>
                  <a:srgbClr val="6CC4E8"/>
                </a:solidFill>
                <a:latin typeface="Consolas" pitchFamily="34" charset="0"/>
                <a:ea typeface="Consolas" pitchFamily="34" charset="-122"/>
                <a:cs typeface="Consolas" pitchFamily="34" charset="-120"/>
              </a:rPr>
              <a:t>String</a:t>
            </a:r>
            <a:r>
              <a:rPr lang="en-US" sz="1400" dirty="0">
                <a:solidFill>
                  <a:srgbClr val="E6EBF2"/>
                </a:solidFill>
                <a:latin typeface="Consolas" pitchFamily="34" charset="0"/>
                <a:ea typeface="Consolas" pitchFamily="34" charset="-122"/>
                <a:cs typeface="Consolas" pitchFamily="34" charset="-120"/>
              </a:rPr>
              <a:t>&gt; names = </a:t>
            </a:r>
            <a:r>
              <a:rPr lang="en-US" sz="1400" dirty="0">
                <a:solidFill>
                  <a:srgbClr val="FF9F5A"/>
                </a:solidFill>
                <a:latin typeface="Consolas" pitchFamily="34" charset="0"/>
                <a:ea typeface="Consolas" pitchFamily="34" charset="-122"/>
                <a:cs typeface="Consolas" pitchFamily="34" charset="-120"/>
              </a:rPr>
              <a:t>new </a:t>
            </a:r>
            <a:r>
              <a:rPr lang="en-US" sz="1400" dirty="0">
                <a:solidFill>
                  <a:srgbClr val="6CC4E8"/>
                </a:solidFill>
                <a:latin typeface="Consolas" pitchFamily="34" charset="0"/>
                <a:ea typeface="Consolas" pitchFamily="34" charset="-122"/>
                <a:cs typeface="Consolas" pitchFamily="34" charset="-120"/>
              </a:rPr>
              <a:t>ArrayList</a:t>
            </a:r>
            <a:r>
              <a:rPr lang="en-US" sz="1400" dirty="0">
                <a:solidFill>
                  <a:srgbClr val="E6EBF2"/>
                </a:solidFill>
                <a:latin typeface="Consolas" pitchFamily="34" charset="0"/>
                <a:ea typeface="Consolas" pitchFamily="34" charset="-122"/>
                <a:cs typeface="Consolas" pitchFamily="34" charset="-120"/>
              </a:rPr>
              <a:t>&lt;</a:t>
            </a:r>
            <a:r>
              <a:rPr lang="en-US" sz="1400" dirty="0">
                <a:solidFill>
                  <a:srgbClr val="6CC4E8"/>
                </a:solidFill>
                <a:latin typeface="Consolas" pitchFamily="34" charset="0"/>
                <a:ea typeface="Consolas" pitchFamily="34" charset="-122"/>
                <a:cs typeface="Consolas" pitchFamily="34" charset="-120"/>
              </a:rPr>
              <a:t>String</a:t>
            </a:r>
            <a:r>
              <a:rPr lang="en-US" sz="1400" dirty="0">
                <a:solidFill>
                  <a:srgbClr val="E6EBF2"/>
                </a:solidFill>
                <a:latin typeface="Consolas" pitchFamily="34" charset="0"/>
                <a:ea typeface="Consolas" pitchFamily="34" charset="-122"/>
                <a:cs typeface="Consolas" pitchFamily="34" charset="-120"/>
              </a:rPr>
              <a:t>&gt;();</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names.</a:t>
            </a:r>
            <a:r>
              <a:rPr lang="en-US" sz="1400" dirty="0">
                <a:solidFill>
                  <a:srgbClr val="C9B0FF"/>
                </a:solidFill>
                <a:latin typeface="Consolas" pitchFamily="34" charset="0"/>
                <a:ea typeface="Consolas" pitchFamily="34" charset="-122"/>
                <a:cs typeface="Consolas" pitchFamily="34" charset="-120"/>
              </a:rPr>
              <a:t>add</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"Ann"</a:t>
            </a:r>
            <a:r>
              <a:rPr lang="en-US" sz="1400" dirty="0">
                <a:solidFill>
                  <a:srgbClr val="E6EBF2"/>
                </a:solidFill>
                <a:latin typeface="Consolas" pitchFamily="34" charset="0"/>
                <a:ea typeface="Consolas" pitchFamily="34" charset="-122"/>
                <a:cs typeface="Consolas" pitchFamily="34" charset="-120"/>
              </a:rPr>
              <a:t>);</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names.</a:t>
            </a:r>
            <a:r>
              <a:rPr lang="en-US" sz="1400" dirty="0">
                <a:solidFill>
                  <a:srgbClr val="C9B0FF"/>
                </a:solidFill>
                <a:latin typeface="Consolas" pitchFamily="34" charset="0"/>
                <a:ea typeface="Consolas" pitchFamily="34" charset="-122"/>
                <a:cs typeface="Consolas" pitchFamily="34" charset="-120"/>
              </a:rPr>
              <a:t>add</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"Bob"</a:t>
            </a:r>
            <a:r>
              <a:rPr lang="en-US" sz="1400" dirty="0">
                <a:solidFill>
                  <a:srgbClr val="E6EBF2"/>
                </a:solidFill>
                <a:latin typeface="Consolas" pitchFamily="34" charset="0"/>
                <a:ea typeface="Consolas" pitchFamily="34" charset="-122"/>
                <a:cs typeface="Consolas" pitchFamily="34" charset="-120"/>
              </a:rPr>
              <a:t>);</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names.</a:t>
            </a:r>
            <a:r>
              <a:rPr lang="en-US" sz="1400" dirty="0">
                <a:solidFill>
                  <a:srgbClr val="C9B0FF"/>
                </a:solidFill>
                <a:latin typeface="Consolas" pitchFamily="34" charset="0"/>
                <a:ea typeface="Consolas" pitchFamily="34" charset="-122"/>
                <a:cs typeface="Consolas" pitchFamily="34" charset="-120"/>
              </a:rPr>
              <a:t>add</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F2C14E"/>
                </a:solidFill>
                <a:latin typeface="Consolas" pitchFamily="34" charset="0"/>
                <a:ea typeface="Consolas" pitchFamily="34" charset="-122"/>
                <a:cs typeface="Consolas" pitchFamily="34" charset="-120"/>
              </a:rPr>
              <a:t>1</a:t>
            </a:r>
            <a:r>
              <a:rPr lang="en-US" sz="1400" dirty="0">
                <a:solidFill>
                  <a:srgbClr val="E6EBF2"/>
                </a:solidFill>
                <a:latin typeface="Consolas" pitchFamily="34" charset="0"/>
                <a:ea typeface="Consolas" pitchFamily="34" charset="-122"/>
                <a:cs typeface="Consolas" pitchFamily="34" charset="-120"/>
              </a:rPr>
              <a:t>, </a:t>
            </a:r>
            <a:r>
              <a:rPr lang="en-US" sz="1400" dirty="0">
                <a:solidFill>
                  <a:srgbClr val="A9DB8C"/>
                </a:solidFill>
                <a:latin typeface="Consolas" pitchFamily="34" charset="0"/>
                <a:ea typeface="Consolas" pitchFamily="34" charset="-122"/>
                <a:cs typeface="Consolas" pitchFamily="34" charset="-120"/>
              </a:rPr>
              <a:t>"Cara"</a:t>
            </a:r>
            <a:r>
              <a:rPr lang="en-US" sz="1400" dirty="0">
                <a:solidFill>
                  <a:srgbClr val="E6EBF2"/>
                </a:solidFill>
                <a:latin typeface="Consolas" pitchFamily="34" charset="0"/>
                <a:ea typeface="Consolas" pitchFamily="34" charset="-122"/>
                <a:cs typeface="Consolas" pitchFamily="34" charset="-120"/>
              </a:rPr>
              <a:t>);</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names.</a:t>
            </a:r>
            <a:r>
              <a:rPr lang="en-US" sz="1400" dirty="0">
                <a:solidFill>
                  <a:srgbClr val="C9B0FF"/>
                </a:solidFill>
                <a:latin typeface="Consolas" pitchFamily="34" charset="0"/>
                <a:ea typeface="Consolas" pitchFamily="34" charset="-122"/>
                <a:cs typeface="Consolas" pitchFamily="34" charset="-120"/>
              </a:rPr>
              <a:t>set</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F2C14E"/>
                </a:solidFill>
                <a:latin typeface="Consolas" pitchFamily="34" charset="0"/>
                <a:ea typeface="Consolas" pitchFamily="34" charset="-122"/>
                <a:cs typeface="Consolas" pitchFamily="34" charset="-120"/>
              </a:rPr>
              <a:t>0</a:t>
            </a:r>
            <a:r>
              <a:rPr lang="en-US" sz="1400" dirty="0">
                <a:solidFill>
                  <a:srgbClr val="E6EBF2"/>
                </a:solidFill>
                <a:latin typeface="Consolas" pitchFamily="34" charset="0"/>
                <a:ea typeface="Consolas" pitchFamily="34" charset="-122"/>
                <a:cs typeface="Consolas" pitchFamily="34" charset="-120"/>
              </a:rPr>
              <a:t>, </a:t>
            </a:r>
            <a:r>
              <a:rPr lang="en-US" sz="1400" dirty="0">
                <a:solidFill>
                  <a:srgbClr val="A9DB8C"/>
                </a:solidFill>
                <a:latin typeface="Consolas" pitchFamily="34" charset="0"/>
                <a:ea typeface="Consolas" pitchFamily="34" charset="-122"/>
                <a:cs typeface="Consolas" pitchFamily="34" charset="-120"/>
              </a:rPr>
              <a:t>"Dan"</a:t>
            </a:r>
            <a:r>
              <a:rPr lang="en-US" sz="1400" dirty="0">
                <a:solidFill>
                  <a:srgbClr val="E6EBF2"/>
                </a:solidFill>
                <a:latin typeface="Consolas" pitchFamily="34" charset="0"/>
                <a:ea typeface="Consolas" pitchFamily="34" charset="-122"/>
                <a:cs typeface="Consolas" pitchFamily="34" charset="-120"/>
              </a:rPr>
              <a:t>);</a:t>
            </a:r>
            <a:endParaRPr lang="en-US" sz="1400" dirty="0"/>
          </a:p>
          <a:p>
            <a:pPr indent="0" marL="0">
              <a:lnSpc>
                <a:spcPts val="1850"/>
              </a:lnSpc>
              <a:buNone/>
            </a:pPr>
            <a:r>
              <a:rPr lang="en-US" sz="1400" dirty="0">
                <a:solidFill>
                  <a:srgbClr val="6CC4E8"/>
                </a:solidFill>
                <a:latin typeface="Consolas" pitchFamily="34" charset="0"/>
                <a:ea typeface="Consolas" pitchFamily="34" charset="-122"/>
                <a:cs typeface="Consolas" pitchFamily="34" charset="-120"/>
              </a:rPr>
              <a:t>System</a:t>
            </a:r>
            <a:r>
              <a:rPr lang="en-US" sz="1400" dirty="0">
                <a:solidFill>
                  <a:srgbClr val="E6EBF2"/>
                </a:solidFill>
                <a:latin typeface="Consolas" pitchFamily="34" charset="0"/>
                <a:ea typeface="Consolas" pitchFamily="34" charset="-122"/>
                <a:cs typeface="Consolas" pitchFamily="34" charset="-120"/>
              </a:rPr>
              <a:t>.out.</a:t>
            </a:r>
            <a:r>
              <a:rPr lang="en-US" sz="1400" dirty="0">
                <a:solidFill>
                  <a:srgbClr val="C9B0FF"/>
                </a:solidFill>
                <a:latin typeface="Consolas" pitchFamily="34" charset="0"/>
                <a:ea typeface="Consolas" pitchFamily="34" charset="-122"/>
                <a:cs typeface="Consolas" pitchFamily="34" charset="-120"/>
              </a:rPr>
              <a:t>println</a:t>
            </a:r>
            <a:r>
              <a:rPr lang="en-US" sz="1400" dirty="0">
                <a:solidFill>
                  <a:srgbClr val="E6EBF2"/>
                </a:solidFill>
                <a:latin typeface="Consolas" pitchFamily="34" charset="0"/>
                <a:ea typeface="Consolas" pitchFamily="34" charset="-122"/>
                <a:cs typeface="Consolas" pitchFamily="34" charset="-120"/>
              </a:rPr>
              <a:t>(names);</a:t>
            </a:r>
            <a:endParaRPr lang="en-US" sz="14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[Dan, Cara, Bob]</a:t>
            </a:r>
            <a:endParaRPr lang="en-US"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[Ann, Cara, Bob]</a:t>
            </a:r>
            <a:endParaRPr lang="en-US"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[Dan, Bob, Cara]</a:t>
            </a:r>
            <a:endParaRPr lang="en-US"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[Dan, Ann, Cara, Bob]</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14</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ArrayList methods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this code print?</a:t>
            </a:r>
            <a:endParaRPr lang="en-US" sz="2000" dirty="0"/>
          </a:p>
        </p:txBody>
      </p:sp>
      <p:sp>
        <p:nvSpPr>
          <p:cNvPr id="5" name="Answer code card"/>
          <p:cNvSpPr/>
          <p:nvPr/>
        </p:nvSpPr>
        <p:spPr>
          <a:xfrm>
            <a:off x="548640" y="1874520"/>
            <a:ext cx="5623560" cy="1211580"/>
          </a:xfrm>
          <a:prstGeom prst="roundRect">
            <a:avLst>
              <a:gd name="adj" fmla="val 9057"/>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809244"/>
          </a:xfrm>
          <a:prstGeom prst="rect">
            <a:avLst/>
          </a:prstGeom>
          <a:noFill/>
          <a:ln/>
        </p:spPr>
        <p:txBody>
          <a:bodyPr wrap="square" lIns="0" tIns="0" rIns="0" bIns="0" rtlCol="0" anchor="t"/>
          <a:lstStyle/>
          <a:p>
            <a:pPr indent="0" marL="0">
              <a:lnSpc>
                <a:spcPts val="1980"/>
              </a:lnSpc>
              <a:buNone/>
            </a:pPr>
            <a:r>
              <a:rPr lang="en-US" sz="1500" i="1" dirty="0">
                <a:solidFill>
                  <a:srgbClr val="A3AEC2"/>
                </a:solidFill>
                <a:latin typeface="Consolas" pitchFamily="34" charset="0"/>
                <a:ea typeface="Consolas" pitchFamily="34" charset="-122"/>
                <a:cs typeface="Consolas" pitchFamily="34" charset="-120"/>
              </a:rPr>
              <a:t>// [Ann, Bob]</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names.</a:t>
            </a:r>
            <a:r>
              <a:rPr lang="en-US" sz="1500" dirty="0">
                <a:solidFill>
                  <a:srgbClr val="C9B0FF"/>
                </a:solidFill>
                <a:latin typeface="Consolas" pitchFamily="34" charset="0"/>
                <a:ea typeface="Consolas" pitchFamily="34" charset="-122"/>
                <a:cs typeface="Consolas" pitchFamily="34" charset="-120"/>
              </a:rPr>
              <a:t>add</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F2C14E"/>
                </a:solidFill>
                <a:latin typeface="Consolas" pitchFamily="34" charset="0"/>
                <a:ea typeface="Consolas" pitchFamily="34" charset="-122"/>
                <a:cs typeface="Consolas" pitchFamily="34" charset="-120"/>
              </a:rPr>
              <a:t>1</a:t>
            </a: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A9DB8C"/>
                </a:solidFill>
                <a:latin typeface="Consolas" pitchFamily="34" charset="0"/>
                <a:ea typeface="Consolas" pitchFamily="34" charset="-122"/>
                <a:cs typeface="Consolas" pitchFamily="34" charset="-120"/>
              </a:rPr>
              <a:t>"Cara"</a:t>
            </a:r>
            <a:r>
              <a:rPr lang="en-US" sz="1500" dirty="0">
                <a:solidFill>
                  <a:srgbClr val="E6EBF2"/>
                </a:solidFill>
                <a:latin typeface="Consolas" pitchFamily="34" charset="0"/>
                <a:ea typeface="Consolas" pitchFamily="34" charset="-122"/>
                <a:cs typeface="Consolas" pitchFamily="34" charset="-120"/>
              </a:rPr>
              <a:t>);   </a:t>
            </a:r>
            <a:r>
              <a:rPr lang="en-US" sz="1500" i="1" dirty="0">
                <a:solidFill>
                  <a:srgbClr val="A3AEC2"/>
                </a:solidFill>
                <a:latin typeface="Consolas" pitchFamily="34" charset="0"/>
                <a:ea typeface="Consolas" pitchFamily="34" charset="-122"/>
                <a:cs typeface="Consolas" pitchFamily="34" charset="-120"/>
              </a:rPr>
              <a:t>// [Ann, Cara, Bob]</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names.</a:t>
            </a:r>
            <a:r>
              <a:rPr lang="en-US" sz="1500" dirty="0">
                <a:solidFill>
                  <a:srgbClr val="C9B0FF"/>
                </a:solidFill>
                <a:latin typeface="Consolas" pitchFamily="34" charset="0"/>
                <a:ea typeface="Consolas" pitchFamily="34" charset="-122"/>
                <a:cs typeface="Consolas" pitchFamily="34" charset="-120"/>
              </a:rPr>
              <a:t>set</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F2C14E"/>
                </a:solidFill>
                <a:latin typeface="Consolas" pitchFamily="34" charset="0"/>
                <a:ea typeface="Consolas" pitchFamily="34" charset="-122"/>
                <a:cs typeface="Consolas" pitchFamily="34" charset="-120"/>
              </a:rPr>
              <a:t>0</a:t>
            </a: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A9DB8C"/>
                </a:solidFill>
                <a:latin typeface="Consolas" pitchFamily="34" charset="0"/>
                <a:ea typeface="Consolas" pitchFamily="34" charset="-122"/>
                <a:cs typeface="Consolas" pitchFamily="34" charset="-120"/>
              </a:rPr>
              <a:t>"Dan"</a:t>
            </a:r>
            <a:r>
              <a:rPr lang="en-US" sz="1500" dirty="0">
                <a:solidFill>
                  <a:srgbClr val="E6EBF2"/>
                </a:solidFill>
                <a:latin typeface="Consolas" pitchFamily="34" charset="0"/>
                <a:ea typeface="Consolas" pitchFamily="34" charset="-122"/>
                <a:cs typeface="Consolas" pitchFamily="34" charset="-120"/>
              </a:rPr>
              <a:t>);    </a:t>
            </a:r>
            <a:r>
              <a:rPr lang="en-US" sz="1500" i="1" dirty="0">
                <a:solidFill>
                  <a:srgbClr val="A3AEC2"/>
                </a:solidFill>
                <a:latin typeface="Consolas" pitchFamily="34" charset="0"/>
                <a:ea typeface="Consolas" pitchFamily="34" charset="-122"/>
                <a:cs typeface="Consolas" pitchFamily="34" charset="-120"/>
              </a:rPr>
              <a:t>// [Dan, Cara, Bob]</a:t>
            </a:r>
            <a:endParaRPr lang="en-US" sz="1500" dirty="0"/>
          </a:p>
        </p:txBody>
      </p:sp>
      <p:sp>
        <p:nvSpPr>
          <p:cNvPr id="7" name="Option A (correct)"/>
          <p:cNvSpPr/>
          <p:nvPr/>
        </p:nvSpPr>
        <p:spPr>
          <a:xfrm>
            <a:off x="548640" y="3314700"/>
            <a:ext cx="5623560" cy="581787"/>
          </a:xfrm>
          <a:prstGeom prst="roundRect">
            <a:avLst>
              <a:gd name="adj" fmla="val 18861"/>
            </a:avLst>
          </a:prstGeom>
          <a:solidFill>
            <a:schemeClr val="accent3"/>
          </a:solidFill>
          <a:ln/>
          <a:effectLst>
            <a:outerShdw sx="100000" sy="100000" kx="0" ky="0" algn="bl" rotWithShape="0" blurRad="114300" dist="31750" dir="5400000">
              <a:srgbClr val="1D2433">
                <a:alpha val="12000"/>
              </a:srgbClr>
            </a:outerShdw>
          </a:effectLst>
        </p:spPr>
      </p:sp>
      <p:sp>
        <p:nvSpPr>
          <p:cNvPr id="8" name="Letter A"/>
          <p:cNvSpPr/>
          <p:nvPr/>
        </p:nvSpPr>
        <p:spPr>
          <a:xfrm>
            <a:off x="749808" y="339528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9" name="Option A text"/>
          <p:cNvSpPr txBox="1"/>
          <p:nvPr/>
        </p:nvSpPr>
        <p:spPr>
          <a:xfrm>
            <a:off x="1371600" y="3314700"/>
            <a:ext cx="4233672" cy="581787"/>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[Dan, Cara, Bob]</a:t>
            </a:r>
            <a:endParaRPr lang="en-US" sz="1700" dirty="0"/>
          </a:p>
        </p:txBody>
      </p:sp>
      <p:pic>
        <p:nvPicPr>
          <p:cNvPr id="10" name="Image 0" descr="Correct mark">    </p:cNvPr>
          <p:cNvPicPr>
            <a:picLocks noChangeAspect="1"/>
          </p:cNvPicPr>
          <p:nvPr/>
        </p:nvPicPr>
        <p:blipFill>
          <a:blip r:embed="rId1"/>
          <a:stretch>
            <a:fillRect/>
          </a:stretch>
        </p:blipFill>
        <p:spPr>
          <a:xfrm>
            <a:off x="5623560" y="3422714"/>
            <a:ext cx="365760" cy="365760"/>
          </a:xfrm>
          <a:prstGeom prst="rect">
            <a:avLst/>
          </a:prstGeom>
        </p:spPr>
      </p:pic>
      <p:sp>
        <p:nvSpPr>
          <p:cNvPr id="11" name="Option B"/>
          <p:cNvSpPr/>
          <p:nvPr/>
        </p:nvSpPr>
        <p:spPr>
          <a:xfrm>
            <a:off x="548640" y="4042791"/>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2" name="Letter B"/>
          <p:cNvSpPr/>
          <p:nvPr/>
        </p:nvSpPr>
        <p:spPr>
          <a:xfrm>
            <a:off x="749808" y="4123373"/>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3" name="Option B text"/>
          <p:cNvSpPr txBox="1"/>
          <p:nvPr/>
        </p:nvSpPr>
        <p:spPr>
          <a:xfrm>
            <a:off x="1371600" y="4042791"/>
            <a:ext cx="4572000" cy="581787"/>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[Ann, Cara, Bob]</a:t>
            </a:r>
            <a:endParaRPr lang="en-US" sz="1700" dirty="0"/>
          </a:p>
        </p:txBody>
      </p:sp>
      <p:sp>
        <p:nvSpPr>
          <p:cNvPr id="14" name="Option C"/>
          <p:cNvSpPr/>
          <p:nvPr/>
        </p:nvSpPr>
        <p:spPr>
          <a:xfrm>
            <a:off x="548640" y="4770882"/>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5146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6" name="Option C text"/>
          <p:cNvSpPr txBox="1"/>
          <p:nvPr/>
        </p:nvSpPr>
        <p:spPr>
          <a:xfrm>
            <a:off x="1371600" y="4770882"/>
            <a:ext cx="4572000" cy="581787"/>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[Dan, Bob, Cara]</a:t>
            </a:r>
            <a:endParaRPr lang="en-US" sz="1700" dirty="0"/>
          </a:p>
        </p:txBody>
      </p:sp>
      <p:sp>
        <p:nvSpPr>
          <p:cNvPr id="17" name="Option D"/>
          <p:cNvSpPr/>
          <p:nvPr/>
        </p:nvSpPr>
        <p:spPr>
          <a:xfrm>
            <a:off x="548640" y="5498973"/>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79555"/>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498973"/>
            <a:ext cx="4572000" cy="581787"/>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[Dan, Ann, Cara, Bob]</a:t>
            </a:r>
            <a:endParaRPr lang="en-US"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add(1, "Cara")</a:t>
            </a:r>
            <a:r>
              <a:rPr lang="en-US" sz="1800" dirty="0">
                <a:solidFill>
                  <a:schemeClr val="tx1"/>
                </a:solidFill>
              </a:rPr>
              <a:t> puts Cara at index 1 and moves Bob along, giving </a:t>
            </a:r>
            <a:r>
              <a:rPr lang="en-US" sz="1800" dirty="0">
                <a:solidFill>
                  <a:schemeClr val="accent2"/>
                </a:solidFill>
                <a:latin typeface="Consolas" pitchFamily="34" charset="0"/>
                <a:ea typeface="Consolas" pitchFamily="34" charset="-122"/>
                <a:cs typeface="Consolas" pitchFamily="34" charset="-120"/>
              </a:rPr>
              <a:t>[Ann, Cara, Bob]</a:t>
            </a:r>
            <a:r>
              <a:rPr lang="en-US" sz="1800" dirty="0">
                <a:solidFill>
                  <a:schemeClr val="tx1"/>
                </a:solidFill>
              </a:rPr>
              <a:t>. Then </a:t>
            </a:r>
            <a:r>
              <a:rPr lang="en-US" sz="1800" dirty="0">
                <a:solidFill>
                  <a:schemeClr val="accent2"/>
                </a:solidFill>
                <a:latin typeface="Consolas" pitchFamily="34" charset="0"/>
                <a:ea typeface="Consolas" pitchFamily="34" charset="-122"/>
                <a:cs typeface="Consolas" pitchFamily="34" charset="-120"/>
              </a:rPr>
              <a:t>set(0, "Dan")</a:t>
            </a:r>
            <a:r>
              <a:rPr lang="en-US" sz="1800" dirty="0">
                <a:solidFill>
                  <a:schemeClr val="tx1"/>
                </a:solidFill>
              </a:rPr>
              <a:t> replaces Ann rather than adding a new item, so the list is </a:t>
            </a:r>
            <a:r>
              <a:rPr lang="en-US" sz="1800" dirty="0">
                <a:solidFill>
                  <a:schemeClr val="accent2"/>
                </a:solidFill>
                <a:latin typeface="Consolas" pitchFamily="34" charset="0"/>
                <a:ea typeface="Consolas" pitchFamily="34" charset="-122"/>
                <a:cs typeface="Consolas" pitchFamily="34" charset="-120"/>
              </a:rPr>
              <a:t>[Dan, Cara, Bob]</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15</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ArrayList methods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accent2"/>
                </a:solidFill>
                <a:latin typeface="Consolas" pitchFamily="34" charset="0"/>
                <a:ea typeface="Consolas" pitchFamily="34" charset="-122"/>
                <a:cs typeface="Consolas" pitchFamily="34" charset="-120"/>
              </a:rPr>
              <a:t>names</a:t>
            </a:r>
            <a:r>
              <a:rPr lang="en-US" sz="2800" b="1" dirty="0">
                <a:solidFill>
                  <a:schemeClr val="tx1"/>
                </a:solidFill>
              </a:rPr>
              <a:t> is </a:t>
            </a:r>
            <a:r>
              <a:rPr lang="en-US" sz="2800" b="1" dirty="0">
                <a:solidFill>
                  <a:schemeClr val="accent2"/>
                </a:solidFill>
                <a:latin typeface="Consolas" pitchFamily="34" charset="0"/>
                <a:ea typeface="Consolas" pitchFamily="34" charset="-122"/>
                <a:cs typeface="Consolas" pitchFamily="34" charset="-120"/>
              </a:rPr>
              <a:t>[Dan, Cara, Bob]</a:t>
            </a:r>
            <a:r>
              <a:rPr lang="en-US" sz="2800" b="1" dirty="0">
                <a:solidFill>
                  <a:schemeClr val="tx1"/>
                </a:solidFill>
              </a:rPr>
              <a:t>. What does </a:t>
            </a:r>
            <a:r>
              <a:rPr lang="en-US" sz="2800" b="1" dirty="0">
                <a:solidFill>
                  <a:schemeClr val="accent2"/>
                </a:solidFill>
                <a:latin typeface="Consolas" pitchFamily="34" charset="0"/>
                <a:ea typeface="Consolas" pitchFamily="34" charset="-122"/>
                <a:cs typeface="Consolas" pitchFamily="34" charset="-120"/>
              </a:rPr>
              <a:t>names.remove(0)</a:t>
            </a:r>
            <a:r>
              <a:rPr lang="en-US" sz="2800" b="1" dirty="0">
                <a:solidFill>
                  <a:schemeClr val="tx1"/>
                </a:solidFill>
              </a:rPr>
              <a:t> give back?</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true</a:t>
            </a:r>
            <a:r>
              <a:rPr lang="en-US" sz="2000" dirty="0">
                <a:solidFill>
                  <a:schemeClr val="tx1"/>
                </a:solidFill>
              </a:rPr>
              <a:t>, to say it worked</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Nothing, as it’s a void method</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"Dan"</a:t>
            </a:r>
            <a:r>
              <a:rPr lang="en-US" sz="2000" dirty="0">
                <a:solidFill>
                  <a:schemeClr val="tx1"/>
                </a:solidFill>
              </a:rPr>
              <a:t>, the item it removed</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2</a:t>
            </a:r>
            <a:r>
              <a:rPr lang="en-US" sz="2000" dirty="0">
                <a:solidFill>
                  <a:schemeClr val="tx1"/>
                </a:solidFill>
              </a:rPr>
              <a:t>, the new size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15</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ArrayList methods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latin typeface="Consolas" pitchFamily="34" charset="0"/>
                <a:ea typeface="Consolas" pitchFamily="34" charset="-122"/>
                <a:cs typeface="Consolas" pitchFamily="34" charset="-120"/>
              </a:rPr>
              <a:t>names</a:t>
            </a:r>
            <a:r>
              <a:rPr lang="en-US" sz="2000" b="1" dirty="0">
                <a:solidFill>
                  <a:schemeClr val="tx2"/>
                </a:solidFill>
              </a:rPr>
              <a:t> is </a:t>
            </a:r>
            <a:r>
              <a:rPr lang="en-US" sz="2000" b="1" dirty="0">
                <a:solidFill>
                  <a:schemeClr val="tx2"/>
                </a:solidFill>
                <a:latin typeface="Consolas" pitchFamily="34" charset="0"/>
                <a:ea typeface="Consolas" pitchFamily="34" charset="-122"/>
                <a:cs typeface="Consolas" pitchFamily="34" charset="-120"/>
              </a:rPr>
              <a:t>[Dan, Cara, Bob]</a:t>
            </a:r>
            <a:r>
              <a:rPr lang="en-US" sz="2000" b="1" dirty="0">
                <a:solidFill>
                  <a:schemeClr val="tx2"/>
                </a:solidFill>
              </a:rPr>
              <a:t>. What does </a:t>
            </a:r>
            <a:r>
              <a:rPr lang="en-US" sz="2000" b="1" dirty="0">
                <a:solidFill>
                  <a:schemeClr val="tx2"/>
                </a:solidFill>
                <a:latin typeface="Consolas" pitchFamily="34" charset="0"/>
                <a:ea typeface="Consolas" pitchFamily="34" charset="-122"/>
                <a:cs typeface="Consolas" pitchFamily="34" charset="-120"/>
              </a:rPr>
              <a:t>names.remove(0)</a:t>
            </a:r>
            <a:r>
              <a:rPr lang="en-US" sz="2000" b="1" dirty="0">
                <a:solidFill>
                  <a:schemeClr val="tx2"/>
                </a:solidFill>
              </a:rPr>
              <a:t> give back?</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true</a:t>
            </a:r>
            <a:r>
              <a:rPr lang="en-US" sz="1700" dirty="0">
                <a:solidFill>
                  <a:schemeClr val="tx2"/>
                </a:solidFill>
              </a:rPr>
              <a:t>, to say it worked</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Nothing, as it’s a void method</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"Dan"</a:t>
            </a:r>
            <a:r>
              <a:rPr lang="en-US" sz="1700" b="1" dirty="0">
                <a:solidFill>
                  <a:schemeClr val="bg1"/>
                </a:solidFill>
              </a:rPr>
              <a:t>, the item it removed</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2</a:t>
            </a:r>
            <a:r>
              <a:rPr lang="en-US" sz="1700" dirty="0">
                <a:solidFill>
                  <a:schemeClr val="tx2"/>
                </a:solidFill>
              </a:rPr>
              <a:t>, the new size</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remove(int index)</a:t>
            </a:r>
            <a:r>
              <a:rPr lang="en-US" sz="1800" dirty="0">
                <a:solidFill>
                  <a:schemeClr val="tx1"/>
                </a:solidFill>
              </a:rPr>
              <a:t> takes the item out of the list and gives it back, so we get </a:t>
            </a:r>
            <a:r>
              <a:rPr lang="en-US" sz="1800" dirty="0">
                <a:solidFill>
                  <a:schemeClr val="accent2"/>
                </a:solidFill>
                <a:latin typeface="Consolas" pitchFamily="34" charset="0"/>
                <a:ea typeface="Consolas" pitchFamily="34" charset="-122"/>
                <a:cs typeface="Consolas" pitchFamily="34" charset="-120"/>
              </a:rPr>
              <a:t>"Dan"</a:t>
            </a:r>
            <a:r>
              <a:rPr lang="en-US" sz="1800" dirty="0">
                <a:solidFill>
                  <a:schemeClr val="tx1"/>
                </a:solidFill>
              </a:rPr>
              <a:t> and the list becomes </a:t>
            </a:r>
            <a:r>
              <a:rPr lang="en-US" sz="1800" dirty="0">
                <a:solidFill>
                  <a:schemeClr val="accent2"/>
                </a:solidFill>
                <a:latin typeface="Consolas" pitchFamily="34" charset="0"/>
                <a:ea typeface="Consolas" pitchFamily="34" charset="-122"/>
                <a:cs typeface="Consolas" pitchFamily="34" charset="-120"/>
              </a:rPr>
              <a:t>[Cara, Bob]</a:t>
            </a:r>
            <a:r>
              <a:rPr lang="en-US" sz="1800" dirty="0">
                <a:solidFill>
                  <a:schemeClr val="tx1"/>
                </a:solidFill>
              </a:rPr>
              <a:t>. Careful: </a:t>
            </a:r>
            <a:r>
              <a:rPr lang="en-US" sz="1800" dirty="0">
                <a:solidFill>
                  <a:schemeClr val="accent2"/>
                </a:solidFill>
                <a:latin typeface="Consolas" pitchFamily="34" charset="0"/>
                <a:ea typeface="Consolas" pitchFamily="34" charset="-122"/>
                <a:cs typeface="Consolas" pitchFamily="34" charset="-120"/>
              </a:rPr>
              <a:t>remove("goodbye")</a:t>
            </a:r>
            <a:r>
              <a:rPr lang="en-US" sz="1800" dirty="0">
                <a:solidFill>
                  <a:schemeClr val="tx1"/>
                </a:solidFill>
              </a:rPr>
              <a:t>, with an item instead of an index, is a different method that returns true or false.</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GENERICS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Type parameters are just names</a:t>
            </a:r>
            <a:endParaRPr lang="en-US" sz="3400" dirty="0"/>
          </a:p>
        </p:txBody>
      </p:sp>
      <p:sp>
        <p:nvSpPr>
          <p:cNvPr id="5" name="Row E"/>
          <p:cNvSpPr/>
          <p:nvPr/>
        </p:nvSpPr>
        <p:spPr>
          <a:xfrm>
            <a:off x="548640" y="1645920"/>
            <a:ext cx="11094415" cy="512064"/>
          </a:xfrm>
          <a:prstGeom prst="roundRect">
            <a:avLst>
              <a:gd name="adj" fmla="val 21429"/>
            </a:avLst>
          </a:prstGeom>
          <a:solidFill>
            <a:schemeClr val="bg1"/>
          </a:solidFill>
          <a:ln/>
          <a:effectLst>
            <a:outerShdw sx="100000" sy="100000" kx="0" ky="0" algn="bl" rotWithShape="0" blurRad="114300" dist="31750" dir="5400000">
              <a:srgbClr val="1D2433">
                <a:alpha val="12000"/>
              </a:srgbClr>
            </a:outerShdw>
          </a:effectLst>
        </p:spPr>
      </p:sp>
      <p:sp>
        <p:nvSpPr>
          <p:cNvPr id="6" name="Shape 3"/>
          <p:cNvSpPr/>
          <p:nvPr/>
        </p:nvSpPr>
        <p:spPr>
          <a:xfrm>
            <a:off x="749808" y="1709928"/>
            <a:ext cx="384048" cy="384048"/>
          </a:xfrm>
          <a:prstGeom prst="roundRect">
            <a:avLst>
              <a:gd name="adj" fmla="val 23810"/>
            </a:avLst>
          </a:prstGeom>
          <a:solidFill>
            <a:schemeClr val="accent2">
              <a:alpha val="14000"/>
            </a:schemeClr>
          </a:solidFill>
          <a:ln/>
        </p:spPr>
      </p:sp>
      <p:sp>
        <p:nvSpPr>
          <p:cNvPr id="7" name="Text 4"/>
          <p:cNvSpPr txBox="1"/>
          <p:nvPr/>
        </p:nvSpPr>
        <p:spPr>
          <a:xfrm>
            <a:off x="749808" y="1709928"/>
            <a:ext cx="384048" cy="384048"/>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E</a:t>
            </a:r>
            <a:endParaRPr lang="en-US" sz="1800" dirty="0"/>
          </a:p>
        </p:txBody>
      </p:sp>
      <p:sp>
        <p:nvSpPr>
          <p:cNvPr id="8" name="Text 5"/>
          <p:cNvSpPr txBox="1"/>
          <p:nvPr/>
        </p:nvSpPr>
        <p:spPr>
          <a:xfrm>
            <a:off x="1371600" y="1645920"/>
            <a:ext cx="1417320" cy="512064"/>
          </a:xfrm>
          <a:prstGeom prst="rect">
            <a:avLst/>
          </a:prstGeom>
          <a:noFill/>
          <a:ln/>
        </p:spPr>
        <p:txBody>
          <a:bodyPr wrap="square" lIns="0" tIns="0" rIns="0" bIns="0" rtlCol="0" anchor="ctr"/>
          <a:lstStyle/>
          <a:p>
            <a:pPr algn="l" indent="0" marL="0">
              <a:buNone/>
            </a:pPr>
            <a:r>
              <a:rPr lang="en-US" sz="1600" b="1" dirty="0">
                <a:solidFill>
                  <a:schemeClr val="tx1"/>
                </a:solidFill>
              </a:rPr>
              <a:t>Element</a:t>
            </a:r>
            <a:endParaRPr lang="en-US" sz="1600" dirty="0"/>
          </a:p>
        </p:txBody>
      </p:sp>
      <p:sp>
        <p:nvSpPr>
          <p:cNvPr id="9" name="Text 6"/>
          <p:cNvSpPr txBox="1"/>
          <p:nvPr/>
        </p:nvSpPr>
        <p:spPr>
          <a:xfrm>
            <a:off x="2788920" y="1645920"/>
            <a:ext cx="5928055" cy="512064"/>
          </a:xfrm>
          <a:prstGeom prst="rect">
            <a:avLst/>
          </a:prstGeom>
          <a:noFill/>
          <a:ln/>
        </p:spPr>
        <p:txBody>
          <a:bodyPr wrap="square" lIns="0" tIns="0" rIns="0" bIns="0" rtlCol="0" anchor="ctr"/>
          <a:lstStyle/>
          <a:p>
            <a:pPr algn="l" indent="0" marL="0">
              <a:buNone/>
            </a:pPr>
            <a:r>
              <a:rPr lang="en-US" sz="1450" dirty="0">
                <a:solidFill>
                  <a:schemeClr val="tx2"/>
                </a:solidFill>
              </a:rPr>
              <a:t>an item in a collection</a:t>
            </a:r>
            <a:endParaRPr lang="en-US" sz="1450" dirty="0"/>
          </a:p>
        </p:txBody>
      </p:sp>
      <p:sp>
        <p:nvSpPr>
          <p:cNvPr id="10" name="Code chip"/>
          <p:cNvSpPr/>
          <p:nvPr/>
        </p:nvSpPr>
        <p:spPr>
          <a:xfrm>
            <a:off x="8854135" y="1709928"/>
            <a:ext cx="2514600" cy="384048"/>
          </a:xfrm>
          <a:prstGeom prst="roundRect">
            <a:avLst>
              <a:gd name="adj" fmla="val 1904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add(E element)</a:t>
            </a:r>
            <a:endParaRPr lang="en-US" sz="1400" dirty="0"/>
          </a:p>
        </p:txBody>
      </p:sp>
      <p:sp>
        <p:nvSpPr>
          <p:cNvPr id="11" name="Row T"/>
          <p:cNvSpPr/>
          <p:nvPr/>
        </p:nvSpPr>
        <p:spPr>
          <a:xfrm>
            <a:off x="548640" y="2240280"/>
            <a:ext cx="11094415" cy="512064"/>
          </a:xfrm>
          <a:prstGeom prst="roundRect">
            <a:avLst>
              <a:gd name="adj" fmla="val 21429"/>
            </a:avLst>
          </a:prstGeom>
          <a:solidFill>
            <a:schemeClr val="bg1"/>
          </a:solidFill>
          <a:ln/>
          <a:effectLst>
            <a:outerShdw sx="100000" sy="100000" kx="0" ky="0" algn="bl" rotWithShape="0" blurRad="114300" dist="31750" dir="5400000">
              <a:srgbClr val="1D2433">
                <a:alpha val="12000"/>
              </a:srgbClr>
            </a:outerShdw>
          </a:effectLst>
        </p:spPr>
      </p:sp>
      <p:sp>
        <p:nvSpPr>
          <p:cNvPr id="12" name="Shape 9"/>
          <p:cNvSpPr/>
          <p:nvPr/>
        </p:nvSpPr>
        <p:spPr>
          <a:xfrm>
            <a:off x="749808" y="2304288"/>
            <a:ext cx="384048" cy="384048"/>
          </a:xfrm>
          <a:prstGeom prst="roundRect">
            <a:avLst>
              <a:gd name="adj" fmla="val 23810"/>
            </a:avLst>
          </a:prstGeom>
          <a:solidFill>
            <a:schemeClr val="accent4">
              <a:alpha val="14000"/>
            </a:schemeClr>
          </a:solidFill>
          <a:ln/>
        </p:spPr>
      </p:sp>
      <p:sp>
        <p:nvSpPr>
          <p:cNvPr id="13" name="Text 10"/>
          <p:cNvSpPr txBox="1"/>
          <p:nvPr/>
        </p:nvSpPr>
        <p:spPr>
          <a:xfrm>
            <a:off x="749808" y="2304288"/>
            <a:ext cx="384048" cy="384048"/>
          </a:xfrm>
          <a:prstGeom prst="rect">
            <a:avLst/>
          </a:prstGeom>
          <a:noFill/>
          <a:ln/>
        </p:spPr>
        <p:txBody>
          <a:bodyPr wrap="square" lIns="0" tIns="0" rIns="0" bIns="0" rtlCol="0" anchor="ctr"/>
          <a:lstStyle/>
          <a:p>
            <a:pPr algn="ctr" indent="0" marL="0">
              <a:buNone/>
            </a:pPr>
            <a:r>
              <a:rPr lang="en-US" sz="1800" b="1" dirty="0">
                <a:solidFill>
                  <a:schemeClr val="accent4"/>
                </a:solidFill>
                <a:latin typeface="Consolas" pitchFamily="34" charset="0"/>
                <a:ea typeface="Consolas" pitchFamily="34" charset="-122"/>
                <a:cs typeface="Consolas" pitchFamily="34" charset="-120"/>
              </a:rPr>
              <a:t>T</a:t>
            </a:r>
            <a:endParaRPr lang="en-US" sz="1800" dirty="0"/>
          </a:p>
        </p:txBody>
      </p:sp>
      <p:sp>
        <p:nvSpPr>
          <p:cNvPr id="14" name="Text 11"/>
          <p:cNvSpPr txBox="1"/>
          <p:nvPr/>
        </p:nvSpPr>
        <p:spPr>
          <a:xfrm>
            <a:off x="1371600" y="2240280"/>
            <a:ext cx="1417320" cy="512064"/>
          </a:xfrm>
          <a:prstGeom prst="rect">
            <a:avLst/>
          </a:prstGeom>
          <a:noFill/>
          <a:ln/>
        </p:spPr>
        <p:txBody>
          <a:bodyPr wrap="square" lIns="0" tIns="0" rIns="0" bIns="0" rtlCol="0" anchor="ctr"/>
          <a:lstStyle/>
          <a:p>
            <a:pPr algn="l" indent="0" marL="0">
              <a:buNone/>
            </a:pPr>
            <a:r>
              <a:rPr lang="en-US" sz="1600" b="1" dirty="0">
                <a:solidFill>
                  <a:schemeClr val="tx1"/>
                </a:solidFill>
              </a:rPr>
              <a:t>Type</a:t>
            </a:r>
            <a:endParaRPr lang="en-US" sz="1600" dirty="0"/>
          </a:p>
        </p:txBody>
      </p:sp>
      <p:sp>
        <p:nvSpPr>
          <p:cNvPr id="15" name="Text 12"/>
          <p:cNvSpPr txBox="1"/>
          <p:nvPr/>
        </p:nvSpPr>
        <p:spPr>
          <a:xfrm>
            <a:off x="2788920" y="2240280"/>
            <a:ext cx="5928055" cy="512064"/>
          </a:xfrm>
          <a:prstGeom prst="rect">
            <a:avLst/>
          </a:prstGeom>
          <a:noFill/>
          <a:ln/>
        </p:spPr>
        <p:txBody>
          <a:bodyPr wrap="square" lIns="0" tIns="0" rIns="0" bIns="0" rtlCol="0" anchor="ctr"/>
          <a:lstStyle/>
          <a:p>
            <a:pPr algn="l" indent="0" marL="0">
              <a:buNone/>
            </a:pPr>
            <a:r>
              <a:rPr lang="en-US" sz="1450" dirty="0">
                <a:solidFill>
                  <a:schemeClr val="tx2"/>
                </a:solidFill>
              </a:rPr>
              <a:t>any type, such as String, Integer or Student</a:t>
            </a:r>
            <a:endParaRPr lang="en-US" sz="1450" dirty="0"/>
          </a:p>
        </p:txBody>
      </p:sp>
      <p:sp>
        <p:nvSpPr>
          <p:cNvPr id="16" name="Code chip"/>
          <p:cNvSpPr/>
          <p:nvPr/>
        </p:nvSpPr>
        <p:spPr>
          <a:xfrm>
            <a:off x="8854135" y="2304288"/>
            <a:ext cx="2514600" cy="384048"/>
          </a:xfrm>
          <a:prstGeom prst="roundRect">
            <a:avLst>
              <a:gd name="adj" fmla="val 1904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add(T type)</a:t>
            </a:r>
            <a:endParaRPr lang="en-US" sz="1400" dirty="0"/>
          </a:p>
        </p:txBody>
      </p:sp>
      <p:sp>
        <p:nvSpPr>
          <p:cNvPr id="17" name="Row K"/>
          <p:cNvSpPr/>
          <p:nvPr/>
        </p:nvSpPr>
        <p:spPr>
          <a:xfrm>
            <a:off x="548640" y="2834640"/>
            <a:ext cx="11094415" cy="512064"/>
          </a:xfrm>
          <a:prstGeom prst="roundRect">
            <a:avLst>
              <a:gd name="adj" fmla="val 21429"/>
            </a:avLst>
          </a:prstGeom>
          <a:solidFill>
            <a:schemeClr val="bg1"/>
          </a:solidFill>
          <a:ln/>
          <a:effectLst>
            <a:outerShdw sx="100000" sy="100000" kx="0" ky="0" algn="bl" rotWithShape="0" blurRad="114300" dist="31750" dir="5400000">
              <a:srgbClr val="1D2433">
                <a:alpha val="12000"/>
              </a:srgbClr>
            </a:outerShdw>
          </a:effectLst>
        </p:spPr>
      </p:sp>
      <p:sp>
        <p:nvSpPr>
          <p:cNvPr id="18" name="Shape 15"/>
          <p:cNvSpPr/>
          <p:nvPr/>
        </p:nvSpPr>
        <p:spPr>
          <a:xfrm>
            <a:off x="749808" y="2898648"/>
            <a:ext cx="384048" cy="384048"/>
          </a:xfrm>
          <a:prstGeom prst="roundRect">
            <a:avLst>
              <a:gd name="adj" fmla="val 23810"/>
            </a:avLst>
          </a:prstGeom>
          <a:solidFill>
            <a:schemeClr val="accent5">
              <a:alpha val="14000"/>
            </a:schemeClr>
          </a:solidFill>
          <a:ln/>
        </p:spPr>
      </p:sp>
      <p:sp>
        <p:nvSpPr>
          <p:cNvPr id="19" name="Text 16"/>
          <p:cNvSpPr txBox="1"/>
          <p:nvPr/>
        </p:nvSpPr>
        <p:spPr>
          <a:xfrm>
            <a:off x="749808" y="2898648"/>
            <a:ext cx="384048" cy="384048"/>
          </a:xfrm>
          <a:prstGeom prst="rect">
            <a:avLst/>
          </a:prstGeom>
          <a:noFill/>
          <a:ln/>
        </p:spPr>
        <p:txBody>
          <a:bodyPr wrap="square" lIns="0" tIns="0" rIns="0" bIns="0" rtlCol="0" anchor="ctr"/>
          <a:lstStyle/>
          <a:p>
            <a:pPr algn="ctr" indent="0" marL="0">
              <a:buNone/>
            </a:pPr>
            <a:r>
              <a:rPr lang="en-US" sz="1800" b="1" dirty="0">
                <a:solidFill>
                  <a:schemeClr val="accent5"/>
                </a:solidFill>
                <a:latin typeface="Consolas" pitchFamily="34" charset="0"/>
                <a:ea typeface="Consolas" pitchFamily="34" charset="-122"/>
                <a:cs typeface="Consolas" pitchFamily="34" charset="-120"/>
              </a:rPr>
              <a:t>K</a:t>
            </a:r>
            <a:endParaRPr lang="en-US" sz="1800" dirty="0"/>
          </a:p>
        </p:txBody>
      </p:sp>
      <p:sp>
        <p:nvSpPr>
          <p:cNvPr id="20" name="Text 17"/>
          <p:cNvSpPr txBox="1"/>
          <p:nvPr/>
        </p:nvSpPr>
        <p:spPr>
          <a:xfrm>
            <a:off x="1371600" y="2834640"/>
            <a:ext cx="1417320" cy="512064"/>
          </a:xfrm>
          <a:prstGeom prst="rect">
            <a:avLst/>
          </a:prstGeom>
          <a:noFill/>
          <a:ln/>
        </p:spPr>
        <p:txBody>
          <a:bodyPr wrap="square" lIns="0" tIns="0" rIns="0" bIns="0" rtlCol="0" anchor="ctr"/>
          <a:lstStyle/>
          <a:p>
            <a:pPr algn="l" indent="0" marL="0">
              <a:buNone/>
            </a:pPr>
            <a:r>
              <a:rPr lang="en-US" sz="1600" b="1" dirty="0">
                <a:solidFill>
                  <a:schemeClr val="tx1"/>
                </a:solidFill>
              </a:rPr>
              <a:t>Key</a:t>
            </a:r>
            <a:endParaRPr lang="en-US" sz="1600" dirty="0"/>
          </a:p>
        </p:txBody>
      </p:sp>
      <p:sp>
        <p:nvSpPr>
          <p:cNvPr id="21" name="Text 18"/>
          <p:cNvSpPr txBox="1"/>
          <p:nvPr/>
        </p:nvSpPr>
        <p:spPr>
          <a:xfrm>
            <a:off x="2788920" y="2834640"/>
            <a:ext cx="5928055" cy="512064"/>
          </a:xfrm>
          <a:prstGeom prst="rect">
            <a:avLst/>
          </a:prstGeom>
          <a:noFill/>
          <a:ln/>
        </p:spPr>
        <p:txBody>
          <a:bodyPr wrap="square" lIns="0" tIns="0" rIns="0" bIns="0" rtlCol="0" anchor="ctr"/>
          <a:lstStyle/>
          <a:p>
            <a:pPr algn="l" indent="0" marL="0">
              <a:buNone/>
            </a:pPr>
            <a:r>
              <a:rPr lang="en-US" sz="1450" dirty="0">
                <a:solidFill>
                  <a:schemeClr val="tx2"/>
                </a:solidFill>
              </a:rPr>
              <a:t>usually half of a K, V pair</a:t>
            </a:r>
            <a:endParaRPr lang="en-US" sz="1450" dirty="0"/>
          </a:p>
        </p:txBody>
      </p:sp>
      <p:sp>
        <p:nvSpPr>
          <p:cNvPr id="22" name="Code chip"/>
          <p:cNvSpPr/>
          <p:nvPr/>
        </p:nvSpPr>
        <p:spPr>
          <a:xfrm>
            <a:off x="8854135" y="2898648"/>
            <a:ext cx="2514600" cy="384048"/>
          </a:xfrm>
          <a:prstGeom prst="roundRect">
            <a:avLst>
              <a:gd name="adj" fmla="val 1904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Map&lt;K, V&gt;</a:t>
            </a:r>
            <a:endParaRPr lang="en-US" sz="1400" dirty="0"/>
          </a:p>
        </p:txBody>
      </p:sp>
      <p:sp>
        <p:nvSpPr>
          <p:cNvPr id="23" name="Row V"/>
          <p:cNvSpPr/>
          <p:nvPr/>
        </p:nvSpPr>
        <p:spPr>
          <a:xfrm>
            <a:off x="548640" y="3429000"/>
            <a:ext cx="11094415" cy="512064"/>
          </a:xfrm>
          <a:prstGeom prst="roundRect">
            <a:avLst>
              <a:gd name="adj" fmla="val 21429"/>
            </a:avLst>
          </a:prstGeom>
          <a:solidFill>
            <a:schemeClr val="bg1"/>
          </a:solidFill>
          <a:ln/>
          <a:effectLst>
            <a:outerShdw sx="100000" sy="100000" kx="0" ky="0" algn="bl" rotWithShape="0" blurRad="114300" dist="31750" dir="5400000">
              <a:srgbClr val="1D2433">
                <a:alpha val="12000"/>
              </a:srgbClr>
            </a:outerShdw>
          </a:effectLst>
        </p:spPr>
      </p:sp>
      <p:sp>
        <p:nvSpPr>
          <p:cNvPr id="24" name="Shape 21"/>
          <p:cNvSpPr/>
          <p:nvPr/>
        </p:nvSpPr>
        <p:spPr>
          <a:xfrm>
            <a:off x="749808" y="3493008"/>
            <a:ext cx="384048" cy="384048"/>
          </a:xfrm>
          <a:prstGeom prst="roundRect">
            <a:avLst>
              <a:gd name="adj" fmla="val 23810"/>
            </a:avLst>
          </a:prstGeom>
          <a:solidFill>
            <a:schemeClr val="accent5">
              <a:alpha val="14000"/>
            </a:schemeClr>
          </a:solidFill>
          <a:ln/>
        </p:spPr>
      </p:sp>
      <p:sp>
        <p:nvSpPr>
          <p:cNvPr id="25" name="Text 22"/>
          <p:cNvSpPr txBox="1"/>
          <p:nvPr/>
        </p:nvSpPr>
        <p:spPr>
          <a:xfrm>
            <a:off x="749808" y="3493008"/>
            <a:ext cx="384048" cy="384048"/>
          </a:xfrm>
          <a:prstGeom prst="rect">
            <a:avLst/>
          </a:prstGeom>
          <a:noFill/>
          <a:ln/>
        </p:spPr>
        <p:txBody>
          <a:bodyPr wrap="square" lIns="0" tIns="0" rIns="0" bIns="0" rtlCol="0" anchor="ctr"/>
          <a:lstStyle/>
          <a:p>
            <a:pPr algn="ctr" indent="0" marL="0">
              <a:buNone/>
            </a:pPr>
            <a:r>
              <a:rPr lang="en-US" sz="1800" b="1" dirty="0">
                <a:solidFill>
                  <a:schemeClr val="accent5"/>
                </a:solidFill>
                <a:latin typeface="Consolas" pitchFamily="34" charset="0"/>
                <a:ea typeface="Consolas" pitchFamily="34" charset="-122"/>
                <a:cs typeface="Consolas" pitchFamily="34" charset="-120"/>
              </a:rPr>
              <a:t>V</a:t>
            </a:r>
            <a:endParaRPr lang="en-US" sz="1800" dirty="0"/>
          </a:p>
        </p:txBody>
      </p:sp>
      <p:sp>
        <p:nvSpPr>
          <p:cNvPr id="26" name="Text 23"/>
          <p:cNvSpPr txBox="1"/>
          <p:nvPr/>
        </p:nvSpPr>
        <p:spPr>
          <a:xfrm>
            <a:off x="1371600" y="3429000"/>
            <a:ext cx="1417320" cy="512064"/>
          </a:xfrm>
          <a:prstGeom prst="rect">
            <a:avLst/>
          </a:prstGeom>
          <a:noFill/>
          <a:ln/>
        </p:spPr>
        <p:txBody>
          <a:bodyPr wrap="square" lIns="0" tIns="0" rIns="0" bIns="0" rtlCol="0" anchor="ctr"/>
          <a:lstStyle/>
          <a:p>
            <a:pPr algn="l" indent="0" marL="0">
              <a:buNone/>
            </a:pPr>
            <a:r>
              <a:rPr lang="en-US" sz="1600" b="1" dirty="0">
                <a:solidFill>
                  <a:schemeClr val="tx1"/>
                </a:solidFill>
              </a:rPr>
              <a:t>Value</a:t>
            </a:r>
            <a:endParaRPr lang="en-US" sz="1600" dirty="0"/>
          </a:p>
        </p:txBody>
      </p:sp>
      <p:sp>
        <p:nvSpPr>
          <p:cNvPr id="27" name="Text 24"/>
          <p:cNvSpPr txBox="1"/>
          <p:nvPr/>
        </p:nvSpPr>
        <p:spPr>
          <a:xfrm>
            <a:off x="2788920" y="3429000"/>
            <a:ext cx="5928055" cy="512064"/>
          </a:xfrm>
          <a:prstGeom prst="rect">
            <a:avLst/>
          </a:prstGeom>
          <a:noFill/>
          <a:ln/>
        </p:spPr>
        <p:txBody>
          <a:bodyPr wrap="square" lIns="0" tIns="0" rIns="0" bIns="0" rtlCol="0" anchor="ctr"/>
          <a:lstStyle/>
          <a:p>
            <a:pPr algn="l" indent="0" marL="0">
              <a:buNone/>
            </a:pPr>
            <a:r>
              <a:rPr lang="en-US" sz="1450" dirty="0">
                <a:solidFill>
                  <a:schemeClr val="tx2"/>
                </a:solidFill>
              </a:rPr>
              <a:t>usually the other half of a K, V pair</a:t>
            </a:r>
            <a:endParaRPr lang="en-US" sz="1450" dirty="0"/>
          </a:p>
        </p:txBody>
      </p:sp>
      <p:sp>
        <p:nvSpPr>
          <p:cNvPr id="28" name="Code chip"/>
          <p:cNvSpPr/>
          <p:nvPr/>
        </p:nvSpPr>
        <p:spPr>
          <a:xfrm>
            <a:off x="8854135" y="3493008"/>
            <a:ext cx="2514600" cy="384048"/>
          </a:xfrm>
          <a:prstGeom prst="roundRect">
            <a:avLst>
              <a:gd name="adj" fmla="val 1904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Map&lt;K, V&gt;</a:t>
            </a:r>
            <a:endParaRPr lang="en-US" sz="1400" dirty="0"/>
          </a:p>
        </p:txBody>
      </p:sp>
      <p:sp>
        <p:nvSpPr>
          <p:cNvPr id="29" name="Row N"/>
          <p:cNvSpPr/>
          <p:nvPr/>
        </p:nvSpPr>
        <p:spPr>
          <a:xfrm>
            <a:off x="548640" y="4023360"/>
            <a:ext cx="11094415" cy="512064"/>
          </a:xfrm>
          <a:prstGeom prst="roundRect">
            <a:avLst>
              <a:gd name="adj" fmla="val 21429"/>
            </a:avLst>
          </a:prstGeom>
          <a:solidFill>
            <a:schemeClr val="bg1"/>
          </a:solidFill>
          <a:ln/>
          <a:effectLst>
            <a:outerShdw sx="100000" sy="100000" kx="0" ky="0" algn="bl" rotWithShape="0" blurRad="114300" dist="31750" dir="5400000">
              <a:srgbClr val="1D2433">
                <a:alpha val="12000"/>
              </a:srgbClr>
            </a:outerShdw>
          </a:effectLst>
        </p:spPr>
      </p:sp>
      <p:sp>
        <p:nvSpPr>
          <p:cNvPr id="30" name="Shape 27"/>
          <p:cNvSpPr/>
          <p:nvPr/>
        </p:nvSpPr>
        <p:spPr>
          <a:xfrm>
            <a:off x="749808" y="4087368"/>
            <a:ext cx="384048" cy="384048"/>
          </a:xfrm>
          <a:prstGeom prst="roundRect">
            <a:avLst>
              <a:gd name="adj" fmla="val 23810"/>
            </a:avLst>
          </a:prstGeom>
          <a:solidFill>
            <a:schemeClr val="accent3">
              <a:alpha val="14000"/>
            </a:schemeClr>
          </a:solidFill>
          <a:ln/>
        </p:spPr>
      </p:sp>
      <p:sp>
        <p:nvSpPr>
          <p:cNvPr id="31" name="Text 28"/>
          <p:cNvSpPr txBox="1"/>
          <p:nvPr/>
        </p:nvSpPr>
        <p:spPr>
          <a:xfrm>
            <a:off x="749808" y="4087368"/>
            <a:ext cx="384048" cy="384048"/>
          </a:xfrm>
          <a:prstGeom prst="rect">
            <a:avLst/>
          </a:prstGeom>
          <a:noFill/>
          <a:ln/>
        </p:spPr>
        <p:txBody>
          <a:bodyPr wrap="square" lIns="0" tIns="0" rIns="0" bIns="0" rtlCol="0" anchor="ctr"/>
          <a:lstStyle/>
          <a:p>
            <a:pPr algn="ctr" indent="0" marL="0">
              <a:buNone/>
            </a:pPr>
            <a:r>
              <a:rPr lang="en-US" sz="1800" b="1" dirty="0">
                <a:solidFill>
                  <a:schemeClr val="accent3"/>
                </a:solidFill>
                <a:latin typeface="Consolas" pitchFamily="34" charset="0"/>
                <a:ea typeface="Consolas" pitchFamily="34" charset="-122"/>
                <a:cs typeface="Consolas" pitchFamily="34" charset="-120"/>
              </a:rPr>
              <a:t>N</a:t>
            </a:r>
            <a:endParaRPr lang="en-US" sz="1800" dirty="0"/>
          </a:p>
        </p:txBody>
      </p:sp>
      <p:sp>
        <p:nvSpPr>
          <p:cNvPr id="32" name="Text 29"/>
          <p:cNvSpPr txBox="1"/>
          <p:nvPr/>
        </p:nvSpPr>
        <p:spPr>
          <a:xfrm>
            <a:off x="1371600" y="4023360"/>
            <a:ext cx="1417320" cy="512064"/>
          </a:xfrm>
          <a:prstGeom prst="rect">
            <a:avLst/>
          </a:prstGeom>
          <a:noFill/>
          <a:ln/>
        </p:spPr>
        <p:txBody>
          <a:bodyPr wrap="square" lIns="0" tIns="0" rIns="0" bIns="0" rtlCol="0" anchor="ctr"/>
          <a:lstStyle/>
          <a:p>
            <a:pPr algn="l" indent="0" marL="0">
              <a:buNone/>
            </a:pPr>
            <a:r>
              <a:rPr lang="en-US" sz="1600" b="1" dirty="0">
                <a:solidFill>
                  <a:schemeClr val="tx1"/>
                </a:solidFill>
              </a:rPr>
              <a:t>Number</a:t>
            </a:r>
            <a:endParaRPr lang="en-US" sz="1600" dirty="0"/>
          </a:p>
        </p:txBody>
      </p:sp>
      <p:sp>
        <p:nvSpPr>
          <p:cNvPr id="33" name="Text 30"/>
          <p:cNvSpPr txBox="1"/>
          <p:nvPr/>
        </p:nvSpPr>
        <p:spPr>
          <a:xfrm>
            <a:off x="2788920" y="4023360"/>
            <a:ext cx="5928055" cy="512064"/>
          </a:xfrm>
          <a:prstGeom prst="rect">
            <a:avLst/>
          </a:prstGeom>
          <a:noFill/>
          <a:ln/>
        </p:spPr>
        <p:txBody>
          <a:bodyPr wrap="square" lIns="0" tIns="0" rIns="0" bIns="0" rtlCol="0" anchor="ctr"/>
          <a:lstStyle/>
          <a:p>
            <a:pPr algn="l" indent="0" marL="0">
              <a:buNone/>
            </a:pPr>
            <a:r>
              <a:rPr lang="en-US" sz="1450" dirty="0">
                <a:solidFill>
                  <a:schemeClr val="tx2"/>
                </a:solidFill>
              </a:rPr>
              <a:t>a number type</a:t>
            </a:r>
            <a:endParaRPr lang="en-US" sz="1450" dirty="0"/>
          </a:p>
        </p:txBody>
      </p:sp>
      <p:sp>
        <p:nvSpPr>
          <p:cNvPr id="34" name="Code chip"/>
          <p:cNvSpPr/>
          <p:nvPr/>
        </p:nvSpPr>
        <p:spPr>
          <a:xfrm>
            <a:off x="8854135" y="4087368"/>
            <a:ext cx="2514600" cy="384048"/>
          </a:xfrm>
          <a:prstGeom prst="roundRect">
            <a:avLst>
              <a:gd name="adj" fmla="val 1904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add(N number)</a:t>
            </a:r>
            <a:endParaRPr lang="en-US" sz="1400" dirty="0"/>
          </a:p>
        </p:txBody>
      </p:sp>
      <p:sp>
        <p:nvSpPr>
          <p:cNvPr id="35" name="Row ?"/>
          <p:cNvSpPr/>
          <p:nvPr/>
        </p:nvSpPr>
        <p:spPr>
          <a:xfrm>
            <a:off x="548640" y="4617720"/>
            <a:ext cx="11094415" cy="512064"/>
          </a:xfrm>
          <a:prstGeom prst="roundRect">
            <a:avLst>
              <a:gd name="adj" fmla="val 21429"/>
            </a:avLst>
          </a:prstGeom>
          <a:solidFill>
            <a:schemeClr val="bg1"/>
          </a:solidFill>
          <a:ln/>
          <a:effectLst>
            <a:outerShdw sx="100000" sy="100000" kx="0" ky="0" algn="bl" rotWithShape="0" blurRad="114300" dist="31750" dir="5400000">
              <a:srgbClr val="1D2433">
                <a:alpha val="12000"/>
              </a:srgbClr>
            </a:outerShdw>
          </a:effectLst>
        </p:spPr>
      </p:sp>
      <p:sp>
        <p:nvSpPr>
          <p:cNvPr id="36" name="Shape 33"/>
          <p:cNvSpPr/>
          <p:nvPr/>
        </p:nvSpPr>
        <p:spPr>
          <a:xfrm>
            <a:off x="749808" y="4681728"/>
            <a:ext cx="384048" cy="384048"/>
          </a:xfrm>
          <a:prstGeom prst="roundRect">
            <a:avLst>
              <a:gd name="adj" fmla="val 23810"/>
            </a:avLst>
          </a:prstGeom>
          <a:solidFill>
            <a:schemeClr val="accent1">
              <a:alpha val="14000"/>
            </a:schemeClr>
          </a:solidFill>
          <a:ln/>
        </p:spPr>
      </p:sp>
      <p:sp>
        <p:nvSpPr>
          <p:cNvPr id="37" name="Text 34"/>
          <p:cNvSpPr txBox="1"/>
          <p:nvPr/>
        </p:nvSpPr>
        <p:spPr>
          <a:xfrm>
            <a:off x="749808" y="4681728"/>
            <a:ext cx="384048" cy="384048"/>
          </a:xfrm>
          <a:prstGeom prst="rect">
            <a:avLst/>
          </a:prstGeom>
          <a:noFill/>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a:t>
            </a:r>
            <a:endParaRPr lang="en-US" sz="1800" dirty="0"/>
          </a:p>
        </p:txBody>
      </p:sp>
      <p:sp>
        <p:nvSpPr>
          <p:cNvPr id="38" name="Text 35"/>
          <p:cNvSpPr txBox="1"/>
          <p:nvPr/>
        </p:nvSpPr>
        <p:spPr>
          <a:xfrm>
            <a:off x="1371600" y="4617720"/>
            <a:ext cx="1417320" cy="512064"/>
          </a:xfrm>
          <a:prstGeom prst="rect">
            <a:avLst/>
          </a:prstGeom>
          <a:noFill/>
          <a:ln/>
        </p:spPr>
        <p:txBody>
          <a:bodyPr wrap="square" lIns="0" tIns="0" rIns="0" bIns="0" rtlCol="0" anchor="ctr"/>
          <a:lstStyle/>
          <a:p>
            <a:pPr algn="l" indent="0" marL="0">
              <a:buNone/>
            </a:pPr>
            <a:r>
              <a:rPr lang="en-US" sz="1600" b="1" dirty="0">
                <a:solidFill>
                  <a:schemeClr val="tx1"/>
                </a:solidFill>
              </a:rPr>
              <a:t>Wildcard</a:t>
            </a:r>
            <a:endParaRPr lang="en-US" sz="1600" dirty="0"/>
          </a:p>
        </p:txBody>
      </p:sp>
      <p:sp>
        <p:nvSpPr>
          <p:cNvPr id="39" name="Text 36"/>
          <p:cNvSpPr txBox="1"/>
          <p:nvPr/>
        </p:nvSpPr>
        <p:spPr>
          <a:xfrm>
            <a:off x="2788920" y="4617720"/>
            <a:ext cx="5928055" cy="512064"/>
          </a:xfrm>
          <a:prstGeom prst="rect">
            <a:avLst/>
          </a:prstGeom>
          <a:noFill/>
          <a:ln/>
        </p:spPr>
        <p:txBody>
          <a:bodyPr wrap="square" lIns="0" tIns="0" rIns="0" bIns="0" rtlCol="0" anchor="ctr"/>
          <a:lstStyle/>
          <a:p>
            <a:pPr algn="l" indent="0" marL="0">
              <a:buNone/>
            </a:pPr>
            <a:r>
              <a:rPr lang="en-US" sz="1450" dirty="0">
                <a:solidFill>
                  <a:schemeClr val="tx2"/>
                </a:solidFill>
              </a:rPr>
              <a:t>an unknown type, used when we use a generic type</a:t>
            </a:r>
            <a:endParaRPr lang="en-US" sz="1450" dirty="0"/>
          </a:p>
        </p:txBody>
      </p:sp>
      <p:sp>
        <p:nvSpPr>
          <p:cNvPr id="40" name="Code chip"/>
          <p:cNvSpPr/>
          <p:nvPr/>
        </p:nvSpPr>
        <p:spPr>
          <a:xfrm>
            <a:off x="8854135" y="4681728"/>
            <a:ext cx="2514600" cy="384048"/>
          </a:xfrm>
          <a:prstGeom prst="roundRect">
            <a:avLst>
              <a:gd name="adj" fmla="val 19048"/>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List&lt;?&gt;</a:t>
            </a:r>
            <a:endParaRPr lang="en-US" sz="1400" dirty="0"/>
          </a:p>
        </p:txBody>
      </p:sp>
      <p:sp>
        <p:nvSpPr>
          <p:cNvPr id="41" name="Note"/>
          <p:cNvSpPr/>
          <p:nvPr/>
        </p:nvSpPr>
        <p:spPr>
          <a:xfrm>
            <a:off x="548640" y="5321808"/>
            <a:ext cx="11094415" cy="777240"/>
          </a:xfrm>
          <a:prstGeom prst="roundRect">
            <a:avLst>
              <a:gd name="adj" fmla="val 14118"/>
            </a:avLst>
          </a:prstGeom>
          <a:solidFill>
            <a:schemeClr val="bg2"/>
          </a:solidFill>
          <a:ln/>
        </p:spPr>
      </p:sp>
      <p:sp>
        <p:nvSpPr>
          <p:cNvPr id="42" name="Icon tile"/>
          <p:cNvSpPr/>
          <p:nvPr/>
        </p:nvSpPr>
        <p:spPr>
          <a:xfrm>
            <a:off x="822960" y="5445252"/>
            <a:ext cx="530352" cy="530352"/>
          </a:xfrm>
          <a:prstGeom prst="roundRect">
            <a:avLst>
              <a:gd name="adj" fmla="val 24000"/>
            </a:avLst>
          </a:prstGeom>
          <a:solidFill>
            <a:schemeClr val="accent2">
              <a:alpha val="14000"/>
            </a:schemeClr>
          </a:solidFill>
          <a:ln/>
        </p:spPr>
      </p:sp>
      <p:pic>
        <p:nvPicPr>
          <p:cNvPr id="43" name="Image 0" descr="tag icon">    </p:cNvPr>
          <p:cNvPicPr>
            <a:picLocks noChangeAspect="1"/>
          </p:cNvPicPr>
          <p:nvPr/>
        </p:nvPicPr>
        <p:blipFill>
          <a:blip r:embed="rId1"/>
          <a:stretch>
            <a:fillRect/>
          </a:stretch>
        </p:blipFill>
        <p:spPr>
          <a:xfrm>
            <a:off x="934334" y="5556626"/>
            <a:ext cx="307604" cy="307604"/>
          </a:xfrm>
          <a:prstGeom prst="rect">
            <a:avLst/>
          </a:prstGeom>
        </p:spPr>
      </p:pic>
      <p:sp>
        <p:nvSpPr>
          <p:cNvPr id="44" name="Text 40"/>
          <p:cNvSpPr txBox="1"/>
          <p:nvPr/>
        </p:nvSpPr>
        <p:spPr>
          <a:xfrm>
            <a:off x="1572768" y="5321808"/>
            <a:ext cx="9814255" cy="777240"/>
          </a:xfrm>
          <a:prstGeom prst="rect">
            <a:avLst/>
          </a:prstGeom>
          <a:noFill/>
          <a:ln/>
        </p:spPr>
        <p:txBody>
          <a:bodyPr wrap="square" lIns="0" tIns="0" rIns="0" bIns="0" rtlCol="0" anchor="ctr"/>
          <a:lstStyle/>
          <a:p>
            <a:pPr algn="l" indent="0" marL="0">
              <a:buNone/>
            </a:pPr>
            <a:r>
              <a:rPr lang="en-US" sz="1550" dirty="0">
                <a:solidFill>
                  <a:schemeClr val="tx1"/>
                </a:solidFill>
              </a:rPr>
              <a:t>The letters are only names: </a:t>
            </a:r>
            <a:r>
              <a:rPr lang="en-US" sz="1550" dirty="0">
                <a:solidFill>
                  <a:schemeClr val="accent2"/>
                </a:solidFill>
                <a:latin typeface="Consolas" pitchFamily="34" charset="0"/>
                <a:ea typeface="Consolas" pitchFamily="34" charset="-122"/>
                <a:cs typeface="Consolas" pitchFamily="34" charset="-120"/>
              </a:rPr>
              <a:t>add(E element)</a:t>
            </a:r>
            <a:r>
              <a:rPr lang="en-US" sz="1550" dirty="0">
                <a:solidFill>
                  <a:schemeClr val="tx1"/>
                </a:solidFill>
              </a:rPr>
              <a:t>, </a:t>
            </a:r>
            <a:r>
              <a:rPr lang="en-US" sz="1550" dirty="0">
                <a:solidFill>
                  <a:schemeClr val="accent2"/>
                </a:solidFill>
                <a:latin typeface="Consolas" pitchFamily="34" charset="0"/>
                <a:ea typeface="Consolas" pitchFamily="34" charset="-122"/>
                <a:cs typeface="Consolas" pitchFamily="34" charset="-120"/>
              </a:rPr>
              <a:t>add(T type)</a:t>
            </a:r>
            <a:r>
              <a:rPr lang="en-US" sz="1550" dirty="0">
                <a:solidFill>
                  <a:schemeClr val="tx1"/>
                </a:solidFill>
              </a:rPr>
              <a:t> and </a:t>
            </a:r>
            <a:r>
              <a:rPr lang="en-US" sz="1550" dirty="0">
                <a:solidFill>
                  <a:schemeClr val="accent2"/>
                </a:solidFill>
                <a:latin typeface="Consolas" pitchFamily="34" charset="0"/>
                <a:ea typeface="Consolas" pitchFamily="34" charset="-122"/>
                <a:cs typeface="Consolas" pitchFamily="34" charset="-120"/>
              </a:rPr>
              <a:t>add(Z zorgs)</a:t>
            </a:r>
            <a:r>
              <a:rPr lang="en-US" sz="1550" dirty="0">
                <a:solidFill>
                  <a:schemeClr val="tx1"/>
                </a:solidFill>
              </a:rPr>
              <a:t> work exactly the same.</a:t>
            </a:r>
            <a:endParaRPr lang="en-US" sz="15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16</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Type parameters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A class is declared </a:t>
            </a:r>
            <a:r>
              <a:rPr lang="en-US" sz="2800" b="1" dirty="0">
                <a:solidFill>
                  <a:schemeClr val="accent2"/>
                </a:solidFill>
                <a:latin typeface="Consolas" pitchFamily="34" charset="0"/>
                <a:ea typeface="Consolas" pitchFamily="34" charset="-122"/>
                <a:cs typeface="Consolas" pitchFamily="34" charset="-120"/>
              </a:rPr>
              <a:t>class Box&lt;Z&gt;</a:t>
            </a:r>
            <a:r>
              <a:rPr lang="en-US" sz="2800" b="1" dirty="0">
                <a:solidFill>
                  <a:schemeClr val="tx1"/>
                </a:solidFill>
              </a:rPr>
              <a:t> instead of </a:t>
            </a:r>
            <a:r>
              <a:rPr lang="en-US" sz="2800" b="1" dirty="0">
                <a:solidFill>
                  <a:schemeClr val="accent2"/>
                </a:solidFill>
                <a:latin typeface="Consolas" pitchFamily="34" charset="0"/>
                <a:ea typeface="Consolas" pitchFamily="34" charset="-122"/>
                <a:cs typeface="Consolas" pitchFamily="34" charset="-120"/>
              </a:rPr>
              <a:t>class Box&lt;T&gt;</a:t>
            </a:r>
            <a:r>
              <a:rPr lang="en-US" sz="2800" b="1" dirty="0">
                <a:solidFill>
                  <a:schemeClr val="tx1"/>
                </a:solidFill>
              </a:rPr>
              <a:t>. What changes?</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Nothing: Z is just a different name</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Box can only hold Strings</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won’t compile, as Z isn’t allowed</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Box can now hold primitive types</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16</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Type parameters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A class is declared </a:t>
            </a:r>
            <a:r>
              <a:rPr lang="en-US" sz="2000" b="1" dirty="0">
                <a:solidFill>
                  <a:schemeClr val="tx2"/>
                </a:solidFill>
                <a:latin typeface="Consolas" pitchFamily="34" charset="0"/>
                <a:ea typeface="Consolas" pitchFamily="34" charset="-122"/>
                <a:cs typeface="Consolas" pitchFamily="34" charset="-120"/>
              </a:rPr>
              <a:t>class Box&lt;Z&gt;</a:t>
            </a:r>
            <a:r>
              <a:rPr lang="en-US" sz="2000" b="1" dirty="0">
                <a:solidFill>
                  <a:schemeClr val="tx2"/>
                </a:solidFill>
              </a:rPr>
              <a:t> instead of </a:t>
            </a:r>
            <a:r>
              <a:rPr lang="en-US" sz="2000" b="1" dirty="0">
                <a:solidFill>
                  <a:schemeClr val="tx2"/>
                </a:solidFill>
                <a:latin typeface="Consolas" pitchFamily="34" charset="0"/>
                <a:ea typeface="Consolas" pitchFamily="34" charset="-122"/>
                <a:cs typeface="Consolas" pitchFamily="34" charset="-120"/>
              </a:rPr>
              <a:t>class Box&lt;T&gt;</a:t>
            </a:r>
            <a:r>
              <a:rPr lang="en-US" sz="2000" b="1" dirty="0">
                <a:solidFill>
                  <a:schemeClr val="tx2"/>
                </a:solidFill>
              </a:rPr>
              <a:t>. What changes?</a:t>
            </a:r>
            <a:endParaRPr lang="en-US"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74520"/>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Nothing: Z is just a different name</a:t>
            </a:r>
            <a:endParaRPr lang="en-US" sz="1700" dirty="0"/>
          </a:p>
        </p:txBody>
      </p:sp>
      <p:pic>
        <p:nvPicPr>
          <p:cNvPr id="8" name="Image 0"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Box can only hold Strings</a:t>
            </a:r>
            <a:endParaRPr lang="en-US"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won’t compile, as Z isn’t allowed</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Box can now hold primitive types</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A type parameter is a placeholder name, a bit like a variable name for a type. </a:t>
            </a:r>
            <a:r>
              <a:rPr lang="en-US" sz="1800" dirty="0">
                <a:solidFill>
                  <a:schemeClr val="accent2"/>
                </a:solidFill>
                <a:latin typeface="Consolas" pitchFamily="34" charset="0"/>
                <a:ea typeface="Consolas" pitchFamily="34" charset="-122"/>
                <a:cs typeface="Consolas" pitchFamily="34" charset="-120"/>
              </a:rPr>
              <a:t>Box&lt;Z&gt;</a:t>
            </a:r>
            <a:r>
              <a:rPr lang="en-US" sz="1800" dirty="0">
                <a:solidFill>
                  <a:schemeClr val="tx1"/>
                </a:solidFill>
              </a:rPr>
              <a:t> and </a:t>
            </a:r>
            <a:r>
              <a:rPr lang="en-US" sz="1800" dirty="0">
                <a:solidFill>
                  <a:schemeClr val="accent2"/>
                </a:solidFill>
                <a:latin typeface="Consolas" pitchFamily="34" charset="0"/>
                <a:ea typeface="Consolas" pitchFamily="34" charset="-122"/>
                <a:cs typeface="Consolas" pitchFamily="34" charset="-120"/>
              </a:rPr>
              <a:t>Box&lt;T&gt;</a:t>
            </a:r>
            <a:r>
              <a:rPr lang="en-US" sz="1800" dirty="0">
                <a:solidFill>
                  <a:schemeClr val="tx1"/>
                </a:solidFill>
              </a:rPr>
              <a:t> work the same way. We use E, T, K, V and N by habit, so others can guess what our class expects.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04</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Generic classes</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Writing a class that works with any type</a:t>
            </a:r>
            <a:endParaRPr lang="en-US" sz="2000" dirty="0"/>
          </a:p>
        </p:txBody>
      </p:sp>
      <p:sp>
        <p:nvSpPr>
          <p:cNvPr id="5" name="Topic chip"/>
          <p:cNvSpPr/>
          <p:nvPr/>
        </p:nvSpPr>
        <p:spPr>
          <a:xfrm>
            <a:off x="822960" y="4846320"/>
            <a:ext cx="169721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class Print&lt;E&gt;</a:t>
            </a:r>
            <a:endParaRPr lang="en-US" sz="1400" dirty="0"/>
          </a:p>
        </p:txBody>
      </p:sp>
      <p:sp>
        <p:nvSpPr>
          <p:cNvPr id="6" name="Topic chip"/>
          <p:cNvSpPr/>
          <p:nvPr/>
        </p:nvSpPr>
        <p:spPr>
          <a:xfrm>
            <a:off x="2666482" y="4846320"/>
            <a:ext cx="114226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Using it</a:t>
            </a:r>
            <a:endParaRPr lang="en-US" sz="1400" dirty="0"/>
          </a:p>
        </p:txBody>
      </p:sp>
      <p:sp>
        <p:nvSpPr>
          <p:cNvPr id="7" name="Topic chip"/>
          <p:cNvSpPr/>
          <p:nvPr/>
        </p:nvSpPr>
        <p:spPr>
          <a:xfrm>
            <a:off x="3955054" y="4846320"/>
            <a:ext cx="1789709"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Wrapper classes</a:t>
            </a:r>
            <a:endParaRPr lang="en-US" sz="1400" dirty="0"/>
          </a:p>
        </p:txBody>
      </p:sp>
      <p:pic>
        <p:nvPicPr>
          <p:cNvPr id="8"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GENERIC CLASSES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Writing a generic class</a:t>
            </a:r>
            <a:endParaRPr lang="en-US" sz="3400" dirty="0"/>
          </a:p>
        </p:txBody>
      </p:sp>
      <p:sp>
        <p:nvSpPr>
          <p:cNvPr id="5" name="Print card"/>
          <p:cNvSpPr/>
          <p:nvPr/>
        </p:nvSpPr>
        <p:spPr>
          <a:xfrm>
            <a:off x="548640" y="1691640"/>
            <a:ext cx="5486400" cy="2761488"/>
          </a:xfrm>
          <a:prstGeom prst="roundRect">
            <a:avLst>
              <a:gd name="adj" fmla="val 3974"/>
            </a:avLst>
          </a:prstGeom>
          <a:solidFill>
            <a:schemeClr val="tx1"/>
          </a:solidFill>
          <a:ln/>
          <a:effectLst>
            <a:outerShdw sx="100000" sy="100000" kx="0" ky="0" algn="bl" rotWithShape="0" blurRad="114300" dist="31750" dir="5400000">
              <a:srgbClr val="1D2433">
                <a:alpha val="12000"/>
              </a:srgbClr>
            </a:outerShdw>
          </a:effectLst>
        </p:spPr>
      </p:sp>
      <p:sp>
        <p:nvSpPr>
          <p:cNvPr id="6" name="Print label"/>
          <p:cNvSpPr txBox="1"/>
          <p:nvPr/>
        </p:nvSpPr>
        <p:spPr>
          <a:xfrm>
            <a:off x="822960" y="1810512"/>
            <a:ext cx="493776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Print text"/>
          <p:cNvSpPr txBox="1"/>
          <p:nvPr/>
        </p:nvSpPr>
        <p:spPr>
          <a:xfrm>
            <a:off x="822960" y="2185416"/>
            <a:ext cx="4937760" cy="2066544"/>
          </a:xfrm>
          <a:prstGeom prst="rect">
            <a:avLst/>
          </a:prstGeom>
          <a:noFill/>
          <a:ln/>
        </p:spPr>
        <p:txBody>
          <a:bodyPr wrap="square" lIns="0" tIns="0" rIns="0" bIns="0" rtlCol="0" anchor="t"/>
          <a:lstStyle/>
          <a:p>
            <a:pPr indent="0" marL="0">
              <a:lnSpc>
                <a:spcPts val="1980"/>
              </a:lnSpc>
              <a:buNone/>
            </a:pPr>
            <a:r>
              <a:rPr lang="en-US" sz="1500" dirty="0">
                <a:solidFill>
                  <a:srgbClr val="FF9F5A"/>
                </a:solidFill>
                <a:latin typeface="Consolas" pitchFamily="34" charset="0"/>
                <a:ea typeface="Consolas" pitchFamily="34" charset="-122"/>
                <a:cs typeface="Consolas" pitchFamily="34" charset="-120"/>
              </a:rPr>
              <a:t>public class </a:t>
            </a:r>
            <a:r>
              <a:rPr lang="en-US" sz="1500" dirty="0">
                <a:solidFill>
                  <a:srgbClr val="6CC4E8"/>
                </a:solidFill>
                <a:latin typeface="Consolas" pitchFamily="34" charset="0"/>
                <a:ea typeface="Consolas" pitchFamily="34" charset="-122"/>
                <a:cs typeface="Consolas" pitchFamily="34" charset="-120"/>
              </a:rPr>
              <a:t>Print</a:t>
            </a:r>
            <a:r>
              <a:rPr lang="en-US" sz="1500" dirty="0">
                <a:solidFill>
                  <a:srgbClr val="E6EBF2"/>
                </a:solidFill>
                <a:latin typeface="Consolas" pitchFamily="34" charset="0"/>
                <a:ea typeface="Consolas" pitchFamily="34" charset="-122"/>
                <a:cs typeface="Consolas" pitchFamily="34" charset="-120"/>
              </a:rPr>
              <a:t>&lt;</a:t>
            </a:r>
            <a:r>
              <a:rPr lang="en-US" sz="1500" dirty="0">
                <a:solidFill>
                  <a:srgbClr val="6CC4E8"/>
                </a:solidFill>
                <a:latin typeface="Consolas" pitchFamily="34" charset="0"/>
                <a:ea typeface="Consolas" pitchFamily="34" charset="-122"/>
                <a:cs typeface="Consolas" pitchFamily="34" charset="-120"/>
              </a:rPr>
              <a:t>E</a:t>
            </a:r>
            <a:r>
              <a:rPr lang="en-US" sz="1500" dirty="0">
                <a:solidFill>
                  <a:srgbClr val="E6EBF2"/>
                </a:solidFill>
                <a:latin typeface="Consolas" pitchFamily="34" charset="0"/>
                <a:ea typeface="Consolas" pitchFamily="34" charset="-122"/>
                <a:cs typeface="Consolas" pitchFamily="34" charset="-120"/>
              </a:rPr>
              <a:t>&gt;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public void </a:t>
            </a:r>
            <a:r>
              <a:rPr lang="en-US" sz="1500" dirty="0">
                <a:solidFill>
                  <a:srgbClr val="C9B0FF"/>
                </a:solidFill>
                <a:latin typeface="Consolas" pitchFamily="34" charset="0"/>
                <a:ea typeface="Consolas" pitchFamily="34" charset="-122"/>
                <a:cs typeface="Consolas" pitchFamily="34" charset="-120"/>
              </a:rPr>
              <a:t>print</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6CC4E8"/>
                </a:solidFill>
                <a:latin typeface="Consolas" pitchFamily="34" charset="0"/>
                <a:ea typeface="Consolas" pitchFamily="34" charset="-122"/>
                <a:cs typeface="Consolas" pitchFamily="34" charset="-120"/>
              </a:rPr>
              <a:t>E</a:t>
            </a:r>
            <a:r>
              <a:rPr lang="en-US" sz="1500" dirty="0">
                <a:solidFill>
                  <a:srgbClr val="E6EBF2"/>
                </a:solidFill>
                <a:latin typeface="Consolas" pitchFamily="34" charset="0"/>
                <a:ea typeface="Consolas" pitchFamily="34" charset="-122"/>
                <a:cs typeface="Consolas" pitchFamily="34" charset="-120"/>
              </a:rPr>
              <a:t>[] values)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for </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6CC4E8"/>
                </a:solidFill>
                <a:latin typeface="Consolas" pitchFamily="34" charset="0"/>
                <a:ea typeface="Consolas" pitchFamily="34" charset="-122"/>
                <a:cs typeface="Consolas" pitchFamily="34" charset="-120"/>
              </a:rPr>
              <a:t>E </a:t>
            </a:r>
            <a:r>
              <a:rPr lang="en-US" sz="1500" dirty="0">
                <a:solidFill>
                  <a:srgbClr val="E6EBF2"/>
                </a:solidFill>
                <a:latin typeface="Consolas" pitchFamily="34" charset="0"/>
                <a:ea typeface="Consolas" pitchFamily="34" charset="-122"/>
                <a:cs typeface="Consolas" pitchFamily="34" charset="-120"/>
              </a:rPr>
              <a:t>value : values)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6CC4E8"/>
                </a:solidFill>
                <a:latin typeface="Consolas" pitchFamily="34" charset="0"/>
                <a:ea typeface="Consolas" pitchFamily="34" charset="-122"/>
                <a:cs typeface="Consolas" pitchFamily="34" charset="-120"/>
              </a:rPr>
              <a:t>System</a:t>
            </a:r>
            <a:r>
              <a:rPr lang="en-US" sz="1500" dirty="0">
                <a:solidFill>
                  <a:srgbClr val="E6EBF2"/>
                </a:solidFill>
                <a:latin typeface="Consolas" pitchFamily="34" charset="0"/>
                <a:ea typeface="Consolas" pitchFamily="34" charset="-122"/>
                <a:cs typeface="Consolas" pitchFamily="34" charset="-120"/>
              </a:rPr>
              <a:t>.out.</a:t>
            </a:r>
            <a:r>
              <a:rPr lang="en-US" sz="1500" dirty="0">
                <a:solidFill>
                  <a:srgbClr val="C9B0FF"/>
                </a:solidFill>
                <a:latin typeface="Consolas" pitchFamily="34" charset="0"/>
                <a:ea typeface="Consolas" pitchFamily="34" charset="-122"/>
                <a:cs typeface="Consolas" pitchFamily="34" charset="-120"/>
              </a:rPr>
              <a:t>println</a:t>
            </a:r>
            <a:r>
              <a:rPr lang="en-US" sz="1500" dirty="0">
                <a:solidFill>
                  <a:srgbClr val="E6EBF2"/>
                </a:solidFill>
                <a:latin typeface="Consolas" pitchFamily="34" charset="0"/>
                <a:ea typeface="Consolas" pitchFamily="34" charset="-122"/>
                <a:cs typeface="Consolas" pitchFamily="34" charset="-120"/>
              </a:rPr>
              <a:t>(value);</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a:t>
            </a:r>
            <a:endParaRPr lang="en-US" sz="1500" dirty="0"/>
          </a:p>
        </p:txBody>
      </p:sp>
      <p:sp>
        <p:nvSpPr>
          <p:cNvPr id="8" name="Note"/>
          <p:cNvSpPr/>
          <p:nvPr/>
        </p:nvSpPr>
        <p:spPr>
          <a:xfrm>
            <a:off x="548640" y="4727448"/>
            <a:ext cx="5486400" cy="960120"/>
          </a:xfrm>
          <a:prstGeom prst="roundRect">
            <a:avLst>
              <a:gd name="adj" fmla="val 11429"/>
            </a:avLst>
          </a:prstGeom>
          <a:solidFill>
            <a:schemeClr val="bg2"/>
          </a:solidFill>
          <a:ln/>
        </p:spPr>
      </p:sp>
      <p:sp>
        <p:nvSpPr>
          <p:cNvPr id="9" name="Icon tile"/>
          <p:cNvSpPr/>
          <p:nvPr/>
        </p:nvSpPr>
        <p:spPr>
          <a:xfrm>
            <a:off x="822960" y="4942332"/>
            <a:ext cx="530352" cy="530352"/>
          </a:xfrm>
          <a:prstGeom prst="roundRect">
            <a:avLst>
              <a:gd name="adj" fmla="val 24000"/>
            </a:avLst>
          </a:prstGeom>
          <a:solidFill>
            <a:schemeClr val="accent2">
              <a:alpha val="14000"/>
            </a:schemeClr>
          </a:solidFill>
          <a:ln/>
        </p:spPr>
      </p:sp>
      <p:pic>
        <p:nvPicPr>
          <p:cNvPr id="10" name="Image 0" descr="tag icon">    </p:cNvPr>
          <p:cNvPicPr>
            <a:picLocks noChangeAspect="1"/>
          </p:cNvPicPr>
          <p:nvPr/>
        </p:nvPicPr>
        <p:blipFill>
          <a:blip r:embed="rId1"/>
          <a:stretch>
            <a:fillRect/>
          </a:stretch>
        </p:blipFill>
        <p:spPr>
          <a:xfrm>
            <a:off x="934334" y="5053706"/>
            <a:ext cx="307604" cy="307604"/>
          </a:xfrm>
          <a:prstGeom prst="rect">
            <a:avLst/>
          </a:prstGeom>
        </p:spPr>
      </p:pic>
      <p:sp>
        <p:nvSpPr>
          <p:cNvPr id="11" name="Text 7"/>
          <p:cNvSpPr txBox="1"/>
          <p:nvPr/>
        </p:nvSpPr>
        <p:spPr>
          <a:xfrm>
            <a:off x="1572768" y="4727448"/>
            <a:ext cx="4206240" cy="960120"/>
          </a:xfrm>
          <a:prstGeom prst="rect">
            <a:avLst/>
          </a:prstGeom>
          <a:noFill/>
          <a:ln/>
        </p:spPr>
        <p:txBody>
          <a:bodyPr wrap="square" lIns="0" tIns="0" rIns="0" bIns="0" rtlCol="0" anchor="ctr"/>
          <a:lstStyle/>
          <a:p>
            <a:pPr algn="l" indent="0" marL="0">
              <a:buNone/>
            </a:pPr>
            <a:r>
              <a:rPr lang="en-US" sz="1500" dirty="0">
                <a:solidFill>
                  <a:schemeClr val="tx1"/>
                </a:solidFill>
              </a:rPr>
              <a:t>The letter has no effect: </a:t>
            </a:r>
            <a:r>
              <a:rPr lang="en-US" sz="1500" dirty="0">
                <a:solidFill>
                  <a:schemeClr val="accent2"/>
                </a:solidFill>
                <a:latin typeface="Consolas" pitchFamily="34" charset="0"/>
                <a:ea typeface="Consolas" pitchFamily="34" charset="-122"/>
                <a:cs typeface="Consolas" pitchFamily="34" charset="-120"/>
              </a:rPr>
              <a:t>Print&lt;A&gt;</a:t>
            </a:r>
            <a:r>
              <a:rPr lang="en-US" sz="1500" dirty="0">
                <a:solidFill>
                  <a:schemeClr val="tx1"/>
                </a:solidFill>
              </a:rPr>
              <a:t> would work just as well. E just tells others it holds elements.</a:t>
            </a:r>
            <a:endParaRPr lang="en-US" sz="1500" dirty="0"/>
          </a:p>
        </p:txBody>
      </p:sp>
      <p:sp>
        <p:nvSpPr>
          <p:cNvPr id="12" name="Marker 1"/>
          <p:cNvSpPr/>
          <p:nvPr/>
        </p:nvSpPr>
        <p:spPr>
          <a:xfrm>
            <a:off x="6492240" y="188366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3" name="Text 9"/>
          <p:cNvSpPr txBox="1"/>
          <p:nvPr/>
        </p:nvSpPr>
        <p:spPr>
          <a:xfrm>
            <a:off x="7040880" y="1828800"/>
            <a:ext cx="4602175" cy="384048"/>
          </a:xfrm>
          <a:prstGeom prst="rect">
            <a:avLst/>
          </a:prstGeom>
          <a:noFill/>
          <a:ln/>
        </p:spPr>
        <p:txBody>
          <a:bodyPr wrap="square" lIns="0" tIns="0" rIns="0" bIns="0" rtlCol="0" anchor="ctr"/>
          <a:lstStyle/>
          <a:p>
            <a:pPr algn="l" indent="0" marL="0">
              <a:buNone/>
            </a:pPr>
            <a:r>
              <a:rPr lang="en-US" sz="1800" b="1" dirty="0">
                <a:solidFill>
                  <a:schemeClr val="tx1"/>
                </a:solidFill>
              </a:rPr>
              <a:t>Name a type parameter</a:t>
            </a:r>
            <a:endParaRPr lang="en-US" sz="1800" dirty="0"/>
          </a:p>
        </p:txBody>
      </p:sp>
      <p:sp>
        <p:nvSpPr>
          <p:cNvPr id="14" name="Text 10"/>
          <p:cNvSpPr txBox="1"/>
          <p:nvPr/>
        </p:nvSpPr>
        <p:spPr>
          <a:xfrm>
            <a:off x="7040880" y="2221992"/>
            <a:ext cx="4602175" cy="731520"/>
          </a:xfrm>
          <a:prstGeom prst="rect">
            <a:avLst/>
          </a:prstGeom>
          <a:noFill/>
          <a:ln/>
        </p:spPr>
        <p:txBody>
          <a:bodyPr wrap="square" lIns="0" tIns="0" rIns="0" bIns="0" rtlCol="0" anchor="t"/>
          <a:lstStyle/>
          <a:p>
            <a:pPr algn="l" indent="0" marL="0">
              <a:buNone/>
            </a:pPr>
            <a:r>
              <a:rPr lang="en-US" sz="1500" dirty="0">
                <a:solidFill>
                  <a:schemeClr val="accent2"/>
                </a:solidFill>
                <a:latin typeface="Consolas" pitchFamily="34" charset="0"/>
                <a:ea typeface="Consolas" pitchFamily="34" charset="-122"/>
                <a:cs typeface="Consolas" pitchFamily="34" charset="-120"/>
              </a:rPr>
              <a:t>&lt;E&gt;</a:t>
            </a:r>
            <a:r>
              <a:rPr lang="en-US" sz="1500" dirty="0">
                <a:solidFill>
                  <a:schemeClr val="tx2"/>
                </a:solidFill>
              </a:rPr>
              <a:t> after the class name says the element type will be given later.</a:t>
            </a:r>
            <a:endParaRPr lang="en-US" sz="1500" dirty="0"/>
          </a:p>
        </p:txBody>
      </p:sp>
      <p:sp>
        <p:nvSpPr>
          <p:cNvPr id="15" name="Marker 2"/>
          <p:cNvSpPr/>
          <p:nvPr/>
        </p:nvSpPr>
        <p:spPr>
          <a:xfrm>
            <a:off x="6492240" y="307238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Text 12"/>
          <p:cNvSpPr txBox="1"/>
          <p:nvPr/>
        </p:nvSpPr>
        <p:spPr>
          <a:xfrm>
            <a:off x="7040880" y="3017520"/>
            <a:ext cx="4602175" cy="384048"/>
          </a:xfrm>
          <a:prstGeom prst="rect">
            <a:avLst/>
          </a:prstGeom>
          <a:noFill/>
          <a:ln/>
        </p:spPr>
        <p:txBody>
          <a:bodyPr wrap="square" lIns="0" tIns="0" rIns="0" bIns="0" rtlCol="0" anchor="ctr"/>
          <a:lstStyle/>
          <a:p>
            <a:pPr algn="l" indent="0" marL="0">
              <a:buNone/>
            </a:pPr>
            <a:r>
              <a:rPr lang="en-US" sz="1800" b="1" dirty="0">
                <a:solidFill>
                  <a:schemeClr val="tx1"/>
                </a:solidFill>
              </a:rPr>
              <a:t>Use E like any type</a:t>
            </a:r>
            <a:endParaRPr lang="en-US" sz="1800" dirty="0"/>
          </a:p>
        </p:txBody>
      </p:sp>
      <p:sp>
        <p:nvSpPr>
          <p:cNvPr id="17" name="Text 13"/>
          <p:cNvSpPr txBox="1"/>
          <p:nvPr/>
        </p:nvSpPr>
        <p:spPr>
          <a:xfrm>
            <a:off x="7040880" y="3410712"/>
            <a:ext cx="4602175" cy="731520"/>
          </a:xfrm>
          <a:prstGeom prst="rect">
            <a:avLst/>
          </a:prstGeom>
          <a:noFill/>
          <a:ln/>
        </p:spPr>
        <p:txBody>
          <a:bodyPr wrap="square" lIns="0" tIns="0" rIns="0" bIns="0" rtlCol="0" anchor="t"/>
          <a:lstStyle/>
          <a:p>
            <a:pPr algn="l" indent="0" marL="0">
              <a:buNone/>
            </a:pPr>
            <a:r>
              <a:rPr lang="en-US" sz="1500" dirty="0">
                <a:solidFill>
                  <a:schemeClr val="tx2"/>
                </a:solidFill>
              </a:rPr>
              <a:t>Inside the class, E stands for that type: </a:t>
            </a:r>
            <a:r>
              <a:rPr lang="en-US" sz="1500" dirty="0">
                <a:solidFill>
                  <a:schemeClr val="accent2"/>
                </a:solidFill>
                <a:latin typeface="Consolas" pitchFamily="34" charset="0"/>
                <a:ea typeface="Consolas" pitchFamily="34" charset="-122"/>
                <a:cs typeface="Consolas" pitchFamily="34" charset="-120"/>
              </a:rPr>
              <a:t>E[] values</a:t>
            </a:r>
            <a:r>
              <a:rPr lang="en-US" sz="1500" dirty="0">
                <a:solidFill>
                  <a:schemeClr val="tx2"/>
                </a:solidFill>
              </a:rPr>
              <a:t>, </a:t>
            </a:r>
            <a:r>
              <a:rPr lang="en-US" sz="1500" dirty="0">
                <a:solidFill>
                  <a:schemeClr val="accent2"/>
                </a:solidFill>
                <a:latin typeface="Consolas" pitchFamily="34" charset="0"/>
                <a:ea typeface="Consolas" pitchFamily="34" charset="-122"/>
                <a:cs typeface="Consolas" pitchFamily="34" charset="-120"/>
              </a:rPr>
              <a:t>E value</a:t>
            </a:r>
            <a:r>
              <a:rPr lang="en-US" sz="1500" dirty="0">
                <a:solidFill>
                  <a:schemeClr val="tx2"/>
                </a:solidFill>
              </a:rPr>
              <a:t>.</a:t>
            </a:r>
            <a:endParaRPr lang="en-US" sz="1500" dirty="0"/>
          </a:p>
        </p:txBody>
      </p:sp>
      <p:sp>
        <p:nvSpPr>
          <p:cNvPr id="18" name="Marker 3"/>
          <p:cNvSpPr/>
          <p:nvPr/>
        </p:nvSpPr>
        <p:spPr>
          <a:xfrm>
            <a:off x="6492240" y="426110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5"/>
          <p:cNvSpPr txBox="1"/>
          <p:nvPr/>
        </p:nvSpPr>
        <p:spPr>
          <a:xfrm>
            <a:off x="7040880" y="4206240"/>
            <a:ext cx="4602175" cy="384048"/>
          </a:xfrm>
          <a:prstGeom prst="rect">
            <a:avLst/>
          </a:prstGeom>
          <a:noFill/>
          <a:ln/>
        </p:spPr>
        <p:txBody>
          <a:bodyPr wrap="square" lIns="0" tIns="0" rIns="0" bIns="0" rtlCol="0" anchor="ctr"/>
          <a:lstStyle/>
          <a:p>
            <a:pPr algn="l" indent="0" marL="0">
              <a:buNone/>
            </a:pPr>
            <a:r>
              <a:rPr lang="en-US" sz="1800" b="1" dirty="0">
                <a:solidFill>
                  <a:schemeClr val="tx1"/>
                </a:solidFill>
              </a:rPr>
              <a:t>Pick the type when creating one</a:t>
            </a:r>
            <a:endParaRPr lang="en-US" sz="1800" dirty="0"/>
          </a:p>
        </p:txBody>
      </p:sp>
      <p:sp>
        <p:nvSpPr>
          <p:cNvPr id="20" name="Text 16"/>
          <p:cNvSpPr txBox="1"/>
          <p:nvPr/>
        </p:nvSpPr>
        <p:spPr>
          <a:xfrm>
            <a:off x="7040880" y="4599432"/>
            <a:ext cx="4602175" cy="731520"/>
          </a:xfrm>
          <a:prstGeom prst="rect">
            <a:avLst/>
          </a:prstGeom>
          <a:noFill/>
          <a:ln/>
        </p:spPr>
        <p:txBody>
          <a:bodyPr wrap="square" lIns="0" tIns="0" rIns="0" bIns="0" rtlCol="0" anchor="t"/>
          <a:lstStyle/>
          <a:p>
            <a:pPr algn="l" indent="0" marL="0">
              <a:buNone/>
            </a:pPr>
            <a:r>
              <a:rPr lang="en-US" sz="1500" dirty="0">
                <a:solidFill>
                  <a:schemeClr val="accent2"/>
                </a:solidFill>
                <a:latin typeface="Consolas" pitchFamily="34" charset="0"/>
                <a:ea typeface="Consolas" pitchFamily="34" charset="-122"/>
                <a:cs typeface="Consolas" pitchFamily="34" charset="-120"/>
              </a:rPr>
              <a:t>new Print&lt;Integer&gt;()</a:t>
            </a:r>
            <a:r>
              <a:rPr lang="en-US" sz="1500" dirty="0">
                <a:solidFill>
                  <a:schemeClr val="tx2"/>
                </a:solidFill>
              </a:rPr>
              <a:t> makes E mean Integer for that object.</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17</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Generic classes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line correctly starts a generic class?</a:t>
            </a:r>
            <a:endParaRPr lang="en-US"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public class Print&lt;?&gt; {</a:t>
            </a:r>
            <a:endParaRPr lang="en-US"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public class &lt;E&gt; Print {</a:t>
            </a:r>
            <a:endParaRPr lang="en-US"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public generic class Print {</a:t>
            </a:r>
            <a:endParaRPr lang="en-US"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public class Print&lt;E&gt; {</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17</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Generic classes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line correctly starts a generic class?</a:t>
            </a:r>
            <a:endParaRPr lang="en-US"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public class Print&lt;?&gt; {</a:t>
            </a:r>
            <a:endParaRPr lang="en-US"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public class &lt;E&gt; Print {</a:t>
            </a:r>
            <a:endParaRPr lang="en-US"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public generic class Print {</a:t>
            </a:r>
            <a:endParaRPr lang="en-US"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3941064"/>
            <a:ext cx="9704527" cy="585216"/>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public class Print&lt;E&gt; {</a:t>
            </a:r>
            <a:endParaRPr lang="en-US" sz="1700" dirty="0"/>
          </a:p>
        </p:txBody>
      </p:sp>
      <p:pic>
        <p:nvPicPr>
          <p:cNvPr id="17" name="Image 0"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tx1"/>
                </a:solidFill>
              </a:rPr>
              <a:t>The type parameter is a name in angle brackets straight after the class name. A uses </a:t>
            </a:r>
            <a:r>
              <a:rPr lang="en-US" sz="1600" dirty="0">
                <a:solidFill>
                  <a:schemeClr val="accent2"/>
                </a:solidFill>
                <a:latin typeface="Consolas" pitchFamily="34" charset="0"/>
                <a:ea typeface="Consolas" pitchFamily="34" charset="-122"/>
                <a:cs typeface="Consolas" pitchFamily="34" charset="-120"/>
              </a:rPr>
              <a:t>?</a:t>
            </a:r>
            <a:r>
              <a:rPr lang="en-US" sz="1600" dirty="0">
                <a:solidFill>
                  <a:schemeClr val="tx1"/>
                </a:solidFill>
              </a:rPr>
              <a:t>, the wildcard, which only appears when we use a generic type, so it won’t compile. B has the brackets in the wrong place, and C fails because </a:t>
            </a:r>
            <a:r>
              <a:rPr lang="en-US" sz="1600" dirty="0">
                <a:solidFill>
                  <a:schemeClr val="accent2"/>
                </a:solidFill>
                <a:latin typeface="Consolas" pitchFamily="34" charset="0"/>
                <a:ea typeface="Consolas" pitchFamily="34" charset="-122"/>
                <a:cs typeface="Consolas" pitchFamily="34" charset="-120"/>
              </a:rPr>
              <a:t>generic</a:t>
            </a:r>
            <a:r>
              <a:rPr lang="en-US" sz="1600" dirty="0">
                <a:solidFill>
                  <a:schemeClr val="tx1"/>
                </a:solidFill>
              </a:rPr>
              <a:t> isn’t a Java keyword.</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GENERIC CLASSES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Using the generic class</a:t>
            </a:r>
            <a:endParaRPr lang="en-US" sz="3400" dirty="0"/>
          </a:p>
        </p:txBody>
      </p:sp>
      <p:sp>
        <p:nvSpPr>
          <p:cNvPr id="5" name="Main card"/>
          <p:cNvSpPr/>
          <p:nvPr/>
        </p:nvSpPr>
        <p:spPr>
          <a:xfrm>
            <a:off x="548640" y="1691640"/>
            <a:ext cx="6035040" cy="3264408"/>
          </a:xfrm>
          <a:prstGeom prst="roundRect">
            <a:avLst>
              <a:gd name="adj" fmla="val 3361"/>
            </a:avLst>
          </a:prstGeom>
          <a:solidFill>
            <a:schemeClr val="tx1"/>
          </a:solidFill>
          <a:ln/>
          <a:effectLst>
            <a:outerShdw sx="100000" sy="100000" kx="0" ky="0" algn="bl" rotWithShape="0" blurRad="114300" dist="31750" dir="5400000">
              <a:srgbClr val="1D2433">
                <a:alpha val="12000"/>
              </a:srgbClr>
            </a:outerShdw>
          </a:effectLst>
        </p:spPr>
      </p:sp>
      <p:sp>
        <p:nvSpPr>
          <p:cNvPr id="6" name="Main label"/>
          <p:cNvSpPr txBox="1"/>
          <p:nvPr/>
        </p:nvSpPr>
        <p:spPr>
          <a:xfrm>
            <a:off x="822960" y="1810512"/>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Main text"/>
          <p:cNvSpPr txBox="1"/>
          <p:nvPr/>
        </p:nvSpPr>
        <p:spPr>
          <a:xfrm>
            <a:off x="822960" y="2185416"/>
            <a:ext cx="5486400" cy="2569464"/>
          </a:xfrm>
          <a:prstGeom prst="rect">
            <a:avLst/>
          </a:prstGeom>
          <a:noFill/>
          <a:ln/>
        </p:spPr>
        <p:txBody>
          <a:bodyPr wrap="square" lIns="0" tIns="0" rIns="0" bIns="0" rtlCol="0" anchor="t"/>
          <a:lstStyle/>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public class </a:t>
            </a:r>
            <a:r>
              <a:rPr lang="en-US" sz="1250" dirty="0">
                <a:solidFill>
                  <a:srgbClr val="6CC4E8"/>
                </a:solidFill>
                <a:latin typeface="Consolas" pitchFamily="34" charset="0"/>
                <a:ea typeface="Consolas" pitchFamily="34" charset="-122"/>
                <a:cs typeface="Consolas" pitchFamily="34" charset="-120"/>
              </a:rPr>
              <a:t>Main </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FF9F5A"/>
                </a:solidFill>
                <a:latin typeface="Consolas" pitchFamily="34" charset="0"/>
                <a:ea typeface="Consolas" pitchFamily="34" charset="-122"/>
                <a:cs typeface="Consolas" pitchFamily="34" charset="-120"/>
              </a:rPr>
              <a:t>public static void </a:t>
            </a:r>
            <a:r>
              <a:rPr lang="en-US" sz="1250" dirty="0">
                <a:solidFill>
                  <a:srgbClr val="C9B0FF"/>
                </a:solidFill>
                <a:latin typeface="Consolas" pitchFamily="34" charset="0"/>
                <a:ea typeface="Consolas" pitchFamily="34" charset="-122"/>
                <a:cs typeface="Consolas" pitchFamily="34" charset="-120"/>
              </a:rPr>
              <a:t>main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 args)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6CC4E8"/>
                </a:solidFill>
                <a:latin typeface="Consolas" pitchFamily="34" charset="0"/>
                <a:ea typeface="Consolas" pitchFamily="34" charset="-122"/>
                <a:cs typeface="Consolas" pitchFamily="34" charset="-120"/>
              </a:rPr>
              <a:t>Integer</a:t>
            </a:r>
            <a:r>
              <a:rPr lang="en-US" sz="1250" dirty="0">
                <a:solidFill>
                  <a:srgbClr val="E6EBF2"/>
                </a:solidFill>
                <a:latin typeface="Consolas" pitchFamily="34" charset="0"/>
                <a:ea typeface="Consolas" pitchFamily="34" charset="-122"/>
                <a:cs typeface="Consolas" pitchFamily="34" charset="-120"/>
              </a:rPr>
              <a:t>[] nums = {</a:t>
            </a:r>
            <a:r>
              <a:rPr lang="en-US" sz="1250" dirty="0">
                <a:solidFill>
                  <a:srgbClr val="F2C14E"/>
                </a:solidFill>
                <a:latin typeface="Consolas" pitchFamily="34" charset="0"/>
                <a:ea typeface="Consolas" pitchFamily="34" charset="-122"/>
                <a:cs typeface="Consolas" pitchFamily="34" charset="-120"/>
              </a:rPr>
              <a:t>12</a:t>
            </a: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F2C14E"/>
                </a:solidFill>
                <a:latin typeface="Consolas" pitchFamily="34" charset="0"/>
                <a:ea typeface="Consolas" pitchFamily="34" charset="-122"/>
                <a:cs typeface="Consolas" pitchFamily="34" charset="-120"/>
              </a:rPr>
              <a:t>3</a:t>
            </a: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F2C14E"/>
                </a:solidFill>
                <a:latin typeface="Consolas" pitchFamily="34" charset="0"/>
                <a:ea typeface="Consolas" pitchFamily="34" charset="-122"/>
                <a:cs typeface="Consolas" pitchFamily="34" charset="-120"/>
              </a:rPr>
              <a:t>4</a:t>
            </a: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F2C14E"/>
                </a:solidFill>
                <a:latin typeface="Consolas" pitchFamily="34" charset="0"/>
                <a:ea typeface="Consolas" pitchFamily="34" charset="-122"/>
                <a:cs typeface="Consolas" pitchFamily="34" charset="-120"/>
              </a:rPr>
              <a:t>42</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 words = {</a:t>
            </a:r>
            <a:r>
              <a:rPr lang="en-US" sz="1250" dirty="0">
                <a:solidFill>
                  <a:srgbClr val="A9DB8C"/>
                </a:solidFill>
                <a:latin typeface="Consolas" pitchFamily="34" charset="0"/>
                <a:ea typeface="Consolas" pitchFamily="34" charset="-122"/>
                <a:cs typeface="Consolas" pitchFamily="34" charset="-120"/>
              </a:rPr>
              <a:t>"hi"</a:t>
            </a: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A9DB8C"/>
                </a:solidFill>
                <a:latin typeface="Consolas" pitchFamily="34" charset="0"/>
                <a:ea typeface="Consolas" pitchFamily="34" charset="-122"/>
                <a:cs typeface="Consolas" pitchFamily="34" charset="-120"/>
              </a:rPr>
              <a:t>"hello"</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6CC4E8"/>
                </a:solidFill>
                <a:latin typeface="Consolas" pitchFamily="34" charset="0"/>
                <a:ea typeface="Consolas" pitchFamily="34" charset="-122"/>
                <a:cs typeface="Consolas" pitchFamily="34" charset="-120"/>
              </a:rPr>
              <a:t>Print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Integer</a:t>
            </a:r>
            <a:r>
              <a:rPr lang="en-US" sz="1250" dirty="0">
                <a:solidFill>
                  <a:srgbClr val="E6EBF2"/>
                </a:solidFill>
                <a:latin typeface="Consolas" pitchFamily="34" charset="0"/>
                <a:ea typeface="Consolas" pitchFamily="34" charset="-122"/>
                <a:cs typeface="Consolas" pitchFamily="34" charset="-120"/>
              </a:rPr>
              <a:t>&gt; integers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6CC4E8"/>
                </a:solidFill>
                <a:latin typeface="Consolas" pitchFamily="34" charset="0"/>
                <a:ea typeface="Consolas" pitchFamily="34" charset="-122"/>
                <a:cs typeface="Consolas" pitchFamily="34" charset="-120"/>
              </a:rPr>
              <a:t>Print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Integer</a:t>
            </a:r>
            <a:r>
              <a:rPr lang="en-US" sz="1250" dirty="0">
                <a:solidFill>
                  <a:srgbClr val="E6EBF2"/>
                </a:solidFill>
                <a:latin typeface="Consolas" pitchFamily="34" charset="0"/>
                <a:ea typeface="Consolas" pitchFamily="34" charset="-122"/>
                <a:cs typeface="Consolas" pitchFamily="34" charset="-120"/>
              </a:rPr>
              <a:t>&gt;();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integers.</a:t>
            </a:r>
            <a:r>
              <a:rPr lang="en-US" sz="1250" dirty="0">
                <a:solidFill>
                  <a:srgbClr val="C9B0FF"/>
                </a:solidFill>
                <a:latin typeface="Consolas" pitchFamily="34" charset="0"/>
                <a:ea typeface="Consolas" pitchFamily="34" charset="-122"/>
                <a:cs typeface="Consolas" pitchFamily="34" charset="-120"/>
              </a:rPr>
              <a:t>print</a:t>
            </a:r>
            <a:r>
              <a:rPr lang="en-US" sz="1250" dirty="0">
                <a:solidFill>
                  <a:srgbClr val="E6EBF2"/>
                </a:solidFill>
                <a:latin typeface="Consolas" pitchFamily="34" charset="0"/>
                <a:ea typeface="Consolas" pitchFamily="34" charset="-122"/>
                <a:cs typeface="Consolas" pitchFamily="34" charset="-120"/>
              </a:rPr>
              <a:t>(nums);</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6CC4E8"/>
                </a:solidFill>
                <a:latin typeface="Consolas" pitchFamily="34" charset="0"/>
                <a:ea typeface="Consolas" pitchFamily="34" charset="-122"/>
                <a:cs typeface="Consolas" pitchFamily="34" charset="-120"/>
              </a:rPr>
              <a:t>Print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&gt; strings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6CC4E8"/>
                </a:solidFill>
                <a:latin typeface="Consolas" pitchFamily="34" charset="0"/>
                <a:ea typeface="Consolas" pitchFamily="34" charset="-122"/>
                <a:cs typeface="Consolas" pitchFamily="34" charset="-120"/>
              </a:rPr>
              <a:t>Print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&gt;();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strings.</a:t>
            </a:r>
            <a:r>
              <a:rPr lang="en-US" sz="1250" dirty="0">
                <a:solidFill>
                  <a:srgbClr val="C9B0FF"/>
                </a:solidFill>
                <a:latin typeface="Consolas" pitchFamily="34" charset="0"/>
                <a:ea typeface="Consolas" pitchFamily="34" charset="-122"/>
                <a:cs typeface="Consolas" pitchFamily="34" charset="-120"/>
              </a:rPr>
              <a:t>print</a:t>
            </a:r>
            <a:r>
              <a:rPr lang="en-US" sz="1250" dirty="0">
                <a:solidFill>
                  <a:srgbClr val="E6EBF2"/>
                </a:solidFill>
                <a:latin typeface="Consolas" pitchFamily="34" charset="0"/>
                <a:ea typeface="Consolas" pitchFamily="34" charset="-122"/>
                <a:cs typeface="Consolas" pitchFamily="34" charset="-120"/>
              </a:rPr>
              <a:t>(words);</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a:t>
            </a:r>
            <a:endParaRPr lang="en-US" sz="1250" dirty="0"/>
          </a:p>
        </p:txBody>
      </p:sp>
      <p:sp>
        <p:nvSpPr>
          <p:cNvPr id="8" name="Output card"/>
          <p:cNvSpPr/>
          <p:nvPr/>
        </p:nvSpPr>
        <p:spPr>
          <a:xfrm>
            <a:off x="6858000" y="1691640"/>
            <a:ext cx="4785055" cy="2189988"/>
          </a:xfrm>
          <a:prstGeom prst="roundRect">
            <a:avLst>
              <a:gd name="adj" fmla="val 5010"/>
            </a:avLst>
          </a:prstGeom>
          <a:solidFill>
            <a:schemeClr val="tx1"/>
          </a:solidFill>
          <a:ln/>
          <a:effectLst>
            <a:outerShdw sx="100000" sy="100000" kx="0" ky="0" algn="bl" rotWithShape="0" blurRad="114300" dist="31750" dir="5400000">
              <a:srgbClr val="1D2433">
                <a:alpha val="12000"/>
              </a:srgbClr>
            </a:outerShdw>
          </a:effectLst>
        </p:spPr>
      </p:sp>
      <p:sp>
        <p:nvSpPr>
          <p:cNvPr id="9" name="Output label"/>
          <p:cNvSpPr txBox="1"/>
          <p:nvPr/>
        </p:nvSpPr>
        <p:spPr>
          <a:xfrm>
            <a:off x="7132320" y="1810512"/>
            <a:ext cx="423641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10" name="Output text"/>
          <p:cNvSpPr txBox="1"/>
          <p:nvPr/>
        </p:nvSpPr>
        <p:spPr>
          <a:xfrm>
            <a:off x="7132320" y="2185416"/>
            <a:ext cx="4236415" cy="1495044"/>
          </a:xfrm>
          <a:prstGeom prst="rect">
            <a:avLst/>
          </a:prstGeom>
          <a:noFill/>
          <a:ln/>
        </p:spPr>
        <p:txBody>
          <a:bodyPr wrap="square" lIns="0" tIns="0" rIns="0" bIns="0" rtlCol="0" anchor="t"/>
          <a:lstStyle/>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12</a:t>
            </a:r>
            <a:endParaRPr lang="en-US" sz="1400" dirty="0"/>
          </a:p>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3</a:t>
            </a:r>
            <a:endParaRPr lang="en-US" sz="1400" dirty="0"/>
          </a:p>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4</a:t>
            </a:r>
            <a:endParaRPr lang="en-US" sz="1400" dirty="0"/>
          </a:p>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42</a:t>
            </a:r>
            <a:endParaRPr lang="en-US" sz="1400" dirty="0"/>
          </a:p>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hi</a:t>
            </a:r>
            <a:endParaRPr lang="en-US" sz="1400" dirty="0"/>
          </a:p>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hello</a:t>
            </a:r>
            <a:endParaRPr lang="en-US" sz="1400" dirty="0"/>
          </a:p>
        </p:txBody>
      </p:sp>
      <p:sp>
        <p:nvSpPr>
          <p:cNvPr id="11" name="Note"/>
          <p:cNvSpPr/>
          <p:nvPr/>
        </p:nvSpPr>
        <p:spPr>
          <a:xfrm>
            <a:off x="6858000" y="4155948"/>
            <a:ext cx="4785055" cy="868680"/>
          </a:xfrm>
          <a:prstGeom prst="roundRect">
            <a:avLst>
              <a:gd name="adj" fmla="val 12632"/>
            </a:avLst>
          </a:prstGeom>
          <a:solidFill>
            <a:schemeClr val="bg2"/>
          </a:solidFill>
          <a:ln/>
        </p:spPr>
      </p:sp>
      <p:sp>
        <p:nvSpPr>
          <p:cNvPr id="12" name="Icon tile"/>
          <p:cNvSpPr/>
          <p:nvPr/>
        </p:nvSpPr>
        <p:spPr>
          <a:xfrm>
            <a:off x="7132320" y="4325112"/>
            <a:ext cx="530352" cy="530352"/>
          </a:xfrm>
          <a:prstGeom prst="roundRect">
            <a:avLst>
              <a:gd name="adj" fmla="val 24000"/>
            </a:avLst>
          </a:prstGeom>
          <a:solidFill>
            <a:schemeClr val="accent2">
              <a:alpha val="14000"/>
            </a:schemeClr>
          </a:solidFill>
          <a:ln/>
        </p:spPr>
      </p:sp>
      <p:pic>
        <p:nvPicPr>
          <p:cNvPr id="13" name="Image 0" descr="number square one icon">    </p:cNvPr>
          <p:cNvPicPr>
            <a:picLocks noChangeAspect="1"/>
          </p:cNvPicPr>
          <p:nvPr/>
        </p:nvPicPr>
        <p:blipFill>
          <a:blip r:embed="rId1"/>
          <a:stretch>
            <a:fillRect/>
          </a:stretch>
        </p:blipFill>
        <p:spPr>
          <a:xfrm>
            <a:off x="7243694" y="4436486"/>
            <a:ext cx="307604" cy="307604"/>
          </a:xfrm>
          <a:prstGeom prst="rect">
            <a:avLst/>
          </a:prstGeom>
        </p:spPr>
      </p:pic>
      <p:sp>
        <p:nvSpPr>
          <p:cNvPr id="14" name="Text 10"/>
          <p:cNvSpPr txBox="1"/>
          <p:nvPr/>
        </p:nvSpPr>
        <p:spPr>
          <a:xfrm>
            <a:off x="7882128" y="4155948"/>
            <a:ext cx="3504895" cy="868680"/>
          </a:xfrm>
          <a:prstGeom prst="rect">
            <a:avLst/>
          </a:prstGeom>
          <a:noFill/>
          <a:ln/>
        </p:spPr>
        <p:txBody>
          <a:bodyPr wrap="square" lIns="0" tIns="0" rIns="0" bIns="0" rtlCol="0" anchor="ctr"/>
          <a:lstStyle/>
          <a:p>
            <a:pPr algn="l" indent="0" marL="0">
              <a:buNone/>
            </a:pPr>
            <a:r>
              <a:rPr lang="en-US" sz="1500" dirty="0">
                <a:solidFill>
                  <a:schemeClr val="accent2"/>
                </a:solidFill>
                <a:latin typeface="Consolas" pitchFamily="34" charset="0"/>
                <a:ea typeface="Consolas" pitchFamily="34" charset="-122"/>
                <a:cs typeface="Consolas" pitchFamily="34" charset="-120"/>
              </a:rPr>
              <a:t>Print&lt;Integer&gt;</a:t>
            </a:r>
            <a:r>
              <a:rPr lang="en-US" sz="1500" dirty="0">
                <a:solidFill>
                  <a:schemeClr val="tx1"/>
                </a:solidFill>
              </a:rPr>
              <a:t>: E is Integer, so </a:t>
            </a:r>
            <a:r>
              <a:rPr lang="en-US" sz="1500" dirty="0">
                <a:solidFill>
                  <a:schemeClr val="accent2"/>
                </a:solidFill>
                <a:latin typeface="Consolas" pitchFamily="34" charset="0"/>
                <a:ea typeface="Consolas" pitchFamily="34" charset="-122"/>
                <a:cs typeface="Consolas" pitchFamily="34" charset="-120"/>
              </a:rPr>
              <a:t>print</a:t>
            </a:r>
            <a:r>
              <a:rPr lang="en-US" sz="1500" dirty="0">
                <a:solidFill>
                  <a:schemeClr val="tx1"/>
                </a:solidFill>
              </a:rPr>
              <a:t> takes an </a:t>
            </a:r>
            <a:r>
              <a:rPr lang="en-US" sz="1500" dirty="0">
                <a:solidFill>
                  <a:schemeClr val="accent2"/>
                </a:solidFill>
                <a:latin typeface="Consolas" pitchFamily="34" charset="0"/>
                <a:ea typeface="Consolas" pitchFamily="34" charset="-122"/>
                <a:cs typeface="Consolas" pitchFamily="34" charset="-120"/>
              </a:rPr>
              <a:t>Integer[]</a:t>
            </a:r>
            <a:r>
              <a:rPr lang="en-US" sz="1500" dirty="0">
                <a:solidFill>
                  <a:schemeClr val="tx1"/>
                </a:solidFill>
              </a:rPr>
              <a:t>.</a:t>
            </a:r>
            <a:endParaRPr lang="en-US" sz="1500" dirty="0"/>
          </a:p>
        </p:txBody>
      </p:sp>
      <p:sp>
        <p:nvSpPr>
          <p:cNvPr id="15" name="Note"/>
          <p:cNvSpPr/>
          <p:nvPr/>
        </p:nvSpPr>
        <p:spPr>
          <a:xfrm>
            <a:off x="6858000" y="5161788"/>
            <a:ext cx="4785055" cy="868680"/>
          </a:xfrm>
          <a:prstGeom prst="roundRect">
            <a:avLst>
              <a:gd name="adj" fmla="val 12632"/>
            </a:avLst>
          </a:prstGeom>
          <a:solidFill>
            <a:schemeClr val="bg2"/>
          </a:solidFill>
          <a:ln/>
        </p:spPr>
      </p:sp>
      <p:sp>
        <p:nvSpPr>
          <p:cNvPr id="16" name="Icon tile"/>
          <p:cNvSpPr/>
          <p:nvPr/>
        </p:nvSpPr>
        <p:spPr>
          <a:xfrm>
            <a:off x="7132320" y="5330952"/>
            <a:ext cx="530352" cy="530352"/>
          </a:xfrm>
          <a:prstGeom prst="roundRect">
            <a:avLst>
              <a:gd name="adj" fmla="val 24000"/>
            </a:avLst>
          </a:prstGeom>
          <a:solidFill>
            <a:schemeClr val="accent4">
              <a:alpha val="14000"/>
            </a:schemeClr>
          </a:solidFill>
          <a:ln/>
        </p:spPr>
      </p:sp>
      <p:pic>
        <p:nvPicPr>
          <p:cNvPr id="17" name="Image 1" descr="text aa icon">    </p:cNvPr>
          <p:cNvPicPr>
            <a:picLocks noChangeAspect="1"/>
          </p:cNvPicPr>
          <p:nvPr/>
        </p:nvPicPr>
        <p:blipFill>
          <a:blip r:embed="rId2"/>
          <a:stretch>
            <a:fillRect/>
          </a:stretch>
        </p:blipFill>
        <p:spPr>
          <a:xfrm>
            <a:off x="7243694" y="5442326"/>
            <a:ext cx="307604" cy="307604"/>
          </a:xfrm>
          <a:prstGeom prst="rect">
            <a:avLst/>
          </a:prstGeom>
        </p:spPr>
      </p:pic>
      <p:sp>
        <p:nvSpPr>
          <p:cNvPr id="18" name="Text 13"/>
          <p:cNvSpPr txBox="1"/>
          <p:nvPr/>
        </p:nvSpPr>
        <p:spPr>
          <a:xfrm>
            <a:off x="7882128" y="5161788"/>
            <a:ext cx="3504895" cy="868680"/>
          </a:xfrm>
          <a:prstGeom prst="rect">
            <a:avLst/>
          </a:prstGeom>
          <a:noFill/>
          <a:ln/>
        </p:spPr>
        <p:txBody>
          <a:bodyPr wrap="square" lIns="0" tIns="0" rIns="0" bIns="0" rtlCol="0" anchor="ctr"/>
          <a:lstStyle/>
          <a:p>
            <a:pPr algn="l" indent="0" marL="0">
              <a:buNone/>
            </a:pPr>
            <a:r>
              <a:rPr lang="en-US" sz="1500" dirty="0">
                <a:solidFill>
                  <a:schemeClr val="accent2"/>
                </a:solidFill>
                <a:latin typeface="Consolas" pitchFamily="34" charset="0"/>
                <a:ea typeface="Consolas" pitchFamily="34" charset="-122"/>
                <a:cs typeface="Consolas" pitchFamily="34" charset="-120"/>
              </a:rPr>
              <a:t>Print&lt;String&gt;</a:t>
            </a:r>
            <a:r>
              <a:rPr lang="en-US" sz="1500" dirty="0">
                <a:solidFill>
                  <a:schemeClr val="tx1"/>
                </a:solidFill>
              </a:rPr>
              <a:t>: E is String, so </a:t>
            </a:r>
            <a:r>
              <a:rPr lang="en-US" sz="1500" dirty="0">
                <a:solidFill>
                  <a:schemeClr val="accent2"/>
                </a:solidFill>
                <a:latin typeface="Consolas" pitchFamily="34" charset="0"/>
                <a:ea typeface="Consolas" pitchFamily="34" charset="-122"/>
                <a:cs typeface="Consolas" pitchFamily="34" charset="-120"/>
              </a:rPr>
              <a:t>print</a:t>
            </a:r>
            <a:r>
              <a:rPr lang="en-US" sz="1500" dirty="0">
                <a:solidFill>
                  <a:schemeClr val="tx1"/>
                </a:solidFill>
              </a:rPr>
              <a:t> takes a </a:t>
            </a:r>
            <a:r>
              <a:rPr lang="en-US" sz="1500" dirty="0">
                <a:solidFill>
                  <a:schemeClr val="accent2"/>
                </a:solidFill>
                <a:latin typeface="Consolas" pitchFamily="34" charset="0"/>
                <a:ea typeface="Consolas" pitchFamily="34" charset="-122"/>
                <a:cs typeface="Consolas" pitchFamily="34" charset="-120"/>
              </a:rPr>
              <a:t>String[]</a:t>
            </a: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18</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Using a generic class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line won’t compile?</a:t>
            </a:r>
            <a:endParaRPr lang="en-US" sz="2800" dirty="0"/>
          </a:p>
        </p:txBody>
      </p:sp>
      <p:sp>
        <p:nvSpPr>
          <p:cNvPr id="5" name="Question code card"/>
          <p:cNvSpPr/>
          <p:nvPr/>
        </p:nvSpPr>
        <p:spPr>
          <a:xfrm>
            <a:off x="548640" y="3099816"/>
            <a:ext cx="6035040" cy="1755648"/>
          </a:xfrm>
          <a:prstGeom prst="roundRect">
            <a:avLst>
              <a:gd name="adj" fmla="val 6250"/>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3218688"/>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3593592"/>
            <a:ext cx="5486400" cy="1060704"/>
          </a:xfrm>
          <a:prstGeom prst="rect">
            <a:avLst/>
          </a:prstGeom>
          <a:noFill/>
          <a:ln/>
        </p:spPr>
        <p:txBody>
          <a:bodyPr wrap="square" lIns="0" tIns="0" rIns="0" bIns="0" rtlCol="0" anchor="t"/>
          <a:lstStyle/>
          <a:p>
            <a:pPr indent="0" marL="0">
              <a:lnSpc>
                <a:spcPts val="1980"/>
              </a:lnSpc>
              <a:buNone/>
            </a:pPr>
            <a:r>
              <a:rPr lang="en-US" sz="1500" dirty="0">
                <a:solidFill>
                  <a:srgbClr val="6CC4E8"/>
                </a:solidFill>
                <a:latin typeface="Consolas" pitchFamily="34" charset="0"/>
                <a:ea typeface="Consolas" pitchFamily="34" charset="-122"/>
                <a:cs typeface="Consolas" pitchFamily="34" charset="-120"/>
              </a:rPr>
              <a:t>Integer</a:t>
            </a:r>
            <a:r>
              <a:rPr lang="en-US" sz="1500" dirty="0">
                <a:solidFill>
                  <a:srgbClr val="E6EBF2"/>
                </a:solidFill>
                <a:latin typeface="Consolas" pitchFamily="34" charset="0"/>
                <a:ea typeface="Consolas" pitchFamily="34" charset="-122"/>
                <a:cs typeface="Consolas" pitchFamily="34" charset="-120"/>
              </a:rPr>
              <a:t>[] nums = {</a:t>
            </a:r>
            <a:r>
              <a:rPr lang="en-US" sz="1500" dirty="0">
                <a:solidFill>
                  <a:srgbClr val="F2C14E"/>
                </a:solidFill>
                <a:latin typeface="Consolas" pitchFamily="34" charset="0"/>
                <a:ea typeface="Consolas" pitchFamily="34" charset="-122"/>
                <a:cs typeface="Consolas" pitchFamily="34" charset="-120"/>
              </a:rPr>
              <a:t>12</a:t>
            </a: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2C14E"/>
                </a:solidFill>
                <a:latin typeface="Consolas" pitchFamily="34" charset="0"/>
                <a:ea typeface="Consolas" pitchFamily="34" charset="-122"/>
                <a:cs typeface="Consolas" pitchFamily="34" charset="-120"/>
              </a:rPr>
              <a:t>3</a:t>
            </a: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2C14E"/>
                </a:solidFill>
                <a:latin typeface="Consolas" pitchFamily="34" charset="0"/>
                <a:ea typeface="Consolas" pitchFamily="34" charset="-122"/>
                <a:cs typeface="Consolas" pitchFamily="34" charset="-120"/>
              </a:rPr>
              <a:t>4</a:t>
            </a: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2C14E"/>
                </a:solidFill>
                <a:latin typeface="Consolas" pitchFamily="34" charset="0"/>
                <a:ea typeface="Consolas" pitchFamily="34" charset="-122"/>
                <a:cs typeface="Consolas" pitchFamily="34" charset="-120"/>
              </a:rPr>
              <a:t>42</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6CC4E8"/>
                </a:solidFill>
                <a:latin typeface="Consolas" pitchFamily="34" charset="0"/>
                <a:ea typeface="Consolas" pitchFamily="34" charset="-122"/>
                <a:cs typeface="Consolas" pitchFamily="34" charset="-120"/>
              </a:rPr>
              <a:t>String</a:t>
            </a:r>
            <a:r>
              <a:rPr lang="en-US" sz="1500" dirty="0">
                <a:solidFill>
                  <a:srgbClr val="E6EBF2"/>
                </a:solidFill>
                <a:latin typeface="Consolas" pitchFamily="34" charset="0"/>
                <a:ea typeface="Consolas" pitchFamily="34" charset="-122"/>
                <a:cs typeface="Consolas" pitchFamily="34" charset="-120"/>
              </a:rPr>
              <a:t>[] words = {</a:t>
            </a:r>
            <a:r>
              <a:rPr lang="en-US" sz="1500" dirty="0">
                <a:solidFill>
                  <a:srgbClr val="A9DB8C"/>
                </a:solidFill>
                <a:latin typeface="Consolas" pitchFamily="34" charset="0"/>
                <a:ea typeface="Consolas" pitchFamily="34" charset="-122"/>
                <a:cs typeface="Consolas" pitchFamily="34" charset="-120"/>
              </a:rPr>
              <a:t>"hi"</a:t>
            </a: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A9DB8C"/>
                </a:solidFill>
                <a:latin typeface="Consolas" pitchFamily="34" charset="0"/>
                <a:ea typeface="Consolas" pitchFamily="34" charset="-122"/>
                <a:cs typeface="Consolas" pitchFamily="34" charset="-120"/>
              </a:rPr>
              <a:t>"hello"</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6CC4E8"/>
                </a:solidFill>
                <a:latin typeface="Consolas" pitchFamily="34" charset="0"/>
                <a:ea typeface="Consolas" pitchFamily="34" charset="-122"/>
                <a:cs typeface="Consolas" pitchFamily="34" charset="-120"/>
              </a:rPr>
              <a:t>Print</a:t>
            </a:r>
            <a:r>
              <a:rPr lang="en-US" sz="1500" dirty="0">
                <a:solidFill>
                  <a:srgbClr val="E6EBF2"/>
                </a:solidFill>
                <a:latin typeface="Consolas" pitchFamily="34" charset="0"/>
                <a:ea typeface="Consolas" pitchFamily="34" charset="-122"/>
                <a:cs typeface="Consolas" pitchFamily="34" charset="-120"/>
              </a:rPr>
              <a:t>&lt;</a:t>
            </a:r>
            <a:r>
              <a:rPr lang="en-US" sz="1500" dirty="0">
                <a:solidFill>
                  <a:srgbClr val="6CC4E8"/>
                </a:solidFill>
                <a:latin typeface="Consolas" pitchFamily="34" charset="0"/>
                <a:ea typeface="Consolas" pitchFamily="34" charset="-122"/>
                <a:cs typeface="Consolas" pitchFamily="34" charset="-120"/>
              </a:rPr>
              <a:t>Integer</a:t>
            </a:r>
            <a:r>
              <a:rPr lang="en-US" sz="1500" dirty="0">
                <a:solidFill>
                  <a:srgbClr val="E6EBF2"/>
                </a:solidFill>
                <a:latin typeface="Consolas" pitchFamily="34" charset="0"/>
                <a:ea typeface="Consolas" pitchFamily="34" charset="-122"/>
                <a:cs typeface="Consolas" pitchFamily="34" charset="-120"/>
              </a:rPr>
              <a:t>&gt; integers = </a:t>
            </a:r>
            <a:r>
              <a:rPr lang="en-US" sz="1500" dirty="0">
                <a:solidFill>
                  <a:srgbClr val="FF9F5A"/>
                </a:solidFill>
                <a:latin typeface="Consolas" pitchFamily="34" charset="0"/>
                <a:ea typeface="Consolas" pitchFamily="34" charset="-122"/>
                <a:cs typeface="Consolas" pitchFamily="34" charset="-120"/>
              </a:rPr>
              <a:t>new </a:t>
            </a:r>
            <a:r>
              <a:rPr lang="en-US" sz="1500" dirty="0">
                <a:solidFill>
                  <a:srgbClr val="6CC4E8"/>
                </a:solidFill>
                <a:latin typeface="Consolas" pitchFamily="34" charset="0"/>
                <a:ea typeface="Consolas" pitchFamily="34" charset="-122"/>
                <a:cs typeface="Consolas" pitchFamily="34" charset="-120"/>
              </a:rPr>
              <a:t>Print</a:t>
            </a:r>
            <a:r>
              <a:rPr lang="en-US" sz="1500" dirty="0">
                <a:solidFill>
                  <a:srgbClr val="E6EBF2"/>
                </a:solidFill>
                <a:latin typeface="Consolas" pitchFamily="34" charset="0"/>
                <a:ea typeface="Consolas" pitchFamily="34" charset="-122"/>
                <a:cs typeface="Consolas" pitchFamily="34" charset="-120"/>
              </a:rPr>
              <a:t>&lt;</a:t>
            </a:r>
            <a:r>
              <a:rPr lang="en-US" sz="1500" dirty="0">
                <a:solidFill>
                  <a:srgbClr val="6CC4E8"/>
                </a:solidFill>
                <a:latin typeface="Consolas" pitchFamily="34" charset="0"/>
                <a:ea typeface="Consolas" pitchFamily="34" charset="-122"/>
                <a:cs typeface="Consolas" pitchFamily="34" charset="-120"/>
              </a:rPr>
              <a:t>Integer</a:t>
            </a:r>
            <a:r>
              <a:rPr lang="en-US" sz="1500" dirty="0">
                <a:solidFill>
                  <a:srgbClr val="E6EBF2"/>
                </a:solidFill>
                <a:latin typeface="Consolas" pitchFamily="34" charset="0"/>
                <a:ea typeface="Consolas" pitchFamily="34" charset="-122"/>
                <a:cs typeface="Consolas" pitchFamily="34" charset="-120"/>
              </a:rPr>
              <a:t>&gt;();</a:t>
            </a:r>
            <a:endParaRPr lang="en-US" sz="1500" dirty="0"/>
          </a:p>
          <a:p>
            <a:pPr indent="0" marL="0">
              <a:lnSpc>
                <a:spcPts val="1980"/>
              </a:lnSpc>
              <a:buNone/>
            </a:pPr>
            <a:r>
              <a:rPr lang="en-US" sz="1500" dirty="0">
                <a:solidFill>
                  <a:srgbClr val="6CC4E8"/>
                </a:solidFill>
                <a:latin typeface="Consolas" pitchFamily="34" charset="0"/>
                <a:ea typeface="Consolas" pitchFamily="34" charset="-122"/>
                <a:cs typeface="Consolas" pitchFamily="34" charset="-120"/>
              </a:rPr>
              <a:t>Print</a:t>
            </a:r>
            <a:r>
              <a:rPr lang="en-US" sz="1500" dirty="0">
                <a:solidFill>
                  <a:srgbClr val="E6EBF2"/>
                </a:solidFill>
                <a:latin typeface="Consolas" pitchFamily="34" charset="0"/>
                <a:ea typeface="Consolas" pitchFamily="34" charset="-122"/>
                <a:cs typeface="Consolas" pitchFamily="34" charset="-120"/>
              </a:rPr>
              <a:t>&lt;</a:t>
            </a:r>
            <a:r>
              <a:rPr lang="en-US" sz="1500" dirty="0">
                <a:solidFill>
                  <a:srgbClr val="6CC4E8"/>
                </a:solidFill>
                <a:latin typeface="Consolas" pitchFamily="34" charset="0"/>
                <a:ea typeface="Consolas" pitchFamily="34" charset="-122"/>
                <a:cs typeface="Consolas" pitchFamily="34" charset="-120"/>
              </a:rPr>
              <a:t>String</a:t>
            </a:r>
            <a:r>
              <a:rPr lang="en-US" sz="1500" dirty="0">
                <a:solidFill>
                  <a:srgbClr val="E6EBF2"/>
                </a:solidFill>
                <a:latin typeface="Consolas" pitchFamily="34" charset="0"/>
                <a:ea typeface="Consolas" pitchFamily="34" charset="-122"/>
                <a:cs typeface="Consolas" pitchFamily="34" charset="-120"/>
              </a:rPr>
              <a:t>&gt; strings = </a:t>
            </a:r>
            <a:r>
              <a:rPr lang="en-US" sz="1500" dirty="0">
                <a:solidFill>
                  <a:srgbClr val="FF9F5A"/>
                </a:solidFill>
                <a:latin typeface="Consolas" pitchFamily="34" charset="0"/>
                <a:ea typeface="Consolas" pitchFamily="34" charset="-122"/>
                <a:cs typeface="Consolas" pitchFamily="34" charset="-120"/>
              </a:rPr>
              <a:t>new </a:t>
            </a:r>
            <a:r>
              <a:rPr lang="en-US" sz="1500" dirty="0">
                <a:solidFill>
                  <a:srgbClr val="6CC4E8"/>
                </a:solidFill>
                <a:latin typeface="Consolas" pitchFamily="34" charset="0"/>
                <a:ea typeface="Consolas" pitchFamily="34" charset="-122"/>
                <a:cs typeface="Consolas" pitchFamily="34" charset="-120"/>
              </a:rPr>
              <a:t>Print</a:t>
            </a:r>
            <a:r>
              <a:rPr lang="en-US" sz="1500" dirty="0">
                <a:solidFill>
                  <a:srgbClr val="E6EBF2"/>
                </a:solidFill>
                <a:latin typeface="Consolas" pitchFamily="34" charset="0"/>
                <a:ea typeface="Consolas" pitchFamily="34" charset="-122"/>
                <a:cs typeface="Consolas" pitchFamily="34" charset="-120"/>
              </a:rPr>
              <a:t>&lt;</a:t>
            </a:r>
            <a:r>
              <a:rPr lang="en-US" sz="1500" dirty="0">
                <a:solidFill>
                  <a:srgbClr val="6CC4E8"/>
                </a:solidFill>
                <a:latin typeface="Consolas" pitchFamily="34" charset="0"/>
                <a:ea typeface="Consolas" pitchFamily="34" charset="-122"/>
                <a:cs typeface="Consolas" pitchFamily="34" charset="-120"/>
              </a:rPr>
              <a:t>String</a:t>
            </a:r>
            <a:r>
              <a:rPr lang="en-US" sz="1500" dirty="0">
                <a:solidFill>
                  <a:srgbClr val="E6EBF2"/>
                </a:solidFill>
                <a:latin typeface="Consolas" pitchFamily="34" charset="0"/>
                <a:ea typeface="Consolas" pitchFamily="34" charset="-122"/>
                <a:cs typeface="Consolas" pitchFamily="34" charset="-120"/>
              </a:rPr>
              <a:t>&gt;();</a:t>
            </a:r>
            <a:endParaRPr lang="en-US" sz="15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1800" dirty="0">
                <a:solidFill>
                  <a:schemeClr val="tx1"/>
                </a:solidFill>
                <a:latin typeface="Consolas" pitchFamily="34" charset="0"/>
                <a:ea typeface="Consolas" pitchFamily="34" charset="-122"/>
                <a:cs typeface="Consolas" pitchFamily="34" charset="-120"/>
              </a:rPr>
              <a:t>integers.print(nums);</a:t>
            </a:r>
            <a:endParaRPr lang="en-US" sz="18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1800" dirty="0">
                <a:solidFill>
                  <a:schemeClr val="tx1"/>
                </a:solidFill>
                <a:latin typeface="Consolas" pitchFamily="34" charset="0"/>
                <a:ea typeface="Consolas" pitchFamily="34" charset="-122"/>
                <a:cs typeface="Consolas" pitchFamily="34" charset="-120"/>
              </a:rPr>
              <a:t>strings.print(words);</a:t>
            </a:r>
            <a:endParaRPr lang="en-US" sz="18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1800" dirty="0">
                <a:solidFill>
                  <a:schemeClr val="tx1"/>
                </a:solidFill>
                <a:latin typeface="Consolas" pitchFamily="34" charset="0"/>
                <a:ea typeface="Consolas" pitchFamily="34" charset="-122"/>
                <a:cs typeface="Consolas" pitchFamily="34" charset="-120"/>
              </a:rPr>
              <a:t>integers.print(words);</a:t>
            </a:r>
            <a:endParaRPr lang="en-US" sz="18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1800" dirty="0">
                <a:solidFill>
                  <a:schemeClr val="tx1"/>
                </a:solidFill>
                <a:latin typeface="Consolas" pitchFamily="34" charset="0"/>
                <a:ea typeface="Consolas" pitchFamily="34" charset="-122"/>
                <a:cs typeface="Consolas" pitchFamily="34" charset="-120"/>
              </a:rPr>
              <a:t>new Print&lt;Double&gt;();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18</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Using a generic class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line won’t compile?</a:t>
            </a:r>
            <a:endParaRPr lang="en-US" sz="2000" dirty="0"/>
          </a:p>
        </p:txBody>
      </p:sp>
      <p:sp>
        <p:nvSpPr>
          <p:cNvPr id="5" name="Answer code card"/>
          <p:cNvSpPr/>
          <p:nvPr/>
        </p:nvSpPr>
        <p:spPr>
          <a:xfrm>
            <a:off x="548640" y="1874520"/>
            <a:ext cx="5623560" cy="960120"/>
          </a:xfrm>
          <a:prstGeom prst="roundRect">
            <a:avLst>
              <a:gd name="adj" fmla="val 11429"/>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557784"/>
          </a:xfrm>
          <a:prstGeom prst="rect">
            <a:avLst/>
          </a:prstGeom>
          <a:noFill/>
          <a:ln/>
        </p:spPr>
        <p:txBody>
          <a:bodyPr wrap="square" lIns="0" tIns="0" rIns="0" bIns="0" rtlCol="0" anchor="t"/>
          <a:lstStyle/>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integers.</a:t>
            </a:r>
            <a:r>
              <a:rPr lang="en-US" sz="1500" dirty="0">
                <a:solidFill>
                  <a:srgbClr val="C9B0FF"/>
                </a:solidFill>
                <a:latin typeface="Consolas" pitchFamily="34" charset="0"/>
                <a:ea typeface="Consolas" pitchFamily="34" charset="-122"/>
                <a:cs typeface="Consolas" pitchFamily="34" charset="-120"/>
              </a:rPr>
              <a:t>print</a:t>
            </a:r>
            <a:r>
              <a:rPr lang="en-US" sz="1500" dirty="0">
                <a:solidFill>
                  <a:srgbClr val="E6EBF2"/>
                </a:solidFill>
                <a:latin typeface="Consolas" pitchFamily="34" charset="0"/>
                <a:ea typeface="Consolas" pitchFamily="34" charset="-122"/>
                <a:cs typeface="Consolas" pitchFamily="34" charset="-120"/>
              </a:rPr>
              <a:t>(words);</a:t>
            </a:r>
            <a:endParaRPr lang="en-US" sz="1500" dirty="0"/>
          </a:p>
          <a:p>
            <a:pPr indent="0" marL="0">
              <a:lnSpc>
                <a:spcPts val="1980"/>
              </a:lnSpc>
              <a:buNone/>
            </a:pPr>
            <a:r>
              <a:rPr lang="en-US" sz="1500" i="1" dirty="0">
                <a:solidFill>
                  <a:srgbClr val="A3AEC2"/>
                </a:solidFill>
                <a:latin typeface="Consolas" pitchFamily="34" charset="0"/>
                <a:ea typeface="Consolas" pitchFamily="34" charset="-122"/>
                <a:cs typeface="Consolas" pitchFamily="34" charset="-120"/>
              </a:rPr>
              <a:t>// String[] cannot be converted to Integer[]</a:t>
            </a:r>
            <a:endParaRPr lang="en-US" sz="1500" dirty="0"/>
          </a:p>
        </p:txBody>
      </p:sp>
      <p:sp>
        <p:nvSpPr>
          <p:cNvPr id="7" name="Option A"/>
          <p:cNvSpPr/>
          <p:nvPr/>
        </p:nvSpPr>
        <p:spPr>
          <a:xfrm>
            <a:off x="548640" y="3063240"/>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17525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063240"/>
            <a:ext cx="4572000" cy="644652"/>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integers.print(nums);</a:t>
            </a:r>
            <a:endParaRPr lang="en-US" sz="1700" dirty="0"/>
          </a:p>
        </p:txBody>
      </p:sp>
      <p:sp>
        <p:nvSpPr>
          <p:cNvPr id="10" name="Option B"/>
          <p:cNvSpPr/>
          <p:nvPr/>
        </p:nvSpPr>
        <p:spPr>
          <a:xfrm>
            <a:off x="548640" y="3854196"/>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396621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2" name="Option B text"/>
          <p:cNvSpPr txBox="1"/>
          <p:nvPr/>
        </p:nvSpPr>
        <p:spPr>
          <a:xfrm>
            <a:off x="1371600" y="3854196"/>
            <a:ext cx="4572000" cy="644652"/>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strings.print(words);</a:t>
            </a:r>
            <a:endParaRPr lang="en-US" sz="1700" dirty="0"/>
          </a:p>
        </p:txBody>
      </p:sp>
      <p:sp>
        <p:nvSpPr>
          <p:cNvPr id="13" name="Option C (correct)"/>
          <p:cNvSpPr/>
          <p:nvPr/>
        </p:nvSpPr>
        <p:spPr>
          <a:xfrm>
            <a:off x="548640" y="4645152"/>
            <a:ext cx="5623560" cy="644652"/>
          </a:xfrm>
          <a:prstGeom prst="roundRect">
            <a:avLst>
              <a:gd name="adj" fmla="val 17021"/>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75716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5" name="Option C text"/>
          <p:cNvSpPr txBox="1"/>
          <p:nvPr/>
        </p:nvSpPr>
        <p:spPr>
          <a:xfrm>
            <a:off x="1371600" y="4645152"/>
            <a:ext cx="4233672" cy="644652"/>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integers.print(words);</a:t>
            </a:r>
            <a:endParaRPr lang="en-US" sz="1700" dirty="0"/>
          </a:p>
        </p:txBody>
      </p:sp>
      <p:pic>
        <p:nvPicPr>
          <p:cNvPr id="16" name="Image 0" descr="Correct mark">    </p:cNvPr>
          <p:cNvPicPr>
            <a:picLocks noChangeAspect="1"/>
          </p:cNvPicPr>
          <p:nvPr/>
        </p:nvPicPr>
        <p:blipFill>
          <a:blip r:embed="rId1"/>
          <a:stretch>
            <a:fillRect/>
          </a:stretch>
        </p:blipFill>
        <p:spPr>
          <a:xfrm>
            <a:off x="5623560" y="4784598"/>
            <a:ext cx="365760" cy="365760"/>
          </a:xfrm>
          <a:prstGeom prst="rect">
            <a:avLst/>
          </a:prstGeom>
        </p:spPr>
      </p:pic>
      <p:sp>
        <p:nvSpPr>
          <p:cNvPr id="17" name="Option D"/>
          <p:cNvSpPr/>
          <p:nvPr/>
        </p:nvSpPr>
        <p:spPr>
          <a:xfrm>
            <a:off x="548640" y="5436108"/>
            <a:ext cx="5623560" cy="644652"/>
          </a:xfrm>
          <a:prstGeom prst="roundRect">
            <a:avLst>
              <a:gd name="adj" fmla="val 1702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4812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436108"/>
            <a:ext cx="4572000" cy="644652"/>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new Print&lt;Double&gt;();</a:t>
            </a:r>
            <a:endParaRPr lang="en-US"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integers</a:t>
            </a:r>
            <a:r>
              <a:rPr lang="en-US" sz="1800" dirty="0">
                <a:solidFill>
                  <a:schemeClr val="tx1"/>
                </a:solidFill>
              </a:rPr>
              <a:t> is a </a:t>
            </a:r>
            <a:r>
              <a:rPr lang="en-US" sz="1800" dirty="0">
                <a:solidFill>
                  <a:schemeClr val="accent2"/>
                </a:solidFill>
                <a:latin typeface="Consolas" pitchFamily="34" charset="0"/>
                <a:ea typeface="Consolas" pitchFamily="34" charset="-122"/>
                <a:cs typeface="Consolas" pitchFamily="34" charset="-120"/>
              </a:rPr>
              <a:t>Print&lt;Integer&gt;</a:t>
            </a:r>
            <a:r>
              <a:rPr lang="en-US" sz="1800" dirty="0">
                <a:solidFill>
                  <a:schemeClr val="tx1"/>
                </a:solidFill>
              </a:rPr>
              <a:t>, so its </a:t>
            </a:r>
            <a:r>
              <a:rPr lang="en-US" sz="1800" dirty="0">
                <a:solidFill>
                  <a:schemeClr val="accent2"/>
                </a:solidFill>
                <a:latin typeface="Consolas" pitchFamily="34" charset="0"/>
                <a:ea typeface="Consolas" pitchFamily="34" charset="-122"/>
                <a:cs typeface="Consolas" pitchFamily="34" charset="-120"/>
              </a:rPr>
              <a:t>print</a:t>
            </a:r>
            <a:r>
              <a:rPr lang="en-US" sz="1800" dirty="0">
                <a:solidFill>
                  <a:schemeClr val="tx1"/>
                </a:solidFill>
              </a:rPr>
              <a:t> method takes an </a:t>
            </a:r>
            <a:r>
              <a:rPr lang="en-US" sz="1800" dirty="0">
                <a:solidFill>
                  <a:schemeClr val="accent2"/>
                </a:solidFill>
                <a:latin typeface="Consolas" pitchFamily="34" charset="0"/>
                <a:ea typeface="Consolas" pitchFamily="34" charset="-122"/>
                <a:cs typeface="Consolas" pitchFamily="34" charset="-120"/>
              </a:rPr>
              <a:t>Integer[]</a:t>
            </a:r>
            <a:r>
              <a:rPr lang="en-US" sz="1800" dirty="0">
                <a:solidFill>
                  <a:schemeClr val="tx1"/>
                </a:solidFill>
              </a:rPr>
              <a:t>, but </a:t>
            </a:r>
            <a:r>
              <a:rPr lang="en-US" sz="1800" dirty="0">
                <a:solidFill>
                  <a:schemeClr val="accent2"/>
                </a:solidFill>
                <a:latin typeface="Consolas" pitchFamily="34" charset="0"/>
                <a:ea typeface="Consolas" pitchFamily="34" charset="-122"/>
                <a:cs typeface="Consolas" pitchFamily="34" charset="-120"/>
              </a:rPr>
              <a:t>words</a:t>
            </a:r>
            <a:r>
              <a:rPr lang="en-US" sz="1800" dirty="0">
                <a:solidFill>
                  <a:schemeClr val="tx1"/>
                </a:solidFill>
              </a:rPr>
              <a:t> is a </a:t>
            </a:r>
            <a:r>
              <a:rPr lang="en-US" sz="1800" dirty="0">
                <a:solidFill>
                  <a:schemeClr val="accent2"/>
                </a:solidFill>
                <a:latin typeface="Consolas" pitchFamily="34" charset="0"/>
                <a:ea typeface="Consolas" pitchFamily="34" charset="-122"/>
                <a:cs typeface="Consolas" pitchFamily="34" charset="-120"/>
              </a:rPr>
              <a:t>String[]</a:t>
            </a:r>
            <a:r>
              <a:rPr lang="en-US" sz="1800" dirty="0">
                <a:solidFill>
                  <a:schemeClr val="tx1"/>
                </a:solidFill>
              </a:rPr>
              <a:t>, so the compiler rejects the call. A and B match their types, and D is fine: Print works with any class, Double included.</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GENERIC CLASSES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Primitives need wrapper classes</a:t>
            </a:r>
            <a:endParaRPr lang="en-US" sz="3400" dirty="0"/>
          </a:p>
        </p:txBody>
      </p:sp>
      <p:sp>
        <p:nvSpPr>
          <p:cNvPr id="5" name="Text 2"/>
          <p:cNvSpPr txBox="1"/>
          <p:nvPr/>
        </p:nvSpPr>
        <p:spPr>
          <a:xfrm>
            <a:off x="548640" y="1783080"/>
            <a:ext cx="5486400" cy="429768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A generic class only works with objects. Primitive types such as </a:t>
            </a:r>
            <a:r>
              <a:rPr lang="en-US" sz="1700" dirty="0">
                <a:solidFill>
                  <a:schemeClr val="accent2"/>
                </a:solidFill>
                <a:latin typeface="Consolas" pitchFamily="34" charset="0"/>
                <a:ea typeface="Consolas" pitchFamily="34" charset="-122"/>
                <a:cs typeface="Consolas" pitchFamily="34" charset="-120"/>
              </a:rPr>
              <a:t>int</a:t>
            </a:r>
            <a:r>
              <a:rPr lang="en-US" sz="1700" dirty="0">
                <a:solidFill>
                  <a:schemeClr val="tx1"/>
                </a:solidFill>
              </a:rPr>
              <a:t>, </a:t>
            </a:r>
            <a:r>
              <a:rPr lang="en-US" sz="1700" dirty="0">
                <a:solidFill>
                  <a:schemeClr val="accent2"/>
                </a:solidFill>
                <a:latin typeface="Consolas" pitchFamily="34" charset="0"/>
                <a:ea typeface="Consolas" pitchFamily="34" charset="-122"/>
                <a:cs typeface="Consolas" pitchFamily="34" charset="-120"/>
              </a:rPr>
              <a:t>double</a:t>
            </a:r>
            <a:r>
              <a:rPr lang="en-US" sz="1700" dirty="0">
                <a:solidFill>
                  <a:schemeClr val="tx1"/>
                </a:solidFill>
              </a:rPr>
              <a:t> and </a:t>
            </a:r>
            <a:r>
              <a:rPr lang="en-US" sz="1700" dirty="0">
                <a:solidFill>
                  <a:schemeClr val="accent2"/>
                </a:solidFill>
                <a:latin typeface="Consolas" pitchFamily="34" charset="0"/>
                <a:ea typeface="Consolas" pitchFamily="34" charset="-122"/>
                <a:cs typeface="Consolas" pitchFamily="34" charset="-120"/>
              </a:rPr>
              <a:t>char</a:t>
            </a:r>
            <a:r>
              <a:rPr lang="en-US" sz="1700" dirty="0">
                <a:solidFill>
                  <a:schemeClr val="tx1"/>
                </a:solidFill>
              </a:rPr>
              <a:t> aren’t objects.</a:t>
            </a:r>
            <a:endParaRPr lang="en-US" sz="1700" dirty="0"/>
          </a:p>
          <a:p>
            <a:pPr marL="228600" indent="-228600">
              <a:spcAft>
                <a:spcPts val="1000"/>
              </a:spcAft>
              <a:buSzPct val="100000"/>
              <a:buChar char="•"/>
            </a:pPr>
            <a:r>
              <a:rPr lang="en-US" sz="1700" dirty="0">
                <a:solidFill>
                  <a:schemeClr val="tx1"/>
                </a:solidFill>
              </a:rPr>
              <a:t>Each primitive has a wrapper class that holds its value as an object.</a:t>
            </a:r>
            <a:endParaRPr lang="en-US" sz="1700" dirty="0"/>
          </a:p>
          <a:p>
            <a:pPr marL="228600" indent="-228600">
              <a:spcAft>
                <a:spcPts val="1000"/>
              </a:spcAft>
              <a:buSzPct val="100000"/>
              <a:buChar char="•"/>
            </a:pPr>
            <a:r>
              <a:rPr lang="en-US" sz="1700" dirty="0">
                <a:solidFill>
                  <a:schemeClr val="tx1"/>
                </a:solidFill>
              </a:rPr>
              <a:t>So we write </a:t>
            </a:r>
            <a:r>
              <a:rPr lang="en-US" sz="1700" dirty="0">
                <a:solidFill>
                  <a:schemeClr val="accent2"/>
                </a:solidFill>
                <a:latin typeface="Consolas" pitchFamily="34" charset="0"/>
                <a:ea typeface="Consolas" pitchFamily="34" charset="-122"/>
                <a:cs typeface="Consolas" pitchFamily="34" charset="-120"/>
              </a:rPr>
              <a:t>ArrayList&lt;Integer&gt;</a:t>
            </a:r>
            <a:r>
              <a:rPr lang="en-US" sz="1700" dirty="0">
                <a:solidFill>
                  <a:schemeClr val="tx1"/>
                </a:solidFill>
              </a:rPr>
              <a:t>, not </a:t>
            </a:r>
            <a:r>
              <a:rPr lang="en-US" sz="1700" dirty="0">
                <a:solidFill>
                  <a:schemeClr val="accent2"/>
                </a:solidFill>
                <a:latin typeface="Consolas" pitchFamily="34" charset="0"/>
                <a:ea typeface="Consolas" pitchFamily="34" charset="-122"/>
                <a:cs typeface="Consolas" pitchFamily="34" charset="-120"/>
              </a:rPr>
              <a:t>ArrayList&lt;int&gt;</a:t>
            </a:r>
            <a:r>
              <a:rPr lang="en-US" sz="1700" dirty="0">
                <a:solidFill>
                  <a:schemeClr val="tx1"/>
                </a:solidFill>
              </a:rPr>
              <a:t>, and </a:t>
            </a:r>
            <a:r>
              <a:rPr lang="en-US" sz="1700" dirty="0">
                <a:solidFill>
                  <a:schemeClr val="accent2"/>
                </a:solidFill>
                <a:latin typeface="Consolas" pitchFamily="34" charset="0"/>
                <a:ea typeface="Consolas" pitchFamily="34" charset="-122"/>
                <a:cs typeface="Consolas" pitchFamily="34" charset="-120"/>
              </a:rPr>
              <a:t>ArrayList&lt;Character&gt;</a:t>
            </a:r>
            <a:r>
              <a:rPr lang="en-US" sz="1700" dirty="0">
                <a:solidFill>
                  <a:schemeClr val="tx1"/>
                </a:solidFill>
              </a:rPr>
              <a:t>, not </a:t>
            </a:r>
            <a:r>
              <a:rPr lang="en-US" sz="1700" dirty="0">
                <a:solidFill>
                  <a:schemeClr val="accent2"/>
                </a:solidFill>
                <a:latin typeface="Consolas" pitchFamily="34" charset="0"/>
                <a:ea typeface="Consolas" pitchFamily="34" charset="-122"/>
                <a:cs typeface="Consolas" pitchFamily="34" charset="-120"/>
              </a:rPr>
              <a:t>ArrayList&lt;char&gt;</a:t>
            </a:r>
            <a:r>
              <a:rPr lang="en-US" sz="1700" dirty="0">
                <a:solidFill>
                  <a:schemeClr val="tx1"/>
                </a:solidFill>
              </a:rPr>
              <a:t>.</a:t>
            </a:r>
            <a:endParaRPr lang="en-US" sz="1700" dirty="0"/>
          </a:p>
          <a:p>
            <a:pPr marL="228600" indent="-228600">
              <a:buSzPct val="100000"/>
              <a:buChar char="•"/>
            </a:pPr>
            <a:r>
              <a:rPr lang="en-US" sz="1700" dirty="0">
                <a:solidFill>
                  <a:schemeClr val="tx1"/>
                </a:solidFill>
              </a:rPr>
              <a:t>Java wraps the values for us, so </a:t>
            </a:r>
            <a:r>
              <a:rPr lang="en-US" sz="1700" dirty="0">
                <a:solidFill>
                  <a:schemeClr val="accent2"/>
                </a:solidFill>
                <a:latin typeface="Consolas" pitchFamily="34" charset="0"/>
                <a:ea typeface="Consolas" pitchFamily="34" charset="-122"/>
                <a:cs typeface="Consolas" pitchFamily="34" charset="-120"/>
              </a:rPr>
              <a:t>numbers.add(3)</a:t>
            </a:r>
            <a:r>
              <a:rPr lang="en-US" sz="1700" dirty="0">
                <a:solidFill>
                  <a:schemeClr val="tx1"/>
                </a:solidFill>
              </a:rPr>
              <a:t> works. Wrapping is called autoboxing; unwrapping is unboxing.</a:t>
            </a:r>
            <a:endParaRPr lang="en-US" sz="1700" dirty="0"/>
          </a:p>
        </p:txBody>
      </p:sp>
      <p:graphicFrame>
        <p:nvGraphicFramePr>
          <p:cNvPr id="58" name="Table"/>
          <p:cNvGraphicFramePr>
            <a:graphicFrameLocks noGrp="1"/>
          </p:cNvGraphicFramePr>
          <p:nvPr>
            <p:extLst>
              <p:ext uri="{D42A27DB-BD31-4B8C-83A1-F6EECF244321}">
                <p14:modId xmlns:p14="http://schemas.microsoft.com/office/powerpoint/2010/main" val="1579011935"/>
              </p:ext>
            </p:extLst>
          </p:nvPr>
        </p:nvGraphicFramePr>
        <p:xfrm>
          <a:off x="6400800" y="1737360"/>
          <a:ext cx="5242255" cy="914400"/>
        </p:xfrm>
        <a:graphic>
          <a:graphicData uri="http://schemas.openxmlformats.org/drawingml/2006/table">
            <a:tbl>
              <a:tblPr/>
              <a:tblGrid>
                <a:gridCol w="2377440"/>
                <a:gridCol w="2864815"/>
              </a:tblGrid>
              <a:tr h="457200">
                <a:tc>
                  <a:txBody>
                    <a:bodyPr/>
                    <a:lstStyle/>
                    <a:p>
                      <a:pPr indent="0" marL="0">
                        <a:buNone/>
                      </a:pPr>
                      <a:r>
                        <a:rPr lang="en-US" sz="1500" b="1" dirty="0">
                          <a:solidFill>
                            <a:srgbClr val="FFFFFF"/>
                          </a:solidFill>
                        </a:rPr>
                        <a:t>Primitive</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indent="0" marL="0">
                        <a:buNone/>
                      </a:pPr>
                      <a:r>
                        <a:rPr lang="en-US" sz="1500" b="1" dirty="0">
                          <a:solidFill>
                            <a:srgbClr val="FFFFFF"/>
                          </a:solidFill>
                        </a:rPr>
                        <a:t>Wrapper class</a:t>
                      </a:r>
                      <a:endParaRPr lang="en-US"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r>
              <a:tr h="45720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int</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Integer</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double</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Double</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char</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Character</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boolean</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Boolean</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long</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500" dirty="0">
                          <a:solidFill>
                            <a:srgbClr val="1D2433"/>
                          </a:solidFill>
                          <a:latin typeface="Consolas" pitchFamily="34" charset="0"/>
                          <a:ea typeface="Consolas" pitchFamily="34" charset="-122"/>
                          <a:cs typeface="Consolas" pitchFamily="34" charset="-120"/>
                        </a:rPr>
                        <a:t>Long</a:t>
                      </a:r>
                      <a:endParaRPr lang="en-US" sz="15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bl>
          </a:graphicData>
        </a:graphic>
      </p:graphicFrame>
      <p:pic>
        <p:nvPicPr>
          <p:cNvPr id="7" name="Image 0" descr="Does not work">    </p:cNvPr>
          <p:cNvPicPr>
            <a:picLocks noChangeAspect="1"/>
          </p:cNvPicPr>
          <p:nvPr/>
        </p:nvPicPr>
        <p:blipFill>
          <a:blip r:embed="rId1"/>
          <a:stretch>
            <a:fillRect/>
          </a:stretch>
        </p:blipFill>
        <p:spPr>
          <a:xfrm>
            <a:off x="6400800" y="4773168"/>
            <a:ext cx="347472" cy="347472"/>
          </a:xfrm>
          <a:prstGeom prst="rect">
            <a:avLst/>
          </a:prstGeom>
        </p:spPr>
      </p:pic>
      <p:sp>
        <p:nvSpPr>
          <p:cNvPr id="8" name="Text 3"/>
          <p:cNvSpPr txBox="1"/>
          <p:nvPr/>
        </p:nvSpPr>
        <p:spPr>
          <a:xfrm>
            <a:off x="6858000" y="4754880"/>
            <a:ext cx="4785055" cy="384048"/>
          </a:xfrm>
          <a:prstGeom prst="rect">
            <a:avLst/>
          </a:prstGeom>
          <a:noFill/>
          <a:ln/>
        </p:spPr>
        <p:txBody>
          <a:bodyPr wrap="square" lIns="0" tIns="0" rIns="0" bIns="0" rtlCol="0" anchor="ctr"/>
          <a:lstStyle/>
          <a:p>
            <a:pPr algn="l" indent="0" marL="0">
              <a:buNone/>
            </a:pPr>
            <a:r>
              <a:rPr lang="en-US" sz="1500" b="1" dirty="0">
                <a:solidFill>
                  <a:srgbClr val="C0392B"/>
                </a:solidFill>
                <a:latin typeface="Consolas" pitchFamily="34" charset="0"/>
                <a:ea typeface="Consolas" pitchFamily="34" charset="-122"/>
                <a:cs typeface="Consolas" pitchFamily="34" charset="-120"/>
              </a:rPr>
              <a:t>ArrayList&lt;int&gt;</a:t>
            </a:r>
            <a:r>
              <a:rPr lang="en-US" sz="1500" b="1" dirty="0">
                <a:solidFill>
                  <a:srgbClr val="C0392B"/>
                </a:solidFill>
              </a:rPr>
              <a:t> won’t compile</a:t>
            </a:r>
            <a:endParaRPr lang="en-US" sz="1500" dirty="0"/>
          </a:p>
        </p:txBody>
      </p:sp>
      <p:pic>
        <p:nvPicPr>
          <p:cNvPr id="9" name="Image 1" descr="Works">    </p:cNvPr>
          <p:cNvPicPr>
            <a:picLocks noChangeAspect="1"/>
          </p:cNvPicPr>
          <p:nvPr/>
        </p:nvPicPr>
        <p:blipFill>
          <a:blip r:embed="rId2"/>
          <a:stretch>
            <a:fillRect/>
          </a:stretch>
        </p:blipFill>
        <p:spPr>
          <a:xfrm>
            <a:off x="6400800" y="5276088"/>
            <a:ext cx="347472" cy="347472"/>
          </a:xfrm>
          <a:prstGeom prst="rect">
            <a:avLst/>
          </a:prstGeom>
        </p:spPr>
      </p:pic>
      <p:sp>
        <p:nvSpPr>
          <p:cNvPr id="10" name="Text 4"/>
          <p:cNvSpPr txBox="1"/>
          <p:nvPr/>
        </p:nvSpPr>
        <p:spPr>
          <a:xfrm>
            <a:off x="6858000" y="5257800"/>
            <a:ext cx="4785055" cy="384048"/>
          </a:xfrm>
          <a:prstGeom prst="rect">
            <a:avLst/>
          </a:prstGeom>
          <a:noFill/>
          <a:ln/>
        </p:spPr>
        <p:txBody>
          <a:bodyPr wrap="square" lIns="0" tIns="0" rIns="0" bIns="0" rtlCol="0" anchor="ctr"/>
          <a:lstStyle/>
          <a:p>
            <a:pPr algn="l" indent="0" marL="0">
              <a:buNone/>
            </a:pPr>
            <a:r>
              <a:rPr lang="en-US" sz="1500" b="1" dirty="0">
                <a:solidFill>
                  <a:schemeClr val="accent3"/>
                </a:solidFill>
                <a:latin typeface="Consolas" pitchFamily="34" charset="0"/>
                <a:ea typeface="Consolas" pitchFamily="34" charset="-122"/>
                <a:cs typeface="Consolas" pitchFamily="34" charset="-120"/>
              </a:rPr>
              <a:t>ArrayList&lt;Integer&gt;</a:t>
            </a:r>
            <a:r>
              <a:rPr lang="en-US" sz="1500" b="1" dirty="0">
                <a:solidFill>
                  <a:schemeClr val="accent3"/>
                </a:solidFill>
              </a:rPr>
              <a:t> holds whole numbers</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19</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Wrapper classes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declaration compiles?</a:t>
            </a:r>
            <a:endParaRPr lang="en-US"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ArrayList&lt;char&gt; letters = new ArrayList&lt;char&gt;();</a:t>
            </a:r>
            <a:endParaRPr lang="en-US"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ArrayList&lt;Character&gt; letters = new ArrayList&lt;Character&gt;();</a:t>
            </a:r>
            <a:endParaRPr lang="en-US"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ArrayList&lt;int&gt; letters = new ArrayList&lt;int&gt;();</a:t>
            </a:r>
            <a:endParaRPr lang="en-US"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ArrayList&lt;character&gt; letters = new ArrayList&lt;character&gt;();</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19</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Wrapper classes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declaration compiles?</a:t>
            </a:r>
            <a:endParaRPr lang="en-US"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ArrayList&lt;char&gt; letters = new ArrayList&lt;char&gt;();</a:t>
            </a:r>
            <a:endParaRPr lang="en-US" sz="1700" dirty="0"/>
          </a:p>
        </p:txBody>
      </p:sp>
      <p:sp>
        <p:nvSpPr>
          <p:cNvPr id="8" name="Option B (correct)"/>
          <p:cNvSpPr/>
          <p:nvPr/>
        </p:nvSpPr>
        <p:spPr>
          <a:xfrm>
            <a:off x="548640" y="2532888"/>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615184"/>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532888"/>
            <a:ext cx="9704527" cy="585216"/>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ArrayList&lt;Character&gt; letters = new ArrayList&lt;Character&gt;();</a:t>
            </a:r>
            <a:endParaRPr lang="en-US" sz="1700" dirty="0"/>
          </a:p>
        </p:txBody>
      </p:sp>
      <p:pic>
        <p:nvPicPr>
          <p:cNvPr id="11" name="Image 0" descr="Correct mark">    </p:cNvPr>
          <p:cNvPicPr>
            <a:picLocks noChangeAspect="1"/>
          </p:cNvPicPr>
          <p:nvPr/>
        </p:nvPicPr>
        <p:blipFill>
          <a:blip r:embed="rId1"/>
          <a:stretch>
            <a:fillRect/>
          </a:stretch>
        </p:blipFill>
        <p:spPr>
          <a:xfrm>
            <a:off x="11094415" y="2642616"/>
            <a:ext cx="365760" cy="365760"/>
          </a:xfrm>
          <a:prstGeom prst="rect">
            <a:avLst/>
          </a:prstGeom>
        </p:spPr>
      </p:pic>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ArrayList&lt;int&gt; letters = new ArrayList&lt;int&gt;();</a:t>
            </a:r>
            <a:endParaRPr lang="en-US"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ArrayList&lt;character&gt; letters = new ArrayList&lt;character&gt;();</a:t>
            </a:r>
            <a:endParaRPr lang="en-US"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tx1"/>
                </a:solidFill>
              </a:rPr>
              <a:t>Generic types need classes, so </a:t>
            </a:r>
            <a:r>
              <a:rPr lang="en-US" sz="1600" dirty="0">
                <a:solidFill>
                  <a:schemeClr val="accent2"/>
                </a:solidFill>
                <a:latin typeface="Consolas" pitchFamily="34" charset="0"/>
                <a:ea typeface="Consolas" pitchFamily="34" charset="-122"/>
                <a:cs typeface="Consolas" pitchFamily="34" charset="-120"/>
              </a:rPr>
              <a:t>char</a:t>
            </a:r>
            <a:r>
              <a:rPr lang="en-US" sz="1600" dirty="0">
                <a:solidFill>
                  <a:schemeClr val="tx1"/>
                </a:solidFill>
              </a:rPr>
              <a:t> has to be wrapped in </a:t>
            </a:r>
            <a:r>
              <a:rPr lang="en-US" sz="1600" dirty="0">
                <a:solidFill>
                  <a:schemeClr val="accent2"/>
                </a:solidFill>
                <a:latin typeface="Consolas" pitchFamily="34" charset="0"/>
                <a:ea typeface="Consolas" pitchFamily="34" charset="-122"/>
                <a:cs typeface="Consolas" pitchFamily="34" charset="-120"/>
              </a:rPr>
              <a:t>Character</a:t>
            </a:r>
            <a:r>
              <a:rPr lang="en-US" sz="1600" dirty="0">
                <a:solidFill>
                  <a:schemeClr val="tx1"/>
                </a:solidFill>
              </a:rPr>
              <a:t>. Both </a:t>
            </a:r>
            <a:r>
              <a:rPr lang="en-US" sz="1600" dirty="0">
                <a:solidFill>
                  <a:schemeClr val="accent2"/>
                </a:solidFill>
                <a:latin typeface="Consolas" pitchFamily="34" charset="0"/>
                <a:ea typeface="Consolas" pitchFamily="34" charset="-122"/>
                <a:cs typeface="Consolas" pitchFamily="34" charset="-120"/>
              </a:rPr>
              <a:t>char</a:t>
            </a:r>
            <a:r>
              <a:rPr lang="en-US" sz="1600" dirty="0">
                <a:solidFill>
                  <a:schemeClr val="tx1"/>
                </a:solidFill>
              </a:rPr>
              <a:t> and </a:t>
            </a:r>
            <a:r>
              <a:rPr lang="en-US" sz="1600" dirty="0">
                <a:solidFill>
                  <a:schemeClr val="accent2"/>
                </a:solidFill>
                <a:latin typeface="Consolas" pitchFamily="34" charset="0"/>
                <a:ea typeface="Consolas" pitchFamily="34" charset="-122"/>
                <a:cs typeface="Consolas" pitchFamily="34" charset="-120"/>
              </a:rPr>
              <a:t>int</a:t>
            </a:r>
            <a:r>
              <a:rPr lang="en-US" sz="1600" dirty="0">
                <a:solidFill>
                  <a:schemeClr val="tx1"/>
                </a:solidFill>
              </a:rPr>
              <a:t> are primitives, so A and C won’t compile, and </a:t>
            </a:r>
            <a:r>
              <a:rPr lang="en-US" sz="1600" dirty="0">
                <a:solidFill>
                  <a:schemeClr val="accent2"/>
                </a:solidFill>
                <a:latin typeface="Consolas" pitchFamily="34" charset="0"/>
                <a:ea typeface="Consolas" pitchFamily="34" charset="-122"/>
                <a:cs typeface="Consolas" pitchFamily="34" charset="-120"/>
              </a:rPr>
              <a:t>character</a:t>
            </a:r>
            <a:r>
              <a:rPr lang="en-US" sz="1600" dirty="0">
                <a:solidFill>
                  <a:schemeClr val="tx1"/>
                </a:solidFill>
              </a:rPr>
              <a:t> with a small c isn’t a class at all.</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20</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Wrapper classes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accent2"/>
                </a:solidFill>
                <a:latin typeface="Consolas" pitchFamily="34" charset="0"/>
                <a:ea typeface="Consolas" pitchFamily="34" charset="-122"/>
                <a:cs typeface="Consolas" pitchFamily="34" charset="-120"/>
              </a:rPr>
              <a:t>numbers</a:t>
            </a:r>
            <a:r>
              <a:rPr lang="en-US" sz="2800" b="1" dirty="0">
                <a:solidFill>
                  <a:schemeClr val="tx1"/>
                </a:solidFill>
              </a:rPr>
              <a:t> is an </a:t>
            </a:r>
            <a:r>
              <a:rPr lang="en-US" sz="2800" b="1" dirty="0">
                <a:solidFill>
                  <a:schemeClr val="accent2"/>
                </a:solidFill>
                <a:latin typeface="Consolas" pitchFamily="34" charset="0"/>
                <a:ea typeface="Consolas" pitchFamily="34" charset="-122"/>
                <a:cs typeface="Consolas" pitchFamily="34" charset="-120"/>
              </a:rPr>
              <a:t>ArrayList&lt;Integer&gt;</a:t>
            </a:r>
            <a:r>
              <a:rPr lang="en-US" sz="2800" b="1" dirty="0">
                <a:solidFill>
                  <a:schemeClr val="tx1"/>
                </a:solidFill>
              </a:rPr>
              <a:t>. Why does </a:t>
            </a:r>
            <a:r>
              <a:rPr lang="en-US" sz="2800" b="1" dirty="0">
                <a:solidFill>
                  <a:schemeClr val="accent2"/>
                </a:solidFill>
                <a:latin typeface="Consolas" pitchFamily="34" charset="0"/>
                <a:ea typeface="Consolas" pitchFamily="34" charset="-122"/>
                <a:cs typeface="Consolas" pitchFamily="34" charset="-120"/>
              </a:rPr>
              <a:t>numbers.add(3)</a:t>
            </a:r>
            <a:r>
              <a:rPr lang="en-US" sz="2800" b="1" dirty="0">
                <a:solidFill>
                  <a:schemeClr val="tx1"/>
                </a:solidFill>
              </a:rPr>
              <a:t> compile, when 3 is an int?</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Java turns the int 3 into an Integer for us</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ArrayList&lt;Integer&gt;</a:t>
            </a:r>
            <a:r>
              <a:rPr lang="en-US" sz="2000" dirty="0">
                <a:solidFill>
                  <a:schemeClr val="tx1"/>
                </a:solidFill>
              </a:rPr>
              <a:t> accepts primitive ints too</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3 is stored as the String </a:t>
            </a:r>
            <a:r>
              <a:rPr lang="en-US" sz="2000" dirty="0">
                <a:solidFill>
                  <a:schemeClr val="accent2"/>
                </a:solidFill>
                <a:latin typeface="Consolas" pitchFamily="34" charset="0"/>
                <a:ea typeface="Consolas" pitchFamily="34" charset="-122"/>
                <a:cs typeface="Consolas" pitchFamily="34" charset="-120"/>
              </a:rPr>
              <a:t>"3"</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doesn’t: we must write </a:t>
            </a:r>
            <a:r>
              <a:rPr lang="en-US" sz="2000" dirty="0">
                <a:solidFill>
                  <a:schemeClr val="accent2"/>
                </a:solidFill>
                <a:latin typeface="Consolas" pitchFamily="34" charset="0"/>
                <a:ea typeface="Consolas" pitchFamily="34" charset="-122"/>
                <a:cs typeface="Consolas" pitchFamily="34" charset="-120"/>
              </a:rPr>
              <a:t>new Integer(3)</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20</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Wrapper classes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latin typeface="Consolas" pitchFamily="34" charset="0"/>
                <a:ea typeface="Consolas" pitchFamily="34" charset="-122"/>
                <a:cs typeface="Consolas" pitchFamily="34" charset="-120"/>
              </a:rPr>
              <a:t>numbers</a:t>
            </a:r>
            <a:r>
              <a:rPr lang="en-US" sz="2000" b="1" dirty="0">
                <a:solidFill>
                  <a:schemeClr val="tx2"/>
                </a:solidFill>
              </a:rPr>
              <a:t> is an </a:t>
            </a:r>
            <a:r>
              <a:rPr lang="en-US" sz="2000" b="1" dirty="0">
                <a:solidFill>
                  <a:schemeClr val="tx2"/>
                </a:solidFill>
                <a:latin typeface="Consolas" pitchFamily="34" charset="0"/>
                <a:ea typeface="Consolas" pitchFamily="34" charset="-122"/>
                <a:cs typeface="Consolas" pitchFamily="34" charset="-120"/>
              </a:rPr>
              <a:t>ArrayList&lt;Integer&gt;</a:t>
            </a:r>
            <a:r>
              <a:rPr lang="en-US" sz="2000" b="1" dirty="0">
                <a:solidFill>
                  <a:schemeClr val="tx2"/>
                </a:solidFill>
              </a:rPr>
              <a:t>. Why does </a:t>
            </a:r>
            <a:r>
              <a:rPr lang="en-US" sz="2000" b="1" dirty="0">
                <a:solidFill>
                  <a:schemeClr val="tx2"/>
                </a:solidFill>
                <a:latin typeface="Consolas" pitchFamily="34" charset="0"/>
                <a:ea typeface="Consolas" pitchFamily="34" charset="-122"/>
                <a:cs typeface="Consolas" pitchFamily="34" charset="-120"/>
              </a:rPr>
              <a:t>numbers.add(3)</a:t>
            </a:r>
            <a:r>
              <a:rPr lang="en-US" sz="2000" b="1" dirty="0">
                <a:solidFill>
                  <a:schemeClr val="tx2"/>
                </a:solidFill>
              </a:rPr>
              <a:t> compile, when 3 is an int?</a:t>
            </a:r>
            <a:endParaRPr lang="en-US"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74520"/>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Java turns the int 3 into an Integer for us</a:t>
            </a:r>
            <a:endParaRPr lang="en-US" sz="1700" dirty="0"/>
          </a:p>
        </p:txBody>
      </p:sp>
      <p:pic>
        <p:nvPicPr>
          <p:cNvPr id="8" name="Image 0"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ArrayList&lt;Integer&gt;</a:t>
            </a:r>
            <a:r>
              <a:rPr lang="en-US" sz="1700" dirty="0">
                <a:solidFill>
                  <a:schemeClr val="tx2"/>
                </a:solidFill>
              </a:rPr>
              <a:t> accepts primitive ints too</a:t>
            </a:r>
            <a:endParaRPr lang="en-US"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3 is stored as the String </a:t>
            </a:r>
            <a:r>
              <a:rPr lang="en-US" sz="1700" dirty="0">
                <a:solidFill>
                  <a:schemeClr val="tx2"/>
                </a:solidFill>
                <a:latin typeface="Consolas" pitchFamily="34" charset="0"/>
                <a:ea typeface="Consolas" pitchFamily="34" charset="-122"/>
                <a:cs typeface="Consolas" pitchFamily="34" charset="-120"/>
              </a:rPr>
              <a:t>"3"</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doesn’t: we must write </a:t>
            </a:r>
            <a:r>
              <a:rPr lang="en-US" sz="1700" dirty="0">
                <a:solidFill>
                  <a:schemeClr val="tx2"/>
                </a:solidFill>
                <a:latin typeface="Consolas" pitchFamily="34" charset="0"/>
                <a:ea typeface="Consolas" pitchFamily="34" charset="-122"/>
                <a:cs typeface="Consolas" pitchFamily="34" charset="-120"/>
              </a:rPr>
              <a:t>new Integer(3)</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This is autoboxing: Java wraps the int 3 in an Integer object for us. When we read it back with </a:t>
            </a:r>
            <a:r>
              <a:rPr lang="en-US" sz="1800" dirty="0">
                <a:solidFill>
                  <a:schemeClr val="accent2"/>
                </a:solidFill>
                <a:latin typeface="Consolas" pitchFamily="34" charset="0"/>
                <a:ea typeface="Consolas" pitchFamily="34" charset="-122"/>
                <a:cs typeface="Consolas" pitchFamily="34" charset="-120"/>
              </a:rPr>
              <a:t>numbers.get(0)</a:t>
            </a:r>
            <a:r>
              <a:rPr lang="en-US" sz="1800" dirty="0">
                <a:solidFill>
                  <a:schemeClr val="tx1"/>
                </a:solidFill>
              </a:rPr>
              <a:t>, Java unwraps it again, which is called unboxing. The list itself only ever holds Integer objects.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WRAP-UP</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Lecture 9 at a glance</a:t>
            </a:r>
            <a:endParaRPr lang="en-US" sz="3400" dirty="0"/>
          </a:p>
        </p:txBody>
      </p:sp>
      <p:sp>
        <p:nvSpPr>
          <p:cNvPr id="4" name="Card"/>
          <p:cNvSpPr/>
          <p:nvPr/>
        </p:nvSpPr>
        <p:spPr>
          <a:xfrm>
            <a:off x="548640"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5" name="Icon tile"/>
          <p:cNvSpPr/>
          <p:nvPr/>
        </p:nvSpPr>
        <p:spPr>
          <a:xfrm>
            <a:off x="804672" y="2039112"/>
            <a:ext cx="548640" cy="548640"/>
          </a:xfrm>
          <a:prstGeom prst="roundRect">
            <a:avLst>
              <a:gd name="adj" fmla="val 24000"/>
            </a:avLst>
          </a:prstGeom>
          <a:solidFill>
            <a:schemeClr val="accent2">
              <a:alpha val="14000"/>
            </a:schemeClr>
          </a:solidFill>
          <a:ln/>
        </p:spPr>
      </p:sp>
      <p:pic>
        <p:nvPicPr>
          <p:cNvPr id="6" name="Image 0" descr="stack icon">    </p:cNvPr>
          <p:cNvPicPr>
            <a:picLocks noChangeAspect="1"/>
          </p:cNvPicPr>
          <p:nvPr/>
        </p:nvPicPr>
        <p:blipFill>
          <a:blip r:embed="rId1"/>
          <a:stretch>
            <a:fillRect/>
          </a:stretch>
        </p:blipFill>
        <p:spPr>
          <a:xfrm>
            <a:off x="919886" y="2154326"/>
            <a:ext cx="318211" cy="318211"/>
          </a:xfrm>
          <a:prstGeom prst="rect">
            <a:avLst/>
          </a:prstGeom>
        </p:spPr>
      </p:pic>
      <p:sp>
        <p:nvSpPr>
          <p:cNvPr id="7" name="Text 4"/>
          <p:cNvSpPr txBox="1"/>
          <p:nvPr/>
        </p:nvSpPr>
        <p:spPr>
          <a:xfrm>
            <a:off x="1481328" y="2039112"/>
            <a:ext cx="1550822" cy="548640"/>
          </a:xfrm>
          <a:prstGeom prst="rect">
            <a:avLst/>
          </a:prstGeom>
          <a:noFill/>
          <a:ln/>
        </p:spPr>
        <p:txBody>
          <a:bodyPr wrap="square" lIns="0" tIns="0" rIns="0" bIns="0" rtlCol="0" anchor="ctr"/>
          <a:lstStyle/>
          <a:p>
            <a:pPr indent="0" marL="0">
              <a:buNone/>
            </a:pPr>
            <a:r>
              <a:rPr lang="en-US" sz="1900" b="1" dirty="0">
                <a:solidFill>
                  <a:schemeClr val="tx1"/>
                </a:solidFill>
              </a:rPr>
              <a:t>Collections</a:t>
            </a:r>
            <a:endParaRPr lang="en-US" sz="1900" dirty="0"/>
          </a:p>
        </p:txBody>
      </p:sp>
      <p:sp>
        <p:nvSpPr>
          <p:cNvPr id="8" name="Text 5"/>
          <p:cNvSpPr txBox="1"/>
          <p:nvPr/>
        </p:nvSpPr>
        <p:spPr>
          <a:xfrm>
            <a:off x="804672"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Groups of objects that grow and shrink as we add and remove.</a:t>
            </a:r>
            <a:endParaRPr lang="en-US" sz="1500" dirty="0"/>
          </a:p>
        </p:txBody>
      </p:sp>
      <p:sp>
        <p:nvSpPr>
          <p:cNvPr id="9" name="Card"/>
          <p:cNvSpPr/>
          <p:nvPr/>
        </p:nvSpPr>
        <p:spPr>
          <a:xfrm>
            <a:off x="3379622"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0" name="Icon tile"/>
          <p:cNvSpPr/>
          <p:nvPr/>
        </p:nvSpPr>
        <p:spPr>
          <a:xfrm>
            <a:off x="3635654" y="2039112"/>
            <a:ext cx="548640" cy="548640"/>
          </a:xfrm>
          <a:prstGeom prst="roundRect">
            <a:avLst>
              <a:gd name="adj" fmla="val 24000"/>
            </a:avLst>
          </a:prstGeom>
          <a:solidFill>
            <a:schemeClr val="accent4">
              <a:alpha val="14000"/>
            </a:schemeClr>
          </a:solidFill>
          <a:ln/>
        </p:spPr>
      </p:sp>
      <p:pic>
        <p:nvPicPr>
          <p:cNvPr id="11" name="Image 1" descr="list bullets icon">    </p:cNvPr>
          <p:cNvPicPr>
            <a:picLocks noChangeAspect="1"/>
          </p:cNvPicPr>
          <p:nvPr/>
        </p:nvPicPr>
        <p:blipFill>
          <a:blip r:embed="rId2"/>
          <a:stretch>
            <a:fillRect/>
          </a:stretch>
        </p:blipFill>
        <p:spPr>
          <a:xfrm>
            <a:off x="3750869" y="2154326"/>
            <a:ext cx="318211" cy="318211"/>
          </a:xfrm>
          <a:prstGeom prst="rect">
            <a:avLst/>
          </a:prstGeom>
        </p:spPr>
      </p:pic>
      <p:sp>
        <p:nvSpPr>
          <p:cNvPr id="12" name="Text 8"/>
          <p:cNvSpPr txBox="1"/>
          <p:nvPr/>
        </p:nvSpPr>
        <p:spPr>
          <a:xfrm>
            <a:off x="4312310" y="2039112"/>
            <a:ext cx="1550822" cy="548640"/>
          </a:xfrm>
          <a:prstGeom prst="rect">
            <a:avLst/>
          </a:prstGeom>
          <a:noFill/>
          <a:ln/>
        </p:spPr>
        <p:txBody>
          <a:bodyPr wrap="square" lIns="0" tIns="0" rIns="0" bIns="0" rtlCol="0" anchor="ctr"/>
          <a:lstStyle/>
          <a:p>
            <a:pPr indent="0" marL="0">
              <a:buNone/>
            </a:pPr>
            <a:r>
              <a:rPr lang="en-US" sz="1900" b="1" dirty="0">
                <a:solidFill>
                  <a:schemeClr val="tx1"/>
                </a:solidFill>
                <a:latin typeface="Consolas" pitchFamily="34" charset="0"/>
                <a:ea typeface="Consolas" pitchFamily="34" charset="-122"/>
                <a:cs typeface="Consolas" pitchFamily="34" charset="-120"/>
              </a:rPr>
              <a:t>List</a:t>
            </a:r>
            <a:endParaRPr lang="en-US" sz="1900" dirty="0"/>
          </a:p>
        </p:txBody>
      </p:sp>
      <p:sp>
        <p:nvSpPr>
          <p:cNvPr id="13" name="Text 9"/>
          <p:cNvSpPr txBox="1"/>
          <p:nvPr/>
        </p:nvSpPr>
        <p:spPr>
          <a:xfrm>
            <a:off x="3635654"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An interface: items in order, found by index.</a:t>
            </a:r>
            <a:endParaRPr lang="en-US" sz="1500" dirty="0"/>
          </a:p>
        </p:txBody>
      </p:sp>
      <p:sp>
        <p:nvSpPr>
          <p:cNvPr id="14" name="Card"/>
          <p:cNvSpPr/>
          <p:nvPr/>
        </p:nvSpPr>
        <p:spPr>
          <a:xfrm>
            <a:off x="6210605"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5" name="Icon tile"/>
          <p:cNvSpPr/>
          <p:nvPr/>
        </p:nvSpPr>
        <p:spPr>
          <a:xfrm>
            <a:off x="6466637" y="2039112"/>
            <a:ext cx="548640" cy="548640"/>
          </a:xfrm>
          <a:prstGeom prst="roundRect">
            <a:avLst>
              <a:gd name="adj" fmla="val 24000"/>
            </a:avLst>
          </a:prstGeom>
          <a:solidFill>
            <a:schemeClr val="accent3">
              <a:alpha val="14000"/>
            </a:schemeClr>
          </a:solidFill>
          <a:ln/>
        </p:spPr>
      </p:sp>
      <p:pic>
        <p:nvPicPr>
          <p:cNvPr id="16" name="Image 2" descr="rows icon">    </p:cNvPr>
          <p:cNvPicPr>
            <a:picLocks noChangeAspect="1"/>
          </p:cNvPicPr>
          <p:nvPr/>
        </p:nvPicPr>
        <p:blipFill>
          <a:blip r:embed="rId3"/>
          <a:stretch>
            <a:fillRect/>
          </a:stretch>
        </p:blipFill>
        <p:spPr>
          <a:xfrm>
            <a:off x="6581851" y="2154326"/>
            <a:ext cx="318211" cy="318211"/>
          </a:xfrm>
          <a:prstGeom prst="rect">
            <a:avLst/>
          </a:prstGeom>
        </p:spPr>
      </p:pic>
      <p:sp>
        <p:nvSpPr>
          <p:cNvPr id="17" name="Text 12"/>
          <p:cNvSpPr txBox="1"/>
          <p:nvPr/>
        </p:nvSpPr>
        <p:spPr>
          <a:xfrm>
            <a:off x="7143293" y="2039112"/>
            <a:ext cx="1550822" cy="548640"/>
          </a:xfrm>
          <a:prstGeom prst="rect">
            <a:avLst/>
          </a:prstGeom>
          <a:noFill/>
          <a:ln/>
        </p:spPr>
        <p:txBody>
          <a:bodyPr wrap="square" lIns="0" tIns="0" rIns="0" bIns="0" rtlCol="0" anchor="ctr"/>
          <a:lstStyle/>
          <a:p>
            <a:pPr indent="0" marL="0">
              <a:buNone/>
            </a:pPr>
            <a:r>
              <a:rPr lang="en-US" sz="1700" b="1" dirty="0">
                <a:solidFill>
                  <a:schemeClr val="tx1"/>
                </a:solidFill>
                <a:latin typeface="Consolas" pitchFamily="34" charset="0"/>
                <a:ea typeface="Consolas" pitchFamily="34" charset="-122"/>
                <a:cs typeface="Consolas" pitchFamily="34" charset="-120"/>
              </a:rPr>
              <a:t>ArrayList</a:t>
            </a:r>
            <a:endParaRPr lang="en-US" sz="1700" dirty="0"/>
          </a:p>
        </p:txBody>
      </p:sp>
      <p:sp>
        <p:nvSpPr>
          <p:cNvPr id="18" name="Text 13"/>
          <p:cNvSpPr txBox="1"/>
          <p:nvPr/>
        </p:nvSpPr>
        <p:spPr>
          <a:xfrm>
            <a:off x="6466637"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An array inside, so getting by index is quick.</a:t>
            </a:r>
            <a:endParaRPr lang="en-US" sz="1500" dirty="0"/>
          </a:p>
        </p:txBody>
      </p:sp>
      <p:sp>
        <p:nvSpPr>
          <p:cNvPr id="19" name="Card"/>
          <p:cNvSpPr/>
          <p:nvPr/>
        </p:nvSpPr>
        <p:spPr>
          <a:xfrm>
            <a:off x="9041587"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0" name="Icon tile"/>
          <p:cNvSpPr/>
          <p:nvPr/>
        </p:nvSpPr>
        <p:spPr>
          <a:xfrm>
            <a:off x="9297619" y="2039112"/>
            <a:ext cx="548640" cy="548640"/>
          </a:xfrm>
          <a:prstGeom prst="roundRect">
            <a:avLst>
              <a:gd name="adj" fmla="val 24000"/>
            </a:avLst>
          </a:prstGeom>
          <a:solidFill>
            <a:schemeClr val="accent1">
              <a:alpha val="14000"/>
            </a:schemeClr>
          </a:solidFill>
          <a:ln/>
        </p:spPr>
      </p:sp>
      <p:pic>
        <p:nvPicPr>
          <p:cNvPr id="21" name="Image 3" descr="link icon">    </p:cNvPr>
          <p:cNvPicPr>
            <a:picLocks noChangeAspect="1"/>
          </p:cNvPicPr>
          <p:nvPr/>
        </p:nvPicPr>
        <p:blipFill>
          <a:blip r:embed="rId4"/>
          <a:stretch>
            <a:fillRect/>
          </a:stretch>
        </p:blipFill>
        <p:spPr>
          <a:xfrm>
            <a:off x="9412834" y="2154326"/>
            <a:ext cx="318211" cy="318211"/>
          </a:xfrm>
          <a:prstGeom prst="rect">
            <a:avLst/>
          </a:prstGeom>
        </p:spPr>
      </p:pic>
      <p:sp>
        <p:nvSpPr>
          <p:cNvPr id="22" name="Text 16"/>
          <p:cNvSpPr txBox="1"/>
          <p:nvPr/>
        </p:nvSpPr>
        <p:spPr>
          <a:xfrm>
            <a:off x="9974275" y="2039112"/>
            <a:ext cx="1550822" cy="548640"/>
          </a:xfrm>
          <a:prstGeom prst="rect">
            <a:avLst/>
          </a:prstGeom>
          <a:noFill/>
          <a:ln/>
        </p:spPr>
        <p:txBody>
          <a:bodyPr wrap="square" lIns="0" tIns="0" rIns="0" bIns="0" rtlCol="0" anchor="ctr"/>
          <a:lstStyle/>
          <a:p>
            <a:pPr indent="0" marL="0">
              <a:buNone/>
            </a:pPr>
            <a:r>
              <a:rPr lang="en-US" sz="1700" b="1" dirty="0">
                <a:solidFill>
                  <a:schemeClr val="tx1"/>
                </a:solidFill>
                <a:latin typeface="Consolas" pitchFamily="34" charset="0"/>
                <a:ea typeface="Consolas" pitchFamily="34" charset="-122"/>
                <a:cs typeface="Consolas" pitchFamily="34" charset="-120"/>
              </a:rPr>
              <a:t>LinkedList</a:t>
            </a:r>
            <a:endParaRPr lang="en-US" sz="1700" dirty="0"/>
          </a:p>
        </p:txBody>
      </p:sp>
      <p:sp>
        <p:nvSpPr>
          <p:cNvPr id="23" name="Text 17"/>
          <p:cNvSpPr txBox="1"/>
          <p:nvPr/>
        </p:nvSpPr>
        <p:spPr>
          <a:xfrm>
            <a:off x="9297619"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Nodes linked one to the next. Good for inserting anywhere.</a:t>
            </a:r>
            <a:endParaRPr lang="en-US" sz="1500" dirty="0"/>
          </a:p>
        </p:txBody>
      </p:sp>
      <p:sp>
        <p:nvSpPr>
          <p:cNvPr id="24" name="Card"/>
          <p:cNvSpPr/>
          <p:nvPr/>
        </p:nvSpPr>
        <p:spPr>
          <a:xfrm>
            <a:off x="548640"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5" name="Icon tile"/>
          <p:cNvSpPr/>
          <p:nvPr/>
        </p:nvSpPr>
        <p:spPr>
          <a:xfrm>
            <a:off x="804672" y="4279392"/>
            <a:ext cx="548640" cy="548640"/>
          </a:xfrm>
          <a:prstGeom prst="roundRect">
            <a:avLst>
              <a:gd name="adj" fmla="val 24000"/>
            </a:avLst>
          </a:prstGeom>
          <a:solidFill>
            <a:schemeClr val="accent5">
              <a:alpha val="14000"/>
            </a:schemeClr>
          </a:solidFill>
          <a:ln/>
        </p:spPr>
      </p:sp>
      <p:pic>
        <p:nvPicPr>
          <p:cNvPr id="26" name="Image 4" descr="lock key icon">    </p:cNvPr>
          <p:cNvPicPr>
            <a:picLocks noChangeAspect="1"/>
          </p:cNvPicPr>
          <p:nvPr/>
        </p:nvPicPr>
        <p:blipFill>
          <a:blip r:embed="rId5"/>
          <a:stretch>
            <a:fillRect/>
          </a:stretch>
        </p:blipFill>
        <p:spPr>
          <a:xfrm>
            <a:off x="919886" y="4394606"/>
            <a:ext cx="318211" cy="318211"/>
          </a:xfrm>
          <a:prstGeom prst="rect">
            <a:avLst/>
          </a:prstGeom>
        </p:spPr>
      </p:pic>
      <p:sp>
        <p:nvSpPr>
          <p:cNvPr id="27" name="Text 20"/>
          <p:cNvSpPr txBox="1"/>
          <p:nvPr/>
        </p:nvSpPr>
        <p:spPr>
          <a:xfrm>
            <a:off x="1481328" y="4279392"/>
            <a:ext cx="1550822" cy="548640"/>
          </a:xfrm>
          <a:prstGeom prst="rect">
            <a:avLst/>
          </a:prstGeom>
          <a:noFill/>
          <a:ln/>
        </p:spPr>
        <p:txBody>
          <a:bodyPr wrap="square" lIns="0" tIns="0" rIns="0" bIns="0" rtlCol="0" anchor="ctr"/>
          <a:lstStyle/>
          <a:p>
            <a:pPr indent="0" marL="0">
              <a:buNone/>
            </a:pPr>
            <a:r>
              <a:rPr lang="en-US" sz="1900" b="1" dirty="0">
                <a:solidFill>
                  <a:schemeClr val="tx1"/>
                </a:solidFill>
                <a:latin typeface="Consolas" pitchFamily="34" charset="0"/>
                <a:ea typeface="Consolas" pitchFamily="34" charset="-122"/>
                <a:cs typeface="Consolas" pitchFamily="34" charset="-120"/>
              </a:rPr>
              <a:t>Vector</a:t>
            </a:r>
            <a:endParaRPr lang="en-US" sz="1900" dirty="0"/>
          </a:p>
        </p:txBody>
      </p:sp>
      <p:sp>
        <p:nvSpPr>
          <p:cNvPr id="28" name="Text 21"/>
          <p:cNvSpPr txBox="1"/>
          <p:nvPr/>
        </p:nvSpPr>
        <p:spPr>
          <a:xfrm>
            <a:off x="804672"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Like ArrayList, but synchronized. Stack extends it.</a:t>
            </a:r>
            <a:endParaRPr lang="en-US" sz="1500" dirty="0"/>
          </a:p>
        </p:txBody>
      </p:sp>
      <p:sp>
        <p:nvSpPr>
          <p:cNvPr id="29" name="Card"/>
          <p:cNvSpPr/>
          <p:nvPr/>
        </p:nvSpPr>
        <p:spPr>
          <a:xfrm>
            <a:off x="3379622"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0" name="Icon tile"/>
          <p:cNvSpPr/>
          <p:nvPr/>
        </p:nvSpPr>
        <p:spPr>
          <a:xfrm>
            <a:off x="3635654" y="4279392"/>
            <a:ext cx="548640" cy="548640"/>
          </a:xfrm>
          <a:prstGeom prst="roundRect">
            <a:avLst>
              <a:gd name="adj" fmla="val 24000"/>
            </a:avLst>
          </a:prstGeom>
          <a:solidFill>
            <a:schemeClr val="accent2">
              <a:alpha val="14000"/>
            </a:schemeClr>
          </a:solidFill>
          <a:ln/>
        </p:spPr>
      </p:sp>
      <p:pic>
        <p:nvPicPr>
          <p:cNvPr id="31" name="Image 5" descr="brackets angle icon">    </p:cNvPr>
          <p:cNvPicPr>
            <a:picLocks noChangeAspect="1"/>
          </p:cNvPicPr>
          <p:nvPr/>
        </p:nvPicPr>
        <p:blipFill>
          <a:blip r:embed="rId6"/>
          <a:stretch>
            <a:fillRect/>
          </a:stretch>
        </p:blipFill>
        <p:spPr>
          <a:xfrm>
            <a:off x="3750869" y="4394606"/>
            <a:ext cx="318211" cy="318211"/>
          </a:xfrm>
          <a:prstGeom prst="rect">
            <a:avLst/>
          </a:prstGeom>
        </p:spPr>
      </p:pic>
      <p:sp>
        <p:nvSpPr>
          <p:cNvPr id="32" name="Text 24"/>
          <p:cNvSpPr txBox="1"/>
          <p:nvPr/>
        </p:nvSpPr>
        <p:spPr>
          <a:xfrm>
            <a:off x="4312310" y="4279392"/>
            <a:ext cx="1550822" cy="548640"/>
          </a:xfrm>
          <a:prstGeom prst="rect">
            <a:avLst/>
          </a:prstGeom>
          <a:noFill/>
          <a:ln/>
        </p:spPr>
        <p:txBody>
          <a:bodyPr wrap="square" lIns="0" tIns="0" rIns="0" bIns="0" rtlCol="0" anchor="ctr"/>
          <a:lstStyle/>
          <a:p>
            <a:pPr indent="0" marL="0">
              <a:buNone/>
            </a:pPr>
            <a:r>
              <a:rPr lang="en-US" sz="1900" b="1" dirty="0">
                <a:solidFill>
                  <a:schemeClr val="tx1"/>
                </a:solidFill>
              </a:rPr>
              <a:t>Generics</a:t>
            </a:r>
            <a:endParaRPr lang="en-US" sz="1900" dirty="0"/>
          </a:p>
        </p:txBody>
      </p:sp>
      <p:sp>
        <p:nvSpPr>
          <p:cNvPr id="33" name="Text 25"/>
          <p:cNvSpPr txBox="1"/>
          <p:nvPr/>
        </p:nvSpPr>
        <p:spPr>
          <a:xfrm>
            <a:off x="3635654"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We give the element type when we use the class.</a:t>
            </a:r>
            <a:endParaRPr lang="en-US" sz="1500" dirty="0"/>
          </a:p>
        </p:txBody>
      </p:sp>
      <p:sp>
        <p:nvSpPr>
          <p:cNvPr id="34" name="Card"/>
          <p:cNvSpPr/>
          <p:nvPr/>
        </p:nvSpPr>
        <p:spPr>
          <a:xfrm>
            <a:off x="6210605"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5" name="Icon tile"/>
          <p:cNvSpPr/>
          <p:nvPr/>
        </p:nvSpPr>
        <p:spPr>
          <a:xfrm>
            <a:off x="6466637" y="4279392"/>
            <a:ext cx="548640" cy="548640"/>
          </a:xfrm>
          <a:prstGeom prst="roundRect">
            <a:avLst>
              <a:gd name="adj" fmla="val 24000"/>
            </a:avLst>
          </a:prstGeom>
          <a:solidFill>
            <a:schemeClr val="accent4">
              <a:alpha val="14000"/>
            </a:schemeClr>
          </a:solidFill>
          <a:ln/>
        </p:spPr>
      </p:sp>
      <p:pic>
        <p:nvPicPr>
          <p:cNvPr id="36" name="Image 6" descr="tag icon">    </p:cNvPr>
          <p:cNvPicPr>
            <a:picLocks noChangeAspect="1"/>
          </p:cNvPicPr>
          <p:nvPr/>
        </p:nvPicPr>
        <p:blipFill>
          <a:blip r:embed="rId7"/>
          <a:stretch>
            <a:fillRect/>
          </a:stretch>
        </p:blipFill>
        <p:spPr>
          <a:xfrm>
            <a:off x="6581851" y="4394606"/>
            <a:ext cx="318211" cy="318211"/>
          </a:xfrm>
          <a:prstGeom prst="rect">
            <a:avLst/>
          </a:prstGeom>
        </p:spPr>
      </p:pic>
      <p:sp>
        <p:nvSpPr>
          <p:cNvPr id="37" name="Text 28"/>
          <p:cNvSpPr txBox="1"/>
          <p:nvPr/>
        </p:nvSpPr>
        <p:spPr>
          <a:xfrm>
            <a:off x="7143293" y="4279392"/>
            <a:ext cx="1550822" cy="548640"/>
          </a:xfrm>
          <a:prstGeom prst="rect">
            <a:avLst/>
          </a:prstGeom>
          <a:noFill/>
          <a:ln/>
        </p:spPr>
        <p:txBody>
          <a:bodyPr wrap="square" lIns="0" tIns="0" rIns="0" bIns="0" rtlCol="0" anchor="ctr"/>
          <a:lstStyle/>
          <a:p>
            <a:pPr indent="0" marL="0">
              <a:buNone/>
            </a:pPr>
            <a:r>
              <a:rPr lang="en-US" sz="1900" b="1" dirty="0">
                <a:solidFill>
                  <a:schemeClr val="tx1"/>
                </a:solidFill>
              </a:rPr>
              <a:t>Type parameters</a:t>
            </a:r>
            <a:endParaRPr lang="en-US" sz="1900" dirty="0"/>
          </a:p>
        </p:txBody>
      </p:sp>
      <p:sp>
        <p:nvSpPr>
          <p:cNvPr id="38" name="Text 29"/>
          <p:cNvSpPr txBox="1"/>
          <p:nvPr/>
        </p:nvSpPr>
        <p:spPr>
          <a:xfrm>
            <a:off x="6466637"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E, T, K, V and N are just names for a type.</a:t>
            </a:r>
            <a:endParaRPr lang="en-US" sz="1500" dirty="0"/>
          </a:p>
        </p:txBody>
      </p:sp>
      <p:sp>
        <p:nvSpPr>
          <p:cNvPr id="39" name="Card"/>
          <p:cNvSpPr/>
          <p:nvPr/>
        </p:nvSpPr>
        <p:spPr>
          <a:xfrm>
            <a:off x="9041587"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40" name="Icon tile"/>
          <p:cNvSpPr/>
          <p:nvPr/>
        </p:nvSpPr>
        <p:spPr>
          <a:xfrm>
            <a:off x="9297619" y="4279392"/>
            <a:ext cx="548640" cy="548640"/>
          </a:xfrm>
          <a:prstGeom prst="roundRect">
            <a:avLst>
              <a:gd name="adj" fmla="val 24000"/>
            </a:avLst>
          </a:prstGeom>
          <a:solidFill>
            <a:schemeClr val="accent3">
              <a:alpha val="14000"/>
            </a:schemeClr>
          </a:solidFill>
          <a:ln/>
        </p:spPr>
      </p:sp>
      <p:pic>
        <p:nvPicPr>
          <p:cNvPr id="41" name="Image 7" descr="package icon">    </p:cNvPr>
          <p:cNvPicPr>
            <a:picLocks noChangeAspect="1"/>
          </p:cNvPicPr>
          <p:nvPr/>
        </p:nvPicPr>
        <p:blipFill>
          <a:blip r:embed="rId8"/>
          <a:stretch>
            <a:fillRect/>
          </a:stretch>
        </p:blipFill>
        <p:spPr>
          <a:xfrm>
            <a:off x="9412834" y="4394606"/>
            <a:ext cx="318211" cy="318211"/>
          </a:xfrm>
          <a:prstGeom prst="rect">
            <a:avLst/>
          </a:prstGeom>
        </p:spPr>
      </p:pic>
      <p:sp>
        <p:nvSpPr>
          <p:cNvPr id="42" name="Text 32"/>
          <p:cNvSpPr txBox="1"/>
          <p:nvPr/>
        </p:nvSpPr>
        <p:spPr>
          <a:xfrm>
            <a:off x="9974275" y="4279392"/>
            <a:ext cx="1550822" cy="548640"/>
          </a:xfrm>
          <a:prstGeom prst="rect">
            <a:avLst/>
          </a:prstGeom>
          <a:noFill/>
          <a:ln/>
        </p:spPr>
        <p:txBody>
          <a:bodyPr wrap="square" lIns="0" tIns="0" rIns="0" bIns="0" rtlCol="0" anchor="ctr"/>
          <a:lstStyle/>
          <a:p>
            <a:pPr indent="0" marL="0">
              <a:buNone/>
            </a:pPr>
            <a:r>
              <a:rPr lang="en-US" sz="1900" b="1" dirty="0">
                <a:solidFill>
                  <a:schemeClr val="tx1"/>
                </a:solidFill>
              </a:rPr>
              <a:t>Wrapper classes</a:t>
            </a:r>
            <a:endParaRPr lang="en-US" sz="1900" dirty="0"/>
          </a:p>
        </p:txBody>
      </p:sp>
      <p:sp>
        <p:nvSpPr>
          <p:cNvPr id="43" name="Text 33"/>
          <p:cNvSpPr txBox="1"/>
          <p:nvPr/>
        </p:nvSpPr>
        <p:spPr>
          <a:xfrm>
            <a:off x="9297619"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latin typeface="Consolas" pitchFamily="34" charset="0"/>
                <a:ea typeface="Consolas" pitchFamily="34" charset="-122"/>
                <a:cs typeface="Consolas" pitchFamily="34" charset="-120"/>
              </a:rPr>
              <a:t>Integer</a:t>
            </a:r>
            <a:r>
              <a:rPr lang="en-US" sz="1500" dirty="0">
                <a:solidFill>
                  <a:schemeClr val="tx2"/>
                </a:solidFill>
              </a:rPr>
              <a:t> for </a:t>
            </a:r>
            <a:r>
              <a:rPr lang="en-US" sz="1500" dirty="0">
                <a:solidFill>
                  <a:schemeClr val="tx2"/>
                </a:solidFill>
                <a:latin typeface="Consolas" pitchFamily="34" charset="0"/>
                <a:ea typeface="Consolas" pitchFamily="34" charset="-122"/>
                <a:cs typeface="Consolas" pitchFamily="34" charset="-120"/>
              </a:rPr>
              <a:t>int</a:t>
            </a:r>
            <a:r>
              <a:rPr lang="en-US" sz="1500" dirty="0">
                <a:solidFill>
                  <a:schemeClr val="tx2"/>
                </a:solidFill>
              </a:rPr>
              <a:t>, </a:t>
            </a:r>
            <a:r>
              <a:rPr lang="en-US" sz="1500" dirty="0">
                <a:solidFill>
                  <a:schemeClr val="tx2"/>
                </a:solidFill>
                <a:latin typeface="Consolas" pitchFamily="34" charset="0"/>
                <a:ea typeface="Consolas" pitchFamily="34" charset="-122"/>
                <a:cs typeface="Consolas" pitchFamily="34" charset="-120"/>
              </a:rPr>
              <a:t>Character</a:t>
            </a:r>
            <a:r>
              <a:rPr lang="en-US" sz="1500" dirty="0">
                <a:solidFill>
                  <a:schemeClr val="tx2"/>
                </a:solidFill>
              </a:rPr>
              <a:t> for </a:t>
            </a:r>
            <a:r>
              <a:rPr lang="en-US" sz="1500" dirty="0">
                <a:solidFill>
                  <a:schemeClr val="tx2"/>
                </a:solidFill>
                <a:latin typeface="Consolas" pitchFamily="34" charset="0"/>
                <a:ea typeface="Consolas" pitchFamily="34" charset="-122"/>
                <a:cs typeface="Consolas" pitchFamily="34" charset="-120"/>
              </a:rPr>
              <a:t>char</a:t>
            </a:r>
            <a:r>
              <a:rPr lang="en-US" sz="1500" dirty="0">
                <a:solidFill>
                  <a:schemeClr val="tx2"/>
                </a:solidFill>
              </a:rPr>
              <a:t>, and so on.</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lIns="0" tIns="0" rIns="0" bIns="0" rtlCol="0" anchor="t"/>
          <a:lstStyle/>
          <a:p>
            <a:pPr algn="l" indent="0" marL="0">
              <a:buNone/>
            </a:pPr>
            <a:r>
              <a:rPr lang="en-US" sz="6400" b="1" dirty="0">
                <a:solidFill>
                  <a:schemeClr val="bg1"/>
                </a:solidFill>
              </a:rPr>
              <a:t>Questions?</a:t>
            </a:r>
            <a:endParaRPr lang="en-US" sz="6400" dirty="0"/>
          </a:p>
        </p:txBody>
      </p:sp>
      <p:sp>
        <p:nvSpPr>
          <p:cNvPr id="3" name="Text 0"/>
          <p:cNvSpPr/>
          <p:nvPr>
            <p:ph idx="101" type="body" hasCustomPrompt="1"/>
          </p:nvPr>
        </p:nvSpPr>
        <p:spPr>
          <a:xfrm>
            <a:off x="822960" y="3611880"/>
            <a:ext cx="6766560" cy="822960"/>
          </a:xfrm>
          <a:prstGeom prst="rect">
            <a:avLst/>
          </a:prstGeom>
          <a:noFill/>
          <a:ln/>
        </p:spPr>
        <p:txBody>
          <a:bodyPr wrap="square" lIns="0" tIns="0" rIns="0" bIns="0" rtlCol="0" anchor="t"/>
          <a:lstStyle/>
          <a:p>
            <a:pPr indent="0" marL="0">
              <a:buNone/>
            </a:pPr>
            <a:r>
              <a:rPr lang="en-US" sz="2200" dirty="0">
                <a:solidFill>
                  <a:schemeClr val="bg2"/>
                </a:solidFill>
              </a:rPr>
              <a:t>Object-Oriented Programming  ·  Lecture 9</a:t>
            </a:r>
            <a:endParaRPr lang="en-US" sz="2200" dirty="0"/>
          </a:p>
        </p:txBody>
      </p:sp>
      <p:pic>
        <p:nvPicPr>
          <p:cNvPr id="4" name="Image 0" descr="Questions icon">    </p:cNvPr>
          <p:cNvPicPr>
            <a:picLocks noChangeAspect="1"/>
          </p:cNvPicPr>
          <p:nvPr/>
        </p:nvPicPr>
        <p:blipFill>
          <a:blip r:embed="rId1">
            <a:alphaModFix amt="22000"/>
          </a:blip>
          <a:stretch>
            <a:fillRect/>
          </a:stretch>
        </p:blipFill>
        <p:spPr>
          <a:xfrm>
            <a:off x="7955280" y="1463040"/>
            <a:ext cx="3566160" cy="3566160"/>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a:dk1>
        <a:srgbClr val="1D2433"/>
      </a:dk1>
      <a:lt1>
        <a:srgbClr val="FFFFFF"/>
      </a:lt1>
      <a:dk2>
        <a:srgbClr val="5A6577"/>
      </a:dk2>
      <a:lt2>
        <a:srgbClr val="F2F5F9"/>
      </a:lt2>
      <a:accent1>
        <a:srgbClr val="E07A1F"/>
      </a:accent1>
      <a:accent2>
        <a:srgbClr val="1F3F6B"/>
      </a:accent2>
      <a:accent3>
        <a:srgbClr val="178A5B"/>
      </a:accent3>
      <a:accent4>
        <a:srgbClr val="2F6DB0"/>
      </a:accent4>
      <a:accent5>
        <a:srgbClr val="7457C2"/>
      </a:accent5>
      <a:accent6>
        <a:srgbClr val="F2C14E"/>
      </a:accent6>
      <a:hlink>
        <a:srgbClr val="2F6DB0"/>
      </a:hlink>
      <a:folHlink>
        <a:srgbClr val="7457C2"/>
      </a:folHlink>
    </a:clrScheme>
    <a:fontScheme name="Blue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Lecture 9, Collections, Lists and Generics</dc:title>
  <dc:subject>Lecture 9 ideas in plain words, with quick checks</dc:subject>
  <dc:creator>Saeid Rezaei</dc:creator>
  <cp:lastModifiedBy>Saeid Rezaei</cp:lastModifiedBy>
  <cp:revision>1</cp:revision>
  <dcterms:created xsi:type="dcterms:W3CDTF">2026-10-17T23:12:37Z</dcterms:created>
  <dcterms:modified xsi:type="dcterms:W3CDTF">2026-10-17T23:12:37Z</dcterms:modified>
</cp:coreProperties>
</file>
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43f51b3-d1ef-b1da-6406-0542aba3ed7d}">
          <p14:sldIdLst>
            <p14:sldId id="256"/>
            <p14:sldId id="257"/>
          </p14:sldIdLst>
        </p14:section>
        <p14:section name="1. Ways of writing programs" id="{db45a674-e45f-cbc6-77fe-510345082753}">
          <p14:sldIdLst>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Lst>
        </p14:section>
        <p14:section name="2. From idea to working program" id="{12aad2fa-0dbd-61ac-a7a0-c17271b0309d}">
          <p14:sldIdLst>
            <p14:sldId id="283"/>
            <p14:sldId id="284"/>
            <p14:sldId id="285"/>
            <p14:sldId id="286"/>
            <p14:sldId id="287"/>
            <p14:sldId id="288"/>
            <p14:sldId id="289"/>
            <p14:sldId id="290"/>
            <p14:sldId id="291"/>
            <p14:sldId id="292"/>
            <p14:sldId id="293"/>
            <p14:sldId id="294"/>
            <p14:sldId id="295"/>
          </p14:sldIdLst>
        </p14:section>
        <p14:section name="3. The building blocks" id="{a2156374-3e0c-d780-cdcb-61e4ddd4161a}">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Lst>
        </p14:section>
        <p14:section name="4. Constructors" id="{0ccfbacc-b1c8-b300-fd5b-15fb1d40092e}">
          <p14:sldIdLst>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Lst>
        </p14:section>
        <p14:section name="Wrap-up" id="{5989f22f-cabc-5741-6a43-a14e28ff0b6c}">
          <p14:sldIdLst>
            <p14:sldId id="353"/>
            <p14:sldId id="3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1 introduces the main ideas behind object-oriented programming. Each idea comes with a quick multiple-choice question, and the answer is on the slide after it.
The picture on the right shows the main idea of today: one class (a template) and many objects made from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parts today. After each idea there's a quick check with four options. For each one,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the different styles, or paradigms, we can use to build programs.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Start with the classic formula: Algorithms + Data Structures = Programs. A paradigm is the style we use to put those two things together.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“An approach, or style, for building programs”.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“An approach, or style, for building programs”.
A paradigm is the approach we take when we build a program. Option A describes an algorithm and B describes a data structure. Put those two together and you get D: a program.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Quick tour of the four paradigms. Most languages today let you mix them, which is what multi-paradigm means.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“Multi-paradigm”.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“Multi-paradigm”.
A multi-paradigm language supports more than one style. Most modern languages are like this: they include a mix of paradigms, so we can pick the style that suits the job.</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traditional style. In the C example the data (the array) is kept apart from the function that uses it, and the function works through it step by step.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“They are kept separate”.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“They are kept separate”.
Procedural code keeps the data on one side and the functions that work on it on the other. Keeping them together inside objects (option B) is the object-oriented way.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 the example we pass myFunction without brackets, so the button gets the function itself and calls it back when someone clicks. That is a callback. The lecture slide uses onclick="myFunction()" instead; that works too, but there the browser wraps the call in a small function of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callback”.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callback”.
It is “called back” later, when the click happens. Treating functions like values, and passing them to other code, is a key idea in functional programming.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Declarative code says what result we want. The SQL query asks how many different countries the customers come from, and the database decides how to find out. The lecture slide for this one is headed Functional Programming by mistake; it is the declarative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“You say what you want, not how to get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“You say what you want, not how to get it”.
Declarative code, like an SQL query, states the outcome and lets the system work out the steps. The other options describe the other three paradigms: A is procedural, B is functional and C is object-oriented.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big change from procedural code: data and the functions that work on it live together inside objects. Java and C# are the example languages.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“OOP keeps data and functions together in objects”.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“OOP keeps data and functions together in objects”.
In OOP, each object keeps its data (attributes) together with the behaviour (methods) that works on it. Procedural code keeps the two apart. Option D describes declarative programming.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Because each object is self-contained, we can replace, modify or reuse it on its own. The picture shows one piece of a program being swapped for a new version.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“We can replace, change or reuse one piece on its own”.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“We can replace, change or reuse one piece on its own”.
Each piece looks after its own data and behaviour, so we can swap it, change it or reuse it without rewriting the rest. Objects still need testing, and they don’t share one big pool of data.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Five benefits of OOP. Reusability is the one students should remember first: write it once, use it many times.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“Reusability”.</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“Reusability”.
Using the same class again in another program is reusability: write it once, use it many times. The other three are real benefits too, but they mean something different.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how an object-oriented program goes from an idea to working code.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Analysis is the what, design is the how, programming is actually making it. The tree-swing cartoon on the lecture slide (from how the customer explained it to what the customer really needed) is worth showing here: it is why analysis comes first. This module concentrates on programming; SAD2 goes deeper into analysis and design.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“Analysis → Design → Programming”.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“Analysis → Design → Programming”.
First we work out what we are making (analysis), then how we will make it (design). Only then do we write the code (programming).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Analysis is about understanding the problem and the users before any code. Use cases show who uses the system and what they need to do.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“What do the users need us to make?”.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“What do the users need us to make?”.
Analysis is the what: understanding the problem and the users’ needs, often with use cases. The how comes in design, and fixing bugs happens during programming.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Design turns the analysis into classes. In the UML diagram, Duck, Fish and Zebra are all kinds of Animal. Duck lists isMammal() and mate() again because it has its own version of them; that is called overriding, and it comes later in the module.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“UML class diagrams”.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“UML class diagrams”.
A UML class diagram shows the classes, their attributes and methods, and how they connect. Use cases belong to analysis: they describe what users need, not how the code is built.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Programming is where we actually build it. Expect to go round the loop many times: run it, test it, fix it, test again.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“Testing and refining the program”.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“Testing and refining the program”.
Programming is where we actually build the program, and much of that time goes into testing it and fixing whatever goes wrong.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the pieces every object-oriented program is built from.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Left: the building blocks we start using today. Right: the four big ideas of OOP. We only name them today; later lectures go into each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“Encapsulation”.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“Encapsulation”.
The four big features of object-oriented systems are abstraction, encapsulation, inheritance and polymorphism. The other three options are general programming words, not OOP features.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Ask the class for one more attribute and one more behaviour for each example. For a person: height, sleeping. For a car: fuel level, turning.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“Accelerating”.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“Accelerating”.
A behaviour is something the object can do, so accelerating is a method. Colour, year and fuel level are information about the car, so they are attributes.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class is the template; the objects are what we make from it. Example: a Vehicle class giving us a car, a truck and a boat, each with its own colour and year. The lecture slide says these objects inherit from Vehicle. Objects don't inherit anything; they are made from the class. Inheritance is a link between classes, and it comes later in the module.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Student class diagram, with the same class written in Java on the right. Point out that each part of the box matches a part of the code.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class is a template for making many objects”.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class is a template for making many objects”.
A class is like a blueprint. From one Student class we can make as many Student objects as we need.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One Student class, many Student objects. Same attributes in every object, different values in each.</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“Same attributes, but each has its own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“Same attributes, but each has its own values”.
All instances share the attributes and methods of the class (every student has a name and an id), but each object keeps its own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Attributes are the data. Every Person has an age and a name; each Person object stores its own values for them.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“Attributes”.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“Attributes”.
They are variables declared inside the class (but outside any method), and they describe a person, so they are attributes. A method would have brackets after its name, like sayHello().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new creates the object; the variable only holds a reference to it, a bit like an address. The dot follows that reference to get at the data inside.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“A reference to the new Person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“A reference to the new Person object”.
new creates the object in memory and tom stores a reference to it. To reach the 23 inside, we dereference with a dot: tom.age.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method is called on an object with a dot. Values we pass in are arguments: the 23 in new Person(23) is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“Arguments”.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“Arguments”.
Values passed in are arguments. In new Person(23), the 23 is an argument. Attributes are the data stored inside an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Every method is a function, but not every function is a method. The jump example shows why methods save work: one jump() method, ten objects using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method is a function that belongs to a 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method is a function that belongs to a class”.
A function is a separate piece of code with its own name. A method is a function that lives inside a class, and we usually call it on an object, like tom.jump().</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constructors, and the steps for creating and using objects.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constructor is a special method that runs once, when the object is created. The game example: a new enemy starts patrolling straight away because its constructor says so. The lecture slide says constructors run when the class is created; it means each time an object is created.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Same class, two calls to the constructor, two different ages. this.age means the object's own age; age on its own is the value passed in. The code that creates the objects sits in main, in a separate Main class, which is the class that starts the program.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“Automatically, when a new object is created”.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“Automatically, when a new object is created”.
The constructor runs at the moment the object is created with new, so the object starts life with the right values.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If we write no constructor at all, Java gives us an empty default one. Once we write Employee(String name, int id), new Employee() stops compiling unless we also write a no-arg constructor. Any attribute we never set starts at its default value: 0, 0.0 or null. Local variables are different: they get no default, so int x; System.out.println(x);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“0”.
Any attribute we don’t give a value starts with a default: 0 for int, 0.0 for double and null for objects. With no constructor written, Java simply adds an empty default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steps to write any class. The Employee class on the next slide follows these steps, plus a constructor.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full Employee class. Walk through it top to bottom: attributes, then the constructor, then the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“Only the class that starts the program”.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“Only the class that starts the program”.
main is where the program starts. A class like Employee is used by other classes, so it does not need one.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One public class per file, and the file name matches the class name. Classes in the same folder can use each other; anything from another package or library needs an import. Classes from java.lang, like String and System, are the exception: they need no import.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“Employee.java”.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“Employee.java”.
Each public class is stored in its own file, and the file name matches the class name exactly: Employee.java. Java checks this, so a file called employee.java, with a small e, won’t compile.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Read the line from left to right: the class, the variable that will refer to the object, new to create it, and the constructor call that sets it up. The lecture slide shows new Employee() with empty brackets; that only compiles if Employee also has a no-arg constructor, which comes up shortly. It also calls employee1 the object name; strictly, employee1 is the variable that refers to the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“The variable that refers to the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“The variable that refers to the object”.
Employee is the class, new creates the object, Employee("jack", 2323) calls the constructor, and employee1 is the variable we use to refer to the new object.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Variable name, dot, method name. sayName() prints the name straight away; getInfo() gives back a String, so we print it ourselves with println.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“bob : 2325”.</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“bob : 2325”.
getInfo() returns name + " : " + id, which is “bob : 2325”. Then println shows it on the screen.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rules and one habit. The second rule is the one students trip over: no return type, not even void. With void it is just an ordinary method that happens to share the class name. Constructors are usually public; Java does allow private ones, but we won't need those 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“public Employee() {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“public Employee() { }”.
A constructor has exactly the same name as the class (capital E too) and no return type, not even void. A and C have a return type, so they are not constructors. B uses a small e, and Java is case-sensitive.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values in brackets travel into the constructor and are copied into the new object. this.name is the object's own name; name alone is the value passed in. name and id are the parameters; "bob" and 2325 are the arguments we pass in.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Same constructor, but the values come from the keyboard. nextLine() reads a line of text and nextInt() reads a whole number.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“2325”.</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“2325”.
The line this.id = id; copies the 2325 we passed in into the new object’s id.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no-arg constructor has empty brackets. It gives the object safe starting values, so we can create it now and fill in the real details later. The lecture slide sets employeeId = ""; this class has no attribute called employeeId, and its id is an int, so here it is id = 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“When we need an object but don’t have its data yet”.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“When we need an object but don’t have its data yet”.
A no-arg constructor gives the object safe starting values, like "" and 0. So we can create the object now, even though the real data isn’t ready yet.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99</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97764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1</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1</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1</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6.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6.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4.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6.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6.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slideLayout" Target="../slideLayouts/slideLayout4.xml"/><Relationship Id="rId11"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6.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4.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6.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6.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4.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6.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6.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4.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6.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6.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image" Target="../media/image-64-9.png"/><Relationship Id="rId10" Type="http://schemas.openxmlformats.org/officeDocument/2006/relationships/image" Target="../media/image-64-10.png"/><Relationship Id="rId11" Type="http://schemas.openxmlformats.org/officeDocument/2006/relationships/slideLayout" Target="../slideLayouts/slideLayout4.xml"/><Relationship Id="rId1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6.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4.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6.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4.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6.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slideLayout" Target="../slideLayouts/slideLayout4.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6.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4.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6.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6.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slideLayout" Target="../slideLayouts/slideLayout6.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4.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6.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4.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image" Target="../media/image-97-2.png"/><Relationship Id="rId3" Type="http://schemas.openxmlformats.org/officeDocument/2006/relationships/slideLayout" Target="../slideLayouts/slideLayout6.xm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6" Type="http://schemas.openxmlformats.org/officeDocument/2006/relationships/image" Target="../media/image-98-6.png"/><Relationship Id="rId7" Type="http://schemas.openxmlformats.org/officeDocument/2006/relationships/image" Target="../media/image-98-7.png"/><Relationship Id="rId8" Type="http://schemas.openxmlformats.org/officeDocument/2006/relationships/image" Target="../media/image-98-8.png"/><Relationship Id="rId9" Type="http://schemas.openxmlformats.org/officeDocument/2006/relationships/slideLayout" Target="../slideLayouts/slideLayout4.xml"/><Relationship Id="rId10"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7.xml"/><Relationship Id="rId3"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1</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Object-Oriented Programming</a:t>
            </a:r>
            <a:endParaRPr lang="en-IE" sz="5200" dirty="0"/>
          </a:p>
        </p:txBody>
      </p:sp>
      <p:sp>
        <p:nvSpPr>
          <p:cNvPr id="4" name="Text 0"/>
          <p:cNvSpPr/>
          <p:nvPr>
            <p:ph idx="102" type="body" hasCustomPrompt="1"/>
          </p:nvPr>
        </p:nvSpPr>
        <p:spPr>
          <a:xfrm>
            <a:off x="822960" y="3977640"/>
            <a:ext cx="5669280" cy="914400"/>
          </a:xfrm>
          <a:prstGeom prst="rect">
            <a:avLst/>
          </a:prstGeom>
          <a:noFill/>
          <a:ln/>
        </p:spPr>
        <p:txBody>
          <a:bodyPr wrap="square" lIns="0" tIns="0" rIns="0" bIns="0" rtlCol="0" anchor="t"/>
          <a:lstStyle/>
          <a:p>
            <a:pPr indent="0" marL="0">
              <a:buNone/>
            </a:pPr>
            <a:r>
              <a:rPr lang="en-IE" sz="2000" dirty="0">
                <a:solidFill>
                  <a:schemeClr val="bg2"/>
                </a:solidFill>
              </a:rPr>
              <a:t>Paradigms, classes, objects and constructors</a:t>
            </a:r>
            <a:endParaRPr lang="en-IE" sz="2000" dirty="0"/>
          </a:p>
        </p:txBody>
      </p:sp>
      <p:sp>
        <p:nvSpPr>
          <p:cNvPr id="5" name="Class outline"/>
          <p:cNvSpPr/>
          <p:nvPr/>
        </p:nvSpPr>
        <p:spPr>
          <a:xfrm>
            <a:off x="7178040" y="2011680"/>
            <a:ext cx="2240280" cy="2377440"/>
          </a:xfrm>
          <a:prstGeom prst="roundRect">
            <a:avLst>
              <a:gd name="adj" fmla="val 4898"/>
            </a:avLst>
          </a:prstGeom>
          <a:solidFill>
            <a:schemeClr val="bg1">
              <a:alpha val="7000"/>
            </a:schemeClr>
          </a:solidFill>
          <a:ln w="19050">
            <a:solidFill>
              <a:schemeClr val="bg1">
                <a:alpha val="85000"/>
              </a:schemeClr>
            </a:solidFill>
            <a:prstDash val="dash"/>
          </a:ln>
        </p:spPr>
      </p:sp>
      <p:sp>
        <p:nvSpPr>
          <p:cNvPr id="6" name="Text 4"/>
          <p:cNvSpPr txBox="1"/>
          <p:nvPr/>
        </p:nvSpPr>
        <p:spPr>
          <a:xfrm>
            <a:off x="7406640" y="2212848"/>
            <a:ext cx="1783080" cy="384048"/>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class Person</a:t>
            </a:r>
            <a:endParaRPr lang="en-IE" sz="1700" dirty="0"/>
          </a:p>
        </p:txBody>
      </p:sp>
      <p:sp>
        <p:nvSpPr>
          <p:cNvPr id="7" name="Divider"/>
          <p:cNvSpPr/>
          <p:nvPr/>
        </p:nvSpPr>
        <p:spPr>
          <a:xfrm>
            <a:off x="7406640" y="2743200"/>
            <a:ext cx="1783080" cy="18288"/>
          </a:xfrm>
          <a:prstGeom prst="rect">
            <a:avLst/>
          </a:prstGeom>
          <a:solidFill>
            <a:schemeClr val="bg1">
              <a:alpha val="45000"/>
            </a:schemeClr>
          </a:solidFill>
          <a:ln/>
        </p:spPr>
      </p:sp>
      <p:sp>
        <p:nvSpPr>
          <p:cNvPr id="8" name="Text 6"/>
          <p:cNvSpPr txBox="1"/>
          <p:nvPr/>
        </p:nvSpPr>
        <p:spPr>
          <a:xfrm>
            <a:off x="7406640" y="2907792"/>
            <a:ext cx="1783080" cy="347472"/>
          </a:xfrm>
          <a:prstGeom prst="rect">
            <a:avLst/>
          </a:prstGeom>
          <a:noFill/>
          <a:ln/>
        </p:spPr>
        <p:txBody>
          <a:bodyPr wrap="square" lIns="0" tIns="0" rIns="0" bIns="0" rtlCol="0" anchor="ctr"/>
          <a:lstStyle/>
          <a:p>
            <a:pPr indent="0" marL="0">
              <a:buNone/>
            </a:pPr>
            <a:r>
              <a:rPr lang="en-IE" sz="1500" dirty="0">
                <a:solidFill>
                  <a:schemeClr val="bg1">
                    <a:alpha val="88000"/>
                  </a:schemeClr>
                </a:solidFill>
                <a:latin typeface="Consolas" pitchFamily="34" charset="0"/>
                <a:ea typeface="Consolas" pitchFamily="34" charset="-122"/>
                <a:cs typeface="Consolas" pitchFamily="34" charset="-120"/>
              </a:rPr>
              <a:t>age</a:t>
            </a:r>
            <a:endParaRPr lang="en-IE" sz="1500" dirty="0"/>
          </a:p>
        </p:txBody>
      </p:sp>
      <p:sp>
        <p:nvSpPr>
          <p:cNvPr id="9" name="Text 7"/>
          <p:cNvSpPr txBox="1"/>
          <p:nvPr/>
        </p:nvSpPr>
        <p:spPr>
          <a:xfrm>
            <a:off x="7406640" y="3319272"/>
            <a:ext cx="1783080" cy="347472"/>
          </a:xfrm>
          <a:prstGeom prst="rect">
            <a:avLst/>
          </a:prstGeom>
          <a:noFill/>
          <a:ln/>
        </p:spPr>
        <p:txBody>
          <a:bodyPr wrap="square" lIns="0" tIns="0" rIns="0" bIns="0" rtlCol="0" anchor="ctr"/>
          <a:lstStyle/>
          <a:p>
            <a:pPr indent="0" marL="0">
              <a:buNone/>
            </a:pPr>
            <a:r>
              <a:rPr lang="en-IE" sz="1500" dirty="0">
                <a:solidFill>
                  <a:schemeClr val="bg1">
                    <a:alpha val="88000"/>
                  </a:schemeClr>
                </a:solidFill>
                <a:latin typeface="Consolas" pitchFamily="34" charset="0"/>
                <a:ea typeface="Consolas" pitchFamily="34" charset="-122"/>
                <a:cs typeface="Consolas" pitchFamily="34" charset="-120"/>
              </a:rPr>
              <a:t>name</a:t>
            </a:r>
            <a:endParaRPr lang="en-IE" sz="1500" dirty="0"/>
          </a:p>
        </p:txBody>
      </p:sp>
      <p:sp>
        <p:nvSpPr>
          <p:cNvPr id="10" name="Text 8"/>
          <p:cNvSpPr txBox="1"/>
          <p:nvPr/>
        </p:nvSpPr>
        <p:spPr>
          <a:xfrm>
            <a:off x="7406640" y="3730752"/>
            <a:ext cx="1783080" cy="347472"/>
          </a:xfrm>
          <a:prstGeom prst="rect">
            <a:avLst/>
          </a:prstGeom>
          <a:noFill/>
          <a:ln/>
        </p:spPr>
        <p:txBody>
          <a:bodyPr wrap="square" lIns="0" tIns="0" rIns="0" bIns="0" rtlCol="0" anchor="ctr"/>
          <a:lstStyle/>
          <a:p>
            <a:pPr indent="0" marL="0">
              <a:buNone/>
            </a:pPr>
            <a:r>
              <a:rPr lang="en-IE" sz="1500" dirty="0">
                <a:solidFill>
                  <a:schemeClr val="bg1">
                    <a:alpha val="88000"/>
                  </a:schemeClr>
                </a:solidFill>
                <a:latin typeface="Consolas" pitchFamily="34" charset="0"/>
                <a:ea typeface="Consolas" pitchFamily="34" charset="-122"/>
                <a:cs typeface="Consolas" pitchFamily="34" charset="-120"/>
              </a:rPr>
              <a:t>sayHello()</a:t>
            </a:r>
            <a:endParaRPr lang="en-IE" sz="1500" dirty="0"/>
          </a:p>
        </p:txBody>
      </p:sp>
      <p:sp>
        <p:nvSpPr>
          <p:cNvPr id="11" name="Text 9"/>
          <p:cNvSpPr txBox="1"/>
          <p:nvPr/>
        </p:nvSpPr>
        <p:spPr>
          <a:xfrm>
            <a:off x="7178040" y="4526280"/>
            <a:ext cx="2240280" cy="292608"/>
          </a:xfrm>
          <a:prstGeom prst="rect">
            <a:avLst/>
          </a:prstGeom>
          <a:noFill/>
          <a:ln/>
        </p:spPr>
        <p:txBody>
          <a:bodyPr wrap="square" lIns="0" tIns="0" rIns="0" bIns="0" rtlCol="0" anchor="t"/>
          <a:lstStyle/>
          <a:p>
            <a:pPr algn="ctr" indent="0" marL="0">
              <a:buNone/>
            </a:pPr>
            <a:r>
              <a:rPr lang="en-IE" sz="1300" i="1" dirty="0">
                <a:solidFill>
                  <a:schemeClr val="bg1">
                    <a:alpha val="70000"/>
                  </a:schemeClr>
                </a:solidFill>
              </a:rPr>
              <a:t>one class</a:t>
            </a:r>
            <a:endParaRPr lang="en-IE" sz="1300" dirty="0"/>
          </a:p>
        </p:txBody>
      </p:sp>
      <p:sp>
        <p:nvSpPr>
          <p:cNvPr id="12" name="Connector"/>
          <p:cNvSpPr/>
          <p:nvPr/>
        </p:nvSpPr>
        <p:spPr>
          <a:xfrm flipV="1">
            <a:off x="9464040" y="1943100"/>
            <a:ext cx="539496" cy="1257300"/>
          </a:xfrm>
          <a:prstGeom prst="line">
            <a:avLst/>
          </a:prstGeom>
          <a:noFill/>
          <a:ln w="19050">
            <a:solidFill>
              <a:schemeClr val="bg1"/>
            </a:solidFill>
            <a:prstDash val="solid"/>
            <a:tailEnd type="triangle"/>
          </a:ln>
        </p:spPr>
      </p:sp>
      <p:sp>
        <p:nvSpPr>
          <p:cNvPr id="13" name="Object card"/>
          <p:cNvSpPr/>
          <p:nvPr/>
        </p:nvSpPr>
        <p:spPr>
          <a:xfrm>
            <a:off x="10058400" y="1463040"/>
            <a:ext cx="1581912" cy="960120"/>
          </a:xfrm>
          <a:prstGeom prst="roundRect">
            <a:avLst>
              <a:gd name="adj" fmla="val 11429"/>
            </a:avLst>
          </a:prstGeom>
          <a:solidFill>
            <a:schemeClr val="bg1"/>
          </a:solidFill>
          <a:ln/>
          <a:effectLst>
            <a:outerShdw sx="100000" sy="100000" kx="0" ky="0" algn="bl" rotWithShape="0" blurRad="114300" dist="31750" dir="5400000">
              <a:srgbClr val="1D2433">
                <a:alpha val="12000"/>
              </a:srgbClr>
            </a:outerShdw>
          </a:effectLst>
        </p:spPr>
      </p:sp>
      <p:sp>
        <p:nvSpPr>
          <p:cNvPr id="14" name="Text 12"/>
          <p:cNvSpPr txBox="1"/>
          <p:nvPr/>
        </p:nvSpPr>
        <p:spPr>
          <a:xfrm>
            <a:off x="10259568" y="1609344"/>
            <a:ext cx="1307592" cy="329184"/>
          </a:xfrm>
          <a:prstGeom prst="rect">
            <a:avLst/>
          </a:prstGeom>
          <a:noFill/>
          <a:ln/>
        </p:spPr>
        <p:txBody>
          <a:bodyPr wrap="square" lIns="0" tIns="0" rIns="0" bIns="0" rtlCol="0" anchor="ctr"/>
          <a:lstStyle/>
          <a:p>
            <a:pPr indent="0" marL="0">
              <a:buNone/>
            </a:pPr>
            <a:r>
              <a:rPr lang="en-IE" sz="1700" b="1" dirty="0">
                <a:solidFill>
                  <a:schemeClr val="accent2"/>
                </a:solidFill>
                <a:latin typeface="Consolas" pitchFamily="34" charset="0"/>
                <a:ea typeface="Consolas" pitchFamily="34" charset="-122"/>
                <a:cs typeface="Consolas" pitchFamily="34" charset="-120"/>
              </a:rPr>
              <a:t>tom</a:t>
            </a:r>
            <a:endParaRPr lang="en-IE" sz="1700" dirty="0"/>
          </a:p>
        </p:txBody>
      </p:sp>
      <p:sp>
        <p:nvSpPr>
          <p:cNvPr id="15" name="Text 13"/>
          <p:cNvSpPr txBox="1"/>
          <p:nvPr/>
        </p:nvSpPr>
        <p:spPr>
          <a:xfrm>
            <a:off x="10259568" y="1956816"/>
            <a:ext cx="1307592" cy="292608"/>
          </a:xfrm>
          <a:prstGeom prst="rect">
            <a:avLst/>
          </a:prstGeom>
          <a:noFill/>
          <a:ln/>
        </p:spPr>
        <p:txBody>
          <a:bodyPr wrap="square" lIns="0" tIns="0" rIns="0" bIns="0" rtlCol="0" anchor="ctr"/>
          <a:lstStyle/>
          <a:p>
            <a:pPr indent="0" marL="0">
              <a:buNone/>
            </a:pPr>
            <a:r>
              <a:rPr lang="en-IE" sz="1300" dirty="0">
                <a:solidFill>
                  <a:schemeClr val="tx2"/>
                </a:solidFill>
                <a:latin typeface="Consolas" pitchFamily="34" charset="0"/>
                <a:ea typeface="Consolas" pitchFamily="34" charset="-122"/>
                <a:cs typeface="Consolas" pitchFamily="34" charset="-120"/>
              </a:rPr>
              <a:t>age = 23</a:t>
            </a:r>
            <a:endParaRPr lang="en-IE" sz="1300" dirty="0"/>
          </a:p>
        </p:txBody>
      </p:sp>
      <p:sp>
        <p:nvSpPr>
          <p:cNvPr id="16" name="Connector"/>
          <p:cNvSpPr/>
          <p:nvPr/>
        </p:nvSpPr>
        <p:spPr>
          <a:xfrm>
            <a:off x="9464040" y="3200400"/>
            <a:ext cx="539496" cy="4572"/>
          </a:xfrm>
          <a:prstGeom prst="line">
            <a:avLst/>
          </a:prstGeom>
          <a:noFill/>
          <a:ln w="19050">
            <a:solidFill>
              <a:schemeClr val="bg1"/>
            </a:solidFill>
            <a:prstDash val="solid"/>
            <a:tailEnd type="triangle"/>
          </a:ln>
        </p:spPr>
      </p:sp>
      <p:sp>
        <p:nvSpPr>
          <p:cNvPr id="17" name="Object card"/>
          <p:cNvSpPr/>
          <p:nvPr/>
        </p:nvSpPr>
        <p:spPr>
          <a:xfrm>
            <a:off x="10058400" y="2724912"/>
            <a:ext cx="1581912" cy="960120"/>
          </a:xfrm>
          <a:prstGeom prst="roundRect">
            <a:avLst>
              <a:gd name="adj" fmla="val 11429"/>
            </a:avLst>
          </a:prstGeom>
          <a:solidFill>
            <a:schemeClr val="bg1"/>
          </a:solidFill>
          <a:ln/>
          <a:effectLst>
            <a:outerShdw sx="100000" sy="100000" kx="0" ky="0" algn="bl" rotWithShape="0" blurRad="114300" dist="31750" dir="5400000">
              <a:srgbClr val="1D2433">
                <a:alpha val="12000"/>
              </a:srgbClr>
            </a:outerShdw>
          </a:effectLst>
        </p:spPr>
      </p:sp>
      <p:sp>
        <p:nvSpPr>
          <p:cNvPr id="18" name="Text 16"/>
          <p:cNvSpPr txBox="1"/>
          <p:nvPr/>
        </p:nvSpPr>
        <p:spPr>
          <a:xfrm>
            <a:off x="10259568" y="2871216"/>
            <a:ext cx="1307592" cy="329184"/>
          </a:xfrm>
          <a:prstGeom prst="rect">
            <a:avLst/>
          </a:prstGeom>
          <a:noFill/>
          <a:ln/>
        </p:spPr>
        <p:txBody>
          <a:bodyPr wrap="square" lIns="0" tIns="0" rIns="0" bIns="0" rtlCol="0" anchor="ctr"/>
          <a:lstStyle/>
          <a:p>
            <a:pPr indent="0" marL="0">
              <a:buNone/>
            </a:pPr>
            <a:r>
              <a:rPr lang="en-IE" sz="1700" b="1" dirty="0">
                <a:solidFill>
                  <a:schemeClr val="accent2"/>
                </a:solidFill>
                <a:latin typeface="Consolas" pitchFamily="34" charset="0"/>
                <a:ea typeface="Consolas" pitchFamily="34" charset="-122"/>
                <a:cs typeface="Consolas" pitchFamily="34" charset="-120"/>
              </a:rPr>
              <a:t>jack</a:t>
            </a:r>
            <a:endParaRPr lang="en-IE" sz="1700" dirty="0"/>
          </a:p>
        </p:txBody>
      </p:sp>
      <p:sp>
        <p:nvSpPr>
          <p:cNvPr id="19" name="Text 17"/>
          <p:cNvSpPr txBox="1"/>
          <p:nvPr/>
        </p:nvSpPr>
        <p:spPr>
          <a:xfrm>
            <a:off x="10259568" y="3218688"/>
            <a:ext cx="1307592" cy="292608"/>
          </a:xfrm>
          <a:prstGeom prst="rect">
            <a:avLst/>
          </a:prstGeom>
          <a:noFill/>
          <a:ln/>
        </p:spPr>
        <p:txBody>
          <a:bodyPr wrap="square" lIns="0" tIns="0" rIns="0" bIns="0" rtlCol="0" anchor="ctr"/>
          <a:lstStyle/>
          <a:p>
            <a:pPr indent="0" marL="0">
              <a:buNone/>
            </a:pPr>
            <a:r>
              <a:rPr lang="en-IE" sz="1300" dirty="0">
                <a:solidFill>
                  <a:schemeClr val="tx2"/>
                </a:solidFill>
                <a:latin typeface="Consolas" pitchFamily="34" charset="0"/>
                <a:ea typeface="Consolas" pitchFamily="34" charset="-122"/>
                <a:cs typeface="Consolas" pitchFamily="34" charset="-120"/>
              </a:rPr>
              <a:t>age = 21</a:t>
            </a:r>
            <a:endParaRPr lang="en-IE" sz="1300" dirty="0"/>
          </a:p>
        </p:txBody>
      </p:sp>
      <p:sp>
        <p:nvSpPr>
          <p:cNvPr id="20" name="Connector"/>
          <p:cNvSpPr/>
          <p:nvPr/>
        </p:nvSpPr>
        <p:spPr>
          <a:xfrm>
            <a:off x="9464040" y="3200400"/>
            <a:ext cx="539496" cy="1266444"/>
          </a:xfrm>
          <a:prstGeom prst="line">
            <a:avLst/>
          </a:prstGeom>
          <a:noFill/>
          <a:ln w="19050">
            <a:solidFill>
              <a:schemeClr val="bg1"/>
            </a:solidFill>
            <a:prstDash val="solid"/>
            <a:tailEnd type="triangle"/>
          </a:ln>
        </p:spPr>
      </p:sp>
      <p:sp>
        <p:nvSpPr>
          <p:cNvPr id="21" name="Object card"/>
          <p:cNvSpPr/>
          <p:nvPr/>
        </p:nvSpPr>
        <p:spPr>
          <a:xfrm>
            <a:off x="10058400" y="3986784"/>
            <a:ext cx="1581912" cy="960120"/>
          </a:xfrm>
          <a:prstGeom prst="roundRect">
            <a:avLst>
              <a:gd name="adj" fmla="val 11429"/>
            </a:avLst>
          </a:prstGeom>
          <a:solidFill>
            <a:schemeClr val="bg1"/>
          </a:solidFill>
          <a:ln/>
          <a:effectLst>
            <a:outerShdw sx="100000" sy="100000" kx="0" ky="0" algn="bl" rotWithShape="0" blurRad="114300" dist="31750" dir="5400000">
              <a:srgbClr val="1D2433">
                <a:alpha val="12000"/>
              </a:srgbClr>
            </a:outerShdw>
          </a:effectLst>
        </p:spPr>
      </p:sp>
      <p:sp>
        <p:nvSpPr>
          <p:cNvPr id="22" name="Text 20"/>
          <p:cNvSpPr txBox="1"/>
          <p:nvPr/>
        </p:nvSpPr>
        <p:spPr>
          <a:xfrm>
            <a:off x="10259568" y="4133088"/>
            <a:ext cx="1307592" cy="329184"/>
          </a:xfrm>
          <a:prstGeom prst="rect">
            <a:avLst/>
          </a:prstGeom>
          <a:noFill/>
          <a:ln/>
        </p:spPr>
        <p:txBody>
          <a:bodyPr wrap="square" lIns="0" tIns="0" rIns="0" bIns="0" rtlCol="0" anchor="ctr"/>
          <a:lstStyle/>
          <a:p>
            <a:pPr indent="0" marL="0">
              <a:buNone/>
            </a:pPr>
            <a:r>
              <a:rPr lang="en-IE" sz="1700" b="1" dirty="0">
                <a:solidFill>
                  <a:schemeClr val="accent2"/>
                </a:solidFill>
                <a:latin typeface="Consolas" pitchFamily="34" charset="0"/>
                <a:ea typeface="Consolas" pitchFamily="34" charset="-122"/>
                <a:cs typeface="Consolas" pitchFamily="34" charset="-120"/>
              </a:rPr>
              <a:t>mia</a:t>
            </a:r>
            <a:endParaRPr lang="en-IE" sz="1700" dirty="0"/>
          </a:p>
        </p:txBody>
      </p:sp>
      <p:sp>
        <p:nvSpPr>
          <p:cNvPr id="23" name="Text 21"/>
          <p:cNvSpPr txBox="1"/>
          <p:nvPr/>
        </p:nvSpPr>
        <p:spPr>
          <a:xfrm>
            <a:off x="10259568" y="4480560"/>
            <a:ext cx="1307592" cy="292608"/>
          </a:xfrm>
          <a:prstGeom prst="rect">
            <a:avLst/>
          </a:prstGeom>
          <a:noFill/>
          <a:ln/>
        </p:spPr>
        <p:txBody>
          <a:bodyPr wrap="square" lIns="0" tIns="0" rIns="0" bIns="0" rtlCol="0" anchor="ctr"/>
          <a:lstStyle/>
          <a:p>
            <a:pPr indent="0" marL="0">
              <a:buNone/>
            </a:pPr>
            <a:r>
              <a:rPr lang="en-IE" sz="1300" dirty="0">
                <a:solidFill>
                  <a:schemeClr val="tx2"/>
                </a:solidFill>
                <a:latin typeface="Consolas" pitchFamily="34" charset="0"/>
                <a:ea typeface="Consolas" pitchFamily="34" charset="-122"/>
                <a:cs typeface="Consolas" pitchFamily="34" charset="-120"/>
              </a:rPr>
              <a:t>age = 30</a:t>
            </a:r>
            <a:endParaRPr lang="en-IE" sz="1300" dirty="0"/>
          </a:p>
        </p:txBody>
      </p:sp>
      <p:sp>
        <p:nvSpPr>
          <p:cNvPr id="24" name="Text 22"/>
          <p:cNvSpPr txBox="1"/>
          <p:nvPr/>
        </p:nvSpPr>
        <p:spPr>
          <a:xfrm>
            <a:off x="9966960" y="5074920"/>
            <a:ext cx="1764792" cy="292608"/>
          </a:xfrm>
          <a:prstGeom prst="rect">
            <a:avLst/>
          </a:prstGeom>
          <a:noFill/>
          <a:ln/>
        </p:spPr>
        <p:txBody>
          <a:bodyPr wrap="square" lIns="0" tIns="0" rIns="0" bIns="0" rtlCol="0" anchor="t"/>
          <a:lstStyle/>
          <a:p>
            <a:pPr algn="ctr" indent="0" marL="0">
              <a:buNone/>
            </a:pPr>
            <a:r>
              <a:rPr lang="en-IE" sz="1300" i="1" dirty="0">
                <a:solidFill>
                  <a:schemeClr val="bg1">
                    <a:alpha val="70000"/>
                  </a:schemeClr>
                </a:solidFill>
              </a:rPr>
              <a:t>many objects</a:t>
            </a:r>
            <a:endParaRPr lang="en-IE"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1</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Ways of writing programs</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Procedural, functional, declarative and object-oriented programming</a:t>
            </a:r>
            <a:endParaRPr lang="en-IE" sz="1500" dirty="0"/>
          </a:p>
        </p:txBody>
      </p:sp>
      <p:sp>
        <p:nvSpPr>
          <p:cNvPr id="8" name="Text 5"/>
          <p:cNvSpPr txBox="1"/>
          <p:nvPr/>
        </p:nvSpPr>
        <p:spPr>
          <a:xfrm>
            <a:off x="548640" y="281635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852928"/>
            <a:ext cx="5577840" cy="384048"/>
          </a:xfrm>
          <a:prstGeom prst="rect">
            <a:avLst/>
          </a:prstGeom>
          <a:noFill/>
          <a:ln/>
        </p:spPr>
        <p:txBody>
          <a:bodyPr wrap="square" lIns="0" tIns="0" rIns="0" bIns="0" rtlCol="0" anchor="t"/>
          <a:lstStyle/>
          <a:p>
            <a:pPr indent="0" marL="0">
              <a:buNone/>
            </a:pPr>
            <a:r>
              <a:rPr lang="en-IE" sz="2100" b="1" dirty="0">
                <a:solidFill>
                  <a:schemeClr val="tx1"/>
                </a:solidFill>
              </a:rPr>
              <a:t>From idea to working program</a:t>
            </a:r>
            <a:endParaRPr lang="en-IE" sz="2100" dirty="0"/>
          </a:p>
        </p:txBody>
      </p:sp>
      <p:sp>
        <p:nvSpPr>
          <p:cNvPr id="10" name="Text 7"/>
          <p:cNvSpPr txBox="1"/>
          <p:nvPr/>
        </p:nvSpPr>
        <p:spPr>
          <a:xfrm>
            <a:off x="1463040" y="3264408"/>
            <a:ext cx="5577840" cy="365760"/>
          </a:xfrm>
          <a:prstGeom prst="rect">
            <a:avLst/>
          </a:prstGeom>
          <a:noFill/>
          <a:ln/>
        </p:spPr>
        <p:txBody>
          <a:bodyPr wrap="square" lIns="0" tIns="0" rIns="0" bIns="0" rtlCol="0" anchor="t"/>
          <a:lstStyle/>
          <a:p>
            <a:pPr indent="0" marL="0">
              <a:buNone/>
            </a:pPr>
            <a:r>
              <a:rPr lang="en-IE" sz="1500" dirty="0">
                <a:solidFill>
                  <a:schemeClr val="tx2"/>
                </a:solidFill>
              </a:rPr>
              <a:t>Analysis, design and programming</a:t>
            </a:r>
            <a:endParaRPr lang="en-IE" sz="1500" dirty="0"/>
          </a:p>
        </p:txBody>
      </p:sp>
      <p:sp>
        <p:nvSpPr>
          <p:cNvPr id="11" name="Text 8"/>
          <p:cNvSpPr txBox="1"/>
          <p:nvPr/>
        </p:nvSpPr>
        <p:spPr>
          <a:xfrm>
            <a:off x="548640" y="388620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922776"/>
            <a:ext cx="5577840" cy="384048"/>
          </a:xfrm>
          <a:prstGeom prst="rect">
            <a:avLst/>
          </a:prstGeom>
          <a:noFill/>
          <a:ln/>
        </p:spPr>
        <p:txBody>
          <a:bodyPr wrap="square" lIns="0" tIns="0" rIns="0" bIns="0" rtlCol="0" anchor="t"/>
          <a:lstStyle/>
          <a:p>
            <a:pPr indent="0" marL="0">
              <a:buNone/>
            </a:pPr>
            <a:r>
              <a:rPr lang="en-IE" sz="2100" b="1" dirty="0">
                <a:solidFill>
                  <a:schemeClr val="tx1"/>
                </a:solidFill>
              </a:rPr>
              <a:t>The building blocks</a:t>
            </a:r>
            <a:endParaRPr lang="en-IE" sz="2100" dirty="0"/>
          </a:p>
        </p:txBody>
      </p:sp>
      <p:sp>
        <p:nvSpPr>
          <p:cNvPr id="13" name="Text 10"/>
          <p:cNvSpPr txBox="1"/>
          <p:nvPr/>
        </p:nvSpPr>
        <p:spPr>
          <a:xfrm>
            <a:off x="1463040" y="4334256"/>
            <a:ext cx="5577840" cy="365760"/>
          </a:xfrm>
          <a:prstGeom prst="rect">
            <a:avLst/>
          </a:prstGeom>
          <a:noFill/>
          <a:ln/>
        </p:spPr>
        <p:txBody>
          <a:bodyPr wrap="square" lIns="0" tIns="0" rIns="0" bIns="0" rtlCol="0" anchor="t"/>
          <a:lstStyle/>
          <a:p>
            <a:pPr indent="0" marL="0">
              <a:buNone/>
            </a:pPr>
            <a:r>
              <a:rPr lang="en-IE" sz="1500" dirty="0">
                <a:solidFill>
                  <a:schemeClr val="tx2"/>
                </a:solidFill>
              </a:rPr>
              <a:t>Objects, classes, attributes and methods</a:t>
            </a:r>
            <a:endParaRPr lang="en-IE" sz="1500" dirty="0"/>
          </a:p>
        </p:txBody>
      </p:sp>
      <p:sp>
        <p:nvSpPr>
          <p:cNvPr id="14" name="Text 11"/>
          <p:cNvSpPr txBox="1"/>
          <p:nvPr/>
        </p:nvSpPr>
        <p:spPr>
          <a:xfrm>
            <a:off x="548640" y="495604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992624"/>
            <a:ext cx="5577840" cy="384048"/>
          </a:xfrm>
          <a:prstGeom prst="rect">
            <a:avLst/>
          </a:prstGeom>
          <a:noFill/>
          <a:ln/>
        </p:spPr>
        <p:txBody>
          <a:bodyPr wrap="square" lIns="0" tIns="0" rIns="0" bIns="0" rtlCol="0" anchor="t"/>
          <a:lstStyle/>
          <a:p>
            <a:pPr indent="0" marL="0">
              <a:buNone/>
            </a:pPr>
            <a:r>
              <a:rPr lang="en-IE" sz="2100" b="1" dirty="0">
                <a:solidFill>
                  <a:schemeClr val="tx1"/>
                </a:solidFill>
              </a:rPr>
              <a:t>Constructors</a:t>
            </a:r>
            <a:endParaRPr lang="en-IE" sz="2100" dirty="0"/>
          </a:p>
        </p:txBody>
      </p:sp>
      <p:sp>
        <p:nvSpPr>
          <p:cNvPr id="16" name="Text 13"/>
          <p:cNvSpPr txBox="1"/>
          <p:nvPr/>
        </p:nvSpPr>
        <p:spPr>
          <a:xfrm>
            <a:off x="1463040" y="5404104"/>
            <a:ext cx="5577840" cy="365760"/>
          </a:xfrm>
          <a:prstGeom prst="rect">
            <a:avLst/>
          </a:prstGeom>
          <a:noFill/>
          <a:ln/>
        </p:spPr>
        <p:txBody>
          <a:bodyPr wrap="square" lIns="0" tIns="0" rIns="0" bIns="0" rtlCol="0" anchor="t"/>
          <a:lstStyle/>
          <a:p>
            <a:pPr indent="0" marL="0">
              <a:buNone/>
            </a:pPr>
            <a:r>
              <a:rPr lang="en-IE" sz="1500" dirty="0">
                <a:solidFill>
                  <a:schemeClr val="tx2"/>
                </a:solidFill>
              </a:rPr>
              <a:t>Creating objects and setting them up, step by step</a:t>
            </a:r>
            <a:endParaRPr lang="en-IE" sz="1500" dirty="0"/>
          </a:p>
        </p:txBody>
      </p:sp>
      <p:sp>
        <p:nvSpPr>
          <p:cNvPr id="17" name="How it works"/>
          <p:cNvSpPr/>
          <p:nvPr/>
        </p:nvSpPr>
        <p:spPr>
          <a:xfrm>
            <a:off x="7543800" y="1783080"/>
            <a:ext cx="4099255" cy="4160520"/>
          </a:xfrm>
          <a:prstGeom prst="roundRect">
            <a:avLst>
              <a:gd name="adj" fmla="val 2677"/>
            </a:avLst>
          </a:prstGeom>
          <a:solidFill>
            <a:schemeClr val="bg2"/>
          </a:solidFill>
          <a:ln/>
        </p:spPr>
      </p:sp>
      <p:sp>
        <p:nvSpPr>
          <p:cNvPr id="18" name="Text 15"/>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9"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0"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1" name="Text 17"/>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2"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3"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4" name="Text 19"/>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5"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6"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7" name="Text 21"/>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Ways of writing programs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Programming paradigms: four different approaches to building software</a:t>
            </a:r>
            <a:endParaRPr lang="en-IE" sz="2000" dirty="0"/>
          </a:p>
        </p:txBody>
      </p:sp>
      <p:sp>
        <p:nvSpPr>
          <p:cNvPr id="5" name="Topic chip"/>
          <p:cNvSpPr/>
          <p:nvPr/>
        </p:nvSpPr>
        <p:spPr>
          <a:xfrm>
            <a:off x="8229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Procedural</a:t>
            </a:r>
            <a:endParaRPr lang="en-IE" sz="1400" dirty="0"/>
          </a:p>
        </p:txBody>
      </p:sp>
      <p:sp>
        <p:nvSpPr>
          <p:cNvPr id="6" name="Topic chip"/>
          <p:cNvSpPr/>
          <p:nvPr/>
        </p:nvSpPr>
        <p:spPr>
          <a:xfrm>
            <a:off x="2296160"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Functional</a:t>
            </a:r>
            <a:endParaRPr lang="en-IE" sz="1400" dirty="0"/>
          </a:p>
        </p:txBody>
      </p:sp>
      <p:sp>
        <p:nvSpPr>
          <p:cNvPr id="7" name="Topic chip"/>
          <p:cNvSpPr/>
          <p:nvPr/>
        </p:nvSpPr>
        <p:spPr>
          <a:xfrm>
            <a:off x="37693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Declarative</a:t>
            </a:r>
            <a:endParaRPr lang="en-IE" sz="1400" dirty="0"/>
          </a:p>
        </p:txBody>
      </p:sp>
      <p:sp>
        <p:nvSpPr>
          <p:cNvPr id="8" name="Topic chip"/>
          <p:cNvSpPr/>
          <p:nvPr/>
        </p:nvSpPr>
        <p:spPr>
          <a:xfrm>
            <a:off x="5335016" y="4846320"/>
            <a:ext cx="178917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Object-oriented</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is a program made of?</a:t>
            </a:r>
            <a:endParaRPr lang="en-IE" sz="3400" dirty="0"/>
          </a:p>
        </p:txBody>
      </p:sp>
      <p:sp>
        <p:nvSpPr>
          <p:cNvPr id="5" name="Card"/>
          <p:cNvSpPr/>
          <p:nvPr/>
        </p:nvSpPr>
        <p:spPr>
          <a:xfrm>
            <a:off x="548640" y="1783080"/>
            <a:ext cx="3246120" cy="2331720"/>
          </a:xfrm>
          <a:prstGeom prst="roundRect">
            <a:avLst>
              <a:gd name="adj" fmla="val 4706"/>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68680" y="2103120"/>
            <a:ext cx="713232" cy="713232"/>
          </a:xfrm>
          <a:prstGeom prst="roundRect">
            <a:avLst>
              <a:gd name="adj" fmla="val 24000"/>
            </a:avLst>
          </a:prstGeom>
          <a:solidFill>
            <a:schemeClr val="accent1">
              <a:alpha val="14000"/>
            </a:schemeClr>
          </a:solidFill>
          <a:ln/>
        </p:spPr>
      </p:sp>
      <p:pic>
        <p:nvPicPr>
          <p:cNvPr id="7" name="list numbers icon" descr="list numbers icon">    </p:cNvPr>
          <p:cNvPicPr>
            <a:picLocks noChangeAspect="1"/>
          </p:cNvPicPr>
          <p:nvPr/>
        </p:nvPicPr>
        <p:blipFill>
          <a:blip r:embed="rId1"/>
          <a:stretch>
            <a:fillRect/>
          </a:stretch>
        </p:blipFill>
        <p:spPr>
          <a:xfrm>
            <a:off x="1018459" y="2252899"/>
            <a:ext cx="413675" cy="413675"/>
          </a:xfrm>
          <a:prstGeom prst="rect">
            <a:avLst/>
          </a:prstGeom>
        </p:spPr>
      </p:pic>
      <p:sp>
        <p:nvSpPr>
          <p:cNvPr id="8" name="Text 4"/>
          <p:cNvSpPr txBox="1"/>
          <p:nvPr/>
        </p:nvSpPr>
        <p:spPr>
          <a:xfrm>
            <a:off x="868680" y="2971800"/>
            <a:ext cx="2606040" cy="411480"/>
          </a:xfrm>
          <a:prstGeom prst="rect">
            <a:avLst/>
          </a:prstGeom>
          <a:noFill/>
          <a:ln/>
        </p:spPr>
        <p:txBody>
          <a:bodyPr wrap="square" lIns="0" tIns="0" rIns="0" bIns="0" rtlCol="0" anchor="t"/>
          <a:lstStyle/>
          <a:p>
            <a:pPr indent="0" marL="0">
              <a:buNone/>
            </a:pPr>
            <a:r>
              <a:rPr lang="en-IE" sz="2400" b="1" dirty="0">
                <a:solidFill>
                  <a:schemeClr val="tx1"/>
                </a:solidFill>
              </a:rPr>
              <a:t>Algorithms</a:t>
            </a:r>
            <a:endParaRPr lang="en-IE" sz="2400" dirty="0"/>
          </a:p>
        </p:txBody>
      </p:sp>
      <p:sp>
        <p:nvSpPr>
          <p:cNvPr id="9" name="Text 5"/>
          <p:cNvSpPr txBox="1"/>
          <p:nvPr/>
        </p:nvSpPr>
        <p:spPr>
          <a:xfrm>
            <a:off x="868680" y="3429000"/>
            <a:ext cx="2606040" cy="548640"/>
          </a:xfrm>
          <a:prstGeom prst="rect">
            <a:avLst/>
          </a:prstGeom>
          <a:noFill/>
          <a:ln/>
        </p:spPr>
        <p:txBody>
          <a:bodyPr wrap="square" lIns="0" tIns="0" rIns="0" bIns="0" rtlCol="0" anchor="t"/>
          <a:lstStyle/>
          <a:p>
            <a:pPr indent="0" marL="0">
              <a:buNone/>
            </a:pPr>
            <a:r>
              <a:rPr lang="en-IE" sz="1600" dirty="0">
                <a:solidFill>
                  <a:schemeClr val="tx2"/>
                </a:solidFill>
              </a:rPr>
              <a:t>The steps that solve the problem</a:t>
            </a:r>
            <a:endParaRPr lang="en-IE" sz="1600" dirty="0"/>
          </a:p>
        </p:txBody>
      </p:sp>
      <p:sp>
        <p:nvSpPr>
          <p:cNvPr id="10" name="Card"/>
          <p:cNvSpPr/>
          <p:nvPr/>
        </p:nvSpPr>
        <p:spPr>
          <a:xfrm>
            <a:off x="4526280" y="1783080"/>
            <a:ext cx="3246120" cy="2331720"/>
          </a:xfrm>
          <a:prstGeom prst="roundRect">
            <a:avLst>
              <a:gd name="adj" fmla="val 4706"/>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4846320" y="2103120"/>
            <a:ext cx="713232" cy="713232"/>
          </a:xfrm>
          <a:prstGeom prst="roundRect">
            <a:avLst>
              <a:gd name="adj" fmla="val 24000"/>
            </a:avLst>
          </a:prstGeom>
          <a:solidFill>
            <a:schemeClr val="accent4">
              <a:alpha val="14000"/>
            </a:schemeClr>
          </a:solidFill>
          <a:ln/>
        </p:spPr>
      </p:sp>
      <p:pic>
        <p:nvPicPr>
          <p:cNvPr id="12" name="stack icon" descr="stack icon">    </p:cNvPr>
          <p:cNvPicPr>
            <a:picLocks noChangeAspect="1"/>
          </p:cNvPicPr>
          <p:nvPr/>
        </p:nvPicPr>
        <p:blipFill>
          <a:blip r:embed="rId2"/>
          <a:stretch>
            <a:fillRect/>
          </a:stretch>
        </p:blipFill>
        <p:spPr>
          <a:xfrm>
            <a:off x="4996099" y="2252899"/>
            <a:ext cx="413675" cy="413675"/>
          </a:xfrm>
          <a:prstGeom prst="rect">
            <a:avLst/>
          </a:prstGeom>
        </p:spPr>
      </p:pic>
      <p:sp>
        <p:nvSpPr>
          <p:cNvPr id="13" name="Text 8"/>
          <p:cNvSpPr txBox="1"/>
          <p:nvPr/>
        </p:nvSpPr>
        <p:spPr>
          <a:xfrm>
            <a:off x="4846320" y="2971800"/>
            <a:ext cx="2606040" cy="411480"/>
          </a:xfrm>
          <a:prstGeom prst="rect">
            <a:avLst/>
          </a:prstGeom>
          <a:noFill/>
          <a:ln/>
        </p:spPr>
        <p:txBody>
          <a:bodyPr wrap="square" lIns="0" tIns="0" rIns="0" bIns="0" rtlCol="0" anchor="t"/>
          <a:lstStyle/>
          <a:p>
            <a:pPr indent="0" marL="0">
              <a:buNone/>
            </a:pPr>
            <a:r>
              <a:rPr lang="en-IE" sz="2400" b="1" dirty="0">
                <a:solidFill>
                  <a:schemeClr val="tx1"/>
                </a:solidFill>
              </a:rPr>
              <a:t>Data structures</a:t>
            </a:r>
            <a:endParaRPr lang="en-IE" sz="2400" dirty="0"/>
          </a:p>
        </p:txBody>
      </p:sp>
      <p:sp>
        <p:nvSpPr>
          <p:cNvPr id="14" name="Text 9"/>
          <p:cNvSpPr txBox="1"/>
          <p:nvPr/>
        </p:nvSpPr>
        <p:spPr>
          <a:xfrm>
            <a:off x="4846320" y="3429000"/>
            <a:ext cx="2606040" cy="548640"/>
          </a:xfrm>
          <a:prstGeom prst="rect">
            <a:avLst/>
          </a:prstGeom>
          <a:noFill/>
          <a:ln/>
        </p:spPr>
        <p:txBody>
          <a:bodyPr wrap="square" lIns="0" tIns="0" rIns="0" bIns="0" rtlCol="0" anchor="t"/>
          <a:lstStyle/>
          <a:p>
            <a:pPr indent="0" marL="0">
              <a:buNone/>
            </a:pPr>
            <a:r>
              <a:rPr lang="en-IE" sz="1600" dirty="0">
                <a:solidFill>
                  <a:schemeClr val="tx2"/>
                </a:solidFill>
              </a:rPr>
              <a:t>How the data is organised and stored</a:t>
            </a:r>
            <a:endParaRPr lang="en-IE" sz="1600" dirty="0"/>
          </a:p>
        </p:txBody>
      </p:sp>
      <p:sp>
        <p:nvSpPr>
          <p:cNvPr id="15" name="Text 10"/>
          <p:cNvSpPr txBox="1"/>
          <p:nvPr/>
        </p:nvSpPr>
        <p:spPr>
          <a:xfrm>
            <a:off x="3794760" y="1783080"/>
            <a:ext cx="731520" cy="2331720"/>
          </a:xfrm>
          <a:prstGeom prst="rect">
            <a:avLst/>
          </a:prstGeom>
          <a:noFill/>
          <a:ln/>
        </p:spPr>
        <p:txBody>
          <a:bodyPr wrap="square" lIns="0" tIns="0" rIns="0" bIns="0" rtlCol="0" anchor="ctr"/>
          <a:lstStyle/>
          <a:p>
            <a:pPr algn="ctr" indent="0" marL="0">
              <a:buNone/>
            </a:pPr>
            <a:r>
              <a:rPr lang="en-IE" sz="4400" b="1" dirty="0">
                <a:solidFill>
                  <a:schemeClr val="tx2"/>
                </a:solidFill>
              </a:rPr>
              <a:t>+</a:t>
            </a:r>
            <a:endParaRPr lang="en-IE" sz="4400" dirty="0"/>
          </a:p>
        </p:txBody>
      </p:sp>
      <p:sp>
        <p:nvSpPr>
          <p:cNvPr id="16" name="Text 11"/>
          <p:cNvSpPr txBox="1"/>
          <p:nvPr/>
        </p:nvSpPr>
        <p:spPr>
          <a:xfrm>
            <a:off x="7772400" y="1783080"/>
            <a:ext cx="731520" cy="2331720"/>
          </a:xfrm>
          <a:prstGeom prst="rect">
            <a:avLst/>
          </a:prstGeom>
          <a:noFill/>
          <a:ln/>
        </p:spPr>
        <p:txBody>
          <a:bodyPr wrap="square" lIns="0" tIns="0" rIns="0" bIns="0" rtlCol="0" anchor="ctr"/>
          <a:lstStyle/>
          <a:p>
            <a:pPr algn="ctr" indent="0" marL="0">
              <a:buNone/>
            </a:pPr>
            <a:r>
              <a:rPr lang="en-IE" sz="4400" b="1" dirty="0">
                <a:solidFill>
                  <a:schemeClr val="tx2"/>
                </a:solidFill>
              </a:rPr>
              <a:t>=</a:t>
            </a:r>
            <a:endParaRPr lang="en-IE" sz="4400" dirty="0"/>
          </a:p>
        </p:txBody>
      </p:sp>
      <p:sp>
        <p:nvSpPr>
          <p:cNvPr id="17" name="Programs card"/>
          <p:cNvSpPr/>
          <p:nvPr/>
        </p:nvSpPr>
        <p:spPr>
          <a:xfrm>
            <a:off x="8503920" y="1783080"/>
            <a:ext cx="3139135" cy="2331720"/>
          </a:xfrm>
          <a:prstGeom prst="roundRect">
            <a:avLst>
              <a:gd name="adj" fmla="val 4706"/>
            </a:avLst>
          </a:prstGeom>
          <a:solidFill>
            <a:schemeClr val="accent2"/>
          </a:solidFill>
          <a:ln/>
          <a:effectLst>
            <a:outerShdw sx="100000" sy="100000" kx="0" ky="0" algn="bl" rotWithShape="0" blurRad="114300" dist="31750" dir="5400000">
              <a:srgbClr val="1D2433">
                <a:alpha val="12000"/>
              </a:srgbClr>
            </a:outerShdw>
          </a:effectLst>
        </p:spPr>
      </p:sp>
      <p:sp>
        <p:nvSpPr>
          <p:cNvPr id="18" name="Icon tile"/>
          <p:cNvSpPr/>
          <p:nvPr/>
        </p:nvSpPr>
        <p:spPr>
          <a:xfrm>
            <a:off x="8823960" y="2103120"/>
            <a:ext cx="713232" cy="713232"/>
          </a:xfrm>
          <a:prstGeom prst="roundRect">
            <a:avLst>
              <a:gd name="adj" fmla="val 24359"/>
            </a:avLst>
          </a:prstGeom>
          <a:solidFill>
            <a:schemeClr val="bg1">
              <a:alpha val="15000"/>
            </a:schemeClr>
          </a:solidFill>
          <a:ln/>
        </p:spPr>
      </p:sp>
      <p:pic>
        <p:nvPicPr>
          <p:cNvPr id="19" name="app window icon" descr="app window icon">    </p:cNvPr>
          <p:cNvPicPr>
            <a:picLocks noChangeAspect="1"/>
          </p:cNvPicPr>
          <p:nvPr/>
        </p:nvPicPr>
        <p:blipFill>
          <a:blip r:embed="rId3"/>
          <a:stretch>
            <a:fillRect/>
          </a:stretch>
        </p:blipFill>
        <p:spPr>
          <a:xfrm>
            <a:off x="8974836" y="2253996"/>
            <a:ext cx="411480" cy="411480"/>
          </a:xfrm>
          <a:prstGeom prst="rect">
            <a:avLst/>
          </a:prstGeom>
        </p:spPr>
      </p:pic>
      <p:sp>
        <p:nvSpPr>
          <p:cNvPr id="20" name="Text 14"/>
          <p:cNvSpPr txBox="1"/>
          <p:nvPr/>
        </p:nvSpPr>
        <p:spPr>
          <a:xfrm>
            <a:off x="8823960" y="2971800"/>
            <a:ext cx="2499055" cy="411480"/>
          </a:xfrm>
          <a:prstGeom prst="rect">
            <a:avLst/>
          </a:prstGeom>
          <a:noFill/>
          <a:ln/>
        </p:spPr>
        <p:txBody>
          <a:bodyPr wrap="square" lIns="0" tIns="0" rIns="0" bIns="0" rtlCol="0" anchor="t"/>
          <a:lstStyle/>
          <a:p>
            <a:pPr indent="0" marL="0">
              <a:buNone/>
            </a:pPr>
            <a:r>
              <a:rPr lang="en-IE" sz="2400" b="1" dirty="0">
                <a:solidFill>
                  <a:schemeClr val="bg1"/>
                </a:solidFill>
              </a:rPr>
              <a:t>Programs</a:t>
            </a:r>
            <a:endParaRPr lang="en-IE" sz="2400" dirty="0"/>
          </a:p>
        </p:txBody>
      </p:sp>
      <p:sp>
        <p:nvSpPr>
          <p:cNvPr id="21" name="Text 15"/>
          <p:cNvSpPr txBox="1"/>
          <p:nvPr/>
        </p:nvSpPr>
        <p:spPr>
          <a:xfrm>
            <a:off x="8823960" y="3429000"/>
            <a:ext cx="2499055" cy="548640"/>
          </a:xfrm>
          <a:prstGeom prst="rect">
            <a:avLst/>
          </a:prstGeom>
          <a:noFill/>
          <a:ln/>
        </p:spPr>
        <p:txBody>
          <a:bodyPr wrap="square" lIns="0" tIns="0" rIns="0" bIns="0" rtlCol="0" anchor="t"/>
          <a:lstStyle/>
          <a:p>
            <a:pPr indent="0" marL="0">
              <a:buNone/>
            </a:pPr>
            <a:r>
              <a:rPr lang="en-IE" sz="1600" dirty="0">
                <a:solidFill>
                  <a:schemeClr val="bg1">
                    <a:alpha val="85000"/>
                  </a:schemeClr>
                </a:solidFill>
              </a:rPr>
              <a:t>Every program needs both</a:t>
            </a:r>
            <a:endParaRPr lang="en-IE" sz="1600" dirty="0"/>
          </a:p>
        </p:txBody>
      </p:sp>
      <p:sp>
        <p:nvSpPr>
          <p:cNvPr id="22" name="Definition"/>
          <p:cNvSpPr/>
          <p:nvPr/>
        </p:nvSpPr>
        <p:spPr>
          <a:xfrm>
            <a:off x="548640" y="4434840"/>
            <a:ext cx="11094415" cy="1600200"/>
          </a:xfrm>
          <a:prstGeom prst="roundRect">
            <a:avLst>
              <a:gd name="adj" fmla="val 6857"/>
            </a:avLst>
          </a:prstGeom>
          <a:solidFill>
            <a:schemeClr val="bg2"/>
          </a:solidFill>
          <a:ln/>
        </p:spPr>
      </p:sp>
      <p:sp>
        <p:nvSpPr>
          <p:cNvPr id="23" name="Icon tile"/>
          <p:cNvSpPr/>
          <p:nvPr/>
        </p:nvSpPr>
        <p:spPr>
          <a:xfrm>
            <a:off x="868680" y="4846320"/>
            <a:ext cx="777240" cy="777240"/>
          </a:xfrm>
          <a:prstGeom prst="roundRect">
            <a:avLst>
              <a:gd name="adj" fmla="val 24000"/>
            </a:avLst>
          </a:prstGeom>
          <a:solidFill>
            <a:schemeClr val="accent1"/>
          </a:solidFill>
          <a:ln/>
        </p:spPr>
      </p:sp>
      <p:pic>
        <p:nvPicPr>
          <p:cNvPr id="24" name="lightbulb icon" descr="lightbulb icon">    </p:cNvPr>
          <p:cNvPicPr>
            <a:picLocks noChangeAspect="1"/>
          </p:cNvPicPr>
          <p:nvPr/>
        </p:nvPicPr>
        <p:blipFill>
          <a:blip r:embed="rId4"/>
          <a:stretch>
            <a:fillRect/>
          </a:stretch>
        </p:blipFill>
        <p:spPr>
          <a:xfrm>
            <a:off x="1031900" y="5009540"/>
            <a:ext cx="450799" cy="450799"/>
          </a:xfrm>
          <a:prstGeom prst="rect">
            <a:avLst/>
          </a:prstGeom>
        </p:spPr>
      </p:pic>
      <p:sp>
        <p:nvSpPr>
          <p:cNvPr id="25" name="Text 18"/>
          <p:cNvSpPr txBox="1"/>
          <p:nvPr/>
        </p:nvSpPr>
        <p:spPr>
          <a:xfrm>
            <a:off x="1920240" y="4617720"/>
            <a:ext cx="9464040" cy="1234440"/>
          </a:xfrm>
          <a:prstGeom prst="rect">
            <a:avLst/>
          </a:prstGeom>
          <a:noFill/>
          <a:ln/>
        </p:spPr>
        <p:txBody>
          <a:bodyPr wrap="square" lIns="0" tIns="0" rIns="0" bIns="0" rtlCol="0" anchor="ctr"/>
          <a:lstStyle/>
          <a:p>
            <a:pPr indent="0" marL="0">
              <a:buNone/>
            </a:pPr>
            <a:r>
              <a:rPr lang="en-IE" sz="2000" dirty="0">
                <a:solidFill>
                  <a:schemeClr val="tx1"/>
                </a:solidFill>
              </a:rPr>
              <a:t>A </a:t>
            </a:r>
            <a:r>
              <a:rPr lang="en-IE" sz="2000" b="1" dirty="0">
                <a:solidFill>
                  <a:schemeClr val="tx1"/>
                </a:solidFill>
              </a:rPr>
              <a:t>programming paradigm</a:t>
            </a:r>
            <a:r>
              <a:rPr lang="en-IE" sz="2000" dirty="0">
                <a:solidFill>
                  <a:schemeClr val="tx1"/>
                </a:solidFill>
              </a:rPr>
              <a:t> is an approach, or style, for building programs. Each paradigm puts the steps and the data together in its own way.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Software development</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a programming paradigm?</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list of steps that solves one problem</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way of organising and storing data in memory</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 approach, or style, for building programs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finished program that people use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Software development</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a programming paradigm?</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list of steps that solves one problem</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way of organising and storing data in memory</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An approach, or style, for building programs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finished program that people use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paradigm is the approach we take when we build a program. Option A describes an </a:t>
            </a:r>
            <a:r>
              <a:rPr lang="en-IE" sz="1800" b="1" dirty="0">
                <a:solidFill>
                  <a:schemeClr val="tx1"/>
                </a:solidFill>
              </a:rPr>
              <a:t>algorithm</a:t>
            </a:r>
            <a:r>
              <a:rPr lang="en-IE" sz="1800" dirty="0">
                <a:solidFill>
                  <a:schemeClr val="tx1"/>
                </a:solidFill>
              </a:rPr>
              <a:t> and B describes a </a:t>
            </a:r>
            <a:r>
              <a:rPr lang="en-IE" sz="1800" b="1" dirty="0">
                <a:solidFill>
                  <a:schemeClr val="tx1"/>
                </a:solidFill>
              </a:rPr>
              <a:t>data structure</a:t>
            </a:r>
            <a:r>
              <a:rPr lang="en-IE" sz="1800" dirty="0">
                <a:solidFill>
                  <a:schemeClr val="tx1"/>
                </a:solidFill>
              </a:rPr>
              <a:t>. Put those two together and you get D: a program.</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Four common paradigms</a:t>
            </a:r>
            <a:endParaRPr lang="en-IE" sz="3400" dirty="0"/>
          </a:p>
        </p:txBody>
      </p:sp>
      <p:sp>
        <p:nvSpPr>
          <p:cNvPr id="5" name="Card"/>
          <p:cNvSpPr/>
          <p:nvPr/>
        </p:nvSpPr>
        <p:spPr>
          <a:xfrm>
            <a:off x="548640" y="173736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11680"/>
            <a:ext cx="676656" cy="676656"/>
          </a:xfrm>
          <a:prstGeom prst="roundRect">
            <a:avLst>
              <a:gd name="adj" fmla="val 24000"/>
            </a:avLst>
          </a:prstGeom>
          <a:solidFill>
            <a:schemeClr val="accent1">
              <a:alpha val="14000"/>
            </a:schemeClr>
          </a:solidFill>
          <a:ln/>
        </p:spPr>
      </p:sp>
      <p:pic>
        <p:nvPicPr>
          <p:cNvPr id="7" name="list numbers icon" descr="list numbers icon">    </p:cNvPr>
          <p:cNvPicPr>
            <a:picLocks noChangeAspect="1"/>
          </p:cNvPicPr>
          <p:nvPr/>
        </p:nvPicPr>
        <p:blipFill>
          <a:blip r:embed="rId1"/>
          <a:stretch>
            <a:fillRect/>
          </a:stretch>
        </p:blipFill>
        <p:spPr>
          <a:xfrm>
            <a:off x="965058" y="2153778"/>
            <a:ext cx="392460" cy="392460"/>
          </a:xfrm>
          <a:prstGeom prst="rect">
            <a:avLst/>
          </a:prstGeom>
        </p:spPr>
      </p:pic>
      <p:sp>
        <p:nvSpPr>
          <p:cNvPr id="8" name="Text 4"/>
          <p:cNvSpPr txBox="1"/>
          <p:nvPr/>
        </p:nvSpPr>
        <p:spPr>
          <a:xfrm>
            <a:off x="822960" y="2852928"/>
            <a:ext cx="2124380" cy="384048"/>
          </a:xfrm>
          <a:prstGeom prst="rect">
            <a:avLst/>
          </a:prstGeom>
          <a:noFill/>
          <a:ln/>
        </p:spPr>
        <p:txBody>
          <a:bodyPr wrap="square" lIns="0" tIns="0" rIns="0" bIns="0" rtlCol="0" anchor="t"/>
          <a:lstStyle/>
          <a:p>
            <a:pPr indent="0" marL="0">
              <a:buNone/>
            </a:pPr>
            <a:r>
              <a:rPr lang="en-IE" sz="2000" b="1" dirty="0">
                <a:solidFill>
                  <a:schemeClr val="tx1"/>
                </a:solidFill>
              </a:rPr>
              <a:t>Procedural</a:t>
            </a:r>
            <a:endParaRPr lang="en-IE" sz="2000" dirty="0"/>
          </a:p>
        </p:txBody>
      </p:sp>
      <p:sp>
        <p:nvSpPr>
          <p:cNvPr id="9" name="Text 5"/>
          <p:cNvSpPr txBox="1"/>
          <p:nvPr/>
        </p:nvSpPr>
        <p:spPr>
          <a:xfrm>
            <a:off x="822960" y="3310128"/>
            <a:ext cx="2078660" cy="914400"/>
          </a:xfrm>
          <a:prstGeom prst="rect">
            <a:avLst/>
          </a:prstGeom>
          <a:noFill/>
          <a:ln/>
        </p:spPr>
        <p:txBody>
          <a:bodyPr wrap="square" lIns="0" tIns="0" rIns="0" bIns="0" rtlCol="0" anchor="t"/>
          <a:lstStyle/>
          <a:p>
            <a:pPr indent="0" marL="0">
              <a:buNone/>
            </a:pPr>
            <a:r>
              <a:rPr lang="en-IE" sz="1500" dirty="0">
                <a:solidFill>
                  <a:schemeClr val="tx2"/>
                </a:solidFill>
              </a:rPr>
              <a:t>Steps grouped into functions. The data is kept separate.</a:t>
            </a:r>
            <a:endParaRPr lang="en-IE" sz="1500" dirty="0"/>
          </a:p>
        </p:txBody>
      </p:sp>
      <p:sp>
        <p:nvSpPr>
          <p:cNvPr id="10" name="Text 6"/>
          <p:cNvSpPr txBox="1"/>
          <p:nvPr/>
        </p:nvSpPr>
        <p:spPr>
          <a:xfrm>
            <a:off x="822960" y="4343400"/>
            <a:ext cx="2124380" cy="320040"/>
          </a:xfrm>
          <a:prstGeom prst="rect">
            <a:avLst/>
          </a:prstGeom>
          <a:noFill/>
          <a:ln/>
        </p:spPr>
        <p:txBody>
          <a:bodyPr wrap="square" lIns="0" tIns="0" rIns="0" bIns="0" rtlCol="0" anchor="t"/>
          <a:lstStyle/>
          <a:p>
            <a:pPr indent="0" marL="0">
              <a:buNone/>
            </a:pPr>
            <a:r>
              <a:rPr lang="en-IE" sz="1500" dirty="0">
                <a:solidFill>
                  <a:schemeClr val="tx2"/>
                </a:solidFill>
              </a:rPr>
              <a:t>e.g. </a:t>
            </a:r>
            <a:r>
              <a:rPr lang="en-IE" sz="1500" b="1" dirty="0">
                <a:solidFill>
                  <a:schemeClr val="accent2"/>
                </a:solidFill>
              </a:rPr>
              <a:t>C, Pascal</a:t>
            </a:r>
            <a:endParaRPr lang="en-IE" sz="1500" dirty="0"/>
          </a:p>
        </p:txBody>
      </p:sp>
      <p:sp>
        <p:nvSpPr>
          <p:cNvPr id="11" name="Card"/>
          <p:cNvSpPr/>
          <p:nvPr/>
        </p:nvSpPr>
        <p:spPr>
          <a:xfrm>
            <a:off x="3386252" y="173736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3660572" y="2011680"/>
            <a:ext cx="676656" cy="676656"/>
          </a:xfrm>
          <a:prstGeom prst="roundRect">
            <a:avLst>
              <a:gd name="adj" fmla="val 24000"/>
            </a:avLst>
          </a:prstGeom>
          <a:solidFill>
            <a:schemeClr val="accent5">
              <a:alpha val="14000"/>
            </a:schemeClr>
          </a:solidFill>
          <a:ln/>
        </p:spPr>
      </p:sp>
      <p:pic>
        <p:nvPicPr>
          <p:cNvPr id="13" name="function icon" descr="function icon">    </p:cNvPr>
          <p:cNvPicPr>
            <a:picLocks noChangeAspect="1"/>
          </p:cNvPicPr>
          <p:nvPr/>
        </p:nvPicPr>
        <p:blipFill>
          <a:blip r:embed="rId2"/>
          <a:stretch>
            <a:fillRect/>
          </a:stretch>
        </p:blipFill>
        <p:spPr>
          <a:xfrm>
            <a:off x="3802670" y="2153778"/>
            <a:ext cx="392460" cy="392460"/>
          </a:xfrm>
          <a:prstGeom prst="rect">
            <a:avLst/>
          </a:prstGeom>
        </p:spPr>
      </p:pic>
      <p:sp>
        <p:nvSpPr>
          <p:cNvPr id="14" name="Text 9"/>
          <p:cNvSpPr txBox="1"/>
          <p:nvPr/>
        </p:nvSpPr>
        <p:spPr>
          <a:xfrm>
            <a:off x="3660572" y="2852928"/>
            <a:ext cx="2124380" cy="384048"/>
          </a:xfrm>
          <a:prstGeom prst="rect">
            <a:avLst/>
          </a:prstGeom>
          <a:noFill/>
          <a:ln/>
        </p:spPr>
        <p:txBody>
          <a:bodyPr wrap="square" lIns="0" tIns="0" rIns="0" bIns="0" rtlCol="0" anchor="t"/>
          <a:lstStyle/>
          <a:p>
            <a:pPr indent="0" marL="0">
              <a:buNone/>
            </a:pPr>
            <a:r>
              <a:rPr lang="en-IE" sz="2000" b="1" dirty="0">
                <a:solidFill>
                  <a:schemeClr val="tx1"/>
                </a:solidFill>
              </a:rPr>
              <a:t>Functional</a:t>
            </a:r>
            <a:endParaRPr lang="en-IE" sz="2000" dirty="0"/>
          </a:p>
        </p:txBody>
      </p:sp>
      <p:sp>
        <p:nvSpPr>
          <p:cNvPr id="15" name="Text 10"/>
          <p:cNvSpPr txBox="1"/>
          <p:nvPr/>
        </p:nvSpPr>
        <p:spPr>
          <a:xfrm>
            <a:off x="3660572" y="3310128"/>
            <a:ext cx="2078660" cy="914400"/>
          </a:xfrm>
          <a:prstGeom prst="rect">
            <a:avLst/>
          </a:prstGeom>
          <a:noFill/>
          <a:ln/>
        </p:spPr>
        <p:txBody>
          <a:bodyPr wrap="square" lIns="0" tIns="0" rIns="0" bIns="0" rtlCol="0" anchor="t"/>
          <a:lstStyle/>
          <a:p>
            <a:pPr indent="0" marL="0">
              <a:buNone/>
            </a:pPr>
            <a:r>
              <a:rPr lang="en-IE" sz="1500" dirty="0">
                <a:solidFill>
                  <a:schemeClr val="tx2"/>
                </a:solidFill>
              </a:rPr>
              <a:t>Functions are treated as values and passed around.</a:t>
            </a:r>
            <a:endParaRPr lang="en-IE" sz="1500" dirty="0"/>
          </a:p>
        </p:txBody>
      </p:sp>
      <p:sp>
        <p:nvSpPr>
          <p:cNvPr id="16" name="Text 11"/>
          <p:cNvSpPr txBox="1"/>
          <p:nvPr/>
        </p:nvSpPr>
        <p:spPr>
          <a:xfrm>
            <a:off x="3660572" y="4343400"/>
            <a:ext cx="2124380" cy="320040"/>
          </a:xfrm>
          <a:prstGeom prst="rect">
            <a:avLst/>
          </a:prstGeom>
          <a:noFill/>
          <a:ln/>
        </p:spPr>
        <p:txBody>
          <a:bodyPr wrap="square" lIns="0" tIns="0" rIns="0" bIns="0" rtlCol="0" anchor="t"/>
          <a:lstStyle/>
          <a:p>
            <a:pPr indent="0" marL="0">
              <a:buNone/>
            </a:pPr>
            <a:r>
              <a:rPr lang="en-IE" sz="1500" dirty="0">
                <a:solidFill>
                  <a:schemeClr val="tx2"/>
                </a:solidFill>
              </a:rPr>
              <a:t>e.g. </a:t>
            </a:r>
            <a:r>
              <a:rPr lang="en-IE" sz="1500" b="1" dirty="0">
                <a:solidFill>
                  <a:schemeClr val="accent2"/>
                </a:solidFill>
              </a:rPr>
              <a:t>Haskell, JavaScript</a:t>
            </a:r>
            <a:endParaRPr lang="en-IE" sz="1500" dirty="0"/>
          </a:p>
        </p:txBody>
      </p:sp>
      <p:sp>
        <p:nvSpPr>
          <p:cNvPr id="17" name="Card"/>
          <p:cNvSpPr/>
          <p:nvPr/>
        </p:nvSpPr>
        <p:spPr>
          <a:xfrm>
            <a:off x="6223864" y="173736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6498184" y="2011680"/>
            <a:ext cx="676656" cy="676656"/>
          </a:xfrm>
          <a:prstGeom prst="roundRect">
            <a:avLst>
              <a:gd name="adj" fmla="val 24000"/>
            </a:avLst>
          </a:prstGeom>
          <a:solidFill>
            <a:schemeClr val="accent4">
              <a:alpha val="14000"/>
            </a:schemeClr>
          </a:solidFill>
          <a:ln/>
        </p:spPr>
      </p:sp>
      <p:pic>
        <p:nvPicPr>
          <p:cNvPr id="19" name="magnifying glass icon" descr="magnifying glass icon">    </p:cNvPr>
          <p:cNvPicPr>
            <a:picLocks noChangeAspect="1"/>
          </p:cNvPicPr>
          <p:nvPr/>
        </p:nvPicPr>
        <p:blipFill>
          <a:blip r:embed="rId3"/>
          <a:stretch>
            <a:fillRect/>
          </a:stretch>
        </p:blipFill>
        <p:spPr>
          <a:xfrm>
            <a:off x="6640281" y="2153778"/>
            <a:ext cx="392460" cy="392460"/>
          </a:xfrm>
          <a:prstGeom prst="rect">
            <a:avLst/>
          </a:prstGeom>
        </p:spPr>
      </p:pic>
      <p:sp>
        <p:nvSpPr>
          <p:cNvPr id="20" name="Text 14"/>
          <p:cNvSpPr txBox="1"/>
          <p:nvPr/>
        </p:nvSpPr>
        <p:spPr>
          <a:xfrm>
            <a:off x="6498184" y="2852928"/>
            <a:ext cx="2124380" cy="384048"/>
          </a:xfrm>
          <a:prstGeom prst="rect">
            <a:avLst/>
          </a:prstGeom>
          <a:noFill/>
          <a:ln/>
        </p:spPr>
        <p:txBody>
          <a:bodyPr wrap="square" lIns="0" tIns="0" rIns="0" bIns="0" rtlCol="0" anchor="t"/>
          <a:lstStyle/>
          <a:p>
            <a:pPr indent="0" marL="0">
              <a:buNone/>
            </a:pPr>
            <a:r>
              <a:rPr lang="en-IE" sz="2000" b="1" dirty="0">
                <a:solidFill>
                  <a:schemeClr val="tx1"/>
                </a:solidFill>
              </a:rPr>
              <a:t>Declarative</a:t>
            </a:r>
            <a:endParaRPr lang="en-IE" sz="2000" dirty="0"/>
          </a:p>
        </p:txBody>
      </p:sp>
      <p:sp>
        <p:nvSpPr>
          <p:cNvPr id="21" name="Text 15"/>
          <p:cNvSpPr txBox="1"/>
          <p:nvPr/>
        </p:nvSpPr>
        <p:spPr>
          <a:xfrm>
            <a:off x="6498184" y="3310128"/>
            <a:ext cx="2078660" cy="914400"/>
          </a:xfrm>
          <a:prstGeom prst="rect">
            <a:avLst/>
          </a:prstGeom>
          <a:noFill/>
          <a:ln/>
        </p:spPr>
        <p:txBody>
          <a:bodyPr wrap="square" lIns="0" tIns="0" rIns="0" bIns="0" rtlCol="0" anchor="t"/>
          <a:lstStyle/>
          <a:p>
            <a:pPr indent="0" marL="0">
              <a:buNone/>
            </a:pPr>
            <a:r>
              <a:rPr lang="en-IE" sz="1500" dirty="0">
                <a:solidFill>
                  <a:schemeClr val="tx2"/>
                </a:solidFill>
              </a:rPr>
              <a:t>Describe the result you want, not the steps.</a:t>
            </a:r>
            <a:endParaRPr lang="en-IE" sz="1500" dirty="0"/>
          </a:p>
        </p:txBody>
      </p:sp>
      <p:sp>
        <p:nvSpPr>
          <p:cNvPr id="22" name="Text 16"/>
          <p:cNvSpPr txBox="1"/>
          <p:nvPr/>
        </p:nvSpPr>
        <p:spPr>
          <a:xfrm>
            <a:off x="6498184" y="4343400"/>
            <a:ext cx="2124380" cy="320040"/>
          </a:xfrm>
          <a:prstGeom prst="rect">
            <a:avLst/>
          </a:prstGeom>
          <a:noFill/>
          <a:ln/>
        </p:spPr>
        <p:txBody>
          <a:bodyPr wrap="square" lIns="0" tIns="0" rIns="0" bIns="0" rtlCol="0" anchor="t"/>
          <a:lstStyle/>
          <a:p>
            <a:pPr indent="0" marL="0">
              <a:buNone/>
            </a:pPr>
            <a:r>
              <a:rPr lang="en-IE" sz="1500" dirty="0">
                <a:solidFill>
                  <a:schemeClr val="tx2"/>
                </a:solidFill>
              </a:rPr>
              <a:t>e.g. </a:t>
            </a:r>
            <a:r>
              <a:rPr lang="en-IE" sz="1500" b="1" dirty="0">
                <a:solidFill>
                  <a:schemeClr val="accent2"/>
                </a:solidFill>
              </a:rPr>
              <a:t>SQL</a:t>
            </a:r>
            <a:endParaRPr lang="en-IE" sz="1500" dirty="0"/>
          </a:p>
        </p:txBody>
      </p:sp>
      <p:sp>
        <p:nvSpPr>
          <p:cNvPr id="23" name="Card"/>
          <p:cNvSpPr/>
          <p:nvPr/>
        </p:nvSpPr>
        <p:spPr>
          <a:xfrm>
            <a:off x="9061475" y="173736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9335795" y="2011680"/>
            <a:ext cx="676656" cy="676656"/>
          </a:xfrm>
          <a:prstGeom prst="roundRect">
            <a:avLst>
              <a:gd name="adj" fmla="val 24000"/>
            </a:avLst>
          </a:prstGeom>
          <a:solidFill>
            <a:schemeClr val="accent2">
              <a:alpha val="14000"/>
            </a:schemeClr>
          </a:solidFill>
          <a:ln/>
        </p:spPr>
      </p:sp>
      <p:pic>
        <p:nvPicPr>
          <p:cNvPr id="25" name="cube icon" descr="cube icon">    </p:cNvPr>
          <p:cNvPicPr>
            <a:picLocks noChangeAspect="1"/>
          </p:cNvPicPr>
          <p:nvPr/>
        </p:nvPicPr>
        <p:blipFill>
          <a:blip r:embed="rId4"/>
          <a:stretch>
            <a:fillRect/>
          </a:stretch>
        </p:blipFill>
        <p:spPr>
          <a:xfrm>
            <a:off x="9477893" y="2153778"/>
            <a:ext cx="392460" cy="392460"/>
          </a:xfrm>
          <a:prstGeom prst="rect">
            <a:avLst/>
          </a:prstGeom>
        </p:spPr>
      </p:pic>
      <p:sp>
        <p:nvSpPr>
          <p:cNvPr id="26" name="Text 19"/>
          <p:cNvSpPr txBox="1"/>
          <p:nvPr/>
        </p:nvSpPr>
        <p:spPr>
          <a:xfrm>
            <a:off x="9335795" y="2852928"/>
            <a:ext cx="2124380" cy="384048"/>
          </a:xfrm>
          <a:prstGeom prst="rect">
            <a:avLst/>
          </a:prstGeom>
          <a:noFill/>
          <a:ln/>
        </p:spPr>
        <p:txBody>
          <a:bodyPr wrap="square" lIns="0" tIns="0" rIns="0" bIns="0" rtlCol="0" anchor="t"/>
          <a:lstStyle/>
          <a:p>
            <a:pPr indent="0" marL="0">
              <a:buNone/>
            </a:pPr>
            <a:r>
              <a:rPr lang="en-IE" sz="2000" b="1" dirty="0">
                <a:solidFill>
                  <a:schemeClr val="tx1"/>
                </a:solidFill>
              </a:rPr>
              <a:t>Object-oriented</a:t>
            </a:r>
            <a:endParaRPr lang="en-IE" sz="2000" dirty="0"/>
          </a:p>
        </p:txBody>
      </p:sp>
      <p:sp>
        <p:nvSpPr>
          <p:cNvPr id="27" name="Text 20"/>
          <p:cNvSpPr txBox="1"/>
          <p:nvPr/>
        </p:nvSpPr>
        <p:spPr>
          <a:xfrm>
            <a:off x="9335795" y="3310128"/>
            <a:ext cx="2078660" cy="914400"/>
          </a:xfrm>
          <a:prstGeom prst="rect">
            <a:avLst/>
          </a:prstGeom>
          <a:noFill/>
          <a:ln/>
        </p:spPr>
        <p:txBody>
          <a:bodyPr wrap="square" lIns="0" tIns="0" rIns="0" bIns="0" rtlCol="0" anchor="t"/>
          <a:lstStyle/>
          <a:p>
            <a:pPr indent="0" marL="0">
              <a:buNone/>
            </a:pPr>
            <a:r>
              <a:rPr lang="en-IE" sz="1500" dirty="0">
                <a:solidFill>
                  <a:schemeClr val="tx2"/>
                </a:solidFill>
              </a:rPr>
              <a:t>Data and functions live together in objects.</a:t>
            </a:r>
            <a:endParaRPr lang="en-IE" sz="1500" dirty="0"/>
          </a:p>
        </p:txBody>
      </p:sp>
      <p:sp>
        <p:nvSpPr>
          <p:cNvPr id="28" name="Text 21"/>
          <p:cNvSpPr txBox="1"/>
          <p:nvPr/>
        </p:nvSpPr>
        <p:spPr>
          <a:xfrm>
            <a:off x="9335795" y="4343400"/>
            <a:ext cx="2124380" cy="320040"/>
          </a:xfrm>
          <a:prstGeom prst="rect">
            <a:avLst/>
          </a:prstGeom>
          <a:noFill/>
          <a:ln/>
        </p:spPr>
        <p:txBody>
          <a:bodyPr wrap="square" lIns="0" tIns="0" rIns="0" bIns="0" rtlCol="0" anchor="t"/>
          <a:lstStyle/>
          <a:p>
            <a:pPr indent="0" marL="0">
              <a:buNone/>
            </a:pPr>
            <a:r>
              <a:rPr lang="en-IE" sz="1500" dirty="0">
                <a:solidFill>
                  <a:schemeClr val="tx2"/>
                </a:solidFill>
              </a:rPr>
              <a:t>e.g. </a:t>
            </a:r>
            <a:r>
              <a:rPr lang="en-IE" sz="1500" b="1" dirty="0">
                <a:solidFill>
                  <a:schemeClr val="accent2"/>
                </a:solidFill>
              </a:rPr>
              <a:t>Java, C#</a:t>
            </a:r>
            <a:endParaRPr lang="en-IE" sz="1500" dirty="0"/>
          </a:p>
        </p:txBody>
      </p:sp>
      <p:sp>
        <p:nvSpPr>
          <p:cNvPr id="29" name="Note"/>
          <p:cNvSpPr/>
          <p:nvPr/>
        </p:nvSpPr>
        <p:spPr>
          <a:xfrm>
            <a:off x="548640" y="5120640"/>
            <a:ext cx="11094415" cy="1005840"/>
          </a:xfrm>
          <a:prstGeom prst="roundRect">
            <a:avLst>
              <a:gd name="adj" fmla="val 10909"/>
            </a:avLst>
          </a:prstGeom>
          <a:solidFill>
            <a:schemeClr val="bg2"/>
          </a:solidFill>
          <a:ln/>
        </p:spPr>
      </p:sp>
      <p:sp>
        <p:nvSpPr>
          <p:cNvPr id="30" name="Icon tile"/>
          <p:cNvSpPr/>
          <p:nvPr/>
        </p:nvSpPr>
        <p:spPr>
          <a:xfrm>
            <a:off x="841248" y="5321808"/>
            <a:ext cx="603504" cy="603504"/>
          </a:xfrm>
          <a:prstGeom prst="roundRect">
            <a:avLst>
              <a:gd name="adj" fmla="val 24000"/>
            </a:avLst>
          </a:prstGeom>
          <a:solidFill>
            <a:schemeClr val="accent5">
              <a:alpha val="14000"/>
            </a:schemeClr>
          </a:solidFill>
          <a:ln/>
        </p:spPr>
      </p:sp>
      <p:pic>
        <p:nvPicPr>
          <p:cNvPr id="31" name="shuffle icon" descr="shuffle icon">    </p:cNvPr>
          <p:cNvPicPr>
            <a:picLocks noChangeAspect="1"/>
          </p:cNvPicPr>
          <p:nvPr/>
        </p:nvPicPr>
        <p:blipFill>
          <a:blip r:embed="rId5"/>
          <a:stretch>
            <a:fillRect/>
          </a:stretch>
        </p:blipFill>
        <p:spPr>
          <a:xfrm>
            <a:off x="967984" y="5448544"/>
            <a:ext cx="350032" cy="350032"/>
          </a:xfrm>
          <a:prstGeom prst="rect">
            <a:avLst/>
          </a:prstGeom>
        </p:spPr>
      </p:pic>
      <p:sp>
        <p:nvSpPr>
          <p:cNvPr id="32" name="Text 24"/>
          <p:cNvSpPr txBox="1"/>
          <p:nvPr/>
        </p:nvSpPr>
        <p:spPr>
          <a:xfrm>
            <a:off x="1691640" y="5166360"/>
            <a:ext cx="9692640" cy="914400"/>
          </a:xfrm>
          <a:prstGeom prst="rect">
            <a:avLst/>
          </a:prstGeom>
          <a:noFill/>
          <a:ln/>
        </p:spPr>
        <p:txBody>
          <a:bodyPr wrap="square" lIns="0" tIns="0" rIns="0" bIns="0" rtlCol="0" anchor="ctr"/>
          <a:lstStyle/>
          <a:p>
            <a:pPr indent="0" marL="0">
              <a:buNone/>
            </a:pPr>
            <a:r>
              <a:rPr lang="en-IE" sz="1800" dirty="0">
                <a:solidFill>
                  <a:schemeClr val="tx1"/>
                </a:solidFill>
              </a:rPr>
              <a:t>Most modern languages are </a:t>
            </a:r>
            <a:r>
              <a:rPr lang="en-IE" sz="1800" b="1" dirty="0">
                <a:solidFill>
                  <a:schemeClr val="tx1"/>
                </a:solidFill>
              </a:rPr>
              <a:t>multi-paradigm</a:t>
            </a:r>
            <a:r>
              <a:rPr lang="en-IE" sz="1800" dirty="0">
                <a:solidFill>
                  <a:schemeClr val="tx1"/>
                </a:solidFill>
              </a:rPr>
              <a:t>: they let you mix these styles. JavaScript, for example, supports functional code and also OOP.</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Programming paradigms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JavaScript lets you write functional code and also object-oriented code. What do we call a language like this?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Multi-paradigm</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Declarative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Procedural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Single-paradigm</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Programming paradigms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JavaScript lets you write functional code and also object-oriented code. What do we call a language like this?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Multi-paradigm</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Declarative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Procedural</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Single-paradigm</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multi-paradigm language supports more than one style. Most modern languages are like this: they include a mix of paradigms, so we can pick the style that suits the job.</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Procedural programming</a:t>
            </a:r>
            <a:endParaRPr lang="en-IE" sz="3400" dirty="0"/>
          </a:p>
        </p:txBody>
      </p:sp>
      <p:sp>
        <p:nvSpPr>
          <p:cNvPr id="5" name="Icon tile"/>
          <p:cNvSpPr/>
          <p:nvPr/>
        </p:nvSpPr>
        <p:spPr>
          <a:xfrm>
            <a:off x="548640" y="1801368"/>
            <a:ext cx="731520" cy="731520"/>
          </a:xfrm>
          <a:prstGeom prst="roundRect">
            <a:avLst>
              <a:gd name="adj" fmla="val 24000"/>
            </a:avLst>
          </a:prstGeom>
          <a:solidFill>
            <a:schemeClr val="accent1">
              <a:alpha val="14000"/>
            </a:schemeClr>
          </a:solidFill>
          <a:ln/>
        </p:spPr>
      </p:sp>
      <p:pic>
        <p:nvPicPr>
          <p:cNvPr id="6" name="cooking pot icon" descr="cooking pot icon">    </p:cNvPr>
          <p:cNvPicPr>
            <a:picLocks noChangeAspect="1"/>
          </p:cNvPicPr>
          <p:nvPr/>
        </p:nvPicPr>
        <p:blipFill>
          <a:blip r:embed="rId1"/>
          <a:stretch>
            <a:fillRect/>
          </a:stretch>
        </p:blipFill>
        <p:spPr>
          <a:xfrm>
            <a:off x="702259" y="1954987"/>
            <a:ext cx="424282" cy="424282"/>
          </a:xfrm>
          <a:prstGeom prst="rect">
            <a:avLst/>
          </a:prstGeom>
        </p:spPr>
      </p:pic>
      <p:sp>
        <p:nvSpPr>
          <p:cNvPr id="7" name="Text 3"/>
          <p:cNvSpPr txBox="1"/>
          <p:nvPr/>
        </p:nvSpPr>
        <p:spPr>
          <a:xfrm>
            <a:off x="1508760" y="1737360"/>
            <a:ext cx="4480560" cy="868680"/>
          </a:xfrm>
          <a:prstGeom prst="rect">
            <a:avLst/>
          </a:prstGeom>
          <a:noFill/>
          <a:ln/>
        </p:spPr>
        <p:txBody>
          <a:bodyPr wrap="square" lIns="0" tIns="0" rIns="0" bIns="0" rtlCol="0" anchor="ctr"/>
          <a:lstStyle/>
          <a:p>
            <a:pPr indent="0" marL="0">
              <a:buNone/>
            </a:pPr>
            <a:r>
              <a:rPr lang="en-IE" sz="1900" dirty="0">
                <a:solidFill>
                  <a:schemeClr val="tx1"/>
                </a:solidFill>
              </a:rPr>
              <a:t>The traditional style. A bit like following a recipe: step 1, then step 2, then step 3.</a:t>
            </a:r>
            <a:endParaRPr lang="en-IE" sz="1900" dirty="0"/>
          </a:p>
        </p:txBody>
      </p:sp>
      <p:sp>
        <p:nvSpPr>
          <p:cNvPr id="8" name="Text 4"/>
          <p:cNvSpPr txBox="1"/>
          <p:nvPr/>
        </p:nvSpPr>
        <p:spPr>
          <a:xfrm>
            <a:off x="548640" y="2926080"/>
            <a:ext cx="5394960" cy="17373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program is a collection of functions (procedures).</a:t>
            </a:r>
            <a:endParaRPr lang="en-IE" sz="1800" dirty="0"/>
          </a:p>
          <a:p>
            <a:pPr marL="228600" indent="-228600">
              <a:spcAft>
                <a:spcPts val="1200"/>
              </a:spcAft>
              <a:buSzPct val="100000"/>
              <a:buChar char="•"/>
            </a:pPr>
            <a:r>
              <a:rPr lang="en-IE" sz="1800" b="1" dirty="0">
                <a:solidFill>
                  <a:schemeClr val="tx1"/>
                </a:solidFill>
              </a:rPr>
              <a:t>Data and functions are kept separate.</a:t>
            </a:r>
            <a:endParaRPr lang="en-IE" sz="1800" dirty="0"/>
          </a:p>
          <a:p>
            <a:pPr marL="228600" indent="-228600">
              <a:buSzPct val="100000"/>
              <a:buChar char="•"/>
            </a:pPr>
            <a:r>
              <a:rPr lang="en-IE" sz="1800" dirty="0">
                <a:solidFill>
                  <a:schemeClr val="tx1"/>
                </a:solidFill>
              </a:rPr>
              <a:t>Often used for small programs and scripts.</a:t>
            </a:r>
            <a:endParaRPr lang="en-IE" sz="1800" dirty="0"/>
          </a:p>
        </p:txBody>
      </p:sp>
      <p:sp>
        <p:nvSpPr>
          <p:cNvPr id="9" name="Text 5"/>
          <p:cNvSpPr txBox="1"/>
          <p:nvPr/>
        </p:nvSpPr>
        <p:spPr>
          <a:xfrm>
            <a:off x="548640" y="4892040"/>
            <a:ext cx="2743200" cy="274320"/>
          </a:xfrm>
          <a:prstGeom prst="rect">
            <a:avLst/>
          </a:prstGeom>
          <a:noFill/>
          <a:ln/>
        </p:spPr>
        <p:txBody>
          <a:bodyPr wrap="square" lIns="0" tIns="0" rIns="0" bIns="0" rtlCol="0" anchor="t"/>
          <a:lstStyle/>
          <a:p>
            <a:pPr indent="0" marL="0">
              <a:buNone/>
            </a:pPr>
            <a:r>
              <a:rPr lang="en-IE" sz="1200" b="1" spc="150" kern="0" dirty="0">
                <a:solidFill>
                  <a:schemeClr val="tx2"/>
                </a:solidFill>
              </a:rPr>
              <a:t>LANGUAGES</a:t>
            </a:r>
            <a:endParaRPr lang="en-IE" sz="1200" dirty="0"/>
          </a:p>
        </p:txBody>
      </p:sp>
      <p:sp>
        <p:nvSpPr>
          <p:cNvPr id="10" name="Label"/>
          <p:cNvSpPr/>
          <p:nvPr/>
        </p:nvSpPr>
        <p:spPr>
          <a:xfrm>
            <a:off x="548640" y="5257800"/>
            <a:ext cx="560832" cy="420624"/>
          </a:xfrm>
          <a:prstGeom prst="roundRect">
            <a:avLst>
              <a:gd name="adj" fmla="val 50000"/>
            </a:avLst>
          </a:prstGeom>
          <a:solidFill>
            <a:schemeClr val="bg2"/>
          </a:solidFill>
          <a:ln/>
        </p:spPr>
        <p:txBody>
          <a:bodyPr wrap="square" lIns="0" tIns="0" rIns="0" bIns="0" rtlCol="0" anchor="ctr"/>
          <a:lstStyle/>
          <a:p>
            <a:pPr algn="ctr" indent="0" marL="0">
              <a:buNone/>
            </a:pPr>
            <a:r>
              <a:rPr lang="en-IE" sz="1600" b="1" dirty="0">
                <a:solidFill>
                  <a:schemeClr val="accent2"/>
                </a:solidFill>
              </a:rPr>
              <a:t>C</a:t>
            </a:r>
            <a:endParaRPr lang="en-IE" sz="1600" dirty="0"/>
          </a:p>
        </p:txBody>
      </p:sp>
      <p:sp>
        <p:nvSpPr>
          <p:cNvPr id="11" name="Label"/>
          <p:cNvSpPr/>
          <p:nvPr/>
        </p:nvSpPr>
        <p:spPr>
          <a:xfrm>
            <a:off x="1246632" y="5257800"/>
            <a:ext cx="1170432" cy="420624"/>
          </a:xfrm>
          <a:prstGeom prst="roundRect">
            <a:avLst>
              <a:gd name="adj" fmla="val 50000"/>
            </a:avLst>
          </a:prstGeom>
          <a:solidFill>
            <a:schemeClr val="bg2"/>
          </a:solidFill>
          <a:ln/>
        </p:spPr>
        <p:txBody>
          <a:bodyPr wrap="square" lIns="0" tIns="0" rIns="0" bIns="0" rtlCol="0" anchor="ctr"/>
          <a:lstStyle/>
          <a:p>
            <a:pPr algn="ctr" indent="0" marL="0">
              <a:buNone/>
            </a:pPr>
            <a:r>
              <a:rPr lang="en-IE" sz="1600" b="1" dirty="0">
                <a:solidFill>
                  <a:schemeClr val="accent2"/>
                </a:solidFill>
              </a:rPr>
              <a:t>Pascal</a:t>
            </a:r>
            <a:endParaRPr lang="en-IE" sz="1600" dirty="0"/>
          </a:p>
        </p:txBody>
      </p:sp>
      <p:sp>
        <p:nvSpPr>
          <p:cNvPr id="12" name="C example card"/>
          <p:cNvSpPr/>
          <p:nvPr/>
        </p:nvSpPr>
        <p:spPr>
          <a:xfrm>
            <a:off x="6355080" y="1783080"/>
            <a:ext cx="5285232" cy="3264408"/>
          </a:xfrm>
          <a:prstGeom prst="roundRect">
            <a:avLst>
              <a:gd name="adj" fmla="val 3361"/>
            </a:avLst>
          </a:prstGeom>
          <a:solidFill>
            <a:schemeClr val="tx1"/>
          </a:solidFill>
          <a:ln/>
          <a:effectLst>
            <a:outerShdw sx="100000" sy="100000" kx="0" ky="0" algn="bl" rotWithShape="0" blurRad="114300" dist="31750" dir="5400000">
              <a:srgbClr val="1D2433">
                <a:alpha val="12000"/>
              </a:srgbClr>
            </a:outerShdw>
          </a:effectLst>
        </p:spPr>
      </p:sp>
      <p:sp>
        <p:nvSpPr>
          <p:cNvPr id="13" name="C example language"/>
          <p:cNvSpPr txBox="1"/>
          <p:nvPr/>
        </p:nvSpPr>
        <p:spPr>
          <a:xfrm>
            <a:off x="6629400" y="1901952"/>
            <a:ext cx="4736592"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C</a:t>
            </a:r>
            <a:endParaRPr lang="en-IE" sz="1050" dirty="0"/>
          </a:p>
        </p:txBody>
      </p:sp>
      <p:sp>
        <p:nvSpPr>
          <p:cNvPr id="14" name="C example text"/>
          <p:cNvSpPr txBox="1"/>
          <p:nvPr/>
        </p:nvSpPr>
        <p:spPr>
          <a:xfrm>
            <a:off x="6629400" y="2276856"/>
            <a:ext cx="4736592" cy="256946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myNumbers[] = {</a:t>
            </a:r>
            <a:r>
              <a:rPr lang="en-IE" sz="1500" dirty="0">
                <a:solidFill>
                  <a:srgbClr val="F2C14E"/>
                </a:solidFill>
                <a:latin typeface="Consolas" pitchFamily="34" charset="0"/>
                <a:ea typeface="Consolas" pitchFamily="34" charset="-122"/>
                <a:cs typeface="Consolas" pitchFamily="34" charset="-120"/>
              </a:rPr>
              <a:t>25</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50</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75</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100</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printAll</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nums[],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n)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for</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i = </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 i &lt; n; i++)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printf</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"%d\n"</a:t>
            </a:r>
            <a:r>
              <a:rPr lang="en-IE" sz="1500" dirty="0">
                <a:solidFill>
                  <a:srgbClr val="E6EBF2"/>
                </a:solidFill>
                <a:latin typeface="Consolas" pitchFamily="34" charset="0"/>
                <a:ea typeface="Consolas" pitchFamily="34" charset="-122"/>
                <a:cs typeface="Consolas" pitchFamily="34" charset="-120"/>
              </a:rPr>
              <a:t>, nums[i]);</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i="1" dirty="0">
                <a:solidFill>
                  <a:srgbClr val="A3AEC2"/>
                </a:solidFill>
                <a:latin typeface="Consolas" pitchFamily="34" charset="0"/>
                <a:ea typeface="Consolas" pitchFamily="34" charset="-122"/>
                <a:cs typeface="Consolas" pitchFamily="34" charset="-120"/>
              </a:rPr>
              <a:t>// in main:</a:t>
            </a:r>
            <a:endParaRPr lang="en-IE" sz="1500" dirty="0"/>
          </a:p>
          <a:p>
            <a:pPr indent="0" marL="0">
              <a:lnSpc>
                <a:spcPts val="1980"/>
              </a:lnSpc>
              <a:buNone/>
            </a:pPr>
            <a:r>
              <a:rPr lang="en-IE" sz="1500" dirty="0">
                <a:solidFill>
                  <a:srgbClr val="C9B0FF"/>
                </a:solidFill>
                <a:latin typeface="Consolas" pitchFamily="34" charset="0"/>
                <a:ea typeface="Consolas" pitchFamily="34" charset="-122"/>
                <a:cs typeface="Consolas" pitchFamily="34" charset="-120"/>
              </a:rPr>
              <a:t>printAll</a:t>
            </a:r>
            <a:r>
              <a:rPr lang="en-IE" sz="1500" dirty="0">
                <a:solidFill>
                  <a:srgbClr val="E6EBF2"/>
                </a:solidFill>
                <a:latin typeface="Consolas" pitchFamily="34" charset="0"/>
                <a:ea typeface="Consolas" pitchFamily="34" charset="-122"/>
                <a:cs typeface="Consolas" pitchFamily="34" charset="-120"/>
              </a:rPr>
              <a:t>(myNumbers, </a:t>
            </a:r>
            <a:r>
              <a:rPr lang="en-IE" sz="1500" dirty="0">
                <a:solidFill>
                  <a:srgbClr val="F2C14E"/>
                </a:solidFill>
                <a:latin typeface="Consolas" pitchFamily="34" charset="0"/>
                <a:ea typeface="Consolas" pitchFamily="34" charset="-122"/>
                <a:cs typeface="Consolas" pitchFamily="34" charset="-120"/>
              </a:rPr>
              <a:t>4</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5" name="Text 11"/>
          <p:cNvSpPr txBox="1"/>
          <p:nvPr/>
        </p:nvSpPr>
        <p:spPr>
          <a:xfrm>
            <a:off x="6355080" y="5276088"/>
            <a:ext cx="5285232" cy="731520"/>
          </a:xfrm>
          <a:prstGeom prst="rect">
            <a:avLst/>
          </a:prstGeom>
          <a:noFill/>
          <a:ln/>
        </p:spPr>
        <p:txBody>
          <a:bodyPr wrap="square" lIns="0" tIns="0" rIns="0" bIns="0" rtlCol="0" anchor="t"/>
          <a:lstStyle/>
          <a:p>
            <a:pPr indent="0" marL="0">
              <a:buNone/>
            </a:pPr>
            <a:r>
              <a:rPr lang="en-IE" sz="1500" dirty="0">
                <a:solidFill>
                  <a:schemeClr val="tx2"/>
                </a:solidFill>
              </a:rPr>
              <a:t>The data (the array) sits on its own. The function printAll is given the data and works through it, one step at a time.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Procedural programming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procedural programming, how are data and functions organised?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are kept separate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They are stored together inside objects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Functions are written as database queries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Data is passed around as callbacks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Procedural programming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procedural programming, how are data and functions organised?</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They are kept separate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They are stored together inside objects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Functions are written as database queries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Data is passed around as callbacks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Procedural code keeps the data on one side and the functions that work on it on the other. Keeping them together inside objects (option B) is the object-oriented way.</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Functional programming</a:t>
            </a:r>
            <a:endParaRPr lang="en-IE" sz="3400" dirty="0"/>
          </a:p>
        </p:txBody>
      </p:sp>
      <p:sp>
        <p:nvSpPr>
          <p:cNvPr id="5" name="Text 2"/>
          <p:cNvSpPr txBox="1"/>
          <p:nvPr/>
        </p:nvSpPr>
        <p:spPr>
          <a:xfrm>
            <a:off x="548640" y="1783080"/>
            <a:ext cx="5623560" cy="1965960"/>
          </a:xfrm>
          <a:prstGeom prst="rect">
            <a:avLst/>
          </a:prstGeom>
          <a:noFill/>
          <a:ln/>
        </p:spPr>
        <p:txBody>
          <a:bodyPr wrap="square" lIns="0" tIns="0" rIns="0" bIns="0" rtlCol="0" anchor="t"/>
          <a:lstStyle/>
          <a:p>
            <a:pPr marL="228600" indent="-228600">
              <a:spcAft>
                <a:spcPts val="1000"/>
              </a:spcAft>
              <a:buSzPct val="100000"/>
              <a:buChar char="•"/>
            </a:pPr>
            <a:r>
              <a:rPr lang="en-IE" sz="1700" dirty="0">
                <a:solidFill>
                  <a:schemeClr val="tx1"/>
                </a:solidFill>
              </a:rPr>
              <a:t>Functions are treated like values, so we can store them and pass them around.</a:t>
            </a:r>
            <a:endParaRPr lang="en-IE" sz="1700" dirty="0"/>
          </a:p>
          <a:p>
            <a:pPr marL="228600" indent="-228600">
              <a:spcAft>
                <a:spcPts val="1000"/>
              </a:spcAft>
              <a:buSzPct val="100000"/>
              <a:buChar char="•"/>
            </a:pPr>
            <a:r>
              <a:rPr lang="en-IE" sz="1700" dirty="0">
                <a:solidFill>
                  <a:schemeClr val="tx1"/>
                </a:solidFill>
              </a:rPr>
              <a:t>A function passed to other code, so that code can call it when it needs to, is called a </a:t>
            </a:r>
            <a:r>
              <a:rPr lang="en-IE" sz="1700" b="1" dirty="0">
                <a:solidFill>
                  <a:schemeClr val="tx1"/>
                </a:solidFill>
              </a:rPr>
              <a:t>callback</a:t>
            </a:r>
            <a:r>
              <a:rPr lang="en-IE" sz="1700" dirty="0">
                <a:solidFill>
                  <a:schemeClr val="tx1"/>
                </a:solidFill>
              </a:rPr>
              <a:t>.</a:t>
            </a:r>
            <a:endParaRPr lang="en-IE" sz="1700" dirty="0"/>
          </a:p>
          <a:p>
            <a:pPr marL="228600" indent="-228600">
              <a:buSzPct val="100000"/>
              <a:buChar char="•"/>
            </a:pPr>
            <a:r>
              <a:rPr lang="en-IE" sz="1700" dirty="0">
                <a:solidFill>
                  <a:schemeClr val="tx1"/>
                </a:solidFill>
              </a:rPr>
              <a:t>Example language: JavaScript (which also allows OOP).</a:t>
            </a:r>
            <a:endParaRPr lang="en-IE" sz="1700" dirty="0"/>
          </a:p>
        </p:txBody>
      </p:sp>
      <p:sp>
        <p:nvSpPr>
          <p:cNvPr id="6" name="Card"/>
          <p:cNvSpPr/>
          <p:nvPr/>
        </p:nvSpPr>
        <p:spPr>
          <a:xfrm>
            <a:off x="6400800" y="1783080"/>
            <a:ext cx="1417320" cy="1828800"/>
          </a:xfrm>
          <a:prstGeom prst="roundRect">
            <a:avLst>
              <a:gd name="adj" fmla="val 7742"/>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6816852" y="2011680"/>
            <a:ext cx="585216" cy="585216"/>
          </a:xfrm>
          <a:prstGeom prst="roundRect">
            <a:avLst>
              <a:gd name="adj" fmla="val 24000"/>
            </a:avLst>
          </a:prstGeom>
          <a:solidFill>
            <a:schemeClr val="accent4">
              <a:alpha val="14000"/>
            </a:schemeClr>
          </a:solidFill>
          <a:ln/>
        </p:spPr>
      </p:sp>
      <p:pic>
        <p:nvPicPr>
          <p:cNvPr id="8" name="cursor click icon" descr="cursor click icon">    </p:cNvPr>
          <p:cNvPicPr>
            <a:picLocks noChangeAspect="1"/>
          </p:cNvPicPr>
          <p:nvPr/>
        </p:nvPicPr>
        <p:blipFill>
          <a:blip r:embed="rId1"/>
          <a:stretch>
            <a:fillRect/>
          </a:stretch>
        </p:blipFill>
        <p:spPr>
          <a:xfrm>
            <a:off x="6939747" y="2134575"/>
            <a:ext cx="339425" cy="339425"/>
          </a:xfrm>
          <a:prstGeom prst="rect">
            <a:avLst/>
          </a:prstGeom>
        </p:spPr>
      </p:pic>
      <p:sp>
        <p:nvSpPr>
          <p:cNvPr id="9" name="Text 5"/>
          <p:cNvSpPr txBox="1"/>
          <p:nvPr/>
        </p:nvSpPr>
        <p:spPr>
          <a:xfrm>
            <a:off x="6492240" y="2697480"/>
            <a:ext cx="1234440" cy="777240"/>
          </a:xfrm>
          <a:prstGeom prst="rect">
            <a:avLst/>
          </a:prstGeom>
          <a:noFill/>
          <a:ln/>
        </p:spPr>
        <p:txBody>
          <a:bodyPr wrap="square" lIns="0" tIns="0" rIns="0" bIns="0" rtlCol="0" anchor="t"/>
          <a:lstStyle/>
          <a:p>
            <a:pPr algn="ctr" indent="0" marL="0">
              <a:buNone/>
            </a:pPr>
            <a:r>
              <a:rPr lang="en-IE" sz="1350" b="1" dirty="0">
                <a:solidFill>
                  <a:schemeClr val="tx1"/>
                </a:solidFill>
              </a:rPr>
              <a:t>Someone clicks the button</a:t>
            </a:r>
            <a:endParaRPr lang="en-IE" sz="1350" dirty="0"/>
          </a:p>
        </p:txBody>
      </p:sp>
      <p:sp>
        <p:nvSpPr>
          <p:cNvPr id="10" name="Connector"/>
          <p:cNvSpPr/>
          <p:nvPr/>
        </p:nvSpPr>
        <p:spPr>
          <a:xfrm>
            <a:off x="7882128" y="2697480"/>
            <a:ext cx="367132" cy="0"/>
          </a:xfrm>
          <a:prstGeom prst="line">
            <a:avLst/>
          </a:prstGeom>
          <a:noFill/>
          <a:ln w="19050">
            <a:solidFill>
              <a:schemeClr val="tx2"/>
            </a:solidFill>
            <a:prstDash val="solid"/>
            <a:tailEnd type="triangle"/>
          </a:ln>
        </p:spPr>
      </p:sp>
      <p:sp>
        <p:nvSpPr>
          <p:cNvPr id="11" name="Card"/>
          <p:cNvSpPr/>
          <p:nvPr/>
        </p:nvSpPr>
        <p:spPr>
          <a:xfrm>
            <a:off x="8313268" y="1783080"/>
            <a:ext cx="1417320" cy="1828800"/>
          </a:xfrm>
          <a:prstGeom prst="roundRect">
            <a:avLst>
              <a:gd name="adj" fmla="val 7742"/>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8729320" y="2011680"/>
            <a:ext cx="585216" cy="585216"/>
          </a:xfrm>
          <a:prstGeom prst="roundRect">
            <a:avLst>
              <a:gd name="adj" fmla="val 24000"/>
            </a:avLst>
          </a:prstGeom>
          <a:solidFill>
            <a:schemeClr val="accent5">
              <a:alpha val="14000"/>
            </a:schemeClr>
          </a:solidFill>
          <a:ln/>
        </p:spPr>
      </p:sp>
      <p:pic>
        <p:nvPicPr>
          <p:cNvPr id="13" name="function icon" descr="function icon">    </p:cNvPr>
          <p:cNvPicPr>
            <a:picLocks noChangeAspect="1"/>
          </p:cNvPicPr>
          <p:nvPr/>
        </p:nvPicPr>
        <p:blipFill>
          <a:blip r:embed="rId2"/>
          <a:stretch>
            <a:fillRect/>
          </a:stretch>
        </p:blipFill>
        <p:spPr>
          <a:xfrm>
            <a:off x="8852215" y="2134575"/>
            <a:ext cx="339425" cy="339425"/>
          </a:xfrm>
          <a:prstGeom prst="rect">
            <a:avLst/>
          </a:prstGeom>
        </p:spPr>
      </p:pic>
      <p:sp>
        <p:nvSpPr>
          <p:cNvPr id="14" name="Text 9"/>
          <p:cNvSpPr txBox="1"/>
          <p:nvPr/>
        </p:nvSpPr>
        <p:spPr>
          <a:xfrm>
            <a:off x="8404708" y="2697480"/>
            <a:ext cx="1234440" cy="777240"/>
          </a:xfrm>
          <a:prstGeom prst="rect">
            <a:avLst/>
          </a:prstGeom>
          <a:noFill/>
          <a:ln/>
        </p:spPr>
        <p:txBody>
          <a:bodyPr wrap="square" lIns="0" tIns="0" rIns="0" bIns="0" rtlCol="0" anchor="t"/>
          <a:lstStyle/>
          <a:p>
            <a:pPr algn="ctr" indent="0" marL="0">
              <a:buNone/>
            </a:pPr>
            <a:r>
              <a:rPr lang="en-IE" sz="1350" b="1" dirty="0">
                <a:solidFill>
                  <a:schemeClr val="accent5"/>
                </a:solidFill>
                <a:latin typeface="Consolas" pitchFamily="34" charset="0"/>
                <a:ea typeface="Consolas" pitchFamily="34" charset="-122"/>
                <a:cs typeface="Consolas" pitchFamily="34" charset="-120"/>
              </a:rPr>
              <a:t>myFunction</a:t>
            </a:r>
            <a:r>
              <a:rPr lang="en-IE" sz="1350" b="1" dirty="0">
                <a:solidFill>
                  <a:schemeClr val="tx1"/>
                </a:solidFill>
              </a:rPr>
              <a:t> is called back</a:t>
            </a:r>
            <a:endParaRPr lang="en-IE" sz="1350" dirty="0"/>
          </a:p>
        </p:txBody>
      </p:sp>
      <p:sp>
        <p:nvSpPr>
          <p:cNvPr id="15" name="Connector"/>
          <p:cNvSpPr/>
          <p:nvPr/>
        </p:nvSpPr>
        <p:spPr>
          <a:xfrm>
            <a:off x="9794596" y="2697480"/>
            <a:ext cx="367132" cy="0"/>
          </a:xfrm>
          <a:prstGeom prst="line">
            <a:avLst/>
          </a:prstGeom>
          <a:noFill/>
          <a:ln w="19050">
            <a:solidFill>
              <a:schemeClr val="tx2"/>
            </a:solidFill>
            <a:prstDash val="solid"/>
            <a:tailEnd type="triangle"/>
          </a:ln>
        </p:spPr>
      </p:sp>
      <p:sp>
        <p:nvSpPr>
          <p:cNvPr id="16" name="Card"/>
          <p:cNvSpPr/>
          <p:nvPr/>
        </p:nvSpPr>
        <p:spPr>
          <a:xfrm>
            <a:off x="10225735" y="1783080"/>
            <a:ext cx="1417320" cy="1828800"/>
          </a:xfrm>
          <a:prstGeom prst="roundRect">
            <a:avLst>
              <a:gd name="adj" fmla="val 7742"/>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10641787" y="2011680"/>
            <a:ext cx="585216" cy="585216"/>
          </a:xfrm>
          <a:prstGeom prst="roundRect">
            <a:avLst>
              <a:gd name="adj" fmla="val 24000"/>
            </a:avLst>
          </a:prstGeom>
          <a:solidFill>
            <a:schemeClr val="accent3">
              <a:alpha val="14000"/>
            </a:schemeClr>
          </a:solidFill>
          <a:ln/>
        </p:spPr>
      </p:sp>
      <p:pic>
        <p:nvPicPr>
          <p:cNvPr id="18" name="text aa icon" descr="text aa icon">    </p:cNvPr>
          <p:cNvPicPr>
            <a:picLocks noChangeAspect="1"/>
          </p:cNvPicPr>
          <p:nvPr/>
        </p:nvPicPr>
        <p:blipFill>
          <a:blip r:embed="rId3"/>
          <a:stretch>
            <a:fillRect/>
          </a:stretch>
        </p:blipFill>
        <p:spPr>
          <a:xfrm>
            <a:off x="10764683" y="2134575"/>
            <a:ext cx="339425" cy="339425"/>
          </a:xfrm>
          <a:prstGeom prst="rect">
            <a:avLst/>
          </a:prstGeom>
        </p:spPr>
      </p:pic>
      <p:sp>
        <p:nvSpPr>
          <p:cNvPr id="19" name="Text 13"/>
          <p:cNvSpPr txBox="1"/>
          <p:nvPr/>
        </p:nvSpPr>
        <p:spPr>
          <a:xfrm>
            <a:off x="10317175" y="2697480"/>
            <a:ext cx="1234440" cy="777240"/>
          </a:xfrm>
          <a:prstGeom prst="rect">
            <a:avLst/>
          </a:prstGeom>
          <a:noFill/>
          <a:ln/>
        </p:spPr>
        <p:txBody>
          <a:bodyPr wrap="square" lIns="0" tIns="0" rIns="0" bIns="0" rtlCol="0" anchor="t"/>
          <a:lstStyle/>
          <a:p>
            <a:pPr algn="ctr" indent="0" marL="0">
              <a:buNone/>
            </a:pPr>
            <a:r>
              <a:rPr lang="en-IE" sz="1350" b="1" dirty="0">
                <a:solidFill>
                  <a:schemeClr val="tx1"/>
                </a:solidFill>
              </a:rPr>
              <a:t>The paragraph text changes</a:t>
            </a:r>
            <a:endParaRPr lang="en-IE" sz="1350" dirty="0"/>
          </a:p>
        </p:txBody>
      </p:sp>
      <p:sp>
        <p:nvSpPr>
          <p:cNvPr id="20" name="JavaScript example card"/>
          <p:cNvSpPr/>
          <p:nvPr/>
        </p:nvSpPr>
        <p:spPr>
          <a:xfrm>
            <a:off x="548640" y="3931920"/>
            <a:ext cx="11094415" cy="2324608"/>
          </a:xfrm>
          <a:prstGeom prst="roundRect">
            <a:avLst>
              <a:gd name="adj" fmla="val 4720"/>
            </a:avLst>
          </a:prstGeom>
          <a:solidFill>
            <a:schemeClr val="tx1"/>
          </a:solidFill>
          <a:ln/>
          <a:effectLst>
            <a:outerShdw sx="100000" sy="100000" kx="0" ky="0" algn="bl" rotWithShape="0" blurRad="114300" dist="31750" dir="5400000">
              <a:srgbClr val="1D2433">
                <a:alpha val="12000"/>
              </a:srgbClr>
            </a:outerShdw>
          </a:effectLst>
        </p:spPr>
      </p:sp>
      <p:sp>
        <p:nvSpPr>
          <p:cNvPr id="21" name="JavaScript example language"/>
          <p:cNvSpPr txBox="1"/>
          <p:nvPr/>
        </p:nvSpPr>
        <p:spPr>
          <a:xfrm>
            <a:off x="822960" y="4050792"/>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HTML + JavaScript</a:t>
            </a:r>
            <a:endParaRPr lang="en-IE" sz="1050" dirty="0"/>
          </a:p>
        </p:txBody>
      </p:sp>
      <p:sp>
        <p:nvSpPr>
          <p:cNvPr id="22" name="JavaScript example text"/>
          <p:cNvSpPr txBox="1"/>
          <p:nvPr/>
        </p:nvSpPr>
        <p:spPr>
          <a:xfrm>
            <a:off x="822960" y="4425696"/>
            <a:ext cx="10545775" cy="1629664"/>
          </a:xfrm>
          <a:prstGeom prst="rect">
            <a:avLst/>
          </a:prstGeom>
          <a:noFill/>
          <a:ln/>
        </p:spPr>
        <p:txBody>
          <a:bodyPr wrap="square" lIns="0" tIns="0" rIns="0" bIns="0" rtlCol="0" anchor="t"/>
          <a:lstStyle/>
          <a:p>
            <a:pPr indent="0" marL="0">
              <a:lnSpc>
                <a:spcPts val="1550"/>
              </a:lnSpc>
              <a:buNone/>
            </a:pPr>
            <a:r>
              <a:rPr lang="en-IE" sz="1300" dirty="0">
                <a:solidFill>
                  <a:srgbClr val="FF9F5A"/>
                </a:solidFill>
                <a:latin typeface="Consolas" pitchFamily="34" charset="0"/>
                <a:ea typeface="Consolas" pitchFamily="34" charset="-122"/>
                <a:cs typeface="Consolas" pitchFamily="34" charset="-120"/>
              </a:rPr>
              <a:t>&lt;p</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id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"demo"</a:t>
            </a:r>
            <a:r>
              <a:rPr lang="en-IE" sz="1300" dirty="0">
                <a:solidFill>
                  <a:srgbClr val="E6EBF2"/>
                </a:solidFill>
                <a:latin typeface="Consolas" pitchFamily="34" charset="0"/>
                <a:ea typeface="Consolas" pitchFamily="34" charset="-122"/>
                <a:cs typeface="Consolas" pitchFamily="34" charset="-120"/>
              </a:rPr>
              <a:t>&gt;Hello!</a:t>
            </a:r>
            <a:r>
              <a:rPr lang="en-IE" sz="1300" dirty="0">
                <a:solidFill>
                  <a:srgbClr val="FF9F5A"/>
                </a:solidFill>
                <a:latin typeface="Consolas" pitchFamily="34" charset="0"/>
                <a:ea typeface="Consolas" pitchFamily="34" charset="-122"/>
                <a:cs typeface="Consolas" pitchFamily="34" charset="-120"/>
              </a:rPr>
              <a:t>&lt;/p&gt;</a:t>
            </a:r>
            <a:endParaRPr lang="en-IE" sz="1300" dirty="0"/>
          </a:p>
          <a:p>
            <a:pPr indent="0" marL="0">
              <a:lnSpc>
                <a:spcPts val="1550"/>
              </a:lnSpc>
              <a:buNone/>
            </a:pPr>
            <a:r>
              <a:rPr lang="en-IE" sz="1300" dirty="0">
                <a:solidFill>
                  <a:srgbClr val="FF9F5A"/>
                </a:solidFill>
                <a:latin typeface="Consolas" pitchFamily="34" charset="0"/>
                <a:ea typeface="Consolas" pitchFamily="34" charset="-122"/>
                <a:cs typeface="Consolas" pitchFamily="34" charset="-120"/>
              </a:rPr>
              <a:t>&lt;button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id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"btn"</a:t>
            </a:r>
            <a:r>
              <a:rPr lang="en-IE" sz="1300" dirty="0">
                <a:solidFill>
                  <a:srgbClr val="E6EBF2"/>
                </a:solidFill>
                <a:latin typeface="Consolas" pitchFamily="34" charset="0"/>
                <a:ea typeface="Consolas" pitchFamily="34" charset="-122"/>
                <a:cs typeface="Consolas" pitchFamily="34" charset="-120"/>
              </a:rPr>
              <a:t>&gt;Try it</a:t>
            </a:r>
            <a:r>
              <a:rPr lang="en-IE" sz="1300" dirty="0">
                <a:solidFill>
                  <a:srgbClr val="FF9F5A"/>
                </a:solidFill>
                <a:latin typeface="Consolas" pitchFamily="34" charset="0"/>
                <a:ea typeface="Consolas" pitchFamily="34" charset="-122"/>
                <a:cs typeface="Consolas" pitchFamily="34" charset="-120"/>
              </a:rPr>
              <a:t>&lt;/button&gt;</a:t>
            </a:r>
            <a:endParaRPr lang="en-IE" sz="1300" dirty="0"/>
          </a:p>
          <a:p>
            <a:pPr indent="0" marL="0">
              <a:lnSpc>
                <a:spcPts val="1550"/>
              </a:lnSpc>
              <a:buNone/>
            </a:pPr>
            <a:r>
              <a:rPr lang="en-IE" sz="1300" dirty="0">
                <a:solidFill>
                  <a:srgbClr val="FF9F5A"/>
                </a:solidFill>
                <a:latin typeface="Consolas" pitchFamily="34" charset="0"/>
                <a:ea typeface="Consolas" pitchFamily="34" charset="-122"/>
                <a:cs typeface="Consolas" pitchFamily="34" charset="-120"/>
              </a:rPr>
              <a:t>&lt;script&gt;</a:t>
            </a:r>
            <a:endParaRPr lang="en-IE" sz="1300" dirty="0"/>
          </a:p>
          <a:p>
            <a:pPr indent="0" marL="0">
              <a:lnSpc>
                <a:spcPts val="1550"/>
              </a:lnSpc>
              <a:buNone/>
            </a:pPr>
            <a:r>
              <a:rPr lang="en-IE" sz="1300" dirty="0">
                <a:solidFill>
                  <a:srgbClr val="FF9F5A"/>
                </a:solidFill>
                <a:latin typeface="Consolas" pitchFamily="34" charset="0"/>
                <a:ea typeface="Consolas" pitchFamily="34" charset="-122"/>
                <a:cs typeface="Consolas" pitchFamily="34" charset="-120"/>
              </a:rPr>
              <a:t>function</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myFunction</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50"/>
              </a:lnSpc>
              <a:buNone/>
            </a:pPr>
            <a:r>
              <a:rPr lang="en-IE" sz="1300" dirty="0">
                <a:solidFill>
                  <a:srgbClr val="E6EBF2"/>
                </a:solidFill>
                <a:latin typeface="Consolas" pitchFamily="34" charset="0"/>
                <a:ea typeface="Consolas" pitchFamily="34" charset="-122"/>
                <a:cs typeface="Consolas" pitchFamily="34" charset="-120"/>
              </a:rPr>
              <a:t>  document.</a:t>
            </a:r>
            <a:r>
              <a:rPr lang="en-IE" sz="1300" dirty="0">
                <a:solidFill>
                  <a:srgbClr val="C9B0FF"/>
                </a:solidFill>
                <a:latin typeface="Consolas" pitchFamily="34" charset="0"/>
                <a:ea typeface="Consolas" pitchFamily="34" charset="-122"/>
                <a:cs typeface="Consolas" pitchFamily="34" charset="-120"/>
              </a:rPr>
              <a:t>getElementById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"demo"</a:t>
            </a:r>
            <a:r>
              <a:rPr lang="en-IE" sz="1300" dirty="0">
                <a:solidFill>
                  <a:srgbClr val="E6EBF2"/>
                </a:solidFill>
                <a:latin typeface="Consolas" pitchFamily="34" charset="0"/>
                <a:ea typeface="Consolas" pitchFamily="34" charset="-122"/>
                <a:cs typeface="Consolas" pitchFamily="34" charset="-120"/>
              </a:rPr>
              <a:t>).innerHTML = </a:t>
            </a:r>
            <a:r>
              <a:rPr lang="en-IE" sz="1300" dirty="0">
                <a:solidFill>
                  <a:srgbClr val="A9DB8C"/>
                </a:solidFill>
                <a:latin typeface="Consolas" pitchFamily="34" charset="0"/>
                <a:ea typeface="Consolas" pitchFamily="34" charset="-122"/>
                <a:cs typeface="Consolas" pitchFamily="34" charset="-120"/>
              </a:rPr>
              <a:t>"Paragraph changed."</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55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550"/>
              </a:lnSpc>
              <a:buNone/>
            </a:pPr>
            <a:r>
              <a:rPr lang="en-IE" sz="1300" dirty="0">
                <a:solidFill>
                  <a:srgbClr val="E6EBF2"/>
                </a:solidFill>
                <a:latin typeface="Consolas" pitchFamily="34" charset="0"/>
                <a:ea typeface="Consolas" pitchFamily="34" charset="-122"/>
                <a:cs typeface="Consolas" pitchFamily="34" charset="-120"/>
              </a:rPr>
              <a:t>document.</a:t>
            </a:r>
            <a:r>
              <a:rPr lang="en-IE" sz="1300" dirty="0">
                <a:solidFill>
                  <a:srgbClr val="C9B0FF"/>
                </a:solidFill>
                <a:latin typeface="Consolas" pitchFamily="34" charset="0"/>
                <a:ea typeface="Consolas" pitchFamily="34" charset="-122"/>
                <a:cs typeface="Consolas" pitchFamily="34" charset="-120"/>
              </a:rPr>
              <a:t>getElementById</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"btn"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C9B0FF"/>
                </a:solidFill>
                <a:latin typeface="Consolas" pitchFamily="34" charset="0"/>
                <a:ea typeface="Consolas" pitchFamily="34" charset="-122"/>
                <a:cs typeface="Consolas" pitchFamily="34" charset="-120"/>
              </a:rPr>
              <a:t>addEventListener</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"click"</a:t>
            </a:r>
            <a:r>
              <a:rPr lang="en-IE" sz="1300" dirty="0">
                <a:solidFill>
                  <a:srgbClr val="E6EBF2"/>
                </a:solidFill>
                <a:latin typeface="Consolas" pitchFamily="34" charset="0"/>
                <a:ea typeface="Consolas" pitchFamily="34" charset="-122"/>
                <a:cs typeface="Consolas" pitchFamily="34" charset="-120"/>
              </a:rPr>
              <a:t>, myFunction);</a:t>
            </a:r>
            <a:endParaRPr lang="en-IE" sz="1300" dirty="0"/>
          </a:p>
          <a:p>
            <a:pPr indent="0" marL="0">
              <a:lnSpc>
                <a:spcPts val="1550"/>
              </a:lnSpc>
              <a:buNone/>
            </a:pPr>
            <a:r>
              <a:rPr lang="en-IE" sz="1300" dirty="0">
                <a:solidFill>
                  <a:srgbClr val="FF9F5A"/>
                </a:solidFill>
                <a:latin typeface="Consolas" pitchFamily="34" charset="0"/>
                <a:ea typeface="Consolas" pitchFamily="34" charset="-122"/>
                <a:cs typeface="Consolas" pitchFamily="34" charset="-120"/>
              </a:rPr>
              <a:t>&lt;/script&gt;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Functional programming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function is handed to a button and only runs later, when someone clicks. What do we call this function?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constructor</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callback</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 attribute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query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Functional programming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function is handed to a button and only runs later, when someone clicks. What do we call this function?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constructor</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callback</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An attribute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query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It is “called back” later, when the click happens. Treating functions like values, and passing them to other code, is a key idea in functional programming.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Declarative programming</a:t>
            </a:r>
            <a:endParaRPr lang="en-IE" sz="3400" dirty="0"/>
          </a:p>
        </p:txBody>
      </p:sp>
      <p:sp>
        <p:nvSpPr>
          <p:cNvPr id="5" name="Analogy"/>
          <p:cNvSpPr/>
          <p:nvPr/>
        </p:nvSpPr>
        <p:spPr>
          <a:xfrm>
            <a:off x="548640" y="1783080"/>
            <a:ext cx="5486400" cy="2011680"/>
          </a:xfrm>
          <a:prstGeom prst="roundRect">
            <a:avLst>
              <a:gd name="adj" fmla="val 5455"/>
            </a:avLst>
          </a:prstGeom>
          <a:solidFill>
            <a:schemeClr val="bg2"/>
          </a:solidFill>
          <a:ln/>
        </p:spPr>
      </p:sp>
      <p:sp>
        <p:nvSpPr>
          <p:cNvPr id="6" name="Icon tile"/>
          <p:cNvSpPr/>
          <p:nvPr/>
        </p:nvSpPr>
        <p:spPr>
          <a:xfrm>
            <a:off x="841248" y="2404872"/>
            <a:ext cx="777240" cy="777240"/>
          </a:xfrm>
          <a:prstGeom prst="roundRect">
            <a:avLst>
              <a:gd name="adj" fmla="val 24000"/>
            </a:avLst>
          </a:prstGeom>
          <a:solidFill>
            <a:schemeClr val="accent1">
              <a:alpha val="14000"/>
            </a:schemeClr>
          </a:solidFill>
          <a:ln/>
        </p:spPr>
      </p:sp>
      <p:pic>
        <p:nvPicPr>
          <p:cNvPr id="7" name="fork knife icon" descr="fork knife icon">    </p:cNvPr>
          <p:cNvPicPr>
            <a:picLocks noChangeAspect="1"/>
          </p:cNvPicPr>
          <p:nvPr/>
        </p:nvPicPr>
        <p:blipFill>
          <a:blip r:embed="rId1"/>
          <a:stretch>
            <a:fillRect/>
          </a:stretch>
        </p:blipFill>
        <p:spPr>
          <a:xfrm>
            <a:off x="1004468" y="2568092"/>
            <a:ext cx="450799" cy="450799"/>
          </a:xfrm>
          <a:prstGeom prst="rect">
            <a:avLst/>
          </a:prstGeom>
        </p:spPr>
      </p:pic>
      <p:sp>
        <p:nvSpPr>
          <p:cNvPr id="8" name="Text 4"/>
          <p:cNvSpPr txBox="1"/>
          <p:nvPr/>
        </p:nvSpPr>
        <p:spPr>
          <a:xfrm>
            <a:off x="1874520" y="1920240"/>
            <a:ext cx="3931920" cy="1737360"/>
          </a:xfrm>
          <a:prstGeom prst="rect">
            <a:avLst/>
          </a:prstGeom>
          <a:noFill/>
          <a:ln/>
        </p:spPr>
        <p:txBody>
          <a:bodyPr wrap="square" lIns="0" tIns="0" rIns="0" bIns="0" rtlCol="0" anchor="ctr"/>
          <a:lstStyle/>
          <a:p>
            <a:pPr indent="0" marL="0">
              <a:buNone/>
            </a:pPr>
            <a:r>
              <a:rPr lang="en-IE" sz="1800" b="1" dirty="0">
                <a:solidFill>
                  <a:schemeClr val="tx1"/>
                </a:solidFill>
              </a:rPr>
              <a:t>Like ordering in a restaurant.</a:t>
            </a:r>
            <a:r>
              <a:rPr lang="en-IE" sz="1800" dirty="0">
                <a:solidFill>
                  <a:schemeClr val="tx1"/>
                </a:solidFill>
              </a:rPr>
              <a:t> You say what you want: “one pizza, please”. The kitchen decides how to make it.</a:t>
            </a:r>
            <a:endParaRPr lang="en-IE" sz="1800" dirty="0"/>
          </a:p>
        </p:txBody>
      </p:sp>
      <p:sp>
        <p:nvSpPr>
          <p:cNvPr id="9" name="Text 5"/>
          <p:cNvSpPr txBox="1"/>
          <p:nvPr/>
        </p:nvSpPr>
        <p:spPr>
          <a:xfrm>
            <a:off x="548640" y="4114800"/>
            <a:ext cx="5486400" cy="192024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Focused on the outcome, not the steps.</a:t>
            </a:r>
            <a:endParaRPr lang="en-IE" sz="1800" dirty="0"/>
          </a:p>
          <a:p>
            <a:pPr marL="228600" indent="-228600">
              <a:spcAft>
                <a:spcPts val="1200"/>
              </a:spcAft>
              <a:buSzPct val="100000"/>
              <a:buChar char="•"/>
            </a:pPr>
            <a:r>
              <a:rPr lang="en-IE" sz="1800" dirty="0">
                <a:solidFill>
                  <a:schemeClr val="tx1"/>
                </a:solidFill>
              </a:rPr>
              <a:t>Uses high-level queries instead of step-by-step instructions.</a:t>
            </a:r>
            <a:endParaRPr lang="en-IE" sz="1800" dirty="0"/>
          </a:p>
          <a:p>
            <a:pPr marL="228600" indent="-228600">
              <a:buSzPct val="100000"/>
              <a:buChar char="•"/>
            </a:pPr>
            <a:r>
              <a:rPr lang="en-IE" sz="1800" dirty="0">
                <a:solidFill>
                  <a:schemeClr val="tx1"/>
                </a:solidFill>
              </a:rPr>
              <a:t>Example language: </a:t>
            </a:r>
            <a:r>
              <a:rPr lang="en-IE" sz="1800" b="1" dirty="0">
                <a:solidFill>
                  <a:schemeClr val="tx1"/>
                </a:solidFill>
              </a:rPr>
              <a:t>SQL</a:t>
            </a:r>
            <a:endParaRPr lang="en-IE" sz="1800" dirty="0"/>
          </a:p>
        </p:txBody>
      </p:sp>
      <p:sp>
        <p:nvSpPr>
          <p:cNvPr id="10" name="SQL example card"/>
          <p:cNvSpPr/>
          <p:nvPr/>
        </p:nvSpPr>
        <p:spPr>
          <a:xfrm>
            <a:off x="6355080" y="1783080"/>
            <a:ext cx="5285232" cy="1553718"/>
          </a:xfrm>
          <a:prstGeom prst="roundRect">
            <a:avLst>
              <a:gd name="adj" fmla="val 7062"/>
            </a:avLst>
          </a:prstGeom>
          <a:solidFill>
            <a:schemeClr val="tx1"/>
          </a:solidFill>
          <a:ln/>
          <a:effectLst>
            <a:outerShdw sx="100000" sy="100000" kx="0" ky="0" algn="bl" rotWithShape="0" blurRad="114300" dist="31750" dir="5400000">
              <a:srgbClr val="1D2433">
                <a:alpha val="12000"/>
              </a:srgbClr>
            </a:outerShdw>
          </a:effectLst>
        </p:spPr>
      </p:sp>
      <p:sp>
        <p:nvSpPr>
          <p:cNvPr id="11" name="SQL example language"/>
          <p:cNvSpPr txBox="1"/>
          <p:nvPr/>
        </p:nvSpPr>
        <p:spPr>
          <a:xfrm>
            <a:off x="6629400" y="1901952"/>
            <a:ext cx="4736592"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SQL</a:t>
            </a:r>
            <a:endParaRPr lang="en-IE" sz="1050" dirty="0"/>
          </a:p>
        </p:txBody>
      </p:sp>
      <p:sp>
        <p:nvSpPr>
          <p:cNvPr id="12" name="SQL example text"/>
          <p:cNvSpPr txBox="1"/>
          <p:nvPr/>
        </p:nvSpPr>
        <p:spPr>
          <a:xfrm>
            <a:off x="6629400" y="2276856"/>
            <a:ext cx="4736592" cy="85877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SELECT</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COUNT</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FF9F5A"/>
                </a:solidFill>
                <a:latin typeface="Consolas" pitchFamily="34" charset="0"/>
                <a:ea typeface="Consolas" pitchFamily="34" charset="-122"/>
                <a:cs typeface="Consolas" pitchFamily="34" charset="-120"/>
              </a:rPr>
              <a:t>DISTINCT</a:t>
            </a:r>
            <a:r>
              <a:rPr lang="en-IE" sz="1600" dirty="0">
                <a:solidFill>
                  <a:srgbClr val="E6EBF2"/>
                </a:solidFill>
                <a:latin typeface="Consolas" pitchFamily="34" charset="0"/>
                <a:ea typeface="Consolas" pitchFamily="34" charset="-122"/>
                <a:cs typeface="Consolas" pitchFamily="34" charset="-120"/>
              </a:rPr>
              <a:t> Country)</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AS</a:t>
            </a:r>
            <a:r>
              <a:rPr lang="en-IE" sz="1600" dirty="0">
                <a:solidFill>
                  <a:srgbClr val="E6EBF2"/>
                </a:solidFill>
                <a:latin typeface="Consolas" pitchFamily="34" charset="0"/>
                <a:ea typeface="Consolas" pitchFamily="34" charset="-122"/>
                <a:cs typeface="Consolas" pitchFamily="34" charset="-120"/>
              </a:rPr>
              <a:t> DistinctCountries</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FROM</a:t>
            </a:r>
            <a:r>
              <a:rPr lang="en-IE" sz="1600" dirty="0">
                <a:solidFill>
                  <a:srgbClr val="E6EBF2"/>
                </a:solidFill>
                <a:latin typeface="Consolas" pitchFamily="34" charset="0"/>
                <a:ea typeface="Consolas" pitchFamily="34" charset="-122"/>
                <a:cs typeface="Consolas" pitchFamily="34" charset="-120"/>
              </a:rPr>
              <a:t> Customers;</a:t>
            </a:r>
            <a:endParaRPr lang="en-IE" sz="1600" dirty="0"/>
          </a:p>
        </p:txBody>
      </p:sp>
      <p:sp>
        <p:nvSpPr>
          <p:cNvPr id="13" name="What/How box"/>
          <p:cNvSpPr/>
          <p:nvPr/>
        </p:nvSpPr>
        <p:spPr>
          <a:xfrm>
            <a:off x="6355080" y="3611118"/>
            <a:ext cx="2528316" cy="1097280"/>
          </a:xfrm>
          <a:prstGeom prst="roundRect">
            <a:avLst>
              <a:gd name="adj" fmla="val 10000"/>
            </a:avLst>
          </a:prstGeom>
          <a:solidFill>
            <a:schemeClr val="accent1">
              <a:alpha val="12000"/>
            </a:schemeClr>
          </a:solidFill>
          <a:ln/>
        </p:spPr>
      </p:sp>
      <p:sp>
        <p:nvSpPr>
          <p:cNvPr id="14" name="Text 10"/>
          <p:cNvSpPr txBox="1"/>
          <p:nvPr/>
        </p:nvSpPr>
        <p:spPr>
          <a:xfrm>
            <a:off x="6583680" y="3775710"/>
            <a:ext cx="2071116" cy="320040"/>
          </a:xfrm>
          <a:prstGeom prst="rect">
            <a:avLst/>
          </a:prstGeom>
          <a:noFill/>
          <a:ln/>
        </p:spPr>
        <p:txBody>
          <a:bodyPr wrap="square" lIns="0" tIns="0" rIns="0" bIns="0" rtlCol="0" anchor="t"/>
          <a:lstStyle/>
          <a:p>
            <a:pPr indent="0" marL="0">
              <a:buNone/>
            </a:pPr>
            <a:r>
              <a:rPr lang="en-IE" sz="1400" dirty="0">
                <a:solidFill>
                  <a:schemeClr val="tx2"/>
                </a:solidFill>
              </a:rPr>
              <a:t>We write</a:t>
            </a:r>
            <a:endParaRPr lang="en-IE" sz="1400" dirty="0"/>
          </a:p>
        </p:txBody>
      </p:sp>
      <p:sp>
        <p:nvSpPr>
          <p:cNvPr id="15" name="Text 11"/>
          <p:cNvSpPr txBox="1"/>
          <p:nvPr/>
        </p:nvSpPr>
        <p:spPr>
          <a:xfrm>
            <a:off x="6583680" y="4114038"/>
            <a:ext cx="2071116" cy="411480"/>
          </a:xfrm>
          <a:prstGeom prst="rect">
            <a:avLst/>
          </a:prstGeom>
          <a:noFill/>
          <a:ln/>
        </p:spPr>
        <p:txBody>
          <a:bodyPr wrap="square" lIns="0" tIns="0" rIns="0" bIns="0" rtlCol="0" anchor="t"/>
          <a:lstStyle/>
          <a:p>
            <a:pPr indent="0" marL="0">
              <a:buNone/>
            </a:pPr>
            <a:r>
              <a:rPr lang="en-IE" sz="2000" b="1" dirty="0">
                <a:solidFill>
                  <a:schemeClr val="tx1"/>
                </a:solidFill>
              </a:rPr>
              <a:t>WHAT we want</a:t>
            </a:r>
            <a:endParaRPr lang="en-IE" sz="2000" dirty="0"/>
          </a:p>
        </p:txBody>
      </p:sp>
      <p:sp>
        <p:nvSpPr>
          <p:cNvPr id="16" name="What/How box"/>
          <p:cNvSpPr/>
          <p:nvPr/>
        </p:nvSpPr>
        <p:spPr>
          <a:xfrm>
            <a:off x="9111996" y="3611118"/>
            <a:ext cx="2528316" cy="1097280"/>
          </a:xfrm>
          <a:prstGeom prst="roundRect">
            <a:avLst>
              <a:gd name="adj" fmla="val 10000"/>
            </a:avLst>
          </a:prstGeom>
          <a:solidFill>
            <a:schemeClr val="accent4">
              <a:alpha val="12000"/>
            </a:schemeClr>
          </a:solidFill>
          <a:ln/>
        </p:spPr>
      </p:sp>
      <p:sp>
        <p:nvSpPr>
          <p:cNvPr id="17" name="Text 13"/>
          <p:cNvSpPr txBox="1"/>
          <p:nvPr/>
        </p:nvSpPr>
        <p:spPr>
          <a:xfrm>
            <a:off x="9340596" y="3775710"/>
            <a:ext cx="2071116" cy="320040"/>
          </a:xfrm>
          <a:prstGeom prst="rect">
            <a:avLst/>
          </a:prstGeom>
          <a:noFill/>
          <a:ln/>
        </p:spPr>
        <p:txBody>
          <a:bodyPr wrap="square" lIns="0" tIns="0" rIns="0" bIns="0" rtlCol="0" anchor="t"/>
          <a:lstStyle/>
          <a:p>
            <a:pPr indent="0" marL="0">
              <a:buNone/>
            </a:pPr>
            <a:r>
              <a:rPr lang="en-IE" sz="1400" dirty="0">
                <a:solidFill>
                  <a:schemeClr val="tx2"/>
                </a:solidFill>
              </a:rPr>
              <a:t>The database works out</a:t>
            </a:r>
            <a:endParaRPr lang="en-IE" sz="1400" dirty="0"/>
          </a:p>
        </p:txBody>
      </p:sp>
      <p:sp>
        <p:nvSpPr>
          <p:cNvPr id="18" name="Text 14"/>
          <p:cNvSpPr txBox="1"/>
          <p:nvPr/>
        </p:nvSpPr>
        <p:spPr>
          <a:xfrm>
            <a:off x="9340596" y="4114038"/>
            <a:ext cx="2071116" cy="411480"/>
          </a:xfrm>
          <a:prstGeom prst="rect">
            <a:avLst/>
          </a:prstGeom>
          <a:noFill/>
          <a:ln/>
        </p:spPr>
        <p:txBody>
          <a:bodyPr wrap="square" lIns="0" tIns="0" rIns="0" bIns="0" rtlCol="0" anchor="t"/>
          <a:lstStyle/>
          <a:p>
            <a:pPr indent="0" marL="0">
              <a:buNone/>
            </a:pPr>
            <a:r>
              <a:rPr lang="en-IE" sz="2000" b="1" dirty="0">
                <a:solidFill>
                  <a:schemeClr val="tx1"/>
                </a:solidFill>
              </a:rPr>
              <a:t>HOW to get it</a:t>
            </a:r>
            <a:endParaRPr lang="en-IE" sz="2000" dirty="0"/>
          </a:p>
        </p:txBody>
      </p:sp>
      <p:sp>
        <p:nvSpPr>
          <p:cNvPr id="19" name="Text 15"/>
          <p:cNvSpPr txBox="1"/>
          <p:nvPr/>
        </p:nvSpPr>
        <p:spPr>
          <a:xfrm>
            <a:off x="6355080" y="4891278"/>
            <a:ext cx="5285232" cy="822960"/>
          </a:xfrm>
          <a:prstGeom prst="rect">
            <a:avLst/>
          </a:prstGeom>
          <a:noFill/>
          <a:ln/>
        </p:spPr>
        <p:txBody>
          <a:bodyPr wrap="square" lIns="0" tIns="0" rIns="0" bIns="0" rtlCol="0" anchor="t"/>
          <a:lstStyle/>
          <a:p>
            <a:pPr indent="0" marL="0">
              <a:buNone/>
            </a:pPr>
            <a:r>
              <a:rPr lang="en-IE" sz="1500" dirty="0">
                <a:solidFill>
                  <a:schemeClr val="tx2"/>
                </a:solidFill>
              </a:rPr>
              <a:t>This asks: “how many different countries do our customers come from?” It never says how to search the table.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Declarative programming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sentence best describes declarative programming?</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You write every step in order, like a recipe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You pass functions to other code as arguments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You build the program from objects and classes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You say what you want, not how to get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Declarative programming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sentence best describes declarative programming?</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You write every step in order, like a recipe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You pass functions to other code as arguments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You build the program from objects and classes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You say what you want, not how to get it</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Declarative code, like an SQL query, states the outcome and lets the system work out the steps. The other options describe the other three paradigms: A is procedural, B is functional and C is object-oriented.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Object-oriented programming (OOP)</a:t>
            </a:r>
            <a:endParaRPr lang="en-IE" sz="3400" dirty="0"/>
          </a:p>
        </p:txBody>
      </p:sp>
      <p:sp>
        <p:nvSpPr>
          <p:cNvPr id="5" name="Text 2"/>
          <p:cNvSpPr txBox="1"/>
          <p:nvPr/>
        </p:nvSpPr>
        <p:spPr>
          <a:xfrm>
            <a:off x="548640" y="1783080"/>
            <a:ext cx="539496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Data and functions are stored together, inside classes.</a:t>
            </a:r>
            <a:endParaRPr lang="en-IE" sz="1800" dirty="0"/>
          </a:p>
          <a:p>
            <a:pPr marL="228600" indent="-228600">
              <a:spcAft>
                <a:spcPts val="1400"/>
              </a:spcAft>
              <a:buSzPct val="100000"/>
              <a:buChar char="•"/>
            </a:pPr>
            <a:r>
              <a:rPr lang="en-IE" sz="1800" dirty="0">
                <a:solidFill>
                  <a:schemeClr val="tx1"/>
                </a:solidFill>
              </a:rPr>
              <a:t>Inside a class, the data is stored as </a:t>
            </a:r>
            <a:r>
              <a:rPr lang="en-IE" sz="1800" b="1" dirty="0">
                <a:solidFill>
                  <a:schemeClr val="tx1"/>
                </a:solidFill>
              </a:rPr>
              <a:t>attributes</a:t>
            </a:r>
            <a:r>
              <a:rPr lang="en-IE" sz="1800" dirty="0">
                <a:solidFill>
                  <a:schemeClr val="tx1"/>
                </a:solidFill>
              </a:rPr>
              <a:t> and the functions as </a:t>
            </a:r>
            <a:r>
              <a:rPr lang="en-IE" sz="1800" b="1" dirty="0">
                <a:solidFill>
                  <a:schemeClr val="tx1"/>
                </a:solidFill>
              </a:rPr>
              <a:t>methods</a:t>
            </a:r>
            <a:r>
              <a:rPr lang="en-IE" sz="1800" dirty="0">
                <a:solidFill>
                  <a:schemeClr val="tx1"/>
                </a:solidFill>
              </a:rPr>
              <a:t>.</a:t>
            </a:r>
            <a:endParaRPr lang="en-IE" sz="1800" dirty="0"/>
          </a:p>
          <a:p>
            <a:pPr marL="228600" indent="-228600">
              <a:spcAft>
                <a:spcPts val="1400"/>
              </a:spcAft>
              <a:buSzPct val="100000"/>
              <a:buChar char="•"/>
            </a:pPr>
            <a:r>
              <a:rPr lang="en-IE" sz="1800" dirty="0">
                <a:solidFill>
                  <a:schemeClr val="tx1"/>
                </a:solidFill>
              </a:rPr>
              <a:t>A program is a collection of separate objects. Each one holds (</a:t>
            </a:r>
            <a:r>
              <a:rPr lang="en-IE" sz="1800" b="1" dirty="0">
                <a:solidFill>
                  <a:schemeClr val="tx1"/>
                </a:solidFill>
              </a:rPr>
              <a:t>encapsulates</a:t>
            </a:r>
            <a:r>
              <a:rPr lang="en-IE" sz="1800" dirty="0">
                <a:solidFill>
                  <a:schemeClr val="tx1"/>
                </a:solidFill>
              </a:rPr>
              <a:t>) its own data, together with the behaviour that works on it.</a:t>
            </a:r>
            <a:endParaRPr lang="en-IE" sz="1800" dirty="0"/>
          </a:p>
          <a:p>
            <a:pPr marL="228600" indent="-228600">
              <a:buSzPct val="100000"/>
              <a:buChar char="•"/>
            </a:pPr>
            <a:r>
              <a:rPr lang="en-IE" sz="1800" dirty="0">
                <a:solidFill>
                  <a:schemeClr val="tx1"/>
                </a:solidFill>
              </a:rPr>
              <a:t>Example languages: </a:t>
            </a:r>
            <a:r>
              <a:rPr lang="en-IE" sz="1800" b="1" dirty="0">
                <a:solidFill>
                  <a:schemeClr val="tx1"/>
                </a:solidFill>
              </a:rPr>
              <a:t>Java</a:t>
            </a:r>
            <a:r>
              <a:rPr lang="en-IE" sz="1800" dirty="0">
                <a:solidFill>
                  <a:schemeClr val="tx1"/>
                </a:solidFill>
              </a:rPr>
              <a:t>, </a:t>
            </a:r>
            <a:r>
              <a:rPr lang="en-IE" sz="1800" b="1" dirty="0">
                <a:solidFill>
                  <a:schemeClr val="tx1"/>
                </a:solidFill>
              </a:rPr>
              <a:t>C#</a:t>
            </a:r>
            <a:endParaRPr lang="en-IE" sz="1800" dirty="0"/>
          </a:p>
        </p:txBody>
      </p:sp>
      <p:sp>
        <p:nvSpPr>
          <p:cNvPr id="6" name="Object diagram"/>
          <p:cNvSpPr/>
          <p:nvPr/>
        </p:nvSpPr>
        <p:spPr>
          <a:xfrm>
            <a:off x="6355080" y="1783080"/>
            <a:ext cx="5285232" cy="1737360"/>
          </a:xfrm>
          <a:prstGeom prst="roundRect">
            <a:avLst>
              <a:gd name="adj" fmla="val 6316"/>
            </a:avLst>
          </a:prstGeom>
          <a:solidFill>
            <a:schemeClr val="bg1"/>
          </a:solidFill>
          <a:ln w="19050">
            <a:solidFill>
              <a:schemeClr val="accent2"/>
            </a:solidFill>
            <a:prstDash val="solid"/>
          </a:ln>
          <a:effectLst>
            <a:outerShdw sx="100000" sy="100000" kx="0" ky="0" algn="bl" rotWithShape="0" blurRad="114300" dist="31750" dir="5400000">
              <a:srgbClr val="1D2433">
                <a:alpha val="12000"/>
              </a:srgbClr>
            </a:outerShdw>
          </a:effectLst>
        </p:spPr>
      </p:sp>
      <p:sp>
        <p:nvSpPr>
          <p:cNvPr id="7" name="Text 4"/>
          <p:cNvSpPr txBox="1"/>
          <p:nvPr/>
        </p:nvSpPr>
        <p:spPr>
          <a:xfrm>
            <a:off x="6629400" y="1911096"/>
            <a:ext cx="3657600" cy="329184"/>
          </a:xfrm>
          <a:prstGeom prst="rect">
            <a:avLst/>
          </a:prstGeom>
          <a:noFill/>
          <a:ln/>
        </p:spPr>
        <p:txBody>
          <a:bodyPr wrap="square" lIns="0" tIns="0" rIns="0" bIns="0" rtlCol="0" anchor="ctr"/>
          <a:lstStyle/>
          <a:p>
            <a:pPr indent="0" marL="0">
              <a:buNone/>
            </a:pPr>
            <a:r>
              <a:rPr lang="en-IE" sz="1600" b="1" dirty="0">
                <a:solidFill>
                  <a:schemeClr val="accent2"/>
                </a:solidFill>
              </a:rPr>
              <a:t>Inside the Animal class</a:t>
            </a:r>
            <a:endParaRPr lang="en-IE" sz="1600" dirty="0"/>
          </a:p>
        </p:txBody>
      </p:sp>
      <p:sp>
        <p:nvSpPr>
          <p:cNvPr id="8" name="Data (attributes)"/>
          <p:cNvSpPr/>
          <p:nvPr/>
        </p:nvSpPr>
        <p:spPr>
          <a:xfrm>
            <a:off x="6583680" y="2313432"/>
            <a:ext cx="4828032" cy="493776"/>
          </a:xfrm>
          <a:prstGeom prst="roundRect">
            <a:avLst>
              <a:gd name="adj" fmla="val 18519"/>
            </a:avLst>
          </a:prstGeom>
          <a:solidFill>
            <a:schemeClr val="accent1">
              <a:alpha val="13000"/>
            </a:schemeClr>
          </a:solidFill>
          <a:ln/>
        </p:spPr>
      </p:sp>
      <p:sp>
        <p:nvSpPr>
          <p:cNvPr id="9" name="Text 6"/>
          <p:cNvSpPr txBox="1"/>
          <p:nvPr/>
        </p:nvSpPr>
        <p:spPr>
          <a:xfrm>
            <a:off x="6739128" y="2313432"/>
            <a:ext cx="1783080" cy="493776"/>
          </a:xfrm>
          <a:prstGeom prst="rect">
            <a:avLst/>
          </a:prstGeom>
          <a:noFill/>
          <a:ln/>
        </p:spPr>
        <p:txBody>
          <a:bodyPr wrap="square" lIns="0" tIns="0" rIns="0" bIns="0" rtlCol="0" anchor="ctr"/>
          <a:lstStyle/>
          <a:p>
            <a:pPr indent="0" marL="0">
              <a:buNone/>
            </a:pPr>
            <a:r>
              <a:rPr lang="en-IE" sz="1300" b="1" dirty="0">
                <a:solidFill>
                  <a:schemeClr val="tx1"/>
                </a:solidFill>
              </a:rPr>
              <a:t>Data (attributes)</a:t>
            </a:r>
            <a:endParaRPr lang="en-IE" sz="1300" dirty="0"/>
          </a:p>
        </p:txBody>
      </p:sp>
      <p:sp>
        <p:nvSpPr>
          <p:cNvPr id="10" name="Code chip"/>
          <p:cNvSpPr/>
          <p:nvPr/>
        </p:nvSpPr>
        <p:spPr>
          <a:xfrm>
            <a:off x="8595360" y="2386584"/>
            <a:ext cx="594741" cy="347472"/>
          </a:xfrm>
          <a:prstGeom prst="roundRect">
            <a:avLst>
              <a:gd name="adj" fmla="val 21053"/>
            </a:avLst>
          </a:prstGeom>
          <a:solidFill>
            <a:schemeClr val="bg1"/>
          </a:solidFill>
          <a:ln/>
        </p:spPr>
        <p:txBody>
          <a:bodyPr wrap="square" lIns="0" tIns="0" rIns="0" bIns="0" rtlCol="0" anchor="ctr"/>
          <a:lstStyle/>
          <a:p>
            <a:pPr algn="ctr" indent="0" marL="0">
              <a:buNone/>
            </a:pPr>
            <a:r>
              <a:rPr lang="en-IE" sz="1300" dirty="0">
                <a:solidFill>
                  <a:schemeClr val="accent2"/>
                </a:solidFill>
                <a:latin typeface="Consolas" pitchFamily="34" charset="0"/>
                <a:ea typeface="Consolas" pitchFamily="34" charset="-122"/>
                <a:cs typeface="Consolas" pitchFamily="34" charset="-120"/>
              </a:rPr>
              <a:t>age</a:t>
            </a:r>
            <a:endParaRPr lang="en-IE" sz="1300" dirty="0"/>
          </a:p>
        </p:txBody>
      </p:sp>
      <p:sp>
        <p:nvSpPr>
          <p:cNvPr id="11" name="Code chip"/>
          <p:cNvSpPr/>
          <p:nvPr/>
        </p:nvSpPr>
        <p:spPr>
          <a:xfrm>
            <a:off x="9281541" y="2386584"/>
            <a:ext cx="896874" cy="347472"/>
          </a:xfrm>
          <a:prstGeom prst="roundRect">
            <a:avLst>
              <a:gd name="adj" fmla="val 21053"/>
            </a:avLst>
          </a:prstGeom>
          <a:solidFill>
            <a:schemeClr val="bg1"/>
          </a:solidFill>
          <a:ln/>
        </p:spPr>
        <p:txBody>
          <a:bodyPr wrap="square" lIns="0" tIns="0" rIns="0" bIns="0" rtlCol="0" anchor="ctr"/>
          <a:lstStyle/>
          <a:p>
            <a:pPr algn="ctr" indent="0" marL="0">
              <a:buNone/>
            </a:pPr>
            <a:r>
              <a:rPr lang="en-IE" sz="1300" dirty="0">
                <a:solidFill>
                  <a:schemeClr val="accent2"/>
                </a:solidFill>
                <a:latin typeface="Consolas" pitchFamily="34" charset="0"/>
                <a:ea typeface="Consolas" pitchFamily="34" charset="-122"/>
                <a:cs typeface="Consolas" pitchFamily="34" charset="-120"/>
              </a:rPr>
              <a:t>gender</a:t>
            </a:r>
            <a:endParaRPr lang="en-IE" sz="1300" dirty="0"/>
          </a:p>
        </p:txBody>
      </p:sp>
      <p:sp>
        <p:nvSpPr>
          <p:cNvPr id="12" name="Behaviour (methods)"/>
          <p:cNvSpPr/>
          <p:nvPr/>
        </p:nvSpPr>
        <p:spPr>
          <a:xfrm>
            <a:off x="6583680" y="2880360"/>
            <a:ext cx="4828032" cy="493776"/>
          </a:xfrm>
          <a:prstGeom prst="roundRect">
            <a:avLst>
              <a:gd name="adj" fmla="val 18519"/>
            </a:avLst>
          </a:prstGeom>
          <a:solidFill>
            <a:schemeClr val="accent4">
              <a:alpha val="13000"/>
            </a:schemeClr>
          </a:solidFill>
          <a:ln/>
        </p:spPr>
      </p:sp>
      <p:sp>
        <p:nvSpPr>
          <p:cNvPr id="13" name="Text 10"/>
          <p:cNvSpPr txBox="1"/>
          <p:nvPr/>
        </p:nvSpPr>
        <p:spPr>
          <a:xfrm>
            <a:off x="6739128" y="2880360"/>
            <a:ext cx="1783080" cy="493776"/>
          </a:xfrm>
          <a:prstGeom prst="rect">
            <a:avLst/>
          </a:prstGeom>
          <a:noFill/>
          <a:ln/>
        </p:spPr>
        <p:txBody>
          <a:bodyPr wrap="square" lIns="0" tIns="0" rIns="0" bIns="0" rtlCol="0" anchor="ctr"/>
          <a:lstStyle/>
          <a:p>
            <a:pPr indent="0" marL="0">
              <a:buNone/>
            </a:pPr>
            <a:r>
              <a:rPr lang="en-IE" sz="1300" b="1" dirty="0">
                <a:solidFill>
                  <a:schemeClr val="tx1"/>
                </a:solidFill>
              </a:rPr>
              <a:t>Behaviour (methods)</a:t>
            </a:r>
            <a:endParaRPr lang="en-IE" sz="1300" dirty="0"/>
          </a:p>
        </p:txBody>
      </p:sp>
      <p:sp>
        <p:nvSpPr>
          <p:cNvPr id="14" name="Code chip"/>
          <p:cNvSpPr/>
          <p:nvPr/>
        </p:nvSpPr>
        <p:spPr>
          <a:xfrm>
            <a:off x="8595360" y="2953512"/>
            <a:ext cx="997585" cy="347472"/>
          </a:xfrm>
          <a:prstGeom prst="roundRect">
            <a:avLst>
              <a:gd name="adj" fmla="val 21053"/>
            </a:avLst>
          </a:prstGeom>
          <a:solidFill>
            <a:schemeClr val="bg1"/>
          </a:solidFill>
          <a:ln/>
        </p:spPr>
        <p:txBody>
          <a:bodyPr wrap="square" lIns="0" tIns="0" rIns="0" bIns="0" rtlCol="0" anchor="ctr"/>
          <a:lstStyle/>
          <a:p>
            <a:pPr algn="ctr" indent="0" marL="0">
              <a:buNone/>
            </a:pPr>
            <a:r>
              <a:rPr lang="en-IE" sz="1300" dirty="0">
                <a:solidFill>
                  <a:schemeClr val="accent2"/>
                </a:solidFill>
                <a:latin typeface="Consolas" pitchFamily="34" charset="0"/>
                <a:ea typeface="Consolas" pitchFamily="34" charset="-122"/>
                <a:cs typeface="Consolas" pitchFamily="34" charset="-120"/>
              </a:rPr>
              <a:t>sleep()</a:t>
            </a:r>
            <a:endParaRPr lang="en-IE" sz="1300" dirty="0"/>
          </a:p>
        </p:txBody>
      </p:sp>
      <p:sp>
        <p:nvSpPr>
          <p:cNvPr id="15" name="Animal class card"/>
          <p:cNvSpPr/>
          <p:nvPr/>
        </p:nvSpPr>
        <p:spPr>
          <a:xfrm>
            <a:off x="6355080" y="3703320"/>
            <a:ext cx="5285232" cy="2426208"/>
          </a:xfrm>
          <a:prstGeom prst="roundRect">
            <a:avLst>
              <a:gd name="adj" fmla="val 4523"/>
            </a:avLst>
          </a:prstGeom>
          <a:solidFill>
            <a:schemeClr val="tx1"/>
          </a:solidFill>
          <a:ln/>
          <a:effectLst>
            <a:outerShdw sx="100000" sy="100000" kx="0" ky="0" algn="bl" rotWithShape="0" blurRad="114300" dist="31750" dir="5400000">
              <a:srgbClr val="1D2433">
                <a:alpha val="12000"/>
              </a:srgbClr>
            </a:outerShdw>
          </a:effectLst>
        </p:spPr>
      </p:sp>
      <p:sp>
        <p:nvSpPr>
          <p:cNvPr id="16" name="Animal class language"/>
          <p:cNvSpPr txBox="1"/>
          <p:nvPr/>
        </p:nvSpPr>
        <p:spPr>
          <a:xfrm>
            <a:off x="6629400" y="3822192"/>
            <a:ext cx="4736592"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7" name="Animal class text"/>
          <p:cNvSpPr txBox="1"/>
          <p:nvPr/>
        </p:nvSpPr>
        <p:spPr>
          <a:xfrm>
            <a:off x="6629400" y="4197096"/>
            <a:ext cx="4736592" cy="1731264"/>
          </a:xfrm>
          <a:prstGeom prst="rect">
            <a:avLst/>
          </a:prstGeom>
          <a:noFill/>
          <a:ln/>
        </p:spPr>
        <p:txBody>
          <a:bodyPr wrap="square" lIns="0" tIns="0" rIns="0" bIns="0" rtlCol="0" anchor="t"/>
          <a:lstStyle/>
          <a:p>
            <a:pPr indent="0" marL="0">
              <a:lnSpc>
                <a:spcPts val="1650"/>
              </a:lnSpc>
              <a:buNone/>
            </a:pP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Animal</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age;               </a:t>
            </a:r>
            <a:r>
              <a:rPr lang="en-IE" sz="1300" i="1" dirty="0">
                <a:solidFill>
                  <a:srgbClr val="A3AEC2"/>
                </a:solidFill>
                <a:latin typeface="Consolas" pitchFamily="34" charset="0"/>
                <a:ea typeface="Consolas" pitchFamily="34" charset="-122"/>
                <a:cs typeface="Consolas" pitchFamily="34" charset="-120"/>
              </a:rPr>
              <a:t>// data</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gender;</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sleep</a:t>
            </a:r>
            <a:r>
              <a:rPr lang="en-IE" sz="1300" dirty="0">
                <a:solidFill>
                  <a:srgbClr val="E6EBF2"/>
                </a:solidFill>
                <a:latin typeface="Consolas" pitchFamily="34" charset="0"/>
                <a:ea typeface="Consolas" pitchFamily="34" charset="-122"/>
                <a:cs typeface="Consolas" pitchFamily="34" charset="-120"/>
              </a:rPr>
              <a:t>() {  </a:t>
            </a:r>
            <a:r>
              <a:rPr lang="en-IE" sz="1300" i="1" dirty="0">
                <a:solidFill>
                  <a:srgbClr val="A3AEC2"/>
                </a:solidFill>
                <a:latin typeface="Consolas" pitchFamily="34" charset="0"/>
                <a:ea typeface="Consolas" pitchFamily="34" charset="-122"/>
                <a:cs typeface="Consolas" pitchFamily="34" charset="-120"/>
              </a:rPr>
              <a:t>// behaviour</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A9DB8C"/>
                </a:solidFill>
                <a:latin typeface="Consolas" pitchFamily="34" charset="0"/>
                <a:ea typeface="Consolas" pitchFamily="34" charset="-122"/>
                <a:cs typeface="Consolas" pitchFamily="34" charset="-120"/>
              </a:rPr>
              <a:t>"Zzz"</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65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19</a:t>
            </a:fld>
            <a:endParaRPr lang="en-I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approach</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the main difference between OOP and procedural programming?</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OOP programs cannot use any functions at all</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OOP can only be used for small, simple scripts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OOP keeps data and functions together in objects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OOP describes the result instead of the steps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approach</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the main difference between OOP and procedural programming?</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OOP programs cannot use any functions at all</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OOP can only be used for small, simple scripts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OOP keeps data and functions together in objects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OOP describes the result instead of the steps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In OOP, each object keeps its data (attributes) together with the behaviour (methods) that works on it. Procedural code keeps the two apart. Option D describes declarative programming.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Objects look after themselves</a:t>
            </a:r>
            <a:endParaRPr lang="en-IE" sz="3400" dirty="0"/>
          </a:p>
        </p:txBody>
      </p:sp>
      <p:sp>
        <p:nvSpPr>
          <p:cNvPr id="5" name="Text 2"/>
          <p:cNvSpPr txBox="1"/>
          <p:nvPr/>
        </p:nvSpPr>
        <p:spPr>
          <a:xfrm>
            <a:off x="548640" y="1737360"/>
            <a:ext cx="5760720" cy="1143000"/>
          </a:xfrm>
          <a:prstGeom prst="rect">
            <a:avLst/>
          </a:prstGeom>
          <a:noFill/>
          <a:ln/>
        </p:spPr>
        <p:txBody>
          <a:bodyPr wrap="square" lIns="0" tIns="0" rIns="0" bIns="0" rtlCol="0" anchor="t"/>
          <a:lstStyle/>
          <a:p>
            <a:pPr indent="0" marL="0">
              <a:buNone/>
            </a:pPr>
            <a:r>
              <a:rPr lang="en-IE" sz="1900" dirty="0">
                <a:solidFill>
                  <a:schemeClr val="tx1"/>
                </a:solidFill>
              </a:rPr>
              <a:t>Each object has attributes and methods, and objects are grouped into classes. </a:t>
            </a:r>
            <a:r>
              <a:rPr lang="en-IE" sz="1900" b="1" dirty="0">
                <a:solidFill>
                  <a:schemeClr val="tx1"/>
                </a:solidFill>
              </a:rPr>
              <a:t>Every object is responsible for itself.</a:t>
            </a:r>
            <a:endParaRPr lang="en-IE" sz="1900" dirty="0"/>
          </a:p>
        </p:txBody>
      </p:sp>
      <p:sp>
        <p:nvSpPr>
          <p:cNvPr id="6" name="Text 3"/>
          <p:cNvSpPr txBox="1"/>
          <p:nvPr/>
        </p:nvSpPr>
        <p:spPr>
          <a:xfrm>
            <a:off x="548640" y="2971800"/>
            <a:ext cx="5760720" cy="365760"/>
          </a:xfrm>
          <a:prstGeom prst="rect">
            <a:avLst/>
          </a:prstGeom>
          <a:noFill/>
          <a:ln/>
        </p:spPr>
        <p:txBody>
          <a:bodyPr wrap="square" lIns="0" tIns="0" rIns="0" bIns="0" rtlCol="0" anchor="t"/>
          <a:lstStyle/>
          <a:p>
            <a:pPr indent="0" marL="0">
              <a:buNone/>
            </a:pPr>
            <a:r>
              <a:rPr lang="en-IE" sz="1600" dirty="0">
                <a:solidFill>
                  <a:schemeClr val="tx2"/>
                </a:solidFill>
              </a:rPr>
              <a:t>So we can build software from self-contained pieces that are easy to:</a:t>
            </a:r>
            <a:endParaRPr lang="en-IE" sz="1600" dirty="0"/>
          </a:p>
        </p:txBody>
      </p:sp>
      <p:sp>
        <p:nvSpPr>
          <p:cNvPr id="7" name="Icon tile"/>
          <p:cNvSpPr/>
          <p:nvPr/>
        </p:nvSpPr>
        <p:spPr>
          <a:xfrm>
            <a:off x="548640" y="3520440"/>
            <a:ext cx="640080" cy="640080"/>
          </a:xfrm>
          <a:prstGeom prst="roundRect">
            <a:avLst>
              <a:gd name="adj" fmla="val 24000"/>
            </a:avLst>
          </a:prstGeom>
          <a:solidFill>
            <a:schemeClr val="accent1">
              <a:alpha val="14000"/>
            </a:schemeClr>
          </a:solidFill>
          <a:ln/>
        </p:spPr>
      </p:sp>
      <p:pic>
        <p:nvPicPr>
          <p:cNvPr id="8" name="swap icon" descr="swap icon">    </p:cNvPr>
          <p:cNvPicPr>
            <a:picLocks noChangeAspect="1"/>
          </p:cNvPicPr>
          <p:nvPr/>
        </p:nvPicPr>
        <p:blipFill>
          <a:blip r:embed="rId1"/>
          <a:stretch>
            <a:fillRect/>
          </a:stretch>
        </p:blipFill>
        <p:spPr>
          <a:xfrm>
            <a:off x="683057" y="3654857"/>
            <a:ext cx="371246" cy="371246"/>
          </a:xfrm>
          <a:prstGeom prst="rect">
            <a:avLst/>
          </a:prstGeom>
        </p:spPr>
      </p:pic>
      <p:sp>
        <p:nvSpPr>
          <p:cNvPr id="9" name="Text 5"/>
          <p:cNvSpPr txBox="1"/>
          <p:nvPr/>
        </p:nvSpPr>
        <p:spPr>
          <a:xfrm>
            <a:off x="1371600" y="3493008"/>
            <a:ext cx="4846320" cy="329184"/>
          </a:xfrm>
          <a:prstGeom prst="rect">
            <a:avLst/>
          </a:prstGeom>
          <a:noFill/>
          <a:ln/>
        </p:spPr>
        <p:txBody>
          <a:bodyPr wrap="square" lIns="0" tIns="0" rIns="0" bIns="0" rtlCol="0" anchor="t"/>
          <a:lstStyle/>
          <a:p>
            <a:pPr indent="0" marL="0">
              <a:buNone/>
            </a:pPr>
            <a:r>
              <a:rPr lang="en-IE" sz="1900" b="1" dirty="0">
                <a:solidFill>
                  <a:schemeClr val="tx1"/>
                </a:solidFill>
              </a:rPr>
              <a:t>Replace</a:t>
            </a:r>
            <a:endParaRPr lang="en-IE" sz="1900" dirty="0"/>
          </a:p>
        </p:txBody>
      </p:sp>
      <p:sp>
        <p:nvSpPr>
          <p:cNvPr id="10" name="Text 6"/>
          <p:cNvSpPr txBox="1"/>
          <p:nvPr/>
        </p:nvSpPr>
        <p:spPr>
          <a:xfrm>
            <a:off x="1371600" y="3831336"/>
            <a:ext cx="4846320" cy="329184"/>
          </a:xfrm>
          <a:prstGeom prst="rect">
            <a:avLst/>
          </a:prstGeom>
          <a:noFill/>
          <a:ln/>
        </p:spPr>
        <p:txBody>
          <a:bodyPr wrap="square" lIns="0" tIns="0" rIns="0" bIns="0" rtlCol="0" anchor="t"/>
          <a:lstStyle/>
          <a:p>
            <a:pPr indent="0" marL="0">
              <a:buNone/>
            </a:pPr>
            <a:r>
              <a:rPr lang="en-IE" sz="1500" dirty="0">
                <a:solidFill>
                  <a:schemeClr val="tx2"/>
                </a:solidFill>
              </a:rPr>
              <a:t>Swap one piece for a better version.</a:t>
            </a:r>
            <a:endParaRPr lang="en-IE" sz="1500" dirty="0"/>
          </a:p>
        </p:txBody>
      </p:sp>
      <p:sp>
        <p:nvSpPr>
          <p:cNvPr id="11" name="Icon tile"/>
          <p:cNvSpPr/>
          <p:nvPr/>
        </p:nvSpPr>
        <p:spPr>
          <a:xfrm>
            <a:off x="548640" y="4389120"/>
            <a:ext cx="640080" cy="640080"/>
          </a:xfrm>
          <a:prstGeom prst="roundRect">
            <a:avLst>
              <a:gd name="adj" fmla="val 24000"/>
            </a:avLst>
          </a:prstGeom>
          <a:solidFill>
            <a:schemeClr val="accent4">
              <a:alpha val="14000"/>
            </a:schemeClr>
          </a:solidFill>
          <a:ln/>
        </p:spPr>
      </p:sp>
      <p:pic>
        <p:nvPicPr>
          <p:cNvPr id="12" name="wrench icon" descr="wrench icon">    </p:cNvPr>
          <p:cNvPicPr>
            <a:picLocks noChangeAspect="1"/>
          </p:cNvPicPr>
          <p:nvPr/>
        </p:nvPicPr>
        <p:blipFill>
          <a:blip r:embed="rId2"/>
          <a:stretch>
            <a:fillRect/>
          </a:stretch>
        </p:blipFill>
        <p:spPr>
          <a:xfrm>
            <a:off x="683057" y="4523537"/>
            <a:ext cx="371246" cy="371246"/>
          </a:xfrm>
          <a:prstGeom prst="rect">
            <a:avLst/>
          </a:prstGeom>
        </p:spPr>
      </p:pic>
      <p:sp>
        <p:nvSpPr>
          <p:cNvPr id="13" name="Text 8"/>
          <p:cNvSpPr txBox="1"/>
          <p:nvPr/>
        </p:nvSpPr>
        <p:spPr>
          <a:xfrm>
            <a:off x="1371600" y="4361688"/>
            <a:ext cx="4846320" cy="329184"/>
          </a:xfrm>
          <a:prstGeom prst="rect">
            <a:avLst/>
          </a:prstGeom>
          <a:noFill/>
          <a:ln/>
        </p:spPr>
        <p:txBody>
          <a:bodyPr wrap="square" lIns="0" tIns="0" rIns="0" bIns="0" rtlCol="0" anchor="t"/>
          <a:lstStyle/>
          <a:p>
            <a:pPr indent="0" marL="0">
              <a:buNone/>
            </a:pPr>
            <a:r>
              <a:rPr lang="en-IE" sz="1900" b="1" dirty="0">
                <a:solidFill>
                  <a:schemeClr val="tx1"/>
                </a:solidFill>
              </a:rPr>
              <a:t>Modify</a:t>
            </a:r>
            <a:endParaRPr lang="en-IE" sz="1900" dirty="0"/>
          </a:p>
        </p:txBody>
      </p:sp>
      <p:sp>
        <p:nvSpPr>
          <p:cNvPr id="14" name="Text 9"/>
          <p:cNvSpPr txBox="1"/>
          <p:nvPr/>
        </p:nvSpPr>
        <p:spPr>
          <a:xfrm>
            <a:off x="1371600" y="4700016"/>
            <a:ext cx="4846320" cy="329184"/>
          </a:xfrm>
          <a:prstGeom prst="rect">
            <a:avLst/>
          </a:prstGeom>
          <a:noFill/>
          <a:ln/>
        </p:spPr>
        <p:txBody>
          <a:bodyPr wrap="square" lIns="0" tIns="0" rIns="0" bIns="0" rtlCol="0" anchor="t"/>
          <a:lstStyle/>
          <a:p>
            <a:pPr indent="0" marL="0">
              <a:buNone/>
            </a:pPr>
            <a:r>
              <a:rPr lang="en-IE" sz="1500" dirty="0">
                <a:solidFill>
                  <a:schemeClr val="tx2"/>
                </a:solidFill>
              </a:rPr>
              <a:t>Change one piece; the rest carry on as before.</a:t>
            </a:r>
            <a:endParaRPr lang="en-IE" sz="1500" dirty="0"/>
          </a:p>
        </p:txBody>
      </p:sp>
      <p:sp>
        <p:nvSpPr>
          <p:cNvPr id="15" name="Icon tile"/>
          <p:cNvSpPr/>
          <p:nvPr/>
        </p:nvSpPr>
        <p:spPr>
          <a:xfrm>
            <a:off x="548640" y="5257800"/>
            <a:ext cx="640080" cy="640080"/>
          </a:xfrm>
          <a:prstGeom prst="roundRect">
            <a:avLst>
              <a:gd name="adj" fmla="val 24000"/>
            </a:avLst>
          </a:prstGeom>
          <a:solidFill>
            <a:schemeClr val="accent3">
              <a:alpha val="14000"/>
            </a:schemeClr>
          </a:solidFill>
          <a:ln/>
        </p:spPr>
      </p:sp>
      <p:pic>
        <p:nvPicPr>
          <p:cNvPr id="16" name="recycle icon" descr="recycle icon">    </p:cNvPr>
          <p:cNvPicPr>
            <a:picLocks noChangeAspect="1"/>
          </p:cNvPicPr>
          <p:nvPr/>
        </p:nvPicPr>
        <p:blipFill>
          <a:blip r:embed="rId3"/>
          <a:stretch>
            <a:fillRect/>
          </a:stretch>
        </p:blipFill>
        <p:spPr>
          <a:xfrm>
            <a:off x="683057" y="5392217"/>
            <a:ext cx="371246" cy="371246"/>
          </a:xfrm>
          <a:prstGeom prst="rect">
            <a:avLst/>
          </a:prstGeom>
        </p:spPr>
      </p:pic>
      <p:sp>
        <p:nvSpPr>
          <p:cNvPr id="17" name="Text 11"/>
          <p:cNvSpPr txBox="1"/>
          <p:nvPr/>
        </p:nvSpPr>
        <p:spPr>
          <a:xfrm>
            <a:off x="1371600" y="5230368"/>
            <a:ext cx="4846320" cy="329184"/>
          </a:xfrm>
          <a:prstGeom prst="rect">
            <a:avLst/>
          </a:prstGeom>
          <a:noFill/>
          <a:ln/>
        </p:spPr>
        <p:txBody>
          <a:bodyPr wrap="square" lIns="0" tIns="0" rIns="0" bIns="0" rtlCol="0" anchor="t"/>
          <a:lstStyle/>
          <a:p>
            <a:pPr indent="0" marL="0">
              <a:buNone/>
            </a:pPr>
            <a:r>
              <a:rPr lang="en-IE" sz="1900" b="1" dirty="0">
                <a:solidFill>
                  <a:schemeClr val="tx1"/>
                </a:solidFill>
              </a:rPr>
              <a:t>Reuse</a:t>
            </a:r>
            <a:endParaRPr lang="en-IE" sz="1900" dirty="0"/>
          </a:p>
        </p:txBody>
      </p:sp>
      <p:sp>
        <p:nvSpPr>
          <p:cNvPr id="18" name="Text 12"/>
          <p:cNvSpPr txBox="1"/>
          <p:nvPr/>
        </p:nvSpPr>
        <p:spPr>
          <a:xfrm>
            <a:off x="1371600" y="5568696"/>
            <a:ext cx="4846320" cy="329184"/>
          </a:xfrm>
          <a:prstGeom prst="rect">
            <a:avLst/>
          </a:prstGeom>
          <a:noFill/>
          <a:ln/>
        </p:spPr>
        <p:txBody>
          <a:bodyPr wrap="square" lIns="0" tIns="0" rIns="0" bIns="0" rtlCol="0" anchor="t"/>
          <a:lstStyle/>
          <a:p>
            <a:pPr indent="0" marL="0">
              <a:buNone/>
            </a:pPr>
            <a:r>
              <a:rPr lang="en-IE" sz="1500" dirty="0">
                <a:solidFill>
                  <a:schemeClr val="tx2"/>
                </a:solidFill>
              </a:rPr>
              <a:t>Use the same class again, here or in the next program.</a:t>
            </a:r>
            <a:endParaRPr lang="en-IE" sz="1500" dirty="0"/>
          </a:p>
        </p:txBody>
      </p:sp>
      <p:sp>
        <p:nvSpPr>
          <p:cNvPr id="19" name="Program frame"/>
          <p:cNvSpPr/>
          <p:nvPr/>
        </p:nvSpPr>
        <p:spPr>
          <a:xfrm>
            <a:off x="6812280" y="1783080"/>
            <a:ext cx="4830775" cy="2880360"/>
          </a:xfrm>
          <a:prstGeom prst="roundRect">
            <a:avLst>
              <a:gd name="adj" fmla="val 4762"/>
            </a:avLst>
          </a:prstGeom>
          <a:solidFill>
            <a:schemeClr val="bg2"/>
          </a:solidFill>
          <a:ln w="15875">
            <a:solidFill>
              <a:schemeClr val="accent2"/>
            </a:solidFill>
            <a:prstDash val="dash"/>
          </a:ln>
        </p:spPr>
      </p:sp>
      <p:sp>
        <p:nvSpPr>
          <p:cNvPr id="20" name="Text 14"/>
          <p:cNvSpPr txBox="1"/>
          <p:nvPr/>
        </p:nvSpPr>
        <p:spPr>
          <a:xfrm>
            <a:off x="7040880" y="1911096"/>
            <a:ext cx="2743200" cy="274320"/>
          </a:xfrm>
          <a:prstGeom prst="rect">
            <a:avLst/>
          </a:prstGeom>
          <a:noFill/>
          <a:ln/>
        </p:spPr>
        <p:txBody>
          <a:bodyPr wrap="square" lIns="0" tIns="0" rIns="0" bIns="0" rtlCol="0" anchor="t"/>
          <a:lstStyle/>
          <a:p>
            <a:pPr indent="0" marL="0">
              <a:buNone/>
            </a:pPr>
            <a:r>
              <a:rPr lang="en-IE" sz="1200" b="1" spc="150" kern="0" dirty="0">
                <a:solidFill>
                  <a:schemeClr val="tx2"/>
                </a:solidFill>
              </a:rPr>
              <a:t>YOUR PROGRAM</a:t>
            </a:r>
            <a:endParaRPr lang="en-IE" sz="1200" dirty="0"/>
          </a:p>
        </p:txBody>
      </p:sp>
      <p:sp>
        <p:nvSpPr>
          <p:cNvPr id="21" name="Block Person"/>
          <p:cNvSpPr/>
          <p:nvPr/>
        </p:nvSpPr>
        <p:spPr>
          <a:xfrm>
            <a:off x="7040880" y="2331720"/>
            <a:ext cx="1325880" cy="777240"/>
          </a:xfrm>
          <a:prstGeom prst="roundRect">
            <a:avLst>
              <a:gd name="adj" fmla="val 11765"/>
            </a:avLst>
          </a:prstGeom>
          <a:solidFill>
            <a:schemeClr val="bg1"/>
          </a:solidFill>
          <a:ln/>
          <a:effectLst>
            <a:outerShdw sx="100000" sy="100000" kx="0" ky="0" algn="bl" rotWithShape="0" blurRad="76200" dist="19050" dir="5400000">
              <a:srgbClr val="1D2433">
                <a:alpha val="8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Person</a:t>
            </a:r>
            <a:endParaRPr lang="en-IE" sz="1500" dirty="0"/>
          </a:p>
        </p:txBody>
      </p:sp>
      <p:sp>
        <p:nvSpPr>
          <p:cNvPr id="22" name="Block Student"/>
          <p:cNvSpPr/>
          <p:nvPr/>
        </p:nvSpPr>
        <p:spPr>
          <a:xfrm>
            <a:off x="8564728" y="2331720"/>
            <a:ext cx="1325880" cy="777240"/>
          </a:xfrm>
          <a:prstGeom prst="roundRect">
            <a:avLst>
              <a:gd name="adj" fmla="val 11765"/>
            </a:avLst>
          </a:prstGeom>
          <a:solidFill>
            <a:schemeClr val="bg1"/>
          </a:solidFill>
          <a:ln/>
          <a:effectLst>
            <a:outerShdw sx="100000" sy="100000" kx="0" ky="0" algn="bl" rotWithShape="0" blurRad="76200" dist="19050" dir="5400000">
              <a:srgbClr val="1D2433">
                <a:alpha val="8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Student</a:t>
            </a:r>
            <a:endParaRPr lang="en-IE" sz="1500" dirty="0"/>
          </a:p>
        </p:txBody>
      </p:sp>
      <p:sp>
        <p:nvSpPr>
          <p:cNvPr id="23" name="Block Animal"/>
          <p:cNvSpPr/>
          <p:nvPr/>
        </p:nvSpPr>
        <p:spPr>
          <a:xfrm>
            <a:off x="10088575" y="2331720"/>
            <a:ext cx="1325880" cy="777240"/>
          </a:xfrm>
          <a:prstGeom prst="roundRect">
            <a:avLst>
              <a:gd name="adj" fmla="val 11765"/>
            </a:avLst>
          </a:prstGeom>
          <a:solidFill>
            <a:schemeClr val="bg1"/>
          </a:solidFill>
          <a:ln/>
          <a:effectLst>
            <a:outerShdw sx="100000" sy="100000" kx="0" ky="0" algn="bl" rotWithShape="0" blurRad="76200" dist="19050" dir="5400000">
              <a:srgbClr val="1D2433">
                <a:alpha val="8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Animal</a:t>
            </a:r>
            <a:endParaRPr lang="en-IE" sz="1500" dirty="0"/>
          </a:p>
        </p:txBody>
      </p:sp>
      <p:sp>
        <p:nvSpPr>
          <p:cNvPr id="24" name="Empty slot"/>
          <p:cNvSpPr/>
          <p:nvPr/>
        </p:nvSpPr>
        <p:spPr>
          <a:xfrm>
            <a:off x="7040880" y="3474720"/>
            <a:ext cx="1325880" cy="777240"/>
          </a:xfrm>
          <a:prstGeom prst="roundRect">
            <a:avLst>
              <a:gd name="adj" fmla="val 11765"/>
            </a:avLst>
          </a:prstGeom>
          <a:solidFill>
            <a:schemeClr val="bg2"/>
          </a:solidFill>
          <a:ln w="19050">
            <a:solidFill>
              <a:schemeClr val="accent1"/>
            </a:solidFill>
            <a:prstDash val="dash"/>
          </a:ln>
        </p:spPr>
        <p:txBody>
          <a:bodyPr wrap="square" lIns="0" tIns="0" rIns="0" bIns="0" rtlCol="0" anchor="ctr"/>
          <a:lstStyle/>
          <a:p>
            <a:pPr algn="ctr" indent="0" marL="0">
              <a:buNone/>
            </a:pPr>
            <a:r>
              <a:rPr lang="en-IE" sz="1500" dirty="0">
                <a:solidFill>
                  <a:schemeClr val="tx2"/>
                </a:solidFill>
                <a:latin typeface="Consolas" pitchFamily="34" charset="0"/>
                <a:ea typeface="Consolas" pitchFamily="34" charset="-122"/>
                <a:cs typeface="Consolas" pitchFamily="34" charset="-120"/>
              </a:rPr>
              <a:t>Car</a:t>
            </a:r>
            <a:endParaRPr lang="en-IE" sz="1500" dirty="0"/>
          </a:p>
        </p:txBody>
      </p:sp>
      <p:sp>
        <p:nvSpPr>
          <p:cNvPr id="25" name="Block Employee"/>
          <p:cNvSpPr/>
          <p:nvPr/>
        </p:nvSpPr>
        <p:spPr>
          <a:xfrm>
            <a:off x="8564728" y="3474720"/>
            <a:ext cx="1325880" cy="777240"/>
          </a:xfrm>
          <a:prstGeom prst="roundRect">
            <a:avLst>
              <a:gd name="adj" fmla="val 11765"/>
            </a:avLst>
          </a:prstGeom>
          <a:solidFill>
            <a:schemeClr val="bg1"/>
          </a:solidFill>
          <a:ln/>
          <a:effectLst>
            <a:outerShdw sx="100000" sy="100000" kx="0" ky="0" algn="bl" rotWithShape="0" blurRad="76200" dist="19050" dir="5400000">
              <a:srgbClr val="1D2433">
                <a:alpha val="8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Employee</a:t>
            </a:r>
            <a:endParaRPr lang="en-IE" sz="1500" dirty="0"/>
          </a:p>
        </p:txBody>
      </p:sp>
      <p:sp>
        <p:nvSpPr>
          <p:cNvPr id="26" name="Block Vehicle"/>
          <p:cNvSpPr/>
          <p:nvPr/>
        </p:nvSpPr>
        <p:spPr>
          <a:xfrm>
            <a:off x="10088575" y="3474720"/>
            <a:ext cx="1325880" cy="777240"/>
          </a:xfrm>
          <a:prstGeom prst="roundRect">
            <a:avLst>
              <a:gd name="adj" fmla="val 11765"/>
            </a:avLst>
          </a:prstGeom>
          <a:solidFill>
            <a:schemeClr val="bg1"/>
          </a:solidFill>
          <a:ln/>
          <a:effectLst>
            <a:outerShdw sx="100000" sy="100000" kx="0" ky="0" algn="bl" rotWithShape="0" blurRad="76200" dist="19050" dir="5400000">
              <a:srgbClr val="1D2433">
                <a:alpha val="8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Vehicle</a:t>
            </a:r>
            <a:endParaRPr lang="en-IE" sz="1500" dirty="0"/>
          </a:p>
        </p:txBody>
      </p:sp>
      <p:sp>
        <p:nvSpPr>
          <p:cNvPr id="27" name="New block"/>
          <p:cNvSpPr/>
          <p:nvPr/>
        </p:nvSpPr>
        <p:spPr>
          <a:xfrm>
            <a:off x="7040880" y="5029200"/>
            <a:ext cx="1325880" cy="777240"/>
          </a:xfrm>
          <a:prstGeom prst="roundRect">
            <a:avLst>
              <a:gd name="adj" fmla="val 11765"/>
            </a:avLst>
          </a:prstGeom>
          <a:solidFill>
            <a:schemeClr val="accent1"/>
          </a:solidFill>
          <a:ln/>
          <a:effectLst>
            <a:outerShdw sx="100000" sy="100000" kx="0" ky="0" algn="bl" rotWithShape="0" blurRad="114300" dist="31750" dir="5400000">
              <a:srgbClr val="1D2433">
                <a:alpha val="12000"/>
              </a:srgbClr>
            </a:outerShdw>
          </a:effectLst>
        </p:spPr>
        <p:txBody>
          <a:bodyPr wrap="square" lIns="0" tIns="0" rIns="0" bIns="0" rtlCol="0" anchor="ctr"/>
          <a:lstStyle/>
          <a:p>
            <a:pPr algn="ctr" indent="0" marL="0">
              <a:buNone/>
            </a:pPr>
            <a:r>
              <a:rPr lang="en-IE" sz="1500" b="1" dirty="0">
                <a:solidFill>
                  <a:schemeClr val="bg1"/>
                </a:solidFill>
                <a:latin typeface="Consolas" pitchFamily="34" charset="0"/>
                <a:ea typeface="Consolas" pitchFamily="34" charset="-122"/>
                <a:cs typeface="Consolas" pitchFamily="34" charset="-120"/>
              </a:rPr>
              <a:t>Car v2</a:t>
            </a:r>
            <a:endParaRPr lang="en-IE" sz="1500" dirty="0"/>
          </a:p>
        </p:txBody>
      </p:sp>
      <p:sp>
        <p:nvSpPr>
          <p:cNvPr id="28" name="Connector"/>
          <p:cNvSpPr/>
          <p:nvPr/>
        </p:nvSpPr>
        <p:spPr>
          <a:xfrm flipV="1">
            <a:off x="7703820" y="4315968"/>
            <a:ext cx="0" cy="649224"/>
          </a:xfrm>
          <a:prstGeom prst="line">
            <a:avLst/>
          </a:prstGeom>
          <a:noFill/>
          <a:ln w="25400">
            <a:solidFill>
              <a:schemeClr val="accent1"/>
            </a:solidFill>
            <a:prstDash val="solid"/>
            <a:tailEnd type="triangle"/>
          </a:ln>
        </p:spPr>
      </p:sp>
      <p:sp>
        <p:nvSpPr>
          <p:cNvPr id="29" name="Text 23"/>
          <p:cNvSpPr txBox="1"/>
          <p:nvPr/>
        </p:nvSpPr>
        <p:spPr>
          <a:xfrm>
            <a:off x="8595360" y="5074920"/>
            <a:ext cx="3047695" cy="731520"/>
          </a:xfrm>
          <a:prstGeom prst="rect">
            <a:avLst/>
          </a:prstGeom>
          <a:noFill/>
          <a:ln/>
        </p:spPr>
        <p:txBody>
          <a:bodyPr wrap="square" lIns="0" tIns="0" rIns="0" bIns="0" rtlCol="0" anchor="ctr"/>
          <a:lstStyle/>
          <a:p>
            <a:pPr indent="0" marL="0">
              <a:buNone/>
            </a:pPr>
            <a:r>
              <a:rPr lang="en-IE" sz="1400" dirty="0">
                <a:solidFill>
                  <a:schemeClr val="tx2"/>
                </a:solidFill>
              </a:rPr>
              <a:t>Swap in a new version. If it keeps the same methods, nothing else has to change.</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approach</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Objects are self-contained pieces of a program. Why is that useful?</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Self-contained objects never need any testing</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Each object has to be written in a different language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All the objects share one big set of global data</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We can replace, change or reuse one piece on its own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approach</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Objects are self-contained pieces of a program. Why is that useful?</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Self-contained objects never need any testing</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Each object has to be written in a different language</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All the objects share one big set of global data</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We can replace, change or reuse one piece on its own</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Each piece looks after its own data and behaviour, so we can swap it, change it or reuse it without rewriting the rest. Objects still need testing, and they don’t share one big pool of data.</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PARADIGMS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use OOP?</a:t>
            </a:r>
            <a:endParaRPr lang="en-IE" sz="3400" dirty="0"/>
          </a:p>
        </p:txBody>
      </p:sp>
      <p:sp>
        <p:nvSpPr>
          <p:cNvPr id="5" name="Card"/>
          <p:cNvSpPr/>
          <p:nvPr/>
        </p:nvSpPr>
        <p:spPr>
          <a:xfrm>
            <a:off x="548640" y="1783080"/>
            <a:ext cx="2036003" cy="3154680"/>
          </a:xfrm>
          <a:prstGeom prst="roundRect">
            <a:avLst>
              <a:gd name="adj" fmla="val 5389"/>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75688"/>
            <a:ext cx="713232" cy="713232"/>
          </a:xfrm>
          <a:prstGeom prst="roundRect">
            <a:avLst>
              <a:gd name="adj" fmla="val 24000"/>
            </a:avLst>
          </a:prstGeom>
          <a:solidFill>
            <a:schemeClr val="accent1">
              <a:alpha val="14000"/>
            </a:schemeClr>
          </a:solidFill>
          <a:ln/>
        </p:spPr>
      </p:sp>
      <p:pic>
        <p:nvPicPr>
          <p:cNvPr id="7" name="rocket launch icon" descr="rocket launch icon">    </p:cNvPr>
          <p:cNvPicPr>
            <a:picLocks noChangeAspect="1"/>
          </p:cNvPicPr>
          <p:nvPr/>
        </p:nvPicPr>
        <p:blipFill>
          <a:blip r:embed="rId1"/>
          <a:stretch>
            <a:fillRect/>
          </a:stretch>
        </p:blipFill>
        <p:spPr>
          <a:xfrm>
            <a:off x="972739" y="2225467"/>
            <a:ext cx="413675" cy="413675"/>
          </a:xfrm>
          <a:prstGeom prst="rect">
            <a:avLst/>
          </a:prstGeom>
        </p:spPr>
      </p:pic>
      <p:sp>
        <p:nvSpPr>
          <p:cNvPr id="8" name="Text 4"/>
          <p:cNvSpPr txBox="1"/>
          <p:nvPr/>
        </p:nvSpPr>
        <p:spPr>
          <a:xfrm>
            <a:off x="822960" y="2971800"/>
            <a:ext cx="1578803" cy="685800"/>
          </a:xfrm>
          <a:prstGeom prst="rect">
            <a:avLst/>
          </a:prstGeom>
          <a:noFill/>
          <a:ln/>
        </p:spPr>
        <p:txBody>
          <a:bodyPr wrap="square" lIns="0" tIns="0" rIns="0" bIns="0" rtlCol="0" anchor="t"/>
          <a:lstStyle/>
          <a:p>
            <a:pPr indent="0" marL="0">
              <a:buNone/>
            </a:pPr>
            <a:r>
              <a:rPr lang="en-IE" sz="1900" b="1" dirty="0">
                <a:solidFill>
                  <a:schemeClr val="tx1"/>
                </a:solidFill>
              </a:rPr>
              <a:t>Faster development</a:t>
            </a:r>
            <a:endParaRPr lang="en-IE" sz="1900" dirty="0"/>
          </a:p>
        </p:txBody>
      </p:sp>
      <p:sp>
        <p:nvSpPr>
          <p:cNvPr id="9" name="Text 5"/>
          <p:cNvSpPr txBox="1"/>
          <p:nvPr/>
        </p:nvSpPr>
        <p:spPr>
          <a:xfrm>
            <a:off x="822960" y="3685032"/>
            <a:ext cx="1578803" cy="1143000"/>
          </a:xfrm>
          <a:prstGeom prst="rect">
            <a:avLst/>
          </a:prstGeom>
          <a:noFill/>
          <a:ln/>
        </p:spPr>
        <p:txBody>
          <a:bodyPr wrap="square" lIns="0" tIns="0" rIns="0" bIns="0" rtlCol="0" anchor="t"/>
          <a:lstStyle/>
          <a:p>
            <a:pPr indent="0" marL="0">
              <a:buNone/>
            </a:pPr>
            <a:r>
              <a:rPr lang="en-IE" sz="1500" dirty="0">
                <a:solidFill>
                  <a:schemeClr val="tx2"/>
                </a:solidFill>
              </a:rPr>
              <a:t>Build new programs from classes you already have.</a:t>
            </a:r>
            <a:endParaRPr lang="en-IE" sz="1500" dirty="0"/>
          </a:p>
        </p:txBody>
      </p:sp>
      <p:sp>
        <p:nvSpPr>
          <p:cNvPr id="10" name="Card"/>
          <p:cNvSpPr/>
          <p:nvPr/>
        </p:nvSpPr>
        <p:spPr>
          <a:xfrm>
            <a:off x="2813243" y="1783080"/>
            <a:ext cx="2036003" cy="3154680"/>
          </a:xfrm>
          <a:prstGeom prst="roundRect">
            <a:avLst>
              <a:gd name="adj" fmla="val 5389"/>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087563" y="2075688"/>
            <a:ext cx="713232" cy="713232"/>
          </a:xfrm>
          <a:prstGeom prst="roundRect">
            <a:avLst>
              <a:gd name="adj" fmla="val 24000"/>
            </a:avLst>
          </a:prstGeom>
          <a:solidFill>
            <a:schemeClr val="accent4">
              <a:alpha val="14000"/>
            </a:schemeClr>
          </a:solidFill>
          <a:ln/>
        </p:spPr>
      </p:sp>
      <p:pic>
        <p:nvPicPr>
          <p:cNvPr id="12" name="tree structure icon" descr="tree structure icon">    </p:cNvPr>
          <p:cNvPicPr>
            <a:picLocks noChangeAspect="1"/>
          </p:cNvPicPr>
          <p:nvPr/>
        </p:nvPicPr>
        <p:blipFill>
          <a:blip r:embed="rId2"/>
          <a:stretch>
            <a:fillRect/>
          </a:stretch>
        </p:blipFill>
        <p:spPr>
          <a:xfrm>
            <a:off x="3237342" y="2225467"/>
            <a:ext cx="413675" cy="413675"/>
          </a:xfrm>
          <a:prstGeom prst="rect">
            <a:avLst/>
          </a:prstGeom>
        </p:spPr>
      </p:pic>
      <p:sp>
        <p:nvSpPr>
          <p:cNvPr id="13" name="Text 8"/>
          <p:cNvSpPr txBox="1"/>
          <p:nvPr/>
        </p:nvSpPr>
        <p:spPr>
          <a:xfrm>
            <a:off x="3087563" y="2971800"/>
            <a:ext cx="1578803" cy="685800"/>
          </a:xfrm>
          <a:prstGeom prst="rect">
            <a:avLst/>
          </a:prstGeom>
          <a:noFill/>
          <a:ln/>
        </p:spPr>
        <p:txBody>
          <a:bodyPr wrap="square" lIns="0" tIns="0" rIns="0" bIns="0" rtlCol="0" anchor="t"/>
          <a:lstStyle/>
          <a:p>
            <a:pPr indent="0" marL="0">
              <a:buNone/>
            </a:pPr>
            <a:r>
              <a:rPr lang="en-IE" sz="1900" b="1" dirty="0">
                <a:solidFill>
                  <a:schemeClr val="tx1"/>
                </a:solidFill>
              </a:rPr>
              <a:t>Clear structure</a:t>
            </a:r>
            <a:endParaRPr lang="en-IE" sz="1900" dirty="0"/>
          </a:p>
        </p:txBody>
      </p:sp>
      <p:sp>
        <p:nvSpPr>
          <p:cNvPr id="14" name="Text 9"/>
          <p:cNvSpPr txBox="1"/>
          <p:nvPr/>
        </p:nvSpPr>
        <p:spPr>
          <a:xfrm>
            <a:off x="3087563" y="3685032"/>
            <a:ext cx="1578803" cy="1143000"/>
          </a:xfrm>
          <a:prstGeom prst="rect">
            <a:avLst/>
          </a:prstGeom>
          <a:noFill/>
          <a:ln/>
        </p:spPr>
        <p:txBody>
          <a:bodyPr wrap="square" lIns="0" tIns="0" rIns="0" bIns="0" rtlCol="0" anchor="t"/>
          <a:lstStyle/>
          <a:p>
            <a:pPr indent="0" marL="0">
              <a:buNone/>
            </a:pPr>
            <a:r>
              <a:rPr lang="en-IE" sz="1500" dirty="0">
                <a:solidFill>
                  <a:schemeClr val="tx2"/>
                </a:solidFill>
              </a:rPr>
              <a:t>Code is split into classes and objects, so it is easier to follow.</a:t>
            </a:r>
            <a:endParaRPr lang="en-IE" sz="1500" dirty="0"/>
          </a:p>
        </p:txBody>
      </p:sp>
      <p:sp>
        <p:nvSpPr>
          <p:cNvPr id="15" name="Card"/>
          <p:cNvSpPr/>
          <p:nvPr/>
        </p:nvSpPr>
        <p:spPr>
          <a:xfrm>
            <a:off x="5077846" y="1783080"/>
            <a:ext cx="2036003" cy="3154680"/>
          </a:xfrm>
          <a:prstGeom prst="roundRect">
            <a:avLst>
              <a:gd name="adj" fmla="val 5389"/>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5352166" y="2075688"/>
            <a:ext cx="713232" cy="713232"/>
          </a:xfrm>
          <a:prstGeom prst="roundRect">
            <a:avLst>
              <a:gd name="adj" fmla="val 24000"/>
            </a:avLst>
          </a:prstGeom>
          <a:solidFill>
            <a:schemeClr val="accent3">
              <a:alpha val="14000"/>
            </a:schemeClr>
          </a:solidFill>
          <a:ln/>
        </p:spPr>
      </p:sp>
      <p:pic>
        <p:nvPicPr>
          <p:cNvPr id="17" name="recycle icon" descr="recycle icon">    </p:cNvPr>
          <p:cNvPicPr>
            <a:picLocks noChangeAspect="1"/>
          </p:cNvPicPr>
          <p:nvPr/>
        </p:nvPicPr>
        <p:blipFill>
          <a:blip r:embed="rId3"/>
          <a:stretch>
            <a:fillRect/>
          </a:stretch>
        </p:blipFill>
        <p:spPr>
          <a:xfrm>
            <a:off x="5501945" y="2225467"/>
            <a:ext cx="413675" cy="413675"/>
          </a:xfrm>
          <a:prstGeom prst="rect">
            <a:avLst/>
          </a:prstGeom>
        </p:spPr>
      </p:pic>
      <p:sp>
        <p:nvSpPr>
          <p:cNvPr id="18" name="Text 12"/>
          <p:cNvSpPr txBox="1"/>
          <p:nvPr/>
        </p:nvSpPr>
        <p:spPr>
          <a:xfrm>
            <a:off x="5352166" y="2971800"/>
            <a:ext cx="1578803" cy="685800"/>
          </a:xfrm>
          <a:prstGeom prst="rect">
            <a:avLst/>
          </a:prstGeom>
          <a:noFill/>
          <a:ln/>
        </p:spPr>
        <p:txBody>
          <a:bodyPr wrap="square" lIns="0" tIns="0" rIns="0" bIns="0" rtlCol="0" anchor="t"/>
          <a:lstStyle/>
          <a:p>
            <a:pPr indent="0" marL="0">
              <a:buNone/>
            </a:pPr>
            <a:r>
              <a:rPr lang="en-IE" sz="1900" b="1" dirty="0">
                <a:solidFill>
                  <a:schemeClr val="tx1"/>
                </a:solidFill>
              </a:rPr>
              <a:t>Reusability</a:t>
            </a:r>
            <a:endParaRPr lang="en-IE" sz="1900" dirty="0"/>
          </a:p>
        </p:txBody>
      </p:sp>
      <p:sp>
        <p:nvSpPr>
          <p:cNvPr id="19" name="Text 13"/>
          <p:cNvSpPr txBox="1"/>
          <p:nvPr/>
        </p:nvSpPr>
        <p:spPr>
          <a:xfrm>
            <a:off x="5352166" y="3685032"/>
            <a:ext cx="1578803" cy="1143000"/>
          </a:xfrm>
          <a:prstGeom prst="rect">
            <a:avLst/>
          </a:prstGeom>
          <a:noFill/>
          <a:ln/>
        </p:spPr>
        <p:txBody>
          <a:bodyPr wrap="square" lIns="0" tIns="0" rIns="0" bIns="0" rtlCol="0" anchor="t"/>
          <a:lstStyle/>
          <a:p>
            <a:pPr indent="0" marL="0">
              <a:buNone/>
            </a:pPr>
            <a:r>
              <a:rPr lang="en-IE" sz="1500" dirty="0">
                <a:solidFill>
                  <a:schemeClr val="tx2"/>
                </a:solidFill>
              </a:rPr>
              <a:t>Write it once, use it many times. Less repeated code.</a:t>
            </a:r>
            <a:endParaRPr lang="en-IE" sz="1500" dirty="0"/>
          </a:p>
        </p:txBody>
      </p:sp>
      <p:sp>
        <p:nvSpPr>
          <p:cNvPr id="20" name="Card"/>
          <p:cNvSpPr/>
          <p:nvPr/>
        </p:nvSpPr>
        <p:spPr>
          <a:xfrm>
            <a:off x="7342449" y="1783080"/>
            <a:ext cx="2036003" cy="3154680"/>
          </a:xfrm>
          <a:prstGeom prst="roundRect">
            <a:avLst>
              <a:gd name="adj" fmla="val 538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7616769" y="2075688"/>
            <a:ext cx="713232" cy="713232"/>
          </a:xfrm>
          <a:prstGeom prst="roundRect">
            <a:avLst>
              <a:gd name="adj" fmla="val 24000"/>
            </a:avLst>
          </a:prstGeom>
          <a:solidFill>
            <a:schemeClr val="accent5">
              <a:alpha val="14000"/>
            </a:schemeClr>
          </a:solidFill>
          <a:ln/>
        </p:spPr>
      </p:sp>
      <p:pic>
        <p:nvPicPr>
          <p:cNvPr id="22" name="seal check icon" descr="seal check icon">    </p:cNvPr>
          <p:cNvPicPr>
            <a:picLocks noChangeAspect="1"/>
          </p:cNvPicPr>
          <p:nvPr/>
        </p:nvPicPr>
        <p:blipFill>
          <a:blip r:embed="rId4"/>
          <a:stretch>
            <a:fillRect/>
          </a:stretch>
        </p:blipFill>
        <p:spPr>
          <a:xfrm>
            <a:off x="7766548" y="2225467"/>
            <a:ext cx="413675" cy="413675"/>
          </a:xfrm>
          <a:prstGeom prst="rect">
            <a:avLst/>
          </a:prstGeom>
        </p:spPr>
      </p:pic>
      <p:sp>
        <p:nvSpPr>
          <p:cNvPr id="23" name="Text 16"/>
          <p:cNvSpPr txBox="1"/>
          <p:nvPr/>
        </p:nvSpPr>
        <p:spPr>
          <a:xfrm>
            <a:off x="7616769" y="2971800"/>
            <a:ext cx="1578803" cy="685800"/>
          </a:xfrm>
          <a:prstGeom prst="rect">
            <a:avLst/>
          </a:prstGeom>
          <a:noFill/>
          <a:ln/>
        </p:spPr>
        <p:txBody>
          <a:bodyPr wrap="square" lIns="0" tIns="0" rIns="0" bIns="0" rtlCol="0" anchor="t"/>
          <a:lstStyle/>
          <a:p>
            <a:pPr indent="0" marL="0">
              <a:buNone/>
            </a:pPr>
            <a:r>
              <a:rPr lang="en-IE" sz="1900" b="1" dirty="0">
                <a:solidFill>
                  <a:schemeClr val="tx1"/>
                </a:solidFill>
              </a:rPr>
              <a:t>Increased quality</a:t>
            </a:r>
            <a:endParaRPr lang="en-IE" sz="1900" dirty="0"/>
          </a:p>
        </p:txBody>
      </p:sp>
      <p:sp>
        <p:nvSpPr>
          <p:cNvPr id="24" name="Text 17"/>
          <p:cNvSpPr txBox="1"/>
          <p:nvPr/>
        </p:nvSpPr>
        <p:spPr>
          <a:xfrm>
            <a:off x="7616769" y="3685032"/>
            <a:ext cx="1578803" cy="1143000"/>
          </a:xfrm>
          <a:prstGeom prst="rect">
            <a:avLst/>
          </a:prstGeom>
          <a:noFill/>
          <a:ln/>
        </p:spPr>
        <p:txBody>
          <a:bodyPr wrap="square" lIns="0" tIns="0" rIns="0" bIns="0" rtlCol="0" anchor="t"/>
          <a:lstStyle/>
          <a:p>
            <a:pPr indent="0" marL="0">
              <a:buNone/>
            </a:pPr>
            <a:r>
              <a:rPr lang="en-IE" sz="1500" dirty="0">
                <a:solidFill>
                  <a:schemeClr val="tx2"/>
                </a:solidFill>
              </a:rPr>
              <a:t>Small, self-contained pieces are easier to test and fix.</a:t>
            </a:r>
            <a:endParaRPr lang="en-IE" sz="1500" dirty="0"/>
          </a:p>
        </p:txBody>
      </p:sp>
      <p:sp>
        <p:nvSpPr>
          <p:cNvPr id="25" name="Card"/>
          <p:cNvSpPr/>
          <p:nvPr/>
        </p:nvSpPr>
        <p:spPr>
          <a:xfrm>
            <a:off x="9607052" y="1783080"/>
            <a:ext cx="2036003" cy="3154680"/>
          </a:xfrm>
          <a:prstGeom prst="roundRect">
            <a:avLst>
              <a:gd name="adj" fmla="val 5389"/>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9881372" y="2075688"/>
            <a:ext cx="713232" cy="713232"/>
          </a:xfrm>
          <a:prstGeom prst="roundRect">
            <a:avLst>
              <a:gd name="adj" fmla="val 24000"/>
            </a:avLst>
          </a:prstGeom>
          <a:solidFill>
            <a:schemeClr val="accent2">
              <a:alpha val="14000"/>
            </a:schemeClr>
          </a:solidFill>
          <a:ln/>
        </p:spPr>
      </p:sp>
      <p:pic>
        <p:nvPicPr>
          <p:cNvPr id="27" name="globe hemisphere west icon" descr="globe hemisphere west icon">    </p:cNvPr>
          <p:cNvPicPr>
            <a:picLocks noChangeAspect="1"/>
          </p:cNvPicPr>
          <p:nvPr/>
        </p:nvPicPr>
        <p:blipFill>
          <a:blip r:embed="rId5"/>
          <a:stretch>
            <a:fillRect/>
          </a:stretch>
        </p:blipFill>
        <p:spPr>
          <a:xfrm>
            <a:off x="10031151" y="2225467"/>
            <a:ext cx="413675" cy="413675"/>
          </a:xfrm>
          <a:prstGeom prst="rect">
            <a:avLst/>
          </a:prstGeom>
        </p:spPr>
      </p:pic>
      <p:sp>
        <p:nvSpPr>
          <p:cNvPr id="28" name="Text 20"/>
          <p:cNvSpPr txBox="1"/>
          <p:nvPr/>
        </p:nvSpPr>
        <p:spPr>
          <a:xfrm>
            <a:off x="9881372" y="2971800"/>
            <a:ext cx="1578803" cy="685800"/>
          </a:xfrm>
          <a:prstGeom prst="rect">
            <a:avLst/>
          </a:prstGeom>
          <a:noFill/>
          <a:ln/>
        </p:spPr>
        <p:txBody>
          <a:bodyPr wrap="square" lIns="0" tIns="0" rIns="0" bIns="0" rtlCol="0" anchor="t"/>
          <a:lstStyle/>
          <a:p>
            <a:pPr indent="0" marL="0">
              <a:buNone/>
            </a:pPr>
            <a:r>
              <a:rPr lang="en-IE" sz="1900" b="1" dirty="0">
                <a:solidFill>
                  <a:schemeClr val="tx1"/>
                </a:solidFill>
              </a:rPr>
              <a:t>Models the real world</a:t>
            </a:r>
            <a:endParaRPr lang="en-IE" sz="1900" dirty="0"/>
          </a:p>
        </p:txBody>
      </p:sp>
      <p:sp>
        <p:nvSpPr>
          <p:cNvPr id="29" name="Text 21"/>
          <p:cNvSpPr txBox="1"/>
          <p:nvPr/>
        </p:nvSpPr>
        <p:spPr>
          <a:xfrm>
            <a:off x="9881372" y="3685032"/>
            <a:ext cx="1578803" cy="1143000"/>
          </a:xfrm>
          <a:prstGeom prst="rect">
            <a:avLst/>
          </a:prstGeom>
          <a:noFill/>
          <a:ln/>
        </p:spPr>
        <p:txBody>
          <a:bodyPr wrap="square" lIns="0" tIns="0" rIns="0" bIns="0" rtlCol="0" anchor="t"/>
          <a:lstStyle/>
          <a:p>
            <a:pPr indent="0" marL="0">
              <a:buNone/>
            </a:pPr>
            <a:r>
              <a:rPr lang="en-IE" sz="1500" dirty="0">
                <a:solidFill>
                  <a:schemeClr val="tx2"/>
                </a:solidFill>
              </a:rPr>
              <a:t>Objects in code match real things: a person, a car, a student.</a:t>
            </a:r>
            <a:endParaRPr lang="en-IE" sz="1500" dirty="0"/>
          </a:p>
        </p:txBody>
      </p:sp>
      <p:sp>
        <p:nvSpPr>
          <p:cNvPr id="30" name="Note"/>
          <p:cNvSpPr/>
          <p:nvPr/>
        </p:nvSpPr>
        <p:spPr>
          <a:xfrm>
            <a:off x="548640" y="5212080"/>
            <a:ext cx="11094415" cy="868680"/>
          </a:xfrm>
          <a:prstGeom prst="roundRect">
            <a:avLst>
              <a:gd name="adj" fmla="val 12632"/>
            </a:avLst>
          </a:prstGeom>
          <a:solidFill>
            <a:schemeClr val="bg2"/>
          </a:solidFill>
          <a:ln/>
        </p:spPr>
      </p:sp>
      <p:sp>
        <p:nvSpPr>
          <p:cNvPr id="31" name="Icon tile"/>
          <p:cNvSpPr/>
          <p:nvPr/>
        </p:nvSpPr>
        <p:spPr>
          <a:xfrm>
            <a:off x="822960" y="5367528"/>
            <a:ext cx="548640" cy="548640"/>
          </a:xfrm>
          <a:prstGeom prst="roundRect">
            <a:avLst>
              <a:gd name="adj" fmla="val 24000"/>
            </a:avLst>
          </a:prstGeom>
          <a:solidFill>
            <a:schemeClr val="accent2">
              <a:alpha val="14000"/>
            </a:schemeClr>
          </a:solidFill>
          <a:ln/>
        </p:spPr>
      </p:sp>
      <p:pic>
        <p:nvPicPr>
          <p:cNvPr id="32" name="puzzle piece icon" descr="puzzle piece icon">    </p:cNvPr>
          <p:cNvPicPr>
            <a:picLocks noChangeAspect="1"/>
          </p:cNvPicPr>
          <p:nvPr/>
        </p:nvPicPr>
        <p:blipFill>
          <a:blip r:embed="rId6"/>
          <a:stretch>
            <a:fillRect/>
          </a:stretch>
        </p:blipFill>
        <p:spPr>
          <a:xfrm>
            <a:off x="938174" y="5482742"/>
            <a:ext cx="318211" cy="318211"/>
          </a:xfrm>
          <a:prstGeom prst="rect">
            <a:avLst/>
          </a:prstGeom>
        </p:spPr>
      </p:pic>
      <p:sp>
        <p:nvSpPr>
          <p:cNvPr id="33" name="Text 24"/>
          <p:cNvSpPr txBox="1"/>
          <p:nvPr/>
        </p:nvSpPr>
        <p:spPr>
          <a:xfrm>
            <a:off x="1600200" y="5212080"/>
            <a:ext cx="9784080" cy="868680"/>
          </a:xfrm>
          <a:prstGeom prst="rect">
            <a:avLst/>
          </a:prstGeom>
          <a:noFill/>
          <a:ln/>
        </p:spPr>
        <p:txBody>
          <a:bodyPr wrap="square" lIns="0" tIns="0" rIns="0" bIns="0" rtlCol="0" anchor="ctr"/>
          <a:lstStyle/>
          <a:p>
            <a:pPr indent="0" marL="0">
              <a:buNone/>
            </a:pPr>
            <a:r>
              <a:rPr lang="en-IE" sz="1700" dirty="0">
                <a:solidFill>
                  <a:schemeClr val="tx1"/>
                </a:solidFill>
              </a:rPr>
              <a:t>Most of these come from one idea: building software from self-contained objects that can be replaced, changed and reused.</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Benefits of OOP</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The college uses the same Student class in its exam system and again in its library system. Which benefit of OOP is this?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Reusability</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Clear structure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Models the real world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Increased quality</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Benefits of OOP</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The college uses the same Student class in its exam system and again in its library system. Which benefit of OOP is this?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Reusability</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Clear structure</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Models the real world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Increased quality</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Using the same class again in another program is reusability: write it once, use it many times. The other three are real benefits too, but they mean something different.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From idea to working program</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Object-oriented development in three stages</a:t>
            </a:r>
            <a:endParaRPr lang="en-IE" sz="2000" dirty="0"/>
          </a:p>
        </p:txBody>
      </p:sp>
      <p:sp>
        <p:nvSpPr>
          <p:cNvPr id="5" name="Topic chip"/>
          <p:cNvSpPr/>
          <p:nvPr/>
        </p:nvSpPr>
        <p:spPr>
          <a:xfrm>
            <a:off x="822960"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Analysis</a:t>
            </a:r>
            <a:endParaRPr lang="en-IE" sz="1400" dirty="0"/>
          </a:p>
        </p:txBody>
      </p:sp>
      <p:sp>
        <p:nvSpPr>
          <p:cNvPr id="6" name="Topic chip"/>
          <p:cNvSpPr/>
          <p:nvPr/>
        </p:nvSpPr>
        <p:spPr>
          <a:xfrm>
            <a:off x="2111248"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Design</a:t>
            </a:r>
            <a:endParaRPr lang="en-IE" sz="1400" dirty="0"/>
          </a:p>
        </p:txBody>
      </p:sp>
      <p:sp>
        <p:nvSpPr>
          <p:cNvPr id="7" name="Topic chip"/>
          <p:cNvSpPr/>
          <p:nvPr/>
        </p:nvSpPr>
        <p:spPr>
          <a:xfrm>
            <a:off x="3214624"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Programming</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OO DEVELOPMENT</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Three stages of object-oriented development</a:t>
            </a:r>
            <a:endParaRPr lang="en-IE" sz="3400" dirty="0"/>
          </a:p>
        </p:txBody>
      </p:sp>
      <p:sp>
        <p:nvSpPr>
          <p:cNvPr id="5" name="Card"/>
          <p:cNvSpPr/>
          <p:nvPr/>
        </p:nvSpPr>
        <p:spPr>
          <a:xfrm>
            <a:off x="548640" y="1783080"/>
            <a:ext cx="3154680" cy="3200400"/>
          </a:xfrm>
          <a:prstGeom prst="roundRect">
            <a:avLst>
              <a:gd name="adj" fmla="val 3478"/>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75688"/>
            <a:ext cx="777240" cy="777240"/>
          </a:xfrm>
          <a:prstGeom prst="roundRect">
            <a:avLst>
              <a:gd name="adj" fmla="val 24000"/>
            </a:avLst>
          </a:prstGeom>
          <a:solidFill>
            <a:schemeClr val="accent1">
              <a:alpha val="14000"/>
            </a:schemeClr>
          </a:solidFill>
          <a:ln/>
        </p:spPr>
      </p:sp>
      <p:pic>
        <p:nvPicPr>
          <p:cNvPr id="7" name="magnifying glass icon" descr="magnifying glass icon">    </p:cNvPr>
          <p:cNvPicPr>
            <a:picLocks noChangeAspect="1"/>
          </p:cNvPicPr>
          <p:nvPr/>
        </p:nvPicPr>
        <p:blipFill>
          <a:blip r:embed="rId1"/>
          <a:stretch>
            <a:fillRect/>
          </a:stretch>
        </p:blipFill>
        <p:spPr>
          <a:xfrm>
            <a:off x="986180" y="2238908"/>
            <a:ext cx="450799" cy="450799"/>
          </a:xfrm>
          <a:prstGeom prst="rect">
            <a:avLst/>
          </a:prstGeom>
        </p:spPr>
      </p:pic>
      <p:sp>
        <p:nvSpPr>
          <p:cNvPr id="8" name="Text 4"/>
          <p:cNvSpPr txBox="1"/>
          <p:nvPr/>
        </p:nvSpPr>
        <p:spPr>
          <a:xfrm>
            <a:off x="1783080" y="2112264"/>
            <a:ext cx="164592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1</a:t>
            </a:r>
            <a:endParaRPr lang="en-IE" sz="1200" dirty="0"/>
          </a:p>
        </p:txBody>
      </p:sp>
      <p:sp>
        <p:nvSpPr>
          <p:cNvPr id="9" name="Text 5"/>
          <p:cNvSpPr txBox="1"/>
          <p:nvPr/>
        </p:nvSpPr>
        <p:spPr>
          <a:xfrm>
            <a:off x="1783080" y="2386584"/>
            <a:ext cx="1828800" cy="457200"/>
          </a:xfrm>
          <a:prstGeom prst="rect">
            <a:avLst/>
          </a:prstGeom>
          <a:noFill/>
          <a:ln/>
        </p:spPr>
        <p:txBody>
          <a:bodyPr wrap="square" lIns="0" tIns="0" rIns="0" bIns="0" rtlCol="0" anchor="t"/>
          <a:lstStyle/>
          <a:p>
            <a:pPr indent="0" marL="0">
              <a:buNone/>
            </a:pPr>
            <a:r>
              <a:rPr lang="en-IE" sz="2400" b="1" dirty="0">
                <a:solidFill>
                  <a:schemeClr val="tx1"/>
                </a:solidFill>
              </a:rPr>
              <a:t>Analysis</a:t>
            </a:r>
            <a:endParaRPr lang="en-IE" sz="2400" dirty="0"/>
          </a:p>
        </p:txBody>
      </p:sp>
      <p:sp>
        <p:nvSpPr>
          <p:cNvPr id="10" name="Text 6"/>
          <p:cNvSpPr txBox="1"/>
          <p:nvPr/>
        </p:nvSpPr>
        <p:spPr>
          <a:xfrm>
            <a:off x="822960" y="3154680"/>
            <a:ext cx="2606040" cy="411480"/>
          </a:xfrm>
          <a:prstGeom prst="rect">
            <a:avLst/>
          </a:prstGeom>
          <a:noFill/>
          <a:ln/>
        </p:spPr>
        <p:txBody>
          <a:bodyPr wrap="square" lIns="0" tIns="0" rIns="0" bIns="0" rtlCol="0" anchor="t"/>
          <a:lstStyle/>
          <a:p>
            <a:pPr indent="0" marL="0">
              <a:buNone/>
            </a:pPr>
            <a:r>
              <a:rPr lang="en-IE" sz="1900" b="1" dirty="0">
                <a:solidFill>
                  <a:schemeClr val="accent2"/>
                </a:solidFill>
              </a:rPr>
              <a:t>What are we making?</a:t>
            </a:r>
            <a:endParaRPr lang="en-IE" sz="1900" dirty="0"/>
          </a:p>
        </p:txBody>
      </p:sp>
      <p:sp>
        <p:nvSpPr>
          <p:cNvPr id="11" name="Text 7"/>
          <p:cNvSpPr txBox="1"/>
          <p:nvPr/>
        </p:nvSpPr>
        <p:spPr>
          <a:xfrm>
            <a:off x="822960" y="3657600"/>
            <a:ext cx="2606040" cy="1005840"/>
          </a:xfrm>
          <a:prstGeom prst="rect">
            <a:avLst/>
          </a:prstGeom>
          <a:noFill/>
          <a:ln/>
        </p:spPr>
        <p:txBody>
          <a:bodyPr wrap="square" lIns="0" tIns="0" rIns="0" bIns="0" rtlCol="0" anchor="t"/>
          <a:lstStyle/>
          <a:p>
            <a:pPr indent="0" marL="0">
              <a:buNone/>
            </a:pPr>
            <a:r>
              <a:rPr lang="en-IE" sz="1600" dirty="0">
                <a:solidFill>
                  <a:schemeClr val="tx2"/>
                </a:solidFill>
              </a:rPr>
              <a:t>Understand the problem and what the users need.</a:t>
            </a:r>
            <a:endParaRPr lang="en-IE" sz="1600" dirty="0"/>
          </a:p>
        </p:txBody>
      </p:sp>
      <p:sp>
        <p:nvSpPr>
          <p:cNvPr id="12" name="Step arrow"/>
          <p:cNvSpPr/>
          <p:nvPr/>
        </p:nvSpPr>
        <p:spPr>
          <a:xfrm>
            <a:off x="3946322" y="3108960"/>
            <a:ext cx="329184" cy="548640"/>
          </a:xfrm>
          <a:prstGeom prst="chevron">
            <a:avLst/>
          </a:prstGeom>
          <a:solidFill>
            <a:schemeClr val="tx2">
              <a:alpha val="45000"/>
            </a:schemeClr>
          </a:solidFill>
          <a:ln/>
        </p:spPr>
      </p:sp>
      <p:sp>
        <p:nvSpPr>
          <p:cNvPr id="13" name="Card"/>
          <p:cNvSpPr/>
          <p:nvPr/>
        </p:nvSpPr>
        <p:spPr>
          <a:xfrm>
            <a:off x="4518508" y="1783080"/>
            <a:ext cx="3154680" cy="3200400"/>
          </a:xfrm>
          <a:prstGeom prst="roundRect">
            <a:avLst>
              <a:gd name="adj" fmla="val 3478"/>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4792828" y="2075688"/>
            <a:ext cx="777240" cy="777240"/>
          </a:xfrm>
          <a:prstGeom prst="roundRect">
            <a:avLst>
              <a:gd name="adj" fmla="val 24000"/>
            </a:avLst>
          </a:prstGeom>
          <a:solidFill>
            <a:schemeClr val="accent4">
              <a:alpha val="14000"/>
            </a:schemeClr>
          </a:solidFill>
          <a:ln/>
        </p:spPr>
      </p:sp>
      <p:pic>
        <p:nvPicPr>
          <p:cNvPr id="15" name="compass tool icon" descr="compass tool icon">    </p:cNvPr>
          <p:cNvPicPr>
            <a:picLocks noChangeAspect="1"/>
          </p:cNvPicPr>
          <p:nvPr/>
        </p:nvPicPr>
        <p:blipFill>
          <a:blip r:embed="rId2"/>
          <a:stretch>
            <a:fillRect/>
          </a:stretch>
        </p:blipFill>
        <p:spPr>
          <a:xfrm>
            <a:off x="4956048" y="2238908"/>
            <a:ext cx="450799" cy="450799"/>
          </a:xfrm>
          <a:prstGeom prst="rect">
            <a:avLst/>
          </a:prstGeom>
        </p:spPr>
      </p:pic>
      <p:sp>
        <p:nvSpPr>
          <p:cNvPr id="16" name="Text 11"/>
          <p:cNvSpPr txBox="1"/>
          <p:nvPr/>
        </p:nvSpPr>
        <p:spPr>
          <a:xfrm>
            <a:off x="5752948" y="2112264"/>
            <a:ext cx="164592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2</a:t>
            </a:r>
            <a:endParaRPr lang="en-IE" sz="1200" dirty="0"/>
          </a:p>
        </p:txBody>
      </p:sp>
      <p:sp>
        <p:nvSpPr>
          <p:cNvPr id="17" name="Text 12"/>
          <p:cNvSpPr txBox="1"/>
          <p:nvPr/>
        </p:nvSpPr>
        <p:spPr>
          <a:xfrm>
            <a:off x="5752948" y="2386584"/>
            <a:ext cx="1828800" cy="457200"/>
          </a:xfrm>
          <a:prstGeom prst="rect">
            <a:avLst/>
          </a:prstGeom>
          <a:noFill/>
          <a:ln/>
        </p:spPr>
        <p:txBody>
          <a:bodyPr wrap="square" lIns="0" tIns="0" rIns="0" bIns="0" rtlCol="0" anchor="t"/>
          <a:lstStyle/>
          <a:p>
            <a:pPr indent="0" marL="0">
              <a:buNone/>
            </a:pPr>
            <a:r>
              <a:rPr lang="en-IE" sz="2400" b="1" dirty="0">
                <a:solidFill>
                  <a:schemeClr val="tx1"/>
                </a:solidFill>
              </a:rPr>
              <a:t>Design</a:t>
            </a:r>
            <a:endParaRPr lang="en-IE" sz="2400" dirty="0"/>
          </a:p>
        </p:txBody>
      </p:sp>
      <p:sp>
        <p:nvSpPr>
          <p:cNvPr id="18" name="Text 13"/>
          <p:cNvSpPr txBox="1"/>
          <p:nvPr/>
        </p:nvSpPr>
        <p:spPr>
          <a:xfrm>
            <a:off x="4792828" y="3154680"/>
            <a:ext cx="2606040" cy="411480"/>
          </a:xfrm>
          <a:prstGeom prst="rect">
            <a:avLst/>
          </a:prstGeom>
          <a:noFill/>
          <a:ln/>
        </p:spPr>
        <p:txBody>
          <a:bodyPr wrap="square" lIns="0" tIns="0" rIns="0" bIns="0" rtlCol="0" anchor="t"/>
          <a:lstStyle/>
          <a:p>
            <a:pPr indent="0" marL="0">
              <a:buNone/>
            </a:pPr>
            <a:r>
              <a:rPr lang="en-IE" sz="1900" b="1" dirty="0">
                <a:solidFill>
                  <a:schemeClr val="accent2"/>
                </a:solidFill>
              </a:rPr>
              <a:t>How will we make it?</a:t>
            </a:r>
            <a:endParaRPr lang="en-IE" sz="1900" dirty="0"/>
          </a:p>
        </p:txBody>
      </p:sp>
      <p:sp>
        <p:nvSpPr>
          <p:cNvPr id="19" name="Text 14"/>
          <p:cNvSpPr txBox="1"/>
          <p:nvPr/>
        </p:nvSpPr>
        <p:spPr>
          <a:xfrm>
            <a:off x="4792828" y="3657600"/>
            <a:ext cx="2606040" cy="1005840"/>
          </a:xfrm>
          <a:prstGeom prst="rect">
            <a:avLst/>
          </a:prstGeom>
          <a:noFill/>
          <a:ln/>
        </p:spPr>
        <p:txBody>
          <a:bodyPr wrap="square" lIns="0" tIns="0" rIns="0" bIns="0" rtlCol="0" anchor="t"/>
          <a:lstStyle/>
          <a:p>
            <a:pPr indent="0" marL="0">
              <a:buNone/>
            </a:pPr>
            <a:r>
              <a:rPr lang="en-IE" sz="1600" dirty="0">
                <a:solidFill>
                  <a:schemeClr val="tx2"/>
                </a:solidFill>
              </a:rPr>
              <a:t>Plan the classes and the structure of the code.</a:t>
            </a:r>
            <a:endParaRPr lang="en-IE" sz="1600" dirty="0"/>
          </a:p>
        </p:txBody>
      </p:sp>
      <p:sp>
        <p:nvSpPr>
          <p:cNvPr id="20" name="Step arrow"/>
          <p:cNvSpPr/>
          <p:nvPr/>
        </p:nvSpPr>
        <p:spPr>
          <a:xfrm>
            <a:off x="7916189" y="3108960"/>
            <a:ext cx="329184" cy="548640"/>
          </a:xfrm>
          <a:prstGeom prst="chevron">
            <a:avLst/>
          </a:prstGeom>
          <a:solidFill>
            <a:schemeClr val="tx2">
              <a:alpha val="45000"/>
            </a:schemeClr>
          </a:solidFill>
          <a:ln/>
        </p:spPr>
      </p:sp>
      <p:sp>
        <p:nvSpPr>
          <p:cNvPr id="21" name="Card"/>
          <p:cNvSpPr/>
          <p:nvPr/>
        </p:nvSpPr>
        <p:spPr>
          <a:xfrm>
            <a:off x="8488375" y="1783080"/>
            <a:ext cx="3154680" cy="3200400"/>
          </a:xfrm>
          <a:prstGeom prst="roundRect">
            <a:avLst>
              <a:gd name="adj" fmla="val 3478"/>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762695" y="2075688"/>
            <a:ext cx="777240" cy="777240"/>
          </a:xfrm>
          <a:prstGeom prst="roundRect">
            <a:avLst>
              <a:gd name="adj" fmla="val 24000"/>
            </a:avLst>
          </a:prstGeom>
          <a:solidFill>
            <a:schemeClr val="accent3">
              <a:alpha val="14000"/>
            </a:schemeClr>
          </a:solidFill>
          <a:ln/>
        </p:spPr>
      </p:sp>
      <p:pic>
        <p:nvPicPr>
          <p:cNvPr id="23" name="code icon" descr="code icon">    </p:cNvPr>
          <p:cNvPicPr>
            <a:picLocks noChangeAspect="1"/>
          </p:cNvPicPr>
          <p:nvPr/>
        </p:nvPicPr>
        <p:blipFill>
          <a:blip r:embed="rId3"/>
          <a:stretch>
            <a:fillRect/>
          </a:stretch>
        </p:blipFill>
        <p:spPr>
          <a:xfrm>
            <a:off x="8925916" y="2238908"/>
            <a:ext cx="450799" cy="450799"/>
          </a:xfrm>
          <a:prstGeom prst="rect">
            <a:avLst/>
          </a:prstGeom>
        </p:spPr>
      </p:pic>
      <p:sp>
        <p:nvSpPr>
          <p:cNvPr id="24" name="Text 18"/>
          <p:cNvSpPr txBox="1"/>
          <p:nvPr/>
        </p:nvSpPr>
        <p:spPr>
          <a:xfrm>
            <a:off x="9722815" y="2112264"/>
            <a:ext cx="164592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3</a:t>
            </a:r>
            <a:endParaRPr lang="en-IE" sz="1200" dirty="0"/>
          </a:p>
        </p:txBody>
      </p:sp>
      <p:sp>
        <p:nvSpPr>
          <p:cNvPr id="25" name="Text 19"/>
          <p:cNvSpPr txBox="1"/>
          <p:nvPr/>
        </p:nvSpPr>
        <p:spPr>
          <a:xfrm>
            <a:off x="9722815" y="2386584"/>
            <a:ext cx="1828800" cy="457200"/>
          </a:xfrm>
          <a:prstGeom prst="rect">
            <a:avLst/>
          </a:prstGeom>
          <a:noFill/>
          <a:ln/>
        </p:spPr>
        <p:txBody>
          <a:bodyPr wrap="square" lIns="0" tIns="0" rIns="0" bIns="0" rtlCol="0" anchor="t"/>
          <a:lstStyle/>
          <a:p>
            <a:pPr indent="0" marL="0">
              <a:buNone/>
            </a:pPr>
            <a:r>
              <a:rPr lang="en-IE" sz="2400" b="1" dirty="0">
                <a:solidFill>
                  <a:schemeClr val="tx1"/>
                </a:solidFill>
              </a:rPr>
              <a:t>Programming</a:t>
            </a:r>
            <a:endParaRPr lang="en-IE" sz="2400" dirty="0"/>
          </a:p>
        </p:txBody>
      </p:sp>
      <p:sp>
        <p:nvSpPr>
          <p:cNvPr id="26" name="Text 20"/>
          <p:cNvSpPr txBox="1"/>
          <p:nvPr/>
        </p:nvSpPr>
        <p:spPr>
          <a:xfrm>
            <a:off x="8762695" y="3154680"/>
            <a:ext cx="2606040" cy="411480"/>
          </a:xfrm>
          <a:prstGeom prst="rect">
            <a:avLst/>
          </a:prstGeom>
          <a:noFill/>
          <a:ln/>
        </p:spPr>
        <p:txBody>
          <a:bodyPr wrap="square" lIns="0" tIns="0" rIns="0" bIns="0" rtlCol="0" anchor="t"/>
          <a:lstStyle/>
          <a:p>
            <a:pPr indent="0" marL="0">
              <a:buNone/>
            </a:pPr>
            <a:r>
              <a:rPr lang="en-IE" sz="1900" b="1" dirty="0">
                <a:solidFill>
                  <a:schemeClr val="accent2"/>
                </a:solidFill>
              </a:rPr>
              <a:t>Make it, test it, fix it.</a:t>
            </a:r>
            <a:endParaRPr lang="en-IE" sz="1900" dirty="0"/>
          </a:p>
        </p:txBody>
      </p:sp>
      <p:sp>
        <p:nvSpPr>
          <p:cNvPr id="27" name="Text 21"/>
          <p:cNvSpPr txBox="1"/>
          <p:nvPr/>
        </p:nvSpPr>
        <p:spPr>
          <a:xfrm>
            <a:off x="8762695" y="3657600"/>
            <a:ext cx="2606040" cy="1005840"/>
          </a:xfrm>
          <a:prstGeom prst="rect">
            <a:avLst/>
          </a:prstGeom>
          <a:noFill/>
          <a:ln/>
        </p:spPr>
        <p:txBody>
          <a:bodyPr wrap="square" lIns="0" tIns="0" rIns="0" bIns="0" rtlCol="0" anchor="t"/>
          <a:lstStyle/>
          <a:p>
            <a:pPr indent="0" marL="0">
              <a:buNone/>
            </a:pPr>
            <a:r>
              <a:rPr lang="en-IE" sz="1600" dirty="0">
                <a:solidFill>
                  <a:schemeClr val="tx2"/>
                </a:solidFill>
              </a:rPr>
              <a:t>Write the code that actually runs, then improve it.</a:t>
            </a:r>
            <a:endParaRPr lang="en-IE" sz="1600" dirty="0"/>
          </a:p>
        </p:txBody>
      </p:sp>
      <p:sp>
        <p:nvSpPr>
          <p:cNvPr id="28" name="Note"/>
          <p:cNvSpPr/>
          <p:nvPr/>
        </p:nvSpPr>
        <p:spPr>
          <a:xfrm>
            <a:off x="548640" y="5257800"/>
            <a:ext cx="11094415" cy="822960"/>
          </a:xfrm>
          <a:prstGeom prst="roundRect">
            <a:avLst>
              <a:gd name="adj" fmla="val 13333"/>
            </a:avLst>
          </a:prstGeom>
          <a:solidFill>
            <a:schemeClr val="bg2"/>
          </a:solidFill>
          <a:ln/>
        </p:spPr>
      </p:sp>
      <p:sp>
        <p:nvSpPr>
          <p:cNvPr id="29" name="Icon tile"/>
          <p:cNvSpPr/>
          <p:nvPr/>
        </p:nvSpPr>
        <p:spPr>
          <a:xfrm>
            <a:off x="822960" y="5413248"/>
            <a:ext cx="512064" cy="512064"/>
          </a:xfrm>
          <a:prstGeom prst="roundRect">
            <a:avLst>
              <a:gd name="adj" fmla="val 24000"/>
            </a:avLst>
          </a:prstGeom>
          <a:solidFill>
            <a:schemeClr val="accent2">
              <a:alpha val="14000"/>
            </a:schemeClr>
          </a:solidFill>
          <a:ln/>
        </p:spPr>
      </p:sp>
      <p:pic>
        <p:nvPicPr>
          <p:cNvPr id="30" name="info icon" descr="info icon">    </p:cNvPr>
          <p:cNvPicPr>
            <a:picLocks noChangeAspect="1"/>
          </p:cNvPicPr>
          <p:nvPr/>
        </p:nvPicPr>
        <p:blipFill>
          <a:blip r:embed="rId4"/>
          <a:stretch>
            <a:fillRect/>
          </a:stretch>
        </p:blipFill>
        <p:spPr>
          <a:xfrm>
            <a:off x="930493" y="5520781"/>
            <a:ext cx="296997" cy="296997"/>
          </a:xfrm>
          <a:prstGeom prst="rect">
            <a:avLst/>
          </a:prstGeom>
        </p:spPr>
      </p:pic>
      <p:sp>
        <p:nvSpPr>
          <p:cNvPr id="31" name="Text 24"/>
          <p:cNvSpPr txBox="1"/>
          <p:nvPr/>
        </p:nvSpPr>
        <p:spPr>
          <a:xfrm>
            <a:off x="1554480" y="5257800"/>
            <a:ext cx="9784080" cy="822960"/>
          </a:xfrm>
          <a:prstGeom prst="rect">
            <a:avLst/>
          </a:prstGeom>
          <a:noFill/>
          <a:ln/>
        </p:spPr>
        <p:txBody>
          <a:bodyPr wrap="square" lIns="0" tIns="0" rIns="0" bIns="0" rtlCol="0" anchor="ctr"/>
          <a:lstStyle/>
          <a:p>
            <a:pPr indent="0" marL="0">
              <a:buNone/>
            </a:pPr>
            <a:r>
              <a:rPr lang="en-IE" sz="1700" dirty="0">
                <a:solidFill>
                  <a:schemeClr val="tx1"/>
                </a:solidFill>
              </a:rPr>
              <a:t>In this module we focus on programming. Analysis and design are covered in more depth in SAD2.</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development</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the correct order of the three stages?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Design → Analysis → Programming</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Analysis → Programming → Design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Programming → Design → Analysis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Analysis → Design → Programming</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development</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the correct order of the three stages?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Design → Analysis → Programming</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Analysis → Programming → Design</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Programming → Design → Analysis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Analysis → Design → Programming</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First we work out </a:t>
            </a:r>
            <a:r>
              <a:rPr lang="en-IE" sz="1800" b="1" dirty="0">
                <a:solidFill>
                  <a:schemeClr val="tx1"/>
                </a:solidFill>
              </a:rPr>
              <a:t>what</a:t>
            </a:r>
            <a:r>
              <a:rPr lang="en-IE" sz="1800" dirty="0">
                <a:solidFill>
                  <a:schemeClr val="tx1"/>
                </a:solidFill>
              </a:rPr>
              <a:t> we are making (analysis), then </a:t>
            </a:r>
            <a:r>
              <a:rPr lang="en-IE" sz="1800" b="1" dirty="0">
                <a:solidFill>
                  <a:schemeClr val="tx1"/>
                </a:solidFill>
              </a:rPr>
              <a:t>how</a:t>
            </a:r>
            <a:r>
              <a:rPr lang="en-IE" sz="1800" dirty="0">
                <a:solidFill>
                  <a:schemeClr val="tx1"/>
                </a:solidFill>
              </a:rPr>
              <a:t> we will make it (design). Only then do we write the code (programming).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OO DEVELOPMENT</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Analysis: what are we making?</a:t>
            </a:r>
            <a:endParaRPr lang="en-IE" sz="3400" dirty="0"/>
          </a:p>
        </p:txBody>
      </p:sp>
      <p:sp>
        <p:nvSpPr>
          <p:cNvPr id="5" name="Text 2"/>
          <p:cNvSpPr txBox="1"/>
          <p:nvPr/>
        </p:nvSpPr>
        <p:spPr>
          <a:xfrm>
            <a:off x="548640" y="1783080"/>
            <a:ext cx="5120640" cy="320040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Understand the problem before writing any code.</a:t>
            </a:r>
            <a:endParaRPr lang="en-IE" sz="1800" dirty="0"/>
          </a:p>
          <a:p>
            <a:pPr marL="228600" indent="-228600">
              <a:spcAft>
                <a:spcPts val="1400"/>
              </a:spcAft>
              <a:buSzPct val="100000"/>
              <a:buChar char="•"/>
            </a:pPr>
            <a:r>
              <a:rPr lang="en-IE" sz="1800" dirty="0">
                <a:solidFill>
                  <a:schemeClr val="tx1"/>
                </a:solidFill>
              </a:rPr>
              <a:t>Find and describe the main ideas (concepts) in the problem area. This area is called the </a:t>
            </a:r>
            <a:r>
              <a:rPr lang="en-IE" sz="1800" b="1" dirty="0">
                <a:solidFill>
                  <a:schemeClr val="tx1"/>
                </a:solidFill>
              </a:rPr>
              <a:t>problem domain</a:t>
            </a:r>
            <a:r>
              <a:rPr lang="en-IE" sz="1800" dirty="0">
                <a:solidFill>
                  <a:schemeClr val="tx1"/>
                </a:solidFill>
              </a:rPr>
              <a:t>.</a:t>
            </a:r>
            <a:endParaRPr lang="en-IE" sz="1800" dirty="0"/>
          </a:p>
          <a:p>
            <a:pPr marL="228600" indent="-228600">
              <a:buSzPct val="100000"/>
              <a:buChar char="•"/>
            </a:pPr>
            <a:r>
              <a:rPr lang="en-IE" sz="1800" dirty="0">
                <a:solidFill>
                  <a:schemeClr val="tx1"/>
                </a:solidFill>
              </a:rPr>
              <a:t>Capture what the users need, from their point of view, with </a:t>
            </a:r>
            <a:r>
              <a:rPr lang="en-IE" sz="1800" b="1" dirty="0">
                <a:solidFill>
                  <a:schemeClr val="tx1"/>
                </a:solidFill>
              </a:rPr>
              <a:t>use cases</a:t>
            </a:r>
            <a:r>
              <a:rPr lang="en-IE" sz="1800" dirty="0">
                <a:solidFill>
                  <a:schemeClr val="tx1"/>
                </a:solidFill>
              </a:rPr>
              <a:t>.</a:t>
            </a:r>
            <a:endParaRPr lang="en-IE" sz="1800" dirty="0"/>
          </a:p>
        </p:txBody>
      </p:sp>
      <p:sp>
        <p:nvSpPr>
          <p:cNvPr id="6" name="In short"/>
          <p:cNvSpPr/>
          <p:nvPr/>
        </p:nvSpPr>
        <p:spPr>
          <a:xfrm>
            <a:off x="548640" y="5120640"/>
            <a:ext cx="5120640" cy="868680"/>
          </a:xfrm>
          <a:prstGeom prst="roundRect">
            <a:avLst>
              <a:gd name="adj" fmla="val 12632"/>
            </a:avLst>
          </a:prstGeom>
          <a:solidFill>
            <a:schemeClr val="bg2"/>
          </a:solidFill>
          <a:ln/>
        </p:spPr>
      </p:sp>
      <p:sp>
        <p:nvSpPr>
          <p:cNvPr id="7" name="Text 4"/>
          <p:cNvSpPr txBox="1"/>
          <p:nvPr/>
        </p:nvSpPr>
        <p:spPr>
          <a:xfrm>
            <a:off x="822960" y="5120640"/>
            <a:ext cx="4663440" cy="868680"/>
          </a:xfrm>
          <a:prstGeom prst="rect">
            <a:avLst/>
          </a:prstGeom>
          <a:noFill/>
          <a:ln/>
        </p:spPr>
        <p:txBody>
          <a:bodyPr wrap="square" lIns="0" tIns="0" rIns="0" bIns="0" rtlCol="0" anchor="ctr"/>
          <a:lstStyle/>
          <a:p>
            <a:pPr indent="0" marL="0">
              <a:buNone/>
            </a:pPr>
            <a:r>
              <a:rPr lang="en-IE" sz="1900" dirty="0">
                <a:solidFill>
                  <a:schemeClr val="tx1"/>
                </a:solidFill>
              </a:rPr>
              <a:t>Analysis answers </a:t>
            </a:r>
            <a:r>
              <a:rPr lang="en-IE" sz="1900" b="1" dirty="0">
                <a:solidFill>
                  <a:schemeClr val="tx1"/>
                </a:solidFill>
              </a:rPr>
              <a:t>what</a:t>
            </a:r>
            <a:r>
              <a:rPr lang="en-IE" sz="1900" dirty="0">
                <a:solidFill>
                  <a:schemeClr val="tx1"/>
                </a:solidFill>
              </a:rPr>
              <a:t> we are making.</a:t>
            </a:r>
            <a:endParaRPr lang="en-IE" sz="1900" dirty="0"/>
          </a:p>
        </p:txBody>
      </p:sp>
      <p:sp>
        <p:nvSpPr>
          <p:cNvPr id="8" name="System boundary"/>
          <p:cNvSpPr/>
          <p:nvPr/>
        </p:nvSpPr>
        <p:spPr>
          <a:xfrm>
            <a:off x="7818120" y="1783080"/>
            <a:ext cx="3824935" cy="4069080"/>
          </a:xfrm>
          <a:prstGeom prst="roundRect">
            <a:avLst>
              <a:gd name="adj" fmla="val 3586"/>
            </a:avLst>
          </a:prstGeom>
          <a:solidFill>
            <a:schemeClr val="bg2"/>
          </a:solidFill>
          <a:ln w="12700">
            <a:solidFill>
              <a:schemeClr val="accent2"/>
            </a:solidFill>
            <a:prstDash val="solid"/>
          </a:ln>
        </p:spPr>
      </p:sp>
      <p:sp>
        <p:nvSpPr>
          <p:cNvPr id="9" name="Text 6"/>
          <p:cNvSpPr txBox="1"/>
          <p:nvPr/>
        </p:nvSpPr>
        <p:spPr>
          <a:xfrm>
            <a:off x="7818120" y="1920240"/>
            <a:ext cx="3824935" cy="320040"/>
          </a:xfrm>
          <a:prstGeom prst="rect">
            <a:avLst/>
          </a:prstGeom>
          <a:noFill/>
          <a:ln/>
        </p:spPr>
        <p:txBody>
          <a:bodyPr wrap="square" lIns="0" tIns="0" rIns="0" bIns="0" rtlCol="0" anchor="t"/>
          <a:lstStyle/>
          <a:p>
            <a:pPr algn="ctr" indent="0" marL="0">
              <a:buNone/>
            </a:pPr>
            <a:r>
              <a:rPr lang="en-IE" sz="1400" b="1" dirty="0">
                <a:solidFill>
                  <a:schemeClr val="tx2"/>
                </a:solidFill>
              </a:rPr>
              <a:t>College system</a:t>
            </a:r>
            <a:endParaRPr lang="en-IE" sz="1400" dirty="0"/>
          </a:p>
        </p:txBody>
      </p:sp>
      <p:pic>
        <p:nvPicPr>
          <p:cNvPr id="10" name="Actor" descr="Actor">    </p:cNvPr>
          <p:cNvPicPr>
            <a:picLocks noChangeAspect="1"/>
          </p:cNvPicPr>
          <p:nvPr/>
        </p:nvPicPr>
        <p:blipFill>
          <a:blip r:embed="rId1"/>
          <a:stretch>
            <a:fillRect/>
          </a:stretch>
        </p:blipFill>
        <p:spPr>
          <a:xfrm>
            <a:off x="6172200" y="2926080"/>
            <a:ext cx="1051560" cy="1051560"/>
          </a:xfrm>
          <a:prstGeom prst="rect">
            <a:avLst/>
          </a:prstGeom>
        </p:spPr>
      </p:pic>
      <p:sp>
        <p:nvSpPr>
          <p:cNvPr id="11" name="Text 7"/>
          <p:cNvSpPr txBox="1"/>
          <p:nvPr/>
        </p:nvSpPr>
        <p:spPr>
          <a:xfrm>
            <a:off x="5989320" y="3977640"/>
            <a:ext cx="1417320" cy="320040"/>
          </a:xfrm>
          <a:prstGeom prst="rect">
            <a:avLst/>
          </a:prstGeom>
          <a:noFill/>
          <a:ln/>
        </p:spPr>
        <p:txBody>
          <a:bodyPr wrap="square" lIns="0" tIns="0" rIns="0" bIns="0" rtlCol="0" anchor="t"/>
          <a:lstStyle/>
          <a:p>
            <a:pPr algn="ctr" indent="0" marL="0">
              <a:buNone/>
            </a:pPr>
            <a:r>
              <a:rPr lang="en-IE" sz="1500" b="1" dirty="0">
                <a:solidFill>
                  <a:schemeClr val="tx1"/>
                </a:solidFill>
              </a:rPr>
              <a:t>Student</a:t>
            </a:r>
            <a:endParaRPr lang="en-IE" sz="1500" dirty="0"/>
          </a:p>
        </p:txBody>
      </p:sp>
      <p:sp>
        <p:nvSpPr>
          <p:cNvPr id="12" name="Connector"/>
          <p:cNvSpPr/>
          <p:nvPr/>
        </p:nvSpPr>
        <p:spPr>
          <a:xfrm flipV="1">
            <a:off x="7269480" y="2811780"/>
            <a:ext cx="868680" cy="644652"/>
          </a:xfrm>
          <a:prstGeom prst="line">
            <a:avLst/>
          </a:prstGeom>
          <a:noFill/>
          <a:ln w="15875">
            <a:solidFill>
              <a:schemeClr val="tx2"/>
            </a:solidFill>
            <a:prstDash val="solid"/>
          </a:ln>
        </p:spPr>
      </p:sp>
      <p:sp>
        <p:nvSpPr>
          <p:cNvPr id="13" name="Use case"/>
          <p:cNvSpPr/>
          <p:nvPr/>
        </p:nvSpPr>
        <p:spPr>
          <a:xfrm>
            <a:off x="8138160" y="2423160"/>
            <a:ext cx="3184855" cy="777240"/>
          </a:xfrm>
          <a:prstGeom prst="ellipse">
            <a:avLst/>
          </a:prstGeom>
          <a:solidFill>
            <a:schemeClr val="bg1"/>
          </a:solidFill>
          <a:ln w="15875">
            <a:solidFill>
              <a:schemeClr val="accent2"/>
            </a:solidFill>
          </a:ln>
        </p:spPr>
        <p:txBody>
          <a:bodyPr wrap="square" lIns="0" tIns="0" rIns="0" bIns="0" rtlCol="0" anchor="ctr"/>
          <a:lstStyle/>
          <a:p>
            <a:pPr algn="ctr" indent="0" marL="0">
              <a:buNone/>
            </a:pPr>
            <a:r>
              <a:rPr lang="en-IE" sz="1500" dirty="0">
                <a:solidFill>
                  <a:schemeClr val="tx1"/>
                </a:solidFill>
              </a:rPr>
              <a:t>Enrol on a module</a:t>
            </a:r>
            <a:endParaRPr lang="en-IE" sz="1500" dirty="0"/>
          </a:p>
        </p:txBody>
      </p:sp>
      <p:sp>
        <p:nvSpPr>
          <p:cNvPr id="14" name="Connector"/>
          <p:cNvSpPr/>
          <p:nvPr/>
        </p:nvSpPr>
        <p:spPr>
          <a:xfrm>
            <a:off x="7269480" y="3456432"/>
            <a:ext cx="868680" cy="452628"/>
          </a:xfrm>
          <a:prstGeom prst="line">
            <a:avLst/>
          </a:prstGeom>
          <a:noFill/>
          <a:ln w="15875">
            <a:solidFill>
              <a:schemeClr val="tx2"/>
            </a:solidFill>
            <a:prstDash val="solid"/>
          </a:ln>
        </p:spPr>
      </p:sp>
      <p:sp>
        <p:nvSpPr>
          <p:cNvPr id="15" name="Use case"/>
          <p:cNvSpPr/>
          <p:nvPr/>
        </p:nvSpPr>
        <p:spPr>
          <a:xfrm>
            <a:off x="8138160" y="3520440"/>
            <a:ext cx="3184855" cy="777240"/>
          </a:xfrm>
          <a:prstGeom prst="ellipse">
            <a:avLst/>
          </a:prstGeom>
          <a:solidFill>
            <a:schemeClr val="bg1"/>
          </a:solidFill>
          <a:ln w="15875">
            <a:solidFill>
              <a:schemeClr val="accent2"/>
            </a:solidFill>
          </a:ln>
        </p:spPr>
        <p:txBody>
          <a:bodyPr wrap="square" lIns="0" tIns="0" rIns="0" bIns="0" rtlCol="0" anchor="ctr"/>
          <a:lstStyle/>
          <a:p>
            <a:pPr algn="ctr" indent="0" marL="0">
              <a:buNone/>
            </a:pPr>
            <a:r>
              <a:rPr lang="en-IE" sz="1500" dirty="0">
                <a:solidFill>
                  <a:schemeClr val="tx1"/>
                </a:solidFill>
              </a:rPr>
              <a:t>View exam results</a:t>
            </a:r>
            <a:endParaRPr lang="en-IE" sz="1500" dirty="0"/>
          </a:p>
        </p:txBody>
      </p:sp>
      <p:sp>
        <p:nvSpPr>
          <p:cNvPr id="16" name="Connector"/>
          <p:cNvSpPr/>
          <p:nvPr/>
        </p:nvSpPr>
        <p:spPr>
          <a:xfrm>
            <a:off x="7269480" y="3456432"/>
            <a:ext cx="868680" cy="1549908"/>
          </a:xfrm>
          <a:prstGeom prst="line">
            <a:avLst/>
          </a:prstGeom>
          <a:noFill/>
          <a:ln w="15875">
            <a:solidFill>
              <a:schemeClr val="tx2"/>
            </a:solidFill>
            <a:prstDash val="solid"/>
          </a:ln>
        </p:spPr>
      </p:sp>
      <p:sp>
        <p:nvSpPr>
          <p:cNvPr id="17" name="Use case"/>
          <p:cNvSpPr/>
          <p:nvPr/>
        </p:nvSpPr>
        <p:spPr>
          <a:xfrm>
            <a:off x="8138160" y="4617720"/>
            <a:ext cx="3184855" cy="777240"/>
          </a:xfrm>
          <a:prstGeom prst="ellipse">
            <a:avLst/>
          </a:prstGeom>
          <a:solidFill>
            <a:schemeClr val="bg1"/>
          </a:solidFill>
          <a:ln w="15875">
            <a:solidFill>
              <a:schemeClr val="accent2"/>
            </a:solidFill>
          </a:ln>
        </p:spPr>
        <p:txBody>
          <a:bodyPr wrap="square" lIns="0" tIns="0" rIns="0" bIns="0" rtlCol="0" anchor="ctr"/>
          <a:lstStyle/>
          <a:p>
            <a:pPr algn="ctr" indent="0" marL="0">
              <a:buNone/>
            </a:pPr>
            <a:r>
              <a:rPr lang="en-IE" sz="1500" dirty="0">
                <a:solidFill>
                  <a:schemeClr val="tx1"/>
                </a:solidFill>
              </a:rPr>
              <a:t>Pay fees</a:t>
            </a:r>
            <a:endParaRPr lang="en-IE" sz="1500" dirty="0"/>
          </a:p>
        </p:txBody>
      </p:sp>
      <p:sp>
        <p:nvSpPr>
          <p:cNvPr id="18" name="Text 14"/>
          <p:cNvSpPr txBox="1"/>
          <p:nvPr/>
        </p:nvSpPr>
        <p:spPr>
          <a:xfrm>
            <a:off x="5943600" y="5897880"/>
            <a:ext cx="5696712" cy="320040"/>
          </a:xfrm>
          <a:prstGeom prst="rect">
            <a:avLst/>
          </a:prstGeom>
          <a:noFill/>
          <a:ln/>
        </p:spPr>
        <p:txBody>
          <a:bodyPr wrap="square" lIns="0" tIns="0" rIns="0" bIns="0" rtlCol="0" anchor="t"/>
          <a:lstStyle/>
          <a:p>
            <a:pPr algn="r" indent="0" marL="0">
              <a:buNone/>
            </a:pPr>
            <a:r>
              <a:rPr lang="en-IE" sz="1300" dirty="0">
                <a:solidFill>
                  <a:schemeClr val="tx2"/>
                </a:solidFill>
              </a:rPr>
              <a:t>A use case diagram: who uses the system, and what they need to do.</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analysis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Object-oriented analysis mainly answers which question?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What do the users need us to make?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How should the code and classes be structured?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Which programming language should we use?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How do we find and fix the bugs in the code?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analysis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Object-oriented analysis mainly answers which question?</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What do the users need us to make?</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How should the code and classes be structured?</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Which programming language should we use?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How do we find and fix the bugs in the code?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Analysis is the </a:t>
            </a:r>
            <a:r>
              <a:rPr lang="en-IE" sz="1800" b="1" dirty="0">
                <a:solidFill>
                  <a:schemeClr val="tx1"/>
                </a:solidFill>
              </a:rPr>
              <a:t>what</a:t>
            </a:r>
            <a:r>
              <a:rPr lang="en-IE" sz="1800" dirty="0">
                <a:solidFill>
                  <a:schemeClr val="tx1"/>
                </a:solidFill>
              </a:rPr>
              <a:t>: understanding the problem and the users’ needs, often with use cases. The </a:t>
            </a:r>
            <a:r>
              <a:rPr lang="en-IE" sz="1800" b="1" dirty="0">
                <a:solidFill>
                  <a:schemeClr val="tx1"/>
                </a:solidFill>
              </a:rPr>
              <a:t>how</a:t>
            </a:r>
            <a:r>
              <a:rPr lang="en-IE" sz="1800" dirty="0">
                <a:solidFill>
                  <a:schemeClr val="tx1"/>
                </a:solidFill>
              </a:rPr>
              <a:t> comes in design, and fixing bugs happens during programming.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OO DEVELOPMENT</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Design: how will we make it?</a:t>
            </a:r>
            <a:endParaRPr lang="en-IE" sz="3400" dirty="0"/>
          </a:p>
        </p:txBody>
      </p:sp>
      <p:sp>
        <p:nvSpPr>
          <p:cNvPr id="5" name="Text 2"/>
          <p:cNvSpPr txBox="1"/>
          <p:nvPr/>
        </p:nvSpPr>
        <p:spPr>
          <a:xfrm>
            <a:off x="548640" y="1783080"/>
            <a:ext cx="4160520" cy="320040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Turn the ideas from analysis into classes and objects for our software.</a:t>
            </a:r>
            <a:endParaRPr lang="en-IE" sz="1800" dirty="0"/>
          </a:p>
          <a:p>
            <a:pPr marL="228600" indent="-228600">
              <a:spcAft>
                <a:spcPts val="1400"/>
              </a:spcAft>
              <a:buSzPct val="100000"/>
              <a:buChar char="•"/>
            </a:pPr>
            <a:r>
              <a:rPr lang="en-IE" sz="1800" dirty="0">
                <a:solidFill>
                  <a:schemeClr val="tx1"/>
                </a:solidFill>
              </a:rPr>
              <a:t>Plan the structure of the code before writing it.</a:t>
            </a:r>
            <a:endParaRPr lang="en-IE" sz="1800" dirty="0"/>
          </a:p>
          <a:p>
            <a:pPr marL="228600" indent="-228600">
              <a:buSzPct val="100000"/>
              <a:buChar char="•"/>
            </a:pPr>
            <a:r>
              <a:rPr lang="en-IE" sz="1800" dirty="0">
                <a:solidFill>
                  <a:schemeClr val="tx1"/>
                </a:solidFill>
              </a:rPr>
              <a:t>Use diagrams such as </a:t>
            </a:r>
            <a:r>
              <a:rPr lang="en-IE" sz="1800" b="1" dirty="0">
                <a:solidFill>
                  <a:schemeClr val="tx1"/>
                </a:solidFill>
              </a:rPr>
              <a:t>UML</a:t>
            </a:r>
            <a:r>
              <a:rPr lang="en-IE" sz="1800" dirty="0">
                <a:solidFill>
                  <a:schemeClr val="tx1"/>
                </a:solidFill>
              </a:rPr>
              <a:t> class diagrams.</a:t>
            </a:r>
            <a:endParaRPr lang="en-IE" sz="1800" dirty="0"/>
          </a:p>
        </p:txBody>
      </p:sp>
      <p:sp>
        <p:nvSpPr>
          <p:cNvPr id="6" name="In short"/>
          <p:cNvSpPr/>
          <p:nvPr/>
        </p:nvSpPr>
        <p:spPr>
          <a:xfrm>
            <a:off x="548640" y="5120640"/>
            <a:ext cx="4160520" cy="868680"/>
          </a:xfrm>
          <a:prstGeom prst="roundRect">
            <a:avLst>
              <a:gd name="adj" fmla="val 12632"/>
            </a:avLst>
          </a:prstGeom>
          <a:solidFill>
            <a:schemeClr val="bg2"/>
          </a:solidFill>
          <a:ln/>
        </p:spPr>
      </p:sp>
      <p:sp>
        <p:nvSpPr>
          <p:cNvPr id="7" name="Text 4"/>
          <p:cNvSpPr txBox="1"/>
          <p:nvPr/>
        </p:nvSpPr>
        <p:spPr>
          <a:xfrm>
            <a:off x="822960" y="5120640"/>
            <a:ext cx="3749040" cy="868680"/>
          </a:xfrm>
          <a:prstGeom prst="rect">
            <a:avLst/>
          </a:prstGeom>
          <a:noFill/>
          <a:ln/>
        </p:spPr>
        <p:txBody>
          <a:bodyPr wrap="square" lIns="0" tIns="0" rIns="0" bIns="0" rtlCol="0" anchor="ctr"/>
          <a:lstStyle/>
          <a:p>
            <a:pPr indent="0" marL="0">
              <a:buNone/>
            </a:pPr>
            <a:r>
              <a:rPr lang="en-IE" sz="1900" dirty="0">
                <a:solidFill>
                  <a:schemeClr val="tx1"/>
                </a:solidFill>
              </a:rPr>
              <a:t>Design answers </a:t>
            </a:r>
            <a:r>
              <a:rPr lang="en-IE" sz="1900" b="1" dirty="0">
                <a:solidFill>
                  <a:schemeClr val="tx1"/>
                </a:solidFill>
              </a:rPr>
              <a:t>how</a:t>
            </a:r>
            <a:r>
              <a:rPr lang="en-IE" sz="1900" dirty="0">
                <a:solidFill>
                  <a:schemeClr val="tx1"/>
                </a:solidFill>
              </a:rPr>
              <a:t> we will make it.</a:t>
            </a:r>
            <a:endParaRPr lang="en-IE" sz="1900" dirty="0"/>
          </a:p>
        </p:txBody>
      </p:sp>
      <p:sp>
        <p:nvSpPr>
          <p:cNvPr id="8" name="UML Animal"/>
          <p:cNvSpPr/>
          <p:nvPr/>
        </p:nvSpPr>
        <p:spPr>
          <a:xfrm>
            <a:off x="7372807" y="1737360"/>
            <a:ext cx="2011680" cy="1591056"/>
          </a:xfrm>
          <a:prstGeom prst="rect">
            <a:avLst/>
          </a:prstGeom>
          <a:solidFill>
            <a:schemeClr val="bg1"/>
          </a:solidFill>
          <a:ln w="15875">
            <a:solidFill>
              <a:schemeClr val="accent2"/>
            </a:solidFill>
            <a:prstDash val="solid"/>
          </a:ln>
          <a:effectLst>
            <a:outerShdw sx="100000" sy="100000" kx="0" ky="0" algn="bl" rotWithShape="0" blurRad="76200" dist="19050" dir="5400000">
              <a:srgbClr val="1D2433">
                <a:alpha val="8000"/>
              </a:srgbClr>
            </a:outerShdw>
          </a:effectLst>
        </p:spPr>
      </p:sp>
      <p:sp>
        <p:nvSpPr>
          <p:cNvPr id="9" name="UML Animal name"/>
          <p:cNvSpPr/>
          <p:nvPr/>
        </p:nvSpPr>
        <p:spPr>
          <a:xfrm>
            <a:off x="7372807" y="1737360"/>
            <a:ext cx="2011680" cy="384048"/>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IE" sz="1500" b="1" dirty="0">
                <a:solidFill>
                  <a:schemeClr val="bg1"/>
                </a:solidFill>
              </a:rPr>
              <a:t>Animal</a:t>
            </a:r>
            <a:endParaRPr lang="en-IE" sz="1500" dirty="0"/>
          </a:p>
        </p:txBody>
      </p:sp>
      <p:sp>
        <p:nvSpPr>
          <p:cNvPr id="10" name="UML divider"/>
          <p:cNvSpPr/>
          <p:nvPr/>
        </p:nvSpPr>
        <p:spPr>
          <a:xfrm>
            <a:off x="7372807" y="2724912"/>
            <a:ext cx="2011680" cy="0"/>
          </a:xfrm>
          <a:prstGeom prst="line">
            <a:avLst/>
          </a:prstGeom>
          <a:noFill/>
          <a:ln w="12700">
            <a:solidFill>
              <a:schemeClr val="accent2"/>
            </a:solidFill>
            <a:prstDash val="solid"/>
          </a:ln>
        </p:spPr>
      </p:sp>
      <p:sp>
        <p:nvSpPr>
          <p:cNvPr id="11" name="Text 8"/>
          <p:cNvSpPr txBox="1"/>
          <p:nvPr/>
        </p:nvSpPr>
        <p:spPr>
          <a:xfrm>
            <a:off x="7482535" y="2185416"/>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age: int</a:t>
            </a:r>
            <a:endParaRPr lang="en-IE" sz="1300" dirty="0"/>
          </a:p>
          <a:p>
            <a:pPr indent="0" marL="0">
              <a:lnSpc>
                <a:spcPts val="1872"/>
              </a:lnSpc>
              <a:buNone/>
            </a:pPr>
            <a:r>
              <a:rPr lang="en-IE" sz="1300" dirty="0">
                <a:solidFill>
                  <a:schemeClr val="tx1"/>
                </a:solidFill>
              </a:rPr>
              <a:t>gender: String</a:t>
            </a:r>
            <a:endParaRPr lang="en-IE" sz="1300" dirty="0"/>
          </a:p>
        </p:txBody>
      </p:sp>
      <p:sp>
        <p:nvSpPr>
          <p:cNvPr id="12" name="Text 9"/>
          <p:cNvSpPr txBox="1"/>
          <p:nvPr/>
        </p:nvSpPr>
        <p:spPr>
          <a:xfrm>
            <a:off x="7482535" y="2788920"/>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isMammal()</a:t>
            </a:r>
            <a:endParaRPr lang="en-IE" sz="1300" dirty="0"/>
          </a:p>
          <a:p>
            <a:pPr indent="0" marL="0">
              <a:lnSpc>
                <a:spcPts val="1872"/>
              </a:lnSpc>
              <a:buNone/>
            </a:pPr>
            <a:r>
              <a:rPr lang="en-IE" sz="1300" dirty="0">
                <a:solidFill>
                  <a:schemeClr val="tx1"/>
                </a:solidFill>
              </a:rPr>
              <a:t>mate()</a:t>
            </a:r>
            <a:endParaRPr lang="en-IE" sz="1300" dirty="0"/>
          </a:p>
        </p:txBody>
      </p:sp>
      <p:sp>
        <p:nvSpPr>
          <p:cNvPr id="13" name="UML line"/>
          <p:cNvSpPr/>
          <p:nvPr/>
        </p:nvSpPr>
        <p:spPr>
          <a:xfrm>
            <a:off x="8378647" y="3547872"/>
            <a:ext cx="0" cy="192024"/>
          </a:xfrm>
          <a:prstGeom prst="line">
            <a:avLst/>
          </a:prstGeom>
          <a:noFill/>
          <a:ln w="15875">
            <a:solidFill>
              <a:schemeClr val="accent2"/>
            </a:solidFill>
            <a:prstDash val="solid"/>
          </a:ln>
        </p:spPr>
      </p:sp>
      <p:sp>
        <p:nvSpPr>
          <p:cNvPr id="14" name="Inheritance arrow"/>
          <p:cNvSpPr/>
          <p:nvPr/>
        </p:nvSpPr>
        <p:spPr>
          <a:xfrm>
            <a:off x="8241487" y="3328416"/>
            <a:ext cx="274320" cy="219456"/>
          </a:xfrm>
          <a:prstGeom prst="triangle">
            <a:avLst/>
          </a:prstGeom>
          <a:solidFill>
            <a:schemeClr val="bg1"/>
          </a:solidFill>
          <a:ln w="15875">
            <a:solidFill>
              <a:schemeClr val="accent2"/>
            </a:solidFill>
            <a:prstDash val="solid"/>
          </a:ln>
        </p:spPr>
      </p:sp>
      <p:sp>
        <p:nvSpPr>
          <p:cNvPr id="15" name="UML line"/>
          <p:cNvSpPr/>
          <p:nvPr/>
        </p:nvSpPr>
        <p:spPr>
          <a:xfrm>
            <a:off x="6120079" y="3739896"/>
            <a:ext cx="4517136" cy="0"/>
          </a:xfrm>
          <a:prstGeom prst="line">
            <a:avLst/>
          </a:prstGeom>
          <a:noFill/>
          <a:ln w="15875">
            <a:solidFill>
              <a:schemeClr val="accent2"/>
            </a:solidFill>
            <a:prstDash val="solid"/>
          </a:ln>
        </p:spPr>
      </p:sp>
      <p:sp>
        <p:nvSpPr>
          <p:cNvPr id="16" name="UML line"/>
          <p:cNvSpPr/>
          <p:nvPr/>
        </p:nvSpPr>
        <p:spPr>
          <a:xfrm>
            <a:off x="6120079" y="3739896"/>
            <a:ext cx="0" cy="228600"/>
          </a:xfrm>
          <a:prstGeom prst="line">
            <a:avLst/>
          </a:prstGeom>
          <a:noFill/>
          <a:ln w="15875">
            <a:solidFill>
              <a:schemeClr val="accent2"/>
            </a:solidFill>
            <a:prstDash val="solid"/>
          </a:ln>
        </p:spPr>
      </p:sp>
      <p:sp>
        <p:nvSpPr>
          <p:cNvPr id="17" name="UML Duck"/>
          <p:cNvSpPr/>
          <p:nvPr/>
        </p:nvSpPr>
        <p:spPr>
          <a:xfrm>
            <a:off x="5114239" y="3968496"/>
            <a:ext cx="2011680" cy="1591056"/>
          </a:xfrm>
          <a:prstGeom prst="rect">
            <a:avLst/>
          </a:prstGeom>
          <a:solidFill>
            <a:schemeClr val="bg1"/>
          </a:solidFill>
          <a:ln w="15875">
            <a:solidFill>
              <a:schemeClr val="accent2"/>
            </a:solidFill>
            <a:prstDash val="solid"/>
          </a:ln>
          <a:effectLst>
            <a:outerShdw sx="100000" sy="100000" kx="0" ky="0" algn="bl" rotWithShape="0" blurRad="76200" dist="19050" dir="5400000">
              <a:srgbClr val="1D2433">
                <a:alpha val="8000"/>
              </a:srgbClr>
            </a:outerShdw>
          </a:effectLst>
        </p:spPr>
      </p:sp>
      <p:sp>
        <p:nvSpPr>
          <p:cNvPr id="18" name="UML Duck name"/>
          <p:cNvSpPr/>
          <p:nvPr/>
        </p:nvSpPr>
        <p:spPr>
          <a:xfrm>
            <a:off x="5114239" y="3968496"/>
            <a:ext cx="2011680" cy="384048"/>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IE" sz="1500" b="1" dirty="0">
                <a:solidFill>
                  <a:schemeClr val="bg1"/>
                </a:solidFill>
              </a:rPr>
              <a:t>Duck</a:t>
            </a:r>
            <a:endParaRPr lang="en-IE" sz="1500" dirty="0"/>
          </a:p>
        </p:txBody>
      </p:sp>
      <p:sp>
        <p:nvSpPr>
          <p:cNvPr id="19" name="UML divider"/>
          <p:cNvSpPr/>
          <p:nvPr/>
        </p:nvSpPr>
        <p:spPr>
          <a:xfrm>
            <a:off x="5114239" y="4956048"/>
            <a:ext cx="2011680" cy="0"/>
          </a:xfrm>
          <a:prstGeom prst="line">
            <a:avLst/>
          </a:prstGeom>
          <a:noFill/>
          <a:ln w="12700">
            <a:solidFill>
              <a:schemeClr val="accent2"/>
            </a:solidFill>
            <a:prstDash val="solid"/>
          </a:ln>
        </p:spPr>
      </p:sp>
      <p:sp>
        <p:nvSpPr>
          <p:cNvPr id="20" name="Text 17"/>
          <p:cNvSpPr txBox="1"/>
          <p:nvPr/>
        </p:nvSpPr>
        <p:spPr>
          <a:xfrm>
            <a:off x="5223967" y="4416552"/>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beakColor: String</a:t>
            </a:r>
            <a:endParaRPr lang="en-IE" sz="1300" dirty="0"/>
          </a:p>
        </p:txBody>
      </p:sp>
      <p:sp>
        <p:nvSpPr>
          <p:cNvPr id="21" name="Text 18"/>
          <p:cNvSpPr txBox="1"/>
          <p:nvPr/>
        </p:nvSpPr>
        <p:spPr>
          <a:xfrm>
            <a:off x="5223967" y="5020056"/>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isMammal()</a:t>
            </a:r>
            <a:endParaRPr lang="en-IE" sz="1300" dirty="0"/>
          </a:p>
          <a:p>
            <a:pPr indent="0" marL="0">
              <a:lnSpc>
                <a:spcPts val="1872"/>
              </a:lnSpc>
              <a:buNone/>
            </a:pPr>
            <a:r>
              <a:rPr lang="en-IE" sz="1300" dirty="0">
                <a:solidFill>
                  <a:schemeClr val="tx1"/>
                </a:solidFill>
              </a:rPr>
              <a:t>mate()</a:t>
            </a:r>
            <a:endParaRPr lang="en-IE" sz="1300" dirty="0"/>
          </a:p>
        </p:txBody>
      </p:sp>
      <p:sp>
        <p:nvSpPr>
          <p:cNvPr id="22" name="UML line"/>
          <p:cNvSpPr/>
          <p:nvPr/>
        </p:nvSpPr>
        <p:spPr>
          <a:xfrm>
            <a:off x="8378647" y="3739896"/>
            <a:ext cx="0" cy="228600"/>
          </a:xfrm>
          <a:prstGeom prst="line">
            <a:avLst/>
          </a:prstGeom>
          <a:noFill/>
          <a:ln w="15875">
            <a:solidFill>
              <a:schemeClr val="accent2"/>
            </a:solidFill>
            <a:prstDash val="solid"/>
          </a:ln>
        </p:spPr>
      </p:sp>
      <p:sp>
        <p:nvSpPr>
          <p:cNvPr id="23" name="UML Fish"/>
          <p:cNvSpPr/>
          <p:nvPr/>
        </p:nvSpPr>
        <p:spPr>
          <a:xfrm>
            <a:off x="7372807" y="3968496"/>
            <a:ext cx="2011680" cy="1591056"/>
          </a:xfrm>
          <a:prstGeom prst="rect">
            <a:avLst/>
          </a:prstGeom>
          <a:solidFill>
            <a:schemeClr val="bg1"/>
          </a:solidFill>
          <a:ln w="15875">
            <a:solidFill>
              <a:schemeClr val="accent2"/>
            </a:solidFill>
            <a:prstDash val="solid"/>
          </a:ln>
          <a:effectLst>
            <a:outerShdw sx="100000" sy="100000" kx="0" ky="0" algn="bl" rotWithShape="0" blurRad="76200" dist="19050" dir="5400000">
              <a:srgbClr val="1D2433">
                <a:alpha val="8000"/>
              </a:srgbClr>
            </a:outerShdw>
          </a:effectLst>
        </p:spPr>
      </p:sp>
      <p:sp>
        <p:nvSpPr>
          <p:cNvPr id="24" name="UML Fish name"/>
          <p:cNvSpPr/>
          <p:nvPr/>
        </p:nvSpPr>
        <p:spPr>
          <a:xfrm>
            <a:off x="7372807" y="3968496"/>
            <a:ext cx="2011680" cy="384048"/>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IE" sz="1500" b="1" dirty="0">
                <a:solidFill>
                  <a:schemeClr val="bg1"/>
                </a:solidFill>
              </a:rPr>
              <a:t>Fish</a:t>
            </a:r>
            <a:endParaRPr lang="en-IE" sz="1500" dirty="0"/>
          </a:p>
        </p:txBody>
      </p:sp>
      <p:sp>
        <p:nvSpPr>
          <p:cNvPr id="25" name="UML divider"/>
          <p:cNvSpPr/>
          <p:nvPr/>
        </p:nvSpPr>
        <p:spPr>
          <a:xfrm>
            <a:off x="7372807" y="4956048"/>
            <a:ext cx="2011680" cy="0"/>
          </a:xfrm>
          <a:prstGeom prst="line">
            <a:avLst/>
          </a:prstGeom>
          <a:noFill/>
          <a:ln w="12700">
            <a:solidFill>
              <a:schemeClr val="accent2"/>
            </a:solidFill>
            <a:prstDash val="solid"/>
          </a:ln>
        </p:spPr>
      </p:sp>
      <p:sp>
        <p:nvSpPr>
          <p:cNvPr id="26" name="Text 23"/>
          <p:cNvSpPr txBox="1"/>
          <p:nvPr/>
        </p:nvSpPr>
        <p:spPr>
          <a:xfrm>
            <a:off x="7482535" y="4416552"/>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sizeInFt: int</a:t>
            </a:r>
            <a:endParaRPr lang="en-IE" sz="1300" dirty="0"/>
          </a:p>
          <a:p>
            <a:pPr indent="0" marL="0">
              <a:lnSpc>
                <a:spcPts val="1872"/>
              </a:lnSpc>
              <a:buNone/>
            </a:pPr>
            <a:r>
              <a:rPr lang="en-IE" sz="1300" dirty="0">
                <a:solidFill>
                  <a:schemeClr val="tx1"/>
                </a:solidFill>
              </a:rPr>
              <a:t>canEat: boolean</a:t>
            </a:r>
            <a:endParaRPr lang="en-IE" sz="1300" dirty="0"/>
          </a:p>
        </p:txBody>
      </p:sp>
      <p:sp>
        <p:nvSpPr>
          <p:cNvPr id="27" name="Text 24"/>
          <p:cNvSpPr txBox="1"/>
          <p:nvPr/>
        </p:nvSpPr>
        <p:spPr>
          <a:xfrm>
            <a:off x="7482535" y="5020056"/>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swim()</a:t>
            </a:r>
            <a:endParaRPr lang="en-IE" sz="1300" dirty="0"/>
          </a:p>
        </p:txBody>
      </p:sp>
      <p:sp>
        <p:nvSpPr>
          <p:cNvPr id="28" name="UML line"/>
          <p:cNvSpPr/>
          <p:nvPr/>
        </p:nvSpPr>
        <p:spPr>
          <a:xfrm>
            <a:off x="10637215" y="3739896"/>
            <a:ext cx="0" cy="228600"/>
          </a:xfrm>
          <a:prstGeom prst="line">
            <a:avLst/>
          </a:prstGeom>
          <a:noFill/>
          <a:ln w="15875">
            <a:solidFill>
              <a:schemeClr val="accent2"/>
            </a:solidFill>
            <a:prstDash val="solid"/>
          </a:ln>
        </p:spPr>
      </p:sp>
      <p:sp>
        <p:nvSpPr>
          <p:cNvPr id="29" name="UML Zebra"/>
          <p:cNvSpPr/>
          <p:nvPr/>
        </p:nvSpPr>
        <p:spPr>
          <a:xfrm>
            <a:off x="9631375" y="3968496"/>
            <a:ext cx="2011680" cy="1591056"/>
          </a:xfrm>
          <a:prstGeom prst="rect">
            <a:avLst/>
          </a:prstGeom>
          <a:solidFill>
            <a:schemeClr val="bg1"/>
          </a:solidFill>
          <a:ln w="15875">
            <a:solidFill>
              <a:schemeClr val="accent2"/>
            </a:solidFill>
            <a:prstDash val="solid"/>
          </a:ln>
          <a:effectLst>
            <a:outerShdw sx="100000" sy="100000" kx="0" ky="0" algn="bl" rotWithShape="0" blurRad="76200" dist="19050" dir="5400000">
              <a:srgbClr val="1D2433">
                <a:alpha val="8000"/>
              </a:srgbClr>
            </a:outerShdw>
          </a:effectLst>
        </p:spPr>
      </p:sp>
      <p:sp>
        <p:nvSpPr>
          <p:cNvPr id="30" name="UML Zebra name"/>
          <p:cNvSpPr/>
          <p:nvPr/>
        </p:nvSpPr>
        <p:spPr>
          <a:xfrm>
            <a:off x="9631375" y="3968496"/>
            <a:ext cx="2011680" cy="384048"/>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IE" sz="1500" b="1" dirty="0">
                <a:solidFill>
                  <a:schemeClr val="bg1"/>
                </a:solidFill>
              </a:rPr>
              <a:t>Zebra</a:t>
            </a:r>
            <a:endParaRPr lang="en-IE" sz="1500" dirty="0"/>
          </a:p>
        </p:txBody>
      </p:sp>
      <p:sp>
        <p:nvSpPr>
          <p:cNvPr id="31" name="UML divider"/>
          <p:cNvSpPr/>
          <p:nvPr/>
        </p:nvSpPr>
        <p:spPr>
          <a:xfrm>
            <a:off x="9631375" y="4956048"/>
            <a:ext cx="2011680" cy="0"/>
          </a:xfrm>
          <a:prstGeom prst="line">
            <a:avLst/>
          </a:prstGeom>
          <a:noFill/>
          <a:ln w="12700">
            <a:solidFill>
              <a:schemeClr val="accent2"/>
            </a:solidFill>
            <a:prstDash val="solid"/>
          </a:ln>
        </p:spPr>
      </p:sp>
      <p:sp>
        <p:nvSpPr>
          <p:cNvPr id="32" name="Text 29"/>
          <p:cNvSpPr txBox="1"/>
          <p:nvPr/>
        </p:nvSpPr>
        <p:spPr>
          <a:xfrm>
            <a:off x="9741103" y="4416552"/>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isWild: boolean</a:t>
            </a:r>
            <a:endParaRPr lang="en-IE" sz="1300" dirty="0"/>
          </a:p>
        </p:txBody>
      </p:sp>
      <p:sp>
        <p:nvSpPr>
          <p:cNvPr id="33" name="Text 30"/>
          <p:cNvSpPr txBox="1"/>
          <p:nvPr/>
        </p:nvSpPr>
        <p:spPr>
          <a:xfrm>
            <a:off x="9741103" y="5020056"/>
            <a:ext cx="1828800" cy="512064"/>
          </a:xfrm>
          <a:prstGeom prst="rect">
            <a:avLst/>
          </a:prstGeom>
          <a:noFill/>
          <a:ln/>
        </p:spPr>
        <p:txBody>
          <a:bodyPr wrap="square" lIns="0" tIns="0" rIns="0" bIns="0" rtlCol="0" anchor="t"/>
          <a:lstStyle/>
          <a:p>
            <a:pPr indent="0" marL="0">
              <a:lnSpc>
                <a:spcPts val="1872"/>
              </a:lnSpc>
              <a:buNone/>
            </a:pPr>
            <a:r>
              <a:rPr lang="en-IE" sz="1300" dirty="0">
                <a:solidFill>
                  <a:schemeClr val="tx1"/>
                </a:solidFill>
              </a:rPr>
              <a:t>run()</a:t>
            </a:r>
            <a:endParaRPr lang="en-IE" sz="1300" dirty="0"/>
          </a:p>
        </p:txBody>
      </p:sp>
      <p:sp>
        <p:nvSpPr>
          <p:cNvPr id="34" name="Text 31"/>
          <p:cNvSpPr txBox="1"/>
          <p:nvPr/>
        </p:nvSpPr>
        <p:spPr>
          <a:xfrm>
            <a:off x="5114239" y="5669280"/>
            <a:ext cx="6528816" cy="457200"/>
          </a:xfrm>
          <a:prstGeom prst="rect">
            <a:avLst/>
          </a:prstGeom>
          <a:noFill/>
          <a:ln/>
        </p:spPr>
        <p:txBody>
          <a:bodyPr wrap="square" lIns="0" tIns="0" rIns="0" bIns="0" rtlCol="0" anchor="t"/>
          <a:lstStyle/>
          <a:p>
            <a:pPr indent="0" marL="0">
              <a:buNone/>
            </a:pPr>
            <a:r>
              <a:rPr lang="en-IE" sz="1300" dirty="0">
                <a:solidFill>
                  <a:schemeClr val="tx2"/>
                </a:solidFill>
              </a:rPr>
              <a:t>Each box is a class: its name, its attributes, then its methods. The arrow shows that Duck, Fish and Zebra are all kinds of Animal.</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design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used in design to show the structure of the code before it is written?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Use cases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SQL queries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UML class diagrams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Test reports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design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used in design to show the structure of the code before it is written?</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Use cases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SQL queries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UML class diagrams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Test reports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UML class diagram shows the classes, their attributes and methods, and how they connect. Use cases belong to analysis: they describe what users need, not how the code is built.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OO DEVELOPMENT</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Programming: making it work</a:t>
            </a:r>
            <a:endParaRPr lang="en-IE" sz="3400" dirty="0"/>
          </a:p>
        </p:txBody>
      </p:sp>
      <p:sp>
        <p:nvSpPr>
          <p:cNvPr id="5" name="Text 2"/>
          <p:cNvSpPr txBox="1"/>
          <p:nvPr/>
        </p:nvSpPr>
        <p:spPr>
          <a:xfrm>
            <a:off x="548640" y="1783080"/>
            <a:ext cx="4846320" cy="310896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Turn the design into real code that runs.</a:t>
            </a:r>
            <a:endParaRPr lang="en-IE" sz="1800" dirty="0"/>
          </a:p>
          <a:p>
            <a:pPr marL="228600" indent="-228600">
              <a:buSzPct val="100000"/>
              <a:buChar char="•"/>
            </a:pPr>
            <a:r>
              <a:rPr lang="en-IE" sz="1800" dirty="0">
                <a:solidFill>
                  <a:schemeClr val="tx1"/>
                </a:solidFill>
              </a:rPr>
              <a:t>Testing and refining is a big part of this stage.</a:t>
            </a:r>
            <a:endParaRPr lang="en-IE" sz="1800" dirty="0"/>
          </a:p>
        </p:txBody>
      </p:sp>
      <p:sp>
        <p:nvSpPr>
          <p:cNvPr id="6" name="In short"/>
          <p:cNvSpPr/>
          <p:nvPr/>
        </p:nvSpPr>
        <p:spPr>
          <a:xfrm>
            <a:off x="548640" y="5120640"/>
            <a:ext cx="4846320" cy="868680"/>
          </a:xfrm>
          <a:prstGeom prst="roundRect">
            <a:avLst>
              <a:gd name="adj" fmla="val 12632"/>
            </a:avLst>
          </a:prstGeom>
          <a:solidFill>
            <a:schemeClr val="bg2"/>
          </a:solidFill>
          <a:ln/>
        </p:spPr>
      </p:sp>
      <p:sp>
        <p:nvSpPr>
          <p:cNvPr id="7" name="Text 4"/>
          <p:cNvSpPr txBox="1"/>
          <p:nvPr/>
        </p:nvSpPr>
        <p:spPr>
          <a:xfrm>
            <a:off x="822960" y="5120640"/>
            <a:ext cx="4480560" cy="868680"/>
          </a:xfrm>
          <a:prstGeom prst="rect">
            <a:avLst/>
          </a:prstGeom>
          <a:noFill/>
          <a:ln/>
        </p:spPr>
        <p:txBody>
          <a:bodyPr wrap="square" lIns="0" tIns="0" rIns="0" bIns="0" rtlCol="0" anchor="ctr"/>
          <a:lstStyle/>
          <a:p>
            <a:pPr indent="0" marL="0">
              <a:buNone/>
            </a:pPr>
            <a:r>
              <a:rPr lang="en-IE" sz="1800" dirty="0">
                <a:solidFill>
                  <a:schemeClr val="tx1"/>
                </a:solidFill>
              </a:rPr>
              <a:t>Build it, run it, fix it, repeat.</a:t>
            </a:r>
            <a:endParaRPr lang="en-IE" sz="1800" dirty="0"/>
          </a:p>
        </p:txBody>
      </p:sp>
      <p:sp>
        <p:nvSpPr>
          <p:cNvPr id="8" name="Card"/>
          <p:cNvSpPr/>
          <p:nvPr/>
        </p:nvSpPr>
        <p:spPr>
          <a:xfrm>
            <a:off x="5897880" y="2240280"/>
            <a:ext cx="1600200" cy="18288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6359652" y="2532888"/>
            <a:ext cx="676656" cy="676656"/>
          </a:xfrm>
          <a:prstGeom prst="roundRect">
            <a:avLst>
              <a:gd name="adj" fmla="val 24000"/>
            </a:avLst>
          </a:prstGeom>
          <a:solidFill>
            <a:schemeClr val="accent2">
              <a:alpha val="14000"/>
            </a:schemeClr>
          </a:solidFill>
          <a:ln/>
        </p:spPr>
      </p:sp>
      <p:pic>
        <p:nvPicPr>
          <p:cNvPr id="10" name="code icon" descr="code icon">    </p:cNvPr>
          <p:cNvPicPr>
            <a:picLocks noChangeAspect="1"/>
          </p:cNvPicPr>
          <p:nvPr/>
        </p:nvPicPr>
        <p:blipFill>
          <a:blip r:embed="rId1"/>
          <a:stretch>
            <a:fillRect/>
          </a:stretch>
        </p:blipFill>
        <p:spPr>
          <a:xfrm>
            <a:off x="6501750" y="2674986"/>
            <a:ext cx="392460" cy="392460"/>
          </a:xfrm>
          <a:prstGeom prst="rect">
            <a:avLst/>
          </a:prstGeom>
        </p:spPr>
      </p:pic>
      <p:sp>
        <p:nvSpPr>
          <p:cNvPr id="11" name="Text 7"/>
          <p:cNvSpPr txBox="1"/>
          <p:nvPr/>
        </p:nvSpPr>
        <p:spPr>
          <a:xfrm>
            <a:off x="5989320" y="3337560"/>
            <a:ext cx="1417320" cy="594360"/>
          </a:xfrm>
          <a:prstGeom prst="rect">
            <a:avLst/>
          </a:prstGeom>
          <a:noFill/>
          <a:ln/>
        </p:spPr>
        <p:txBody>
          <a:bodyPr wrap="square" lIns="0" tIns="0" rIns="0" bIns="0" rtlCol="0" anchor="t"/>
          <a:lstStyle/>
          <a:p>
            <a:pPr algn="ctr" indent="0" marL="0">
              <a:buNone/>
            </a:pPr>
            <a:r>
              <a:rPr lang="en-IE" sz="1500" b="1" dirty="0">
                <a:solidFill>
                  <a:schemeClr val="tx1"/>
                </a:solidFill>
              </a:rPr>
              <a:t>Write the code</a:t>
            </a:r>
            <a:endParaRPr lang="en-IE" sz="1500" dirty="0"/>
          </a:p>
        </p:txBody>
      </p:sp>
      <p:sp>
        <p:nvSpPr>
          <p:cNvPr id="12" name="Connector"/>
          <p:cNvSpPr/>
          <p:nvPr/>
        </p:nvSpPr>
        <p:spPr>
          <a:xfrm>
            <a:off x="7552944" y="3154680"/>
            <a:ext cx="362560" cy="0"/>
          </a:xfrm>
          <a:prstGeom prst="line">
            <a:avLst/>
          </a:prstGeom>
          <a:noFill/>
          <a:ln w="22225">
            <a:solidFill>
              <a:schemeClr val="tx2"/>
            </a:solidFill>
            <a:prstDash val="solid"/>
            <a:tailEnd type="triangle"/>
          </a:ln>
        </p:spPr>
      </p:sp>
      <p:sp>
        <p:nvSpPr>
          <p:cNvPr id="13" name="Card"/>
          <p:cNvSpPr/>
          <p:nvPr/>
        </p:nvSpPr>
        <p:spPr>
          <a:xfrm>
            <a:off x="7970368" y="2240280"/>
            <a:ext cx="1600200" cy="18288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8432140" y="2532888"/>
            <a:ext cx="676656" cy="676656"/>
          </a:xfrm>
          <a:prstGeom prst="roundRect">
            <a:avLst>
              <a:gd name="adj" fmla="val 24000"/>
            </a:avLst>
          </a:prstGeom>
          <a:solidFill>
            <a:schemeClr val="accent4">
              <a:alpha val="14000"/>
            </a:schemeClr>
          </a:solidFill>
          <a:ln/>
        </p:spPr>
      </p:sp>
      <p:pic>
        <p:nvPicPr>
          <p:cNvPr id="15" name="play icon" descr="play icon">    </p:cNvPr>
          <p:cNvPicPr>
            <a:picLocks noChangeAspect="1"/>
          </p:cNvPicPr>
          <p:nvPr/>
        </p:nvPicPr>
        <p:blipFill>
          <a:blip r:embed="rId2"/>
          <a:stretch>
            <a:fillRect/>
          </a:stretch>
        </p:blipFill>
        <p:spPr>
          <a:xfrm>
            <a:off x="8574237" y="2674986"/>
            <a:ext cx="392460" cy="392460"/>
          </a:xfrm>
          <a:prstGeom prst="rect">
            <a:avLst/>
          </a:prstGeom>
        </p:spPr>
      </p:pic>
      <p:sp>
        <p:nvSpPr>
          <p:cNvPr id="16" name="Text 11"/>
          <p:cNvSpPr txBox="1"/>
          <p:nvPr/>
        </p:nvSpPr>
        <p:spPr>
          <a:xfrm>
            <a:off x="8061808" y="3337560"/>
            <a:ext cx="1417320" cy="594360"/>
          </a:xfrm>
          <a:prstGeom prst="rect">
            <a:avLst/>
          </a:prstGeom>
          <a:noFill/>
          <a:ln/>
        </p:spPr>
        <p:txBody>
          <a:bodyPr wrap="square" lIns="0" tIns="0" rIns="0" bIns="0" rtlCol="0" anchor="t"/>
          <a:lstStyle/>
          <a:p>
            <a:pPr algn="ctr" indent="0" marL="0">
              <a:buNone/>
            </a:pPr>
            <a:r>
              <a:rPr lang="en-IE" sz="1500" b="1" dirty="0">
                <a:solidFill>
                  <a:schemeClr val="tx1"/>
                </a:solidFill>
              </a:rPr>
              <a:t>Run and test</a:t>
            </a:r>
            <a:endParaRPr lang="en-IE" sz="1500" dirty="0"/>
          </a:p>
        </p:txBody>
      </p:sp>
      <p:sp>
        <p:nvSpPr>
          <p:cNvPr id="17" name="Connector"/>
          <p:cNvSpPr/>
          <p:nvPr/>
        </p:nvSpPr>
        <p:spPr>
          <a:xfrm>
            <a:off x="9625432" y="3154680"/>
            <a:ext cx="362560" cy="0"/>
          </a:xfrm>
          <a:prstGeom prst="line">
            <a:avLst/>
          </a:prstGeom>
          <a:noFill/>
          <a:ln w="22225">
            <a:solidFill>
              <a:schemeClr val="tx2"/>
            </a:solidFill>
            <a:prstDash val="solid"/>
            <a:tailEnd type="triangle"/>
          </a:ln>
        </p:spPr>
      </p:sp>
      <p:sp>
        <p:nvSpPr>
          <p:cNvPr id="18" name="Card"/>
          <p:cNvSpPr/>
          <p:nvPr/>
        </p:nvSpPr>
        <p:spPr>
          <a:xfrm>
            <a:off x="10042855" y="2240280"/>
            <a:ext cx="1600200" cy="18288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10504627" y="2532888"/>
            <a:ext cx="676656" cy="676656"/>
          </a:xfrm>
          <a:prstGeom prst="roundRect">
            <a:avLst>
              <a:gd name="adj" fmla="val 24000"/>
            </a:avLst>
          </a:prstGeom>
          <a:solidFill>
            <a:schemeClr val="accent1">
              <a:alpha val="14000"/>
            </a:schemeClr>
          </a:solidFill>
          <a:ln/>
        </p:spPr>
      </p:sp>
      <p:pic>
        <p:nvPicPr>
          <p:cNvPr id="20" name="wrench icon" descr="wrench icon">    </p:cNvPr>
          <p:cNvPicPr>
            <a:picLocks noChangeAspect="1"/>
          </p:cNvPicPr>
          <p:nvPr/>
        </p:nvPicPr>
        <p:blipFill>
          <a:blip r:embed="rId3"/>
          <a:stretch>
            <a:fillRect/>
          </a:stretch>
        </p:blipFill>
        <p:spPr>
          <a:xfrm>
            <a:off x="10646725" y="2674986"/>
            <a:ext cx="392460" cy="392460"/>
          </a:xfrm>
          <a:prstGeom prst="rect">
            <a:avLst/>
          </a:prstGeom>
        </p:spPr>
      </p:pic>
      <p:sp>
        <p:nvSpPr>
          <p:cNvPr id="21" name="Text 15"/>
          <p:cNvSpPr txBox="1"/>
          <p:nvPr/>
        </p:nvSpPr>
        <p:spPr>
          <a:xfrm>
            <a:off x="10134295" y="3337560"/>
            <a:ext cx="1417320" cy="594360"/>
          </a:xfrm>
          <a:prstGeom prst="rect">
            <a:avLst/>
          </a:prstGeom>
          <a:noFill/>
          <a:ln/>
        </p:spPr>
        <p:txBody>
          <a:bodyPr wrap="square" lIns="0" tIns="0" rIns="0" bIns="0" rtlCol="0" anchor="t"/>
          <a:lstStyle/>
          <a:p>
            <a:pPr algn="ctr" indent="0" marL="0">
              <a:buNone/>
            </a:pPr>
            <a:r>
              <a:rPr lang="en-IE" sz="1500" b="1" dirty="0">
                <a:solidFill>
                  <a:schemeClr val="tx1"/>
                </a:solidFill>
              </a:rPr>
              <a:t>Fix and improve</a:t>
            </a:r>
            <a:endParaRPr lang="en-IE" sz="1500" dirty="0"/>
          </a:p>
        </p:txBody>
      </p:sp>
      <p:sp>
        <p:nvSpPr>
          <p:cNvPr id="22" name="Connector"/>
          <p:cNvSpPr/>
          <p:nvPr/>
        </p:nvSpPr>
        <p:spPr>
          <a:xfrm>
            <a:off x="10842955" y="4123944"/>
            <a:ext cx="0" cy="448056"/>
          </a:xfrm>
          <a:prstGeom prst="line">
            <a:avLst/>
          </a:prstGeom>
          <a:noFill/>
          <a:ln w="22225">
            <a:solidFill>
              <a:schemeClr val="accent1"/>
            </a:solidFill>
            <a:prstDash val="solid"/>
          </a:ln>
        </p:spPr>
      </p:sp>
      <p:sp>
        <p:nvSpPr>
          <p:cNvPr id="23" name="Connector"/>
          <p:cNvSpPr/>
          <p:nvPr/>
        </p:nvSpPr>
        <p:spPr>
          <a:xfrm flipH="1">
            <a:off x="8770468" y="4572000"/>
            <a:ext cx="2072488" cy="0"/>
          </a:xfrm>
          <a:prstGeom prst="line">
            <a:avLst/>
          </a:prstGeom>
          <a:noFill/>
          <a:ln w="22225">
            <a:solidFill>
              <a:schemeClr val="accent1"/>
            </a:solidFill>
            <a:prstDash val="solid"/>
          </a:ln>
        </p:spPr>
      </p:sp>
      <p:sp>
        <p:nvSpPr>
          <p:cNvPr id="24" name="Connector"/>
          <p:cNvSpPr/>
          <p:nvPr/>
        </p:nvSpPr>
        <p:spPr>
          <a:xfrm flipV="1">
            <a:off x="8770468" y="4123944"/>
            <a:ext cx="0" cy="448056"/>
          </a:xfrm>
          <a:prstGeom prst="line">
            <a:avLst/>
          </a:prstGeom>
          <a:noFill/>
          <a:ln w="22225">
            <a:solidFill>
              <a:schemeClr val="accent1"/>
            </a:solidFill>
            <a:prstDash val="solid"/>
            <a:tailEnd type="triangle"/>
          </a:ln>
        </p:spPr>
      </p:sp>
      <p:sp>
        <p:nvSpPr>
          <p:cNvPr id="25" name="Text 19"/>
          <p:cNvSpPr txBox="1"/>
          <p:nvPr/>
        </p:nvSpPr>
        <p:spPr>
          <a:xfrm>
            <a:off x="8770468" y="4645152"/>
            <a:ext cx="2072488" cy="320040"/>
          </a:xfrm>
          <a:prstGeom prst="rect">
            <a:avLst/>
          </a:prstGeom>
          <a:noFill/>
          <a:ln/>
        </p:spPr>
        <p:txBody>
          <a:bodyPr wrap="square" lIns="0" tIns="0" rIns="0" bIns="0" rtlCol="0" anchor="t"/>
          <a:lstStyle/>
          <a:p>
            <a:pPr algn="ctr" indent="0" marL="0">
              <a:buNone/>
            </a:pPr>
            <a:r>
              <a:rPr lang="en-IE" sz="1300" i="1" dirty="0">
                <a:solidFill>
                  <a:schemeClr val="tx2"/>
                </a:solidFill>
              </a:rPr>
              <a:t>repeat until it works</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38</a:t>
            </a:fld>
            <a:endParaRPr lang="en-I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programming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a big part of the programming stage?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Interviewing the users about their needs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Testing and refining the program</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Drawing use case diagrams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Choosing which paradigm to use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Object-oriented programming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a big part of the programming stage?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Interviewing the users about their needs</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Testing and refining the program</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Drawing use case diagrams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Choosing which paradigm to use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Programming is where we actually build the program, and much of that time goes into testing it and fixing whatever goes wrong.</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The building blocks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Objects, classes, attributes and methods</a:t>
            </a:r>
            <a:endParaRPr lang="en-IE" sz="2000" dirty="0"/>
          </a:p>
        </p:txBody>
      </p:sp>
      <p:sp>
        <p:nvSpPr>
          <p:cNvPr id="5" name="Topic chip"/>
          <p:cNvSpPr/>
          <p:nvPr/>
        </p:nvSpPr>
        <p:spPr>
          <a:xfrm>
            <a:off x="82296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Objects</a:t>
            </a:r>
            <a:endParaRPr lang="en-IE" sz="1400" dirty="0"/>
          </a:p>
        </p:txBody>
      </p:sp>
      <p:sp>
        <p:nvSpPr>
          <p:cNvPr id="6" name="Topic chip"/>
          <p:cNvSpPr/>
          <p:nvPr/>
        </p:nvSpPr>
        <p:spPr>
          <a:xfrm>
            <a:off x="2018792"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Classes</a:t>
            </a:r>
            <a:endParaRPr lang="en-IE" sz="1400" dirty="0"/>
          </a:p>
        </p:txBody>
      </p:sp>
      <p:sp>
        <p:nvSpPr>
          <p:cNvPr id="7" name="Topic chip"/>
          <p:cNvSpPr/>
          <p:nvPr/>
        </p:nvSpPr>
        <p:spPr>
          <a:xfrm>
            <a:off x="3214624" y="4846320"/>
            <a:ext cx="132689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Attributes</a:t>
            </a:r>
            <a:endParaRPr lang="en-IE" sz="1400" dirty="0"/>
          </a:p>
        </p:txBody>
      </p:sp>
      <p:sp>
        <p:nvSpPr>
          <p:cNvPr id="8" name="Topic chip"/>
          <p:cNvSpPr/>
          <p:nvPr/>
        </p:nvSpPr>
        <p:spPr>
          <a:xfrm>
            <a:off x="4687824"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Methods</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Features of object-oriented systems</a:t>
            </a:r>
            <a:endParaRPr lang="en-IE" sz="3400" dirty="0"/>
          </a:p>
        </p:txBody>
      </p:sp>
      <p:sp>
        <p:nvSpPr>
          <p:cNvPr id="5" name="Parts panel"/>
          <p:cNvSpPr/>
          <p:nvPr/>
        </p:nvSpPr>
        <p:spPr>
          <a:xfrm>
            <a:off x="548640" y="1737360"/>
            <a:ext cx="4846320" cy="4389120"/>
          </a:xfrm>
          <a:prstGeom prst="roundRect">
            <a:avLst>
              <a:gd name="adj" fmla="val 2500"/>
            </a:avLst>
          </a:prstGeom>
          <a:solidFill>
            <a:schemeClr val="bg2"/>
          </a:solidFill>
          <a:ln/>
        </p:spPr>
      </p:sp>
      <p:sp>
        <p:nvSpPr>
          <p:cNvPr id="6" name="Text 3"/>
          <p:cNvSpPr txBox="1"/>
          <p:nvPr/>
        </p:nvSpPr>
        <p:spPr>
          <a:xfrm>
            <a:off x="868680" y="1938528"/>
            <a:ext cx="4206240" cy="365760"/>
          </a:xfrm>
          <a:prstGeom prst="rect">
            <a:avLst/>
          </a:prstGeom>
          <a:noFill/>
          <a:ln/>
        </p:spPr>
        <p:txBody>
          <a:bodyPr wrap="square" lIns="0" tIns="0" rIns="0" bIns="0" rtlCol="0" anchor="t"/>
          <a:lstStyle/>
          <a:p>
            <a:pPr indent="0" marL="0">
              <a:buNone/>
            </a:pPr>
            <a:r>
              <a:rPr lang="en-IE" sz="1800" b="1" dirty="0">
                <a:solidFill>
                  <a:schemeClr val="tx1"/>
                </a:solidFill>
              </a:rPr>
              <a:t>The building blocks</a:t>
            </a:r>
            <a:endParaRPr lang="en-IE" sz="1800" dirty="0"/>
          </a:p>
        </p:txBody>
      </p:sp>
      <p:sp>
        <p:nvSpPr>
          <p:cNvPr id="7" name="Icon tile"/>
          <p:cNvSpPr/>
          <p:nvPr/>
        </p:nvSpPr>
        <p:spPr>
          <a:xfrm>
            <a:off x="868680" y="2487168"/>
            <a:ext cx="512064" cy="512064"/>
          </a:xfrm>
          <a:prstGeom prst="roundRect">
            <a:avLst>
              <a:gd name="adj" fmla="val 24000"/>
            </a:avLst>
          </a:prstGeom>
          <a:solidFill>
            <a:schemeClr val="accent2">
              <a:alpha val="14000"/>
            </a:schemeClr>
          </a:solidFill>
          <a:ln/>
        </p:spPr>
      </p:sp>
      <p:pic>
        <p:nvPicPr>
          <p:cNvPr id="8" name="cube icon" descr="cube icon">    </p:cNvPr>
          <p:cNvPicPr>
            <a:picLocks noChangeAspect="1"/>
          </p:cNvPicPr>
          <p:nvPr/>
        </p:nvPicPr>
        <p:blipFill>
          <a:blip r:embed="rId1"/>
          <a:stretch>
            <a:fillRect/>
          </a:stretch>
        </p:blipFill>
        <p:spPr>
          <a:xfrm>
            <a:off x="976213" y="2594701"/>
            <a:ext cx="296997" cy="296997"/>
          </a:xfrm>
          <a:prstGeom prst="rect">
            <a:avLst/>
          </a:prstGeom>
        </p:spPr>
      </p:pic>
      <p:sp>
        <p:nvSpPr>
          <p:cNvPr id="9" name="Text 5"/>
          <p:cNvSpPr txBox="1"/>
          <p:nvPr/>
        </p:nvSpPr>
        <p:spPr>
          <a:xfrm>
            <a:off x="1572768" y="2441448"/>
            <a:ext cx="3566160" cy="292608"/>
          </a:xfrm>
          <a:prstGeom prst="rect">
            <a:avLst/>
          </a:prstGeom>
          <a:noFill/>
          <a:ln/>
        </p:spPr>
        <p:txBody>
          <a:bodyPr wrap="square" lIns="0" tIns="0" rIns="0" bIns="0" rtlCol="0" anchor="t"/>
          <a:lstStyle/>
          <a:p>
            <a:pPr indent="0" marL="0">
              <a:buNone/>
            </a:pPr>
            <a:r>
              <a:rPr lang="en-IE" sz="1700" b="1" dirty="0">
                <a:solidFill>
                  <a:schemeClr val="tx1"/>
                </a:solidFill>
              </a:rPr>
              <a:t>Objects</a:t>
            </a:r>
            <a:endParaRPr lang="en-IE" sz="1700" dirty="0"/>
          </a:p>
        </p:txBody>
      </p:sp>
      <p:sp>
        <p:nvSpPr>
          <p:cNvPr id="10" name="Text 6"/>
          <p:cNvSpPr txBox="1"/>
          <p:nvPr/>
        </p:nvSpPr>
        <p:spPr>
          <a:xfrm>
            <a:off x="1572768" y="2734056"/>
            <a:ext cx="3566160" cy="274320"/>
          </a:xfrm>
          <a:prstGeom prst="rect">
            <a:avLst/>
          </a:prstGeom>
          <a:noFill/>
          <a:ln/>
        </p:spPr>
        <p:txBody>
          <a:bodyPr wrap="square" lIns="0" tIns="0" rIns="0" bIns="0" rtlCol="0" anchor="t"/>
          <a:lstStyle/>
          <a:p>
            <a:pPr indent="0" marL="0">
              <a:buNone/>
            </a:pPr>
            <a:r>
              <a:rPr lang="en-IE" sz="1400" dirty="0">
                <a:solidFill>
                  <a:schemeClr val="tx2"/>
                </a:solidFill>
              </a:rPr>
              <a:t>things we create from a class</a:t>
            </a:r>
            <a:endParaRPr lang="en-IE" sz="1400" dirty="0"/>
          </a:p>
        </p:txBody>
      </p:sp>
      <p:sp>
        <p:nvSpPr>
          <p:cNvPr id="11" name="Icon tile"/>
          <p:cNvSpPr/>
          <p:nvPr/>
        </p:nvSpPr>
        <p:spPr>
          <a:xfrm>
            <a:off x="868680" y="3200400"/>
            <a:ext cx="512064" cy="512064"/>
          </a:xfrm>
          <a:prstGeom prst="roundRect">
            <a:avLst>
              <a:gd name="adj" fmla="val 24000"/>
            </a:avLst>
          </a:prstGeom>
          <a:solidFill>
            <a:schemeClr val="accent2">
              <a:alpha val="14000"/>
            </a:schemeClr>
          </a:solidFill>
          <a:ln/>
        </p:spPr>
      </p:sp>
      <p:pic>
        <p:nvPicPr>
          <p:cNvPr id="12" name="blueprint icon" descr="blueprint icon">    </p:cNvPr>
          <p:cNvPicPr>
            <a:picLocks noChangeAspect="1"/>
          </p:cNvPicPr>
          <p:nvPr/>
        </p:nvPicPr>
        <p:blipFill>
          <a:blip r:embed="rId2"/>
          <a:stretch>
            <a:fillRect/>
          </a:stretch>
        </p:blipFill>
        <p:spPr>
          <a:xfrm>
            <a:off x="976213" y="3307933"/>
            <a:ext cx="296997" cy="296997"/>
          </a:xfrm>
          <a:prstGeom prst="rect">
            <a:avLst/>
          </a:prstGeom>
        </p:spPr>
      </p:pic>
      <p:sp>
        <p:nvSpPr>
          <p:cNvPr id="13" name="Text 8"/>
          <p:cNvSpPr txBox="1"/>
          <p:nvPr/>
        </p:nvSpPr>
        <p:spPr>
          <a:xfrm>
            <a:off x="1572768" y="3154680"/>
            <a:ext cx="3566160" cy="292608"/>
          </a:xfrm>
          <a:prstGeom prst="rect">
            <a:avLst/>
          </a:prstGeom>
          <a:noFill/>
          <a:ln/>
        </p:spPr>
        <p:txBody>
          <a:bodyPr wrap="square" lIns="0" tIns="0" rIns="0" bIns="0" rtlCol="0" anchor="t"/>
          <a:lstStyle/>
          <a:p>
            <a:pPr indent="0" marL="0">
              <a:buNone/>
            </a:pPr>
            <a:r>
              <a:rPr lang="en-IE" sz="1700" b="1" dirty="0">
                <a:solidFill>
                  <a:schemeClr val="tx1"/>
                </a:solidFill>
              </a:rPr>
              <a:t>Classes</a:t>
            </a:r>
            <a:endParaRPr lang="en-IE" sz="1700" dirty="0"/>
          </a:p>
        </p:txBody>
      </p:sp>
      <p:sp>
        <p:nvSpPr>
          <p:cNvPr id="14" name="Text 9"/>
          <p:cNvSpPr txBox="1"/>
          <p:nvPr/>
        </p:nvSpPr>
        <p:spPr>
          <a:xfrm>
            <a:off x="1572768" y="3447288"/>
            <a:ext cx="3566160" cy="274320"/>
          </a:xfrm>
          <a:prstGeom prst="rect">
            <a:avLst/>
          </a:prstGeom>
          <a:noFill/>
          <a:ln/>
        </p:spPr>
        <p:txBody>
          <a:bodyPr wrap="square" lIns="0" tIns="0" rIns="0" bIns="0" rtlCol="0" anchor="t"/>
          <a:lstStyle/>
          <a:p>
            <a:pPr indent="0" marL="0">
              <a:buNone/>
            </a:pPr>
            <a:r>
              <a:rPr lang="en-IE" sz="1400" dirty="0">
                <a:solidFill>
                  <a:schemeClr val="tx2"/>
                </a:solidFill>
              </a:rPr>
              <a:t>templates for making objects</a:t>
            </a:r>
            <a:endParaRPr lang="en-IE" sz="1400" dirty="0"/>
          </a:p>
        </p:txBody>
      </p:sp>
      <p:sp>
        <p:nvSpPr>
          <p:cNvPr id="15" name="Icon tile"/>
          <p:cNvSpPr/>
          <p:nvPr/>
        </p:nvSpPr>
        <p:spPr>
          <a:xfrm>
            <a:off x="868680" y="3913632"/>
            <a:ext cx="512064" cy="512064"/>
          </a:xfrm>
          <a:prstGeom prst="roundRect">
            <a:avLst>
              <a:gd name="adj" fmla="val 24000"/>
            </a:avLst>
          </a:prstGeom>
          <a:solidFill>
            <a:schemeClr val="accent2">
              <a:alpha val="14000"/>
            </a:schemeClr>
          </a:solidFill>
          <a:ln/>
        </p:spPr>
      </p:sp>
      <p:pic>
        <p:nvPicPr>
          <p:cNvPr id="16" name="tag icon" descr="tag icon">    </p:cNvPr>
          <p:cNvPicPr>
            <a:picLocks noChangeAspect="1"/>
          </p:cNvPicPr>
          <p:nvPr/>
        </p:nvPicPr>
        <p:blipFill>
          <a:blip r:embed="rId3"/>
          <a:stretch>
            <a:fillRect/>
          </a:stretch>
        </p:blipFill>
        <p:spPr>
          <a:xfrm>
            <a:off x="976213" y="4021165"/>
            <a:ext cx="296997" cy="296997"/>
          </a:xfrm>
          <a:prstGeom prst="rect">
            <a:avLst/>
          </a:prstGeom>
        </p:spPr>
      </p:pic>
      <p:sp>
        <p:nvSpPr>
          <p:cNvPr id="17" name="Text 11"/>
          <p:cNvSpPr txBox="1"/>
          <p:nvPr/>
        </p:nvSpPr>
        <p:spPr>
          <a:xfrm>
            <a:off x="1572768" y="3867912"/>
            <a:ext cx="3566160" cy="292608"/>
          </a:xfrm>
          <a:prstGeom prst="rect">
            <a:avLst/>
          </a:prstGeom>
          <a:noFill/>
          <a:ln/>
        </p:spPr>
        <p:txBody>
          <a:bodyPr wrap="square" lIns="0" tIns="0" rIns="0" bIns="0" rtlCol="0" anchor="t"/>
          <a:lstStyle/>
          <a:p>
            <a:pPr indent="0" marL="0">
              <a:buNone/>
            </a:pPr>
            <a:r>
              <a:rPr lang="en-IE" sz="1700" b="1" dirty="0">
                <a:solidFill>
                  <a:schemeClr val="tx1"/>
                </a:solidFill>
              </a:rPr>
              <a:t>Attributes</a:t>
            </a:r>
            <a:endParaRPr lang="en-IE" sz="1700" dirty="0"/>
          </a:p>
        </p:txBody>
      </p:sp>
      <p:sp>
        <p:nvSpPr>
          <p:cNvPr id="18" name="Text 12"/>
          <p:cNvSpPr txBox="1"/>
          <p:nvPr/>
        </p:nvSpPr>
        <p:spPr>
          <a:xfrm>
            <a:off x="1572768" y="4160520"/>
            <a:ext cx="3566160" cy="274320"/>
          </a:xfrm>
          <a:prstGeom prst="rect">
            <a:avLst/>
          </a:prstGeom>
          <a:noFill/>
          <a:ln/>
        </p:spPr>
        <p:txBody>
          <a:bodyPr wrap="square" lIns="0" tIns="0" rIns="0" bIns="0" rtlCol="0" anchor="t"/>
          <a:lstStyle/>
          <a:p>
            <a:pPr indent="0" marL="0">
              <a:buNone/>
            </a:pPr>
            <a:r>
              <a:rPr lang="en-IE" sz="1400" dirty="0">
                <a:solidFill>
                  <a:schemeClr val="tx2"/>
                </a:solidFill>
              </a:rPr>
              <a:t>the data an object holds</a:t>
            </a:r>
            <a:endParaRPr lang="en-IE" sz="1400" dirty="0"/>
          </a:p>
        </p:txBody>
      </p:sp>
      <p:sp>
        <p:nvSpPr>
          <p:cNvPr id="19" name="Icon tile"/>
          <p:cNvSpPr/>
          <p:nvPr/>
        </p:nvSpPr>
        <p:spPr>
          <a:xfrm>
            <a:off x="868680" y="4626864"/>
            <a:ext cx="512064" cy="512064"/>
          </a:xfrm>
          <a:prstGeom prst="roundRect">
            <a:avLst>
              <a:gd name="adj" fmla="val 24000"/>
            </a:avLst>
          </a:prstGeom>
          <a:solidFill>
            <a:schemeClr val="accent2">
              <a:alpha val="14000"/>
            </a:schemeClr>
          </a:solidFill>
          <a:ln/>
        </p:spPr>
      </p:sp>
      <p:pic>
        <p:nvPicPr>
          <p:cNvPr id="20" name="lightning icon" descr="lightning icon">    </p:cNvPr>
          <p:cNvPicPr>
            <a:picLocks noChangeAspect="1"/>
          </p:cNvPicPr>
          <p:nvPr/>
        </p:nvPicPr>
        <p:blipFill>
          <a:blip r:embed="rId4"/>
          <a:stretch>
            <a:fillRect/>
          </a:stretch>
        </p:blipFill>
        <p:spPr>
          <a:xfrm>
            <a:off x="976213" y="4734397"/>
            <a:ext cx="296997" cy="296997"/>
          </a:xfrm>
          <a:prstGeom prst="rect">
            <a:avLst/>
          </a:prstGeom>
        </p:spPr>
      </p:pic>
      <p:sp>
        <p:nvSpPr>
          <p:cNvPr id="21" name="Text 14"/>
          <p:cNvSpPr txBox="1"/>
          <p:nvPr/>
        </p:nvSpPr>
        <p:spPr>
          <a:xfrm>
            <a:off x="1572768" y="4581144"/>
            <a:ext cx="3566160" cy="292608"/>
          </a:xfrm>
          <a:prstGeom prst="rect">
            <a:avLst/>
          </a:prstGeom>
          <a:noFill/>
          <a:ln/>
        </p:spPr>
        <p:txBody>
          <a:bodyPr wrap="square" lIns="0" tIns="0" rIns="0" bIns="0" rtlCol="0" anchor="t"/>
          <a:lstStyle/>
          <a:p>
            <a:pPr indent="0" marL="0">
              <a:buNone/>
            </a:pPr>
            <a:r>
              <a:rPr lang="en-IE" sz="1700" b="1" dirty="0">
                <a:solidFill>
                  <a:schemeClr val="tx1"/>
                </a:solidFill>
              </a:rPr>
              <a:t>Methods</a:t>
            </a:r>
            <a:endParaRPr lang="en-IE" sz="1700" dirty="0"/>
          </a:p>
        </p:txBody>
      </p:sp>
      <p:sp>
        <p:nvSpPr>
          <p:cNvPr id="22" name="Text 15"/>
          <p:cNvSpPr txBox="1"/>
          <p:nvPr/>
        </p:nvSpPr>
        <p:spPr>
          <a:xfrm>
            <a:off x="1572768" y="4873752"/>
            <a:ext cx="3566160" cy="274320"/>
          </a:xfrm>
          <a:prstGeom prst="rect">
            <a:avLst/>
          </a:prstGeom>
          <a:noFill/>
          <a:ln/>
        </p:spPr>
        <p:txBody>
          <a:bodyPr wrap="square" lIns="0" tIns="0" rIns="0" bIns="0" rtlCol="0" anchor="t"/>
          <a:lstStyle/>
          <a:p>
            <a:pPr indent="0" marL="0">
              <a:buNone/>
            </a:pPr>
            <a:r>
              <a:rPr lang="en-IE" sz="1400" dirty="0">
                <a:solidFill>
                  <a:schemeClr val="tx2"/>
                </a:solidFill>
              </a:rPr>
              <a:t>what an object can do</a:t>
            </a:r>
            <a:endParaRPr lang="en-IE" sz="1400" dirty="0"/>
          </a:p>
        </p:txBody>
      </p:sp>
      <p:sp>
        <p:nvSpPr>
          <p:cNvPr id="23" name="Icon tile"/>
          <p:cNvSpPr/>
          <p:nvPr/>
        </p:nvSpPr>
        <p:spPr>
          <a:xfrm>
            <a:off x="868680" y="5340096"/>
            <a:ext cx="512064" cy="512064"/>
          </a:xfrm>
          <a:prstGeom prst="roundRect">
            <a:avLst>
              <a:gd name="adj" fmla="val 24000"/>
            </a:avLst>
          </a:prstGeom>
          <a:solidFill>
            <a:schemeClr val="accent2">
              <a:alpha val="14000"/>
            </a:schemeClr>
          </a:solidFill>
          <a:ln/>
        </p:spPr>
      </p:sp>
      <p:pic>
        <p:nvPicPr>
          <p:cNvPr id="24" name="hammer icon" descr="hammer icon">    </p:cNvPr>
          <p:cNvPicPr>
            <a:picLocks noChangeAspect="1"/>
          </p:cNvPicPr>
          <p:nvPr/>
        </p:nvPicPr>
        <p:blipFill>
          <a:blip r:embed="rId5"/>
          <a:stretch>
            <a:fillRect/>
          </a:stretch>
        </p:blipFill>
        <p:spPr>
          <a:xfrm>
            <a:off x="976213" y="5447629"/>
            <a:ext cx="296997" cy="296997"/>
          </a:xfrm>
          <a:prstGeom prst="rect">
            <a:avLst/>
          </a:prstGeom>
        </p:spPr>
      </p:pic>
      <p:sp>
        <p:nvSpPr>
          <p:cNvPr id="25" name="Text 17"/>
          <p:cNvSpPr txBox="1"/>
          <p:nvPr/>
        </p:nvSpPr>
        <p:spPr>
          <a:xfrm>
            <a:off x="1572768" y="5294376"/>
            <a:ext cx="3566160" cy="292608"/>
          </a:xfrm>
          <a:prstGeom prst="rect">
            <a:avLst/>
          </a:prstGeom>
          <a:noFill/>
          <a:ln/>
        </p:spPr>
        <p:txBody>
          <a:bodyPr wrap="square" lIns="0" tIns="0" rIns="0" bIns="0" rtlCol="0" anchor="t"/>
          <a:lstStyle/>
          <a:p>
            <a:pPr indent="0" marL="0">
              <a:buNone/>
            </a:pPr>
            <a:r>
              <a:rPr lang="en-IE" sz="1700" b="1" dirty="0">
                <a:solidFill>
                  <a:schemeClr val="tx1"/>
                </a:solidFill>
              </a:rPr>
              <a:t>Constructors</a:t>
            </a:r>
            <a:endParaRPr lang="en-IE" sz="1700" dirty="0"/>
          </a:p>
        </p:txBody>
      </p:sp>
      <p:sp>
        <p:nvSpPr>
          <p:cNvPr id="26" name="Text 18"/>
          <p:cNvSpPr txBox="1"/>
          <p:nvPr/>
        </p:nvSpPr>
        <p:spPr>
          <a:xfrm>
            <a:off x="1572768" y="5586984"/>
            <a:ext cx="3566160" cy="274320"/>
          </a:xfrm>
          <a:prstGeom prst="rect">
            <a:avLst/>
          </a:prstGeom>
          <a:noFill/>
          <a:ln/>
        </p:spPr>
        <p:txBody>
          <a:bodyPr wrap="square" lIns="0" tIns="0" rIns="0" bIns="0" rtlCol="0" anchor="t"/>
          <a:lstStyle/>
          <a:p>
            <a:pPr indent="0" marL="0">
              <a:buNone/>
            </a:pPr>
            <a:r>
              <a:rPr lang="en-IE" sz="1400" dirty="0">
                <a:solidFill>
                  <a:schemeClr val="tx2"/>
                </a:solidFill>
              </a:rPr>
              <a:t>set up a new object</a:t>
            </a:r>
            <a:endParaRPr lang="en-IE" sz="1400" dirty="0"/>
          </a:p>
        </p:txBody>
      </p:sp>
      <p:sp>
        <p:nvSpPr>
          <p:cNvPr id="27" name="Text 19"/>
          <p:cNvSpPr txBox="1"/>
          <p:nvPr/>
        </p:nvSpPr>
        <p:spPr>
          <a:xfrm>
            <a:off x="5715000" y="1783080"/>
            <a:ext cx="3200400" cy="365760"/>
          </a:xfrm>
          <a:prstGeom prst="rect">
            <a:avLst/>
          </a:prstGeom>
          <a:noFill/>
          <a:ln/>
        </p:spPr>
        <p:txBody>
          <a:bodyPr wrap="square" lIns="0" tIns="0" rIns="0" bIns="0" rtlCol="0" anchor="t"/>
          <a:lstStyle/>
          <a:p>
            <a:pPr indent="0" marL="0">
              <a:buNone/>
            </a:pPr>
            <a:r>
              <a:rPr lang="en-IE" sz="1800" b="1" dirty="0">
                <a:solidFill>
                  <a:schemeClr val="tx1"/>
                </a:solidFill>
              </a:rPr>
              <a:t>Four big ideas</a:t>
            </a:r>
            <a:endParaRPr lang="en-IE" sz="1800" dirty="0"/>
          </a:p>
        </p:txBody>
      </p:sp>
      <p:sp>
        <p:nvSpPr>
          <p:cNvPr id="28" name="Text 20"/>
          <p:cNvSpPr txBox="1"/>
          <p:nvPr/>
        </p:nvSpPr>
        <p:spPr>
          <a:xfrm>
            <a:off x="8412480" y="1810512"/>
            <a:ext cx="3227832" cy="320040"/>
          </a:xfrm>
          <a:prstGeom prst="rect">
            <a:avLst/>
          </a:prstGeom>
          <a:noFill/>
          <a:ln/>
        </p:spPr>
        <p:txBody>
          <a:bodyPr wrap="square" lIns="0" tIns="0" rIns="0" bIns="0" rtlCol="0" anchor="t"/>
          <a:lstStyle/>
          <a:p>
            <a:pPr algn="r" indent="0" marL="0">
              <a:buNone/>
            </a:pPr>
            <a:r>
              <a:rPr lang="en-IE" sz="1300" i="1" dirty="0">
                <a:solidFill>
                  <a:schemeClr val="tx2"/>
                </a:solidFill>
              </a:rPr>
              <a:t>More on these in later lectures</a:t>
            </a:r>
            <a:endParaRPr lang="en-IE" sz="1300" dirty="0"/>
          </a:p>
        </p:txBody>
      </p:sp>
      <p:sp>
        <p:nvSpPr>
          <p:cNvPr id="29" name="Card"/>
          <p:cNvSpPr/>
          <p:nvPr/>
        </p:nvSpPr>
        <p:spPr>
          <a:xfrm>
            <a:off x="5715000" y="2286000"/>
            <a:ext cx="2849728" cy="1755648"/>
          </a:xfrm>
          <a:prstGeom prst="roundRect">
            <a:avLst>
              <a:gd name="adj" fmla="val 6250"/>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5971032" y="2542032"/>
            <a:ext cx="566928" cy="566928"/>
          </a:xfrm>
          <a:prstGeom prst="roundRect">
            <a:avLst>
              <a:gd name="adj" fmla="val 24000"/>
            </a:avLst>
          </a:prstGeom>
          <a:solidFill>
            <a:schemeClr val="accent5">
              <a:alpha val="14000"/>
            </a:schemeClr>
          </a:solidFill>
          <a:ln/>
        </p:spPr>
      </p:sp>
      <p:pic>
        <p:nvPicPr>
          <p:cNvPr id="31" name="eye slash icon" descr="eye slash icon">    </p:cNvPr>
          <p:cNvPicPr>
            <a:picLocks noChangeAspect="1"/>
          </p:cNvPicPr>
          <p:nvPr/>
        </p:nvPicPr>
        <p:blipFill>
          <a:blip r:embed="rId6"/>
          <a:stretch>
            <a:fillRect/>
          </a:stretch>
        </p:blipFill>
        <p:spPr>
          <a:xfrm>
            <a:off x="6090087" y="2661087"/>
            <a:ext cx="328818" cy="328818"/>
          </a:xfrm>
          <a:prstGeom prst="rect">
            <a:avLst/>
          </a:prstGeom>
        </p:spPr>
      </p:pic>
      <p:sp>
        <p:nvSpPr>
          <p:cNvPr id="32" name="Text 23"/>
          <p:cNvSpPr txBox="1"/>
          <p:nvPr/>
        </p:nvSpPr>
        <p:spPr>
          <a:xfrm>
            <a:off x="6675120" y="2578608"/>
            <a:ext cx="1752448" cy="475488"/>
          </a:xfrm>
          <a:prstGeom prst="rect">
            <a:avLst/>
          </a:prstGeom>
          <a:noFill/>
          <a:ln/>
        </p:spPr>
        <p:txBody>
          <a:bodyPr wrap="square" lIns="0" tIns="0" rIns="0" bIns="0" rtlCol="0" anchor="ctr"/>
          <a:lstStyle/>
          <a:p>
            <a:pPr indent="0" marL="0">
              <a:buNone/>
            </a:pPr>
            <a:r>
              <a:rPr lang="en-IE" sz="1900" b="1" dirty="0">
                <a:solidFill>
                  <a:schemeClr val="tx1"/>
                </a:solidFill>
              </a:rPr>
              <a:t>Abstraction</a:t>
            </a:r>
            <a:endParaRPr lang="en-IE" sz="1900" dirty="0"/>
          </a:p>
        </p:txBody>
      </p:sp>
      <p:sp>
        <p:nvSpPr>
          <p:cNvPr id="33" name="Text 24"/>
          <p:cNvSpPr txBox="1"/>
          <p:nvPr/>
        </p:nvSpPr>
        <p:spPr>
          <a:xfrm>
            <a:off x="5971032" y="3218688"/>
            <a:ext cx="2392528" cy="731520"/>
          </a:xfrm>
          <a:prstGeom prst="rect">
            <a:avLst/>
          </a:prstGeom>
          <a:noFill/>
          <a:ln/>
        </p:spPr>
        <p:txBody>
          <a:bodyPr wrap="square" lIns="0" tIns="0" rIns="0" bIns="0" rtlCol="0" anchor="t"/>
          <a:lstStyle/>
          <a:p>
            <a:pPr indent="0" marL="0">
              <a:buNone/>
            </a:pPr>
            <a:r>
              <a:rPr lang="en-IE" sz="1500" dirty="0">
                <a:solidFill>
                  <a:schemeClr val="tx2"/>
                </a:solidFill>
              </a:rPr>
              <a:t>Show what matters and hide the detail.</a:t>
            </a:r>
            <a:endParaRPr lang="en-IE" sz="1500" dirty="0"/>
          </a:p>
        </p:txBody>
      </p:sp>
      <p:sp>
        <p:nvSpPr>
          <p:cNvPr id="34" name="Card"/>
          <p:cNvSpPr/>
          <p:nvPr/>
        </p:nvSpPr>
        <p:spPr>
          <a:xfrm>
            <a:off x="8793328" y="2286000"/>
            <a:ext cx="2849728" cy="1755648"/>
          </a:xfrm>
          <a:prstGeom prst="roundRect">
            <a:avLst>
              <a:gd name="adj" fmla="val 6250"/>
            </a:avLst>
          </a:prstGeom>
          <a:solidFill>
            <a:schemeClr val="bg1"/>
          </a:solidFill>
          <a:ln/>
          <a:effectLst>
            <a:outerShdw sx="100000" sy="100000" kx="0" ky="0" algn="bl" rotWithShape="0" blurRad="114300" dist="31750" dir="5400000">
              <a:srgbClr val="1D2433">
                <a:alpha val="12000"/>
              </a:srgbClr>
            </a:outerShdw>
          </a:effectLst>
        </p:spPr>
      </p:sp>
      <p:sp>
        <p:nvSpPr>
          <p:cNvPr id="35" name="Icon tile"/>
          <p:cNvSpPr/>
          <p:nvPr/>
        </p:nvSpPr>
        <p:spPr>
          <a:xfrm>
            <a:off x="9049360" y="2542032"/>
            <a:ext cx="566928" cy="566928"/>
          </a:xfrm>
          <a:prstGeom prst="roundRect">
            <a:avLst>
              <a:gd name="adj" fmla="val 24000"/>
            </a:avLst>
          </a:prstGeom>
          <a:solidFill>
            <a:schemeClr val="accent1">
              <a:alpha val="14000"/>
            </a:schemeClr>
          </a:solidFill>
          <a:ln/>
        </p:spPr>
      </p:sp>
      <p:pic>
        <p:nvPicPr>
          <p:cNvPr id="36" name="package icon" descr="package icon">    </p:cNvPr>
          <p:cNvPicPr>
            <a:picLocks noChangeAspect="1"/>
          </p:cNvPicPr>
          <p:nvPr/>
        </p:nvPicPr>
        <p:blipFill>
          <a:blip r:embed="rId7"/>
          <a:stretch>
            <a:fillRect/>
          </a:stretch>
        </p:blipFill>
        <p:spPr>
          <a:xfrm>
            <a:off x="9168414" y="2661087"/>
            <a:ext cx="328818" cy="328818"/>
          </a:xfrm>
          <a:prstGeom prst="rect">
            <a:avLst/>
          </a:prstGeom>
        </p:spPr>
      </p:pic>
      <p:sp>
        <p:nvSpPr>
          <p:cNvPr id="37" name="Text 27"/>
          <p:cNvSpPr txBox="1"/>
          <p:nvPr/>
        </p:nvSpPr>
        <p:spPr>
          <a:xfrm>
            <a:off x="9753448" y="2578608"/>
            <a:ext cx="1752448" cy="475488"/>
          </a:xfrm>
          <a:prstGeom prst="rect">
            <a:avLst/>
          </a:prstGeom>
          <a:noFill/>
          <a:ln/>
        </p:spPr>
        <p:txBody>
          <a:bodyPr wrap="square" lIns="0" tIns="0" rIns="0" bIns="0" rtlCol="0" anchor="ctr"/>
          <a:lstStyle/>
          <a:p>
            <a:pPr indent="0" marL="0">
              <a:buNone/>
            </a:pPr>
            <a:r>
              <a:rPr lang="en-IE" sz="1900" b="1" dirty="0">
                <a:solidFill>
                  <a:schemeClr val="tx1"/>
                </a:solidFill>
              </a:rPr>
              <a:t>Encapsulation</a:t>
            </a:r>
            <a:endParaRPr lang="en-IE" sz="1900" dirty="0"/>
          </a:p>
        </p:txBody>
      </p:sp>
      <p:sp>
        <p:nvSpPr>
          <p:cNvPr id="38" name="Text 28"/>
          <p:cNvSpPr txBox="1"/>
          <p:nvPr/>
        </p:nvSpPr>
        <p:spPr>
          <a:xfrm>
            <a:off x="9049360" y="3218688"/>
            <a:ext cx="2392528" cy="731520"/>
          </a:xfrm>
          <a:prstGeom prst="rect">
            <a:avLst/>
          </a:prstGeom>
          <a:noFill/>
          <a:ln/>
        </p:spPr>
        <p:txBody>
          <a:bodyPr wrap="square" lIns="0" tIns="0" rIns="0" bIns="0" rtlCol="0" anchor="t"/>
          <a:lstStyle/>
          <a:p>
            <a:pPr indent="0" marL="0">
              <a:buNone/>
            </a:pPr>
            <a:r>
              <a:rPr lang="en-IE" sz="1500" dirty="0">
                <a:solidFill>
                  <a:schemeClr val="tx2"/>
                </a:solidFill>
              </a:rPr>
              <a:t>Keep data with its methods, and control who can change it.</a:t>
            </a:r>
            <a:endParaRPr lang="en-IE" sz="1500" dirty="0"/>
          </a:p>
        </p:txBody>
      </p:sp>
      <p:sp>
        <p:nvSpPr>
          <p:cNvPr id="39" name="Card"/>
          <p:cNvSpPr/>
          <p:nvPr/>
        </p:nvSpPr>
        <p:spPr>
          <a:xfrm>
            <a:off x="5715000" y="4224528"/>
            <a:ext cx="2849728" cy="1755648"/>
          </a:xfrm>
          <a:prstGeom prst="roundRect">
            <a:avLst>
              <a:gd name="adj" fmla="val 6250"/>
            </a:avLst>
          </a:prstGeom>
          <a:solidFill>
            <a:schemeClr val="bg1"/>
          </a:solidFill>
          <a:ln/>
          <a:effectLst>
            <a:outerShdw sx="100000" sy="100000" kx="0" ky="0" algn="bl" rotWithShape="0" blurRad="114300" dist="31750" dir="5400000">
              <a:srgbClr val="1D2433">
                <a:alpha val="12000"/>
              </a:srgbClr>
            </a:outerShdw>
          </a:effectLst>
        </p:spPr>
      </p:sp>
      <p:sp>
        <p:nvSpPr>
          <p:cNvPr id="40" name="Icon tile"/>
          <p:cNvSpPr/>
          <p:nvPr/>
        </p:nvSpPr>
        <p:spPr>
          <a:xfrm>
            <a:off x="5971032" y="4480560"/>
            <a:ext cx="566928" cy="566928"/>
          </a:xfrm>
          <a:prstGeom prst="roundRect">
            <a:avLst>
              <a:gd name="adj" fmla="val 24000"/>
            </a:avLst>
          </a:prstGeom>
          <a:solidFill>
            <a:schemeClr val="accent4">
              <a:alpha val="14000"/>
            </a:schemeClr>
          </a:solidFill>
          <a:ln/>
        </p:spPr>
      </p:sp>
      <p:pic>
        <p:nvPicPr>
          <p:cNvPr id="41" name="tree structure icon" descr="tree structure icon">    </p:cNvPr>
          <p:cNvPicPr>
            <a:picLocks noChangeAspect="1"/>
          </p:cNvPicPr>
          <p:nvPr/>
        </p:nvPicPr>
        <p:blipFill>
          <a:blip r:embed="rId8"/>
          <a:stretch>
            <a:fillRect/>
          </a:stretch>
        </p:blipFill>
        <p:spPr>
          <a:xfrm>
            <a:off x="6090087" y="4599615"/>
            <a:ext cx="328818" cy="328818"/>
          </a:xfrm>
          <a:prstGeom prst="rect">
            <a:avLst/>
          </a:prstGeom>
        </p:spPr>
      </p:pic>
      <p:sp>
        <p:nvSpPr>
          <p:cNvPr id="42" name="Text 31"/>
          <p:cNvSpPr txBox="1"/>
          <p:nvPr/>
        </p:nvSpPr>
        <p:spPr>
          <a:xfrm>
            <a:off x="6675120" y="4517136"/>
            <a:ext cx="1752448" cy="475488"/>
          </a:xfrm>
          <a:prstGeom prst="rect">
            <a:avLst/>
          </a:prstGeom>
          <a:noFill/>
          <a:ln/>
        </p:spPr>
        <p:txBody>
          <a:bodyPr wrap="square" lIns="0" tIns="0" rIns="0" bIns="0" rtlCol="0" anchor="ctr"/>
          <a:lstStyle/>
          <a:p>
            <a:pPr indent="0" marL="0">
              <a:buNone/>
            </a:pPr>
            <a:r>
              <a:rPr lang="en-IE" sz="1900" b="1" dirty="0">
                <a:solidFill>
                  <a:schemeClr val="tx1"/>
                </a:solidFill>
              </a:rPr>
              <a:t>Inheritance</a:t>
            </a:r>
            <a:endParaRPr lang="en-IE" sz="1900" dirty="0"/>
          </a:p>
        </p:txBody>
      </p:sp>
      <p:sp>
        <p:nvSpPr>
          <p:cNvPr id="43" name="Text 32"/>
          <p:cNvSpPr txBox="1"/>
          <p:nvPr/>
        </p:nvSpPr>
        <p:spPr>
          <a:xfrm>
            <a:off x="5971032" y="5157216"/>
            <a:ext cx="2392528" cy="731520"/>
          </a:xfrm>
          <a:prstGeom prst="rect">
            <a:avLst/>
          </a:prstGeom>
          <a:noFill/>
          <a:ln/>
        </p:spPr>
        <p:txBody>
          <a:bodyPr wrap="square" lIns="0" tIns="0" rIns="0" bIns="0" rtlCol="0" anchor="t"/>
          <a:lstStyle/>
          <a:p>
            <a:pPr indent="0" marL="0">
              <a:buNone/>
            </a:pPr>
            <a:r>
              <a:rPr lang="en-IE" sz="1500" dirty="0">
                <a:solidFill>
                  <a:schemeClr val="tx2"/>
                </a:solidFill>
              </a:rPr>
              <a:t>A class can reuse another class’s attributes and methods.</a:t>
            </a:r>
            <a:endParaRPr lang="en-IE" sz="1500" dirty="0"/>
          </a:p>
        </p:txBody>
      </p:sp>
      <p:sp>
        <p:nvSpPr>
          <p:cNvPr id="44" name="Card"/>
          <p:cNvSpPr/>
          <p:nvPr/>
        </p:nvSpPr>
        <p:spPr>
          <a:xfrm>
            <a:off x="8793328" y="4224528"/>
            <a:ext cx="2849728" cy="1755648"/>
          </a:xfrm>
          <a:prstGeom prst="roundRect">
            <a:avLst>
              <a:gd name="adj" fmla="val 6250"/>
            </a:avLst>
          </a:prstGeom>
          <a:solidFill>
            <a:schemeClr val="bg1"/>
          </a:solidFill>
          <a:ln/>
          <a:effectLst>
            <a:outerShdw sx="100000" sy="100000" kx="0" ky="0" algn="bl" rotWithShape="0" blurRad="114300" dist="31750" dir="5400000">
              <a:srgbClr val="1D2433">
                <a:alpha val="12000"/>
              </a:srgbClr>
            </a:outerShdw>
          </a:effectLst>
        </p:spPr>
      </p:sp>
      <p:sp>
        <p:nvSpPr>
          <p:cNvPr id="45" name="Icon tile"/>
          <p:cNvSpPr/>
          <p:nvPr/>
        </p:nvSpPr>
        <p:spPr>
          <a:xfrm>
            <a:off x="9049360" y="4480560"/>
            <a:ext cx="566928" cy="566928"/>
          </a:xfrm>
          <a:prstGeom prst="roundRect">
            <a:avLst>
              <a:gd name="adj" fmla="val 24000"/>
            </a:avLst>
          </a:prstGeom>
          <a:solidFill>
            <a:schemeClr val="accent3">
              <a:alpha val="14000"/>
            </a:schemeClr>
          </a:solidFill>
          <a:ln/>
        </p:spPr>
      </p:sp>
      <p:pic>
        <p:nvPicPr>
          <p:cNvPr id="46" name="shapes icon" descr="shapes icon">    </p:cNvPr>
          <p:cNvPicPr>
            <a:picLocks noChangeAspect="1"/>
          </p:cNvPicPr>
          <p:nvPr/>
        </p:nvPicPr>
        <p:blipFill>
          <a:blip r:embed="rId9"/>
          <a:stretch>
            <a:fillRect/>
          </a:stretch>
        </p:blipFill>
        <p:spPr>
          <a:xfrm>
            <a:off x="9168414" y="4599615"/>
            <a:ext cx="328818" cy="328818"/>
          </a:xfrm>
          <a:prstGeom prst="rect">
            <a:avLst/>
          </a:prstGeom>
        </p:spPr>
      </p:pic>
      <p:sp>
        <p:nvSpPr>
          <p:cNvPr id="47" name="Text 35"/>
          <p:cNvSpPr txBox="1"/>
          <p:nvPr/>
        </p:nvSpPr>
        <p:spPr>
          <a:xfrm>
            <a:off x="9753448" y="4517136"/>
            <a:ext cx="1752448" cy="475488"/>
          </a:xfrm>
          <a:prstGeom prst="rect">
            <a:avLst/>
          </a:prstGeom>
          <a:noFill/>
          <a:ln/>
        </p:spPr>
        <p:txBody>
          <a:bodyPr wrap="square" lIns="0" tIns="0" rIns="0" bIns="0" rtlCol="0" anchor="ctr"/>
          <a:lstStyle/>
          <a:p>
            <a:pPr indent="0" marL="0">
              <a:buNone/>
            </a:pPr>
            <a:r>
              <a:rPr lang="en-IE" sz="1900" b="1" dirty="0">
                <a:solidFill>
                  <a:schemeClr val="tx1"/>
                </a:solidFill>
              </a:rPr>
              <a:t>Polymorphism</a:t>
            </a:r>
            <a:endParaRPr lang="en-IE" sz="1900" dirty="0"/>
          </a:p>
        </p:txBody>
      </p:sp>
      <p:sp>
        <p:nvSpPr>
          <p:cNvPr id="48" name="Text 36"/>
          <p:cNvSpPr txBox="1"/>
          <p:nvPr/>
        </p:nvSpPr>
        <p:spPr>
          <a:xfrm>
            <a:off x="9049360" y="5157216"/>
            <a:ext cx="2392528" cy="731520"/>
          </a:xfrm>
          <a:prstGeom prst="rect">
            <a:avLst/>
          </a:prstGeom>
          <a:noFill/>
          <a:ln/>
        </p:spPr>
        <p:txBody>
          <a:bodyPr wrap="square" lIns="0" tIns="0" rIns="0" bIns="0" rtlCol="0" anchor="t"/>
          <a:lstStyle/>
          <a:p>
            <a:pPr indent="0" marL="0">
              <a:buNone/>
            </a:pPr>
            <a:r>
              <a:rPr lang="en-IE" sz="1500" dirty="0">
                <a:solidFill>
                  <a:schemeClr val="tx2"/>
                </a:solidFill>
              </a:rPr>
              <a:t>One action can work differently for different objects.</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Features of OO systems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is one of the four big features of object-oriented systems?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Iteration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Encapsulation</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Recursion</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Compilation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43</a:t>
            </a:fld>
            <a:endParaRPr lang="en-IE"/>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Features of OO systems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is one of the four big features of object-oriented systems?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Iteration</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Encapsulation</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Recursion</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Compilation</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four big features of object-oriented systems are </a:t>
            </a:r>
            <a:r>
              <a:rPr lang="en-IE" sz="1800" b="1" dirty="0">
                <a:solidFill>
                  <a:schemeClr val="tx1"/>
                </a:solidFill>
              </a:rPr>
              <a:t>abstraction</a:t>
            </a:r>
            <a:r>
              <a:rPr lang="en-IE" sz="1800" dirty="0">
                <a:solidFill>
                  <a:schemeClr val="tx1"/>
                </a:solidFill>
              </a:rPr>
              <a:t>, </a:t>
            </a:r>
            <a:r>
              <a:rPr lang="en-IE" sz="1800" b="1" dirty="0">
                <a:solidFill>
                  <a:schemeClr val="tx1"/>
                </a:solidFill>
              </a:rPr>
              <a:t>encapsulation</a:t>
            </a:r>
            <a:r>
              <a:rPr lang="en-IE" sz="1800" dirty="0">
                <a:solidFill>
                  <a:schemeClr val="tx1"/>
                </a:solidFill>
              </a:rPr>
              <a:t>, </a:t>
            </a:r>
            <a:r>
              <a:rPr lang="en-IE" sz="1800" b="1" dirty="0">
                <a:solidFill>
                  <a:schemeClr val="tx1"/>
                </a:solidFill>
              </a:rPr>
              <a:t>inheritance</a:t>
            </a:r>
            <a:r>
              <a:rPr lang="en-IE" sz="1800" dirty="0">
                <a:solidFill>
                  <a:schemeClr val="tx1"/>
                </a:solidFill>
              </a:rPr>
              <a:t> and </a:t>
            </a:r>
            <a:r>
              <a:rPr lang="en-IE" sz="1800" b="1" dirty="0">
                <a:solidFill>
                  <a:schemeClr val="tx1"/>
                </a:solidFill>
              </a:rPr>
              <a:t>polymorphism</a:t>
            </a:r>
            <a:r>
              <a:rPr lang="en-IE" sz="1800" dirty="0">
                <a:solidFill>
                  <a:schemeClr val="tx1"/>
                </a:solidFill>
              </a:rPr>
              <a:t>. The other three options are general programming words, not OOP features.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Objects</a:t>
            </a:r>
            <a:endParaRPr lang="en-IE" sz="3400" dirty="0"/>
          </a:p>
        </p:txBody>
      </p:sp>
      <p:sp>
        <p:nvSpPr>
          <p:cNvPr id="5" name="Text 2"/>
          <p:cNvSpPr txBox="1"/>
          <p:nvPr/>
        </p:nvSpPr>
        <p:spPr>
          <a:xfrm>
            <a:off x="548640" y="1737360"/>
            <a:ext cx="11094415" cy="731520"/>
          </a:xfrm>
          <a:prstGeom prst="rect">
            <a:avLst/>
          </a:prstGeom>
          <a:noFill/>
          <a:ln/>
        </p:spPr>
        <p:txBody>
          <a:bodyPr wrap="square" lIns="0" tIns="0" rIns="0" bIns="0" rtlCol="0" anchor="t"/>
          <a:lstStyle/>
          <a:p>
            <a:pPr indent="0" marL="0">
              <a:buNone/>
            </a:pPr>
            <a:r>
              <a:rPr lang="en-IE" sz="1900" dirty="0">
                <a:solidFill>
                  <a:schemeClr val="tx1"/>
                </a:solidFill>
              </a:rPr>
              <a:t>An object is a thing we can identify and describe. It usually matches something in the real world. We describe it in two ways:</a:t>
            </a:r>
            <a:endParaRPr lang="en-IE" sz="1900" dirty="0"/>
          </a:p>
        </p:txBody>
      </p:sp>
      <p:sp>
        <p:nvSpPr>
          <p:cNvPr id="6" name="Icon tile"/>
          <p:cNvSpPr/>
          <p:nvPr/>
        </p:nvSpPr>
        <p:spPr>
          <a:xfrm>
            <a:off x="548640" y="2633472"/>
            <a:ext cx="512064" cy="512064"/>
          </a:xfrm>
          <a:prstGeom prst="roundRect">
            <a:avLst>
              <a:gd name="adj" fmla="val 24000"/>
            </a:avLst>
          </a:prstGeom>
          <a:solidFill>
            <a:schemeClr val="accent1">
              <a:alpha val="14000"/>
            </a:schemeClr>
          </a:solidFill>
          <a:ln/>
        </p:spPr>
      </p:sp>
      <p:pic>
        <p:nvPicPr>
          <p:cNvPr id="7" name="tag icon" descr="tag icon">    </p:cNvPr>
          <p:cNvPicPr>
            <a:picLocks noChangeAspect="1"/>
          </p:cNvPicPr>
          <p:nvPr/>
        </p:nvPicPr>
        <p:blipFill>
          <a:blip r:embed="rId1"/>
          <a:stretch>
            <a:fillRect/>
          </a:stretch>
        </p:blipFill>
        <p:spPr>
          <a:xfrm>
            <a:off x="656173" y="2741005"/>
            <a:ext cx="296997" cy="296997"/>
          </a:xfrm>
          <a:prstGeom prst="rect">
            <a:avLst/>
          </a:prstGeom>
        </p:spPr>
      </p:pic>
      <p:sp>
        <p:nvSpPr>
          <p:cNvPr id="8" name="Text 4"/>
          <p:cNvSpPr txBox="1"/>
          <p:nvPr/>
        </p:nvSpPr>
        <p:spPr>
          <a:xfrm>
            <a:off x="1207008" y="2633472"/>
            <a:ext cx="4754880" cy="512064"/>
          </a:xfrm>
          <a:prstGeom prst="rect">
            <a:avLst/>
          </a:prstGeom>
          <a:noFill/>
          <a:ln/>
        </p:spPr>
        <p:txBody>
          <a:bodyPr wrap="square" lIns="0" tIns="0" rIns="0" bIns="0" rtlCol="0" anchor="ctr"/>
          <a:lstStyle/>
          <a:p>
            <a:pPr indent="0" marL="0">
              <a:buNone/>
            </a:pPr>
            <a:r>
              <a:rPr lang="en-IE" sz="1700" b="1" dirty="0">
                <a:solidFill>
                  <a:schemeClr val="tx1"/>
                </a:solidFill>
              </a:rPr>
              <a:t>Attributes</a:t>
            </a:r>
            <a:r>
              <a:rPr lang="en-IE" sz="1700" dirty="0">
                <a:solidFill>
                  <a:schemeClr val="tx1"/>
                </a:solidFill>
              </a:rPr>
              <a:t>: information about the object</a:t>
            </a:r>
            <a:endParaRPr lang="en-IE" sz="1700" dirty="0"/>
          </a:p>
        </p:txBody>
      </p:sp>
      <p:sp>
        <p:nvSpPr>
          <p:cNvPr id="9" name="Icon tile"/>
          <p:cNvSpPr/>
          <p:nvPr/>
        </p:nvSpPr>
        <p:spPr>
          <a:xfrm>
            <a:off x="6231636" y="2633472"/>
            <a:ext cx="512064" cy="512064"/>
          </a:xfrm>
          <a:prstGeom prst="roundRect">
            <a:avLst>
              <a:gd name="adj" fmla="val 24000"/>
            </a:avLst>
          </a:prstGeom>
          <a:solidFill>
            <a:schemeClr val="accent4">
              <a:alpha val="14000"/>
            </a:schemeClr>
          </a:solidFill>
          <a:ln/>
        </p:spPr>
      </p:sp>
      <p:pic>
        <p:nvPicPr>
          <p:cNvPr id="10" name="lightning icon" descr="lightning icon">    </p:cNvPr>
          <p:cNvPicPr>
            <a:picLocks noChangeAspect="1"/>
          </p:cNvPicPr>
          <p:nvPr/>
        </p:nvPicPr>
        <p:blipFill>
          <a:blip r:embed="rId2"/>
          <a:stretch>
            <a:fillRect/>
          </a:stretch>
        </p:blipFill>
        <p:spPr>
          <a:xfrm>
            <a:off x="6339169" y="2741005"/>
            <a:ext cx="296997" cy="296997"/>
          </a:xfrm>
          <a:prstGeom prst="rect">
            <a:avLst/>
          </a:prstGeom>
        </p:spPr>
      </p:pic>
      <p:sp>
        <p:nvSpPr>
          <p:cNvPr id="11" name="Text 6"/>
          <p:cNvSpPr txBox="1"/>
          <p:nvPr/>
        </p:nvSpPr>
        <p:spPr>
          <a:xfrm>
            <a:off x="6890004" y="2633472"/>
            <a:ext cx="4754880" cy="512064"/>
          </a:xfrm>
          <a:prstGeom prst="rect">
            <a:avLst/>
          </a:prstGeom>
          <a:noFill/>
          <a:ln/>
        </p:spPr>
        <p:txBody>
          <a:bodyPr wrap="square" lIns="0" tIns="0" rIns="0" bIns="0" rtlCol="0" anchor="ctr"/>
          <a:lstStyle/>
          <a:p>
            <a:pPr indent="0" marL="0">
              <a:buNone/>
            </a:pPr>
            <a:r>
              <a:rPr lang="en-IE" sz="1700" b="1" dirty="0">
                <a:solidFill>
                  <a:schemeClr val="tx1"/>
                </a:solidFill>
              </a:rPr>
              <a:t>Behaviours (methods)</a:t>
            </a:r>
            <a:r>
              <a:rPr lang="en-IE" sz="1700" dirty="0">
                <a:solidFill>
                  <a:schemeClr val="tx1"/>
                </a:solidFill>
              </a:rPr>
              <a:t>: what the object can do</a:t>
            </a:r>
            <a:endParaRPr lang="en-IE" sz="1700" dirty="0"/>
          </a:p>
        </p:txBody>
      </p:sp>
      <p:sp>
        <p:nvSpPr>
          <p:cNvPr id="12" name="Card"/>
          <p:cNvSpPr/>
          <p:nvPr/>
        </p:nvSpPr>
        <p:spPr>
          <a:xfrm>
            <a:off x="548640" y="3337560"/>
            <a:ext cx="5396332" cy="2788920"/>
          </a:xfrm>
          <a:prstGeom prst="roundRect">
            <a:avLst>
              <a:gd name="adj" fmla="val 3934"/>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868680" y="3566160"/>
            <a:ext cx="777240" cy="777240"/>
          </a:xfrm>
          <a:prstGeom prst="ellipse">
            <a:avLst/>
          </a:prstGeom>
          <a:solidFill>
            <a:schemeClr val="accent2">
              <a:alpha val="14000"/>
            </a:schemeClr>
          </a:solidFill>
          <a:ln/>
        </p:spPr>
      </p:sp>
      <p:pic>
        <p:nvPicPr>
          <p:cNvPr id="14" name="user icon" descr="user icon">    </p:cNvPr>
          <p:cNvPicPr>
            <a:picLocks noChangeAspect="1"/>
          </p:cNvPicPr>
          <p:nvPr/>
        </p:nvPicPr>
        <p:blipFill>
          <a:blip r:embed="rId3"/>
          <a:stretch>
            <a:fillRect/>
          </a:stretch>
        </p:blipFill>
        <p:spPr>
          <a:xfrm>
            <a:off x="1031900" y="3729380"/>
            <a:ext cx="450799" cy="450799"/>
          </a:xfrm>
          <a:prstGeom prst="rect">
            <a:avLst/>
          </a:prstGeom>
        </p:spPr>
      </p:pic>
      <p:sp>
        <p:nvSpPr>
          <p:cNvPr id="15" name="Text 9"/>
          <p:cNvSpPr txBox="1"/>
          <p:nvPr/>
        </p:nvSpPr>
        <p:spPr>
          <a:xfrm>
            <a:off x="1828800" y="3566160"/>
            <a:ext cx="3841852" cy="777240"/>
          </a:xfrm>
          <a:prstGeom prst="rect">
            <a:avLst/>
          </a:prstGeom>
          <a:noFill/>
          <a:ln/>
        </p:spPr>
        <p:txBody>
          <a:bodyPr wrap="square" lIns="0" tIns="0" rIns="0" bIns="0" rtlCol="0" anchor="ctr"/>
          <a:lstStyle/>
          <a:p>
            <a:pPr indent="0" marL="0">
              <a:buNone/>
            </a:pPr>
            <a:r>
              <a:rPr lang="en-IE" sz="2100" b="1" dirty="0">
                <a:solidFill>
                  <a:schemeClr val="tx1"/>
                </a:solidFill>
              </a:rPr>
              <a:t>A Person object</a:t>
            </a:r>
            <a:endParaRPr lang="en-IE" sz="2100" dirty="0"/>
          </a:p>
        </p:txBody>
      </p:sp>
      <p:sp>
        <p:nvSpPr>
          <p:cNvPr id="16" name="Dot"/>
          <p:cNvSpPr/>
          <p:nvPr/>
        </p:nvSpPr>
        <p:spPr>
          <a:xfrm>
            <a:off x="868680" y="4599432"/>
            <a:ext cx="128016" cy="128016"/>
          </a:xfrm>
          <a:prstGeom prst="ellipse">
            <a:avLst/>
          </a:prstGeom>
          <a:solidFill>
            <a:schemeClr val="accent1"/>
          </a:solidFill>
          <a:ln/>
        </p:spPr>
      </p:sp>
      <p:sp>
        <p:nvSpPr>
          <p:cNvPr id="17" name="Text 11"/>
          <p:cNvSpPr txBox="1"/>
          <p:nvPr/>
        </p:nvSpPr>
        <p:spPr>
          <a:xfrm>
            <a:off x="1088136" y="4526280"/>
            <a:ext cx="210312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ATTRIBUTES</a:t>
            </a:r>
            <a:endParaRPr lang="en-IE" sz="1200" dirty="0"/>
          </a:p>
        </p:txBody>
      </p:sp>
      <p:sp>
        <p:nvSpPr>
          <p:cNvPr id="18" name="Text 12"/>
          <p:cNvSpPr txBox="1"/>
          <p:nvPr/>
        </p:nvSpPr>
        <p:spPr>
          <a:xfrm>
            <a:off x="1088136" y="4873752"/>
            <a:ext cx="2194560" cy="1051560"/>
          </a:xfrm>
          <a:prstGeom prst="rect">
            <a:avLst/>
          </a:prstGeom>
          <a:noFill/>
          <a:ln/>
        </p:spPr>
        <p:txBody>
          <a:bodyPr wrap="square" lIns="0" tIns="0" rIns="0" bIns="0" rtlCol="0" anchor="t"/>
          <a:lstStyle/>
          <a:p>
            <a:pPr indent="0" marL="0">
              <a:lnSpc>
                <a:spcPts val="1900"/>
              </a:lnSpc>
              <a:buNone/>
            </a:pPr>
            <a:r>
              <a:rPr lang="en-IE" sz="1600" dirty="0">
                <a:solidFill>
                  <a:schemeClr val="tx1"/>
                </a:solidFill>
              </a:rPr>
              <a:t>Age</a:t>
            </a:r>
            <a:endParaRPr lang="en-IE" sz="1600" dirty="0"/>
          </a:p>
          <a:p>
            <a:pPr indent="0" marL="0">
              <a:lnSpc>
                <a:spcPts val="1900"/>
              </a:lnSpc>
              <a:buNone/>
            </a:pPr>
            <a:r>
              <a:rPr lang="en-IE" sz="1600" dirty="0">
                <a:solidFill>
                  <a:schemeClr val="tx1"/>
                </a:solidFill>
              </a:rPr>
              <a:t>Eye colour</a:t>
            </a:r>
            <a:endParaRPr lang="en-IE" sz="1600" dirty="0"/>
          </a:p>
          <a:p>
            <a:pPr indent="0" marL="0">
              <a:lnSpc>
                <a:spcPts val="1900"/>
              </a:lnSpc>
              <a:buNone/>
            </a:pPr>
            <a:r>
              <a:rPr lang="en-IE" sz="1600" dirty="0">
                <a:solidFill>
                  <a:schemeClr val="tx1"/>
                </a:solidFill>
              </a:rPr>
              <a:t>Weight</a:t>
            </a:r>
            <a:endParaRPr lang="en-IE" sz="1600" dirty="0"/>
          </a:p>
        </p:txBody>
      </p:sp>
      <p:sp>
        <p:nvSpPr>
          <p:cNvPr id="19" name="Dot"/>
          <p:cNvSpPr/>
          <p:nvPr/>
        </p:nvSpPr>
        <p:spPr>
          <a:xfrm>
            <a:off x="3383280" y="4599432"/>
            <a:ext cx="128016" cy="128016"/>
          </a:xfrm>
          <a:prstGeom prst="ellipse">
            <a:avLst/>
          </a:prstGeom>
          <a:solidFill>
            <a:schemeClr val="accent4"/>
          </a:solidFill>
          <a:ln/>
        </p:spPr>
      </p:sp>
      <p:sp>
        <p:nvSpPr>
          <p:cNvPr id="20" name="Text 14"/>
          <p:cNvSpPr txBox="1"/>
          <p:nvPr/>
        </p:nvSpPr>
        <p:spPr>
          <a:xfrm>
            <a:off x="3602736" y="4526280"/>
            <a:ext cx="210312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BEHAVIOURS</a:t>
            </a:r>
            <a:endParaRPr lang="en-IE" sz="1200" dirty="0"/>
          </a:p>
        </p:txBody>
      </p:sp>
      <p:sp>
        <p:nvSpPr>
          <p:cNvPr id="21" name="Text 15"/>
          <p:cNvSpPr txBox="1"/>
          <p:nvPr/>
        </p:nvSpPr>
        <p:spPr>
          <a:xfrm>
            <a:off x="3602736" y="4873752"/>
            <a:ext cx="2194560" cy="1051560"/>
          </a:xfrm>
          <a:prstGeom prst="rect">
            <a:avLst/>
          </a:prstGeom>
          <a:noFill/>
          <a:ln/>
        </p:spPr>
        <p:txBody>
          <a:bodyPr wrap="square" lIns="0" tIns="0" rIns="0" bIns="0" rtlCol="0" anchor="t"/>
          <a:lstStyle/>
          <a:p>
            <a:pPr indent="0" marL="0">
              <a:lnSpc>
                <a:spcPts val="1900"/>
              </a:lnSpc>
              <a:buNone/>
            </a:pPr>
            <a:r>
              <a:rPr lang="en-IE" sz="1600" dirty="0">
                <a:solidFill>
                  <a:schemeClr val="tx1"/>
                </a:solidFill>
              </a:rPr>
              <a:t>Running</a:t>
            </a:r>
            <a:endParaRPr lang="en-IE" sz="1600" dirty="0"/>
          </a:p>
          <a:p>
            <a:pPr indent="0" marL="0">
              <a:lnSpc>
                <a:spcPts val="1900"/>
              </a:lnSpc>
              <a:buNone/>
            </a:pPr>
            <a:r>
              <a:rPr lang="en-IE" sz="1600" dirty="0">
                <a:solidFill>
                  <a:schemeClr val="tx1"/>
                </a:solidFill>
              </a:rPr>
              <a:t>Talking</a:t>
            </a:r>
            <a:endParaRPr lang="en-IE" sz="1600" dirty="0"/>
          </a:p>
          <a:p>
            <a:pPr indent="0" marL="0">
              <a:lnSpc>
                <a:spcPts val="1900"/>
              </a:lnSpc>
              <a:buNone/>
            </a:pPr>
            <a:r>
              <a:rPr lang="en-IE" sz="1600" dirty="0">
                <a:solidFill>
                  <a:schemeClr val="tx1"/>
                </a:solidFill>
              </a:rPr>
              <a:t>Eating</a:t>
            </a:r>
            <a:endParaRPr lang="en-IE" sz="1600" dirty="0"/>
          </a:p>
        </p:txBody>
      </p:sp>
      <p:sp>
        <p:nvSpPr>
          <p:cNvPr id="22" name="Card"/>
          <p:cNvSpPr/>
          <p:nvPr/>
        </p:nvSpPr>
        <p:spPr>
          <a:xfrm>
            <a:off x="6246724" y="3337560"/>
            <a:ext cx="5396332" cy="2788920"/>
          </a:xfrm>
          <a:prstGeom prst="roundRect">
            <a:avLst>
              <a:gd name="adj" fmla="val 3934"/>
            </a:avLst>
          </a:prstGeom>
          <a:solidFill>
            <a:schemeClr val="bg1"/>
          </a:solidFill>
          <a:ln/>
          <a:effectLst>
            <a:outerShdw sx="100000" sy="100000" kx="0" ky="0" algn="bl" rotWithShape="0" blurRad="114300" dist="31750" dir="5400000">
              <a:srgbClr val="1D2433">
                <a:alpha val="12000"/>
              </a:srgbClr>
            </a:outerShdw>
          </a:effectLst>
        </p:spPr>
      </p:sp>
      <p:sp>
        <p:nvSpPr>
          <p:cNvPr id="23" name="Icon tile"/>
          <p:cNvSpPr/>
          <p:nvPr/>
        </p:nvSpPr>
        <p:spPr>
          <a:xfrm>
            <a:off x="6566764" y="3566160"/>
            <a:ext cx="777240" cy="777240"/>
          </a:xfrm>
          <a:prstGeom prst="ellipse">
            <a:avLst/>
          </a:prstGeom>
          <a:solidFill>
            <a:schemeClr val="accent1">
              <a:alpha val="14000"/>
            </a:schemeClr>
          </a:solidFill>
          <a:ln/>
        </p:spPr>
      </p:sp>
      <p:pic>
        <p:nvPicPr>
          <p:cNvPr id="24" name="car profile icon" descr="car profile icon">    </p:cNvPr>
          <p:cNvPicPr>
            <a:picLocks noChangeAspect="1"/>
          </p:cNvPicPr>
          <p:nvPr/>
        </p:nvPicPr>
        <p:blipFill>
          <a:blip r:embed="rId4"/>
          <a:stretch>
            <a:fillRect/>
          </a:stretch>
        </p:blipFill>
        <p:spPr>
          <a:xfrm>
            <a:off x="6729984" y="3729380"/>
            <a:ext cx="450799" cy="450799"/>
          </a:xfrm>
          <a:prstGeom prst="rect">
            <a:avLst/>
          </a:prstGeom>
        </p:spPr>
      </p:pic>
      <p:sp>
        <p:nvSpPr>
          <p:cNvPr id="25" name="Text 18"/>
          <p:cNvSpPr txBox="1"/>
          <p:nvPr/>
        </p:nvSpPr>
        <p:spPr>
          <a:xfrm>
            <a:off x="7526884" y="3566160"/>
            <a:ext cx="3841852" cy="777240"/>
          </a:xfrm>
          <a:prstGeom prst="rect">
            <a:avLst/>
          </a:prstGeom>
          <a:noFill/>
          <a:ln/>
        </p:spPr>
        <p:txBody>
          <a:bodyPr wrap="square" lIns="0" tIns="0" rIns="0" bIns="0" rtlCol="0" anchor="ctr"/>
          <a:lstStyle/>
          <a:p>
            <a:pPr indent="0" marL="0">
              <a:buNone/>
            </a:pPr>
            <a:r>
              <a:rPr lang="en-IE" sz="2100" b="1" dirty="0">
                <a:solidFill>
                  <a:schemeClr val="tx1"/>
                </a:solidFill>
              </a:rPr>
              <a:t>A Car object</a:t>
            </a:r>
            <a:endParaRPr lang="en-IE" sz="2100" dirty="0"/>
          </a:p>
        </p:txBody>
      </p:sp>
      <p:sp>
        <p:nvSpPr>
          <p:cNvPr id="26" name="Dot"/>
          <p:cNvSpPr/>
          <p:nvPr/>
        </p:nvSpPr>
        <p:spPr>
          <a:xfrm>
            <a:off x="6566764" y="4599432"/>
            <a:ext cx="128016" cy="128016"/>
          </a:xfrm>
          <a:prstGeom prst="ellipse">
            <a:avLst/>
          </a:prstGeom>
          <a:solidFill>
            <a:schemeClr val="accent1"/>
          </a:solidFill>
          <a:ln/>
        </p:spPr>
      </p:sp>
      <p:sp>
        <p:nvSpPr>
          <p:cNvPr id="27" name="Text 20"/>
          <p:cNvSpPr txBox="1"/>
          <p:nvPr/>
        </p:nvSpPr>
        <p:spPr>
          <a:xfrm>
            <a:off x="6786220" y="4526280"/>
            <a:ext cx="2103120" cy="274320"/>
          </a:xfrm>
          <a:prstGeom prst="rect">
            <a:avLst/>
          </a:prstGeom>
          <a:noFill/>
          <a:ln/>
        </p:spPr>
        <p:txBody>
          <a:bodyPr wrap="square" lIns="0" tIns="0" rIns="0" bIns="0" rtlCol="0" anchor="ctr"/>
          <a:lstStyle/>
          <a:p>
            <a:pPr indent="0" marL="0">
              <a:buNone/>
            </a:pPr>
            <a:r>
              <a:rPr lang="en-IE" sz="1200" b="1" spc="150" kern="0" dirty="0">
                <a:solidFill>
                  <a:schemeClr val="tx2"/>
                </a:solidFill>
              </a:rPr>
              <a:t>ATTRIBUTES</a:t>
            </a:r>
            <a:endParaRPr lang="en-IE" sz="1200" dirty="0"/>
          </a:p>
        </p:txBody>
      </p:sp>
      <p:sp>
        <p:nvSpPr>
          <p:cNvPr id="28" name="Text 21"/>
          <p:cNvSpPr txBox="1"/>
          <p:nvPr/>
        </p:nvSpPr>
        <p:spPr>
          <a:xfrm>
            <a:off x="6786220" y="4873752"/>
            <a:ext cx="2194560" cy="1051560"/>
          </a:xfrm>
          <a:prstGeom prst="rect">
            <a:avLst/>
          </a:prstGeom>
          <a:noFill/>
          <a:ln/>
        </p:spPr>
        <p:txBody>
          <a:bodyPr wrap="square" lIns="0" tIns="0" rIns="0" bIns="0" rtlCol="0" anchor="t"/>
          <a:lstStyle/>
          <a:p>
            <a:pPr indent="0" marL="0">
              <a:lnSpc>
                <a:spcPts val="1900"/>
              </a:lnSpc>
              <a:buNone/>
            </a:pPr>
            <a:r>
              <a:rPr lang="en-IE" sz="1600" dirty="0">
                <a:solidFill>
                  <a:schemeClr val="tx1"/>
                </a:solidFill>
              </a:rPr>
              <a:t>Colour</a:t>
            </a:r>
            <a:endParaRPr lang="en-IE" sz="1600" dirty="0"/>
          </a:p>
          <a:p>
            <a:pPr indent="0" marL="0">
              <a:lnSpc>
                <a:spcPts val="1900"/>
              </a:lnSpc>
              <a:buNone/>
            </a:pPr>
            <a:r>
              <a:rPr lang="en-IE" sz="1600" dirty="0">
                <a:solidFill>
                  <a:schemeClr val="tx1"/>
                </a:solidFill>
              </a:rPr>
              <a:t>Size</a:t>
            </a:r>
            <a:endParaRPr lang="en-IE" sz="1600" dirty="0"/>
          </a:p>
          <a:p>
            <a:pPr indent="0" marL="0">
              <a:lnSpc>
                <a:spcPts val="1900"/>
              </a:lnSpc>
              <a:buNone/>
            </a:pPr>
            <a:r>
              <a:rPr lang="en-IE" sz="1600" dirty="0">
                <a:solidFill>
                  <a:schemeClr val="tx1"/>
                </a:solidFill>
              </a:rPr>
              <a:t>Type</a:t>
            </a:r>
            <a:endParaRPr lang="en-IE" sz="1600" dirty="0"/>
          </a:p>
          <a:p>
            <a:pPr indent="0" marL="0">
              <a:lnSpc>
                <a:spcPts val="1900"/>
              </a:lnSpc>
              <a:buNone/>
            </a:pPr>
            <a:r>
              <a:rPr lang="en-IE" sz="1600" dirty="0">
                <a:solidFill>
                  <a:schemeClr val="tx1"/>
                </a:solidFill>
              </a:rPr>
              <a:t>Year</a:t>
            </a:r>
            <a:endParaRPr lang="en-IE" sz="1600" dirty="0"/>
          </a:p>
        </p:txBody>
      </p:sp>
      <p:sp>
        <p:nvSpPr>
          <p:cNvPr id="29" name="Dot"/>
          <p:cNvSpPr/>
          <p:nvPr/>
        </p:nvSpPr>
        <p:spPr>
          <a:xfrm>
            <a:off x="9081364" y="4599432"/>
            <a:ext cx="128016" cy="128016"/>
          </a:xfrm>
          <a:prstGeom prst="ellipse">
            <a:avLst/>
          </a:prstGeom>
          <a:solidFill>
            <a:schemeClr val="accent4"/>
          </a:solidFill>
          <a:ln/>
        </p:spPr>
      </p:sp>
      <p:sp>
        <p:nvSpPr>
          <p:cNvPr id="30" name="Text 23"/>
          <p:cNvSpPr txBox="1"/>
          <p:nvPr/>
        </p:nvSpPr>
        <p:spPr>
          <a:xfrm>
            <a:off x="9300820" y="4526280"/>
            <a:ext cx="210312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BEHAVIOURS</a:t>
            </a:r>
            <a:endParaRPr lang="en-IE" sz="1200" dirty="0"/>
          </a:p>
        </p:txBody>
      </p:sp>
      <p:sp>
        <p:nvSpPr>
          <p:cNvPr id="31" name="Text 24"/>
          <p:cNvSpPr txBox="1"/>
          <p:nvPr/>
        </p:nvSpPr>
        <p:spPr>
          <a:xfrm>
            <a:off x="9300820" y="4873752"/>
            <a:ext cx="2194560" cy="1051560"/>
          </a:xfrm>
          <a:prstGeom prst="rect">
            <a:avLst/>
          </a:prstGeom>
          <a:noFill/>
          <a:ln/>
        </p:spPr>
        <p:txBody>
          <a:bodyPr wrap="square" lIns="0" tIns="0" rIns="0" bIns="0" rtlCol="0" anchor="t"/>
          <a:lstStyle/>
          <a:p>
            <a:pPr indent="0" marL="0">
              <a:lnSpc>
                <a:spcPts val="1900"/>
              </a:lnSpc>
              <a:buNone/>
            </a:pPr>
            <a:r>
              <a:rPr lang="en-IE" sz="1600" dirty="0">
                <a:solidFill>
                  <a:schemeClr val="tx1"/>
                </a:solidFill>
              </a:rPr>
              <a:t>Accelerating</a:t>
            </a:r>
            <a:endParaRPr lang="en-IE" sz="1600" dirty="0"/>
          </a:p>
          <a:p>
            <a:pPr indent="0" marL="0">
              <a:lnSpc>
                <a:spcPts val="1900"/>
              </a:lnSpc>
              <a:buNone/>
            </a:pPr>
            <a:r>
              <a:rPr lang="en-IE" sz="1600" dirty="0">
                <a:solidFill>
                  <a:schemeClr val="tx1"/>
                </a:solidFill>
              </a:rPr>
              <a:t>Braking</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Think about a Car object. Which of these is a behaviour (method), not an attribute?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Colour</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Year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Accelerating</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Fuel level</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Think about a Car object. Which of these is a behaviour (method), not an attribute?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Colour</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Year</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Accelerating</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Fuel level</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behaviour is something the object can </a:t>
            </a:r>
            <a:r>
              <a:rPr lang="en-IE" sz="1800" b="1" dirty="0">
                <a:solidFill>
                  <a:schemeClr val="tx1"/>
                </a:solidFill>
              </a:rPr>
              <a:t>do</a:t>
            </a:r>
            <a:r>
              <a:rPr lang="en-IE" sz="1800" dirty="0">
                <a:solidFill>
                  <a:schemeClr val="tx1"/>
                </a:solidFill>
              </a:rPr>
              <a:t>, so accelerating is a method. Colour, year and fuel level are information </a:t>
            </a:r>
            <a:r>
              <a:rPr lang="en-IE" sz="1800" b="1" dirty="0">
                <a:solidFill>
                  <a:schemeClr val="tx1"/>
                </a:solidFill>
              </a:rPr>
              <a:t>about</a:t>
            </a:r>
            <a:r>
              <a:rPr lang="en-IE" sz="1800" dirty="0">
                <a:solidFill>
                  <a:schemeClr val="tx1"/>
                </a:solidFill>
              </a:rPr>
              <a:t> the car, so they are attributes.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Classes: the template</a:t>
            </a:r>
            <a:endParaRPr lang="en-IE" sz="3400" dirty="0"/>
          </a:p>
        </p:txBody>
      </p:sp>
      <p:sp>
        <p:nvSpPr>
          <p:cNvPr id="5" name="Text 2"/>
          <p:cNvSpPr txBox="1"/>
          <p:nvPr/>
        </p:nvSpPr>
        <p:spPr>
          <a:xfrm>
            <a:off x="548640" y="1783080"/>
            <a:ext cx="484632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A class is a </a:t>
            </a:r>
            <a:r>
              <a:rPr lang="en-IE" sz="1800" b="1" dirty="0">
                <a:solidFill>
                  <a:schemeClr val="tx1"/>
                </a:solidFill>
              </a:rPr>
              <a:t>template</a:t>
            </a:r>
            <a:r>
              <a:rPr lang="en-IE" sz="1800" dirty="0">
                <a:solidFill>
                  <a:schemeClr val="tx1"/>
                </a:solidFill>
              </a:rPr>
              <a:t> for making objects, a bit like a blueprint for a house.</a:t>
            </a:r>
            <a:endParaRPr lang="en-IE" sz="1800" dirty="0"/>
          </a:p>
          <a:p>
            <a:pPr marL="228600" indent="-228600">
              <a:spcAft>
                <a:spcPts val="1400"/>
              </a:spcAft>
              <a:buSzPct val="100000"/>
              <a:buChar char="•"/>
            </a:pPr>
            <a:r>
              <a:rPr lang="en-IE" sz="1800" dirty="0">
                <a:solidFill>
                  <a:schemeClr val="tx1"/>
                </a:solidFill>
              </a:rPr>
              <a:t>We can make many objects from the same class.</a:t>
            </a:r>
            <a:endParaRPr lang="en-IE" sz="1800" dirty="0"/>
          </a:p>
          <a:p>
            <a:pPr marL="228600" indent="-228600">
              <a:buSzPct val="100000"/>
              <a:buChar char="•"/>
            </a:pPr>
            <a:r>
              <a:rPr lang="en-IE" sz="1800" dirty="0">
                <a:solidFill>
                  <a:schemeClr val="tx1"/>
                </a:solidFill>
              </a:rPr>
              <a:t>Example: from a </a:t>
            </a:r>
            <a:r>
              <a:rPr lang="en-IE" sz="1800" b="1" dirty="0">
                <a:solidFill>
                  <a:schemeClr val="tx1"/>
                </a:solidFill>
              </a:rPr>
              <a:t>Vehicle</a:t>
            </a:r>
            <a:r>
              <a:rPr lang="en-IE" sz="1800" dirty="0">
                <a:solidFill>
                  <a:schemeClr val="tx1"/>
                </a:solidFill>
              </a:rPr>
              <a:t> class we could make a car, a truck and a boat. Each one has all of Vehicle’s attributes and methods, with its own values.</a:t>
            </a:r>
            <a:endParaRPr lang="en-IE" sz="1800" dirty="0"/>
          </a:p>
        </p:txBody>
      </p:sp>
      <p:sp>
        <p:nvSpPr>
          <p:cNvPr id="6" name="Vehicle class"/>
          <p:cNvSpPr/>
          <p:nvPr/>
        </p:nvSpPr>
        <p:spPr>
          <a:xfrm>
            <a:off x="5760720" y="2240280"/>
            <a:ext cx="2468880" cy="2697480"/>
          </a:xfrm>
          <a:prstGeom prst="roundRect">
            <a:avLst>
              <a:gd name="adj" fmla="val 4444"/>
            </a:avLst>
          </a:prstGeom>
          <a:solidFill>
            <a:schemeClr val="accent2"/>
          </a:solidFill>
          <a:ln/>
          <a:effectLst>
            <a:outerShdw sx="100000" sy="100000" kx="0" ky="0" algn="bl" rotWithShape="0" blurRad="114300" dist="31750" dir="5400000">
              <a:srgbClr val="1D2433">
                <a:alpha val="12000"/>
              </a:srgbClr>
            </a:outerShdw>
          </a:effectLst>
        </p:spPr>
      </p:sp>
      <p:sp>
        <p:nvSpPr>
          <p:cNvPr id="7" name="Text 4"/>
          <p:cNvSpPr txBox="1"/>
          <p:nvPr/>
        </p:nvSpPr>
        <p:spPr>
          <a:xfrm>
            <a:off x="6035040" y="2441448"/>
            <a:ext cx="1920240" cy="457200"/>
          </a:xfrm>
          <a:prstGeom prst="rect">
            <a:avLst/>
          </a:prstGeom>
          <a:noFill/>
          <a:ln/>
        </p:spPr>
        <p:txBody>
          <a:bodyPr wrap="square" lIns="0" tIns="0" rIns="0" bIns="0" rtlCol="0" anchor="ctr"/>
          <a:lstStyle/>
          <a:p>
            <a:pPr indent="0" marL="0">
              <a:buNone/>
            </a:pPr>
            <a:r>
              <a:rPr lang="en-IE" sz="2000" b="1" dirty="0">
                <a:solidFill>
                  <a:schemeClr val="bg1"/>
                </a:solidFill>
                <a:latin typeface="Consolas" pitchFamily="34" charset="0"/>
                <a:ea typeface="Consolas" pitchFamily="34" charset="-122"/>
                <a:cs typeface="Consolas" pitchFamily="34" charset="-120"/>
              </a:rPr>
              <a:t>Vehicle</a:t>
            </a:r>
            <a:endParaRPr lang="en-IE" sz="2000" dirty="0"/>
          </a:p>
        </p:txBody>
      </p:sp>
      <p:sp>
        <p:nvSpPr>
          <p:cNvPr id="8" name="Divider"/>
          <p:cNvSpPr/>
          <p:nvPr/>
        </p:nvSpPr>
        <p:spPr>
          <a:xfrm>
            <a:off x="6035040" y="3017520"/>
            <a:ext cx="1920240" cy="18288"/>
          </a:xfrm>
          <a:prstGeom prst="rect">
            <a:avLst/>
          </a:prstGeom>
          <a:solidFill>
            <a:schemeClr val="bg1">
              <a:alpha val="35000"/>
            </a:schemeClr>
          </a:solidFill>
          <a:ln/>
        </p:spPr>
      </p:sp>
      <p:sp>
        <p:nvSpPr>
          <p:cNvPr id="9" name="Text 6"/>
          <p:cNvSpPr txBox="1"/>
          <p:nvPr/>
        </p:nvSpPr>
        <p:spPr>
          <a:xfrm>
            <a:off x="6035040" y="3136392"/>
            <a:ext cx="1920240" cy="685800"/>
          </a:xfrm>
          <a:prstGeom prst="rect">
            <a:avLst/>
          </a:prstGeom>
          <a:noFill/>
          <a:ln/>
        </p:spPr>
        <p:txBody>
          <a:bodyPr wrap="square" lIns="0" tIns="0" rIns="0" bIns="0" rtlCol="0" anchor="t"/>
          <a:lstStyle/>
          <a:p>
            <a:pPr indent="0" marL="0">
              <a:lnSpc>
                <a:spcPts val="2200"/>
              </a:lnSpc>
              <a:buNone/>
            </a:pPr>
            <a:r>
              <a:rPr lang="en-IE" sz="1500" dirty="0">
                <a:solidFill>
                  <a:schemeClr val="bg1"/>
                </a:solidFill>
                <a:latin typeface="Consolas" pitchFamily="34" charset="0"/>
                <a:ea typeface="Consolas" pitchFamily="34" charset="-122"/>
                <a:cs typeface="Consolas" pitchFamily="34" charset="-120"/>
              </a:rPr>
              <a:t>colour</a:t>
            </a:r>
            <a:endParaRPr lang="en-IE" sz="1500" dirty="0"/>
          </a:p>
          <a:p>
            <a:pPr indent="0" marL="0">
              <a:lnSpc>
                <a:spcPts val="2200"/>
              </a:lnSpc>
              <a:buNone/>
            </a:pPr>
            <a:r>
              <a:rPr lang="en-IE" sz="1500" dirty="0">
                <a:solidFill>
                  <a:schemeClr val="bg1"/>
                </a:solidFill>
                <a:latin typeface="Consolas" pitchFamily="34" charset="0"/>
                <a:ea typeface="Consolas" pitchFamily="34" charset="-122"/>
                <a:cs typeface="Consolas" pitchFamily="34" charset="-120"/>
              </a:rPr>
              <a:t>year</a:t>
            </a:r>
            <a:endParaRPr lang="en-IE" sz="1500" dirty="0"/>
          </a:p>
        </p:txBody>
      </p:sp>
      <p:sp>
        <p:nvSpPr>
          <p:cNvPr id="10" name="Divider"/>
          <p:cNvSpPr/>
          <p:nvPr/>
        </p:nvSpPr>
        <p:spPr>
          <a:xfrm>
            <a:off x="6035040" y="3886200"/>
            <a:ext cx="1920240" cy="18288"/>
          </a:xfrm>
          <a:prstGeom prst="rect">
            <a:avLst/>
          </a:prstGeom>
          <a:solidFill>
            <a:schemeClr val="bg1">
              <a:alpha val="35000"/>
            </a:schemeClr>
          </a:solidFill>
          <a:ln/>
        </p:spPr>
      </p:sp>
      <p:sp>
        <p:nvSpPr>
          <p:cNvPr id="11" name="Text 8"/>
          <p:cNvSpPr txBox="1"/>
          <p:nvPr/>
        </p:nvSpPr>
        <p:spPr>
          <a:xfrm>
            <a:off x="6035040" y="4005072"/>
            <a:ext cx="1920240" cy="685800"/>
          </a:xfrm>
          <a:prstGeom prst="rect">
            <a:avLst/>
          </a:prstGeom>
          <a:noFill/>
          <a:ln/>
        </p:spPr>
        <p:txBody>
          <a:bodyPr wrap="square" lIns="0" tIns="0" rIns="0" bIns="0" rtlCol="0" anchor="t"/>
          <a:lstStyle/>
          <a:p>
            <a:pPr indent="0" marL="0">
              <a:lnSpc>
                <a:spcPts val="2200"/>
              </a:lnSpc>
              <a:buNone/>
            </a:pPr>
            <a:r>
              <a:rPr lang="en-IE" sz="1500" dirty="0">
                <a:solidFill>
                  <a:schemeClr val="bg1"/>
                </a:solidFill>
                <a:latin typeface="Consolas" pitchFamily="34" charset="0"/>
                <a:ea typeface="Consolas" pitchFamily="34" charset="-122"/>
                <a:cs typeface="Consolas" pitchFamily="34" charset="-120"/>
              </a:rPr>
              <a:t>accelerate()</a:t>
            </a:r>
            <a:endParaRPr lang="en-IE" sz="1500" dirty="0"/>
          </a:p>
          <a:p>
            <a:pPr indent="0" marL="0">
              <a:lnSpc>
                <a:spcPts val="2200"/>
              </a:lnSpc>
              <a:buNone/>
            </a:pPr>
            <a:r>
              <a:rPr lang="en-IE" sz="1500" dirty="0">
                <a:solidFill>
                  <a:schemeClr val="bg1"/>
                </a:solidFill>
                <a:latin typeface="Consolas" pitchFamily="34" charset="0"/>
                <a:ea typeface="Consolas" pitchFamily="34" charset="-122"/>
                <a:cs typeface="Consolas" pitchFamily="34" charset="-120"/>
              </a:rPr>
              <a:t>brake()</a:t>
            </a:r>
            <a:endParaRPr lang="en-IE" sz="1500" dirty="0"/>
          </a:p>
        </p:txBody>
      </p:sp>
      <p:sp>
        <p:nvSpPr>
          <p:cNvPr id="12" name="Text 9"/>
          <p:cNvSpPr txBox="1"/>
          <p:nvPr/>
        </p:nvSpPr>
        <p:spPr>
          <a:xfrm>
            <a:off x="5577840" y="5074920"/>
            <a:ext cx="2834640" cy="292608"/>
          </a:xfrm>
          <a:prstGeom prst="rect">
            <a:avLst/>
          </a:prstGeom>
          <a:noFill/>
          <a:ln/>
        </p:spPr>
        <p:txBody>
          <a:bodyPr wrap="square" lIns="0" tIns="0" rIns="0" bIns="0" rtlCol="0" anchor="t"/>
          <a:lstStyle/>
          <a:p>
            <a:pPr algn="ctr" indent="0" marL="0">
              <a:buNone/>
            </a:pPr>
            <a:r>
              <a:rPr lang="en-IE" sz="1300" i="1" dirty="0">
                <a:solidFill>
                  <a:schemeClr val="tx2"/>
                </a:solidFill>
              </a:rPr>
              <a:t>one class (the template)</a:t>
            </a:r>
            <a:endParaRPr lang="en-IE" sz="1300" dirty="0"/>
          </a:p>
        </p:txBody>
      </p:sp>
      <p:sp>
        <p:nvSpPr>
          <p:cNvPr id="13" name="Connector"/>
          <p:cNvSpPr/>
          <p:nvPr/>
        </p:nvSpPr>
        <p:spPr>
          <a:xfrm flipV="1">
            <a:off x="8275320" y="2331720"/>
            <a:ext cx="768096" cy="1257300"/>
          </a:xfrm>
          <a:prstGeom prst="line">
            <a:avLst/>
          </a:prstGeom>
          <a:noFill/>
          <a:ln w="19050">
            <a:solidFill>
              <a:schemeClr val="tx2"/>
            </a:solidFill>
            <a:prstDash val="solid"/>
            <a:tailEnd type="triangle"/>
          </a:ln>
        </p:spPr>
      </p:sp>
      <p:sp>
        <p:nvSpPr>
          <p:cNvPr id="14" name="Card"/>
          <p:cNvSpPr/>
          <p:nvPr/>
        </p:nvSpPr>
        <p:spPr>
          <a:xfrm>
            <a:off x="9098280" y="1783080"/>
            <a:ext cx="254477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9326880" y="2011680"/>
            <a:ext cx="640080" cy="640080"/>
          </a:xfrm>
          <a:prstGeom prst="roundRect">
            <a:avLst>
              <a:gd name="adj" fmla="val 24000"/>
            </a:avLst>
          </a:prstGeom>
          <a:solidFill>
            <a:schemeClr val="accent1">
              <a:alpha val="14000"/>
            </a:schemeClr>
          </a:solidFill>
          <a:ln/>
        </p:spPr>
      </p:sp>
      <p:pic>
        <p:nvPicPr>
          <p:cNvPr id="16" name="car profile icon" descr="car profile icon">    </p:cNvPr>
          <p:cNvPicPr>
            <a:picLocks noChangeAspect="1"/>
          </p:cNvPicPr>
          <p:nvPr/>
        </p:nvPicPr>
        <p:blipFill>
          <a:blip r:embed="rId1"/>
          <a:stretch>
            <a:fillRect/>
          </a:stretch>
        </p:blipFill>
        <p:spPr>
          <a:xfrm>
            <a:off x="9461297" y="2146097"/>
            <a:ext cx="371246" cy="371246"/>
          </a:xfrm>
          <a:prstGeom prst="rect">
            <a:avLst/>
          </a:prstGeom>
        </p:spPr>
      </p:pic>
      <p:sp>
        <p:nvSpPr>
          <p:cNvPr id="17" name="Text 13"/>
          <p:cNvSpPr txBox="1"/>
          <p:nvPr/>
        </p:nvSpPr>
        <p:spPr>
          <a:xfrm>
            <a:off x="10122408" y="1965960"/>
            <a:ext cx="1401775" cy="384048"/>
          </a:xfrm>
          <a:prstGeom prst="rect">
            <a:avLst/>
          </a:prstGeom>
          <a:noFill/>
          <a:ln/>
        </p:spPr>
        <p:txBody>
          <a:bodyPr wrap="square" lIns="0" tIns="0" rIns="0" bIns="0" rtlCol="0" anchor="t"/>
          <a:lstStyle/>
          <a:p>
            <a:pPr indent="0" marL="0">
              <a:buNone/>
            </a:pPr>
            <a:r>
              <a:rPr lang="en-IE" sz="1900" b="1" dirty="0">
                <a:solidFill>
                  <a:schemeClr val="accent2"/>
                </a:solidFill>
                <a:latin typeface="Consolas" pitchFamily="34" charset="0"/>
                <a:ea typeface="Consolas" pitchFamily="34" charset="-122"/>
                <a:cs typeface="Consolas" pitchFamily="34" charset="-120"/>
              </a:rPr>
              <a:t>car</a:t>
            </a:r>
            <a:endParaRPr lang="en-IE" sz="1900" dirty="0"/>
          </a:p>
        </p:txBody>
      </p:sp>
      <p:sp>
        <p:nvSpPr>
          <p:cNvPr id="18" name="Text 14"/>
          <p:cNvSpPr txBox="1"/>
          <p:nvPr/>
        </p:nvSpPr>
        <p:spPr>
          <a:xfrm>
            <a:off x="10122408" y="2331720"/>
            <a:ext cx="1447495" cy="384048"/>
          </a:xfrm>
          <a:prstGeom prst="rect">
            <a:avLst/>
          </a:prstGeom>
          <a:noFill/>
          <a:ln/>
        </p:spPr>
        <p:txBody>
          <a:bodyPr wrap="square" lIns="0" tIns="0" rIns="0" bIns="0" rtlCol="0" anchor="t"/>
          <a:lstStyle/>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colour = red</a:t>
            </a:r>
            <a:endParaRPr lang="en-IE" sz="1200" dirty="0"/>
          </a:p>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year = 2019</a:t>
            </a:r>
            <a:endParaRPr lang="en-IE" sz="1200" dirty="0"/>
          </a:p>
        </p:txBody>
      </p:sp>
      <p:sp>
        <p:nvSpPr>
          <p:cNvPr id="19" name="Connector"/>
          <p:cNvSpPr/>
          <p:nvPr/>
        </p:nvSpPr>
        <p:spPr>
          <a:xfrm>
            <a:off x="8275320" y="3589020"/>
            <a:ext cx="768096" cy="22860"/>
          </a:xfrm>
          <a:prstGeom prst="line">
            <a:avLst/>
          </a:prstGeom>
          <a:noFill/>
          <a:ln w="19050">
            <a:solidFill>
              <a:schemeClr val="tx2"/>
            </a:solidFill>
            <a:prstDash val="solid"/>
            <a:tailEnd type="triangle"/>
          </a:ln>
        </p:spPr>
      </p:sp>
      <p:sp>
        <p:nvSpPr>
          <p:cNvPr id="20" name="Card"/>
          <p:cNvSpPr/>
          <p:nvPr/>
        </p:nvSpPr>
        <p:spPr>
          <a:xfrm>
            <a:off x="9098280" y="3063240"/>
            <a:ext cx="254477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326880" y="3291840"/>
            <a:ext cx="640080" cy="640080"/>
          </a:xfrm>
          <a:prstGeom prst="roundRect">
            <a:avLst>
              <a:gd name="adj" fmla="val 24000"/>
            </a:avLst>
          </a:prstGeom>
          <a:solidFill>
            <a:schemeClr val="accent4">
              <a:alpha val="14000"/>
            </a:schemeClr>
          </a:solidFill>
          <a:ln/>
        </p:spPr>
      </p:sp>
      <p:pic>
        <p:nvPicPr>
          <p:cNvPr id="22" name="truck icon" descr="truck icon">    </p:cNvPr>
          <p:cNvPicPr>
            <a:picLocks noChangeAspect="1"/>
          </p:cNvPicPr>
          <p:nvPr/>
        </p:nvPicPr>
        <p:blipFill>
          <a:blip r:embed="rId2"/>
          <a:stretch>
            <a:fillRect/>
          </a:stretch>
        </p:blipFill>
        <p:spPr>
          <a:xfrm>
            <a:off x="9461297" y="3426257"/>
            <a:ext cx="371246" cy="371246"/>
          </a:xfrm>
          <a:prstGeom prst="rect">
            <a:avLst/>
          </a:prstGeom>
        </p:spPr>
      </p:pic>
      <p:sp>
        <p:nvSpPr>
          <p:cNvPr id="23" name="Text 18"/>
          <p:cNvSpPr txBox="1"/>
          <p:nvPr/>
        </p:nvSpPr>
        <p:spPr>
          <a:xfrm>
            <a:off x="10122408" y="3246120"/>
            <a:ext cx="1401775" cy="384048"/>
          </a:xfrm>
          <a:prstGeom prst="rect">
            <a:avLst/>
          </a:prstGeom>
          <a:noFill/>
          <a:ln/>
        </p:spPr>
        <p:txBody>
          <a:bodyPr wrap="square" lIns="0" tIns="0" rIns="0" bIns="0" rtlCol="0" anchor="t"/>
          <a:lstStyle/>
          <a:p>
            <a:pPr indent="0" marL="0">
              <a:buNone/>
            </a:pPr>
            <a:r>
              <a:rPr lang="en-IE" sz="1900" b="1" dirty="0">
                <a:solidFill>
                  <a:schemeClr val="accent2"/>
                </a:solidFill>
                <a:latin typeface="Consolas" pitchFamily="34" charset="0"/>
                <a:ea typeface="Consolas" pitchFamily="34" charset="-122"/>
                <a:cs typeface="Consolas" pitchFamily="34" charset="-120"/>
              </a:rPr>
              <a:t>truck</a:t>
            </a:r>
            <a:endParaRPr lang="en-IE" sz="1900" dirty="0"/>
          </a:p>
        </p:txBody>
      </p:sp>
      <p:sp>
        <p:nvSpPr>
          <p:cNvPr id="24" name="Text 19"/>
          <p:cNvSpPr txBox="1"/>
          <p:nvPr/>
        </p:nvSpPr>
        <p:spPr>
          <a:xfrm>
            <a:off x="10122408" y="3611880"/>
            <a:ext cx="1447495" cy="384048"/>
          </a:xfrm>
          <a:prstGeom prst="rect">
            <a:avLst/>
          </a:prstGeom>
          <a:noFill/>
          <a:ln/>
        </p:spPr>
        <p:txBody>
          <a:bodyPr wrap="square" lIns="0" tIns="0" rIns="0" bIns="0" rtlCol="0" anchor="t"/>
          <a:lstStyle/>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colour = white</a:t>
            </a:r>
            <a:endParaRPr lang="en-IE" sz="1200" dirty="0"/>
          </a:p>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year = 2021</a:t>
            </a:r>
            <a:endParaRPr lang="en-IE" sz="1200" dirty="0"/>
          </a:p>
        </p:txBody>
      </p:sp>
      <p:sp>
        <p:nvSpPr>
          <p:cNvPr id="25" name="Connector"/>
          <p:cNvSpPr/>
          <p:nvPr/>
        </p:nvSpPr>
        <p:spPr>
          <a:xfrm>
            <a:off x="8275320" y="3589020"/>
            <a:ext cx="768096" cy="1303020"/>
          </a:xfrm>
          <a:prstGeom prst="line">
            <a:avLst/>
          </a:prstGeom>
          <a:noFill/>
          <a:ln w="19050">
            <a:solidFill>
              <a:schemeClr val="tx2"/>
            </a:solidFill>
            <a:prstDash val="solid"/>
            <a:tailEnd type="triangle"/>
          </a:ln>
        </p:spPr>
      </p:sp>
      <p:sp>
        <p:nvSpPr>
          <p:cNvPr id="26" name="Card"/>
          <p:cNvSpPr/>
          <p:nvPr/>
        </p:nvSpPr>
        <p:spPr>
          <a:xfrm>
            <a:off x="9098280" y="4343400"/>
            <a:ext cx="254477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27" name="Icon tile"/>
          <p:cNvSpPr/>
          <p:nvPr/>
        </p:nvSpPr>
        <p:spPr>
          <a:xfrm>
            <a:off x="9326880" y="4572000"/>
            <a:ext cx="640080" cy="640080"/>
          </a:xfrm>
          <a:prstGeom prst="roundRect">
            <a:avLst>
              <a:gd name="adj" fmla="val 24000"/>
            </a:avLst>
          </a:prstGeom>
          <a:solidFill>
            <a:schemeClr val="accent3">
              <a:alpha val="14000"/>
            </a:schemeClr>
          </a:solidFill>
          <a:ln/>
        </p:spPr>
      </p:sp>
      <p:pic>
        <p:nvPicPr>
          <p:cNvPr id="28" name="boat icon" descr="boat icon">    </p:cNvPr>
          <p:cNvPicPr>
            <a:picLocks noChangeAspect="1"/>
          </p:cNvPicPr>
          <p:nvPr/>
        </p:nvPicPr>
        <p:blipFill>
          <a:blip r:embed="rId3"/>
          <a:stretch>
            <a:fillRect/>
          </a:stretch>
        </p:blipFill>
        <p:spPr>
          <a:xfrm>
            <a:off x="9461297" y="4706417"/>
            <a:ext cx="371246" cy="371246"/>
          </a:xfrm>
          <a:prstGeom prst="rect">
            <a:avLst/>
          </a:prstGeom>
        </p:spPr>
      </p:pic>
      <p:sp>
        <p:nvSpPr>
          <p:cNvPr id="29" name="Text 23"/>
          <p:cNvSpPr txBox="1"/>
          <p:nvPr/>
        </p:nvSpPr>
        <p:spPr>
          <a:xfrm>
            <a:off x="10122408" y="4526280"/>
            <a:ext cx="1401775" cy="384048"/>
          </a:xfrm>
          <a:prstGeom prst="rect">
            <a:avLst/>
          </a:prstGeom>
          <a:noFill/>
          <a:ln/>
        </p:spPr>
        <p:txBody>
          <a:bodyPr wrap="square" lIns="0" tIns="0" rIns="0" bIns="0" rtlCol="0" anchor="t"/>
          <a:lstStyle/>
          <a:p>
            <a:pPr indent="0" marL="0">
              <a:buNone/>
            </a:pPr>
            <a:r>
              <a:rPr lang="en-IE" sz="1900" b="1" dirty="0">
                <a:solidFill>
                  <a:schemeClr val="accent2"/>
                </a:solidFill>
                <a:latin typeface="Consolas" pitchFamily="34" charset="0"/>
                <a:ea typeface="Consolas" pitchFamily="34" charset="-122"/>
                <a:cs typeface="Consolas" pitchFamily="34" charset="-120"/>
              </a:rPr>
              <a:t>boat</a:t>
            </a:r>
            <a:endParaRPr lang="en-IE" sz="1900" dirty="0"/>
          </a:p>
        </p:txBody>
      </p:sp>
      <p:sp>
        <p:nvSpPr>
          <p:cNvPr id="30" name="Text 24"/>
          <p:cNvSpPr txBox="1"/>
          <p:nvPr/>
        </p:nvSpPr>
        <p:spPr>
          <a:xfrm>
            <a:off x="10122408" y="4892040"/>
            <a:ext cx="1447495" cy="384048"/>
          </a:xfrm>
          <a:prstGeom prst="rect">
            <a:avLst/>
          </a:prstGeom>
          <a:noFill/>
          <a:ln/>
        </p:spPr>
        <p:txBody>
          <a:bodyPr wrap="square" lIns="0" tIns="0" rIns="0" bIns="0" rtlCol="0" anchor="t"/>
          <a:lstStyle/>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colour = blue</a:t>
            </a:r>
            <a:endParaRPr lang="en-IE" sz="1200" dirty="0"/>
          </a:p>
          <a:p>
            <a:pPr indent="0" marL="0">
              <a:lnSpc>
                <a:spcPts val="1500"/>
              </a:lnSpc>
              <a:buNone/>
            </a:pPr>
            <a:r>
              <a:rPr lang="en-IE" sz="1200" dirty="0">
                <a:solidFill>
                  <a:schemeClr val="tx2"/>
                </a:solidFill>
                <a:latin typeface="Consolas" pitchFamily="34" charset="0"/>
                <a:ea typeface="Consolas" pitchFamily="34" charset="-122"/>
                <a:cs typeface="Consolas" pitchFamily="34" charset="-120"/>
              </a:rPr>
              <a:t>year = 2015</a:t>
            </a:r>
            <a:endParaRPr lang="en-IE" sz="1200" dirty="0"/>
          </a:p>
        </p:txBody>
      </p:sp>
      <p:sp>
        <p:nvSpPr>
          <p:cNvPr id="31" name="Text 25"/>
          <p:cNvSpPr txBox="1"/>
          <p:nvPr/>
        </p:nvSpPr>
        <p:spPr>
          <a:xfrm>
            <a:off x="9098280" y="5559552"/>
            <a:ext cx="2544775" cy="292608"/>
          </a:xfrm>
          <a:prstGeom prst="rect">
            <a:avLst/>
          </a:prstGeom>
          <a:noFill/>
          <a:ln/>
        </p:spPr>
        <p:txBody>
          <a:bodyPr wrap="square" lIns="0" tIns="0" rIns="0" bIns="0" rtlCol="0" anchor="t"/>
          <a:lstStyle/>
          <a:p>
            <a:pPr algn="ctr" indent="0" marL="0">
              <a:buNone/>
            </a:pPr>
            <a:r>
              <a:rPr lang="en-IE" sz="1300" i="1" dirty="0">
                <a:solidFill>
                  <a:schemeClr val="tx2"/>
                </a:solidFill>
              </a:rPr>
              <a:t>many objects</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Reading a class diagram</a:t>
            </a:r>
            <a:endParaRPr lang="en-IE" sz="3400" dirty="0"/>
          </a:p>
        </p:txBody>
      </p:sp>
      <p:sp>
        <p:nvSpPr>
          <p:cNvPr id="5" name="Class name"/>
          <p:cNvSpPr/>
          <p:nvPr/>
        </p:nvSpPr>
        <p:spPr>
          <a:xfrm>
            <a:off x="548640" y="1828800"/>
            <a:ext cx="2743200" cy="640080"/>
          </a:xfrm>
          <a:prstGeom prst="rect">
            <a:avLst/>
          </a:prstGeom>
          <a:solidFill>
            <a:schemeClr val="accent2"/>
          </a:solidFill>
          <a:ln/>
        </p:spPr>
        <p:txBody>
          <a:bodyPr wrap="square" lIns="0" tIns="0" rIns="0" bIns="0" rtlCol="0" anchor="ctr"/>
          <a:lstStyle/>
          <a:p>
            <a:pPr algn="ctr" indent="0" marL="0">
              <a:buNone/>
            </a:pPr>
            <a:r>
              <a:rPr lang="en-IE" sz="2000" b="1" dirty="0">
                <a:solidFill>
                  <a:schemeClr val="bg1"/>
                </a:solidFill>
              </a:rPr>
              <a:t>Student</a:t>
            </a:r>
            <a:endParaRPr lang="en-IE" sz="2000" dirty="0"/>
          </a:p>
        </p:txBody>
      </p:sp>
      <p:sp>
        <p:nvSpPr>
          <p:cNvPr id="6" name="Attributes"/>
          <p:cNvSpPr/>
          <p:nvPr/>
        </p:nvSpPr>
        <p:spPr>
          <a:xfrm>
            <a:off x="548640" y="2468880"/>
            <a:ext cx="2743200" cy="384048"/>
          </a:xfrm>
          <a:prstGeom prst="rect">
            <a:avLst/>
          </a:prstGeom>
          <a:solidFill>
            <a:schemeClr val="bg2"/>
          </a:solidFill>
          <a:ln/>
        </p:spPr>
        <p:txBody>
          <a:bodyPr wrap="square" lIns="0" tIns="0" rIns="0" bIns="0" rtlCol="0" anchor="ctr"/>
          <a:lstStyle/>
          <a:p>
            <a:pPr algn="ctr" indent="0" marL="0">
              <a:buNone/>
            </a:pPr>
            <a:r>
              <a:rPr lang="en-IE" sz="1300" b="1" dirty="0">
                <a:solidFill>
                  <a:schemeClr val="tx2"/>
                </a:solidFill>
              </a:rPr>
              <a:t>Attributes</a:t>
            </a:r>
            <a:endParaRPr lang="en-IE" sz="1300" dirty="0"/>
          </a:p>
        </p:txBody>
      </p:sp>
      <p:sp>
        <p:nvSpPr>
          <p:cNvPr id="7" name="Text 4"/>
          <p:cNvSpPr txBox="1"/>
          <p:nvPr/>
        </p:nvSpPr>
        <p:spPr>
          <a:xfrm>
            <a:off x="548640" y="2852928"/>
            <a:ext cx="2743200" cy="457200"/>
          </a:xfrm>
          <a:prstGeom prst="rect">
            <a:avLst/>
          </a:prstGeom>
          <a:noFill/>
          <a:ln/>
        </p:spPr>
        <p:txBody>
          <a:bodyPr wrap="square" lIns="0" tIns="0" rIns="0" bIns="0" rtlCol="0" anchor="ctr"/>
          <a:lstStyle/>
          <a:p>
            <a:pPr algn="ctr" indent="0" marL="0">
              <a:buNone/>
            </a:pPr>
            <a:r>
              <a:rPr lang="en-IE" sz="1700" dirty="0">
                <a:solidFill>
                  <a:schemeClr val="tx1"/>
                </a:solidFill>
              </a:rPr>
              <a:t>studentID</a:t>
            </a:r>
            <a:endParaRPr lang="en-IE" sz="1700" dirty="0"/>
          </a:p>
        </p:txBody>
      </p:sp>
      <p:sp>
        <p:nvSpPr>
          <p:cNvPr id="8" name="Text 5"/>
          <p:cNvSpPr txBox="1"/>
          <p:nvPr/>
        </p:nvSpPr>
        <p:spPr>
          <a:xfrm>
            <a:off x="548640" y="3310128"/>
            <a:ext cx="2743200" cy="457200"/>
          </a:xfrm>
          <a:prstGeom prst="rect">
            <a:avLst/>
          </a:prstGeom>
          <a:noFill/>
          <a:ln/>
        </p:spPr>
        <p:txBody>
          <a:bodyPr wrap="square" lIns="0" tIns="0" rIns="0" bIns="0" rtlCol="0" anchor="ctr"/>
          <a:lstStyle/>
          <a:p>
            <a:pPr algn="ctr" indent="0" marL="0">
              <a:buNone/>
            </a:pPr>
            <a:r>
              <a:rPr lang="en-IE" sz="1700" dirty="0">
                <a:solidFill>
                  <a:schemeClr val="tx1"/>
                </a:solidFill>
              </a:rPr>
              <a:t>name</a:t>
            </a:r>
            <a:endParaRPr lang="en-IE" sz="1700" dirty="0"/>
          </a:p>
        </p:txBody>
      </p:sp>
      <p:sp>
        <p:nvSpPr>
          <p:cNvPr id="9" name="Text 6"/>
          <p:cNvSpPr txBox="1"/>
          <p:nvPr/>
        </p:nvSpPr>
        <p:spPr>
          <a:xfrm>
            <a:off x="548640" y="3767328"/>
            <a:ext cx="2743200" cy="457200"/>
          </a:xfrm>
          <a:prstGeom prst="rect">
            <a:avLst/>
          </a:prstGeom>
          <a:noFill/>
          <a:ln/>
        </p:spPr>
        <p:txBody>
          <a:bodyPr wrap="square" lIns="0" tIns="0" rIns="0" bIns="0" rtlCol="0" anchor="ctr"/>
          <a:lstStyle/>
          <a:p>
            <a:pPr algn="ctr" indent="0" marL="0">
              <a:buNone/>
            </a:pPr>
            <a:r>
              <a:rPr lang="en-IE" sz="1700" dirty="0">
                <a:solidFill>
                  <a:schemeClr val="tx1"/>
                </a:solidFill>
              </a:rPr>
              <a:t>averageMark</a:t>
            </a:r>
            <a:endParaRPr lang="en-IE" sz="1700" dirty="0"/>
          </a:p>
        </p:txBody>
      </p:sp>
      <p:sp>
        <p:nvSpPr>
          <p:cNvPr id="10" name="Operations"/>
          <p:cNvSpPr/>
          <p:nvPr/>
        </p:nvSpPr>
        <p:spPr>
          <a:xfrm>
            <a:off x="548640" y="4224528"/>
            <a:ext cx="2743200" cy="384048"/>
          </a:xfrm>
          <a:prstGeom prst="rect">
            <a:avLst/>
          </a:prstGeom>
          <a:solidFill>
            <a:schemeClr val="bg2"/>
          </a:solidFill>
          <a:ln/>
        </p:spPr>
        <p:txBody>
          <a:bodyPr wrap="square" lIns="0" tIns="0" rIns="0" bIns="0" rtlCol="0" anchor="ctr"/>
          <a:lstStyle/>
          <a:p>
            <a:pPr algn="ctr" indent="0" marL="0">
              <a:buNone/>
            </a:pPr>
            <a:r>
              <a:rPr lang="en-IE" sz="1300" b="1" dirty="0">
                <a:solidFill>
                  <a:schemeClr val="tx2"/>
                </a:solidFill>
              </a:rPr>
              <a:t>Operations</a:t>
            </a:r>
            <a:endParaRPr lang="en-IE" sz="1300" dirty="0"/>
          </a:p>
        </p:txBody>
      </p:sp>
      <p:sp>
        <p:nvSpPr>
          <p:cNvPr id="11" name="Text 8"/>
          <p:cNvSpPr txBox="1"/>
          <p:nvPr/>
        </p:nvSpPr>
        <p:spPr>
          <a:xfrm>
            <a:off x="548640" y="4608576"/>
            <a:ext cx="2743200" cy="457200"/>
          </a:xfrm>
          <a:prstGeom prst="rect">
            <a:avLst/>
          </a:prstGeom>
          <a:noFill/>
          <a:ln/>
        </p:spPr>
        <p:txBody>
          <a:bodyPr wrap="square" lIns="0" tIns="0" rIns="0" bIns="0" rtlCol="0" anchor="ctr"/>
          <a:lstStyle/>
          <a:p>
            <a:pPr algn="ctr" indent="0" marL="0">
              <a:buNone/>
            </a:pPr>
            <a:r>
              <a:rPr lang="en-IE" sz="1700" dirty="0">
                <a:solidFill>
                  <a:schemeClr val="tx1"/>
                </a:solidFill>
              </a:rPr>
              <a:t>updateAverage()</a:t>
            </a:r>
            <a:endParaRPr lang="en-IE" sz="1700" dirty="0"/>
          </a:p>
        </p:txBody>
      </p:sp>
      <p:sp>
        <p:nvSpPr>
          <p:cNvPr id="12" name="Text 9"/>
          <p:cNvSpPr txBox="1"/>
          <p:nvPr/>
        </p:nvSpPr>
        <p:spPr>
          <a:xfrm>
            <a:off x="548640" y="5065776"/>
            <a:ext cx="2743200" cy="457200"/>
          </a:xfrm>
          <a:prstGeom prst="rect">
            <a:avLst/>
          </a:prstGeom>
          <a:noFill/>
          <a:ln/>
        </p:spPr>
        <p:txBody>
          <a:bodyPr wrap="square" lIns="0" tIns="0" rIns="0" bIns="0" rtlCol="0" anchor="ctr"/>
          <a:lstStyle/>
          <a:p>
            <a:pPr algn="ctr" indent="0" marL="0">
              <a:buNone/>
            </a:pPr>
            <a:r>
              <a:rPr lang="en-IE" sz="1700" dirty="0">
                <a:solidFill>
                  <a:schemeClr val="tx1"/>
                </a:solidFill>
              </a:rPr>
              <a:t>calculateAward()</a:t>
            </a:r>
            <a:endParaRPr lang="en-IE" sz="1700" dirty="0"/>
          </a:p>
        </p:txBody>
      </p:sp>
      <p:sp>
        <p:nvSpPr>
          <p:cNvPr id="13" name="Class border"/>
          <p:cNvSpPr/>
          <p:nvPr/>
        </p:nvSpPr>
        <p:spPr>
          <a:xfrm>
            <a:off x="548640" y="1828800"/>
            <a:ext cx="2743200" cy="3694176"/>
          </a:xfrm>
          <a:prstGeom prst="rect">
            <a:avLst/>
          </a:prstGeom>
          <a:ln w="19050">
            <a:solidFill>
              <a:schemeClr val="accent2"/>
            </a:solidFill>
            <a:prstDash val="solid"/>
          </a:ln>
        </p:spPr>
      </p:sp>
      <p:sp>
        <p:nvSpPr>
          <p:cNvPr id="14" name="Connector"/>
          <p:cNvSpPr/>
          <p:nvPr/>
        </p:nvSpPr>
        <p:spPr>
          <a:xfrm>
            <a:off x="3337560" y="2148840"/>
            <a:ext cx="365760" cy="0"/>
          </a:xfrm>
          <a:prstGeom prst="line">
            <a:avLst/>
          </a:prstGeom>
          <a:noFill/>
          <a:ln w="12700">
            <a:solidFill>
              <a:schemeClr val="tx2"/>
            </a:solidFill>
            <a:prstDash val="dash"/>
          </a:ln>
        </p:spPr>
      </p:sp>
      <p:sp>
        <p:nvSpPr>
          <p:cNvPr id="15" name="Callout"/>
          <p:cNvSpPr/>
          <p:nvPr/>
        </p:nvSpPr>
        <p:spPr>
          <a:xfrm>
            <a:off x="3703320" y="1691640"/>
            <a:ext cx="2697480" cy="914400"/>
          </a:xfrm>
          <a:prstGeom prst="roundRect">
            <a:avLst>
              <a:gd name="adj" fmla="val 12000"/>
            </a:avLst>
          </a:prstGeom>
          <a:solidFill>
            <a:schemeClr val="bg2"/>
          </a:solidFill>
          <a:ln/>
        </p:spPr>
      </p:sp>
      <p:sp>
        <p:nvSpPr>
          <p:cNvPr id="16" name="Text 13"/>
          <p:cNvSpPr txBox="1"/>
          <p:nvPr/>
        </p:nvSpPr>
        <p:spPr>
          <a:xfrm>
            <a:off x="3886200" y="1737360"/>
            <a:ext cx="2377440" cy="822960"/>
          </a:xfrm>
          <a:prstGeom prst="rect">
            <a:avLst/>
          </a:prstGeom>
          <a:noFill/>
          <a:ln/>
        </p:spPr>
        <p:txBody>
          <a:bodyPr wrap="square" lIns="0" tIns="0" rIns="0" bIns="0" rtlCol="0" anchor="ctr"/>
          <a:lstStyle/>
          <a:p>
            <a:pPr indent="0" marL="0">
              <a:buNone/>
            </a:pPr>
            <a:r>
              <a:rPr lang="en-IE" sz="1400" b="1" dirty="0">
                <a:solidFill>
                  <a:schemeClr val="tx1"/>
                </a:solidFill>
              </a:rPr>
              <a:t>Class name.</a:t>
            </a:r>
            <a:r>
              <a:rPr lang="en-IE" sz="1400" dirty="0">
                <a:solidFill>
                  <a:schemeClr val="tx1"/>
                </a:solidFill>
              </a:rPr>
              <a:t> The template for every Student object.</a:t>
            </a:r>
            <a:endParaRPr lang="en-IE" sz="1400" dirty="0"/>
          </a:p>
        </p:txBody>
      </p:sp>
      <p:sp>
        <p:nvSpPr>
          <p:cNvPr id="17" name="Connector"/>
          <p:cNvSpPr/>
          <p:nvPr/>
        </p:nvSpPr>
        <p:spPr>
          <a:xfrm>
            <a:off x="3337560" y="3538728"/>
            <a:ext cx="365760" cy="0"/>
          </a:xfrm>
          <a:prstGeom prst="line">
            <a:avLst/>
          </a:prstGeom>
          <a:noFill/>
          <a:ln w="12700">
            <a:solidFill>
              <a:schemeClr val="tx2"/>
            </a:solidFill>
            <a:prstDash val="dash"/>
          </a:ln>
        </p:spPr>
      </p:sp>
      <p:sp>
        <p:nvSpPr>
          <p:cNvPr id="18" name="Callout"/>
          <p:cNvSpPr/>
          <p:nvPr/>
        </p:nvSpPr>
        <p:spPr>
          <a:xfrm>
            <a:off x="3703320" y="3081528"/>
            <a:ext cx="2697480" cy="914400"/>
          </a:xfrm>
          <a:prstGeom prst="roundRect">
            <a:avLst>
              <a:gd name="adj" fmla="val 12000"/>
            </a:avLst>
          </a:prstGeom>
          <a:solidFill>
            <a:schemeClr val="bg2"/>
          </a:solidFill>
          <a:ln/>
        </p:spPr>
      </p:sp>
      <p:sp>
        <p:nvSpPr>
          <p:cNvPr id="19" name="Text 16"/>
          <p:cNvSpPr txBox="1"/>
          <p:nvPr/>
        </p:nvSpPr>
        <p:spPr>
          <a:xfrm>
            <a:off x="3886200" y="3127248"/>
            <a:ext cx="2377440" cy="822960"/>
          </a:xfrm>
          <a:prstGeom prst="rect">
            <a:avLst/>
          </a:prstGeom>
          <a:noFill/>
          <a:ln/>
        </p:spPr>
        <p:txBody>
          <a:bodyPr wrap="square" lIns="0" tIns="0" rIns="0" bIns="0" rtlCol="0" anchor="ctr"/>
          <a:lstStyle/>
          <a:p>
            <a:pPr indent="0" marL="0">
              <a:buNone/>
            </a:pPr>
            <a:r>
              <a:rPr lang="en-IE" sz="1400" b="1" dirty="0">
                <a:solidFill>
                  <a:schemeClr val="tx1"/>
                </a:solidFill>
              </a:rPr>
              <a:t>Attributes.</a:t>
            </a:r>
            <a:r>
              <a:rPr lang="en-IE" sz="1400" dirty="0">
                <a:solidFill>
                  <a:schemeClr val="tx1"/>
                </a:solidFill>
              </a:rPr>
              <a:t> Every Student object has this set of data.</a:t>
            </a:r>
            <a:endParaRPr lang="en-IE" sz="1400" dirty="0"/>
          </a:p>
        </p:txBody>
      </p:sp>
      <p:sp>
        <p:nvSpPr>
          <p:cNvPr id="20" name="Connector"/>
          <p:cNvSpPr/>
          <p:nvPr/>
        </p:nvSpPr>
        <p:spPr>
          <a:xfrm>
            <a:off x="3337560" y="5065776"/>
            <a:ext cx="365760" cy="0"/>
          </a:xfrm>
          <a:prstGeom prst="line">
            <a:avLst/>
          </a:prstGeom>
          <a:noFill/>
          <a:ln w="12700">
            <a:solidFill>
              <a:schemeClr val="tx2"/>
            </a:solidFill>
            <a:prstDash val="dash"/>
          </a:ln>
        </p:spPr>
      </p:sp>
      <p:sp>
        <p:nvSpPr>
          <p:cNvPr id="21" name="Callout"/>
          <p:cNvSpPr/>
          <p:nvPr/>
        </p:nvSpPr>
        <p:spPr>
          <a:xfrm>
            <a:off x="3703320" y="4608576"/>
            <a:ext cx="2697480" cy="914400"/>
          </a:xfrm>
          <a:prstGeom prst="roundRect">
            <a:avLst>
              <a:gd name="adj" fmla="val 12000"/>
            </a:avLst>
          </a:prstGeom>
          <a:solidFill>
            <a:schemeClr val="bg2"/>
          </a:solidFill>
          <a:ln/>
        </p:spPr>
      </p:sp>
      <p:sp>
        <p:nvSpPr>
          <p:cNvPr id="22" name="Text 19"/>
          <p:cNvSpPr txBox="1"/>
          <p:nvPr/>
        </p:nvSpPr>
        <p:spPr>
          <a:xfrm>
            <a:off x="3886200" y="4654296"/>
            <a:ext cx="2377440" cy="822960"/>
          </a:xfrm>
          <a:prstGeom prst="rect">
            <a:avLst/>
          </a:prstGeom>
          <a:noFill/>
          <a:ln/>
        </p:spPr>
        <p:txBody>
          <a:bodyPr wrap="square" lIns="0" tIns="0" rIns="0" bIns="0" rtlCol="0" anchor="ctr"/>
          <a:lstStyle/>
          <a:p>
            <a:pPr indent="0" marL="0">
              <a:buNone/>
            </a:pPr>
            <a:r>
              <a:rPr lang="en-IE" sz="1400" b="1" dirty="0">
                <a:solidFill>
                  <a:schemeClr val="tx1"/>
                </a:solidFill>
              </a:rPr>
              <a:t>Operations (methods).</a:t>
            </a:r>
            <a:r>
              <a:rPr lang="en-IE" sz="1400" dirty="0">
                <a:solidFill>
                  <a:schemeClr val="tx1"/>
                </a:solidFill>
              </a:rPr>
              <a:t> What we can do with a Student object.</a:t>
            </a:r>
            <a:endParaRPr lang="en-IE" sz="1400" dirty="0"/>
          </a:p>
        </p:txBody>
      </p:sp>
      <p:sp>
        <p:nvSpPr>
          <p:cNvPr id="23" name="Student class card"/>
          <p:cNvSpPr/>
          <p:nvPr/>
        </p:nvSpPr>
        <p:spPr>
          <a:xfrm>
            <a:off x="6720840" y="1828800"/>
            <a:ext cx="4922215" cy="3515868"/>
          </a:xfrm>
          <a:prstGeom prst="roundRect">
            <a:avLst>
              <a:gd name="adj" fmla="val 3121"/>
            </a:avLst>
          </a:prstGeom>
          <a:solidFill>
            <a:schemeClr val="tx1"/>
          </a:solidFill>
          <a:ln/>
          <a:effectLst>
            <a:outerShdw sx="100000" sy="100000" kx="0" ky="0" algn="bl" rotWithShape="0" blurRad="114300" dist="31750" dir="5400000">
              <a:srgbClr val="1D2433">
                <a:alpha val="12000"/>
              </a:srgbClr>
            </a:outerShdw>
          </a:effectLst>
        </p:spPr>
      </p:sp>
      <p:sp>
        <p:nvSpPr>
          <p:cNvPr id="24" name="Student class language"/>
          <p:cNvSpPr txBox="1"/>
          <p:nvPr/>
        </p:nvSpPr>
        <p:spPr>
          <a:xfrm>
            <a:off x="6995160" y="1947672"/>
            <a:ext cx="43735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25" name="Student class text"/>
          <p:cNvSpPr txBox="1"/>
          <p:nvPr/>
        </p:nvSpPr>
        <p:spPr>
          <a:xfrm>
            <a:off x="6995160" y="2322576"/>
            <a:ext cx="4373575" cy="282092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attributes</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studentID;</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name;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double</a:t>
            </a:r>
            <a:r>
              <a:rPr lang="en-IE" sz="1500" dirty="0">
                <a:solidFill>
                  <a:srgbClr val="E6EBF2"/>
                </a:solidFill>
                <a:latin typeface="Consolas" pitchFamily="34" charset="0"/>
                <a:ea typeface="Consolas" pitchFamily="34" charset="-122"/>
                <a:cs typeface="Consolas" pitchFamily="34" charset="-120"/>
              </a:rPr>
              <a:t> averageMark;</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operations (methods)</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updateAverage</a:t>
            </a:r>
            <a:r>
              <a:rPr lang="en-IE" sz="1500" dirty="0">
                <a:solidFill>
                  <a:srgbClr val="E6EBF2"/>
                </a:solidFill>
                <a:latin typeface="Consolas" pitchFamily="34" charset="0"/>
                <a:ea typeface="Consolas" pitchFamily="34" charset="-122"/>
                <a:cs typeface="Consolas" pitchFamily="34" charset="-120"/>
              </a:rPr>
              <a:t>() {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calculateAward</a:t>
            </a:r>
            <a:r>
              <a:rPr lang="en-IE" sz="1500" dirty="0">
                <a:solidFill>
                  <a:srgbClr val="E6EBF2"/>
                </a:solidFill>
                <a:latin typeface="Consolas" pitchFamily="34" charset="0"/>
                <a:ea typeface="Consolas" pitchFamily="34" charset="-122"/>
                <a:cs typeface="Consolas" pitchFamily="34" charset="-120"/>
              </a:rPr>
              <a:t>() {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26" name="Text 23"/>
          <p:cNvSpPr txBox="1"/>
          <p:nvPr/>
        </p:nvSpPr>
        <p:spPr>
          <a:xfrm>
            <a:off x="6720840" y="5481828"/>
            <a:ext cx="4919472" cy="320040"/>
          </a:xfrm>
          <a:prstGeom prst="rect">
            <a:avLst/>
          </a:prstGeom>
          <a:noFill/>
          <a:ln/>
        </p:spPr>
        <p:txBody>
          <a:bodyPr wrap="square" lIns="0" tIns="0" rIns="0" bIns="0" rtlCol="0" anchor="t"/>
          <a:lstStyle/>
          <a:p>
            <a:pPr indent="0" marL="0">
              <a:buNone/>
            </a:pPr>
            <a:r>
              <a:rPr lang="en-IE" sz="1300" i="1" dirty="0">
                <a:solidFill>
                  <a:schemeClr val="tx2"/>
                </a:solidFill>
              </a:rPr>
              <a:t>The same class, written in Java.</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Classes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statement about classes is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class is the same thing as a single object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class is a template for making many objects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object needs its own separate class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class stores the values for all of its objects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Classes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statement about classes is true?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class is the same thing as a single object</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class is a template for making many objects</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object needs its own separate class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class stores the values for all of its objects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class is like a blueprint. From one Student class we can make as many Student objects as we need.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Objects are instances of a class</a:t>
            </a:r>
            <a:endParaRPr lang="en-IE" sz="3400" dirty="0"/>
          </a:p>
        </p:txBody>
      </p:sp>
      <p:sp>
        <p:nvSpPr>
          <p:cNvPr id="5" name="Text 2"/>
          <p:cNvSpPr txBox="1"/>
          <p:nvPr/>
        </p:nvSpPr>
        <p:spPr>
          <a:xfrm>
            <a:off x="548640" y="1783080"/>
            <a:ext cx="493776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An object is an </a:t>
            </a:r>
            <a:r>
              <a:rPr lang="en-IE" sz="1800" b="1" dirty="0">
                <a:solidFill>
                  <a:schemeClr val="tx1"/>
                </a:solidFill>
              </a:rPr>
              <a:t>instance</a:t>
            </a:r>
            <a:r>
              <a:rPr lang="en-IE" sz="1800" dirty="0">
                <a:solidFill>
                  <a:schemeClr val="tx1"/>
                </a:solidFill>
              </a:rPr>
              <a:t> of a class, made from that template.</a:t>
            </a:r>
            <a:endParaRPr lang="en-IE" sz="1800" dirty="0"/>
          </a:p>
          <a:p>
            <a:pPr marL="228600" indent="-228600">
              <a:spcAft>
                <a:spcPts val="1400"/>
              </a:spcAft>
              <a:buSzPct val="100000"/>
              <a:buChar char="•"/>
            </a:pPr>
            <a:r>
              <a:rPr lang="en-IE" sz="1800" dirty="0">
                <a:solidFill>
                  <a:schemeClr val="tx1"/>
                </a:solidFill>
              </a:rPr>
              <a:t>One Student class could give us 50 Student objects.</a:t>
            </a:r>
            <a:endParaRPr lang="en-IE" sz="1800" dirty="0"/>
          </a:p>
          <a:p>
            <a:pPr marL="228600" indent="-228600">
              <a:spcAft>
                <a:spcPts val="1400"/>
              </a:spcAft>
              <a:buSzPct val="100000"/>
              <a:buChar char="•"/>
            </a:pPr>
            <a:r>
              <a:rPr lang="en-IE" sz="1800" dirty="0">
                <a:solidFill>
                  <a:schemeClr val="tx1"/>
                </a:solidFill>
              </a:rPr>
              <a:t>All instances share the same attributes and methods…</a:t>
            </a:r>
            <a:endParaRPr lang="en-IE" sz="1800" dirty="0"/>
          </a:p>
          <a:p>
            <a:pPr marL="228600" indent="-228600">
              <a:buSzPct val="100000"/>
              <a:buChar char="•"/>
            </a:pPr>
            <a:r>
              <a:rPr lang="en-IE" sz="1800" dirty="0">
                <a:solidFill>
                  <a:schemeClr val="tx1"/>
                </a:solidFill>
              </a:rPr>
              <a:t>…but each one stores its own values: its own name, its own id.</a:t>
            </a:r>
            <a:endParaRPr lang="en-IE" sz="1800" dirty="0"/>
          </a:p>
        </p:txBody>
      </p:sp>
      <p:sp>
        <p:nvSpPr>
          <p:cNvPr id="6" name="Student class"/>
          <p:cNvSpPr/>
          <p:nvPr/>
        </p:nvSpPr>
        <p:spPr>
          <a:xfrm>
            <a:off x="7452360" y="1783080"/>
            <a:ext cx="2743200" cy="1051560"/>
          </a:xfrm>
          <a:prstGeom prst="roundRect">
            <a:avLst>
              <a:gd name="adj" fmla="val 10435"/>
            </a:avLst>
          </a:prstGeom>
          <a:solidFill>
            <a:schemeClr val="accent2"/>
          </a:solidFill>
          <a:ln/>
          <a:effectLst>
            <a:outerShdw sx="100000" sy="100000" kx="0" ky="0" algn="bl" rotWithShape="0" blurRad="114300" dist="31750" dir="5400000">
              <a:srgbClr val="1D2433">
                <a:alpha val="12000"/>
              </a:srgbClr>
            </a:outerShdw>
          </a:effectLst>
        </p:spPr>
      </p:sp>
      <p:sp>
        <p:nvSpPr>
          <p:cNvPr id="7" name="Text 4"/>
          <p:cNvSpPr txBox="1"/>
          <p:nvPr/>
        </p:nvSpPr>
        <p:spPr>
          <a:xfrm>
            <a:off x="7726680" y="1874520"/>
            <a:ext cx="2194560" cy="411480"/>
          </a:xfrm>
          <a:prstGeom prst="rect">
            <a:avLst/>
          </a:prstGeom>
          <a:noFill/>
          <a:ln/>
        </p:spPr>
        <p:txBody>
          <a:bodyPr wrap="square" lIns="0" tIns="0" rIns="0" bIns="0" rtlCol="0" anchor="ctr"/>
          <a:lstStyle/>
          <a:p>
            <a:pPr indent="0" marL="0">
              <a:buNone/>
            </a:pPr>
            <a:r>
              <a:rPr lang="en-IE" sz="1900" b="1" dirty="0">
                <a:solidFill>
                  <a:schemeClr val="bg1"/>
                </a:solidFill>
                <a:latin typeface="Consolas" pitchFamily="34" charset="0"/>
                <a:ea typeface="Consolas" pitchFamily="34" charset="-122"/>
                <a:cs typeface="Consolas" pitchFamily="34" charset="-120"/>
              </a:rPr>
              <a:t>Student</a:t>
            </a:r>
            <a:endParaRPr lang="en-IE" sz="1900" dirty="0"/>
          </a:p>
        </p:txBody>
      </p:sp>
      <p:sp>
        <p:nvSpPr>
          <p:cNvPr id="8" name="Text 5"/>
          <p:cNvSpPr txBox="1"/>
          <p:nvPr/>
        </p:nvSpPr>
        <p:spPr>
          <a:xfrm>
            <a:off x="7726680" y="2304288"/>
            <a:ext cx="2194560" cy="365760"/>
          </a:xfrm>
          <a:prstGeom prst="rect">
            <a:avLst/>
          </a:prstGeom>
          <a:noFill/>
          <a:ln/>
        </p:spPr>
        <p:txBody>
          <a:bodyPr wrap="square" lIns="0" tIns="0" rIns="0" bIns="0" rtlCol="0" anchor="ctr"/>
          <a:lstStyle/>
          <a:p>
            <a:pPr indent="0" marL="0">
              <a:buNone/>
            </a:pPr>
            <a:r>
              <a:rPr lang="en-IE" sz="1300" dirty="0">
                <a:solidFill>
                  <a:schemeClr val="bg1">
                    <a:alpha val="80000"/>
                  </a:schemeClr>
                </a:solidFill>
                <a:latin typeface="Consolas" pitchFamily="34" charset="0"/>
                <a:ea typeface="Consolas" pitchFamily="34" charset="-122"/>
                <a:cs typeface="Consolas" pitchFamily="34" charset="-120"/>
              </a:rPr>
              <a:t>attributes: name, id</a:t>
            </a:r>
            <a:endParaRPr lang="en-IE" sz="1300" dirty="0"/>
          </a:p>
        </p:txBody>
      </p:sp>
      <p:sp>
        <p:nvSpPr>
          <p:cNvPr id="9" name="Connector"/>
          <p:cNvSpPr/>
          <p:nvPr/>
        </p:nvSpPr>
        <p:spPr>
          <a:xfrm>
            <a:off x="8823960" y="2889504"/>
            <a:ext cx="0" cy="402336"/>
          </a:xfrm>
          <a:prstGeom prst="line">
            <a:avLst/>
          </a:prstGeom>
          <a:noFill/>
          <a:ln w="22225">
            <a:solidFill>
              <a:schemeClr val="tx2"/>
            </a:solidFill>
            <a:prstDash val="solid"/>
            <a:tailEnd type="triangle"/>
          </a:ln>
        </p:spPr>
      </p:sp>
      <p:sp>
        <p:nvSpPr>
          <p:cNvPr id="10" name="Card"/>
          <p:cNvSpPr/>
          <p:nvPr/>
        </p:nvSpPr>
        <p:spPr>
          <a:xfrm>
            <a:off x="5897880" y="338328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062472" y="3566160"/>
            <a:ext cx="548640" cy="548640"/>
          </a:xfrm>
          <a:prstGeom prst="roundRect">
            <a:avLst>
              <a:gd name="adj" fmla="val 24000"/>
            </a:avLst>
          </a:prstGeom>
          <a:solidFill>
            <a:schemeClr val="accent1">
              <a:alpha val="14000"/>
            </a:schemeClr>
          </a:solidFill>
          <a:ln/>
        </p:spPr>
      </p:sp>
      <p:pic>
        <p:nvPicPr>
          <p:cNvPr id="12" name="student icon" descr="student icon">    </p:cNvPr>
          <p:cNvPicPr>
            <a:picLocks noChangeAspect="1"/>
          </p:cNvPicPr>
          <p:nvPr/>
        </p:nvPicPr>
        <p:blipFill>
          <a:blip r:embed="rId1"/>
          <a:stretch>
            <a:fillRect/>
          </a:stretch>
        </p:blipFill>
        <p:spPr>
          <a:xfrm>
            <a:off x="6177686" y="3681374"/>
            <a:ext cx="318211" cy="318211"/>
          </a:xfrm>
          <a:prstGeom prst="rect">
            <a:avLst/>
          </a:prstGeom>
        </p:spPr>
      </p:pic>
      <p:sp>
        <p:nvSpPr>
          <p:cNvPr id="13" name="Text 9"/>
          <p:cNvSpPr txBox="1"/>
          <p:nvPr/>
        </p:nvSpPr>
        <p:spPr>
          <a:xfrm>
            <a:off x="6720840" y="3529584"/>
            <a:ext cx="868680" cy="329184"/>
          </a:xfrm>
          <a:prstGeom prst="rect">
            <a:avLst/>
          </a:prstGeom>
          <a:noFill/>
          <a:ln/>
        </p:spPr>
        <p:txBody>
          <a:bodyPr wrap="square" lIns="0" tIns="0" rIns="0" bIns="0" rtlCol="0" anchor="t"/>
          <a:lstStyle/>
          <a:p>
            <a:pPr indent="0" marL="0">
              <a:buNone/>
            </a:pPr>
            <a:r>
              <a:rPr lang="en-IE" sz="1600" b="1" dirty="0">
                <a:solidFill>
                  <a:schemeClr val="tx1"/>
                </a:solidFill>
              </a:rPr>
              <a:t>Aoife</a:t>
            </a:r>
            <a:endParaRPr lang="en-IE" sz="1600" dirty="0"/>
          </a:p>
        </p:txBody>
      </p:sp>
      <p:sp>
        <p:nvSpPr>
          <p:cNvPr id="14" name="Text 10"/>
          <p:cNvSpPr txBox="1"/>
          <p:nvPr/>
        </p:nvSpPr>
        <p:spPr>
          <a:xfrm>
            <a:off x="6720840" y="385876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1001</a:t>
            </a:r>
            <a:endParaRPr lang="en-IE" sz="1300" dirty="0"/>
          </a:p>
        </p:txBody>
      </p:sp>
      <p:sp>
        <p:nvSpPr>
          <p:cNvPr id="15" name="Card"/>
          <p:cNvSpPr/>
          <p:nvPr/>
        </p:nvSpPr>
        <p:spPr>
          <a:xfrm>
            <a:off x="7878928" y="338328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043520" y="3566160"/>
            <a:ext cx="548640" cy="548640"/>
          </a:xfrm>
          <a:prstGeom prst="roundRect">
            <a:avLst>
              <a:gd name="adj" fmla="val 24000"/>
            </a:avLst>
          </a:prstGeom>
          <a:solidFill>
            <a:schemeClr val="accent4">
              <a:alpha val="14000"/>
            </a:schemeClr>
          </a:solidFill>
          <a:ln/>
        </p:spPr>
      </p:sp>
      <p:pic>
        <p:nvPicPr>
          <p:cNvPr id="17" name="student icon" descr="student icon">    </p:cNvPr>
          <p:cNvPicPr>
            <a:picLocks noChangeAspect="1"/>
          </p:cNvPicPr>
          <p:nvPr/>
        </p:nvPicPr>
        <p:blipFill>
          <a:blip r:embed="rId2"/>
          <a:stretch>
            <a:fillRect/>
          </a:stretch>
        </p:blipFill>
        <p:spPr>
          <a:xfrm>
            <a:off x="8158734" y="3681374"/>
            <a:ext cx="318211" cy="318211"/>
          </a:xfrm>
          <a:prstGeom prst="rect">
            <a:avLst/>
          </a:prstGeom>
        </p:spPr>
      </p:pic>
      <p:sp>
        <p:nvSpPr>
          <p:cNvPr id="18" name="Text 13"/>
          <p:cNvSpPr txBox="1"/>
          <p:nvPr/>
        </p:nvSpPr>
        <p:spPr>
          <a:xfrm>
            <a:off x="8701888" y="3529584"/>
            <a:ext cx="868680" cy="329184"/>
          </a:xfrm>
          <a:prstGeom prst="rect">
            <a:avLst/>
          </a:prstGeom>
          <a:noFill/>
          <a:ln/>
        </p:spPr>
        <p:txBody>
          <a:bodyPr wrap="square" lIns="0" tIns="0" rIns="0" bIns="0" rtlCol="0" anchor="t"/>
          <a:lstStyle/>
          <a:p>
            <a:pPr indent="0" marL="0">
              <a:buNone/>
            </a:pPr>
            <a:r>
              <a:rPr lang="en-IE" sz="1600" b="1" dirty="0">
                <a:solidFill>
                  <a:schemeClr val="tx1"/>
                </a:solidFill>
              </a:rPr>
              <a:t>Liam</a:t>
            </a:r>
            <a:endParaRPr lang="en-IE" sz="1600" dirty="0"/>
          </a:p>
        </p:txBody>
      </p:sp>
      <p:sp>
        <p:nvSpPr>
          <p:cNvPr id="19" name="Text 14"/>
          <p:cNvSpPr txBox="1"/>
          <p:nvPr/>
        </p:nvSpPr>
        <p:spPr>
          <a:xfrm>
            <a:off x="8701888" y="385876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1002</a:t>
            </a:r>
            <a:endParaRPr lang="en-IE" sz="1300" dirty="0"/>
          </a:p>
        </p:txBody>
      </p:sp>
      <p:sp>
        <p:nvSpPr>
          <p:cNvPr id="20" name="Card"/>
          <p:cNvSpPr/>
          <p:nvPr/>
        </p:nvSpPr>
        <p:spPr>
          <a:xfrm>
            <a:off x="9859975" y="338328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10024567" y="3566160"/>
            <a:ext cx="548640" cy="548640"/>
          </a:xfrm>
          <a:prstGeom prst="roundRect">
            <a:avLst>
              <a:gd name="adj" fmla="val 24000"/>
            </a:avLst>
          </a:prstGeom>
          <a:solidFill>
            <a:schemeClr val="accent3">
              <a:alpha val="14000"/>
            </a:schemeClr>
          </a:solidFill>
          <a:ln/>
        </p:spPr>
      </p:sp>
      <p:pic>
        <p:nvPicPr>
          <p:cNvPr id="22" name="student icon" descr="student icon">    </p:cNvPr>
          <p:cNvPicPr>
            <a:picLocks noChangeAspect="1"/>
          </p:cNvPicPr>
          <p:nvPr/>
        </p:nvPicPr>
        <p:blipFill>
          <a:blip r:embed="rId3"/>
          <a:stretch>
            <a:fillRect/>
          </a:stretch>
        </p:blipFill>
        <p:spPr>
          <a:xfrm>
            <a:off x="10139782" y="3681374"/>
            <a:ext cx="318211" cy="318211"/>
          </a:xfrm>
          <a:prstGeom prst="rect">
            <a:avLst/>
          </a:prstGeom>
        </p:spPr>
      </p:pic>
      <p:sp>
        <p:nvSpPr>
          <p:cNvPr id="23" name="Text 17"/>
          <p:cNvSpPr txBox="1"/>
          <p:nvPr/>
        </p:nvSpPr>
        <p:spPr>
          <a:xfrm>
            <a:off x="10682935" y="3529584"/>
            <a:ext cx="868680" cy="329184"/>
          </a:xfrm>
          <a:prstGeom prst="rect">
            <a:avLst/>
          </a:prstGeom>
          <a:noFill/>
          <a:ln/>
        </p:spPr>
        <p:txBody>
          <a:bodyPr wrap="square" lIns="0" tIns="0" rIns="0" bIns="0" rtlCol="0" anchor="t"/>
          <a:lstStyle/>
          <a:p>
            <a:pPr indent="0" marL="0">
              <a:buNone/>
            </a:pPr>
            <a:r>
              <a:rPr lang="en-IE" sz="1600" b="1" dirty="0">
                <a:solidFill>
                  <a:schemeClr val="tx1"/>
                </a:solidFill>
              </a:rPr>
              <a:t>Sara</a:t>
            </a:r>
            <a:endParaRPr lang="en-IE" sz="1600" dirty="0"/>
          </a:p>
        </p:txBody>
      </p:sp>
      <p:sp>
        <p:nvSpPr>
          <p:cNvPr id="24" name="Text 18"/>
          <p:cNvSpPr txBox="1"/>
          <p:nvPr/>
        </p:nvSpPr>
        <p:spPr>
          <a:xfrm>
            <a:off x="10682935" y="385876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1003</a:t>
            </a:r>
            <a:endParaRPr lang="en-IE" sz="1300" dirty="0"/>
          </a:p>
        </p:txBody>
      </p:sp>
      <p:sp>
        <p:nvSpPr>
          <p:cNvPr id="25" name="Card"/>
          <p:cNvSpPr/>
          <p:nvPr/>
        </p:nvSpPr>
        <p:spPr>
          <a:xfrm>
            <a:off x="5897880" y="448056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6062472" y="4663440"/>
            <a:ext cx="548640" cy="548640"/>
          </a:xfrm>
          <a:prstGeom prst="roundRect">
            <a:avLst>
              <a:gd name="adj" fmla="val 24000"/>
            </a:avLst>
          </a:prstGeom>
          <a:solidFill>
            <a:schemeClr val="accent5">
              <a:alpha val="14000"/>
            </a:schemeClr>
          </a:solidFill>
          <a:ln/>
        </p:spPr>
      </p:sp>
      <p:pic>
        <p:nvPicPr>
          <p:cNvPr id="27" name="student icon" descr="student icon">    </p:cNvPr>
          <p:cNvPicPr>
            <a:picLocks noChangeAspect="1"/>
          </p:cNvPicPr>
          <p:nvPr/>
        </p:nvPicPr>
        <p:blipFill>
          <a:blip r:embed="rId4"/>
          <a:stretch>
            <a:fillRect/>
          </a:stretch>
        </p:blipFill>
        <p:spPr>
          <a:xfrm>
            <a:off x="6177686" y="4778654"/>
            <a:ext cx="318211" cy="318211"/>
          </a:xfrm>
          <a:prstGeom prst="rect">
            <a:avLst/>
          </a:prstGeom>
        </p:spPr>
      </p:pic>
      <p:sp>
        <p:nvSpPr>
          <p:cNvPr id="28" name="Text 21"/>
          <p:cNvSpPr txBox="1"/>
          <p:nvPr/>
        </p:nvSpPr>
        <p:spPr>
          <a:xfrm>
            <a:off x="6720840" y="4626864"/>
            <a:ext cx="868680" cy="329184"/>
          </a:xfrm>
          <a:prstGeom prst="rect">
            <a:avLst/>
          </a:prstGeom>
          <a:noFill/>
          <a:ln/>
        </p:spPr>
        <p:txBody>
          <a:bodyPr wrap="square" lIns="0" tIns="0" rIns="0" bIns="0" rtlCol="0" anchor="t"/>
          <a:lstStyle/>
          <a:p>
            <a:pPr indent="0" marL="0">
              <a:buNone/>
            </a:pPr>
            <a:r>
              <a:rPr lang="en-IE" sz="1600" b="1" dirty="0">
                <a:solidFill>
                  <a:schemeClr val="tx1"/>
                </a:solidFill>
              </a:rPr>
              <a:t>Omar</a:t>
            </a:r>
            <a:endParaRPr lang="en-IE" sz="1600" dirty="0"/>
          </a:p>
        </p:txBody>
      </p:sp>
      <p:sp>
        <p:nvSpPr>
          <p:cNvPr id="29" name="Text 22"/>
          <p:cNvSpPr txBox="1"/>
          <p:nvPr/>
        </p:nvSpPr>
        <p:spPr>
          <a:xfrm>
            <a:off x="6720840" y="495604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1004</a:t>
            </a:r>
            <a:endParaRPr lang="en-IE" sz="1300" dirty="0"/>
          </a:p>
        </p:txBody>
      </p:sp>
      <p:sp>
        <p:nvSpPr>
          <p:cNvPr id="30" name="Card"/>
          <p:cNvSpPr/>
          <p:nvPr/>
        </p:nvSpPr>
        <p:spPr>
          <a:xfrm>
            <a:off x="7878928" y="448056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8043520" y="4663440"/>
            <a:ext cx="548640" cy="548640"/>
          </a:xfrm>
          <a:prstGeom prst="roundRect">
            <a:avLst>
              <a:gd name="adj" fmla="val 24000"/>
            </a:avLst>
          </a:prstGeom>
          <a:solidFill>
            <a:schemeClr val="accent2">
              <a:alpha val="14000"/>
            </a:schemeClr>
          </a:solidFill>
          <a:ln/>
        </p:spPr>
      </p:sp>
      <p:pic>
        <p:nvPicPr>
          <p:cNvPr id="32" name="student icon" descr="student icon">    </p:cNvPr>
          <p:cNvPicPr>
            <a:picLocks noChangeAspect="1"/>
          </p:cNvPicPr>
          <p:nvPr/>
        </p:nvPicPr>
        <p:blipFill>
          <a:blip r:embed="rId5"/>
          <a:stretch>
            <a:fillRect/>
          </a:stretch>
        </p:blipFill>
        <p:spPr>
          <a:xfrm>
            <a:off x="8158734" y="4778654"/>
            <a:ext cx="318211" cy="318211"/>
          </a:xfrm>
          <a:prstGeom prst="rect">
            <a:avLst/>
          </a:prstGeom>
        </p:spPr>
      </p:pic>
      <p:sp>
        <p:nvSpPr>
          <p:cNvPr id="33" name="Text 25"/>
          <p:cNvSpPr txBox="1"/>
          <p:nvPr/>
        </p:nvSpPr>
        <p:spPr>
          <a:xfrm>
            <a:off x="8701888" y="4626864"/>
            <a:ext cx="868680" cy="329184"/>
          </a:xfrm>
          <a:prstGeom prst="rect">
            <a:avLst/>
          </a:prstGeom>
          <a:noFill/>
          <a:ln/>
        </p:spPr>
        <p:txBody>
          <a:bodyPr wrap="square" lIns="0" tIns="0" rIns="0" bIns="0" rtlCol="0" anchor="t"/>
          <a:lstStyle/>
          <a:p>
            <a:pPr indent="0" marL="0">
              <a:buNone/>
            </a:pPr>
            <a:r>
              <a:rPr lang="en-IE" sz="1600" b="1" dirty="0">
                <a:solidFill>
                  <a:schemeClr val="tx1"/>
                </a:solidFill>
              </a:rPr>
              <a:t>Chen</a:t>
            </a:r>
            <a:endParaRPr lang="en-IE" sz="1600" dirty="0"/>
          </a:p>
        </p:txBody>
      </p:sp>
      <p:sp>
        <p:nvSpPr>
          <p:cNvPr id="34" name="Text 26"/>
          <p:cNvSpPr txBox="1"/>
          <p:nvPr/>
        </p:nvSpPr>
        <p:spPr>
          <a:xfrm>
            <a:off x="8701888" y="495604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1005</a:t>
            </a:r>
            <a:endParaRPr lang="en-IE" sz="1300" dirty="0"/>
          </a:p>
        </p:txBody>
      </p:sp>
      <p:sp>
        <p:nvSpPr>
          <p:cNvPr id="35" name="Card"/>
          <p:cNvSpPr/>
          <p:nvPr/>
        </p:nvSpPr>
        <p:spPr>
          <a:xfrm>
            <a:off x="9859975" y="4480560"/>
            <a:ext cx="1783080" cy="914400"/>
          </a:xfrm>
          <a:prstGeom prst="roundRect">
            <a:avLst>
              <a:gd name="adj" fmla="val 12000"/>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10024567" y="4663440"/>
            <a:ext cx="548640" cy="548640"/>
          </a:xfrm>
          <a:prstGeom prst="roundRect">
            <a:avLst>
              <a:gd name="adj" fmla="val 24000"/>
            </a:avLst>
          </a:prstGeom>
          <a:solidFill>
            <a:schemeClr val="accent1">
              <a:alpha val="14000"/>
            </a:schemeClr>
          </a:solidFill>
          <a:ln/>
        </p:spPr>
      </p:sp>
      <p:pic>
        <p:nvPicPr>
          <p:cNvPr id="37" name="student icon" descr="student icon">    </p:cNvPr>
          <p:cNvPicPr>
            <a:picLocks noChangeAspect="1"/>
          </p:cNvPicPr>
          <p:nvPr/>
        </p:nvPicPr>
        <p:blipFill>
          <a:blip r:embed="rId6"/>
          <a:stretch>
            <a:fillRect/>
          </a:stretch>
        </p:blipFill>
        <p:spPr>
          <a:xfrm>
            <a:off x="10139782" y="4778654"/>
            <a:ext cx="318211" cy="318211"/>
          </a:xfrm>
          <a:prstGeom prst="rect">
            <a:avLst/>
          </a:prstGeom>
        </p:spPr>
      </p:pic>
      <p:sp>
        <p:nvSpPr>
          <p:cNvPr id="38" name="Text 29"/>
          <p:cNvSpPr txBox="1"/>
          <p:nvPr/>
        </p:nvSpPr>
        <p:spPr>
          <a:xfrm>
            <a:off x="10682935" y="4626864"/>
            <a:ext cx="868680" cy="329184"/>
          </a:xfrm>
          <a:prstGeom prst="rect">
            <a:avLst/>
          </a:prstGeom>
          <a:noFill/>
          <a:ln/>
        </p:spPr>
        <p:txBody>
          <a:bodyPr wrap="square" lIns="0" tIns="0" rIns="0" bIns="0" rtlCol="0" anchor="t"/>
          <a:lstStyle/>
          <a:p>
            <a:pPr indent="0" marL="0">
              <a:buNone/>
            </a:pPr>
            <a:r>
              <a:rPr lang="en-IE" sz="1600" b="1" dirty="0">
                <a:solidFill>
                  <a:schemeClr val="tx1"/>
                </a:solidFill>
              </a:rPr>
              <a:t>Niamh</a:t>
            </a:r>
            <a:endParaRPr lang="en-IE" sz="1600" dirty="0"/>
          </a:p>
        </p:txBody>
      </p:sp>
      <p:sp>
        <p:nvSpPr>
          <p:cNvPr id="39" name="Text 30"/>
          <p:cNvSpPr txBox="1"/>
          <p:nvPr/>
        </p:nvSpPr>
        <p:spPr>
          <a:xfrm>
            <a:off x="10682935" y="4956048"/>
            <a:ext cx="868680" cy="274320"/>
          </a:xfrm>
          <a:prstGeom prst="rect">
            <a:avLst/>
          </a:prstGeom>
          <a:noFill/>
          <a:ln/>
        </p:spPr>
        <p:txBody>
          <a:bodyPr wrap="square" lIns="0" tIns="0" rIns="0" bIns="0" rtlCol="0" anchor="t"/>
          <a:lstStyle/>
          <a:p>
            <a:pPr indent="0" marL="0">
              <a:buNone/>
            </a:pPr>
            <a:r>
              <a:rPr lang="en-IE" sz="1300" dirty="0">
                <a:solidFill>
                  <a:schemeClr val="tx2"/>
                </a:solidFill>
                <a:latin typeface="Consolas" pitchFamily="34" charset="0"/>
                <a:ea typeface="Consolas" pitchFamily="34" charset="-122"/>
                <a:cs typeface="Consolas" pitchFamily="34" charset="-120"/>
              </a:rPr>
              <a:t>id 1006</a:t>
            </a:r>
            <a:endParaRPr lang="en-IE" sz="1300" dirty="0"/>
          </a:p>
        </p:txBody>
      </p:sp>
      <p:sp>
        <p:nvSpPr>
          <p:cNvPr id="40" name="Label"/>
          <p:cNvSpPr/>
          <p:nvPr/>
        </p:nvSpPr>
        <p:spPr>
          <a:xfrm>
            <a:off x="5897880" y="5623560"/>
            <a:ext cx="2677160" cy="384048"/>
          </a:xfrm>
          <a:prstGeom prst="roundRect">
            <a:avLst>
              <a:gd name="adj" fmla="val 50000"/>
            </a:avLst>
          </a:prstGeom>
          <a:solidFill>
            <a:schemeClr val="bg2"/>
          </a:solidFill>
          <a:ln/>
        </p:spPr>
        <p:txBody>
          <a:bodyPr wrap="square" lIns="0" tIns="0" rIns="0" bIns="0" rtlCol="0" anchor="ctr"/>
          <a:lstStyle/>
          <a:p>
            <a:pPr algn="ctr" indent="0" marL="0">
              <a:buNone/>
            </a:pPr>
            <a:r>
              <a:rPr lang="en-IE" sz="1400" dirty="0">
                <a:solidFill>
                  <a:schemeClr val="tx2"/>
                </a:solidFill>
              </a:rPr>
              <a:t>+ 44 more Student objects</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 as instances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We make 50 objects from one Student class. Which statement is true?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Same attributes, but each has its own values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All 50 must store the same name and the same id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Each object needs its own copy of the class file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the first object made gets the attributes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Objects as instances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We make 50 objects from one Student class. Which statement is true?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Same attributes, but each has its own values</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All 50 must store the same name and the same id</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Each object needs its own copy of the class file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the first object made gets the attributes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All instances share the attributes and methods of the class (every student has a name and an id), but each object keeps its own values.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Attributes</a:t>
            </a:r>
            <a:endParaRPr lang="en-IE" sz="3400" dirty="0"/>
          </a:p>
        </p:txBody>
      </p:sp>
      <p:sp>
        <p:nvSpPr>
          <p:cNvPr id="5" name="Text 2"/>
          <p:cNvSpPr txBox="1"/>
          <p:nvPr/>
        </p:nvSpPr>
        <p:spPr>
          <a:xfrm>
            <a:off x="548640" y="1783080"/>
            <a:ext cx="5394960" cy="146304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Attributes are variables declared inside a class, but outside any method.</a:t>
            </a:r>
            <a:endParaRPr lang="en-IE" sz="1900" dirty="0"/>
          </a:p>
          <a:p>
            <a:pPr marL="228600" indent="-228600">
              <a:buSzPct val="100000"/>
              <a:buChar char="•"/>
            </a:pPr>
            <a:r>
              <a:rPr lang="en-IE" sz="1900" dirty="0">
                <a:solidFill>
                  <a:schemeClr val="tx1"/>
                </a:solidFill>
              </a:rPr>
              <a:t>They hold the information that describes an object: its data.</a:t>
            </a:r>
            <a:endParaRPr lang="en-IE" sz="1900" dirty="0"/>
          </a:p>
        </p:txBody>
      </p:sp>
      <p:sp>
        <p:nvSpPr>
          <p:cNvPr id="6" name="Text 3"/>
          <p:cNvSpPr txBox="1"/>
          <p:nvPr/>
        </p:nvSpPr>
        <p:spPr>
          <a:xfrm>
            <a:off x="548640" y="3429000"/>
            <a:ext cx="4572000" cy="274320"/>
          </a:xfrm>
          <a:prstGeom prst="rect">
            <a:avLst/>
          </a:prstGeom>
          <a:noFill/>
          <a:ln/>
        </p:spPr>
        <p:txBody>
          <a:bodyPr wrap="square" lIns="0" tIns="0" rIns="0" bIns="0" rtlCol="0" anchor="t"/>
          <a:lstStyle/>
          <a:p>
            <a:pPr indent="0" marL="0">
              <a:buNone/>
            </a:pPr>
            <a:r>
              <a:rPr lang="en-IE" sz="1200" b="1" spc="150" kern="0" dirty="0">
                <a:solidFill>
                  <a:schemeClr val="tx2"/>
                </a:solidFill>
              </a:rPr>
              <a:t>EXAMPLES</a:t>
            </a:r>
            <a:endParaRPr lang="en-IE" sz="1200" dirty="0"/>
          </a:p>
        </p:txBody>
      </p:sp>
      <p:sp>
        <p:nvSpPr>
          <p:cNvPr id="7" name="Code chip"/>
          <p:cNvSpPr/>
          <p:nvPr/>
        </p:nvSpPr>
        <p:spPr>
          <a:xfrm>
            <a:off x="548640" y="4069080"/>
            <a:ext cx="710946"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age</a:t>
            </a:r>
            <a:endParaRPr lang="en-IE" sz="1800" dirty="0"/>
          </a:p>
        </p:txBody>
      </p:sp>
      <p:sp>
        <p:nvSpPr>
          <p:cNvPr id="8" name="Text 5"/>
          <p:cNvSpPr txBox="1"/>
          <p:nvPr/>
        </p:nvSpPr>
        <p:spPr>
          <a:xfrm>
            <a:off x="548640" y="3767328"/>
            <a:ext cx="1554480" cy="274320"/>
          </a:xfrm>
          <a:prstGeom prst="rect">
            <a:avLst/>
          </a:prstGeom>
          <a:noFill/>
          <a:ln/>
        </p:spPr>
        <p:txBody>
          <a:bodyPr wrap="square" lIns="0" tIns="0" rIns="0" bIns="0" rtlCol="0" anchor="t"/>
          <a:lstStyle/>
          <a:p>
            <a:pPr indent="0" marL="0">
              <a:buNone/>
            </a:pPr>
            <a:r>
              <a:rPr lang="en-IE" sz="1300" dirty="0">
                <a:solidFill>
                  <a:schemeClr val="tx2"/>
                </a:solidFill>
              </a:rPr>
              <a:t>a Person’s</a:t>
            </a:r>
            <a:endParaRPr lang="en-IE" sz="1300" dirty="0"/>
          </a:p>
        </p:txBody>
      </p:sp>
      <p:sp>
        <p:nvSpPr>
          <p:cNvPr id="9" name="Code chip"/>
          <p:cNvSpPr/>
          <p:nvPr/>
        </p:nvSpPr>
        <p:spPr>
          <a:xfrm>
            <a:off x="2011680" y="4069080"/>
            <a:ext cx="850392"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year</a:t>
            </a:r>
            <a:endParaRPr lang="en-IE" sz="1800" dirty="0"/>
          </a:p>
        </p:txBody>
      </p:sp>
      <p:sp>
        <p:nvSpPr>
          <p:cNvPr id="10" name="Text 7"/>
          <p:cNvSpPr txBox="1"/>
          <p:nvPr/>
        </p:nvSpPr>
        <p:spPr>
          <a:xfrm>
            <a:off x="2011680" y="3767328"/>
            <a:ext cx="1554480" cy="274320"/>
          </a:xfrm>
          <a:prstGeom prst="rect">
            <a:avLst/>
          </a:prstGeom>
          <a:noFill/>
          <a:ln/>
        </p:spPr>
        <p:txBody>
          <a:bodyPr wrap="square" lIns="0" tIns="0" rIns="0" bIns="0" rtlCol="0" anchor="t"/>
          <a:lstStyle/>
          <a:p>
            <a:pPr indent="0" marL="0">
              <a:buNone/>
            </a:pPr>
            <a:r>
              <a:rPr lang="en-IE" sz="1300" dirty="0">
                <a:solidFill>
                  <a:schemeClr val="tx2"/>
                </a:solidFill>
              </a:rPr>
              <a:t>a Car’s</a:t>
            </a:r>
            <a:endParaRPr lang="en-IE" sz="1300" dirty="0"/>
          </a:p>
        </p:txBody>
      </p:sp>
      <p:sp>
        <p:nvSpPr>
          <p:cNvPr id="11" name="Code chip"/>
          <p:cNvSpPr/>
          <p:nvPr/>
        </p:nvSpPr>
        <p:spPr>
          <a:xfrm>
            <a:off x="3474720" y="4069080"/>
            <a:ext cx="571500"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id</a:t>
            </a:r>
            <a:endParaRPr lang="en-IE" sz="1800" dirty="0"/>
          </a:p>
        </p:txBody>
      </p:sp>
      <p:sp>
        <p:nvSpPr>
          <p:cNvPr id="12" name="Text 9"/>
          <p:cNvSpPr txBox="1"/>
          <p:nvPr/>
        </p:nvSpPr>
        <p:spPr>
          <a:xfrm>
            <a:off x="3474720" y="3767328"/>
            <a:ext cx="1554480" cy="274320"/>
          </a:xfrm>
          <a:prstGeom prst="rect">
            <a:avLst/>
          </a:prstGeom>
          <a:noFill/>
          <a:ln/>
        </p:spPr>
        <p:txBody>
          <a:bodyPr wrap="square" lIns="0" tIns="0" rIns="0" bIns="0" rtlCol="0" anchor="t"/>
          <a:lstStyle/>
          <a:p>
            <a:pPr indent="0" marL="0">
              <a:buNone/>
            </a:pPr>
            <a:r>
              <a:rPr lang="en-IE" sz="1300" dirty="0">
                <a:solidFill>
                  <a:schemeClr val="tx2"/>
                </a:solidFill>
              </a:rPr>
              <a:t>a Student’s</a:t>
            </a:r>
            <a:endParaRPr lang="en-IE" sz="1300" dirty="0"/>
          </a:p>
        </p:txBody>
      </p:sp>
      <p:sp>
        <p:nvSpPr>
          <p:cNvPr id="13" name="Text 10"/>
          <p:cNvSpPr txBox="1"/>
          <p:nvPr/>
        </p:nvSpPr>
        <p:spPr>
          <a:xfrm>
            <a:off x="548640" y="4754880"/>
            <a:ext cx="5394960" cy="731520"/>
          </a:xfrm>
          <a:prstGeom prst="rect">
            <a:avLst/>
          </a:prstGeom>
          <a:noFill/>
          <a:ln/>
        </p:spPr>
        <p:txBody>
          <a:bodyPr wrap="square" lIns="0" tIns="0" rIns="0" bIns="0" rtlCol="0" anchor="t"/>
          <a:lstStyle/>
          <a:p>
            <a:pPr indent="0" marL="0">
              <a:buNone/>
            </a:pPr>
            <a:r>
              <a:rPr lang="en-IE" sz="1700" dirty="0">
                <a:solidFill>
                  <a:schemeClr val="tx2"/>
                </a:solidFill>
              </a:rPr>
              <a:t>Each object stores its own values for these attributes.</a:t>
            </a:r>
            <a:endParaRPr lang="en-IE" sz="1700" dirty="0"/>
          </a:p>
        </p:txBody>
      </p:sp>
      <p:sp>
        <p:nvSpPr>
          <p:cNvPr id="14" name="Person class card"/>
          <p:cNvSpPr/>
          <p:nvPr/>
        </p:nvSpPr>
        <p:spPr>
          <a:xfrm>
            <a:off x="6355080" y="1783080"/>
            <a:ext cx="5285232" cy="2357628"/>
          </a:xfrm>
          <a:prstGeom prst="roundRect">
            <a:avLst>
              <a:gd name="adj" fmla="val 4654"/>
            </a:avLst>
          </a:prstGeom>
          <a:solidFill>
            <a:schemeClr val="tx1"/>
          </a:solidFill>
          <a:ln/>
          <a:effectLst>
            <a:outerShdw sx="100000" sy="100000" kx="0" ky="0" algn="bl" rotWithShape="0" blurRad="114300" dist="31750" dir="5400000">
              <a:srgbClr val="1D2433">
                <a:alpha val="12000"/>
              </a:srgbClr>
            </a:outerShdw>
          </a:effectLst>
        </p:spPr>
      </p:sp>
      <p:sp>
        <p:nvSpPr>
          <p:cNvPr id="15" name="Person class language"/>
          <p:cNvSpPr txBox="1"/>
          <p:nvPr/>
        </p:nvSpPr>
        <p:spPr>
          <a:xfrm>
            <a:off x="6629400" y="1901952"/>
            <a:ext cx="4736592"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6" name="Person class text"/>
          <p:cNvSpPr txBox="1"/>
          <p:nvPr/>
        </p:nvSpPr>
        <p:spPr>
          <a:xfrm>
            <a:off x="6629400" y="2276856"/>
            <a:ext cx="4736592" cy="166268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Person</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i="1" dirty="0">
                <a:solidFill>
                  <a:srgbClr val="A3AEC2"/>
                </a:solidFill>
                <a:latin typeface="Consolas" pitchFamily="34" charset="0"/>
                <a:ea typeface="Consolas" pitchFamily="34" charset="-122"/>
                <a:cs typeface="Consolas" pitchFamily="34" charset="-120"/>
              </a:rPr>
              <a:t>// attributes</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age;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7" name="Person object"/>
          <p:cNvSpPr/>
          <p:nvPr/>
        </p:nvSpPr>
        <p:spPr>
          <a:xfrm>
            <a:off x="6355080" y="4460748"/>
            <a:ext cx="5285232" cy="1325880"/>
          </a:xfrm>
          <a:prstGeom prst="roundRect">
            <a:avLst>
              <a:gd name="adj" fmla="val 8276"/>
            </a:avLst>
          </a:prstGeom>
          <a:solidFill>
            <a:schemeClr val="bg1"/>
          </a:solidFill>
          <a:ln/>
          <a:effectLst>
            <a:outerShdw sx="100000" sy="100000" kx="0" ky="0" algn="bl" rotWithShape="0" blurRad="114300" dist="31750" dir="5400000">
              <a:srgbClr val="1D2433">
                <a:alpha val="12000"/>
              </a:srgbClr>
            </a:outerShdw>
          </a:effectLst>
        </p:spPr>
      </p:sp>
      <p:sp>
        <p:nvSpPr>
          <p:cNvPr id="18" name="Text 15"/>
          <p:cNvSpPr txBox="1"/>
          <p:nvPr/>
        </p:nvSpPr>
        <p:spPr>
          <a:xfrm>
            <a:off x="6629400" y="4616196"/>
            <a:ext cx="3657600" cy="320040"/>
          </a:xfrm>
          <a:prstGeom prst="rect">
            <a:avLst/>
          </a:prstGeom>
          <a:noFill/>
          <a:ln/>
        </p:spPr>
        <p:txBody>
          <a:bodyPr wrap="square" lIns="0" tIns="0" rIns="0" bIns="0" rtlCol="0" anchor="t"/>
          <a:lstStyle/>
          <a:p>
            <a:pPr indent="0" marL="0">
              <a:buNone/>
            </a:pPr>
            <a:r>
              <a:rPr lang="en-IE" sz="1400" b="1" dirty="0">
                <a:solidFill>
                  <a:schemeClr val="tx2"/>
                </a:solidFill>
              </a:rPr>
              <a:t>One Person object</a:t>
            </a:r>
            <a:endParaRPr lang="en-IE" sz="1400" dirty="0"/>
          </a:p>
        </p:txBody>
      </p:sp>
      <p:sp>
        <p:nvSpPr>
          <p:cNvPr id="19" name="Code chip"/>
          <p:cNvSpPr/>
          <p:nvPr/>
        </p:nvSpPr>
        <p:spPr>
          <a:xfrm>
            <a:off x="6629400" y="5055108"/>
            <a:ext cx="1346200"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age = 23</a:t>
            </a:r>
            <a:endParaRPr lang="en-IE" sz="1700" dirty="0"/>
          </a:p>
        </p:txBody>
      </p:sp>
      <p:sp>
        <p:nvSpPr>
          <p:cNvPr id="20" name="Code chip"/>
          <p:cNvSpPr/>
          <p:nvPr/>
        </p:nvSpPr>
        <p:spPr>
          <a:xfrm>
            <a:off x="8158480" y="5055108"/>
            <a:ext cx="1872996"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name = "Tom"</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Attributes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this class, what are </a:t>
            </a:r>
            <a:r>
              <a:rPr lang="en-IE" sz="2800" b="1" dirty="0">
                <a:solidFill>
                  <a:schemeClr val="accent2"/>
                </a:solidFill>
                <a:latin typeface="Consolas" pitchFamily="34" charset="0"/>
                <a:ea typeface="Consolas" pitchFamily="34" charset="-122"/>
                <a:cs typeface="Consolas" pitchFamily="34" charset="-120"/>
              </a:rPr>
              <a:t>age</a:t>
            </a:r>
            <a:r>
              <a:rPr lang="en-IE" sz="2800" b="1" dirty="0">
                <a:solidFill>
                  <a:schemeClr val="tx1"/>
                </a:solidFill>
              </a:rPr>
              <a:t> and </a:t>
            </a:r>
            <a:r>
              <a:rPr lang="en-IE" sz="2800" b="1" dirty="0">
                <a:solidFill>
                  <a:schemeClr val="accent2"/>
                </a:solidFill>
                <a:latin typeface="Consolas" pitchFamily="34" charset="0"/>
                <a:ea typeface="Consolas" pitchFamily="34" charset="-122"/>
                <a:cs typeface="Consolas" pitchFamily="34" charset="-120"/>
              </a:rPr>
              <a:t>name</a:t>
            </a:r>
            <a:r>
              <a:rPr lang="en-IE" sz="2800" b="1" dirty="0">
                <a:solidFill>
                  <a:schemeClr val="tx1"/>
                </a:solidFill>
              </a:rPr>
              <a:t>?</a:t>
            </a:r>
            <a:endParaRPr lang="en-IE" sz="2800" dirty="0"/>
          </a:p>
        </p:txBody>
      </p:sp>
      <p:sp>
        <p:nvSpPr>
          <p:cNvPr id="5" name="Question code card"/>
          <p:cNvSpPr/>
          <p:nvPr/>
        </p:nvSpPr>
        <p:spPr>
          <a:xfrm>
            <a:off x="548640" y="2998216"/>
            <a:ext cx="6035040" cy="1958848"/>
          </a:xfrm>
          <a:prstGeom prst="roundRect">
            <a:avLst>
              <a:gd name="adj" fmla="val 560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311708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491992"/>
            <a:ext cx="5486400" cy="1263904"/>
          </a:xfrm>
          <a:prstGeom prst="rect">
            <a:avLst/>
          </a:prstGeom>
          <a:noFill/>
          <a:ln/>
        </p:spPr>
        <p:txBody>
          <a:bodyPr wrap="square" lIns="0" tIns="0" rIns="0" bIns="0" rtlCol="0" anchor="t"/>
          <a:lstStyle/>
          <a:p>
            <a:pPr indent="0" marL="0">
              <a:lnSpc>
                <a:spcPts val="2380"/>
              </a:lnSpc>
              <a:buNone/>
            </a:pPr>
            <a:r>
              <a:rPr lang="en-IE" sz="1800" dirty="0">
                <a:solidFill>
                  <a:srgbClr val="FF9F5A"/>
                </a:solidFill>
                <a:latin typeface="Consolas" pitchFamily="34" charset="0"/>
                <a:ea typeface="Consolas" pitchFamily="34" charset="-122"/>
                <a:cs typeface="Consolas" pitchFamily="34" charset="-120"/>
              </a:rPr>
              <a:t>public</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class</a:t>
            </a: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Person</a:t>
            </a:r>
            <a:r>
              <a:rPr lang="en-IE" sz="1800" dirty="0">
                <a:solidFill>
                  <a:srgbClr val="E6EBF2"/>
                </a:solidFill>
                <a:latin typeface="Consolas" pitchFamily="34" charset="0"/>
                <a:ea typeface="Consolas" pitchFamily="34" charset="-122"/>
                <a:cs typeface="Consolas" pitchFamily="34" charset="-120"/>
              </a:rPr>
              <a:t> {</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FF9F5A"/>
                </a:solidFill>
                <a:latin typeface="Consolas" pitchFamily="34" charset="0"/>
                <a:ea typeface="Consolas" pitchFamily="34" charset="-122"/>
                <a:cs typeface="Consolas" pitchFamily="34" charset="-120"/>
              </a:rPr>
              <a:t>int</a:t>
            </a:r>
            <a:r>
              <a:rPr lang="en-IE" sz="1800" dirty="0">
                <a:solidFill>
                  <a:srgbClr val="E6EBF2"/>
                </a:solidFill>
                <a:latin typeface="Consolas" pitchFamily="34" charset="0"/>
                <a:ea typeface="Consolas" pitchFamily="34" charset="-122"/>
                <a:cs typeface="Consolas" pitchFamily="34" charset="-120"/>
              </a:rPr>
              <a:t> age;</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    </a:t>
            </a:r>
            <a:r>
              <a:rPr lang="en-IE" sz="1800" dirty="0">
                <a:solidFill>
                  <a:srgbClr val="6CC4E8"/>
                </a:solidFill>
                <a:latin typeface="Consolas" pitchFamily="34" charset="0"/>
                <a:ea typeface="Consolas" pitchFamily="34" charset="-122"/>
                <a:cs typeface="Consolas" pitchFamily="34" charset="-120"/>
              </a:rPr>
              <a:t>String</a:t>
            </a:r>
            <a:r>
              <a:rPr lang="en-IE" sz="1800" dirty="0">
                <a:solidFill>
                  <a:srgbClr val="E6EBF2"/>
                </a:solidFill>
                <a:latin typeface="Consolas" pitchFamily="34" charset="0"/>
                <a:ea typeface="Consolas" pitchFamily="34" charset="-122"/>
                <a:cs typeface="Consolas" pitchFamily="34" charset="-120"/>
              </a:rPr>
              <a:t> name;</a:t>
            </a:r>
            <a:endParaRPr lang="en-IE" sz="1800" dirty="0"/>
          </a:p>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a:t>
            </a:r>
            <a:endParaRPr lang="en-IE"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rPr>
              <a:t>Methods</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rPr>
              <a:t>Constructors</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rPr>
              <a:t>Attributes</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Objects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Attributes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this class, what are </a:t>
            </a:r>
            <a:r>
              <a:rPr lang="en-IE" sz="2000" b="1" dirty="0">
                <a:solidFill>
                  <a:schemeClr val="tx2"/>
                </a:solidFill>
                <a:latin typeface="Consolas" pitchFamily="34" charset="0"/>
                <a:ea typeface="Consolas" pitchFamily="34" charset="-122"/>
                <a:cs typeface="Consolas" pitchFamily="34" charset="-120"/>
              </a:rPr>
              <a:t>age</a:t>
            </a:r>
            <a:r>
              <a:rPr lang="en-IE" sz="2000" b="1" dirty="0">
                <a:solidFill>
                  <a:schemeClr val="tx2"/>
                </a:solidFill>
              </a:rPr>
              <a:t> and </a:t>
            </a:r>
            <a:r>
              <a:rPr lang="en-IE" sz="2000" b="1" dirty="0">
                <a:solidFill>
                  <a:schemeClr val="tx2"/>
                </a:solidFill>
                <a:latin typeface="Consolas" pitchFamily="34" charset="0"/>
                <a:ea typeface="Consolas" pitchFamily="34" charset="-122"/>
                <a:cs typeface="Consolas" pitchFamily="34" charset="-120"/>
              </a:rPr>
              <a:t>name</a:t>
            </a:r>
            <a:r>
              <a:rPr lang="en-IE" sz="2000" b="1" dirty="0">
                <a:solidFill>
                  <a:schemeClr val="tx2"/>
                </a:solidFill>
              </a:rPr>
              <a:t>?</a:t>
            </a:r>
            <a:endParaRPr lang="en-IE" sz="2000" dirty="0"/>
          </a:p>
        </p:txBody>
      </p:sp>
      <p:sp>
        <p:nvSpPr>
          <p:cNvPr id="5" name="Answer code card"/>
          <p:cNvSpPr/>
          <p:nvPr/>
        </p:nvSpPr>
        <p:spPr>
          <a:xfrm>
            <a:off x="548640" y="1874520"/>
            <a:ext cx="5623560" cy="1397000"/>
          </a:xfrm>
          <a:prstGeom prst="roundRect">
            <a:avLst>
              <a:gd name="adj" fmla="val 7855"/>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9946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age;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7" name="Option A"/>
          <p:cNvSpPr/>
          <p:nvPr/>
        </p:nvSpPr>
        <p:spPr>
          <a:xfrm>
            <a:off x="548640" y="3500120"/>
            <a:ext cx="5623560" cy="535432"/>
          </a:xfrm>
          <a:prstGeom prst="roundRect">
            <a:avLst>
              <a:gd name="adj" fmla="val 20493"/>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564128"/>
            <a:ext cx="407416" cy="40741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58392" y="3500120"/>
            <a:ext cx="4585208" cy="535432"/>
          </a:xfrm>
          <a:prstGeom prst="rect">
            <a:avLst/>
          </a:prstGeom>
          <a:noFill/>
          <a:ln/>
        </p:spPr>
        <p:txBody>
          <a:bodyPr wrap="square" lIns="0" tIns="0" rIns="0" bIns="0" rtlCol="0" anchor="ctr"/>
          <a:lstStyle/>
          <a:p>
            <a:pPr indent="0" marL="0">
              <a:buNone/>
            </a:pPr>
            <a:r>
              <a:rPr lang="en-IE" sz="1500" dirty="0">
                <a:solidFill>
                  <a:schemeClr val="tx2"/>
                </a:solidFill>
              </a:rPr>
              <a:t>Methods</a:t>
            </a:r>
            <a:endParaRPr lang="en-IE" sz="1500" dirty="0"/>
          </a:p>
        </p:txBody>
      </p:sp>
      <p:sp>
        <p:nvSpPr>
          <p:cNvPr id="10" name="Option B"/>
          <p:cNvSpPr/>
          <p:nvPr/>
        </p:nvSpPr>
        <p:spPr>
          <a:xfrm>
            <a:off x="548640" y="4181856"/>
            <a:ext cx="5623560" cy="535432"/>
          </a:xfrm>
          <a:prstGeom prst="roundRect">
            <a:avLst>
              <a:gd name="adj" fmla="val 20493"/>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245864"/>
            <a:ext cx="407416" cy="40741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58392" y="4181856"/>
            <a:ext cx="4585208" cy="535432"/>
          </a:xfrm>
          <a:prstGeom prst="rect">
            <a:avLst/>
          </a:prstGeom>
          <a:noFill/>
          <a:ln/>
        </p:spPr>
        <p:txBody>
          <a:bodyPr wrap="square" lIns="0" tIns="0" rIns="0" bIns="0" rtlCol="0" anchor="ctr"/>
          <a:lstStyle/>
          <a:p>
            <a:pPr indent="0" marL="0">
              <a:buNone/>
            </a:pPr>
            <a:r>
              <a:rPr lang="en-IE" sz="1500" dirty="0">
                <a:solidFill>
                  <a:schemeClr val="tx2"/>
                </a:solidFill>
              </a:rPr>
              <a:t>Constructors</a:t>
            </a:r>
            <a:endParaRPr lang="en-IE" sz="1500" dirty="0"/>
          </a:p>
        </p:txBody>
      </p:sp>
      <p:sp>
        <p:nvSpPr>
          <p:cNvPr id="13" name="Option C (correct)"/>
          <p:cNvSpPr/>
          <p:nvPr/>
        </p:nvSpPr>
        <p:spPr>
          <a:xfrm>
            <a:off x="548640" y="4863592"/>
            <a:ext cx="5623560" cy="535432"/>
          </a:xfrm>
          <a:prstGeom prst="roundRect">
            <a:avLst>
              <a:gd name="adj" fmla="val 20493"/>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927600"/>
            <a:ext cx="407416" cy="407416"/>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58392" y="4863592"/>
            <a:ext cx="4155440" cy="535432"/>
          </a:xfrm>
          <a:prstGeom prst="rect">
            <a:avLst/>
          </a:prstGeom>
          <a:noFill/>
          <a:ln/>
        </p:spPr>
        <p:txBody>
          <a:bodyPr wrap="square" lIns="0" tIns="0" rIns="0" bIns="0" rtlCol="0" anchor="ctr"/>
          <a:lstStyle/>
          <a:p>
            <a:pPr indent="0" marL="0">
              <a:buNone/>
            </a:pPr>
            <a:r>
              <a:rPr lang="en-IE" sz="1500" b="1" dirty="0">
                <a:solidFill>
                  <a:schemeClr val="bg1"/>
                </a:solidFill>
              </a:rPr>
              <a:t>Attributes</a:t>
            </a:r>
            <a:endParaRPr lang="en-IE" sz="1500" dirty="0"/>
          </a:p>
        </p:txBody>
      </p:sp>
      <p:pic>
        <p:nvPicPr>
          <p:cNvPr id="16" name="Correct mark" descr="Correct mark">    </p:cNvPr>
          <p:cNvPicPr>
            <a:picLocks noChangeAspect="1"/>
          </p:cNvPicPr>
          <p:nvPr/>
        </p:nvPicPr>
        <p:blipFill>
          <a:blip r:embed="rId1"/>
          <a:stretch>
            <a:fillRect/>
          </a:stretch>
        </p:blipFill>
        <p:spPr>
          <a:xfrm>
            <a:off x="5623560" y="4948428"/>
            <a:ext cx="365760" cy="365760"/>
          </a:xfrm>
          <a:prstGeom prst="rect">
            <a:avLst/>
          </a:prstGeom>
        </p:spPr>
      </p:pic>
      <p:sp>
        <p:nvSpPr>
          <p:cNvPr id="17" name="Option D"/>
          <p:cNvSpPr/>
          <p:nvPr/>
        </p:nvSpPr>
        <p:spPr>
          <a:xfrm>
            <a:off x="548640" y="5545328"/>
            <a:ext cx="5623560" cy="535432"/>
          </a:xfrm>
          <a:prstGeom prst="roundRect">
            <a:avLst>
              <a:gd name="adj" fmla="val 20493"/>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09336"/>
            <a:ext cx="407416" cy="407416"/>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58392" y="5545328"/>
            <a:ext cx="4585208" cy="535432"/>
          </a:xfrm>
          <a:prstGeom prst="rect">
            <a:avLst/>
          </a:prstGeom>
          <a:noFill/>
          <a:ln/>
        </p:spPr>
        <p:txBody>
          <a:bodyPr wrap="square" lIns="0" tIns="0" rIns="0" bIns="0" rtlCol="0" anchor="ctr"/>
          <a:lstStyle/>
          <a:p>
            <a:pPr indent="0" marL="0">
              <a:buNone/>
            </a:pPr>
            <a:r>
              <a:rPr lang="en-IE" sz="1500" dirty="0">
                <a:solidFill>
                  <a:schemeClr val="tx2"/>
                </a:solidFill>
              </a:rPr>
              <a:t>Objects</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They are variables declared inside the class (but outside any method), and they describe a person, so they are attributes. A method would have brackets after its name, like </a:t>
            </a:r>
            <a:r>
              <a:rPr lang="en-IE" sz="1800" dirty="0">
                <a:solidFill>
                  <a:schemeClr val="accent2"/>
                </a:solidFill>
                <a:latin typeface="Consolas" pitchFamily="34" charset="0"/>
                <a:ea typeface="Consolas" pitchFamily="34" charset="-122"/>
                <a:cs typeface="Consolas" pitchFamily="34" charset="-120"/>
              </a:rPr>
              <a:t>sayHello()</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Creating an object and reaching inside it</a:t>
            </a:r>
            <a:endParaRPr lang="en-IE" sz="3400" dirty="0"/>
          </a:p>
        </p:txBody>
      </p:sp>
      <p:sp>
        <p:nvSpPr>
          <p:cNvPr id="5" name="Create object card"/>
          <p:cNvSpPr/>
          <p:nvPr/>
        </p:nvSpPr>
        <p:spPr>
          <a:xfrm>
            <a:off x="548640" y="1737360"/>
            <a:ext cx="11094415" cy="859790"/>
          </a:xfrm>
          <a:prstGeom prst="roundRect">
            <a:avLst>
              <a:gd name="adj" fmla="val 12762"/>
            </a:avLst>
          </a:prstGeom>
          <a:solidFill>
            <a:schemeClr val="tx1"/>
          </a:solidFill>
          <a:ln/>
          <a:effectLst>
            <a:outerShdw sx="100000" sy="100000" kx="0" ky="0" algn="bl" rotWithShape="0" blurRad="114300" dist="31750" dir="5400000">
              <a:srgbClr val="1D2433">
                <a:alpha val="12000"/>
              </a:srgbClr>
            </a:outerShdw>
          </a:effectLst>
        </p:spPr>
      </p:sp>
      <p:sp>
        <p:nvSpPr>
          <p:cNvPr id="6" name="Create object text"/>
          <p:cNvSpPr txBox="1"/>
          <p:nvPr/>
        </p:nvSpPr>
        <p:spPr>
          <a:xfrm>
            <a:off x="822960" y="1938528"/>
            <a:ext cx="10545775" cy="457454"/>
          </a:xfrm>
          <a:prstGeom prst="rect">
            <a:avLst/>
          </a:prstGeom>
          <a:noFill/>
          <a:ln/>
        </p:spPr>
        <p:txBody>
          <a:bodyPr wrap="square" lIns="0" tIns="0" rIns="0" bIns="0" rtlCol="0" anchor="t"/>
          <a:lstStyle/>
          <a:p>
            <a:pPr indent="0" marL="0">
              <a:lnSpc>
                <a:spcPts val="3170"/>
              </a:lnSpc>
              <a:buNone/>
            </a:pPr>
            <a:r>
              <a:rPr lang="en-IE" sz="2400" dirty="0">
                <a:solidFill>
                  <a:srgbClr val="6CC4E8"/>
                </a:solidFill>
                <a:latin typeface="Consolas" pitchFamily="34" charset="0"/>
                <a:ea typeface="Consolas" pitchFamily="34" charset="-122"/>
                <a:cs typeface="Consolas" pitchFamily="34" charset="-120"/>
              </a:rPr>
              <a:t>Person</a:t>
            </a:r>
            <a:r>
              <a:rPr lang="en-IE" sz="2400" dirty="0">
                <a:solidFill>
                  <a:srgbClr val="E6EBF2"/>
                </a:solidFill>
                <a:latin typeface="Consolas" pitchFamily="34" charset="0"/>
                <a:ea typeface="Consolas" pitchFamily="34" charset="-122"/>
                <a:cs typeface="Consolas" pitchFamily="34" charset="-120"/>
              </a:rPr>
              <a:t> tom = </a:t>
            </a:r>
            <a:r>
              <a:rPr lang="en-IE" sz="2400" dirty="0">
                <a:solidFill>
                  <a:srgbClr val="FF9F5A"/>
                </a:solidFill>
                <a:latin typeface="Consolas" pitchFamily="34" charset="0"/>
                <a:ea typeface="Consolas" pitchFamily="34" charset="-122"/>
                <a:cs typeface="Consolas" pitchFamily="34" charset="-120"/>
              </a:rPr>
              <a:t>new</a:t>
            </a:r>
            <a:r>
              <a:rPr lang="en-IE" sz="2400" dirty="0">
                <a:solidFill>
                  <a:srgbClr val="E6EBF2"/>
                </a:solidFill>
                <a:latin typeface="Consolas" pitchFamily="34" charset="0"/>
                <a:ea typeface="Consolas" pitchFamily="34" charset="-122"/>
                <a:cs typeface="Consolas" pitchFamily="34" charset="-120"/>
              </a:rPr>
              <a:t> </a:t>
            </a:r>
            <a:r>
              <a:rPr lang="en-IE" sz="2400" dirty="0">
                <a:solidFill>
                  <a:srgbClr val="C9B0FF"/>
                </a:solidFill>
                <a:latin typeface="Consolas" pitchFamily="34" charset="0"/>
                <a:ea typeface="Consolas" pitchFamily="34" charset="-122"/>
                <a:cs typeface="Consolas" pitchFamily="34" charset="-120"/>
              </a:rPr>
              <a:t>Person</a:t>
            </a:r>
            <a:r>
              <a:rPr lang="en-IE" sz="2400" dirty="0">
                <a:solidFill>
                  <a:srgbClr val="E6EBF2"/>
                </a:solidFill>
                <a:latin typeface="Consolas" pitchFamily="34" charset="0"/>
                <a:ea typeface="Consolas" pitchFamily="34" charset="-122"/>
                <a:cs typeface="Consolas" pitchFamily="34" charset="-120"/>
              </a:rPr>
              <a:t>(</a:t>
            </a:r>
            <a:r>
              <a:rPr lang="en-IE" sz="2400" dirty="0">
                <a:solidFill>
                  <a:srgbClr val="F2C14E"/>
                </a:solidFill>
                <a:latin typeface="Consolas" pitchFamily="34" charset="0"/>
                <a:ea typeface="Consolas" pitchFamily="34" charset="-122"/>
                <a:cs typeface="Consolas" pitchFamily="34" charset="-120"/>
              </a:rPr>
              <a:t>23</a:t>
            </a:r>
            <a:r>
              <a:rPr lang="en-IE" sz="2400" dirty="0">
                <a:solidFill>
                  <a:srgbClr val="E6EBF2"/>
                </a:solidFill>
                <a:latin typeface="Consolas" pitchFamily="34" charset="0"/>
                <a:ea typeface="Consolas" pitchFamily="34" charset="-122"/>
                <a:cs typeface="Consolas" pitchFamily="34" charset="-120"/>
              </a:rPr>
              <a:t>);</a:t>
            </a:r>
            <a:endParaRPr lang="en-IE" sz="2400" dirty="0"/>
          </a:p>
        </p:txBody>
      </p:sp>
      <p:sp>
        <p:nvSpPr>
          <p:cNvPr id="7" name="Variable"/>
          <p:cNvSpPr/>
          <p:nvPr/>
        </p:nvSpPr>
        <p:spPr>
          <a:xfrm>
            <a:off x="914400" y="3154680"/>
            <a:ext cx="1554480" cy="868680"/>
          </a:xfrm>
          <a:prstGeom prst="roundRect">
            <a:avLst>
              <a:gd name="adj" fmla="val 10526"/>
            </a:avLst>
          </a:prstGeom>
          <a:solidFill>
            <a:schemeClr val="bg1"/>
          </a:solidFill>
          <a:ln w="19050">
            <a:solidFill>
              <a:schemeClr val="accent2"/>
            </a:solidFill>
          </a:ln>
        </p:spPr>
        <p:txBody>
          <a:bodyPr wrap="square" lIns="0" tIns="0" rIns="0" bIns="0" rtlCol="0" anchor="ctr"/>
          <a:lstStyle/>
          <a:p>
            <a:pPr algn="ctr" indent="0" marL="0">
              <a:buNone/>
            </a:pPr>
            <a:r>
              <a:rPr lang="en-IE" sz="2200" b="1" dirty="0">
                <a:solidFill>
                  <a:schemeClr val="accent2"/>
                </a:solidFill>
                <a:latin typeface="Consolas" pitchFamily="34" charset="0"/>
                <a:ea typeface="Consolas" pitchFamily="34" charset="-122"/>
                <a:cs typeface="Consolas" pitchFamily="34" charset="-120"/>
              </a:rPr>
              <a:t>tom</a:t>
            </a:r>
            <a:endParaRPr lang="en-IE" sz="2200" dirty="0"/>
          </a:p>
        </p:txBody>
      </p:sp>
      <p:sp>
        <p:nvSpPr>
          <p:cNvPr id="8" name="Text 5"/>
          <p:cNvSpPr txBox="1"/>
          <p:nvPr/>
        </p:nvSpPr>
        <p:spPr>
          <a:xfrm>
            <a:off x="822960" y="4114800"/>
            <a:ext cx="1737360" cy="274320"/>
          </a:xfrm>
          <a:prstGeom prst="rect">
            <a:avLst/>
          </a:prstGeom>
          <a:noFill/>
          <a:ln/>
        </p:spPr>
        <p:txBody>
          <a:bodyPr wrap="square" lIns="0" tIns="0" rIns="0" bIns="0" rtlCol="0" anchor="t"/>
          <a:lstStyle/>
          <a:p>
            <a:pPr algn="ctr" indent="0" marL="0">
              <a:buNone/>
            </a:pPr>
            <a:r>
              <a:rPr lang="en-IE" sz="1300" i="1" dirty="0">
                <a:solidFill>
                  <a:schemeClr val="tx2"/>
                </a:solidFill>
              </a:rPr>
              <a:t>the variable</a:t>
            </a:r>
            <a:endParaRPr lang="en-IE" sz="1300" dirty="0"/>
          </a:p>
        </p:txBody>
      </p:sp>
      <p:sp>
        <p:nvSpPr>
          <p:cNvPr id="9" name="Memory"/>
          <p:cNvSpPr/>
          <p:nvPr/>
        </p:nvSpPr>
        <p:spPr>
          <a:xfrm>
            <a:off x="3749040" y="2743200"/>
            <a:ext cx="3794760" cy="1691640"/>
          </a:xfrm>
          <a:prstGeom prst="roundRect">
            <a:avLst>
              <a:gd name="adj" fmla="val 8108"/>
            </a:avLst>
          </a:prstGeom>
          <a:solidFill>
            <a:schemeClr val="bg2"/>
          </a:solidFill>
          <a:ln w="12700">
            <a:solidFill>
              <a:schemeClr val="tx2"/>
            </a:solidFill>
            <a:prstDash val="dash"/>
          </a:ln>
        </p:spPr>
      </p:sp>
      <p:sp>
        <p:nvSpPr>
          <p:cNvPr id="10" name="Text 7"/>
          <p:cNvSpPr txBox="1"/>
          <p:nvPr/>
        </p:nvSpPr>
        <p:spPr>
          <a:xfrm>
            <a:off x="3931920" y="2816352"/>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MEMORY</a:t>
            </a:r>
            <a:endParaRPr lang="en-IE" sz="1100" dirty="0"/>
          </a:p>
        </p:txBody>
      </p:sp>
      <p:sp>
        <p:nvSpPr>
          <p:cNvPr id="11" name="Person object"/>
          <p:cNvSpPr/>
          <p:nvPr/>
        </p:nvSpPr>
        <p:spPr>
          <a:xfrm>
            <a:off x="4114800" y="3154680"/>
            <a:ext cx="3063240"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2" name="Connector"/>
          <p:cNvSpPr/>
          <p:nvPr/>
        </p:nvSpPr>
        <p:spPr>
          <a:xfrm>
            <a:off x="2542032" y="3589020"/>
            <a:ext cx="1508760" cy="0"/>
          </a:xfrm>
          <a:prstGeom prst="line">
            <a:avLst/>
          </a:prstGeom>
          <a:noFill/>
          <a:ln w="25400">
            <a:solidFill>
              <a:schemeClr val="accent1"/>
            </a:solidFill>
            <a:prstDash val="solid"/>
            <a:tailEnd type="triangle"/>
          </a:ln>
        </p:spPr>
      </p:sp>
      <p:sp>
        <p:nvSpPr>
          <p:cNvPr id="13" name="Text 10"/>
          <p:cNvSpPr txBox="1"/>
          <p:nvPr/>
        </p:nvSpPr>
        <p:spPr>
          <a:xfrm>
            <a:off x="2606040" y="3172968"/>
            <a:ext cx="1371600" cy="274320"/>
          </a:xfrm>
          <a:prstGeom prst="rect">
            <a:avLst/>
          </a:prstGeom>
          <a:noFill/>
          <a:ln/>
        </p:spPr>
        <p:txBody>
          <a:bodyPr wrap="square" lIns="0" tIns="0" rIns="0" bIns="0" rtlCol="0" anchor="t"/>
          <a:lstStyle/>
          <a:p>
            <a:pPr algn="ctr" indent="0" marL="0">
              <a:buNone/>
            </a:pPr>
            <a:r>
              <a:rPr lang="en-IE" sz="1300" i="1" dirty="0">
                <a:solidFill>
                  <a:schemeClr val="tx2"/>
                </a:solidFill>
              </a:rPr>
              <a:t>points to</a:t>
            </a:r>
            <a:endParaRPr lang="en-IE" sz="1300" dirty="0"/>
          </a:p>
        </p:txBody>
      </p:sp>
      <p:sp>
        <p:nvSpPr>
          <p:cNvPr id="14" name="Text 11"/>
          <p:cNvSpPr txBox="1"/>
          <p:nvPr/>
        </p:nvSpPr>
        <p:spPr>
          <a:xfrm>
            <a:off x="4343400" y="3246120"/>
            <a:ext cx="2743200" cy="320040"/>
          </a:xfrm>
          <a:prstGeom prst="rect">
            <a:avLst/>
          </a:prstGeom>
          <a:noFill/>
          <a:ln/>
        </p:spPr>
        <p:txBody>
          <a:bodyPr wrap="square" lIns="0" tIns="0" rIns="0" bIns="0" rtlCol="0" anchor="t"/>
          <a:lstStyle/>
          <a:p>
            <a:pPr indent="0" marL="0">
              <a:buNone/>
            </a:pPr>
            <a:r>
              <a:rPr lang="en-IE" sz="1400" b="1" dirty="0">
                <a:solidFill>
                  <a:schemeClr val="accent2"/>
                </a:solidFill>
              </a:rPr>
              <a:t>Person object</a:t>
            </a:r>
            <a:endParaRPr lang="en-IE" sz="1400" dirty="0"/>
          </a:p>
        </p:txBody>
      </p:sp>
      <p:sp>
        <p:nvSpPr>
          <p:cNvPr id="15" name="Text 12"/>
          <p:cNvSpPr txBox="1"/>
          <p:nvPr/>
        </p:nvSpPr>
        <p:spPr>
          <a:xfrm>
            <a:off x="4343400" y="3566160"/>
            <a:ext cx="2743200" cy="365760"/>
          </a:xfrm>
          <a:prstGeom prst="rect">
            <a:avLst/>
          </a:prstGeom>
          <a:noFill/>
          <a:ln/>
        </p:spPr>
        <p:txBody>
          <a:bodyPr wrap="square" lIns="0" tIns="0" rIns="0" bIns="0" rtlCol="0" anchor="t"/>
          <a:lstStyle/>
          <a:p>
            <a:pPr indent="0" marL="0">
              <a:buNone/>
            </a:pPr>
            <a:r>
              <a:rPr lang="en-IE" sz="1800" dirty="0">
                <a:solidFill>
                  <a:schemeClr val="tx1"/>
                </a:solidFill>
                <a:latin typeface="Consolas" pitchFamily="34" charset="0"/>
                <a:ea typeface="Consolas" pitchFamily="34" charset="-122"/>
                <a:cs typeface="Consolas" pitchFamily="34" charset="-120"/>
              </a:rPr>
              <a:t>age = 23</a:t>
            </a:r>
            <a:endParaRPr lang="en-IE" sz="1800" dirty="0"/>
          </a:p>
        </p:txBody>
      </p:sp>
      <p:sp>
        <p:nvSpPr>
          <p:cNvPr id="16" name="Text 13"/>
          <p:cNvSpPr txBox="1"/>
          <p:nvPr/>
        </p:nvSpPr>
        <p:spPr>
          <a:xfrm>
            <a:off x="8001000" y="2834640"/>
            <a:ext cx="3657600" cy="320040"/>
          </a:xfrm>
          <a:prstGeom prst="rect">
            <a:avLst/>
          </a:prstGeom>
          <a:noFill/>
          <a:ln/>
        </p:spPr>
        <p:txBody>
          <a:bodyPr wrap="square" lIns="0" tIns="0" rIns="0" bIns="0" rtlCol="0" anchor="t"/>
          <a:lstStyle/>
          <a:p>
            <a:pPr indent="0" marL="0">
              <a:buNone/>
            </a:pPr>
            <a:r>
              <a:rPr lang="en-IE" sz="1600" b="1" dirty="0">
                <a:solidFill>
                  <a:schemeClr val="tx1"/>
                </a:solidFill>
              </a:rPr>
              <a:t>Reach inside with a dot:</a:t>
            </a:r>
            <a:endParaRPr lang="en-IE" sz="1600" dirty="0"/>
          </a:p>
        </p:txBody>
      </p:sp>
      <p:sp>
        <p:nvSpPr>
          <p:cNvPr id="17" name="Code chip"/>
          <p:cNvSpPr/>
          <p:nvPr/>
        </p:nvSpPr>
        <p:spPr>
          <a:xfrm>
            <a:off x="8001000" y="3246120"/>
            <a:ext cx="2802636"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800" dirty="0">
                <a:solidFill>
                  <a:schemeClr val="accent2"/>
                </a:solidFill>
                <a:latin typeface="Consolas" pitchFamily="34" charset="0"/>
                <a:ea typeface="Consolas" pitchFamily="34" charset="-122"/>
                <a:cs typeface="Consolas" pitchFamily="34" charset="-120"/>
              </a:rPr>
              <a:t>int age = tom.age;</a:t>
            </a:r>
            <a:endParaRPr lang="en-IE" sz="1800" dirty="0"/>
          </a:p>
        </p:txBody>
      </p:sp>
      <p:sp>
        <p:nvSpPr>
          <p:cNvPr id="18" name="Text 15"/>
          <p:cNvSpPr txBox="1"/>
          <p:nvPr/>
        </p:nvSpPr>
        <p:spPr>
          <a:xfrm>
            <a:off x="8001000" y="3840480"/>
            <a:ext cx="3657600" cy="320040"/>
          </a:xfrm>
          <a:prstGeom prst="rect">
            <a:avLst/>
          </a:prstGeom>
          <a:noFill/>
          <a:ln/>
        </p:spPr>
        <p:txBody>
          <a:bodyPr wrap="square" lIns="0" tIns="0" rIns="0" bIns="0" rtlCol="0" anchor="t"/>
          <a:lstStyle/>
          <a:p>
            <a:pPr indent="0" marL="0">
              <a:buNone/>
            </a:pPr>
            <a:r>
              <a:rPr lang="en-IE" sz="1500" dirty="0">
                <a:solidFill>
                  <a:schemeClr val="tx2"/>
                </a:solidFill>
              </a:rPr>
              <a:t>age is now 23</a:t>
            </a:r>
            <a:endParaRPr lang="en-IE" sz="1500" dirty="0"/>
          </a:p>
        </p:txBody>
      </p:sp>
      <p:sp>
        <p:nvSpPr>
          <p:cNvPr id="19" name="Point"/>
          <p:cNvSpPr/>
          <p:nvPr/>
        </p:nvSpPr>
        <p:spPr>
          <a:xfrm>
            <a:off x="548640" y="4663440"/>
            <a:ext cx="3545738" cy="1371600"/>
          </a:xfrm>
          <a:prstGeom prst="roundRect">
            <a:avLst>
              <a:gd name="adj" fmla="val 8000"/>
            </a:avLst>
          </a:prstGeom>
          <a:solidFill>
            <a:schemeClr val="bg2"/>
          </a:solidFill>
          <a:ln/>
        </p:spPr>
      </p:sp>
      <p:sp>
        <p:nvSpPr>
          <p:cNvPr id="20" name="Icon tile"/>
          <p:cNvSpPr/>
          <p:nvPr/>
        </p:nvSpPr>
        <p:spPr>
          <a:xfrm>
            <a:off x="777240" y="5047488"/>
            <a:ext cx="548640" cy="548640"/>
          </a:xfrm>
          <a:prstGeom prst="roundRect">
            <a:avLst>
              <a:gd name="adj" fmla="val 24000"/>
            </a:avLst>
          </a:prstGeom>
          <a:solidFill>
            <a:schemeClr val="accent3">
              <a:alpha val="14000"/>
            </a:schemeClr>
          </a:solidFill>
          <a:ln/>
        </p:spPr>
      </p:sp>
      <p:pic>
        <p:nvPicPr>
          <p:cNvPr id="21" name="plus square icon" descr="plus square icon">    </p:cNvPr>
          <p:cNvPicPr>
            <a:picLocks noChangeAspect="1"/>
          </p:cNvPicPr>
          <p:nvPr/>
        </p:nvPicPr>
        <p:blipFill>
          <a:blip r:embed="rId1"/>
          <a:stretch>
            <a:fillRect/>
          </a:stretch>
        </p:blipFill>
        <p:spPr>
          <a:xfrm>
            <a:off x="892454" y="5162702"/>
            <a:ext cx="318211" cy="318211"/>
          </a:xfrm>
          <a:prstGeom prst="rect">
            <a:avLst/>
          </a:prstGeom>
        </p:spPr>
      </p:pic>
      <p:sp>
        <p:nvSpPr>
          <p:cNvPr id="22" name="Text 18"/>
          <p:cNvSpPr txBox="1"/>
          <p:nvPr/>
        </p:nvSpPr>
        <p:spPr>
          <a:xfrm>
            <a:off x="1463040" y="4800600"/>
            <a:ext cx="2448458" cy="1097280"/>
          </a:xfrm>
          <a:prstGeom prst="rect">
            <a:avLst/>
          </a:prstGeom>
          <a:noFill/>
          <a:ln/>
        </p:spPr>
        <p:txBody>
          <a:bodyPr wrap="square" lIns="0" tIns="0" rIns="0" bIns="0" rtlCol="0" anchor="ctr"/>
          <a:lstStyle/>
          <a:p>
            <a:pPr indent="0" marL="0">
              <a:buNone/>
            </a:pPr>
            <a:r>
              <a:rPr lang="en-IE" sz="1500" dirty="0">
                <a:solidFill>
                  <a:schemeClr val="accent2"/>
                </a:solidFill>
                <a:latin typeface="Consolas" pitchFamily="34" charset="0"/>
                <a:ea typeface="Consolas" pitchFamily="34" charset="-122"/>
                <a:cs typeface="Consolas" pitchFamily="34" charset="-120"/>
              </a:rPr>
              <a:t>new Person(23)</a:t>
            </a:r>
            <a:r>
              <a:rPr lang="en-IE" sz="1500" dirty="0">
                <a:solidFill>
                  <a:schemeClr val="tx1"/>
                </a:solidFill>
              </a:rPr>
              <a:t> creates a new Person object (an instance) in memory.</a:t>
            </a:r>
            <a:endParaRPr lang="en-IE" sz="1500" dirty="0"/>
          </a:p>
        </p:txBody>
      </p:sp>
      <p:sp>
        <p:nvSpPr>
          <p:cNvPr id="23" name="Point"/>
          <p:cNvSpPr/>
          <p:nvPr/>
        </p:nvSpPr>
        <p:spPr>
          <a:xfrm>
            <a:off x="4322978" y="4663440"/>
            <a:ext cx="3545738" cy="1371600"/>
          </a:xfrm>
          <a:prstGeom prst="roundRect">
            <a:avLst>
              <a:gd name="adj" fmla="val 8000"/>
            </a:avLst>
          </a:prstGeom>
          <a:solidFill>
            <a:schemeClr val="bg2"/>
          </a:solidFill>
          <a:ln/>
        </p:spPr>
      </p:sp>
      <p:sp>
        <p:nvSpPr>
          <p:cNvPr id="24" name="Icon tile"/>
          <p:cNvSpPr/>
          <p:nvPr/>
        </p:nvSpPr>
        <p:spPr>
          <a:xfrm>
            <a:off x="4551578" y="5047488"/>
            <a:ext cx="548640" cy="548640"/>
          </a:xfrm>
          <a:prstGeom prst="roundRect">
            <a:avLst>
              <a:gd name="adj" fmla="val 24000"/>
            </a:avLst>
          </a:prstGeom>
          <a:solidFill>
            <a:schemeClr val="accent1">
              <a:alpha val="14000"/>
            </a:schemeClr>
          </a:solidFill>
          <a:ln/>
        </p:spPr>
      </p:sp>
      <p:pic>
        <p:nvPicPr>
          <p:cNvPr id="25" name="link icon" descr="link icon">    </p:cNvPr>
          <p:cNvPicPr>
            <a:picLocks noChangeAspect="1"/>
          </p:cNvPicPr>
          <p:nvPr/>
        </p:nvPicPr>
        <p:blipFill>
          <a:blip r:embed="rId2"/>
          <a:stretch>
            <a:fillRect/>
          </a:stretch>
        </p:blipFill>
        <p:spPr>
          <a:xfrm>
            <a:off x="4666793" y="5162702"/>
            <a:ext cx="318211" cy="318211"/>
          </a:xfrm>
          <a:prstGeom prst="rect">
            <a:avLst/>
          </a:prstGeom>
        </p:spPr>
      </p:pic>
      <p:sp>
        <p:nvSpPr>
          <p:cNvPr id="26" name="Text 21"/>
          <p:cNvSpPr txBox="1"/>
          <p:nvPr/>
        </p:nvSpPr>
        <p:spPr>
          <a:xfrm>
            <a:off x="5237378" y="4800600"/>
            <a:ext cx="2448458" cy="1097280"/>
          </a:xfrm>
          <a:prstGeom prst="rect">
            <a:avLst/>
          </a:prstGeom>
          <a:noFill/>
          <a:ln/>
        </p:spPr>
        <p:txBody>
          <a:bodyPr wrap="square" lIns="0" tIns="0" rIns="0" bIns="0" rtlCol="0" anchor="ctr"/>
          <a:lstStyle/>
          <a:p>
            <a:pPr indent="0" marL="0">
              <a:buNone/>
            </a:pPr>
            <a:r>
              <a:rPr lang="en-IE" sz="1500" dirty="0">
                <a:solidFill>
                  <a:schemeClr val="accent2"/>
                </a:solidFill>
                <a:latin typeface="Consolas" pitchFamily="34" charset="0"/>
                <a:ea typeface="Consolas" pitchFamily="34" charset="-122"/>
                <a:cs typeface="Consolas" pitchFamily="34" charset="-120"/>
              </a:rPr>
              <a:t>tom</a:t>
            </a:r>
            <a:r>
              <a:rPr lang="en-IE" sz="1500" dirty="0">
                <a:solidFill>
                  <a:schemeClr val="tx1"/>
                </a:solidFill>
              </a:rPr>
              <a:t> holds a </a:t>
            </a:r>
            <a:r>
              <a:rPr lang="en-IE" sz="1500" b="1" dirty="0">
                <a:solidFill>
                  <a:schemeClr val="tx1"/>
                </a:solidFill>
              </a:rPr>
              <a:t>reference</a:t>
            </a:r>
            <a:r>
              <a:rPr lang="en-IE" sz="1500" dirty="0">
                <a:solidFill>
                  <a:schemeClr val="tx1"/>
                </a:solidFill>
              </a:rPr>
              <a:t> to that object, not the object itself.</a:t>
            </a:r>
            <a:endParaRPr lang="en-IE" sz="1500" dirty="0"/>
          </a:p>
        </p:txBody>
      </p:sp>
      <p:sp>
        <p:nvSpPr>
          <p:cNvPr id="27" name="Point"/>
          <p:cNvSpPr/>
          <p:nvPr/>
        </p:nvSpPr>
        <p:spPr>
          <a:xfrm>
            <a:off x="8097317" y="4663440"/>
            <a:ext cx="3545738" cy="1371600"/>
          </a:xfrm>
          <a:prstGeom prst="roundRect">
            <a:avLst>
              <a:gd name="adj" fmla="val 8000"/>
            </a:avLst>
          </a:prstGeom>
          <a:solidFill>
            <a:schemeClr val="bg2"/>
          </a:solidFill>
          <a:ln/>
        </p:spPr>
      </p:sp>
      <p:sp>
        <p:nvSpPr>
          <p:cNvPr id="28" name="Icon tile"/>
          <p:cNvSpPr/>
          <p:nvPr/>
        </p:nvSpPr>
        <p:spPr>
          <a:xfrm>
            <a:off x="8325917" y="5047488"/>
            <a:ext cx="548640" cy="548640"/>
          </a:xfrm>
          <a:prstGeom prst="roundRect">
            <a:avLst>
              <a:gd name="adj" fmla="val 24000"/>
            </a:avLst>
          </a:prstGeom>
          <a:solidFill>
            <a:schemeClr val="accent5">
              <a:alpha val="14000"/>
            </a:schemeClr>
          </a:solidFill>
          <a:ln/>
        </p:spPr>
      </p:sp>
      <p:pic>
        <p:nvPicPr>
          <p:cNvPr id="29" name="target icon" descr="target icon">    </p:cNvPr>
          <p:cNvPicPr>
            <a:picLocks noChangeAspect="1"/>
          </p:cNvPicPr>
          <p:nvPr/>
        </p:nvPicPr>
        <p:blipFill>
          <a:blip r:embed="rId3"/>
          <a:stretch>
            <a:fillRect/>
          </a:stretch>
        </p:blipFill>
        <p:spPr>
          <a:xfrm>
            <a:off x="8441131" y="5162702"/>
            <a:ext cx="318211" cy="318211"/>
          </a:xfrm>
          <a:prstGeom prst="rect">
            <a:avLst/>
          </a:prstGeom>
        </p:spPr>
      </p:pic>
      <p:sp>
        <p:nvSpPr>
          <p:cNvPr id="30" name="Text 24"/>
          <p:cNvSpPr txBox="1"/>
          <p:nvPr/>
        </p:nvSpPr>
        <p:spPr>
          <a:xfrm>
            <a:off x="9011717" y="4800600"/>
            <a:ext cx="2448458" cy="1097280"/>
          </a:xfrm>
          <a:prstGeom prst="rect">
            <a:avLst/>
          </a:prstGeom>
          <a:noFill/>
          <a:ln/>
        </p:spPr>
        <p:txBody>
          <a:bodyPr wrap="square" lIns="0" tIns="0" rIns="0" bIns="0" rtlCol="0" anchor="ctr"/>
          <a:lstStyle/>
          <a:p>
            <a:pPr indent="0" marL="0">
              <a:buNone/>
            </a:pPr>
            <a:r>
              <a:rPr lang="en-IE" sz="1500" dirty="0">
                <a:solidFill>
                  <a:schemeClr val="tx1"/>
                </a:solidFill>
              </a:rPr>
              <a:t>Using a dot to get the values inside is called </a:t>
            </a:r>
            <a:r>
              <a:rPr lang="en-IE" sz="1500" b="1" dirty="0">
                <a:solidFill>
                  <a:schemeClr val="tx1"/>
                </a:solidFill>
              </a:rPr>
              <a:t>dereferencing</a:t>
            </a:r>
            <a:r>
              <a:rPr lang="en-IE" sz="1500" dirty="0">
                <a:solidFill>
                  <a:schemeClr val="tx1"/>
                </a:solidFill>
              </a:rPr>
              <a: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Dereferencing</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After this line runs, what does the variable </a:t>
            </a:r>
            <a:r>
              <a:rPr lang="en-IE" sz="2800" b="1" dirty="0">
                <a:solidFill>
                  <a:schemeClr val="accent2"/>
                </a:solidFill>
                <a:latin typeface="Consolas" pitchFamily="34" charset="0"/>
                <a:ea typeface="Consolas" pitchFamily="34" charset="-122"/>
                <a:cs typeface="Consolas" pitchFamily="34" charset="-120"/>
              </a:rPr>
              <a:t>tom</a:t>
            </a:r>
            <a:r>
              <a:rPr lang="en-IE" sz="2800" b="1" dirty="0">
                <a:solidFill>
                  <a:schemeClr val="tx1"/>
                </a:solidFill>
              </a:rPr>
              <a:t> hold?</a:t>
            </a:r>
            <a:endParaRPr lang="en-IE" sz="2800" dirty="0"/>
          </a:p>
        </p:txBody>
      </p:sp>
      <p:sp>
        <p:nvSpPr>
          <p:cNvPr id="5" name="Question code card"/>
          <p:cNvSpPr/>
          <p:nvPr/>
        </p:nvSpPr>
        <p:spPr>
          <a:xfrm>
            <a:off x="548640" y="1965960"/>
            <a:ext cx="11094415" cy="792480"/>
          </a:xfrm>
          <a:prstGeom prst="roundRect">
            <a:avLst>
              <a:gd name="adj" fmla="val 13846"/>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390144"/>
          </a:xfrm>
          <a:prstGeom prst="rect">
            <a:avLst/>
          </a:prstGeom>
          <a:noFill/>
          <a:ln/>
        </p:spPr>
        <p:txBody>
          <a:bodyPr wrap="square" lIns="0" tIns="0" rIns="0" bIns="0" rtlCol="0" anchor="t"/>
          <a:lstStyle/>
          <a:p>
            <a:pPr indent="0" marL="0">
              <a:lnSpc>
                <a:spcPts val="2640"/>
              </a:lnSpc>
              <a:buNone/>
            </a:pPr>
            <a:r>
              <a:rPr lang="en-IE" sz="2000" dirty="0">
                <a:solidFill>
                  <a:srgbClr val="6CC4E8"/>
                </a:solidFill>
                <a:latin typeface="Consolas" pitchFamily="34" charset="0"/>
                <a:ea typeface="Consolas" pitchFamily="34" charset="-122"/>
                <a:cs typeface="Consolas" pitchFamily="34" charset="-120"/>
              </a:rPr>
              <a:t>Person</a:t>
            </a:r>
            <a:r>
              <a:rPr lang="en-IE" sz="2000" dirty="0">
                <a:solidFill>
                  <a:srgbClr val="E6EBF2"/>
                </a:solidFill>
                <a:latin typeface="Consolas" pitchFamily="34" charset="0"/>
                <a:ea typeface="Consolas" pitchFamily="34" charset="-122"/>
                <a:cs typeface="Consolas" pitchFamily="34" charset="-120"/>
              </a:rPr>
              <a:t> tom = </a:t>
            </a:r>
            <a:r>
              <a:rPr lang="en-IE" sz="2000" dirty="0">
                <a:solidFill>
                  <a:srgbClr val="FF9F5A"/>
                </a:solidFill>
                <a:latin typeface="Consolas" pitchFamily="34" charset="0"/>
                <a:ea typeface="Consolas" pitchFamily="34" charset="-122"/>
                <a:cs typeface="Consolas" pitchFamily="34" charset="-120"/>
              </a:rPr>
              <a:t>new</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C9B0FF"/>
                </a:solidFill>
                <a:latin typeface="Consolas" pitchFamily="34" charset="0"/>
                <a:ea typeface="Consolas" pitchFamily="34" charset="-122"/>
                <a:cs typeface="Consolas" pitchFamily="34" charset="-120"/>
              </a:rPr>
              <a:t>Person</a:t>
            </a:r>
            <a:r>
              <a:rPr lang="en-IE" sz="2000" dirty="0">
                <a:solidFill>
                  <a:srgbClr val="E6EBF2"/>
                </a:solidFill>
                <a:latin typeface="Consolas" pitchFamily="34" charset="0"/>
                <a:ea typeface="Consolas" pitchFamily="34" charset="-122"/>
                <a:cs typeface="Consolas" pitchFamily="34" charset="-120"/>
              </a:rPr>
              <a:t>(</a:t>
            </a:r>
            <a:r>
              <a:rPr lang="en-IE" sz="2000" dirty="0">
                <a:solidFill>
                  <a:srgbClr val="F2C14E"/>
                </a:solidFill>
                <a:latin typeface="Consolas" pitchFamily="34" charset="0"/>
                <a:ea typeface="Consolas" pitchFamily="34" charset="-122"/>
                <a:cs typeface="Consolas" pitchFamily="34" charset="-120"/>
              </a:rPr>
              <a:t>23</a:t>
            </a:r>
            <a:r>
              <a:rPr lang="en-IE" sz="2000" dirty="0">
                <a:solidFill>
                  <a:srgbClr val="E6EBF2"/>
                </a:solidFill>
                <a:latin typeface="Consolas" pitchFamily="34" charset="0"/>
                <a:ea typeface="Consolas" pitchFamily="34" charset="-122"/>
                <a:cs typeface="Consolas" pitchFamily="34" charset="-120"/>
              </a:rPr>
              <a:t>);</a:t>
            </a:r>
            <a:endParaRPr lang="en-IE" sz="2000" dirty="0"/>
          </a:p>
        </p:txBody>
      </p:sp>
      <p:sp>
        <p:nvSpPr>
          <p:cNvPr id="7" name="Option A"/>
          <p:cNvSpPr/>
          <p:nvPr/>
        </p:nvSpPr>
        <p:spPr>
          <a:xfrm>
            <a:off x="548640" y="3078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275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124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A reference to the new Person object</a:t>
            </a:r>
            <a:endParaRPr lang="en-IE" sz="2000" dirty="0"/>
          </a:p>
        </p:txBody>
      </p:sp>
      <p:sp>
        <p:nvSpPr>
          <p:cNvPr id="10" name="Option B"/>
          <p:cNvSpPr/>
          <p:nvPr/>
        </p:nvSpPr>
        <p:spPr>
          <a:xfrm>
            <a:off x="6233008" y="3078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275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124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Only the number 23, nothing else</a:t>
            </a:r>
            <a:endParaRPr lang="en-IE" sz="2000" dirty="0"/>
          </a:p>
        </p:txBody>
      </p:sp>
      <p:sp>
        <p:nvSpPr>
          <p:cNvPr id="13" name="Option C"/>
          <p:cNvSpPr/>
          <p:nvPr/>
        </p:nvSpPr>
        <p:spPr>
          <a:xfrm>
            <a:off x="548640" y="42672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4637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31292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Person class and all its code</a:t>
            </a:r>
            <a:endParaRPr lang="en-IE" sz="2000" dirty="0"/>
          </a:p>
        </p:txBody>
      </p:sp>
      <p:sp>
        <p:nvSpPr>
          <p:cNvPr id="16" name="Option D"/>
          <p:cNvSpPr/>
          <p:nvPr/>
        </p:nvSpPr>
        <p:spPr>
          <a:xfrm>
            <a:off x="6233008" y="42672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44637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312920"/>
            <a:ext cx="4038448" cy="868680"/>
          </a:xfrm>
          <a:prstGeom prst="rect">
            <a:avLst/>
          </a:prstGeom>
          <a:noFill/>
          <a:ln/>
        </p:spPr>
        <p:txBody>
          <a:bodyPr wrap="square" lIns="0" tIns="0" rIns="0" bIns="0" rtlCol="0" anchor="ctr"/>
          <a:lstStyle/>
          <a:p>
            <a:pPr indent="0" marL="0">
              <a:buNone/>
            </a:pPr>
            <a:r>
              <a:rPr lang="en-IE" sz="2000" dirty="0">
                <a:solidFill>
                  <a:schemeClr val="tx1"/>
                </a:solidFill>
              </a:rPr>
              <a:t>A copy of every Person object so far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Dereferencing</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After this line runs, what does the variable </a:t>
            </a:r>
            <a:r>
              <a:rPr lang="en-IE" sz="2000" b="1" dirty="0">
                <a:solidFill>
                  <a:schemeClr val="tx2"/>
                </a:solidFill>
                <a:latin typeface="Consolas" pitchFamily="34" charset="0"/>
                <a:ea typeface="Consolas" pitchFamily="34" charset="-122"/>
                <a:cs typeface="Consolas" pitchFamily="34" charset="-120"/>
              </a:rPr>
              <a:t>tom</a:t>
            </a:r>
            <a:r>
              <a:rPr lang="en-IE" sz="2000" b="1" dirty="0">
                <a:solidFill>
                  <a:schemeClr val="tx2"/>
                </a:solidFill>
              </a:rPr>
              <a:t> hold?</a:t>
            </a:r>
            <a:endParaRPr lang="en-IE" sz="2000" dirty="0"/>
          </a:p>
        </p:txBody>
      </p:sp>
      <p:sp>
        <p:nvSpPr>
          <p:cNvPr id="5" name="Answer code card"/>
          <p:cNvSpPr/>
          <p:nvPr/>
        </p:nvSpPr>
        <p:spPr>
          <a:xfrm>
            <a:off x="548640" y="1874520"/>
            <a:ext cx="5623560" cy="692150"/>
          </a:xfrm>
          <a:prstGeom prst="roundRect">
            <a:avLst>
              <a:gd name="adj" fmla="val 1585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2898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 tom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23</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7" name="Option A (correct)"/>
          <p:cNvSpPr/>
          <p:nvPr/>
        </p:nvSpPr>
        <p:spPr>
          <a:xfrm>
            <a:off x="548640" y="2795270"/>
            <a:ext cx="5623560" cy="711645"/>
          </a:xfrm>
          <a:prstGeom prst="roundRect">
            <a:avLst>
              <a:gd name="adj" fmla="val 15419"/>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294078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9" name="Option A text"/>
          <p:cNvSpPr txBox="1"/>
          <p:nvPr/>
        </p:nvSpPr>
        <p:spPr>
          <a:xfrm>
            <a:off x="1371600" y="2795270"/>
            <a:ext cx="4142232" cy="711645"/>
          </a:xfrm>
          <a:prstGeom prst="rect">
            <a:avLst/>
          </a:prstGeom>
          <a:noFill/>
          <a:ln/>
        </p:spPr>
        <p:txBody>
          <a:bodyPr wrap="square" lIns="0" tIns="0" rIns="0" bIns="0" rtlCol="0" anchor="ctr"/>
          <a:lstStyle/>
          <a:p>
            <a:pPr indent="0" marL="0">
              <a:buNone/>
            </a:pPr>
            <a:r>
              <a:rPr lang="en-IE" sz="1700" b="1" dirty="0">
                <a:solidFill>
                  <a:schemeClr val="bg1"/>
                </a:solidFill>
              </a:rPr>
              <a:t>A reference to the new Person object</a:t>
            </a:r>
            <a:endParaRPr lang="en-IE" sz="1700" dirty="0"/>
          </a:p>
        </p:txBody>
      </p:sp>
      <p:pic>
        <p:nvPicPr>
          <p:cNvPr id="10" name="Correct mark" descr="Correct mark">    </p:cNvPr>
          <p:cNvPicPr>
            <a:picLocks noChangeAspect="1"/>
          </p:cNvPicPr>
          <p:nvPr/>
        </p:nvPicPr>
        <p:blipFill>
          <a:blip r:embed="rId1"/>
          <a:stretch>
            <a:fillRect/>
          </a:stretch>
        </p:blipFill>
        <p:spPr>
          <a:xfrm>
            <a:off x="5623560" y="2968212"/>
            <a:ext cx="365760" cy="365760"/>
          </a:xfrm>
          <a:prstGeom prst="rect">
            <a:avLst/>
          </a:prstGeom>
        </p:spPr>
      </p:pic>
      <p:sp>
        <p:nvSpPr>
          <p:cNvPr id="11" name="Option B"/>
          <p:cNvSpPr/>
          <p:nvPr/>
        </p:nvSpPr>
        <p:spPr>
          <a:xfrm>
            <a:off x="548640" y="3653219"/>
            <a:ext cx="5623560" cy="711645"/>
          </a:xfrm>
          <a:prstGeom prst="roundRect">
            <a:avLst>
              <a:gd name="adj" fmla="val 15419"/>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3798729"/>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3" name="Option B text"/>
          <p:cNvSpPr txBox="1"/>
          <p:nvPr/>
        </p:nvSpPr>
        <p:spPr>
          <a:xfrm>
            <a:off x="1371600" y="3653219"/>
            <a:ext cx="4572000" cy="711645"/>
          </a:xfrm>
          <a:prstGeom prst="rect">
            <a:avLst/>
          </a:prstGeom>
          <a:noFill/>
          <a:ln/>
        </p:spPr>
        <p:txBody>
          <a:bodyPr wrap="square" lIns="0" tIns="0" rIns="0" bIns="0" rtlCol="0" anchor="ctr"/>
          <a:lstStyle/>
          <a:p>
            <a:pPr indent="0" marL="0">
              <a:buNone/>
            </a:pPr>
            <a:r>
              <a:rPr lang="en-IE" sz="1700" dirty="0">
                <a:solidFill>
                  <a:schemeClr val="tx2"/>
                </a:solidFill>
              </a:rPr>
              <a:t>Only the number 23, nothing else</a:t>
            </a:r>
            <a:endParaRPr lang="en-IE" sz="1700" dirty="0"/>
          </a:p>
        </p:txBody>
      </p:sp>
      <p:sp>
        <p:nvSpPr>
          <p:cNvPr id="14" name="Option C"/>
          <p:cNvSpPr/>
          <p:nvPr/>
        </p:nvSpPr>
        <p:spPr>
          <a:xfrm>
            <a:off x="548640" y="4511167"/>
            <a:ext cx="5623560" cy="711645"/>
          </a:xfrm>
          <a:prstGeom prst="roundRect">
            <a:avLst>
              <a:gd name="adj" fmla="val 15419"/>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656677"/>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511167"/>
            <a:ext cx="4572000" cy="711645"/>
          </a:xfrm>
          <a:prstGeom prst="rect">
            <a:avLst/>
          </a:prstGeom>
          <a:noFill/>
          <a:ln/>
        </p:spPr>
        <p:txBody>
          <a:bodyPr wrap="square" lIns="0" tIns="0" rIns="0" bIns="0" rtlCol="0" anchor="ctr"/>
          <a:lstStyle/>
          <a:p>
            <a:pPr indent="0" marL="0">
              <a:buNone/>
            </a:pPr>
            <a:r>
              <a:rPr lang="en-IE" sz="1700" dirty="0">
                <a:solidFill>
                  <a:schemeClr val="tx2"/>
                </a:solidFill>
              </a:rPr>
              <a:t>The Person class and all its code</a:t>
            </a:r>
            <a:endParaRPr lang="en-IE" sz="1700" dirty="0"/>
          </a:p>
        </p:txBody>
      </p:sp>
      <p:sp>
        <p:nvSpPr>
          <p:cNvPr id="17" name="Option D"/>
          <p:cNvSpPr/>
          <p:nvPr/>
        </p:nvSpPr>
        <p:spPr>
          <a:xfrm>
            <a:off x="548640" y="5369116"/>
            <a:ext cx="5623560" cy="711645"/>
          </a:xfrm>
          <a:prstGeom prst="roundRect">
            <a:avLst>
              <a:gd name="adj" fmla="val 15419"/>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1462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369116"/>
            <a:ext cx="4572000" cy="711645"/>
          </a:xfrm>
          <a:prstGeom prst="rect">
            <a:avLst/>
          </a:prstGeom>
          <a:noFill/>
          <a:ln/>
        </p:spPr>
        <p:txBody>
          <a:bodyPr wrap="square" lIns="0" tIns="0" rIns="0" bIns="0" rtlCol="0" anchor="ctr"/>
          <a:lstStyle/>
          <a:p>
            <a:pPr indent="0" marL="0">
              <a:buNone/>
            </a:pPr>
            <a:r>
              <a:rPr lang="en-IE" sz="1700" dirty="0">
                <a:solidFill>
                  <a:schemeClr val="tx2"/>
                </a:solidFill>
              </a:rPr>
              <a:t>A copy of every Person object so far</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new</a:t>
            </a:r>
            <a:r>
              <a:rPr lang="en-IE" sz="1800" dirty="0">
                <a:solidFill>
                  <a:schemeClr val="tx1"/>
                </a:solidFill>
              </a:rPr>
              <a:t> creates the object in memory and </a:t>
            </a:r>
            <a:r>
              <a:rPr lang="en-IE" sz="1800" dirty="0">
                <a:solidFill>
                  <a:schemeClr val="accent2"/>
                </a:solidFill>
                <a:latin typeface="Consolas" pitchFamily="34" charset="0"/>
                <a:ea typeface="Consolas" pitchFamily="34" charset="-122"/>
                <a:cs typeface="Consolas" pitchFamily="34" charset="-120"/>
              </a:rPr>
              <a:t>tom</a:t>
            </a:r>
            <a:r>
              <a:rPr lang="en-IE" sz="1800" dirty="0">
                <a:solidFill>
                  <a:schemeClr val="tx1"/>
                </a:solidFill>
              </a:rPr>
              <a:t> stores a reference to it. To reach the 23 inside, we dereference with a dot: </a:t>
            </a:r>
            <a:r>
              <a:rPr lang="en-IE" sz="1800" dirty="0">
                <a:solidFill>
                  <a:schemeClr val="accent2"/>
                </a:solidFill>
                <a:latin typeface="Consolas" pitchFamily="34" charset="0"/>
                <a:ea typeface="Consolas" pitchFamily="34" charset="-122"/>
                <a:cs typeface="Consolas" pitchFamily="34" charset="-120"/>
              </a:rPr>
              <a:t>tom.age</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60</a:t>
            </a:fld>
            <a:endParaRPr lang="en-I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Methods: what an object can do</a:t>
            </a:r>
            <a:endParaRPr lang="en-IE" sz="3400" dirty="0"/>
          </a:p>
        </p:txBody>
      </p:sp>
      <p:sp>
        <p:nvSpPr>
          <p:cNvPr id="5" name="Text 2"/>
          <p:cNvSpPr txBox="1"/>
          <p:nvPr/>
        </p:nvSpPr>
        <p:spPr>
          <a:xfrm>
            <a:off x="548640" y="1783080"/>
            <a:ext cx="5212080" cy="2377440"/>
          </a:xfrm>
          <a:prstGeom prst="rect">
            <a:avLst/>
          </a:prstGeom>
          <a:noFill/>
          <a:ln/>
        </p:spPr>
        <p:txBody>
          <a:bodyPr wrap="square" lIns="0" tIns="0" rIns="0" bIns="0" rtlCol="0" anchor="t"/>
          <a:lstStyle/>
          <a:p>
            <a:pPr marL="228600" indent="-228600">
              <a:spcAft>
                <a:spcPts val="1600"/>
              </a:spcAft>
              <a:buSzPct val="100000"/>
              <a:buChar char="•"/>
            </a:pPr>
            <a:r>
              <a:rPr lang="en-IE" sz="1800" dirty="0">
                <a:solidFill>
                  <a:schemeClr val="tx1"/>
                </a:solidFill>
              </a:rPr>
              <a:t>Methods are the </a:t>
            </a:r>
            <a:r>
              <a:rPr lang="en-IE" sz="1800" b="1" dirty="0">
                <a:solidFill>
                  <a:schemeClr val="tx1"/>
                </a:solidFill>
              </a:rPr>
              <a:t>behaviours</a:t>
            </a:r>
            <a:r>
              <a:rPr lang="en-IE" sz="1800" dirty="0">
                <a:solidFill>
                  <a:schemeClr val="tx1"/>
                </a:solidFill>
              </a:rPr>
              <a:t> of a class.</a:t>
            </a:r>
            <a:endParaRPr lang="en-IE" sz="1800" dirty="0"/>
          </a:p>
          <a:p>
            <a:pPr marL="228600" indent="-228600">
              <a:spcAft>
                <a:spcPts val="1600"/>
              </a:spcAft>
              <a:buSzPct val="100000"/>
              <a:buChar char="•"/>
            </a:pPr>
            <a:r>
              <a:rPr lang="en-IE" sz="1800" dirty="0">
                <a:solidFill>
                  <a:schemeClr val="tx1"/>
                </a:solidFill>
              </a:rPr>
              <a:t>We call a method on an object with a dot: </a:t>
            </a:r>
            <a:r>
              <a:rPr lang="en-IE" sz="1800" dirty="0">
                <a:solidFill>
                  <a:schemeClr val="accent2"/>
                </a:solidFill>
                <a:latin typeface="Consolas" pitchFamily="34" charset="0"/>
                <a:ea typeface="Consolas" pitchFamily="34" charset="-122"/>
                <a:cs typeface="Consolas" pitchFamily="34" charset="-120"/>
              </a:rPr>
              <a:t>tom.sayHello();</a:t>
            </a:r>
            <a:endParaRPr lang="en-IE" sz="1800" dirty="0"/>
          </a:p>
          <a:p>
            <a:pPr marL="228600" indent="-228600">
              <a:buSzPct val="100000"/>
              <a:buChar char="•"/>
            </a:pPr>
            <a:r>
              <a:rPr lang="en-IE" sz="1800" dirty="0">
                <a:solidFill>
                  <a:schemeClr val="tx1"/>
                </a:solidFill>
              </a:rPr>
              <a:t>Values we pass in are called </a:t>
            </a:r>
            <a:r>
              <a:rPr lang="en-IE" sz="1800" b="1" dirty="0">
                <a:solidFill>
                  <a:schemeClr val="tx1"/>
                </a:solidFill>
              </a:rPr>
              <a:t>arguments</a:t>
            </a:r>
            <a:r>
              <a:rPr lang="en-IE" sz="1800" dirty="0">
                <a:solidFill>
                  <a:schemeClr val="tx1"/>
                </a:solidFill>
              </a:rPr>
              <a:t>. In </a:t>
            </a:r>
            <a:r>
              <a:rPr lang="en-IE" sz="1800" dirty="0">
                <a:solidFill>
                  <a:schemeClr val="accent2"/>
                </a:solidFill>
                <a:latin typeface="Consolas" pitchFamily="34" charset="0"/>
                <a:ea typeface="Consolas" pitchFamily="34" charset="-122"/>
                <a:cs typeface="Consolas" pitchFamily="34" charset="-120"/>
              </a:rPr>
              <a:t>new Person(23)</a:t>
            </a:r>
            <a:r>
              <a:rPr lang="en-IE" sz="1800" dirty="0">
                <a:solidFill>
                  <a:schemeClr val="tx1"/>
                </a:solidFill>
              </a:rPr>
              <a:t>, the 23 is an argument.</a:t>
            </a:r>
            <a:endParaRPr lang="en-IE" sz="1800" dirty="0"/>
          </a:p>
        </p:txBody>
      </p:sp>
      <p:sp>
        <p:nvSpPr>
          <p:cNvPr id="6" name="Text 3"/>
          <p:cNvSpPr txBox="1"/>
          <p:nvPr/>
        </p:nvSpPr>
        <p:spPr>
          <a:xfrm>
            <a:off x="548640" y="4160520"/>
            <a:ext cx="4572000" cy="274320"/>
          </a:xfrm>
          <a:prstGeom prst="rect">
            <a:avLst/>
          </a:prstGeom>
          <a:noFill/>
          <a:ln/>
        </p:spPr>
        <p:txBody>
          <a:bodyPr wrap="square" lIns="0" tIns="0" rIns="0" bIns="0" rtlCol="0" anchor="t"/>
          <a:lstStyle/>
          <a:p>
            <a:pPr indent="0" marL="0">
              <a:buNone/>
            </a:pPr>
            <a:r>
              <a:rPr lang="en-IE" sz="1200" b="1" spc="150" kern="0" dirty="0">
                <a:solidFill>
                  <a:schemeClr val="tx2"/>
                </a:solidFill>
              </a:rPr>
              <a:t>READING A METHOD CALL</a:t>
            </a:r>
            <a:endParaRPr lang="en-IE" sz="1200" dirty="0"/>
          </a:p>
        </p:txBody>
      </p:sp>
      <p:sp>
        <p:nvSpPr>
          <p:cNvPr id="7" name="Call part the variable"/>
          <p:cNvSpPr/>
          <p:nvPr/>
        </p:nvSpPr>
        <p:spPr>
          <a:xfrm>
            <a:off x="548640" y="4553712"/>
            <a:ext cx="886968" cy="640080"/>
          </a:xfrm>
          <a:prstGeom prst="roundRect">
            <a:avLst>
              <a:gd name="adj" fmla="val 14286"/>
            </a:avLst>
          </a:prstGeom>
          <a:solidFill>
            <a:schemeClr val="accent4">
              <a:alpha val="14000"/>
            </a:schemeClr>
          </a:solidFill>
          <a:ln w="15875">
            <a:solidFill>
              <a:schemeClr val="accent4"/>
            </a:solidFill>
          </a:ln>
        </p:spPr>
        <p:txBody>
          <a:bodyPr wrap="square" lIns="0" tIns="0" rIns="0" bIns="0" rtlCol="0" anchor="ctr"/>
          <a:lstStyle/>
          <a:p>
            <a:pPr algn="ctr" indent="0" marL="0">
              <a:buNone/>
            </a:pPr>
            <a:r>
              <a:rPr lang="en-IE" sz="2400" b="1" dirty="0">
                <a:solidFill>
                  <a:schemeClr val="tx1"/>
                </a:solidFill>
                <a:latin typeface="Consolas" pitchFamily="34" charset="0"/>
                <a:ea typeface="Consolas" pitchFamily="34" charset="-122"/>
                <a:cs typeface="Consolas" pitchFamily="34" charset="-120"/>
              </a:rPr>
              <a:t>tom</a:t>
            </a:r>
            <a:endParaRPr lang="en-IE" sz="2400" dirty="0"/>
          </a:p>
        </p:txBody>
      </p:sp>
      <p:sp>
        <p:nvSpPr>
          <p:cNvPr id="8" name="Text 5"/>
          <p:cNvSpPr txBox="1"/>
          <p:nvPr/>
        </p:nvSpPr>
        <p:spPr>
          <a:xfrm>
            <a:off x="214884" y="5266944"/>
            <a:ext cx="1554480" cy="292608"/>
          </a:xfrm>
          <a:prstGeom prst="rect">
            <a:avLst/>
          </a:prstGeom>
          <a:noFill/>
          <a:ln/>
        </p:spPr>
        <p:txBody>
          <a:bodyPr wrap="square" lIns="0" tIns="0" rIns="0" bIns="0" rtlCol="0" anchor="t"/>
          <a:lstStyle/>
          <a:p>
            <a:pPr algn="ctr" indent="0" marL="0">
              <a:buNone/>
            </a:pPr>
            <a:r>
              <a:rPr lang="en-IE" sz="1300" dirty="0">
                <a:solidFill>
                  <a:schemeClr val="tx2"/>
                </a:solidFill>
              </a:rPr>
              <a:t>the variable</a:t>
            </a:r>
            <a:endParaRPr lang="en-IE" sz="1300" dirty="0"/>
          </a:p>
        </p:txBody>
      </p:sp>
      <p:sp>
        <p:nvSpPr>
          <p:cNvPr id="9" name="Call part dot"/>
          <p:cNvSpPr/>
          <p:nvPr/>
        </p:nvSpPr>
        <p:spPr>
          <a:xfrm>
            <a:off x="1563624" y="4553712"/>
            <a:ext cx="515112" cy="640080"/>
          </a:xfrm>
          <a:prstGeom prst="roundRect">
            <a:avLst>
              <a:gd name="adj" fmla="val 17751"/>
            </a:avLst>
          </a:prstGeom>
          <a:solidFill>
            <a:schemeClr val="accent1">
              <a:alpha val="14000"/>
            </a:schemeClr>
          </a:solidFill>
          <a:ln w="15875">
            <a:solidFill>
              <a:schemeClr val="accent1"/>
            </a:solidFill>
          </a:ln>
        </p:spPr>
        <p:txBody>
          <a:bodyPr wrap="square" lIns="0" tIns="0" rIns="0" bIns="0" rtlCol="0" anchor="ctr"/>
          <a:lstStyle/>
          <a:p>
            <a:pPr algn="ctr" indent="0" marL="0">
              <a:buNone/>
            </a:pPr>
            <a:r>
              <a:rPr lang="en-IE" sz="2400" b="1" dirty="0">
                <a:solidFill>
                  <a:schemeClr val="tx1"/>
                </a:solidFill>
                <a:latin typeface="Consolas" pitchFamily="34" charset="0"/>
                <a:ea typeface="Consolas" pitchFamily="34" charset="-122"/>
                <a:cs typeface="Consolas" pitchFamily="34" charset="-120"/>
              </a:rPr>
              <a:t>.</a:t>
            </a:r>
            <a:endParaRPr lang="en-IE" sz="2400" dirty="0"/>
          </a:p>
        </p:txBody>
      </p:sp>
      <p:sp>
        <p:nvSpPr>
          <p:cNvPr id="10" name="Text 7"/>
          <p:cNvSpPr txBox="1"/>
          <p:nvPr/>
        </p:nvSpPr>
        <p:spPr>
          <a:xfrm>
            <a:off x="1043940" y="5266944"/>
            <a:ext cx="1554480" cy="292608"/>
          </a:xfrm>
          <a:prstGeom prst="rect">
            <a:avLst/>
          </a:prstGeom>
          <a:noFill/>
          <a:ln/>
        </p:spPr>
        <p:txBody>
          <a:bodyPr wrap="square" lIns="0" tIns="0" rIns="0" bIns="0" rtlCol="0" anchor="t"/>
          <a:lstStyle/>
          <a:p>
            <a:pPr algn="ctr" indent="0" marL="0">
              <a:buNone/>
            </a:pPr>
            <a:r>
              <a:rPr lang="en-IE" sz="1300" dirty="0">
                <a:solidFill>
                  <a:schemeClr val="tx2"/>
                </a:solidFill>
              </a:rPr>
              <a:t>dot</a:t>
            </a:r>
            <a:endParaRPr lang="en-IE" sz="1300" dirty="0"/>
          </a:p>
        </p:txBody>
      </p:sp>
      <p:sp>
        <p:nvSpPr>
          <p:cNvPr id="11" name="Call part the method"/>
          <p:cNvSpPr/>
          <p:nvPr/>
        </p:nvSpPr>
        <p:spPr>
          <a:xfrm>
            <a:off x="2206752" y="4553712"/>
            <a:ext cx="2188464" cy="640080"/>
          </a:xfrm>
          <a:prstGeom prst="roundRect">
            <a:avLst>
              <a:gd name="adj" fmla="val 14286"/>
            </a:avLst>
          </a:prstGeom>
          <a:solidFill>
            <a:schemeClr val="accent5">
              <a:alpha val="14000"/>
            </a:schemeClr>
          </a:solidFill>
          <a:ln w="15875">
            <a:solidFill>
              <a:schemeClr val="accent5"/>
            </a:solidFill>
          </a:ln>
        </p:spPr>
        <p:txBody>
          <a:bodyPr wrap="square" lIns="0" tIns="0" rIns="0" bIns="0" rtlCol="0" anchor="ctr"/>
          <a:lstStyle/>
          <a:p>
            <a:pPr algn="ctr" indent="0" marL="0">
              <a:buNone/>
            </a:pPr>
            <a:r>
              <a:rPr lang="en-IE" sz="2400" b="1" dirty="0">
                <a:solidFill>
                  <a:schemeClr val="tx1"/>
                </a:solidFill>
                <a:latin typeface="Consolas" pitchFamily="34" charset="0"/>
                <a:ea typeface="Consolas" pitchFamily="34" charset="-122"/>
                <a:cs typeface="Consolas" pitchFamily="34" charset="-120"/>
              </a:rPr>
              <a:t>sayHello()</a:t>
            </a:r>
            <a:endParaRPr lang="en-IE" sz="2400" dirty="0"/>
          </a:p>
        </p:txBody>
      </p:sp>
      <p:sp>
        <p:nvSpPr>
          <p:cNvPr id="12" name="Text 9"/>
          <p:cNvSpPr txBox="1"/>
          <p:nvPr/>
        </p:nvSpPr>
        <p:spPr>
          <a:xfrm>
            <a:off x="1932432" y="5266944"/>
            <a:ext cx="2737104" cy="292608"/>
          </a:xfrm>
          <a:prstGeom prst="rect">
            <a:avLst/>
          </a:prstGeom>
          <a:noFill/>
          <a:ln/>
        </p:spPr>
        <p:txBody>
          <a:bodyPr wrap="square" lIns="0" tIns="0" rIns="0" bIns="0" rtlCol="0" anchor="t"/>
          <a:lstStyle/>
          <a:p>
            <a:pPr algn="ctr" indent="0" marL="0">
              <a:buNone/>
            </a:pPr>
            <a:r>
              <a:rPr lang="en-IE" sz="1300" dirty="0">
                <a:solidFill>
                  <a:schemeClr val="tx2"/>
                </a:solidFill>
              </a:rPr>
              <a:t>the method</a:t>
            </a:r>
            <a:endParaRPr lang="en-IE" sz="1300" dirty="0"/>
          </a:p>
        </p:txBody>
      </p:sp>
      <p:sp>
        <p:nvSpPr>
          <p:cNvPr id="13" name="Call part end of statement"/>
          <p:cNvSpPr/>
          <p:nvPr/>
        </p:nvSpPr>
        <p:spPr>
          <a:xfrm>
            <a:off x="4523232" y="4553712"/>
            <a:ext cx="515112" cy="640080"/>
          </a:xfrm>
          <a:prstGeom prst="roundRect">
            <a:avLst>
              <a:gd name="adj" fmla="val 17751"/>
            </a:avLst>
          </a:prstGeom>
          <a:solidFill>
            <a:schemeClr val="tx2">
              <a:alpha val="14000"/>
            </a:schemeClr>
          </a:solidFill>
          <a:ln w="15875">
            <a:solidFill>
              <a:schemeClr val="tx2"/>
            </a:solidFill>
          </a:ln>
        </p:spPr>
        <p:txBody>
          <a:bodyPr wrap="square" lIns="0" tIns="0" rIns="0" bIns="0" rtlCol="0" anchor="ctr"/>
          <a:lstStyle/>
          <a:p>
            <a:pPr algn="ctr" indent="0" marL="0">
              <a:buNone/>
            </a:pPr>
            <a:r>
              <a:rPr lang="en-IE" sz="2400" b="1" dirty="0">
                <a:solidFill>
                  <a:schemeClr val="tx1"/>
                </a:solidFill>
                <a:latin typeface="Consolas" pitchFamily="34" charset="0"/>
                <a:ea typeface="Consolas" pitchFamily="34" charset="-122"/>
                <a:cs typeface="Consolas" pitchFamily="34" charset="-120"/>
              </a:rPr>
              <a:t>;</a:t>
            </a:r>
            <a:endParaRPr lang="en-IE" sz="2400" dirty="0"/>
          </a:p>
        </p:txBody>
      </p:sp>
      <p:sp>
        <p:nvSpPr>
          <p:cNvPr id="14" name="Text 11"/>
          <p:cNvSpPr txBox="1"/>
          <p:nvPr/>
        </p:nvSpPr>
        <p:spPr>
          <a:xfrm>
            <a:off x="4003548" y="5266944"/>
            <a:ext cx="1554480" cy="292608"/>
          </a:xfrm>
          <a:prstGeom prst="rect">
            <a:avLst/>
          </a:prstGeom>
          <a:noFill/>
          <a:ln/>
        </p:spPr>
        <p:txBody>
          <a:bodyPr wrap="square" lIns="0" tIns="0" rIns="0" bIns="0" rtlCol="0" anchor="t"/>
          <a:lstStyle/>
          <a:p>
            <a:pPr algn="ctr" indent="0" marL="0">
              <a:buNone/>
            </a:pPr>
            <a:r>
              <a:rPr lang="en-IE" sz="1300" dirty="0">
                <a:solidFill>
                  <a:schemeClr val="tx2"/>
                </a:solidFill>
              </a:rPr>
              <a:t>end of statement</a:t>
            </a:r>
            <a:endParaRPr lang="en-IE" sz="1300" dirty="0"/>
          </a:p>
        </p:txBody>
      </p:sp>
      <p:sp>
        <p:nvSpPr>
          <p:cNvPr id="15" name="Method card"/>
          <p:cNvSpPr/>
          <p:nvPr/>
        </p:nvSpPr>
        <p:spPr>
          <a:xfrm>
            <a:off x="6263640" y="1783080"/>
            <a:ext cx="5379415" cy="2761488"/>
          </a:xfrm>
          <a:prstGeom prst="roundRect">
            <a:avLst>
              <a:gd name="adj" fmla="val 3974"/>
            </a:avLst>
          </a:prstGeom>
          <a:solidFill>
            <a:schemeClr val="tx1"/>
          </a:solidFill>
          <a:ln/>
          <a:effectLst>
            <a:outerShdw sx="100000" sy="100000" kx="0" ky="0" algn="bl" rotWithShape="0" blurRad="114300" dist="31750" dir="5400000">
              <a:srgbClr val="1D2433">
                <a:alpha val="12000"/>
              </a:srgbClr>
            </a:outerShdw>
          </a:effectLst>
        </p:spPr>
      </p:sp>
      <p:sp>
        <p:nvSpPr>
          <p:cNvPr id="16" name="Method language"/>
          <p:cNvSpPr txBox="1"/>
          <p:nvPr/>
        </p:nvSpPr>
        <p:spPr>
          <a:xfrm>
            <a:off x="6537960" y="1901952"/>
            <a:ext cx="4830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7" name="Method text"/>
          <p:cNvSpPr txBox="1"/>
          <p:nvPr/>
        </p:nvSpPr>
        <p:spPr>
          <a:xfrm>
            <a:off x="6537960" y="2276856"/>
            <a:ext cx="4830775" cy="206654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Person</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attributes and constructor go here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method</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sayHello</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"Hello"</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8" name="Calling it card"/>
          <p:cNvSpPr/>
          <p:nvPr/>
        </p:nvSpPr>
        <p:spPr>
          <a:xfrm>
            <a:off x="6263640" y="4818888"/>
            <a:ext cx="5379415" cy="1252728"/>
          </a:xfrm>
          <a:prstGeom prst="roundRect">
            <a:avLst>
              <a:gd name="adj" fmla="val 8759"/>
            </a:avLst>
          </a:prstGeom>
          <a:solidFill>
            <a:schemeClr val="tx1"/>
          </a:solidFill>
          <a:ln/>
          <a:effectLst>
            <a:outerShdw sx="100000" sy="100000" kx="0" ky="0" algn="bl" rotWithShape="0" blurRad="114300" dist="31750" dir="5400000">
              <a:srgbClr val="1D2433">
                <a:alpha val="12000"/>
              </a:srgbClr>
            </a:outerShdw>
          </a:effectLst>
        </p:spPr>
      </p:sp>
      <p:sp>
        <p:nvSpPr>
          <p:cNvPr id="19" name="Calling it language"/>
          <p:cNvSpPr txBox="1"/>
          <p:nvPr/>
        </p:nvSpPr>
        <p:spPr>
          <a:xfrm>
            <a:off x="6537960" y="4937760"/>
            <a:ext cx="4830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20" name="Calling it text"/>
          <p:cNvSpPr txBox="1"/>
          <p:nvPr/>
        </p:nvSpPr>
        <p:spPr>
          <a:xfrm>
            <a:off x="6537960" y="5312664"/>
            <a:ext cx="4830775" cy="55778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Person</a:t>
            </a:r>
            <a:r>
              <a:rPr lang="en-IE" sz="1500" dirty="0">
                <a:solidFill>
                  <a:srgbClr val="E6EBF2"/>
                </a:solidFill>
                <a:latin typeface="Consolas" pitchFamily="34" charset="0"/>
                <a:ea typeface="Consolas" pitchFamily="34" charset="-122"/>
                <a:cs typeface="Consolas" pitchFamily="34" charset="-120"/>
              </a:rPr>
              <a:t> tom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Person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2C14E"/>
                </a:solidFill>
                <a:latin typeface="Consolas" pitchFamily="34" charset="0"/>
                <a:ea typeface="Consolas" pitchFamily="34" charset="-122"/>
                <a:cs typeface="Consolas" pitchFamily="34" charset="-120"/>
              </a:rPr>
              <a:t>23</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tom.</a:t>
            </a:r>
            <a:r>
              <a:rPr lang="en-IE" sz="1500" dirty="0">
                <a:solidFill>
                  <a:srgbClr val="C9B0FF"/>
                </a:solidFill>
                <a:latin typeface="Consolas" pitchFamily="34" charset="0"/>
                <a:ea typeface="Consolas" pitchFamily="34" charset="-122"/>
                <a:cs typeface="Consolas" pitchFamily="34" charset="-120"/>
              </a:rPr>
              <a:t>sayHello</a:t>
            </a: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prints Hello</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Values that we pass into a method when we call it are called…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Attributes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Instances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References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Arguments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Values that we pass into a method when we call it are called…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Attributes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Instances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References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Arguments</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Values passed in are </a:t>
            </a:r>
            <a:r>
              <a:rPr lang="en-IE" sz="1800" b="1" dirty="0">
                <a:solidFill>
                  <a:schemeClr val="tx1"/>
                </a:solidFill>
              </a:rPr>
              <a:t>arguments</a:t>
            </a:r>
            <a:r>
              <a:rPr lang="en-IE" sz="1800" dirty="0">
                <a:solidFill>
                  <a:schemeClr val="tx1"/>
                </a:solidFill>
              </a:rPr>
              <a:t>. In </a:t>
            </a:r>
            <a:r>
              <a:rPr lang="en-IE" sz="1800" dirty="0">
                <a:solidFill>
                  <a:schemeClr val="accent2"/>
                </a:solidFill>
                <a:latin typeface="Consolas" pitchFamily="34" charset="0"/>
                <a:ea typeface="Consolas" pitchFamily="34" charset="-122"/>
                <a:cs typeface="Consolas" pitchFamily="34" charset="-120"/>
              </a:rPr>
              <a:t>new Person(23)</a:t>
            </a:r>
            <a:r>
              <a:rPr lang="en-IE" sz="1800" dirty="0">
                <a:solidFill>
                  <a:schemeClr val="tx1"/>
                </a:solidFill>
              </a:rPr>
              <a:t>, the 23 is an argument. Attributes are the data stored inside an object.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BUILDING BLOCKS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Method or function?</a:t>
            </a:r>
            <a:endParaRPr lang="en-IE" sz="3400" dirty="0"/>
          </a:p>
        </p:txBody>
      </p:sp>
      <p:sp>
        <p:nvSpPr>
          <p:cNvPr id="5" name="Function"/>
          <p:cNvSpPr/>
          <p:nvPr/>
        </p:nvSpPr>
        <p:spPr>
          <a:xfrm>
            <a:off x="548640" y="1783080"/>
            <a:ext cx="5120640" cy="1051560"/>
          </a:xfrm>
          <a:prstGeom prst="roundRect">
            <a:avLst>
              <a:gd name="adj" fmla="val 10435"/>
            </a:avLst>
          </a:prstGeom>
          <a:solidFill>
            <a:schemeClr val="bg2"/>
          </a:solidFill>
          <a:ln/>
        </p:spPr>
      </p:sp>
      <p:sp>
        <p:nvSpPr>
          <p:cNvPr id="6" name="Text 3"/>
          <p:cNvSpPr txBox="1"/>
          <p:nvPr/>
        </p:nvSpPr>
        <p:spPr>
          <a:xfrm>
            <a:off x="822960" y="1783080"/>
            <a:ext cx="4663440" cy="1051560"/>
          </a:xfrm>
          <a:prstGeom prst="rect">
            <a:avLst/>
          </a:prstGeom>
          <a:noFill/>
          <a:ln/>
        </p:spPr>
        <p:txBody>
          <a:bodyPr wrap="square" lIns="0" tIns="0" rIns="0" bIns="0" rtlCol="0" anchor="ctr"/>
          <a:lstStyle/>
          <a:p>
            <a:pPr indent="0" marL="0">
              <a:buNone/>
            </a:pPr>
            <a:r>
              <a:rPr lang="en-IE" sz="1800" b="1" dirty="0">
                <a:solidFill>
                  <a:schemeClr val="tx1"/>
                </a:solidFill>
              </a:rPr>
              <a:t>Function   </a:t>
            </a:r>
            <a:r>
              <a:rPr lang="en-IE" sz="1800" dirty="0">
                <a:solidFill>
                  <a:schemeClr val="tx1"/>
                </a:solidFill>
              </a:rPr>
              <a:t>Any separate piece of code with its own name.</a:t>
            </a:r>
            <a:endParaRPr lang="en-IE" sz="1800" dirty="0"/>
          </a:p>
        </p:txBody>
      </p:sp>
      <p:sp>
        <p:nvSpPr>
          <p:cNvPr id="7" name="Method"/>
          <p:cNvSpPr/>
          <p:nvPr/>
        </p:nvSpPr>
        <p:spPr>
          <a:xfrm>
            <a:off x="548640" y="3017520"/>
            <a:ext cx="5120640" cy="1051560"/>
          </a:xfrm>
          <a:prstGeom prst="roundRect">
            <a:avLst>
              <a:gd name="adj" fmla="val 10435"/>
            </a:avLst>
          </a:prstGeom>
          <a:solidFill>
            <a:schemeClr val="bg1"/>
          </a:solidFill>
          <a:ln w="22225">
            <a:solidFill>
              <a:schemeClr val="accent2"/>
            </a:solidFill>
            <a:prstDash val="solid"/>
          </a:ln>
          <a:effectLst>
            <a:outerShdw sx="100000" sy="100000" kx="0" ky="0" algn="bl" rotWithShape="0" blurRad="114300" dist="31750" dir="5400000">
              <a:srgbClr val="1D2433">
                <a:alpha val="12000"/>
              </a:srgbClr>
            </a:outerShdw>
          </a:effectLst>
        </p:spPr>
      </p:sp>
      <p:sp>
        <p:nvSpPr>
          <p:cNvPr id="8" name="Text 5"/>
          <p:cNvSpPr txBox="1"/>
          <p:nvPr/>
        </p:nvSpPr>
        <p:spPr>
          <a:xfrm>
            <a:off x="822960" y="3017520"/>
            <a:ext cx="4663440" cy="1051560"/>
          </a:xfrm>
          <a:prstGeom prst="rect">
            <a:avLst/>
          </a:prstGeom>
          <a:noFill/>
          <a:ln/>
        </p:spPr>
        <p:txBody>
          <a:bodyPr wrap="square" lIns="0" tIns="0" rIns="0" bIns="0" rtlCol="0" anchor="ctr"/>
          <a:lstStyle/>
          <a:p>
            <a:pPr indent="0" marL="0">
              <a:buNone/>
            </a:pPr>
            <a:r>
              <a:rPr lang="en-IE" sz="1800" b="1" dirty="0">
                <a:solidFill>
                  <a:schemeClr val="accent2"/>
                </a:solidFill>
              </a:rPr>
              <a:t>Method   </a:t>
            </a:r>
            <a:r>
              <a:rPr lang="en-IE" sz="1800" dirty="0">
                <a:solidFill>
                  <a:schemeClr val="tx1"/>
                </a:solidFill>
              </a:rPr>
              <a:t>A function that belongs to a class.</a:t>
            </a:r>
            <a:endParaRPr lang="en-IE" sz="1800" dirty="0"/>
          </a:p>
        </p:txBody>
      </p:sp>
      <p:sp>
        <p:nvSpPr>
          <p:cNvPr id="9" name="Text 6"/>
          <p:cNvSpPr txBox="1"/>
          <p:nvPr/>
        </p:nvSpPr>
        <p:spPr>
          <a:xfrm>
            <a:off x="548640" y="4343400"/>
            <a:ext cx="5120640" cy="1645920"/>
          </a:xfrm>
          <a:prstGeom prst="rect">
            <a:avLst/>
          </a:prstGeom>
          <a:noFill/>
          <a:ln/>
        </p:spPr>
        <p:txBody>
          <a:bodyPr wrap="square" lIns="0" tIns="0" rIns="0" bIns="0" rtlCol="0" anchor="t"/>
          <a:lstStyle/>
          <a:p>
            <a:pPr indent="0" marL="0">
              <a:buNone/>
            </a:pPr>
            <a:r>
              <a:rPr lang="en-IE" sz="1800" dirty="0">
                <a:solidFill>
                  <a:schemeClr val="tx1"/>
                </a:solidFill>
              </a:rPr>
              <a:t>Methods make code </a:t>
            </a:r>
            <a:r>
              <a:rPr lang="en-IE" sz="1800" b="1" dirty="0">
                <a:solidFill>
                  <a:schemeClr val="tx1"/>
                </a:solidFill>
              </a:rPr>
              <a:t>reusable</a:t>
            </a:r>
            <a:r>
              <a:rPr lang="en-IE" sz="1800" dirty="0">
                <a:solidFill>
                  <a:schemeClr val="tx1"/>
                </a:solidFill>
              </a:rPr>
              <a:t>. If ten Person objects need to jump, we write </a:t>
            </a:r>
            <a:r>
              <a:rPr lang="en-IE" sz="1800" dirty="0">
                <a:solidFill>
                  <a:schemeClr val="accent2"/>
                </a:solidFill>
                <a:latin typeface="Consolas" pitchFamily="34" charset="0"/>
                <a:ea typeface="Consolas" pitchFamily="34" charset="-122"/>
                <a:cs typeface="Consolas" pitchFamily="34" charset="-120"/>
              </a:rPr>
              <a:t>jump()</a:t>
            </a:r>
            <a:r>
              <a:rPr lang="en-IE" sz="1800" dirty="0">
                <a:solidFill>
                  <a:schemeClr val="tx1"/>
                </a:solidFill>
              </a:rPr>
              <a:t> once, in the Person class, and every Person object can call it.</a:t>
            </a:r>
            <a:endParaRPr lang="en-IE" sz="1800" dirty="0"/>
          </a:p>
        </p:txBody>
      </p:sp>
      <p:sp>
        <p:nvSpPr>
          <p:cNvPr id="10" name="Person class"/>
          <p:cNvSpPr/>
          <p:nvPr/>
        </p:nvSpPr>
        <p:spPr>
          <a:xfrm>
            <a:off x="7543800" y="1783080"/>
            <a:ext cx="2651760" cy="1188720"/>
          </a:xfrm>
          <a:prstGeom prst="roundRect">
            <a:avLst>
              <a:gd name="adj" fmla="val 9231"/>
            </a:avLst>
          </a:prstGeom>
          <a:solidFill>
            <a:schemeClr val="accent2"/>
          </a:solidFill>
          <a:ln/>
          <a:effectLst>
            <a:outerShdw sx="100000" sy="100000" kx="0" ky="0" algn="bl" rotWithShape="0" blurRad="114300" dist="31750" dir="5400000">
              <a:srgbClr val="1D2433">
                <a:alpha val="12000"/>
              </a:srgbClr>
            </a:outerShdw>
          </a:effectLst>
        </p:spPr>
      </p:sp>
      <p:sp>
        <p:nvSpPr>
          <p:cNvPr id="11" name="Text 8"/>
          <p:cNvSpPr txBox="1"/>
          <p:nvPr/>
        </p:nvSpPr>
        <p:spPr>
          <a:xfrm>
            <a:off x="7818120" y="1874520"/>
            <a:ext cx="2103120" cy="411480"/>
          </a:xfrm>
          <a:prstGeom prst="rect">
            <a:avLst/>
          </a:prstGeom>
          <a:noFill/>
          <a:ln/>
        </p:spPr>
        <p:txBody>
          <a:bodyPr wrap="square" lIns="0" tIns="0" rIns="0" bIns="0" rtlCol="0" anchor="ctr"/>
          <a:lstStyle/>
          <a:p>
            <a:pPr indent="0" marL="0">
              <a:buNone/>
            </a:pPr>
            <a:r>
              <a:rPr lang="en-IE" sz="1900" b="1" dirty="0">
                <a:solidFill>
                  <a:schemeClr val="bg1"/>
                </a:solidFill>
                <a:latin typeface="Consolas" pitchFamily="34" charset="0"/>
                <a:ea typeface="Consolas" pitchFamily="34" charset="-122"/>
                <a:cs typeface="Consolas" pitchFamily="34" charset="-120"/>
              </a:rPr>
              <a:t>Person</a:t>
            </a:r>
            <a:endParaRPr lang="en-IE" sz="1900" dirty="0"/>
          </a:p>
        </p:txBody>
      </p:sp>
      <p:sp>
        <p:nvSpPr>
          <p:cNvPr id="12" name="Text 9"/>
          <p:cNvSpPr txBox="1"/>
          <p:nvPr/>
        </p:nvSpPr>
        <p:spPr>
          <a:xfrm>
            <a:off x="7818120" y="2331720"/>
            <a:ext cx="2103120" cy="411480"/>
          </a:xfrm>
          <a:prstGeom prst="rect">
            <a:avLst/>
          </a:prstGeom>
          <a:noFill/>
          <a:ln/>
        </p:spPr>
        <p:txBody>
          <a:bodyPr wrap="square" lIns="0" tIns="0" rIns="0" bIns="0" rtlCol="0" anchor="ctr"/>
          <a:lstStyle/>
          <a:p>
            <a:pPr indent="0" marL="0">
              <a:buNone/>
            </a:pPr>
            <a:r>
              <a:rPr lang="en-IE" sz="1700" dirty="0">
                <a:solidFill>
                  <a:schemeClr val="accent6"/>
                </a:solidFill>
                <a:latin typeface="Consolas" pitchFamily="34" charset="0"/>
                <a:ea typeface="Consolas" pitchFamily="34" charset="-122"/>
                <a:cs typeface="Consolas" pitchFamily="34" charset="-120"/>
              </a:rPr>
              <a:t>jump()</a:t>
            </a:r>
            <a:endParaRPr lang="en-IE" sz="1700" dirty="0"/>
          </a:p>
        </p:txBody>
      </p:sp>
      <p:sp>
        <p:nvSpPr>
          <p:cNvPr id="13" name="Connector"/>
          <p:cNvSpPr/>
          <p:nvPr/>
        </p:nvSpPr>
        <p:spPr>
          <a:xfrm>
            <a:off x="8869680" y="3035808"/>
            <a:ext cx="0" cy="484632"/>
          </a:xfrm>
          <a:prstGeom prst="line">
            <a:avLst/>
          </a:prstGeom>
          <a:noFill/>
          <a:ln w="22225">
            <a:solidFill>
              <a:schemeClr val="tx2"/>
            </a:solidFill>
            <a:prstDash val="solid"/>
            <a:tailEnd type="triangle"/>
          </a:ln>
        </p:spPr>
      </p:sp>
      <p:pic>
        <p:nvPicPr>
          <p:cNvPr id="14" name="Person object" descr="Person object">    </p:cNvPr>
          <p:cNvPicPr>
            <a:picLocks noChangeAspect="1"/>
          </p:cNvPicPr>
          <p:nvPr/>
        </p:nvPicPr>
        <p:blipFill>
          <a:blip r:embed="rId1"/>
          <a:stretch>
            <a:fillRect/>
          </a:stretch>
        </p:blipFill>
        <p:spPr>
          <a:xfrm>
            <a:off x="6263640" y="3657600"/>
            <a:ext cx="713232" cy="713232"/>
          </a:xfrm>
          <a:prstGeom prst="rect">
            <a:avLst/>
          </a:prstGeom>
        </p:spPr>
      </p:pic>
      <p:pic>
        <p:nvPicPr>
          <p:cNvPr id="15" name="Person object" descr="Person object">    </p:cNvPr>
          <p:cNvPicPr>
            <a:picLocks noChangeAspect="1"/>
          </p:cNvPicPr>
          <p:nvPr/>
        </p:nvPicPr>
        <p:blipFill>
          <a:blip r:embed="rId2"/>
          <a:stretch>
            <a:fillRect/>
          </a:stretch>
        </p:blipFill>
        <p:spPr>
          <a:xfrm>
            <a:off x="7333488" y="3657600"/>
            <a:ext cx="713232" cy="713232"/>
          </a:xfrm>
          <a:prstGeom prst="rect">
            <a:avLst/>
          </a:prstGeom>
        </p:spPr>
      </p:pic>
      <p:pic>
        <p:nvPicPr>
          <p:cNvPr id="16" name="Person object" descr="Person object">    </p:cNvPr>
          <p:cNvPicPr>
            <a:picLocks noChangeAspect="1"/>
          </p:cNvPicPr>
          <p:nvPr/>
        </p:nvPicPr>
        <p:blipFill>
          <a:blip r:embed="rId3"/>
          <a:stretch>
            <a:fillRect/>
          </a:stretch>
        </p:blipFill>
        <p:spPr>
          <a:xfrm>
            <a:off x="8403336" y="3657600"/>
            <a:ext cx="713232" cy="713232"/>
          </a:xfrm>
          <a:prstGeom prst="rect">
            <a:avLst/>
          </a:prstGeom>
        </p:spPr>
      </p:pic>
      <p:pic>
        <p:nvPicPr>
          <p:cNvPr id="17" name="Person object" descr="Person object">    </p:cNvPr>
          <p:cNvPicPr>
            <a:picLocks noChangeAspect="1"/>
          </p:cNvPicPr>
          <p:nvPr/>
        </p:nvPicPr>
        <p:blipFill>
          <a:blip r:embed="rId4"/>
          <a:stretch>
            <a:fillRect/>
          </a:stretch>
        </p:blipFill>
        <p:spPr>
          <a:xfrm>
            <a:off x="9473184" y="3657600"/>
            <a:ext cx="713232" cy="713232"/>
          </a:xfrm>
          <a:prstGeom prst="rect">
            <a:avLst/>
          </a:prstGeom>
        </p:spPr>
      </p:pic>
      <p:pic>
        <p:nvPicPr>
          <p:cNvPr id="18" name="Person object" descr="Person object">    </p:cNvPr>
          <p:cNvPicPr>
            <a:picLocks noChangeAspect="1"/>
          </p:cNvPicPr>
          <p:nvPr/>
        </p:nvPicPr>
        <p:blipFill>
          <a:blip r:embed="rId5"/>
          <a:stretch>
            <a:fillRect/>
          </a:stretch>
        </p:blipFill>
        <p:spPr>
          <a:xfrm>
            <a:off x="10543032" y="3657600"/>
            <a:ext cx="713232" cy="713232"/>
          </a:xfrm>
          <a:prstGeom prst="rect">
            <a:avLst/>
          </a:prstGeom>
        </p:spPr>
      </p:pic>
      <p:pic>
        <p:nvPicPr>
          <p:cNvPr id="19" name="Person object" descr="Person object">    </p:cNvPr>
          <p:cNvPicPr>
            <a:picLocks noChangeAspect="1"/>
          </p:cNvPicPr>
          <p:nvPr/>
        </p:nvPicPr>
        <p:blipFill>
          <a:blip r:embed="rId6"/>
          <a:stretch>
            <a:fillRect/>
          </a:stretch>
        </p:blipFill>
        <p:spPr>
          <a:xfrm>
            <a:off x="6263640" y="4572000"/>
            <a:ext cx="713232" cy="713232"/>
          </a:xfrm>
          <a:prstGeom prst="rect">
            <a:avLst/>
          </a:prstGeom>
        </p:spPr>
      </p:pic>
      <p:pic>
        <p:nvPicPr>
          <p:cNvPr id="20" name="Person object" descr="Person object">    </p:cNvPr>
          <p:cNvPicPr>
            <a:picLocks noChangeAspect="1"/>
          </p:cNvPicPr>
          <p:nvPr/>
        </p:nvPicPr>
        <p:blipFill>
          <a:blip r:embed="rId7"/>
          <a:stretch>
            <a:fillRect/>
          </a:stretch>
        </p:blipFill>
        <p:spPr>
          <a:xfrm>
            <a:off x="7333488" y="4572000"/>
            <a:ext cx="713232" cy="713232"/>
          </a:xfrm>
          <a:prstGeom prst="rect">
            <a:avLst/>
          </a:prstGeom>
        </p:spPr>
      </p:pic>
      <p:pic>
        <p:nvPicPr>
          <p:cNvPr id="21" name="Person object" descr="Person object">    </p:cNvPr>
          <p:cNvPicPr>
            <a:picLocks noChangeAspect="1"/>
          </p:cNvPicPr>
          <p:nvPr/>
        </p:nvPicPr>
        <p:blipFill>
          <a:blip r:embed="rId8"/>
          <a:stretch>
            <a:fillRect/>
          </a:stretch>
        </p:blipFill>
        <p:spPr>
          <a:xfrm>
            <a:off x="8403336" y="4572000"/>
            <a:ext cx="713232" cy="713232"/>
          </a:xfrm>
          <a:prstGeom prst="rect">
            <a:avLst/>
          </a:prstGeom>
        </p:spPr>
      </p:pic>
      <p:pic>
        <p:nvPicPr>
          <p:cNvPr id="22" name="Person object" descr="Person object">    </p:cNvPr>
          <p:cNvPicPr>
            <a:picLocks noChangeAspect="1"/>
          </p:cNvPicPr>
          <p:nvPr/>
        </p:nvPicPr>
        <p:blipFill>
          <a:blip r:embed="rId9"/>
          <a:stretch>
            <a:fillRect/>
          </a:stretch>
        </p:blipFill>
        <p:spPr>
          <a:xfrm>
            <a:off x="9473184" y="4572000"/>
            <a:ext cx="713232" cy="713232"/>
          </a:xfrm>
          <a:prstGeom prst="rect">
            <a:avLst/>
          </a:prstGeom>
        </p:spPr>
      </p:pic>
      <p:pic>
        <p:nvPicPr>
          <p:cNvPr id="23" name="Person object" descr="Person object">    </p:cNvPr>
          <p:cNvPicPr>
            <a:picLocks noChangeAspect="1"/>
          </p:cNvPicPr>
          <p:nvPr/>
        </p:nvPicPr>
        <p:blipFill>
          <a:blip r:embed="rId10"/>
          <a:stretch>
            <a:fillRect/>
          </a:stretch>
        </p:blipFill>
        <p:spPr>
          <a:xfrm>
            <a:off x="10543032" y="4572000"/>
            <a:ext cx="713232" cy="713232"/>
          </a:xfrm>
          <a:prstGeom prst="rect">
            <a:avLst/>
          </a:prstGeom>
        </p:spPr>
      </p:pic>
      <p:sp>
        <p:nvSpPr>
          <p:cNvPr id="24" name="Text 11"/>
          <p:cNvSpPr txBox="1"/>
          <p:nvPr/>
        </p:nvSpPr>
        <p:spPr>
          <a:xfrm>
            <a:off x="5897880" y="5623560"/>
            <a:ext cx="5745175" cy="365760"/>
          </a:xfrm>
          <a:prstGeom prst="rect">
            <a:avLst/>
          </a:prstGeom>
          <a:noFill/>
          <a:ln/>
        </p:spPr>
        <p:txBody>
          <a:bodyPr wrap="square" lIns="0" tIns="0" rIns="0" bIns="0" rtlCol="0" anchor="t"/>
          <a:lstStyle/>
          <a:p>
            <a:pPr algn="ctr" indent="0" marL="0">
              <a:buNone/>
            </a:pPr>
            <a:r>
              <a:rPr lang="en-IE" sz="1500" i="1" dirty="0">
                <a:solidFill>
                  <a:schemeClr val="tx2"/>
                </a:solidFill>
              </a:rPr>
              <a:t>10 Person objects, 1 jump() method</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sentence about functions and methods is correct?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method is a function that is not inside any class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method is a function that belongs to a class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Methods are not allowed to take any arguments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function can only ever be called one time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sentence about functions and methods is correct?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method is a function that is not inside any class</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method is a function that belongs to a class</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Methods are not allowed to take any arguments</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A function can only ever be called one time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function is a separate piece of code with its own name. A method is a function that lives inside a class, and we usually call it on an object, like </a:t>
            </a:r>
            <a:r>
              <a:rPr lang="en-IE" sz="1800" dirty="0">
                <a:solidFill>
                  <a:schemeClr val="accent2"/>
                </a:solidFill>
                <a:latin typeface="Consolas" pitchFamily="34" charset="0"/>
                <a:ea typeface="Consolas" pitchFamily="34" charset="-122"/>
                <a:cs typeface="Consolas" pitchFamily="34" charset="-120"/>
              </a:rPr>
              <a:t>tom.jump()</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Constructors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Creating objects and setting them up, step by step</a:t>
            </a:r>
            <a:endParaRPr lang="en-IE" sz="2000" dirty="0"/>
          </a:p>
        </p:txBody>
      </p:sp>
      <p:sp>
        <p:nvSpPr>
          <p:cNvPr id="5" name="Topic chip"/>
          <p:cNvSpPr/>
          <p:nvPr/>
        </p:nvSpPr>
        <p:spPr>
          <a:xfrm>
            <a:off x="822960" y="4846320"/>
            <a:ext cx="151180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Constructors</a:t>
            </a:r>
            <a:endParaRPr lang="en-IE" sz="1400" dirty="0"/>
          </a:p>
        </p:txBody>
      </p:sp>
      <p:sp>
        <p:nvSpPr>
          <p:cNvPr id="6" name="Topic chip"/>
          <p:cNvSpPr/>
          <p:nvPr/>
        </p:nvSpPr>
        <p:spPr>
          <a:xfrm>
            <a:off x="2481072" y="4846320"/>
            <a:ext cx="67970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new</a:t>
            </a:r>
            <a:endParaRPr lang="en-IE" sz="1400" dirty="0"/>
          </a:p>
        </p:txBody>
      </p:sp>
      <p:sp>
        <p:nvSpPr>
          <p:cNvPr id="7" name="Topic chip"/>
          <p:cNvSpPr/>
          <p:nvPr/>
        </p:nvSpPr>
        <p:spPr>
          <a:xfrm>
            <a:off x="3307080" y="4846320"/>
            <a:ext cx="169672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Default values</a:t>
            </a:r>
            <a:endParaRPr lang="en-IE" sz="1400" dirty="0"/>
          </a:p>
        </p:txBody>
      </p:sp>
      <p:sp>
        <p:nvSpPr>
          <p:cNvPr id="8" name="Topic chip"/>
          <p:cNvSpPr/>
          <p:nvPr/>
        </p:nvSpPr>
        <p:spPr>
          <a:xfrm>
            <a:off x="5150104" y="4846320"/>
            <a:ext cx="215900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No-arg constructors</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Constructors</a:t>
            </a:r>
            <a:endParaRPr lang="en-IE" sz="3400" dirty="0"/>
          </a:p>
        </p:txBody>
      </p:sp>
      <p:sp>
        <p:nvSpPr>
          <p:cNvPr id="5" name="Text 2"/>
          <p:cNvSpPr txBox="1"/>
          <p:nvPr/>
        </p:nvSpPr>
        <p:spPr>
          <a:xfrm>
            <a:off x="548640" y="1783080"/>
            <a:ext cx="548640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One class can make many objects, and each one may need different starting values.</a:t>
            </a:r>
            <a:endParaRPr lang="en-IE" sz="1800" dirty="0"/>
          </a:p>
          <a:p>
            <a:pPr marL="228600" indent="-228600">
              <a:spcAft>
                <a:spcPts val="1400"/>
              </a:spcAft>
              <a:buSzPct val="100000"/>
              <a:buChar char="•"/>
            </a:pPr>
            <a:r>
              <a:rPr lang="en-IE" sz="1800" dirty="0">
                <a:solidFill>
                  <a:schemeClr val="tx1"/>
                </a:solidFill>
              </a:rPr>
              <a:t>A </a:t>
            </a:r>
            <a:r>
              <a:rPr lang="en-IE" sz="1800" b="1" dirty="0">
                <a:solidFill>
                  <a:schemeClr val="tx1"/>
                </a:solidFill>
              </a:rPr>
              <a:t>constructor</a:t>
            </a:r>
            <a:r>
              <a:rPr lang="en-IE" sz="1800" dirty="0">
                <a:solidFill>
                  <a:schemeClr val="tx1"/>
                </a:solidFill>
              </a:rPr>
              <a:t> is a special method that sets up (initialises) a new object.</a:t>
            </a:r>
            <a:endParaRPr lang="en-IE" sz="1800" dirty="0"/>
          </a:p>
          <a:p>
            <a:pPr marL="228600" indent="-228600">
              <a:spcAft>
                <a:spcPts val="1400"/>
              </a:spcAft>
              <a:buSzPct val="100000"/>
              <a:buChar char="•"/>
            </a:pPr>
            <a:r>
              <a:rPr lang="en-IE" sz="1800" dirty="0">
                <a:solidFill>
                  <a:schemeClr val="tx1"/>
                </a:solidFill>
              </a:rPr>
              <a:t>It runs automatically when the object is created.</a:t>
            </a:r>
            <a:endParaRPr lang="en-IE" sz="1800" dirty="0"/>
          </a:p>
          <a:p>
            <a:pPr marL="228600" indent="-228600">
              <a:buSzPct val="100000"/>
              <a:buChar char="•"/>
            </a:pPr>
            <a:r>
              <a:rPr lang="en-IE" sz="1800" dirty="0">
                <a:solidFill>
                  <a:schemeClr val="tx1"/>
                </a:solidFill>
              </a:rPr>
              <a:t>It can set starting values, and even run other methods straight away.</a:t>
            </a:r>
            <a:endParaRPr lang="en-IE" sz="1800" dirty="0"/>
          </a:p>
        </p:txBody>
      </p:sp>
      <p:sp>
        <p:nvSpPr>
          <p:cNvPr id="6" name="Game example"/>
          <p:cNvSpPr/>
          <p:nvPr/>
        </p:nvSpPr>
        <p:spPr>
          <a:xfrm>
            <a:off x="6400800" y="1783080"/>
            <a:ext cx="5242255" cy="4297680"/>
          </a:xfrm>
          <a:prstGeom prst="roundRect">
            <a:avLst>
              <a:gd name="adj" fmla="val 2553"/>
            </a:avLst>
          </a:prstGeom>
          <a:solidFill>
            <a:schemeClr val="bg2"/>
          </a:solidFill>
          <a:ln/>
        </p:spPr>
      </p:sp>
      <p:sp>
        <p:nvSpPr>
          <p:cNvPr id="7" name="Text 4"/>
          <p:cNvSpPr txBox="1"/>
          <p:nvPr/>
        </p:nvSpPr>
        <p:spPr>
          <a:xfrm>
            <a:off x="6720840" y="1984248"/>
            <a:ext cx="3657600" cy="274320"/>
          </a:xfrm>
          <a:prstGeom prst="rect">
            <a:avLst/>
          </a:prstGeom>
          <a:noFill/>
          <a:ln/>
        </p:spPr>
        <p:txBody>
          <a:bodyPr wrap="square" lIns="0" tIns="0" rIns="0" bIns="0" rtlCol="0" anchor="t"/>
          <a:lstStyle/>
          <a:p>
            <a:pPr indent="0" marL="0">
              <a:buNone/>
            </a:pPr>
            <a:r>
              <a:rPr lang="en-IE" sz="1200" b="1" spc="150" kern="0" dirty="0">
                <a:solidFill>
                  <a:schemeClr val="tx2"/>
                </a:solidFill>
              </a:rPr>
              <a:t>EXAMPLE FROM A GAME</a:t>
            </a:r>
            <a:endParaRPr lang="en-IE" sz="1200" dirty="0"/>
          </a:p>
        </p:txBody>
      </p:sp>
      <p:sp>
        <p:nvSpPr>
          <p:cNvPr id="8" name="Patrol route"/>
          <p:cNvSpPr/>
          <p:nvPr/>
        </p:nvSpPr>
        <p:spPr>
          <a:xfrm>
            <a:off x="7178040" y="2514600"/>
            <a:ext cx="4007815" cy="1691640"/>
          </a:xfrm>
          <a:prstGeom prst="roundRect">
            <a:avLst>
              <a:gd name="adj" fmla="val 18919"/>
            </a:avLst>
          </a:prstGeom>
          <a:ln w="28575">
            <a:solidFill>
              <a:schemeClr val="accent1"/>
            </a:solidFill>
            <a:prstDash val="dash"/>
          </a:ln>
        </p:spPr>
      </p:sp>
      <p:sp>
        <p:nvSpPr>
          <p:cNvPr id="9" name="Direction"/>
          <p:cNvSpPr/>
          <p:nvPr/>
        </p:nvSpPr>
        <p:spPr>
          <a:xfrm rot="5400000">
            <a:off x="9063076" y="2404872"/>
            <a:ext cx="237744" cy="219456"/>
          </a:xfrm>
          <a:prstGeom prst="triangle">
            <a:avLst/>
          </a:prstGeom>
          <a:solidFill>
            <a:schemeClr val="accent1"/>
          </a:solidFill>
          <a:ln/>
        </p:spPr>
      </p:sp>
      <p:sp>
        <p:nvSpPr>
          <p:cNvPr id="10" name="Direction"/>
          <p:cNvSpPr/>
          <p:nvPr/>
        </p:nvSpPr>
        <p:spPr>
          <a:xfrm rot="16200000">
            <a:off x="9063076" y="4096512"/>
            <a:ext cx="237744" cy="219456"/>
          </a:xfrm>
          <a:prstGeom prst="triangle">
            <a:avLst/>
          </a:prstGeom>
          <a:solidFill>
            <a:schemeClr val="accent1"/>
          </a:solidFill>
          <a:ln/>
        </p:spPr>
      </p:sp>
      <p:sp>
        <p:nvSpPr>
          <p:cNvPr id="11" name="Enemy"/>
          <p:cNvSpPr/>
          <p:nvPr/>
        </p:nvSpPr>
        <p:spPr>
          <a:xfrm>
            <a:off x="6720840" y="2903220"/>
            <a:ext cx="914400" cy="914400"/>
          </a:xfrm>
          <a:prstGeom prst="ellipse">
            <a:avLst/>
          </a:prstGeom>
          <a:solidFill>
            <a:schemeClr val="bg1"/>
          </a:solidFill>
          <a:ln w="19050">
            <a:solidFill>
              <a:schemeClr val="accent1"/>
            </a:solidFill>
            <a:prstDash val="solid"/>
          </a:ln>
          <a:effectLst>
            <a:outerShdw sx="100000" sy="100000" kx="0" ky="0" algn="bl" rotWithShape="0" blurRad="114300" dist="31750" dir="5400000">
              <a:srgbClr val="1D2433">
                <a:alpha val="12000"/>
              </a:srgbClr>
            </a:outerShdw>
          </a:effectLst>
        </p:spPr>
      </p:sp>
      <p:pic>
        <p:nvPicPr>
          <p:cNvPr id="12" name="Enemy icon" descr="Enemy icon">    </p:cNvPr>
          <p:cNvPicPr>
            <a:picLocks noChangeAspect="1"/>
          </p:cNvPicPr>
          <p:nvPr/>
        </p:nvPicPr>
        <p:blipFill>
          <a:blip r:embed="rId1"/>
          <a:stretch>
            <a:fillRect/>
          </a:stretch>
        </p:blipFill>
        <p:spPr>
          <a:xfrm>
            <a:off x="6867144" y="3049524"/>
            <a:ext cx="621792" cy="621792"/>
          </a:xfrm>
          <a:prstGeom prst="rect">
            <a:avLst/>
          </a:prstGeom>
        </p:spPr>
      </p:pic>
      <p:sp>
        <p:nvSpPr>
          <p:cNvPr id="13" name="Text 9"/>
          <p:cNvSpPr txBox="1"/>
          <p:nvPr/>
        </p:nvSpPr>
        <p:spPr>
          <a:xfrm>
            <a:off x="7726680" y="3131820"/>
            <a:ext cx="3184855" cy="457200"/>
          </a:xfrm>
          <a:prstGeom prst="rect">
            <a:avLst/>
          </a:prstGeom>
          <a:noFill/>
          <a:ln/>
        </p:spPr>
        <p:txBody>
          <a:bodyPr wrap="square" lIns="0" tIns="0" rIns="0" bIns="0" rtlCol="0" anchor="ctr"/>
          <a:lstStyle/>
          <a:p>
            <a:pPr algn="ctr" indent="0" marL="0">
              <a:buNone/>
            </a:pPr>
            <a:r>
              <a:rPr lang="en-IE" sz="2000" b="1" dirty="0">
                <a:solidFill>
                  <a:schemeClr val="accent2"/>
                </a:solidFill>
                <a:latin typeface="Consolas" pitchFamily="34" charset="0"/>
                <a:ea typeface="Consolas" pitchFamily="34" charset="-122"/>
                <a:cs typeface="Consolas" pitchFamily="34" charset="-120"/>
              </a:rPr>
              <a:t>patrol()</a:t>
            </a:r>
            <a:endParaRPr lang="en-IE" sz="2000" dirty="0"/>
          </a:p>
        </p:txBody>
      </p:sp>
      <p:sp>
        <p:nvSpPr>
          <p:cNvPr id="14" name="Text 10"/>
          <p:cNvSpPr txBox="1"/>
          <p:nvPr/>
        </p:nvSpPr>
        <p:spPr>
          <a:xfrm>
            <a:off x="6720840" y="4480560"/>
            <a:ext cx="4602175" cy="731520"/>
          </a:xfrm>
          <a:prstGeom prst="rect">
            <a:avLst/>
          </a:prstGeom>
          <a:noFill/>
          <a:ln/>
        </p:spPr>
        <p:txBody>
          <a:bodyPr wrap="square" lIns="0" tIns="0" rIns="0" bIns="0" rtlCol="0" anchor="t"/>
          <a:lstStyle/>
          <a:p>
            <a:pPr indent="0" marL="0">
              <a:buNone/>
            </a:pPr>
            <a:r>
              <a:rPr lang="en-IE" sz="1600" dirty="0">
                <a:solidFill>
                  <a:schemeClr val="tx1"/>
                </a:solidFill>
              </a:rPr>
              <a:t>When a new Enemy object is created, its constructor can tell it to start patrolling.</a:t>
            </a:r>
            <a:endParaRPr lang="en-IE" sz="1600" dirty="0"/>
          </a:p>
        </p:txBody>
      </p:sp>
      <p:sp>
        <p:nvSpPr>
          <p:cNvPr id="15" name="Code chip"/>
          <p:cNvSpPr/>
          <p:nvPr/>
        </p:nvSpPr>
        <p:spPr>
          <a:xfrm>
            <a:off x="6720840" y="5303520"/>
            <a:ext cx="3546348" cy="457200"/>
          </a:xfrm>
          <a:prstGeom prst="roundRect">
            <a:avLst>
              <a:gd name="adj" fmla="val 16000"/>
            </a:avLst>
          </a:prstGeom>
          <a:solidFill>
            <a:schemeClr val="bg1"/>
          </a:solidFill>
          <a:ln/>
        </p:spPr>
        <p:txBody>
          <a:bodyPr wrap="square" lIns="0" tIns="0" rIns="0" bIns="0" rtlCol="0" anchor="ctr"/>
          <a:lstStyle/>
          <a:p>
            <a:pPr algn="ctr" indent="0" marL="0">
              <a:buNone/>
            </a:pPr>
            <a:r>
              <a:rPr lang="en-IE" sz="1500" dirty="0">
                <a:solidFill>
                  <a:schemeClr val="accent2"/>
                </a:solidFill>
                <a:latin typeface="Consolas" pitchFamily="34" charset="0"/>
                <a:ea typeface="Consolas" pitchFamily="34" charset="-122"/>
                <a:cs typeface="Consolas" pitchFamily="34" charset="-120"/>
              </a:rPr>
              <a:t>public Enemy() { patrol(); }</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One class, different starting values</a:t>
            </a:r>
            <a:endParaRPr lang="en-IE" sz="3400" dirty="0"/>
          </a:p>
        </p:txBody>
      </p:sp>
      <p:sp>
        <p:nvSpPr>
          <p:cNvPr id="5" name="Person constructor card"/>
          <p:cNvSpPr/>
          <p:nvPr/>
        </p:nvSpPr>
        <p:spPr>
          <a:xfrm>
            <a:off x="548640" y="1783080"/>
            <a:ext cx="5120640" cy="3012948"/>
          </a:xfrm>
          <a:prstGeom prst="roundRect">
            <a:avLst>
              <a:gd name="adj" fmla="val 3642"/>
            </a:avLst>
          </a:prstGeom>
          <a:solidFill>
            <a:schemeClr val="tx1"/>
          </a:solidFill>
          <a:ln/>
          <a:effectLst>
            <a:outerShdw sx="100000" sy="100000" kx="0" ky="0" algn="bl" rotWithShape="0" blurRad="114300" dist="31750" dir="5400000">
              <a:srgbClr val="1D2433">
                <a:alpha val="12000"/>
              </a:srgbClr>
            </a:outerShdw>
          </a:effectLst>
        </p:spPr>
      </p:sp>
      <p:sp>
        <p:nvSpPr>
          <p:cNvPr id="6" name="Person constructor language"/>
          <p:cNvSpPr txBox="1"/>
          <p:nvPr/>
        </p:nvSpPr>
        <p:spPr>
          <a:xfrm>
            <a:off x="822960" y="190195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Person constructor text"/>
          <p:cNvSpPr txBox="1"/>
          <p:nvPr/>
        </p:nvSpPr>
        <p:spPr>
          <a:xfrm>
            <a:off x="822960" y="2276856"/>
            <a:ext cx="4572000" cy="231800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Person</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age;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i="1" dirty="0">
                <a:solidFill>
                  <a:srgbClr val="A3AEC2"/>
                </a:solidFill>
                <a:latin typeface="Consolas" pitchFamily="34" charset="0"/>
                <a:ea typeface="Consolas" pitchFamily="34" charset="-122"/>
                <a:cs typeface="Consolas" pitchFamily="34" charset="-120"/>
              </a:rPr>
              <a:t>// constructor</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Person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age)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.age = age;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Text 5"/>
          <p:cNvSpPr txBox="1"/>
          <p:nvPr/>
        </p:nvSpPr>
        <p:spPr>
          <a:xfrm>
            <a:off x="548640" y="5024628"/>
            <a:ext cx="5120640" cy="731520"/>
          </a:xfrm>
          <a:prstGeom prst="rect">
            <a:avLst/>
          </a:prstGeom>
          <a:noFill/>
          <a:ln/>
        </p:spPr>
        <p:txBody>
          <a:bodyPr wrap="square" lIns="0" tIns="0" rIns="0" bIns="0" rtlCol="0" anchor="t"/>
          <a:lstStyle/>
          <a:p>
            <a:pPr indent="0" marL="0">
              <a:buNone/>
            </a:pPr>
            <a:r>
              <a:rPr lang="en-IE" sz="1500" dirty="0">
                <a:solidFill>
                  <a:schemeClr val="accent2"/>
                </a:solidFill>
                <a:latin typeface="Consolas" pitchFamily="34" charset="0"/>
                <a:ea typeface="Consolas" pitchFamily="34" charset="-122"/>
                <a:cs typeface="Consolas" pitchFamily="34" charset="-120"/>
              </a:rPr>
              <a:t>this.age</a:t>
            </a:r>
            <a:r>
              <a:rPr lang="en-IE" sz="1500" dirty="0">
                <a:solidFill>
                  <a:schemeClr val="tx2"/>
                </a:solidFill>
              </a:rPr>
              <a:t> is the object’s own age. </a:t>
            </a:r>
            <a:r>
              <a:rPr lang="en-IE" sz="1500" dirty="0">
                <a:solidFill>
                  <a:schemeClr val="accent2"/>
                </a:solidFill>
                <a:latin typeface="Consolas" pitchFamily="34" charset="0"/>
                <a:ea typeface="Consolas" pitchFamily="34" charset="-122"/>
                <a:cs typeface="Consolas" pitchFamily="34" charset="-120"/>
              </a:rPr>
              <a:t>age</a:t>
            </a:r>
            <a:r>
              <a:rPr lang="en-IE" sz="1500" dirty="0">
                <a:solidFill>
                  <a:schemeClr val="tx2"/>
                </a:solidFill>
              </a:rPr>
              <a:t> on its own is the value passed in.</a:t>
            </a:r>
            <a:endParaRPr lang="en-IE" sz="1500" dirty="0"/>
          </a:p>
        </p:txBody>
      </p:sp>
      <p:sp>
        <p:nvSpPr>
          <p:cNvPr id="9" name="Two objects card"/>
          <p:cNvSpPr/>
          <p:nvPr/>
        </p:nvSpPr>
        <p:spPr>
          <a:xfrm>
            <a:off x="6035040" y="1783080"/>
            <a:ext cx="5608015" cy="2629408"/>
          </a:xfrm>
          <a:prstGeom prst="roundRect">
            <a:avLst>
              <a:gd name="adj" fmla="val 4173"/>
            </a:avLst>
          </a:prstGeom>
          <a:solidFill>
            <a:schemeClr val="tx1"/>
          </a:solidFill>
          <a:ln/>
          <a:effectLst>
            <a:outerShdw sx="100000" sy="100000" kx="0" ky="0" algn="bl" rotWithShape="0" blurRad="114300" dist="31750" dir="5400000">
              <a:srgbClr val="1D2433">
                <a:alpha val="12000"/>
              </a:srgbClr>
            </a:outerShdw>
          </a:effectLst>
        </p:spPr>
      </p:sp>
      <p:sp>
        <p:nvSpPr>
          <p:cNvPr id="10" name="Two objects language"/>
          <p:cNvSpPr txBox="1"/>
          <p:nvPr/>
        </p:nvSpPr>
        <p:spPr>
          <a:xfrm>
            <a:off x="6309360" y="1901952"/>
            <a:ext cx="50593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1" name="Two objects text"/>
          <p:cNvSpPr txBox="1"/>
          <p:nvPr/>
        </p:nvSpPr>
        <p:spPr>
          <a:xfrm>
            <a:off x="6309360" y="2276856"/>
            <a:ext cx="5059375" cy="19344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Main</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main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args)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 tom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23</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 jack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Person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21</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(tom.age);   </a:t>
            </a:r>
            <a:r>
              <a:rPr lang="en-IE" sz="1400" i="1" dirty="0">
                <a:solidFill>
                  <a:srgbClr val="A3AEC2"/>
                </a:solidFill>
                <a:latin typeface="Consolas" pitchFamily="34" charset="0"/>
                <a:ea typeface="Consolas" pitchFamily="34" charset="-122"/>
                <a:cs typeface="Consolas" pitchFamily="34" charset="-120"/>
              </a:rPr>
              <a:t>// 23</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(jack.age);  </a:t>
            </a:r>
            <a:r>
              <a:rPr lang="en-IE" sz="1400" i="1" dirty="0">
                <a:solidFill>
                  <a:srgbClr val="A3AEC2"/>
                </a:solidFill>
                <a:latin typeface="Consolas" pitchFamily="34" charset="0"/>
                <a:ea typeface="Consolas" pitchFamily="34" charset="-122"/>
                <a:cs typeface="Consolas" pitchFamily="34" charset="-120"/>
              </a:rPr>
              <a:t>// 21</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2" name="Card"/>
          <p:cNvSpPr/>
          <p:nvPr/>
        </p:nvSpPr>
        <p:spPr>
          <a:xfrm>
            <a:off x="6035040" y="4732528"/>
            <a:ext cx="2666848" cy="1051560"/>
          </a:xfrm>
          <a:prstGeom prst="roundRect">
            <a:avLst>
              <a:gd name="adj" fmla="val 10435"/>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6263640" y="4961128"/>
            <a:ext cx="594360" cy="594360"/>
          </a:xfrm>
          <a:prstGeom prst="roundRect">
            <a:avLst>
              <a:gd name="adj" fmla="val 24000"/>
            </a:avLst>
          </a:prstGeom>
          <a:solidFill>
            <a:schemeClr val="accent1">
              <a:alpha val="14000"/>
            </a:schemeClr>
          </a:solidFill>
          <a:ln/>
        </p:spPr>
      </p:sp>
      <p:pic>
        <p:nvPicPr>
          <p:cNvPr id="14" name="user icon" descr="user icon">    </p:cNvPr>
          <p:cNvPicPr>
            <a:picLocks noChangeAspect="1"/>
          </p:cNvPicPr>
          <p:nvPr/>
        </p:nvPicPr>
        <p:blipFill>
          <a:blip r:embed="rId1"/>
          <a:stretch>
            <a:fillRect/>
          </a:stretch>
        </p:blipFill>
        <p:spPr>
          <a:xfrm>
            <a:off x="6388456" y="5085944"/>
            <a:ext cx="344729" cy="344729"/>
          </a:xfrm>
          <a:prstGeom prst="rect">
            <a:avLst/>
          </a:prstGeom>
        </p:spPr>
      </p:pic>
      <p:sp>
        <p:nvSpPr>
          <p:cNvPr id="15" name="Text 11"/>
          <p:cNvSpPr txBox="1"/>
          <p:nvPr/>
        </p:nvSpPr>
        <p:spPr>
          <a:xfrm>
            <a:off x="7022592" y="4887976"/>
            <a:ext cx="1569568" cy="365760"/>
          </a:xfrm>
          <a:prstGeom prst="rect">
            <a:avLst/>
          </a:prstGeom>
          <a:noFill/>
          <a:ln/>
        </p:spPr>
        <p:txBody>
          <a:bodyPr wrap="square" lIns="0" tIns="0" rIns="0" bIns="0" rtlCol="0" anchor="t"/>
          <a:lstStyle/>
          <a:p>
            <a:pPr indent="0" marL="0">
              <a:buNone/>
            </a:pPr>
            <a:r>
              <a:rPr lang="en-IE" sz="1800" b="1" dirty="0">
                <a:solidFill>
                  <a:schemeClr val="accent2"/>
                </a:solidFill>
                <a:latin typeface="Consolas" pitchFamily="34" charset="0"/>
                <a:ea typeface="Consolas" pitchFamily="34" charset="-122"/>
                <a:cs typeface="Consolas" pitchFamily="34" charset="-120"/>
              </a:rPr>
              <a:t>tom</a:t>
            </a:r>
            <a:endParaRPr lang="en-IE" sz="1800" dirty="0"/>
          </a:p>
        </p:txBody>
      </p:sp>
      <p:sp>
        <p:nvSpPr>
          <p:cNvPr id="16" name="Text 12"/>
          <p:cNvSpPr txBox="1"/>
          <p:nvPr/>
        </p:nvSpPr>
        <p:spPr>
          <a:xfrm>
            <a:off x="7022592" y="5262880"/>
            <a:ext cx="1569568" cy="329184"/>
          </a:xfrm>
          <a:prstGeom prst="rect">
            <a:avLst/>
          </a:prstGeom>
          <a:noFill/>
          <a:ln/>
        </p:spPr>
        <p:txBody>
          <a:bodyPr wrap="square" lIns="0" tIns="0" rIns="0" bIns="0" rtlCol="0" anchor="t"/>
          <a:lstStyle/>
          <a:p>
            <a:pPr indent="0" marL="0">
              <a:buNone/>
            </a:pPr>
            <a:r>
              <a:rPr lang="en-IE" sz="1500" dirty="0">
                <a:solidFill>
                  <a:schemeClr val="tx2"/>
                </a:solidFill>
                <a:latin typeface="Consolas" pitchFamily="34" charset="0"/>
                <a:ea typeface="Consolas" pitchFamily="34" charset="-122"/>
                <a:cs typeface="Consolas" pitchFamily="34" charset="-120"/>
              </a:rPr>
              <a:t>age = 23</a:t>
            </a:r>
            <a:endParaRPr lang="en-IE" sz="1500" dirty="0"/>
          </a:p>
        </p:txBody>
      </p:sp>
      <p:sp>
        <p:nvSpPr>
          <p:cNvPr id="17" name="Card"/>
          <p:cNvSpPr/>
          <p:nvPr/>
        </p:nvSpPr>
        <p:spPr>
          <a:xfrm>
            <a:off x="8976208" y="4732528"/>
            <a:ext cx="2666848" cy="1051560"/>
          </a:xfrm>
          <a:prstGeom prst="roundRect">
            <a:avLst>
              <a:gd name="adj" fmla="val 10435"/>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9204808" y="4961128"/>
            <a:ext cx="594360" cy="594360"/>
          </a:xfrm>
          <a:prstGeom prst="roundRect">
            <a:avLst>
              <a:gd name="adj" fmla="val 24000"/>
            </a:avLst>
          </a:prstGeom>
          <a:solidFill>
            <a:schemeClr val="accent4">
              <a:alpha val="14000"/>
            </a:schemeClr>
          </a:solidFill>
          <a:ln/>
        </p:spPr>
      </p:sp>
      <p:pic>
        <p:nvPicPr>
          <p:cNvPr id="19" name="user icon" descr="user icon">    </p:cNvPr>
          <p:cNvPicPr>
            <a:picLocks noChangeAspect="1"/>
          </p:cNvPicPr>
          <p:nvPr/>
        </p:nvPicPr>
        <p:blipFill>
          <a:blip r:embed="rId2"/>
          <a:stretch>
            <a:fillRect/>
          </a:stretch>
        </p:blipFill>
        <p:spPr>
          <a:xfrm>
            <a:off x="9329623" y="5085944"/>
            <a:ext cx="344729" cy="344729"/>
          </a:xfrm>
          <a:prstGeom prst="rect">
            <a:avLst/>
          </a:prstGeom>
        </p:spPr>
      </p:pic>
      <p:sp>
        <p:nvSpPr>
          <p:cNvPr id="20" name="Text 15"/>
          <p:cNvSpPr txBox="1"/>
          <p:nvPr/>
        </p:nvSpPr>
        <p:spPr>
          <a:xfrm>
            <a:off x="9963760" y="4887976"/>
            <a:ext cx="1569568" cy="365760"/>
          </a:xfrm>
          <a:prstGeom prst="rect">
            <a:avLst/>
          </a:prstGeom>
          <a:noFill/>
          <a:ln/>
        </p:spPr>
        <p:txBody>
          <a:bodyPr wrap="square" lIns="0" tIns="0" rIns="0" bIns="0" rtlCol="0" anchor="t"/>
          <a:lstStyle/>
          <a:p>
            <a:pPr indent="0" marL="0">
              <a:buNone/>
            </a:pPr>
            <a:r>
              <a:rPr lang="en-IE" sz="1800" b="1" dirty="0">
                <a:solidFill>
                  <a:schemeClr val="accent2"/>
                </a:solidFill>
                <a:latin typeface="Consolas" pitchFamily="34" charset="0"/>
                <a:ea typeface="Consolas" pitchFamily="34" charset="-122"/>
                <a:cs typeface="Consolas" pitchFamily="34" charset="-120"/>
              </a:rPr>
              <a:t>jack</a:t>
            </a:r>
            <a:endParaRPr lang="en-IE" sz="1800" dirty="0"/>
          </a:p>
        </p:txBody>
      </p:sp>
      <p:sp>
        <p:nvSpPr>
          <p:cNvPr id="21" name="Text 16"/>
          <p:cNvSpPr txBox="1"/>
          <p:nvPr/>
        </p:nvSpPr>
        <p:spPr>
          <a:xfrm>
            <a:off x="9963760" y="5262880"/>
            <a:ext cx="1569568" cy="329184"/>
          </a:xfrm>
          <a:prstGeom prst="rect">
            <a:avLst/>
          </a:prstGeom>
          <a:noFill/>
          <a:ln/>
        </p:spPr>
        <p:txBody>
          <a:bodyPr wrap="square" lIns="0" tIns="0" rIns="0" bIns="0" rtlCol="0" anchor="t"/>
          <a:lstStyle/>
          <a:p>
            <a:pPr indent="0" marL="0">
              <a:buNone/>
            </a:pPr>
            <a:r>
              <a:rPr lang="en-IE" sz="1500" dirty="0">
                <a:solidFill>
                  <a:schemeClr val="tx2"/>
                </a:solidFill>
                <a:latin typeface="Consolas" pitchFamily="34" charset="0"/>
                <a:ea typeface="Consolas" pitchFamily="34" charset="-122"/>
                <a:cs typeface="Consolas" pitchFamily="34" charset="-120"/>
              </a:rPr>
              <a:t>age = 21</a:t>
            </a:r>
            <a:endParaRPr lang="en-IE" sz="1500" dirty="0"/>
          </a:p>
        </p:txBody>
      </p:sp>
      <p:sp>
        <p:nvSpPr>
          <p:cNvPr id="22" name="Text 17"/>
          <p:cNvSpPr txBox="1"/>
          <p:nvPr/>
        </p:nvSpPr>
        <p:spPr>
          <a:xfrm>
            <a:off x="6035040" y="5921248"/>
            <a:ext cx="5608015" cy="365760"/>
          </a:xfrm>
          <a:prstGeom prst="rect">
            <a:avLst/>
          </a:prstGeom>
          <a:noFill/>
          <a:ln/>
        </p:spPr>
        <p:txBody>
          <a:bodyPr wrap="square" lIns="0" tIns="0" rIns="0" bIns="0" rtlCol="0" anchor="t"/>
          <a:lstStyle/>
          <a:p>
            <a:pPr indent="0" marL="0">
              <a:buNone/>
            </a:pPr>
            <a:r>
              <a:rPr lang="en-IE" sz="1500" i="1" dirty="0">
                <a:solidFill>
                  <a:schemeClr val="tx2"/>
                </a:solidFill>
              </a:rPr>
              <a:t>Two separate Person objects, each with its own age.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When does a constructor run?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Automatically, when a new object is created</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Automatically, when the program finishes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Once, when the class itself is written and compiled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when something goes wrong in the code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When does a constructor run?</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Automatically, when a new object is created</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Automatically, when the program finishes</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Once, when the class itself is written and compiled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when something goes wrong in the code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constructor runs at the moment the object is created with </a:t>
            </a:r>
            <a:r>
              <a:rPr lang="en-IE" sz="1800" dirty="0">
                <a:solidFill>
                  <a:schemeClr val="accent2"/>
                </a:solidFill>
                <a:latin typeface="Consolas" pitchFamily="34" charset="0"/>
                <a:ea typeface="Consolas" pitchFamily="34" charset="-122"/>
                <a:cs typeface="Consolas" pitchFamily="34" charset="-120"/>
              </a:rPr>
              <a:t>new</a:t>
            </a:r>
            <a:r>
              <a:rPr lang="en-IE" sz="1800" dirty="0">
                <a:solidFill>
                  <a:schemeClr val="tx1"/>
                </a:solidFill>
              </a:rPr>
              <a:t>, so the object starts life with the right values.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Default values, and more than one constructor</a:t>
            </a:r>
            <a:endParaRPr lang="en-IE" sz="3400" dirty="0"/>
          </a:p>
        </p:txBody>
      </p:sp>
      <p:sp>
        <p:nvSpPr>
          <p:cNvPr id="5" name="Text 2"/>
          <p:cNvSpPr txBox="1"/>
          <p:nvPr/>
        </p:nvSpPr>
        <p:spPr>
          <a:xfrm>
            <a:off x="548640" y="1783080"/>
            <a:ext cx="5486400" cy="228600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A class can have </a:t>
            </a:r>
            <a:r>
              <a:rPr lang="en-IE" sz="1900" b="1" dirty="0">
                <a:solidFill>
                  <a:schemeClr val="tx1"/>
                </a:solidFill>
              </a:rPr>
              <a:t>more than one constructor</a:t>
            </a:r>
            <a:r>
              <a:rPr lang="en-IE" sz="1900" dirty="0">
                <a:solidFill>
                  <a:schemeClr val="tx1"/>
                </a:solidFill>
              </a:rPr>
              <a:t>.</a:t>
            </a:r>
            <a:endParaRPr lang="en-IE" sz="1900" dirty="0"/>
          </a:p>
          <a:p>
            <a:pPr marL="228600" indent="-228600">
              <a:spcAft>
                <a:spcPts val="1400"/>
              </a:spcAft>
              <a:buSzPct val="100000"/>
              <a:buChar char="•"/>
            </a:pPr>
            <a:r>
              <a:rPr lang="en-IE" sz="1900" dirty="0">
                <a:solidFill>
                  <a:schemeClr val="tx1"/>
                </a:solidFill>
              </a:rPr>
              <a:t>If we write no constructor at all, Java adds an empty </a:t>
            </a:r>
            <a:r>
              <a:rPr lang="en-IE" sz="1900" b="1" dirty="0">
                <a:solidFill>
                  <a:schemeClr val="tx1"/>
                </a:solidFill>
              </a:rPr>
              <a:t>default</a:t>
            </a:r>
            <a:r>
              <a:rPr lang="en-IE" sz="1900" dirty="0">
                <a:solidFill>
                  <a:schemeClr val="tx1"/>
                </a:solidFill>
              </a:rPr>
              <a:t> one. Once we write our own, it doesn’t.</a:t>
            </a:r>
            <a:endParaRPr lang="en-IE" sz="1900" dirty="0"/>
          </a:p>
          <a:p>
            <a:pPr marL="228600" indent="-228600">
              <a:buSzPct val="100000"/>
              <a:buChar char="•"/>
            </a:pPr>
            <a:r>
              <a:rPr lang="en-IE" sz="1900" dirty="0">
                <a:solidFill>
                  <a:schemeClr val="tx1"/>
                </a:solidFill>
              </a:rPr>
              <a:t>Any attribute we don’t set starts with a default value.</a:t>
            </a:r>
            <a:endParaRPr lang="en-IE" sz="1900" dirty="0"/>
          </a:p>
        </p:txBody>
      </p:sp>
      <p:sp>
        <p:nvSpPr>
          <p:cNvPr id="6" name="Two constructors card"/>
          <p:cNvSpPr/>
          <p:nvPr/>
        </p:nvSpPr>
        <p:spPr>
          <a:xfrm>
            <a:off x="548640" y="4251960"/>
            <a:ext cx="5486400" cy="1454658"/>
          </a:xfrm>
          <a:prstGeom prst="roundRect">
            <a:avLst>
              <a:gd name="adj" fmla="val 7543"/>
            </a:avLst>
          </a:prstGeom>
          <a:solidFill>
            <a:schemeClr val="tx1"/>
          </a:solidFill>
          <a:ln/>
          <a:effectLst>
            <a:outerShdw sx="100000" sy="100000" kx="0" ky="0" algn="bl" rotWithShape="0" blurRad="114300" dist="31750" dir="5400000">
              <a:srgbClr val="1D2433">
                <a:alpha val="12000"/>
              </a:srgbClr>
            </a:outerShdw>
          </a:effectLst>
        </p:spPr>
      </p:sp>
      <p:sp>
        <p:nvSpPr>
          <p:cNvPr id="7" name="Two constructors language"/>
          <p:cNvSpPr txBox="1"/>
          <p:nvPr/>
        </p:nvSpPr>
        <p:spPr>
          <a:xfrm>
            <a:off x="822960" y="4370832"/>
            <a:ext cx="493776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Two constructors text"/>
          <p:cNvSpPr txBox="1"/>
          <p:nvPr/>
        </p:nvSpPr>
        <p:spPr>
          <a:xfrm>
            <a:off x="822960" y="4745736"/>
            <a:ext cx="4937760" cy="759714"/>
          </a:xfrm>
          <a:prstGeom prst="rect">
            <a:avLst/>
          </a:prstGeom>
          <a:noFill/>
          <a:ln/>
        </p:spPr>
        <p:txBody>
          <a:bodyPr wrap="square" lIns="0" tIns="0" rIns="0" bIns="0" rtlCol="0" anchor="t"/>
          <a:lstStyle/>
          <a:p>
            <a:pPr indent="0" marL="0">
              <a:lnSpc>
                <a:spcPts val="1850"/>
              </a:lnSpc>
              <a:buNone/>
            </a:pPr>
            <a:r>
              <a:rPr lang="en-IE" sz="1400" i="1" dirty="0">
                <a:solidFill>
                  <a:srgbClr val="A3AEC2"/>
                </a:solidFill>
                <a:latin typeface="Consolas" pitchFamily="34" charset="0"/>
                <a:ea typeface="Consolas" pitchFamily="34" charset="-122"/>
                <a:cs typeface="Consolas" pitchFamily="34" charset="-120"/>
              </a:rPr>
              <a:t>// two constructors in one class</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 }</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name,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id) { }</a:t>
            </a:r>
            <a:endParaRPr lang="en-IE" sz="1400" dirty="0"/>
          </a:p>
        </p:txBody>
      </p:sp>
      <p:sp>
        <p:nvSpPr>
          <p:cNvPr id="9" name="Text 6"/>
          <p:cNvSpPr txBox="1"/>
          <p:nvPr/>
        </p:nvSpPr>
        <p:spPr>
          <a:xfrm>
            <a:off x="6400800" y="1783080"/>
            <a:ext cx="4572000" cy="274320"/>
          </a:xfrm>
          <a:prstGeom prst="rect">
            <a:avLst/>
          </a:prstGeom>
          <a:noFill/>
          <a:ln/>
        </p:spPr>
        <p:txBody>
          <a:bodyPr wrap="square" lIns="0" tIns="0" rIns="0" bIns="0" rtlCol="0" anchor="t"/>
          <a:lstStyle/>
          <a:p>
            <a:pPr indent="0" marL="0">
              <a:buNone/>
            </a:pPr>
            <a:r>
              <a:rPr lang="en-IE" sz="1200" b="1" spc="150" kern="0" dirty="0">
                <a:solidFill>
                  <a:schemeClr val="tx2"/>
                </a:solidFill>
              </a:rPr>
              <a:t>DEFAULT VALUES</a:t>
            </a:r>
            <a:endParaRPr lang="en-IE" sz="1200" dirty="0"/>
          </a:p>
        </p:txBody>
      </p:sp>
      <p:sp>
        <p:nvSpPr>
          <p:cNvPr id="10" name="Card"/>
          <p:cNvSpPr/>
          <p:nvPr/>
        </p:nvSpPr>
        <p:spPr>
          <a:xfrm>
            <a:off x="6400800" y="2240280"/>
            <a:ext cx="524225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1" name="Text 8"/>
          <p:cNvSpPr txBox="1"/>
          <p:nvPr/>
        </p:nvSpPr>
        <p:spPr>
          <a:xfrm>
            <a:off x="6720840" y="2395728"/>
            <a:ext cx="274320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int</a:t>
            </a:r>
            <a:endParaRPr lang="en-IE" sz="2200" dirty="0"/>
          </a:p>
        </p:txBody>
      </p:sp>
      <p:sp>
        <p:nvSpPr>
          <p:cNvPr id="12" name="Text 9"/>
          <p:cNvSpPr txBox="1"/>
          <p:nvPr/>
        </p:nvSpPr>
        <p:spPr>
          <a:xfrm>
            <a:off x="6720840" y="2843784"/>
            <a:ext cx="2926080" cy="320040"/>
          </a:xfrm>
          <a:prstGeom prst="rect">
            <a:avLst/>
          </a:prstGeom>
          <a:noFill/>
          <a:ln/>
        </p:spPr>
        <p:txBody>
          <a:bodyPr wrap="square" lIns="0" tIns="0" rIns="0" bIns="0" rtlCol="0" anchor="t"/>
          <a:lstStyle/>
          <a:p>
            <a:pPr indent="0" marL="0">
              <a:buNone/>
            </a:pPr>
            <a:r>
              <a:rPr lang="en-IE" sz="1400" dirty="0">
                <a:solidFill>
                  <a:schemeClr val="tx2"/>
                </a:solidFill>
              </a:rPr>
              <a:t>whole numbers</a:t>
            </a:r>
            <a:endParaRPr lang="en-IE" sz="1400" dirty="0"/>
          </a:p>
        </p:txBody>
      </p:sp>
      <p:sp>
        <p:nvSpPr>
          <p:cNvPr id="13" name="Text 10"/>
          <p:cNvSpPr txBox="1"/>
          <p:nvPr/>
        </p:nvSpPr>
        <p:spPr>
          <a:xfrm>
            <a:off x="9494215" y="2240280"/>
            <a:ext cx="1828800" cy="1097280"/>
          </a:xfrm>
          <a:prstGeom prst="rect">
            <a:avLst/>
          </a:prstGeom>
          <a:noFill/>
          <a:ln/>
        </p:spPr>
        <p:txBody>
          <a:bodyPr wrap="square" lIns="0" tIns="0" rIns="0" bIns="0" rtlCol="0" anchor="ctr"/>
          <a:lstStyle/>
          <a:p>
            <a:pPr algn="r" indent="0" marL="0">
              <a:buNone/>
            </a:pPr>
            <a:r>
              <a:rPr lang="en-IE" sz="3400" b="1" dirty="0">
                <a:solidFill>
                  <a:schemeClr val="accent1"/>
                </a:solidFill>
                <a:latin typeface="Consolas" pitchFamily="34" charset="0"/>
                <a:ea typeface="Consolas" pitchFamily="34" charset="-122"/>
                <a:cs typeface="Consolas" pitchFamily="34" charset="-120"/>
              </a:rPr>
              <a:t>0</a:t>
            </a:r>
            <a:endParaRPr lang="en-IE" sz="3400" dirty="0"/>
          </a:p>
        </p:txBody>
      </p:sp>
      <p:sp>
        <p:nvSpPr>
          <p:cNvPr id="14" name="Card"/>
          <p:cNvSpPr/>
          <p:nvPr/>
        </p:nvSpPr>
        <p:spPr>
          <a:xfrm>
            <a:off x="6400800" y="3520440"/>
            <a:ext cx="524225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5" name="Text 12"/>
          <p:cNvSpPr txBox="1"/>
          <p:nvPr/>
        </p:nvSpPr>
        <p:spPr>
          <a:xfrm>
            <a:off x="6720840" y="3675888"/>
            <a:ext cx="274320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double</a:t>
            </a:r>
            <a:endParaRPr lang="en-IE" sz="2200" dirty="0"/>
          </a:p>
        </p:txBody>
      </p:sp>
      <p:sp>
        <p:nvSpPr>
          <p:cNvPr id="16" name="Text 13"/>
          <p:cNvSpPr txBox="1"/>
          <p:nvPr/>
        </p:nvSpPr>
        <p:spPr>
          <a:xfrm>
            <a:off x="6720840" y="4123944"/>
            <a:ext cx="2926080" cy="320040"/>
          </a:xfrm>
          <a:prstGeom prst="rect">
            <a:avLst/>
          </a:prstGeom>
          <a:noFill/>
          <a:ln/>
        </p:spPr>
        <p:txBody>
          <a:bodyPr wrap="square" lIns="0" tIns="0" rIns="0" bIns="0" rtlCol="0" anchor="t"/>
          <a:lstStyle/>
          <a:p>
            <a:pPr indent="0" marL="0">
              <a:buNone/>
            </a:pPr>
            <a:r>
              <a:rPr lang="en-IE" sz="1400" dirty="0">
                <a:solidFill>
                  <a:schemeClr val="tx2"/>
                </a:solidFill>
              </a:rPr>
              <a:t>decimal numbers</a:t>
            </a:r>
            <a:endParaRPr lang="en-IE" sz="1400" dirty="0"/>
          </a:p>
        </p:txBody>
      </p:sp>
      <p:sp>
        <p:nvSpPr>
          <p:cNvPr id="17" name="Text 14"/>
          <p:cNvSpPr txBox="1"/>
          <p:nvPr/>
        </p:nvSpPr>
        <p:spPr>
          <a:xfrm>
            <a:off x="9494215" y="3520440"/>
            <a:ext cx="1828800" cy="1097280"/>
          </a:xfrm>
          <a:prstGeom prst="rect">
            <a:avLst/>
          </a:prstGeom>
          <a:noFill/>
          <a:ln/>
        </p:spPr>
        <p:txBody>
          <a:bodyPr wrap="square" lIns="0" tIns="0" rIns="0" bIns="0" rtlCol="0" anchor="ctr"/>
          <a:lstStyle/>
          <a:p>
            <a:pPr algn="r" indent="0" marL="0">
              <a:buNone/>
            </a:pPr>
            <a:r>
              <a:rPr lang="en-IE" sz="3400" b="1" dirty="0">
                <a:solidFill>
                  <a:schemeClr val="accent1"/>
                </a:solidFill>
                <a:latin typeface="Consolas" pitchFamily="34" charset="0"/>
                <a:ea typeface="Consolas" pitchFamily="34" charset="-122"/>
                <a:cs typeface="Consolas" pitchFamily="34" charset="-120"/>
              </a:rPr>
              <a:t>0.0</a:t>
            </a:r>
            <a:endParaRPr lang="en-IE" sz="3400" dirty="0"/>
          </a:p>
        </p:txBody>
      </p:sp>
      <p:sp>
        <p:nvSpPr>
          <p:cNvPr id="18" name="Card"/>
          <p:cNvSpPr/>
          <p:nvPr/>
        </p:nvSpPr>
        <p:spPr>
          <a:xfrm>
            <a:off x="6400800" y="4800600"/>
            <a:ext cx="5242255" cy="1097280"/>
          </a:xfrm>
          <a:prstGeom prst="roundRect">
            <a:avLst>
              <a:gd name="adj" fmla="val 10000"/>
            </a:avLst>
          </a:prstGeom>
          <a:solidFill>
            <a:schemeClr val="bg1"/>
          </a:solidFill>
          <a:ln/>
          <a:effectLst>
            <a:outerShdw sx="100000" sy="100000" kx="0" ky="0" algn="bl" rotWithShape="0" blurRad="114300" dist="31750" dir="5400000">
              <a:srgbClr val="1D2433">
                <a:alpha val="12000"/>
              </a:srgbClr>
            </a:outerShdw>
          </a:effectLst>
        </p:spPr>
      </p:sp>
      <p:sp>
        <p:nvSpPr>
          <p:cNvPr id="19" name="Text 16"/>
          <p:cNvSpPr txBox="1"/>
          <p:nvPr/>
        </p:nvSpPr>
        <p:spPr>
          <a:xfrm>
            <a:off x="6720840" y="4956048"/>
            <a:ext cx="274320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String</a:t>
            </a:r>
            <a:endParaRPr lang="en-IE" sz="2200" dirty="0"/>
          </a:p>
        </p:txBody>
      </p:sp>
      <p:sp>
        <p:nvSpPr>
          <p:cNvPr id="20" name="Text 17"/>
          <p:cNvSpPr txBox="1"/>
          <p:nvPr/>
        </p:nvSpPr>
        <p:spPr>
          <a:xfrm>
            <a:off x="6720840" y="5404104"/>
            <a:ext cx="2926080" cy="320040"/>
          </a:xfrm>
          <a:prstGeom prst="rect">
            <a:avLst/>
          </a:prstGeom>
          <a:noFill/>
          <a:ln/>
        </p:spPr>
        <p:txBody>
          <a:bodyPr wrap="square" lIns="0" tIns="0" rIns="0" bIns="0" rtlCol="0" anchor="t"/>
          <a:lstStyle/>
          <a:p>
            <a:pPr indent="0" marL="0">
              <a:buNone/>
            </a:pPr>
            <a:r>
              <a:rPr lang="en-IE" sz="1400" dirty="0">
                <a:solidFill>
                  <a:schemeClr val="tx2"/>
                </a:solidFill>
              </a:rPr>
              <a:t>or any other object type</a:t>
            </a:r>
            <a:endParaRPr lang="en-IE" sz="1400" dirty="0"/>
          </a:p>
        </p:txBody>
      </p:sp>
      <p:sp>
        <p:nvSpPr>
          <p:cNvPr id="21" name="Text 18"/>
          <p:cNvSpPr txBox="1"/>
          <p:nvPr/>
        </p:nvSpPr>
        <p:spPr>
          <a:xfrm>
            <a:off x="9494215" y="4800600"/>
            <a:ext cx="1828800" cy="1097280"/>
          </a:xfrm>
          <a:prstGeom prst="rect">
            <a:avLst/>
          </a:prstGeom>
          <a:noFill/>
          <a:ln/>
        </p:spPr>
        <p:txBody>
          <a:bodyPr wrap="square" lIns="0" tIns="0" rIns="0" bIns="0" rtlCol="0" anchor="ctr"/>
          <a:lstStyle/>
          <a:p>
            <a:pPr algn="r" indent="0" marL="0">
              <a:buNone/>
            </a:pPr>
            <a:r>
              <a:rPr lang="en-IE" sz="3400" b="1" dirty="0">
                <a:solidFill>
                  <a:schemeClr val="accent1"/>
                </a:solidFill>
                <a:latin typeface="Consolas" pitchFamily="34" charset="0"/>
                <a:ea typeface="Consolas" pitchFamily="34" charset="-122"/>
                <a:cs typeface="Consolas" pitchFamily="34" charset="-120"/>
              </a:rPr>
              <a:t>null</a:t>
            </a:r>
            <a:endParaRPr lang="en-IE" sz="3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72</a:t>
            </a:fld>
            <a:endParaRPr lang="en-IE"/>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Default values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class has no constructor, and its attribute </a:t>
            </a:r>
            <a:r>
              <a:rPr lang="en-IE" sz="2800" b="1" dirty="0">
                <a:solidFill>
                  <a:schemeClr val="accent2"/>
                </a:solidFill>
                <a:latin typeface="Consolas" pitchFamily="34" charset="0"/>
                <a:ea typeface="Consolas" pitchFamily="34" charset="-122"/>
                <a:cs typeface="Consolas" pitchFamily="34" charset="-120"/>
              </a:rPr>
              <a:t>int age;</a:t>
            </a:r>
            <a:r>
              <a:rPr lang="en-IE" sz="2800" b="1" dirty="0">
                <a:solidFill>
                  <a:schemeClr val="tx1"/>
                </a:solidFill>
              </a:rPr>
              <a:t> is never given a value. What does </a:t>
            </a:r>
            <a:r>
              <a:rPr lang="en-IE" sz="2800" b="1" dirty="0">
                <a:solidFill>
                  <a:schemeClr val="accent2"/>
                </a:solidFill>
                <a:latin typeface="Consolas" pitchFamily="34" charset="0"/>
                <a:ea typeface="Consolas" pitchFamily="34" charset="-122"/>
                <a:cs typeface="Consolas" pitchFamily="34" charset="-120"/>
              </a:rPr>
              <a:t>age</a:t>
            </a:r>
            <a:r>
              <a:rPr lang="en-IE" sz="2800" b="1" dirty="0">
                <a:solidFill>
                  <a:schemeClr val="tx1"/>
                </a:solidFill>
              </a:rPr>
              <a:t> start as?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null</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1</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random number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0</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73</a:t>
            </a:fld>
            <a:endParaRPr lang="en-IE"/>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Default values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class has no constructor, and its attribute </a:t>
            </a:r>
            <a:r>
              <a:rPr lang="en-IE" sz="2000" b="1" dirty="0">
                <a:solidFill>
                  <a:schemeClr val="tx2"/>
                </a:solidFill>
                <a:latin typeface="Consolas" pitchFamily="34" charset="0"/>
                <a:ea typeface="Consolas" pitchFamily="34" charset="-122"/>
                <a:cs typeface="Consolas" pitchFamily="34" charset="-120"/>
              </a:rPr>
              <a:t>int age;</a:t>
            </a:r>
            <a:r>
              <a:rPr lang="en-IE" sz="2000" b="1" dirty="0">
                <a:solidFill>
                  <a:schemeClr val="tx2"/>
                </a:solidFill>
              </a:rPr>
              <a:t> is never given a value. What does </a:t>
            </a:r>
            <a:r>
              <a:rPr lang="en-IE" sz="2000" b="1" dirty="0">
                <a:solidFill>
                  <a:schemeClr val="tx2"/>
                </a:solidFill>
                <a:latin typeface="Consolas" pitchFamily="34" charset="0"/>
                <a:ea typeface="Consolas" pitchFamily="34" charset="-122"/>
                <a:cs typeface="Consolas" pitchFamily="34" charset="-120"/>
              </a:rPr>
              <a:t>age</a:t>
            </a:r>
            <a:r>
              <a:rPr lang="en-IE" sz="2000" b="1" dirty="0">
                <a:solidFill>
                  <a:schemeClr val="tx2"/>
                </a:solidFill>
              </a:rPr>
              <a:t> start as?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null</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1</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random number</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0</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Any attribute we don’t give a value starts with a default: </a:t>
            </a:r>
            <a:r>
              <a:rPr lang="en-IE" sz="1800" dirty="0">
                <a:solidFill>
                  <a:schemeClr val="accent2"/>
                </a:solidFill>
                <a:latin typeface="Consolas" pitchFamily="34" charset="0"/>
                <a:ea typeface="Consolas" pitchFamily="34" charset="-122"/>
                <a:cs typeface="Consolas" pitchFamily="34" charset="-120"/>
              </a:rPr>
              <a:t>0</a:t>
            </a:r>
            <a:r>
              <a:rPr lang="en-IE" sz="1800" dirty="0">
                <a:solidFill>
                  <a:schemeClr val="tx1"/>
                </a:solidFill>
              </a:rPr>
              <a:t> for int, </a:t>
            </a:r>
            <a:r>
              <a:rPr lang="en-IE" sz="1800" dirty="0">
                <a:solidFill>
                  <a:schemeClr val="accent2"/>
                </a:solidFill>
                <a:latin typeface="Consolas" pitchFamily="34" charset="0"/>
                <a:ea typeface="Consolas" pitchFamily="34" charset="-122"/>
                <a:cs typeface="Consolas" pitchFamily="34" charset="-120"/>
              </a:rPr>
              <a:t>0.0</a:t>
            </a:r>
            <a:r>
              <a:rPr lang="en-IE" sz="1800" dirty="0">
                <a:solidFill>
                  <a:schemeClr val="tx1"/>
                </a:solidFill>
              </a:rPr>
              <a:t> for double and </a:t>
            </a:r>
            <a:r>
              <a:rPr lang="en-IE" sz="1800" dirty="0">
                <a:solidFill>
                  <a:schemeClr val="accent2"/>
                </a:solidFill>
                <a:latin typeface="Consolas" pitchFamily="34" charset="0"/>
                <a:ea typeface="Consolas" pitchFamily="34" charset="-122"/>
                <a:cs typeface="Consolas" pitchFamily="34" charset="-120"/>
              </a:rPr>
              <a:t>null</a:t>
            </a:r>
            <a:r>
              <a:rPr lang="en-IE" sz="1800" dirty="0">
                <a:solidFill>
                  <a:schemeClr val="tx1"/>
                </a:solidFill>
              </a:rPr>
              <a:t> for objects. With no constructor written, Java simply adds an empty default 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74</a:t>
            </a:fld>
            <a:endParaRPr lang="en-IE"/>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CREATING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Creating a class in three steps</a:t>
            </a:r>
            <a:endParaRPr lang="en-IE" sz="3400" dirty="0"/>
          </a:p>
        </p:txBody>
      </p:sp>
      <p:sp>
        <p:nvSpPr>
          <p:cNvPr id="5" name="Card"/>
          <p:cNvSpPr/>
          <p:nvPr/>
        </p:nvSpPr>
        <p:spPr>
          <a:xfrm>
            <a:off x="548640" y="1783080"/>
            <a:ext cx="3291840" cy="2743200"/>
          </a:xfrm>
          <a:prstGeom prst="roundRect">
            <a:avLst>
              <a:gd name="adj" fmla="val 40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57400"/>
            <a:ext cx="685800" cy="685800"/>
          </a:xfrm>
          <a:prstGeom prst="roundRect">
            <a:avLst>
              <a:gd name="adj" fmla="val 24000"/>
            </a:avLst>
          </a:prstGeom>
          <a:solidFill>
            <a:schemeClr val="accent2">
              <a:alpha val="14000"/>
            </a:schemeClr>
          </a:solidFill>
          <a:ln/>
        </p:spPr>
      </p:sp>
      <p:pic>
        <p:nvPicPr>
          <p:cNvPr id="7" name="file code icon" descr="file code icon">    </p:cNvPr>
          <p:cNvPicPr>
            <a:picLocks noChangeAspect="1"/>
          </p:cNvPicPr>
          <p:nvPr/>
        </p:nvPicPr>
        <p:blipFill>
          <a:blip r:embed="rId1"/>
          <a:stretch>
            <a:fillRect/>
          </a:stretch>
        </p:blipFill>
        <p:spPr>
          <a:xfrm>
            <a:off x="966978" y="2201418"/>
            <a:ext cx="397764" cy="397764"/>
          </a:xfrm>
          <a:prstGeom prst="rect">
            <a:avLst/>
          </a:prstGeom>
        </p:spPr>
      </p:pic>
      <p:sp>
        <p:nvSpPr>
          <p:cNvPr id="8" name="Text 4"/>
          <p:cNvSpPr txBox="1"/>
          <p:nvPr/>
        </p:nvSpPr>
        <p:spPr>
          <a:xfrm>
            <a:off x="1691640" y="2258568"/>
            <a:ext cx="182880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1</a:t>
            </a:r>
            <a:endParaRPr lang="en-IE" sz="1200" dirty="0"/>
          </a:p>
        </p:txBody>
      </p:sp>
      <p:sp>
        <p:nvSpPr>
          <p:cNvPr id="9" name="Text 5"/>
          <p:cNvSpPr txBox="1"/>
          <p:nvPr/>
        </p:nvSpPr>
        <p:spPr>
          <a:xfrm>
            <a:off x="822960" y="2926080"/>
            <a:ext cx="2743200" cy="685800"/>
          </a:xfrm>
          <a:prstGeom prst="rect">
            <a:avLst/>
          </a:prstGeom>
          <a:noFill/>
          <a:ln/>
        </p:spPr>
        <p:txBody>
          <a:bodyPr wrap="square" lIns="0" tIns="0" rIns="0" bIns="0" rtlCol="0" anchor="t"/>
          <a:lstStyle/>
          <a:p>
            <a:pPr indent="0" marL="0">
              <a:buNone/>
            </a:pPr>
            <a:r>
              <a:rPr lang="en-IE" sz="2000" b="1" dirty="0">
                <a:solidFill>
                  <a:schemeClr val="tx1"/>
                </a:solidFill>
              </a:rPr>
              <a:t>Create the class</a:t>
            </a:r>
            <a:endParaRPr lang="en-IE" sz="2000" dirty="0"/>
          </a:p>
        </p:txBody>
      </p:sp>
      <p:sp>
        <p:nvSpPr>
          <p:cNvPr id="10" name="Code chip"/>
          <p:cNvSpPr/>
          <p:nvPr/>
        </p:nvSpPr>
        <p:spPr>
          <a:xfrm>
            <a:off x="822960" y="3749040"/>
            <a:ext cx="2244852"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class Employee { }</a:t>
            </a:r>
            <a:endParaRPr lang="en-IE" sz="1400" dirty="0"/>
          </a:p>
        </p:txBody>
      </p:sp>
      <p:sp>
        <p:nvSpPr>
          <p:cNvPr id="11" name="Step arrow"/>
          <p:cNvSpPr/>
          <p:nvPr/>
        </p:nvSpPr>
        <p:spPr>
          <a:xfrm>
            <a:off x="3989756" y="2898648"/>
            <a:ext cx="310896" cy="512064"/>
          </a:xfrm>
          <a:prstGeom prst="chevron">
            <a:avLst/>
          </a:prstGeom>
          <a:solidFill>
            <a:schemeClr val="tx2">
              <a:alpha val="45000"/>
            </a:schemeClr>
          </a:solidFill>
          <a:ln/>
        </p:spPr>
      </p:sp>
      <p:sp>
        <p:nvSpPr>
          <p:cNvPr id="12" name="Card"/>
          <p:cNvSpPr/>
          <p:nvPr/>
        </p:nvSpPr>
        <p:spPr>
          <a:xfrm>
            <a:off x="4449928" y="1783080"/>
            <a:ext cx="3291840" cy="2743200"/>
          </a:xfrm>
          <a:prstGeom prst="roundRect">
            <a:avLst>
              <a:gd name="adj" fmla="val 4000"/>
            </a:avLst>
          </a:prstGeom>
          <a:solidFill>
            <a:schemeClr val="bg1"/>
          </a:solidFill>
          <a:ln/>
          <a:effectLst>
            <a:outerShdw sx="100000" sy="100000" kx="0" ky="0" algn="bl" rotWithShape="0" blurRad="114300" dist="31750" dir="5400000">
              <a:srgbClr val="1D2433">
                <a:alpha val="12000"/>
              </a:srgbClr>
            </a:outerShdw>
          </a:effectLst>
        </p:spPr>
      </p:sp>
      <p:sp>
        <p:nvSpPr>
          <p:cNvPr id="13" name="Icon tile"/>
          <p:cNvSpPr/>
          <p:nvPr/>
        </p:nvSpPr>
        <p:spPr>
          <a:xfrm>
            <a:off x="4724248" y="2057400"/>
            <a:ext cx="685800" cy="685800"/>
          </a:xfrm>
          <a:prstGeom prst="roundRect">
            <a:avLst>
              <a:gd name="adj" fmla="val 24000"/>
            </a:avLst>
          </a:prstGeom>
          <a:solidFill>
            <a:schemeClr val="accent1">
              <a:alpha val="14000"/>
            </a:schemeClr>
          </a:solidFill>
          <a:ln/>
        </p:spPr>
      </p:sp>
      <p:pic>
        <p:nvPicPr>
          <p:cNvPr id="14" name="tag icon" descr="tag icon">    </p:cNvPr>
          <p:cNvPicPr>
            <a:picLocks noChangeAspect="1"/>
          </p:cNvPicPr>
          <p:nvPr/>
        </p:nvPicPr>
        <p:blipFill>
          <a:blip r:embed="rId2"/>
          <a:stretch>
            <a:fillRect/>
          </a:stretch>
        </p:blipFill>
        <p:spPr>
          <a:xfrm>
            <a:off x="4868266" y="2201418"/>
            <a:ext cx="397764" cy="397764"/>
          </a:xfrm>
          <a:prstGeom prst="rect">
            <a:avLst/>
          </a:prstGeom>
        </p:spPr>
      </p:pic>
      <p:sp>
        <p:nvSpPr>
          <p:cNvPr id="15" name="Text 10"/>
          <p:cNvSpPr txBox="1"/>
          <p:nvPr/>
        </p:nvSpPr>
        <p:spPr>
          <a:xfrm>
            <a:off x="5592928" y="2258568"/>
            <a:ext cx="182880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2</a:t>
            </a:r>
            <a:endParaRPr lang="en-IE" sz="1200" dirty="0"/>
          </a:p>
        </p:txBody>
      </p:sp>
      <p:sp>
        <p:nvSpPr>
          <p:cNvPr id="16" name="Text 11"/>
          <p:cNvSpPr txBox="1"/>
          <p:nvPr/>
        </p:nvSpPr>
        <p:spPr>
          <a:xfrm>
            <a:off x="4724248" y="2926080"/>
            <a:ext cx="2743200" cy="685800"/>
          </a:xfrm>
          <a:prstGeom prst="rect">
            <a:avLst/>
          </a:prstGeom>
          <a:noFill/>
          <a:ln/>
        </p:spPr>
        <p:txBody>
          <a:bodyPr wrap="square" lIns="0" tIns="0" rIns="0" bIns="0" rtlCol="0" anchor="t"/>
          <a:lstStyle/>
          <a:p>
            <a:pPr indent="0" marL="0">
              <a:buNone/>
            </a:pPr>
            <a:r>
              <a:rPr lang="en-IE" sz="2000" b="1" dirty="0">
                <a:solidFill>
                  <a:schemeClr val="tx1"/>
                </a:solidFill>
              </a:rPr>
              <a:t>Add attributes (instance variables)</a:t>
            </a:r>
            <a:endParaRPr lang="en-IE" sz="2000" dirty="0"/>
          </a:p>
        </p:txBody>
      </p:sp>
      <p:sp>
        <p:nvSpPr>
          <p:cNvPr id="17" name="Code chip"/>
          <p:cNvSpPr/>
          <p:nvPr/>
        </p:nvSpPr>
        <p:spPr>
          <a:xfrm>
            <a:off x="4724248" y="3749040"/>
            <a:ext cx="2570226"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String name;  int id;</a:t>
            </a:r>
            <a:endParaRPr lang="en-IE" sz="1400" dirty="0"/>
          </a:p>
        </p:txBody>
      </p:sp>
      <p:sp>
        <p:nvSpPr>
          <p:cNvPr id="18" name="Step arrow"/>
          <p:cNvSpPr/>
          <p:nvPr/>
        </p:nvSpPr>
        <p:spPr>
          <a:xfrm>
            <a:off x="7891043" y="2898648"/>
            <a:ext cx="310896" cy="512064"/>
          </a:xfrm>
          <a:prstGeom prst="chevron">
            <a:avLst/>
          </a:prstGeom>
          <a:solidFill>
            <a:schemeClr val="tx2">
              <a:alpha val="45000"/>
            </a:schemeClr>
          </a:solidFill>
          <a:ln/>
        </p:spPr>
      </p:sp>
      <p:sp>
        <p:nvSpPr>
          <p:cNvPr id="19" name="Card"/>
          <p:cNvSpPr/>
          <p:nvPr/>
        </p:nvSpPr>
        <p:spPr>
          <a:xfrm>
            <a:off x="8351215" y="1783080"/>
            <a:ext cx="3291840" cy="2743200"/>
          </a:xfrm>
          <a:prstGeom prst="roundRect">
            <a:avLst>
              <a:gd name="adj" fmla="val 4000"/>
            </a:avLst>
          </a:prstGeom>
          <a:solidFill>
            <a:schemeClr val="bg1"/>
          </a:solidFill>
          <a:ln/>
          <a:effectLst>
            <a:outerShdw sx="100000" sy="100000" kx="0" ky="0" algn="bl" rotWithShape="0" blurRad="114300" dist="31750" dir="5400000">
              <a:srgbClr val="1D2433">
                <a:alpha val="12000"/>
              </a:srgbClr>
            </a:outerShdw>
          </a:effectLst>
        </p:spPr>
      </p:sp>
      <p:sp>
        <p:nvSpPr>
          <p:cNvPr id="20" name="Icon tile"/>
          <p:cNvSpPr/>
          <p:nvPr/>
        </p:nvSpPr>
        <p:spPr>
          <a:xfrm>
            <a:off x="8625535" y="2057400"/>
            <a:ext cx="685800" cy="685800"/>
          </a:xfrm>
          <a:prstGeom prst="roundRect">
            <a:avLst>
              <a:gd name="adj" fmla="val 24000"/>
            </a:avLst>
          </a:prstGeom>
          <a:solidFill>
            <a:schemeClr val="accent4">
              <a:alpha val="14000"/>
            </a:schemeClr>
          </a:solidFill>
          <a:ln/>
        </p:spPr>
      </p:sp>
      <p:pic>
        <p:nvPicPr>
          <p:cNvPr id="21" name="lightning icon" descr="lightning icon">    </p:cNvPr>
          <p:cNvPicPr>
            <a:picLocks noChangeAspect="1"/>
          </p:cNvPicPr>
          <p:nvPr/>
        </p:nvPicPr>
        <p:blipFill>
          <a:blip r:embed="rId3"/>
          <a:stretch>
            <a:fillRect/>
          </a:stretch>
        </p:blipFill>
        <p:spPr>
          <a:xfrm>
            <a:off x="8769553" y="2201418"/>
            <a:ext cx="397764" cy="397764"/>
          </a:xfrm>
          <a:prstGeom prst="rect">
            <a:avLst/>
          </a:prstGeom>
        </p:spPr>
      </p:pic>
      <p:sp>
        <p:nvSpPr>
          <p:cNvPr id="22" name="Text 16"/>
          <p:cNvSpPr txBox="1"/>
          <p:nvPr/>
        </p:nvSpPr>
        <p:spPr>
          <a:xfrm>
            <a:off x="9494215" y="2258568"/>
            <a:ext cx="1828800" cy="274320"/>
          </a:xfrm>
          <a:prstGeom prst="rect">
            <a:avLst/>
          </a:prstGeom>
          <a:noFill/>
          <a:ln/>
        </p:spPr>
        <p:txBody>
          <a:bodyPr wrap="square" lIns="0" tIns="0" rIns="0" bIns="0" rtlCol="0" anchor="t"/>
          <a:lstStyle/>
          <a:p>
            <a:pPr indent="0" marL="0">
              <a:buNone/>
            </a:pPr>
            <a:r>
              <a:rPr lang="en-IE" sz="1200" b="1" spc="150" kern="0" dirty="0">
                <a:solidFill>
                  <a:schemeClr val="tx2"/>
                </a:solidFill>
              </a:rPr>
              <a:t>STEP 3</a:t>
            </a:r>
            <a:endParaRPr lang="en-IE" sz="1200" dirty="0"/>
          </a:p>
        </p:txBody>
      </p:sp>
      <p:sp>
        <p:nvSpPr>
          <p:cNvPr id="23" name="Text 17"/>
          <p:cNvSpPr txBox="1"/>
          <p:nvPr/>
        </p:nvSpPr>
        <p:spPr>
          <a:xfrm>
            <a:off x="8625535" y="2926080"/>
            <a:ext cx="2743200" cy="685800"/>
          </a:xfrm>
          <a:prstGeom prst="rect">
            <a:avLst/>
          </a:prstGeom>
          <a:noFill/>
          <a:ln/>
        </p:spPr>
        <p:txBody>
          <a:bodyPr wrap="square" lIns="0" tIns="0" rIns="0" bIns="0" rtlCol="0" anchor="t"/>
          <a:lstStyle/>
          <a:p>
            <a:pPr indent="0" marL="0">
              <a:buNone/>
            </a:pPr>
            <a:r>
              <a:rPr lang="en-IE" sz="2000" b="1" dirty="0">
                <a:solidFill>
                  <a:schemeClr val="tx1"/>
                </a:solidFill>
              </a:rPr>
              <a:t>Add methods (operations)</a:t>
            </a:r>
            <a:endParaRPr lang="en-IE" sz="2000" dirty="0"/>
          </a:p>
        </p:txBody>
      </p:sp>
      <p:sp>
        <p:nvSpPr>
          <p:cNvPr id="24" name="Code chip"/>
          <p:cNvSpPr/>
          <p:nvPr/>
        </p:nvSpPr>
        <p:spPr>
          <a:xfrm>
            <a:off x="8625535" y="3749040"/>
            <a:ext cx="2461768"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400" dirty="0">
                <a:solidFill>
                  <a:schemeClr val="accent2"/>
                </a:solidFill>
                <a:latin typeface="Consolas" pitchFamily="34" charset="0"/>
                <a:ea typeface="Consolas" pitchFamily="34" charset="-122"/>
                <a:cs typeface="Consolas" pitchFamily="34" charset="-120"/>
              </a:rPr>
              <a:t>sayName()  getInfo()</a:t>
            </a:r>
            <a:endParaRPr lang="en-IE" sz="1400" dirty="0"/>
          </a:p>
        </p:txBody>
      </p:sp>
      <p:sp>
        <p:nvSpPr>
          <p:cNvPr id="25" name="Note"/>
          <p:cNvSpPr/>
          <p:nvPr/>
        </p:nvSpPr>
        <p:spPr>
          <a:xfrm>
            <a:off x="548640" y="4846320"/>
            <a:ext cx="11094415" cy="1188720"/>
          </a:xfrm>
          <a:prstGeom prst="roundRect">
            <a:avLst>
              <a:gd name="adj" fmla="val 9231"/>
            </a:avLst>
          </a:prstGeom>
          <a:solidFill>
            <a:schemeClr val="bg2"/>
          </a:solidFill>
          <a:ln/>
        </p:spPr>
      </p:sp>
      <p:sp>
        <p:nvSpPr>
          <p:cNvPr id="26" name="Icon tile"/>
          <p:cNvSpPr/>
          <p:nvPr/>
        </p:nvSpPr>
        <p:spPr>
          <a:xfrm>
            <a:off x="868680" y="5138928"/>
            <a:ext cx="603504" cy="603504"/>
          </a:xfrm>
          <a:prstGeom prst="roundRect">
            <a:avLst>
              <a:gd name="adj" fmla="val 24000"/>
            </a:avLst>
          </a:prstGeom>
          <a:solidFill>
            <a:schemeClr val="accent2">
              <a:alpha val="14000"/>
            </a:schemeClr>
          </a:solidFill>
          <a:ln/>
        </p:spPr>
      </p:sp>
      <p:pic>
        <p:nvPicPr>
          <p:cNvPr id="27" name="info icon" descr="info icon">    </p:cNvPr>
          <p:cNvPicPr>
            <a:picLocks noChangeAspect="1"/>
          </p:cNvPicPr>
          <p:nvPr/>
        </p:nvPicPr>
        <p:blipFill>
          <a:blip r:embed="rId4"/>
          <a:stretch>
            <a:fillRect/>
          </a:stretch>
        </p:blipFill>
        <p:spPr>
          <a:xfrm>
            <a:off x="995416" y="5265664"/>
            <a:ext cx="350032" cy="350032"/>
          </a:xfrm>
          <a:prstGeom prst="rect">
            <a:avLst/>
          </a:prstGeom>
        </p:spPr>
      </p:pic>
      <p:sp>
        <p:nvSpPr>
          <p:cNvPr id="28" name="Text 21"/>
          <p:cNvSpPr txBox="1"/>
          <p:nvPr/>
        </p:nvSpPr>
        <p:spPr>
          <a:xfrm>
            <a:off x="1737360" y="4892040"/>
            <a:ext cx="9646920" cy="1097280"/>
          </a:xfrm>
          <a:prstGeom prst="rect">
            <a:avLst/>
          </a:prstGeom>
          <a:noFill/>
          <a:ln/>
        </p:spPr>
        <p:txBody>
          <a:bodyPr wrap="square" lIns="0" tIns="0" rIns="0" bIns="0" rtlCol="0" anchor="ctr"/>
          <a:lstStyle/>
          <a:p>
            <a:pPr indent="0" marL="0">
              <a:buNone/>
            </a:pPr>
            <a:r>
              <a:rPr lang="en-IE" sz="1800" dirty="0">
                <a:solidFill>
                  <a:schemeClr val="tx1"/>
                </a:solidFill>
              </a:rPr>
              <a:t>Only the class that starts the program needs a </a:t>
            </a:r>
            <a:r>
              <a:rPr lang="en-IE" sz="1800" dirty="0">
                <a:solidFill>
                  <a:schemeClr val="accent2"/>
                </a:solidFill>
                <a:latin typeface="Consolas" pitchFamily="34" charset="0"/>
                <a:ea typeface="Consolas" pitchFamily="34" charset="-122"/>
                <a:cs typeface="Consolas" pitchFamily="34" charset="-120"/>
              </a:rPr>
              <a:t>main</a:t>
            </a:r>
            <a:r>
              <a:rPr lang="en-IE" sz="1800" dirty="0">
                <a:solidFill>
                  <a:schemeClr val="tx1"/>
                </a:solidFill>
              </a:rPr>
              <a:t> method. A class like Employee is used by other classes, so it doesn’t need 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75</a:t>
            </a:fld>
            <a:endParaRPr lang="en-IE"/>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CREATING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Employee class, piece by piece</a:t>
            </a:r>
            <a:endParaRPr lang="en-IE" sz="3400" dirty="0"/>
          </a:p>
        </p:txBody>
      </p:sp>
      <p:sp>
        <p:nvSpPr>
          <p:cNvPr id="5" name="Employee card"/>
          <p:cNvSpPr/>
          <p:nvPr/>
        </p:nvSpPr>
        <p:spPr>
          <a:xfrm>
            <a:off x="548640" y="1645920"/>
            <a:ext cx="6492240" cy="4267200"/>
          </a:xfrm>
          <a:prstGeom prst="roundRect">
            <a:avLst>
              <a:gd name="adj" fmla="val 2571"/>
            </a:avLst>
          </a:prstGeom>
          <a:solidFill>
            <a:schemeClr val="tx1"/>
          </a:solidFill>
          <a:ln/>
          <a:effectLst>
            <a:outerShdw sx="100000" sy="100000" kx="0" ky="0" algn="bl" rotWithShape="0" blurRad="114300" dist="31750" dir="5400000">
              <a:srgbClr val="1D2433">
                <a:alpha val="12000"/>
              </a:srgbClr>
            </a:outerShdw>
          </a:effectLst>
        </p:spPr>
      </p:sp>
      <p:sp>
        <p:nvSpPr>
          <p:cNvPr id="6" name="Attributes band"/>
          <p:cNvSpPr/>
          <p:nvPr/>
        </p:nvSpPr>
        <p:spPr>
          <a:xfrm>
            <a:off x="658368" y="2019300"/>
            <a:ext cx="6272784" cy="608076"/>
          </a:xfrm>
          <a:prstGeom prst="roundRect">
            <a:avLst>
              <a:gd name="adj" fmla="val 9023"/>
            </a:avLst>
          </a:prstGeom>
          <a:solidFill>
            <a:schemeClr val="accent1">
              <a:alpha val="20000"/>
            </a:schemeClr>
          </a:solidFill>
          <a:ln/>
        </p:spPr>
      </p:sp>
      <p:sp>
        <p:nvSpPr>
          <p:cNvPr id="7" name="Connector"/>
          <p:cNvSpPr/>
          <p:nvPr/>
        </p:nvSpPr>
        <p:spPr>
          <a:xfrm>
            <a:off x="7086600" y="2323338"/>
            <a:ext cx="320040" cy="0"/>
          </a:xfrm>
          <a:prstGeom prst="line">
            <a:avLst/>
          </a:prstGeom>
          <a:noFill/>
          <a:ln w="19050">
            <a:solidFill>
              <a:schemeClr val="accent1"/>
            </a:solidFill>
            <a:prstDash val="solid"/>
          </a:ln>
        </p:spPr>
      </p:sp>
      <p:sp>
        <p:nvSpPr>
          <p:cNvPr id="8" name="Attributes label"/>
          <p:cNvSpPr/>
          <p:nvPr/>
        </p:nvSpPr>
        <p:spPr>
          <a:xfrm>
            <a:off x="7452360" y="1980438"/>
            <a:ext cx="4190695" cy="685800"/>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9" name="Dot"/>
          <p:cNvSpPr/>
          <p:nvPr/>
        </p:nvSpPr>
        <p:spPr>
          <a:xfrm>
            <a:off x="7708392" y="2131314"/>
            <a:ext cx="146304" cy="146304"/>
          </a:xfrm>
          <a:prstGeom prst="ellipse">
            <a:avLst/>
          </a:prstGeom>
          <a:solidFill>
            <a:schemeClr val="accent1"/>
          </a:solidFill>
          <a:ln/>
        </p:spPr>
      </p:sp>
      <p:sp>
        <p:nvSpPr>
          <p:cNvPr id="10" name="Text 7"/>
          <p:cNvSpPr txBox="1"/>
          <p:nvPr/>
        </p:nvSpPr>
        <p:spPr>
          <a:xfrm>
            <a:off x="7955280" y="2039874"/>
            <a:ext cx="3459175" cy="292608"/>
          </a:xfrm>
          <a:prstGeom prst="rect">
            <a:avLst/>
          </a:prstGeom>
          <a:noFill/>
          <a:ln/>
        </p:spPr>
        <p:txBody>
          <a:bodyPr wrap="square" lIns="0" tIns="0" rIns="0" bIns="0" rtlCol="0" anchor="ctr"/>
          <a:lstStyle/>
          <a:p>
            <a:pPr indent="0" marL="0">
              <a:buNone/>
            </a:pPr>
            <a:r>
              <a:rPr lang="en-IE" sz="1800" b="1" dirty="0">
                <a:solidFill>
                  <a:schemeClr val="tx1"/>
                </a:solidFill>
              </a:rPr>
              <a:t>Attributes</a:t>
            </a:r>
            <a:endParaRPr lang="en-IE" sz="1800" dirty="0"/>
          </a:p>
        </p:txBody>
      </p:sp>
      <p:sp>
        <p:nvSpPr>
          <p:cNvPr id="11" name="Text 8"/>
          <p:cNvSpPr txBox="1"/>
          <p:nvPr/>
        </p:nvSpPr>
        <p:spPr>
          <a:xfrm>
            <a:off x="7955280" y="2341626"/>
            <a:ext cx="3504895" cy="256032"/>
          </a:xfrm>
          <a:prstGeom prst="rect">
            <a:avLst/>
          </a:prstGeom>
          <a:noFill/>
          <a:ln/>
        </p:spPr>
        <p:txBody>
          <a:bodyPr wrap="square" lIns="0" tIns="0" rIns="0" bIns="0" rtlCol="0" anchor="ctr"/>
          <a:lstStyle/>
          <a:p>
            <a:pPr indent="0" marL="0">
              <a:buNone/>
            </a:pPr>
            <a:r>
              <a:rPr lang="en-IE" sz="1350" dirty="0">
                <a:solidFill>
                  <a:schemeClr val="tx2"/>
                </a:solidFill>
              </a:rPr>
              <a:t>A name and an id for each employee.</a:t>
            </a:r>
            <a:endParaRPr lang="en-IE" sz="1350" dirty="0"/>
          </a:p>
        </p:txBody>
      </p:sp>
      <p:sp>
        <p:nvSpPr>
          <p:cNvPr id="12" name="Constructor band"/>
          <p:cNvSpPr/>
          <p:nvPr/>
        </p:nvSpPr>
        <p:spPr>
          <a:xfrm>
            <a:off x="658368" y="2781300"/>
            <a:ext cx="6272784" cy="989076"/>
          </a:xfrm>
          <a:prstGeom prst="roundRect">
            <a:avLst>
              <a:gd name="adj" fmla="val 5547"/>
            </a:avLst>
          </a:prstGeom>
          <a:solidFill>
            <a:schemeClr val="accent4">
              <a:alpha val="20000"/>
            </a:schemeClr>
          </a:solidFill>
          <a:ln/>
        </p:spPr>
      </p:sp>
      <p:sp>
        <p:nvSpPr>
          <p:cNvPr id="13" name="Connector"/>
          <p:cNvSpPr/>
          <p:nvPr/>
        </p:nvSpPr>
        <p:spPr>
          <a:xfrm>
            <a:off x="7086600" y="3275838"/>
            <a:ext cx="320040" cy="0"/>
          </a:xfrm>
          <a:prstGeom prst="line">
            <a:avLst/>
          </a:prstGeom>
          <a:noFill/>
          <a:ln w="19050">
            <a:solidFill>
              <a:schemeClr val="accent4"/>
            </a:solidFill>
            <a:prstDash val="solid"/>
          </a:ln>
        </p:spPr>
      </p:sp>
      <p:sp>
        <p:nvSpPr>
          <p:cNvPr id="14" name="Constructor label"/>
          <p:cNvSpPr/>
          <p:nvPr/>
        </p:nvSpPr>
        <p:spPr>
          <a:xfrm>
            <a:off x="7452360" y="2932938"/>
            <a:ext cx="4190695" cy="685800"/>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15" name="Dot"/>
          <p:cNvSpPr/>
          <p:nvPr/>
        </p:nvSpPr>
        <p:spPr>
          <a:xfrm>
            <a:off x="7708392" y="3083814"/>
            <a:ext cx="146304" cy="146304"/>
          </a:xfrm>
          <a:prstGeom prst="ellipse">
            <a:avLst/>
          </a:prstGeom>
          <a:solidFill>
            <a:schemeClr val="accent4"/>
          </a:solidFill>
          <a:ln/>
        </p:spPr>
      </p:sp>
      <p:sp>
        <p:nvSpPr>
          <p:cNvPr id="16" name="Text 13"/>
          <p:cNvSpPr txBox="1"/>
          <p:nvPr/>
        </p:nvSpPr>
        <p:spPr>
          <a:xfrm>
            <a:off x="7955280" y="2992374"/>
            <a:ext cx="3459175" cy="292608"/>
          </a:xfrm>
          <a:prstGeom prst="rect">
            <a:avLst/>
          </a:prstGeom>
          <a:noFill/>
          <a:ln/>
        </p:spPr>
        <p:txBody>
          <a:bodyPr wrap="square" lIns="0" tIns="0" rIns="0" bIns="0" rtlCol="0" anchor="ctr"/>
          <a:lstStyle/>
          <a:p>
            <a:pPr indent="0" marL="0">
              <a:buNone/>
            </a:pPr>
            <a:r>
              <a:rPr lang="en-IE" sz="1800" b="1" dirty="0">
                <a:solidFill>
                  <a:schemeClr val="tx1"/>
                </a:solidFill>
              </a:rPr>
              <a:t>Constructor</a:t>
            </a:r>
            <a:endParaRPr lang="en-IE" sz="1800" dirty="0"/>
          </a:p>
        </p:txBody>
      </p:sp>
      <p:sp>
        <p:nvSpPr>
          <p:cNvPr id="17" name="Text 14"/>
          <p:cNvSpPr txBox="1"/>
          <p:nvPr/>
        </p:nvSpPr>
        <p:spPr>
          <a:xfrm>
            <a:off x="7955280" y="3294126"/>
            <a:ext cx="3504895" cy="256032"/>
          </a:xfrm>
          <a:prstGeom prst="rect">
            <a:avLst/>
          </a:prstGeom>
          <a:noFill/>
          <a:ln/>
        </p:spPr>
        <p:txBody>
          <a:bodyPr wrap="square" lIns="0" tIns="0" rIns="0" bIns="0" rtlCol="0" anchor="ctr"/>
          <a:lstStyle/>
          <a:p>
            <a:pPr indent="0" marL="0">
              <a:buNone/>
            </a:pPr>
            <a:r>
              <a:rPr lang="en-IE" sz="1350" dirty="0">
                <a:solidFill>
                  <a:schemeClr val="tx2"/>
                </a:solidFill>
              </a:rPr>
              <a:t>Fills in the name and id we pass in.</a:t>
            </a:r>
            <a:endParaRPr lang="en-IE" sz="1350" dirty="0"/>
          </a:p>
        </p:txBody>
      </p:sp>
      <p:sp>
        <p:nvSpPr>
          <p:cNvPr id="18" name="Methods band"/>
          <p:cNvSpPr/>
          <p:nvPr/>
        </p:nvSpPr>
        <p:spPr>
          <a:xfrm>
            <a:off x="658368" y="3924300"/>
            <a:ext cx="6272784" cy="1560576"/>
          </a:xfrm>
          <a:prstGeom prst="roundRect">
            <a:avLst>
              <a:gd name="adj" fmla="val 3516"/>
            </a:avLst>
          </a:prstGeom>
          <a:solidFill>
            <a:schemeClr val="accent5">
              <a:alpha val="20000"/>
            </a:schemeClr>
          </a:solidFill>
          <a:ln/>
        </p:spPr>
      </p:sp>
      <p:sp>
        <p:nvSpPr>
          <p:cNvPr id="19" name="Connector"/>
          <p:cNvSpPr/>
          <p:nvPr/>
        </p:nvSpPr>
        <p:spPr>
          <a:xfrm>
            <a:off x="7086600" y="4704588"/>
            <a:ext cx="320040" cy="0"/>
          </a:xfrm>
          <a:prstGeom prst="line">
            <a:avLst/>
          </a:prstGeom>
          <a:noFill/>
          <a:ln w="19050">
            <a:solidFill>
              <a:schemeClr val="accent5"/>
            </a:solidFill>
            <a:prstDash val="solid"/>
          </a:ln>
        </p:spPr>
      </p:sp>
      <p:sp>
        <p:nvSpPr>
          <p:cNvPr id="20" name="Methods label"/>
          <p:cNvSpPr/>
          <p:nvPr/>
        </p:nvSpPr>
        <p:spPr>
          <a:xfrm>
            <a:off x="7452360" y="4361688"/>
            <a:ext cx="4190695" cy="685800"/>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21" name="Dot"/>
          <p:cNvSpPr/>
          <p:nvPr/>
        </p:nvSpPr>
        <p:spPr>
          <a:xfrm>
            <a:off x="7708392" y="4512564"/>
            <a:ext cx="146304" cy="146304"/>
          </a:xfrm>
          <a:prstGeom prst="ellipse">
            <a:avLst/>
          </a:prstGeom>
          <a:solidFill>
            <a:schemeClr val="accent5"/>
          </a:solidFill>
          <a:ln/>
        </p:spPr>
      </p:sp>
      <p:sp>
        <p:nvSpPr>
          <p:cNvPr id="22" name="Text 19"/>
          <p:cNvSpPr txBox="1"/>
          <p:nvPr/>
        </p:nvSpPr>
        <p:spPr>
          <a:xfrm>
            <a:off x="7955280" y="4421124"/>
            <a:ext cx="3459175" cy="292608"/>
          </a:xfrm>
          <a:prstGeom prst="rect">
            <a:avLst/>
          </a:prstGeom>
          <a:noFill/>
          <a:ln/>
        </p:spPr>
        <p:txBody>
          <a:bodyPr wrap="square" lIns="0" tIns="0" rIns="0" bIns="0" rtlCol="0" anchor="ctr"/>
          <a:lstStyle/>
          <a:p>
            <a:pPr indent="0" marL="0">
              <a:buNone/>
            </a:pPr>
            <a:r>
              <a:rPr lang="en-IE" sz="1800" b="1" dirty="0">
                <a:solidFill>
                  <a:schemeClr val="tx1"/>
                </a:solidFill>
              </a:rPr>
              <a:t>Methods</a:t>
            </a:r>
            <a:endParaRPr lang="en-IE" sz="1800" dirty="0"/>
          </a:p>
        </p:txBody>
      </p:sp>
      <p:sp>
        <p:nvSpPr>
          <p:cNvPr id="23" name="Text 20"/>
          <p:cNvSpPr txBox="1"/>
          <p:nvPr/>
        </p:nvSpPr>
        <p:spPr>
          <a:xfrm>
            <a:off x="7955280" y="4722876"/>
            <a:ext cx="3504895" cy="256032"/>
          </a:xfrm>
          <a:prstGeom prst="rect">
            <a:avLst/>
          </a:prstGeom>
          <a:noFill/>
          <a:ln/>
        </p:spPr>
        <p:txBody>
          <a:bodyPr wrap="square" lIns="0" tIns="0" rIns="0" bIns="0" rtlCol="0" anchor="ctr"/>
          <a:lstStyle/>
          <a:p>
            <a:pPr indent="0" marL="0">
              <a:buNone/>
            </a:pPr>
            <a:r>
              <a:rPr lang="en-IE" sz="1350" dirty="0">
                <a:solidFill>
                  <a:schemeClr val="tx2"/>
                </a:solidFill>
              </a:rPr>
              <a:t>Say the name, or give back the info.</a:t>
            </a:r>
            <a:endParaRPr lang="en-IE" sz="1350" dirty="0"/>
          </a:p>
        </p:txBody>
      </p:sp>
      <p:sp>
        <p:nvSpPr>
          <p:cNvPr id="24" name="Employee code"/>
          <p:cNvSpPr txBox="1"/>
          <p:nvPr/>
        </p:nvSpPr>
        <p:spPr>
          <a:xfrm>
            <a:off x="822960" y="1847088"/>
            <a:ext cx="6035040" cy="3864864"/>
          </a:xfrm>
          <a:prstGeom prst="rect">
            <a:avLst/>
          </a:prstGeom>
          <a:noFill/>
          <a:ln/>
        </p:spPr>
        <p:txBody>
          <a:bodyPr wrap="square" lIns="0" tIns="0" rIns="0" bIns="0" rtlCol="0" anchor="t"/>
          <a:lstStyle/>
          <a:p>
            <a:pPr indent="0" marL="0">
              <a:lnSpc>
                <a:spcPts val="150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Employee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attributes</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name;</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id;</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constructor</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Employee</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name, </a:t>
            </a:r>
            <a:r>
              <a:rPr lang="en-IE" sz="1300" dirty="0">
                <a:solidFill>
                  <a:srgbClr val="FF9F5A"/>
                </a:solidFill>
                <a:latin typeface="Consolas" pitchFamily="34" charset="0"/>
                <a:ea typeface="Consolas" pitchFamily="34" charset="-122"/>
                <a:cs typeface="Consolas" pitchFamily="34" charset="-120"/>
              </a:rPr>
              <a:t>int</a:t>
            </a:r>
            <a:r>
              <a:rPr lang="en-IE" sz="1300" dirty="0">
                <a:solidFill>
                  <a:srgbClr val="E6EBF2"/>
                </a:solidFill>
                <a:latin typeface="Consolas" pitchFamily="34" charset="0"/>
                <a:ea typeface="Consolas" pitchFamily="34" charset="-122"/>
                <a:cs typeface="Consolas" pitchFamily="34" charset="-120"/>
              </a:rPr>
              <a:t> id)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this</a:t>
            </a:r>
            <a:r>
              <a:rPr lang="en-IE" sz="1300" dirty="0">
                <a:solidFill>
                  <a:srgbClr val="E6EBF2"/>
                </a:solidFill>
                <a:latin typeface="Consolas" pitchFamily="34" charset="0"/>
                <a:ea typeface="Consolas" pitchFamily="34" charset="-122"/>
                <a:cs typeface="Consolas" pitchFamily="34" charset="-120"/>
              </a:rPr>
              <a:t>.name = name;</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this</a:t>
            </a:r>
            <a:r>
              <a:rPr lang="en-IE" sz="1300" dirty="0">
                <a:solidFill>
                  <a:srgbClr val="E6EBF2"/>
                </a:solidFill>
                <a:latin typeface="Consolas" pitchFamily="34" charset="0"/>
                <a:ea typeface="Consolas" pitchFamily="34" charset="-122"/>
                <a:cs typeface="Consolas" pitchFamily="34" charset="-120"/>
              </a:rPr>
              <a:t>.id = id;</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i="1" dirty="0">
                <a:solidFill>
                  <a:srgbClr val="A3AEC2"/>
                </a:solidFill>
                <a:latin typeface="Consolas" pitchFamily="34" charset="0"/>
                <a:ea typeface="Consolas" pitchFamily="34" charset="-122"/>
                <a:cs typeface="Consolas" pitchFamily="34" charset="-120"/>
              </a:rPr>
              <a:t>// methods</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void</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sayName</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System</a:t>
            </a:r>
            <a:r>
              <a:rPr lang="en-IE" sz="1300" dirty="0">
                <a:solidFill>
                  <a:srgbClr val="E6EBF2"/>
                </a:solidFill>
                <a:latin typeface="Consolas" pitchFamily="34" charset="0"/>
                <a:ea typeface="Consolas" pitchFamily="34" charset="-122"/>
                <a:cs typeface="Consolas" pitchFamily="34" charset="-120"/>
              </a:rPr>
              <a:t>.out.</a:t>
            </a:r>
            <a:r>
              <a:rPr lang="en-IE" sz="1300" dirty="0">
                <a:solidFill>
                  <a:srgbClr val="C9B0FF"/>
                </a:solidFill>
                <a:latin typeface="Consolas" pitchFamily="34" charset="0"/>
                <a:ea typeface="Consolas" pitchFamily="34" charset="-122"/>
                <a:cs typeface="Consolas" pitchFamily="34" charset="-120"/>
              </a:rPr>
              <a:t>println</a:t>
            </a:r>
            <a:r>
              <a:rPr lang="en-IE" sz="1300" dirty="0">
                <a:solidFill>
                  <a:srgbClr val="E6EBF2"/>
                </a:solidFill>
                <a:latin typeface="Consolas" pitchFamily="34" charset="0"/>
                <a:ea typeface="Consolas" pitchFamily="34" charset="-122"/>
                <a:cs typeface="Consolas" pitchFamily="34" charset="-120"/>
              </a:rPr>
              <a:t>(name);</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String</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getInfo</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name + </a:t>
            </a:r>
            <a:r>
              <a:rPr lang="en-IE" sz="1300" dirty="0">
                <a:solidFill>
                  <a:srgbClr val="A9DB8C"/>
                </a:solidFill>
                <a:latin typeface="Consolas" pitchFamily="34" charset="0"/>
                <a:ea typeface="Consolas" pitchFamily="34" charset="-122"/>
                <a:cs typeface="Consolas" pitchFamily="34" charset="-120"/>
              </a:rPr>
              <a:t>" : "</a:t>
            </a:r>
            <a:r>
              <a:rPr lang="en-IE" sz="1300" dirty="0">
                <a:solidFill>
                  <a:srgbClr val="E6EBF2"/>
                </a:solidFill>
                <a:latin typeface="Consolas" pitchFamily="34" charset="0"/>
                <a:ea typeface="Consolas" pitchFamily="34" charset="-122"/>
                <a:cs typeface="Consolas" pitchFamily="34" charset="-120"/>
              </a:rPr>
              <a:t> + id;</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50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76</a:t>
            </a:fld>
            <a:endParaRPr lang="en-IE"/>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objects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class needs a </a:t>
            </a:r>
            <a:r>
              <a:rPr lang="en-IE" sz="2800" b="1" dirty="0">
                <a:solidFill>
                  <a:schemeClr val="accent2"/>
                </a:solidFill>
                <a:latin typeface="Consolas" pitchFamily="34" charset="0"/>
                <a:ea typeface="Consolas" pitchFamily="34" charset="-122"/>
                <a:cs typeface="Consolas" pitchFamily="34" charset="-120"/>
              </a:rPr>
              <a:t>main</a:t>
            </a:r>
            <a:r>
              <a:rPr lang="en-IE" sz="2800" b="1" dirty="0">
                <a:solidFill>
                  <a:schemeClr val="tx1"/>
                </a:solidFill>
              </a:rPr>
              <a:t> method?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class we write, without exception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the classes that have attributes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the class that starts the program</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 class ever needs a main method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77</a:t>
            </a:fld>
            <a:endParaRPr lang="en-IE"/>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objects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class needs a </a:t>
            </a:r>
            <a:r>
              <a:rPr lang="en-IE" sz="2000" b="1" dirty="0">
                <a:solidFill>
                  <a:schemeClr val="tx2"/>
                </a:solidFill>
                <a:latin typeface="Consolas" pitchFamily="34" charset="0"/>
                <a:ea typeface="Consolas" pitchFamily="34" charset="-122"/>
                <a:cs typeface="Consolas" pitchFamily="34" charset="-120"/>
              </a:rPr>
              <a:t>main</a:t>
            </a:r>
            <a:r>
              <a:rPr lang="en-IE" sz="2000" b="1" dirty="0">
                <a:solidFill>
                  <a:schemeClr val="tx2"/>
                </a:solidFill>
              </a:rPr>
              <a:t> method?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class we write, without exception</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the classes that have attributes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Only the class that starts the program</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No class ever needs a main method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main</a:t>
            </a:r>
            <a:r>
              <a:rPr lang="en-IE" sz="1800" dirty="0">
                <a:solidFill>
                  <a:schemeClr val="tx1"/>
                </a:solidFill>
              </a:rPr>
              <a:t> is where the program starts. A class like Employee is used by other classes, so it does not need one.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78</a:t>
            </a:fld>
            <a:endParaRPr lang="en-IE"/>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CREATING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Where classes live</a:t>
            </a:r>
            <a:endParaRPr lang="en-IE" sz="3400" dirty="0"/>
          </a:p>
        </p:txBody>
      </p:sp>
      <p:sp>
        <p:nvSpPr>
          <p:cNvPr id="5" name="Text 2"/>
          <p:cNvSpPr txBox="1"/>
          <p:nvPr/>
        </p:nvSpPr>
        <p:spPr>
          <a:xfrm>
            <a:off x="548640" y="1783080"/>
            <a:ext cx="548640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The Employee class is saved in a file called </a:t>
            </a:r>
            <a:r>
              <a:rPr lang="en-IE" sz="1800" b="1" dirty="0">
                <a:solidFill>
                  <a:schemeClr val="tx1"/>
                </a:solidFill>
              </a:rPr>
              <a:t>Employee.java</a:t>
            </a:r>
            <a:r>
              <a:rPr lang="en-IE" sz="1800" dirty="0">
                <a:solidFill>
                  <a:schemeClr val="tx1"/>
                </a:solidFill>
              </a:rPr>
              <a:t>.</a:t>
            </a:r>
            <a:endParaRPr lang="en-IE" sz="1800" dirty="0"/>
          </a:p>
          <a:p>
            <a:pPr marL="228600" indent="-228600">
              <a:spcAft>
                <a:spcPts val="1400"/>
              </a:spcAft>
              <a:buSzPct val="100000"/>
              <a:buChar char="•"/>
            </a:pPr>
            <a:r>
              <a:rPr lang="en-IE" sz="1800" dirty="0">
                <a:solidFill>
                  <a:schemeClr val="tx1"/>
                </a:solidFill>
              </a:rPr>
              <a:t>Each public class goes in its own file, and the file has the same name as the class.</a:t>
            </a:r>
            <a:endParaRPr lang="en-IE" sz="1800" dirty="0"/>
          </a:p>
          <a:p>
            <a:pPr marL="228600" indent="-228600">
              <a:spcAft>
                <a:spcPts val="1400"/>
              </a:spcAft>
              <a:buSzPct val="100000"/>
              <a:buChar char="•"/>
            </a:pPr>
            <a:r>
              <a:rPr lang="en-IE" sz="1800" dirty="0">
                <a:solidFill>
                  <a:schemeClr val="tx1"/>
                </a:solidFill>
              </a:rPr>
              <a:t>To use a class from another class, keep both files in the same folder.</a:t>
            </a:r>
            <a:endParaRPr lang="en-IE" sz="1800" dirty="0"/>
          </a:p>
          <a:p>
            <a:pPr marL="228600" indent="-228600">
              <a:buSzPct val="100000"/>
              <a:buChar char="•"/>
            </a:pPr>
            <a:r>
              <a:rPr lang="en-IE" sz="1800" dirty="0">
                <a:solidFill>
                  <a:schemeClr val="tx1"/>
                </a:solidFill>
              </a:rPr>
              <a:t>If the class is in another package or library, we </a:t>
            </a:r>
            <a:r>
              <a:rPr lang="en-IE" sz="1800" b="1" dirty="0">
                <a:solidFill>
                  <a:schemeClr val="tx1"/>
                </a:solidFill>
              </a:rPr>
              <a:t>import</a:t>
            </a:r>
            <a:r>
              <a:rPr lang="en-IE" sz="1800" dirty="0">
                <a:solidFill>
                  <a:schemeClr val="tx1"/>
                </a:solidFill>
              </a:rPr>
              <a:t> it, using its package name.</a:t>
            </a:r>
            <a:endParaRPr lang="en-IE" sz="1800" dirty="0"/>
          </a:p>
        </p:txBody>
      </p:sp>
      <p:sp>
        <p:nvSpPr>
          <p:cNvPr id="6" name="Project folder"/>
          <p:cNvSpPr/>
          <p:nvPr/>
        </p:nvSpPr>
        <p:spPr>
          <a:xfrm>
            <a:off x="6400800" y="1783080"/>
            <a:ext cx="5242255" cy="2377440"/>
          </a:xfrm>
          <a:prstGeom prst="roundRect">
            <a:avLst>
              <a:gd name="adj" fmla="val 4615"/>
            </a:avLst>
          </a:prstGeom>
          <a:solidFill>
            <a:schemeClr val="bg2"/>
          </a:solidFill>
          <a:ln/>
        </p:spPr>
      </p:sp>
      <p:pic>
        <p:nvPicPr>
          <p:cNvPr id="7" name="Folder" descr="Folder">    </p:cNvPr>
          <p:cNvPicPr>
            <a:picLocks noChangeAspect="1"/>
          </p:cNvPicPr>
          <p:nvPr/>
        </p:nvPicPr>
        <p:blipFill>
          <a:blip r:embed="rId1"/>
          <a:stretch>
            <a:fillRect/>
          </a:stretch>
        </p:blipFill>
        <p:spPr>
          <a:xfrm>
            <a:off x="6675120" y="1965960"/>
            <a:ext cx="566928" cy="566928"/>
          </a:xfrm>
          <a:prstGeom prst="rect">
            <a:avLst/>
          </a:prstGeom>
        </p:spPr>
      </p:pic>
      <p:sp>
        <p:nvSpPr>
          <p:cNvPr id="8" name="Text 4"/>
          <p:cNvSpPr txBox="1"/>
          <p:nvPr/>
        </p:nvSpPr>
        <p:spPr>
          <a:xfrm>
            <a:off x="7360920" y="1984248"/>
            <a:ext cx="2743200" cy="502920"/>
          </a:xfrm>
          <a:prstGeom prst="rect">
            <a:avLst/>
          </a:prstGeom>
          <a:noFill/>
          <a:ln/>
        </p:spPr>
        <p:txBody>
          <a:bodyPr wrap="square" lIns="0" tIns="0" rIns="0" bIns="0" rtlCol="0" anchor="ctr"/>
          <a:lstStyle/>
          <a:p>
            <a:pPr indent="0" marL="0">
              <a:buNone/>
            </a:pPr>
            <a:r>
              <a:rPr lang="en-IE" sz="1700" b="1" dirty="0">
                <a:solidFill>
                  <a:schemeClr val="tx1"/>
                </a:solidFill>
                <a:latin typeface="Consolas" pitchFamily="34" charset="0"/>
                <a:ea typeface="Consolas" pitchFamily="34" charset="-122"/>
                <a:cs typeface="Consolas" pitchFamily="34" charset="-120"/>
              </a:rPr>
              <a:t>my-project</a:t>
            </a:r>
            <a:endParaRPr lang="en-IE" sz="1700" dirty="0"/>
          </a:p>
        </p:txBody>
      </p:sp>
      <p:sp>
        <p:nvSpPr>
          <p:cNvPr id="9" name="File"/>
          <p:cNvSpPr/>
          <p:nvPr/>
        </p:nvSpPr>
        <p:spPr>
          <a:xfrm>
            <a:off x="6675120" y="2651760"/>
            <a:ext cx="4693615" cy="585216"/>
          </a:xfrm>
          <a:prstGeom prst="roundRect">
            <a:avLst>
              <a:gd name="adj" fmla="val 18750"/>
            </a:avLst>
          </a:prstGeom>
          <a:solidFill>
            <a:schemeClr val="bg1"/>
          </a:solidFill>
          <a:ln/>
        </p:spPr>
      </p:sp>
      <p:pic>
        <p:nvPicPr>
          <p:cNvPr id="10" name="File icon" descr="File icon">    </p:cNvPr>
          <p:cNvPicPr>
            <a:picLocks noChangeAspect="1"/>
          </p:cNvPicPr>
          <p:nvPr/>
        </p:nvPicPr>
        <p:blipFill>
          <a:blip r:embed="rId2"/>
          <a:stretch>
            <a:fillRect/>
          </a:stretch>
        </p:blipFill>
        <p:spPr>
          <a:xfrm>
            <a:off x="6812280" y="2743200"/>
            <a:ext cx="402336" cy="402336"/>
          </a:xfrm>
          <a:prstGeom prst="rect">
            <a:avLst/>
          </a:prstGeom>
        </p:spPr>
      </p:pic>
      <p:sp>
        <p:nvSpPr>
          <p:cNvPr id="11" name="Text 6"/>
          <p:cNvSpPr txBox="1"/>
          <p:nvPr/>
        </p:nvSpPr>
        <p:spPr>
          <a:xfrm>
            <a:off x="7315200" y="2651760"/>
            <a:ext cx="2194560" cy="585216"/>
          </a:xfrm>
          <a:prstGeom prst="rect">
            <a:avLst/>
          </a:prstGeom>
          <a:noFill/>
          <a:ln/>
        </p:spPr>
        <p:txBody>
          <a:bodyPr wrap="square" lIns="0" tIns="0" rIns="0" bIns="0" rtlCol="0" anchor="ctr"/>
          <a:lstStyle/>
          <a:p>
            <a:pPr indent="0" marL="0">
              <a:buNone/>
            </a:pPr>
            <a:r>
              <a:rPr lang="en-IE" sz="1600" b="1" dirty="0">
                <a:solidFill>
                  <a:schemeClr val="tx1"/>
                </a:solidFill>
                <a:latin typeface="Consolas" pitchFamily="34" charset="0"/>
                <a:ea typeface="Consolas" pitchFamily="34" charset="-122"/>
                <a:cs typeface="Consolas" pitchFamily="34" charset="-120"/>
              </a:rPr>
              <a:t>Employee.java</a:t>
            </a:r>
            <a:endParaRPr lang="en-IE" sz="1600" dirty="0"/>
          </a:p>
        </p:txBody>
      </p:sp>
      <p:sp>
        <p:nvSpPr>
          <p:cNvPr id="12" name="Text 7"/>
          <p:cNvSpPr txBox="1"/>
          <p:nvPr/>
        </p:nvSpPr>
        <p:spPr>
          <a:xfrm>
            <a:off x="9418320" y="2651760"/>
            <a:ext cx="1813255" cy="585216"/>
          </a:xfrm>
          <a:prstGeom prst="rect">
            <a:avLst/>
          </a:prstGeom>
          <a:noFill/>
          <a:ln/>
        </p:spPr>
        <p:txBody>
          <a:bodyPr wrap="square" lIns="0" tIns="0" rIns="0" bIns="0" rtlCol="0" anchor="ctr"/>
          <a:lstStyle/>
          <a:p>
            <a:pPr algn="r" indent="0" marL="0">
              <a:buNone/>
            </a:pPr>
            <a:r>
              <a:rPr lang="en-IE" sz="1300" dirty="0">
                <a:solidFill>
                  <a:schemeClr val="tx2"/>
                </a:solidFill>
              </a:rPr>
              <a:t>the Employee class</a:t>
            </a:r>
            <a:endParaRPr lang="en-IE" sz="1300" dirty="0"/>
          </a:p>
        </p:txBody>
      </p:sp>
      <p:sp>
        <p:nvSpPr>
          <p:cNvPr id="13" name="File"/>
          <p:cNvSpPr/>
          <p:nvPr/>
        </p:nvSpPr>
        <p:spPr>
          <a:xfrm>
            <a:off x="6675120" y="3364992"/>
            <a:ext cx="4693615" cy="585216"/>
          </a:xfrm>
          <a:prstGeom prst="roundRect">
            <a:avLst>
              <a:gd name="adj" fmla="val 18750"/>
            </a:avLst>
          </a:prstGeom>
          <a:solidFill>
            <a:schemeClr val="bg1"/>
          </a:solidFill>
          <a:ln/>
        </p:spPr>
      </p:sp>
      <p:pic>
        <p:nvPicPr>
          <p:cNvPr id="14" name="File icon" descr="File icon">    </p:cNvPr>
          <p:cNvPicPr>
            <a:picLocks noChangeAspect="1"/>
          </p:cNvPicPr>
          <p:nvPr/>
        </p:nvPicPr>
        <p:blipFill>
          <a:blip r:embed="rId3"/>
          <a:stretch>
            <a:fillRect/>
          </a:stretch>
        </p:blipFill>
        <p:spPr>
          <a:xfrm>
            <a:off x="6812280" y="3456432"/>
            <a:ext cx="402336" cy="402336"/>
          </a:xfrm>
          <a:prstGeom prst="rect">
            <a:avLst/>
          </a:prstGeom>
        </p:spPr>
      </p:pic>
      <p:sp>
        <p:nvSpPr>
          <p:cNvPr id="15" name="Text 9"/>
          <p:cNvSpPr txBox="1"/>
          <p:nvPr/>
        </p:nvSpPr>
        <p:spPr>
          <a:xfrm>
            <a:off x="7315200" y="3364992"/>
            <a:ext cx="2194560" cy="585216"/>
          </a:xfrm>
          <a:prstGeom prst="rect">
            <a:avLst/>
          </a:prstGeom>
          <a:noFill/>
          <a:ln/>
        </p:spPr>
        <p:txBody>
          <a:bodyPr wrap="square" lIns="0" tIns="0" rIns="0" bIns="0" rtlCol="0" anchor="ctr"/>
          <a:lstStyle/>
          <a:p>
            <a:pPr indent="0" marL="0">
              <a:buNone/>
            </a:pPr>
            <a:r>
              <a:rPr lang="en-IE" sz="1600" b="1" dirty="0">
                <a:solidFill>
                  <a:schemeClr val="tx1"/>
                </a:solidFill>
                <a:latin typeface="Consolas" pitchFamily="34" charset="0"/>
                <a:ea typeface="Consolas" pitchFamily="34" charset="-122"/>
                <a:cs typeface="Consolas" pitchFamily="34" charset="-120"/>
              </a:rPr>
              <a:t>Main.java</a:t>
            </a:r>
            <a:endParaRPr lang="en-IE" sz="1600" dirty="0"/>
          </a:p>
        </p:txBody>
      </p:sp>
      <p:sp>
        <p:nvSpPr>
          <p:cNvPr id="16" name="Text 10"/>
          <p:cNvSpPr txBox="1"/>
          <p:nvPr/>
        </p:nvSpPr>
        <p:spPr>
          <a:xfrm>
            <a:off x="9418320" y="3364992"/>
            <a:ext cx="1813255" cy="585216"/>
          </a:xfrm>
          <a:prstGeom prst="rect">
            <a:avLst/>
          </a:prstGeom>
          <a:noFill/>
          <a:ln/>
        </p:spPr>
        <p:txBody>
          <a:bodyPr wrap="square" lIns="0" tIns="0" rIns="0" bIns="0" rtlCol="0" anchor="ctr"/>
          <a:lstStyle/>
          <a:p>
            <a:pPr algn="r" indent="0" marL="0">
              <a:buNone/>
            </a:pPr>
            <a:r>
              <a:rPr lang="en-IE" sz="1300" dirty="0">
                <a:solidFill>
                  <a:schemeClr val="tx2"/>
                </a:solidFill>
              </a:rPr>
              <a:t>uses Employee</a:t>
            </a:r>
            <a:endParaRPr lang="en-IE" sz="1300" dirty="0"/>
          </a:p>
        </p:txBody>
      </p:sp>
      <p:sp>
        <p:nvSpPr>
          <p:cNvPr id="17" name="Import card"/>
          <p:cNvSpPr/>
          <p:nvPr/>
        </p:nvSpPr>
        <p:spPr>
          <a:xfrm>
            <a:off x="6400800" y="4434840"/>
            <a:ext cx="5242255" cy="1017778"/>
          </a:xfrm>
          <a:prstGeom prst="roundRect">
            <a:avLst>
              <a:gd name="adj" fmla="val 10781"/>
            </a:avLst>
          </a:prstGeom>
          <a:solidFill>
            <a:schemeClr val="tx1"/>
          </a:solidFill>
          <a:ln/>
          <a:effectLst>
            <a:outerShdw sx="100000" sy="100000" kx="0" ky="0" algn="bl" rotWithShape="0" blurRad="114300" dist="31750" dir="5400000">
              <a:srgbClr val="1D2433">
                <a:alpha val="12000"/>
              </a:srgbClr>
            </a:outerShdw>
          </a:effectLst>
        </p:spPr>
      </p:sp>
      <p:sp>
        <p:nvSpPr>
          <p:cNvPr id="18" name="Import language"/>
          <p:cNvSpPr txBox="1"/>
          <p:nvPr/>
        </p:nvSpPr>
        <p:spPr>
          <a:xfrm>
            <a:off x="6675120" y="4553712"/>
            <a:ext cx="46936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9" name="Import text"/>
          <p:cNvSpPr txBox="1"/>
          <p:nvPr/>
        </p:nvSpPr>
        <p:spPr>
          <a:xfrm>
            <a:off x="6675120" y="4928616"/>
            <a:ext cx="4693615" cy="32283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import</a:t>
            </a:r>
            <a:r>
              <a:rPr lang="en-IE" sz="1600" dirty="0">
                <a:solidFill>
                  <a:srgbClr val="E6EBF2"/>
                </a:solidFill>
                <a:latin typeface="Consolas" pitchFamily="34" charset="0"/>
                <a:ea typeface="Consolas" pitchFamily="34" charset="-122"/>
                <a:cs typeface="Consolas" pitchFamily="34" charset="-120"/>
              </a:rPr>
              <a:t> java.util.</a:t>
            </a:r>
            <a:r>
              <a:rPr lang="en-IE" sz="1600" dirty="0">
                <a:solidFill>
                  <a:srgbClr val="6CC4E8"/>
                </a:solidFill>
                <a:latin typeface="Consolas" pitchFamily="34" charset="0"/>
                <a:ea typeface="Consolas" pitchFamily="34" charset="-122"/>
                <a:cs typeface="Consolas" pitchFamily="34" charset="-120"/>
              </a:rPr>
              <a:t>Scanner</a:t>
            </a: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20" name="Text 14"/>
          <p:cNvSpPr txBox="1"/>
          <p:nvPr/>
        </p:nvSpPr>
        <p:spPr>
          <a:xfrm>
            <a:off x="6400800" y="5589778"/>
            <a:ext cx="5242255" cy="457200"/>
          </a:xfrm>
          <a:prstGeom prst="rect">
            <a:avLst/>
          </a:prstGeom>
          <a:noFill/>
          <a:ln/>
        </p:spPr>
        <p:txBody>
          <a:bodyPr wrap="square" lIns="0" tIns="0" rIns="0" bIns="0" rtlCol="0" anchor="t"/>
          <a:lstStyle/>
          <a:p>
            <a:pPr indent="0" marL="0">
              <a:buNone/>
            </a:pPr>
            <a:r>
              <a:rPr lang="en-IE" sz="1400" dirty="0">
                <a:solidFill>
                  <a:schemeClr val="tx2"/>
                </a:solidFill>
              </a:rPr>
              <a:t>Scanner is in the </a:t>
            </a:r>
            <a:r>
              <a:rPr lang="en-IE" sz="1400" dirty="0">
                <a:solidFill>
                  <a:schemeClr val="accent2"/>
                </a:solidFill>
                <a:latin typeface="Consolas" pitchFamily="34" charset="0"/>
                <a:ea typeface="Consolas" pitchFamily="34" charset="-122"/>
                <a:cs typeface="Consolas" pitchFamily="34" charset="-120"/>
              </a:rPr>
              <a:t>java.util</a:t>
            </a:r>
            <a:r>
              <a:rPr lang="en-IE" sz="1400" dirty="0">
                <a:solidFill>
                  <a:schemeClr val="tx2"/>
                </a:solidFill>
              </a:rPr>
              <a:t> package, so we import it as </a:t>
            </a:r>
            <a:r>
              <a:rPr lang="en-IE" sz="1400" dirty="0">
                <a:solidFill>
                  <a:schemeClr val="accent2"/>
                </a:solidFill>
                <a:latin typeface="Consolas" pitchFamily="34" charset="0"/>
                <a:ea typeface="Consolas" pitchFamily="34" charset="-122"/>
                <a:cs typeface="Consolas" pitchFamily="34" charset="-120"/>
              </a:rPr>
              <a:t>java.util.Scanner</a:t>
            </a:r>
            <a:r>
              <a:rPr lang="en-IE" sz="1400" dirty="0">
                <a:solidFill>
                  <a:schemeClr val="tx2"/>
                </a:solidFill>
              </a:rPr>
              <a: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79</a:t>
            </a:fld>
            <a:endParaRPr lang="en-IE"/>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objects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public class is called </a:t>
            </a:r>
            <a:r>
              <a:rPr lang="en-IE" sz="2800" b="1" dirty="0">
                <a:solidFill>
                  <a:schemeClr val="accent2"/>
                </a:solidFill>
                <a:latin typeface="Consolas" pitchFamily="34" charset="0"/>
                <a:ea typeface="Consolas" pitchFamily="34" charset="-122"/>
                <a:cs typeface="Consolas" pitchFamily="34" charset="-120"/>
              </a:rPr>
              <a:t>Employee</a:t>
            </a:r>
            <a:r>
              <a:rPr lang="en-IE" sz="2800" b="1" dirty="0">
                <a:solidFill>
                  <a:schemeClr val="tx1"/>
                </a:solidFill>
              </a:rPr>
              <a:t>. What should its file be called?</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Main.java</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employee.java</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Any name we like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Employee.java</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80</a:t>
            </a:fld>
            <a:endParaRPr lang="en-IE"/>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Creating objects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public class is called </a:t>
            </a:r>
            <a:r>
              <a:rPr lang="en-IE" sz="2000" b="1" dirty="0">
                <a:solidFill>
                  <a:schemeClr val="tx2"/>
                </a:solidFill>
                <a:latin typeface="Consolas" pitchFamily="34" charset="0"/>
                <a:ea typeface="Consolas" pitchFamily="34" charset="-122"/>
                <a:cs typeface="Consolas" pitchFamily="34" charset="-120"/>
              </a:rPr>
              <a:t>Employee</a:t>
            </a:r>
            <a:r>
              <a:rPr lang="en-IE" sz="2000" b="1" dirty="0">
                <a:solidFill>
                  <a:schemeClr val="tx2"/>
                </a:solidFill>
              </a:rPr>
              <a:t>. What should its file be called?</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Main.java</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employee.java</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Any name we like</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Employee.java</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Each public class is stored in its own file, and the file name matches the class name exactly: </a:t>
            </a:r>
            <a:r>
              <a:rPr lang="en-IE" sz="1800" dirty="0">
                <a:solidFill>
                  <a:schemeClr val="accent2"/>
                </a:solidFill>
                <a:latin typeface="Consolas" pitchFamily="34" charset="0"/>
                <a:ea typeface="Consolas" pitchFamily="34" charset="-122"/>
                <a:cs typeface="Consolas" pitchFamily="34" charset="-120"/>
              </a:rPr>
              <a:t>Employee.java</a:t>
            </a:r>
            <a:r>
              <a:rPr lang="en-IE" sz="1800" dirty="0">
                <a:solidFill>
                  <a:schemeClr val="tx1"/>
                </a:solidFill>
              </a:rPr>
              <a:t>. Java checks this, so a file called </a:t>
            </a:r>
            <a:r>
              <a:rPr lang="en-IE" sz="1800" dirty="0">
                <a:solidFill>
                  <a:schemeClr val="accent2"/>
                </a:solidFill>
                <a:latin typeface="Consolas" pitchFamily="34" charset="0"/>
                <a:ea typeface="Consolas" pitchFamily="34" charset="-122"/>
                <a:cs typeface="Consolas" pitchFamily="34" charset="-120"/>
              </a:rPr>
              <a:t>employee.java</a:t>
            </a:r>
            <a:r>
              <a:rPr lang="en-IE" sz="1800" dirty="0">
                <a:solidFill>
                  <a:schemeClr val="tx1"/>
                </a:solidFill>
              </a:rPr>
              <a:t>, with a small e, won’t compile.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81</a:t>
            </a:fld>
            <a:endParaRPr lang="en-IE"/>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CREATING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Creating an object with new</a:t>
            </a:r>
            <a:endParaRPr lang="en-IE" sz="3400" dirty="0"/>
          </a:p>
        </p:txBody>
      </p:sp>
      <p:sp>
        <p:nvSpPr>
          <p:cNvPr id="5" name="Text 2"/>
          <p:cNvSpPr txBox="1"/>
          <p:nvPr/>
        </p:nvSpPr>
        <p:spPr>
          <a:xfrm>
            <a:off x="548640" y="1737360"/>
            <a:ext cx="11094415" cy="731520"/>
          </a:xfrm>
          <a:prstGeom prst="rect">
            <a:avLst/>
          </a:prstGeom>
          <a:noFill/>
          <a:ln/>
        </p:spPr>
        <p:txBody>
          <a:bodyPr wrap="square" lIns="0" tIns="0" rIns="0" bIns="0" rtlCol="0" anchor="t"/>
          <a:lstStyle/>
          <a:p>
            <a:pPr indent="0" marL="0">
              <a:buNone/>
            </a:pPr>
            <a:r>
              <a:rPr lang="en-IE" sz="2000" dirty="0">
                <a:solidFill>
                  <a:schemeClr val="tx1"/>
                </a:solidFill>
              </a:rPr>
              <a:t>A constructor is called when an object is created. To create an object we use the keyword </a:t>
            </a:r>
            <a:r>
              <a:rPr lang="en-IE" sz="2000" b="1" dirty="0">
                <a:solidFill>
                  <a:schemeClr val="tx1"/>
                </a:solidFill>
              </a:rPr>
              <a:t>new</a:t>
            </a:r>
            <a:r>
              <a:rPr lang="en-IE" sz="2000" dirty="0">
                <a:solidFill>
                  <a:schemeClr val="tx1"/>
                </a:solidFill>
              </a:rPr>
              <a:t>:</a:t>
            </a:r>
            <a:endParaRPr lang="en-IE" sz="2000" dirty="0"/>
          </a:p>
        </p:txBody>
      </p:sp>
      <p:sp>
        <p:nvSpPr>
          <p:cNvPr id="6" name="Part: class name"/>
          <p:cNvSpPr/>
          <p:nvPr/>
        </p:nvSpPr>
        <p:spPr>
          <a:xfrm>
            <a:off x="820903" y="2743200"/>
            <a:ext cx="1912112" cy="868680"/>
          </a:xfrm>
          <a:prstGeom prst="roundRect">
            <a:avLst>
              <a:gd name="adj" fmla="val 12632"/>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2200" b="1" dirty="0">
                <a:solidFill>
                  <a:schemeClr val="tx1"/>
                </a:solidFill>
                <a:latin typeface="Consolas" pitchFamily="34" charset="0"/>
                <a:ea typeface="Consolas" pitchFamily="34" charset="-122"/>
                <a:cs typeface="Consolas" pitchFamily="34" charset="-120"/>
              </a:rPr>
              <a:t>Employee</a:t>
            </a:r>
            <a:endParaRPr lang="en-IE" sz="2200" dirty="0"/>
          </a:p>
        </p:txBody>
      </p:sp>
      <p:sp>
        <p:nvSpPr>
          <p:cNvPr id="7" name="Connector"/>
          <p:cNvSpPr/>
          <p:nvPr/>
        </p:nvSpPr>
        <p:spPr>
          <a:xfrm>
            <a:off x="1776959" y="3657600"/>
            <a:ext cx="0" cy="320040"/>
          </a:xfrm>
          <a:prstGeom prst="line">
            <a:avLst/>
          </a:prstGeom>
          <a:noFill/>
          <a:ln w="19050">
            <a:solidFill>
              <a:schemeClr val="accent2"/>
            </a:solidFill>
            <a:prstDash val="solid"/>
          </a:ln>
        </p:spPr>
      </p:sp>
      <p:sp>
        <p:nvSpPr>
          <p:cNvPr id="8" name="Text 5"/>
          <p:cNvSpPr txBox="1"/>
          <p:nvPr/>
        </p:nvSpPr>
        <p:spPr>
          <a:xfrm>
            <a:off x="592303" y="4023360"/>
            <a:ext cx="2369312" cy="347472"/>
          </a:xfrm>
          <a:prstGeom prst="rect">
            <a:avLst/>
          </a:prstGeom>
          <a:noFill/>
          <a:ln/>
        </p:spPr>
        <p:txBody>
          <a:bodyPr wrap="square" lIns="0" tIns="0" rIns="0" bIns="0" rtlCol="0" anchor="t"/>
          <a:lstStyle/>
          <a:p>
            <a:pPr algn="ctr" indent="0" marL="0">
              <a:buNone/>
            </a:pPr>
            <a:r>
              <a:rPr lang="en-IE" sz="1800" b="1" dirty="0">
                <a:solidFill>
                  <a:schemeClr val="tx1"/>
                </a:solidFill>
              </a:rPr>
              <a:t>class name</a:t>
            </a:r>
            <a:endParaRPr lang="en-IE" sz="1800" dirty="0"/>
          </a:p>
        </p:txBody>
      </p:sp>
      <p:sp>
        <p:nvSpPr>
          <p:cNvPr id="9" name="Text 6"/>
          <p:cNvSpPr txBox="1"/>
          <p:nvPr/>
        </p:nvSpPr>
        <p:spPr>
          <a:xfrm>
            <a:off x="592303" y="4370832"/>
            <a:ext cx="2369312" cy="320040"/>
          </a:xfrm>
          <a:prstGeom prst="rect">
            <a:avLst/>
          </a:prstGeom>
          <a:noFill/>
          <a:ln/>
        </p:spPr>
        <p:txBody>
          <a:bodyPr wrap="square" lIns="0" tIns="0" rIns="0" bIns="0" rtlCol="0" anchor="t"/>
          <a:lstStyle/>
          <a:p>
            <a:pPr algn="ctr" indent="0" marL="0">
              <a:buNone/>
            </a:pPr>
            <a:r>
              <a:rPr lang="en-IE" sz="1400" dirty="0">
                <a:solidFill>
                  <a:schemeClr val="tx2"/>
                </a:solidFill>
              </a:rPr>
              <a:t>the type of object</a:t>
            </a:r>
            <a:endParaRPr lang="en-IE" sz="1400" dirty="0"/>
          </a:p>
        </p:txBody>
      </p:sp>
      <p:sp>
        <p:nvSpPr>
          <p:cNvPr id="10" name="Part: variable name"/>
          <p:cNvSpPr/>
          <p:nvPr/>
        </p:nvSpPr>
        <p:spPr>
          <a:xfrm>
            <a:off x="2961615" y="2743200"/>
            <a:ext cx="2082546" cy="868680"/>
          </a:xfrm>
          <a:prstGeom prst="roundRect">
            <a:avLst>
              <a:gd name="adj" fmla="val 12632"/>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2200" b="1" dirty="0">
                <a:solidFill>
                  <a:schemeClr val="tx1"/>
                </a:solidFill>
                <a:latin typeface="Consolas" pitchFamily="34" charset="0"/>
                <a:ea typeface="Consolas" pitchFamily="34" charset="-122"/>
                <a:cs typeface="Consolas" pitchFamily="34" charset="-120"/>
              </a:rPr>
              <a:t>employee1</a:t>
            </a:r>
            <a:endParaRPr lang="en-IE" sz="2200" dirty="0"/>
          </a:p>
        </p:txBody>
      </p:sp>
      <p:sp>
        <p:nvSpPr>
          <p:cNvPr id="11" name="Connector"/>
          <p:cNvSpPr/>
          <p:nvPr/>
        </p:nvSpPr>
        <p:spPr>
          <a:xfrm>
            <a:off x="4002888" y="3657600"/>
            <a:ext cx="0" cy="320040"/>
          </a:xfrm>
          <a:prstGeom prst="line">
            <a:avLst/>
          </a:prstGeom>
          <a:noFill/>
          <a:ln w="19050">
            <a:solidFill>
              <a:schemeClr val="accent1"/>
            </a:solidFill>
            <a:prstDash val="solid"/>
          </a:ln>
        </p:spPr>
      </p:sp>
      <p:sp>
        <p:nvSpPr>
          <p:cNvPr id="12" name="Text 9"/>
          <p:cNvSpPr txBox="1"/>
          <p:nvPr/>
        </p:nvSpPr>
        <p:spPr>
          <a:xfrm>
            <a:off x="2733015" y="4023360"/>
            <a:ext cx="2539746" cy="347472"/>
          </a:xfrm>
          <a:prstGeom prst="rect">
            <a:avLst/>
          </a:prstGeom>
          <a:noFill/>
          <a:ln/>
        </p:spPr>
        <p:txBody>
          <a:bodyPr wrap="square" lIns="0" tIns="0" rIns="0" bIns="0" rtlCol="0" anchor="t"/>
          <a:lstStyle/>
          <a:p>
            <a:pPr algn="ctr" indent="0" marL="0">
              <a:buNone/>
            </a:pPr>
            <a:r>
              <a:rPr lang="en-IE" sz="1800" b="1" dirty="0">
                <a:solidFill>
                  <a:schemeClr val="tx1"/>
                </a:solidFill>
              </a:rPr>
              <a:t>variable name</a:t>
            </a:r>
            <a:endParaRPr lang="en-IE" sz="1800" dirty="0"/>
          </a:p>
        </p:txBody>
      </p:sp>
      <p:sp>
        <p:nvSpPr>
          <p:cNvPr id="13" name="Text 10"/>
          <p:cNvSpPr txBox="1"/>
          <p:nvPr/>
        </p:nvSpPr>
        <p:spPr>
          <a:xfrm>
            <a:off x="2733015" y="4370832"/>
            <a:ext cx="2539746" cy="320040"/>
          </a:xfrm>
          <a:prstGeom prst="rect">
            <a:avLst/>
          </a:prstGeom>
          <a:noFill/>
          <a:ln/>
        </p:spPr>
        <p:txBody>
          <a:bodyPr wrap="square" lIns="0" tIns="0" rIns="0" bIns="0" rtlCol="0" anchor="t"/>
          <a:lstStyle/>
          <a:p>
            <a:pPr algn="ctr" indent="0" marL="0">
              <a:buNone/>
            </a:pPr>
            <a:r>
              <a:rPr lang="en-IE" sz="1400" dirty="0">
                <a:solidFill>
                  <a:schemeClr val="tx2"/>
                </a:solidFill>
              </a:rPr>
              <a:t>refers to the object</a:t>
            </a:r>
            <a:endParaRPr lang="en-IE" sz="1400" dirty="0"/>
          </a:p>
        </p:txBody>
      </p:sp>
      <p:sp>
        <p:nvSpPr>
          <p:cNvPr id="14" name="Part: create and store"/>
          <p:cNvSpPr/>
          <p:nvPr/>
        </p:nvSpPr>
        <p:spPr>
          <a:xfrm>
            <a:off x="5272761" y="2743200"/>
            <a:ext cx="1400810" cy="868680"/>
          </a:xfrm>
          <a:prstGeom prst="roundRect">
            <a:avLst>
              <a:gd name="adj" fmla="val 12632"/>
            </a:avLst>
          </a:prstGeom>
          <a:solidFill>
            <a:schemeClr val="accent5">
              <a:alpha val="14000"/>
            </a:schemeClr>
          </a:solidFill>
          <a:ln w="19050">
            <a:solidFill>
              <a:schemeClr val="accent5"/>
            </a:solidFill>
          </a:ln>
        </p:spPr>
        <p:txBody>
          <a:bodyPr wrap="square" lIns="0" tIns="0" rIns="0" bIns="0" rtlCol="0" anchor="ctr"/>
          <a:lstStyle/>
          <a:p>
            <a:pPr algn="ctr" indent="0" marL="0">
              <a:buNone/>
            </a:pPr>
            <a:r>
              <a:rPr lang="en-IE" sz="2200" b="1" dirty="0">
                <a:solidFill>
                  <a:schemeClr val="tx1"/>
                </a:solidFill>
                <a:latin typeface="Consolas" pitchFamily="34" charset="0"/>
                <a:ea typeface="Consolas" pitchFamily="34" charset="-122"/>
                <a:cs typeface="Consolas" pitchFamily="34" charset="-120"/>
              </a:rPr>
              <a:t>= new</a:t>
            </a:r>
            <a:endParaRPr lang="en-IE" sz="2200" dirty="0"/>
          </a:p>
        </p:txBody>
      </p:sp>
      <p:sp>
        <p:nvSpPr>
          <p:cNvPr id="15" name="Connector"/>
          <p:cNvSpPr/>
          <p:nvPr/>
        </p:nvSpPr>
        <p:spPr>
          <a:xfrm>
            <a:off x="5973166" y="3657600"/>
            <a:ext cx="0" cy="320040"/>
          </a:xfrm>
          <a:prstGeom prst="line">
            <a:avLst/>
          </a:prstGeom>
          <a:noFill/>
          <a:ln w="19050">
            <a:solidFill>
              <a:schemeClr val="accent5"/>
            </a:solidFill>
            <a:prstDash val="solid"/>
          </a:ln>
        </p:spPr>
      </p:sp>
      <p:sp>
        <p:nvSpPr>
          <p:cNvPr id="16" name="Text 13"/>
          <p:cNvSpPr txBox="1"/>
          <p:nvPr/>
        </p:nvSpPr>
        <p:spPr>
          <a:xfrm>
            <a:off x="5044161" y="4023360"/>
            <a:ext cx="1858010" cy="347472"/>
          </a:xfrm>
          <a:prstGeom prst="rect">
            <a:avLst/>
          </a:prstGeom>
          <a:noFill/>
          <a:ln/>
        </p:spPr>
        <p:txBody>
          <a:bodyPr wrap="square" lIns="0" tIns="0" rIns="0" bIns="0" rtlCol="0" anchor="t"/>
          <a:lstStyle/>
          <a:p>
            <a:pPr algn="ctr" indent="0" marL="0">
              <a:buNone/>
            </a:pPr>
            <a:r>
              <a:rPr lang="en-IE" sz="1800" b="1" dirty="0">
                <a:solidFill>
                  <a:schemeClr val="tx1"/>
                </a:solidFill>
              </a:rPr>
              <a:t>create and store</a:t>
            </a:r>
            <a:endParaRPr lang="en-IE" sz="1800" dirty="0"/>
          </a:p>
        </p:txBody>
      </p:sp>
      <p:sp>
        <p:nvSpPr>
          <p:cNvPr id="17" name="Text 14"/>
          <p:cNvSpPr txBox="1"/>
          <p:nvPr/>
        </p:nvSpPr>
        <p:spPr>
          <a:xfrm>
            <a:off x="5044161" y="4370832"/>
            <a:ext cx="1858010" cy="320040"/>
          </a:xfrm>
          <a:prstGeom prst="rect">
            <a:avLst/>
          </a:prstGeom>
          <a:noFill/>
          <a:ln/>
        </p:spPr>
        <p:txBody>
          <a:bodyPr wrap="square" lIns="0" tIns="0" rIns="0" bIns="0" rtlCol="0" anchor="t"/>
          <a:lstStyle/>
          <a:p>
            <a:pPr algn="ctr" indent="0" marL="0">
              <a:buNone/>
            </a:pPr>
            <a:r>
              <a:rPr lang="en-IE" sz="1400" dirty="0">
                <a:solidFill>
                  <a:schemeClr val="tx2"/>
                </a:solidFill>
              </a:rPr>
              <a:t>new creates it, = stores it</a:t>
            </a:r>
            <a:endParaRPr lang="en-IE" sz="1400" dirty="0"/>
          </a:p>
        </p:txBody>
      </p:sp>
      <p:sp>
        <p:nvSpPr>
          <p:cNvPr id="18" name="Part: constructor call"/>
          <p:cNvSpPr/>
          <p:nvPr/>
        </p:nvSpPr>
        <p:spPr>
          <a:xfrm>
            <a:off x="6902171" y="2743200"/>
            <a:ext cx="4468622" cy="868680"/>
          </a:xfrm>
          <a:prstGeom prst="roundRect">
            <a:avLst>
              <a:gd name="adj" fmla="val 12632"/>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2200" b="1" dirty="0">
                <a:solidFill>
                  <a:schemeClr val="tx1"/>
                </a:solidFill>
                <a:latin typeface="Consolas" pitchFamily="34" charset="0"/>
                <a:ea typeface="Consolas" pitchFamily="34" charset="-122"/>
                <a:cs typeface="Consolas" pitchFamily="34" charset="-120"/>
              </a:rPr>
              <a:t>Employee("jack", 2323);</a:t>
            </a:r>
            <a:endParaRPr lang="en-IE" sz="2200" dirty="0"/>
          </a:p>
        </p:txBody>
      </p:sp>
      <p:sp>
        <p:nvSpPr>
          <p:cNvPr id="19" name="Connector"/>
          <p:cNvSpPr/>
          <p:nvPr/>
        </p:nvSpPr>
        <p:spPr>
          <a:xfrm>
            <a:off x="9136482" y="3657600"/>
            <a:ext cx="0" cy="320040"/>
          </a:xfrm>
          <a:prstGeom prst="line">
            <a:avLst/>
          </a:prstGeom>
          <a:noFill/>
          <a:ln w="19050">
            <a:solidFill>
              <a:schemeClr val="accent3"/>
            </a:solidFill>
            <a:prstDash val="solid"/>
          </a:ln>
        </p:spPr>
      </p:sp>
      <p:sp>
        <p:nvSpPr>
          <p:cNvPr id="20" name="Text 17"/>
          <p:cNvSpPr txBox="1"/>
          <p:nvPr/>
        </p:nvSpPr>
        <p:spPr>
          <a:xfrm>
            <a:off x="6673571" y="4023360"/>
            <a:ext cx="4925822" cy="347472"/>
          </a:xfrm>
          <a:prstGeom prst="rect">
            <a:avLst/>
          </a:prstGeom>
          <a:noFill/>
          <a:ln/>
        </p:spPr>
        <p:txBody>
          <a:bodyPr wrap="square" lIns="0" tIns="0" rIns="0" bIns="0" rtlCol="0" anchor="t"/>
          <a:lstStyle/>
          <a:p>
            <a:pPr algn="ctr" indent="0" marL="0">
              <a:buNone/>
            </a:pPr>
            <a:r>
              <a:rPr lang="en-IE" sz="1800" b="1" dirty="0">
                <a:solidFill>
                  <a:schemeClr val="tx1"/>
                </a:solidFill>
              </a:rPr>
              <a:t>constructor call</a:t>
            </a:r>
            <a:endParaRPr lang="en-IE" sz="1800" dirty="0"/>
          </a:p>
        </p:txBody>
      </p:sp>
      <p:sp>
        <p:nvSpPr>
          <p:cNvPr id="21" name="Text 18"/>
          <p:cNvSpPr txBox="1"/>
          <p:nvPr/>
        </p:nvSpPr>
        <p:spPr>
          <a:xfrm>
            <a:off x="6673571" y="4370832"/>
            <a:ext cx="4925822" cy="320040"/>
          </a:xfrm>
          <a:prstGeom prst="rect">
            <a:avLst/>
          </a:prstGeom>
          <a:noFill/>
          <a:ln/>
        </p:spPr>
        <p:txBody>
          <a:bodyPr wrap="square" lIns="0" tIns="0" rIns="0" bIns="0" rtlCol="0" anchor="t"/>
          <a:lstStyle/>
          <a:p>
            <a:pPr algn="ctr" indent="0" marL="0">
              <a:buNone/>
            </a:pPr>
            <a:r>
              <a:rPr lang="en-IE" sz="1400" dirty="0">
                <a:solidFill>
                  <a:schemeClr val="tx2"/>
                </a:solidFill>
              </a:rPr>
              <a:t>sets it up</a:t>
            </a:r>
            <a:endParaRPr lang="en-IE" sz="1400" dirty="0"/>
          </a:p>
        </p:txBody>
      </p:sp>
      <p:sp>
        <p:nvSpPr>
          <p:cNvPr id="22" name="In plain words"/>
          <p:cNvSpPr/>
          <p:nvPr/>
        </p:nvSpPr>
        <p:spPr>
          <a:xfrm>
            <a:off x="548640" y="5166360"/>
            <a:ext cx="11094415" cy="868680"/>
          </a:xfrm>
          <a:prstGeom prst="roundRect">
            <a:avLst>
              <a:gd name="adj" fmla="val 12632"/>
            </a:avLst>
          </a:prstGeom>
          <a:solidFill>
            <a:schemeClr val="bg2"/>
          </a:solidFill>
          <a:ln/>
        </p:spPr>
      </p:sp>
      <p:sp>
        <p:nvSpPr>
          <p:cNvPr id="23" name="Icon tile"/>
          <p:cNvSpPr/>
          <p:nvPr/>
        </p:nvSpPr>
        <p:spPr>
          <a:xfrm>
            <a:off x="822960" y="5330952"/>
            <a:ext cx="548640" cy="548640"/>
          </a:xfrm>
          <a:prstGeom prst="roundRect">
            <a:avLst>
              <a:gd name="adj" fmla="val 24000"/>
            </a:avLst>
          </a:prstGeom>
          <a:solidFill>
            <a:schemeClr val="accent2">
              <a:alpha val="14000"/>
            </a:schemeClr>
          </a:solidFill>
          <a:ln/>
        </p:spPr>
      </p:sp>
      <p:pic>
        <p:nvPicPr>
          <p:cNvPr id="24" name="chat circle dots icon" descr="chat circle dots icon">    </p:cNvPr>
          <p:cNvPicPr>
            <a:picLocks noChangeAspect="1"/>
          </p:cNvPicPr>
          <p:nvPr/>
        </p:nvPicPr>
        <p:blipFill>
          <a:blip r:embed="rId1"/>
          <a:stretch>
            <a:fillRect/>
          </a:stretch>
        </p:blipFill>
        <p:spPr>
          <a:xfrm>
            <a:off x="938174" y="5446166"/>
            <a:ext cx="318211" cy="318211"/>
          </a:xfrm>
          <a:prstGeom prst="rect">
            <a:avLst/>
          </a:prstGeom>
        </p:spPr>
      </p:pic>
      <p:sp>
        <p:nvSpPr>
          <p:cNvPr id="25" name="Text 21"/>
          <p:cNvSpPr txBox="1"/>
          <p:nvPr/>
        </p:nvSpPr>
        <p:spPr>
          <a:xfrm>
            <a:off x="1600200" y="5166360"/>
            <a:ext cx="9784080" cy="868680"/>
          </a:xfrm>
          <a:prstGeom prst="rect">
            <a:avLst/>
          </a:prstGeom>
          <a:noFill/>
          <a:ln/>
        </p:spPr>
        <p:txBody>
          <a:bodyPr wrap="square" lIns="0" tIns="0" rIns="0" bIns="0" rtlCol="0" anchor="ctr"/>
          <a:lstStyle/>
          <a:p>
            <a:pPr indent="0" marL="0">
              <a:buNone/>
            </a:pPr>
            <a:r>
              <a:rPr lang="en-IE" sz="1900" dirty="0">
                <a:solidFill>
                  <a:schemeClr val="tx1"/>
                </a:solidFill>
              </a:rPr>
              <a:t>Read it as: make a new Employee for jack, and let </a:t>
            </a:r>
            <a:r>
              <a:rPr lang="en-IE" sz="1900" dirty="0">
                <a:solidFill>
                  <a:schemeClr val="accent2"/>
                </a:solidFill>
                <a:latin typeface="Consolas" pitchFamily="34" charset="0"/>
                <a:ea typeface="Consolas" pitchFamily="34" charset="-122"/>
                <a:cs typeface="Consolas" pitchFamily="34" charset="-120"/>
              </a:rPr>
              <a:t>employee1</a:t>
            </a:r>
            <a:r>
              <a:rPr lang="en-IE" sz="1900" dirty="0">
                <a:solidFill>
                  <a:schemeClr val="tx1"/>
                </a:solidFill>
              </a:rPr>
              <a:t> refer to it.</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82</a:t>
            </a:fld>
            <a:endParaRPr lang="en-IE"/>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 initialisation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this line, what is </a:t>
            </a:r>
            <a:r>
              <a:rPr lang="en-IE" sz="2800" b="1" dirty="0">
                <a:solidFill>
                  <a:schemeClr val="accent2"/>
                </a:solidFill>
                <a:latin typeface="Consolas" pitchFamily="34" charset="0"/>
                <a:ea typeface="Consolas" pitchFamily="34" charset="-122"/>
                <a:cs typeface="Consolas" pitchFamily="34" charset="-120"/>
              </a:rPr>
              <a:t>employee1</a:t>
            </a:r>
            <a:r>
              <a:rPr lang="en-IE" sz="2800" b="1" dirty="0">
                <a:solidFill>
                  <a:schemeClr val="tx1"/>
                </a:solidFill>
              </a:rPr>
              <a:t>?</a:t>
            </a:r>
            <a:endParaRPr lang="en-IE" sz="2800" dirty="0"/>
          </a:p>
        </p:txBody>
      </p:sp>
      <p:sp>
        <p:nvSpPr>
          <p:cNvPr id="5" name="Question code card"/>
          <p:cNvSpPr/>
          <p:nvPr/>
        </p:nvSpPr>
        <p:spPr>
          <a:xfrm>
            <a:off x="548640" y="1965960"/>
            <a:ext cx="11094415" cy="792480"/>
          </a:xfrm>
          <a:prstGeom prst="roundRect">
            <a:avLst>
              <a:gd name="adj" fmla="val 13846"/>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390144"/>
          </a:xfrm>
          <a:prstGeom prst="rect">
            <a:avLst/>
          </a:prstGeom>
          <a:noFill/>
          <a:ln/>
        </p:spPr>
        <p:txBody>
          <a:bodyPr wrap="square" lIns="0" tIns="0" rIns="0" bIns="0" rtlCol="0" anchor="t"/>
          <a:lstStyle/>
          <a:p>
            <a:pPr indent="0" marL="0">
              <a:lnSpc>
                <a:spcPts val="2640"/>
              </a:lnSpc>
              <a:buNone/>
            </a:pPr>
            <a:r>
              <a:rPr lang="en-IE" sz="2000" dirty="0">
                <a:solidFill>
                  <a:srgbClr val="6CC4E8"/>
                </a:solidFill>
                <a:latin typeface="Consolas" pitchFamily="34" charset="0"/>
                <a:ea typeface="Consolas" pitchFamily="34" charset="-122"/>
                <a:cs typeface="Consolas" pitchFamily="34" charset="-120"/>
              </a:rPr>
              <a:t>Employee</a:t>
            </a:r>
            <a:r>
              <a:rPr lang="en-IE" sz="2000" dirty="0">
                <a:solidFill>
                  <a:srgbClr val="E6EBF2"/>
                </a:solidFill>
                <a:latin typeface="Consolas" pitchFamily="34" charset="0"/>
                <a:ea typeface="Consolas" pitchFamily="34" charset="-122"/>
                <a:cs typeface="Consolas" pitchFamily="34" charset="-120"/>
              </a:rPr>
              <a:t> employee1 = </a:t>
            </a:r>
            <a:r>
              <a:rPr lang="en-IE" sz="2000" dirty="0">
                <a:solidFill>
                  <a:srgbClr val="FF9F5A"/>
                </a:solidFill>
                <a:latin typeface="Consolas" pitchFamily="34" charset="0"/>
                <a:ea typeface="Consolas" pitchFamily="34" charset="-122"/>
                <a:cs typeface="Consolas" pitchFamily="34" charset="-120"/>
              </a:rPr>
              <a:t>new</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C9B0FF"/>
                </a:solidFill>
                <a:latin typeface="Consolas" pitchFamily="34" charset="0"/>
                <a:ea typeface="Consolas" pitchFamily="34" charset="-122"/>
                <a:cs typeface="Consolas" pitchFamily="34" charset="-120"/>
              </a:rPr>
              <a:t>Employee</a:t>
            </a:r>
            <a:r>
              <a:rPr lang="en-IE" sz="2000" dirty="0">
                <a:solidFill>
                  <a:srgbClr val="E6EBF2"/>
                </a:solidFill>
                <a:latin typeface="Consolas" pitchFamily="34" charset="0"/>
                <a:ea typeface="Consolas" pitchFamily="34" charset="-122"/>
                <a:cs typeface="Consolas" pitchFamily="34" charset="-120"/>
              </a:rPr>
              <a:t>(</a:t>
            </a:r>
            <a:r>
              <a:rPr lang="en-IE" sz="2000" dirty="0">
                <a:solidFill>
                  <a:srgbClr val="A9DB8C"/>
                </a:solidFill>
                <a:latin typeface="Consolas" pitchFamily="34" charset="0"/>
                <a:ea typeface="Consolas" pitchFamily="34" charset="-122"/>
                <a:cs typeface="Consolas" pitchFamily="34" charset="-120"/>
              </a:rPr>
              <a:t>"jack"</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F2C14E"/>
                </a:solidFill>
                <a:latin typeface="Consolas" pitchFamily="34" charset="0"/>
                <a:ea typeface="Consolas" pitchFamily="34" charset="-122"/>
                <a:cs typeface="Consolas" pitchFamily="34" charset="-120"/>
              </a:rPr>
              <a:t>2323</a:t>
            </a:r>
            <a:r>
              <a:rPr lang="en-IE" sz="2000" dirty="0">
                <a:solidFill>
                  <a:srgbClr val="E6EBF2"/>
                </a:solidFill>
                <a:latin typeface="Consolas" pitchFamily="34" charset="0"/>
                <a:ea typeface="Consolas" pitchFamily="34" charset="-122"/>
                <a:cs typeface="Consolas" pitchFamily="34" charset="-120"/>
              </a:rPr>
              <a:t>);</a:t>
            </a:r>
            <a:endParaRPr lang="en-IE" sz="2000" dirty="0"/>
          </a:p>
        </p:txBody>
      </p:sp>
      <p:sp>
        <p:nvSpPr>
          <p:cNvPr id="7" name="Option A"/>
          <p:cNvSpPr/>
          <p:nvPr/>
        </p:nvSpPr>
        <p:spPr>
          <a:xfrm>
            <a:off x="548640" y="3078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275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124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class the object is made from</a:t>
            </a:r>
            <a:endParaRPr lang="en-IE" sz="2000" dirty="0"/>
          </a:p>
        </p:txBody>
      </p:sp>
      <p:sp>
        <p:nvSpPr>
          <p:cNvPr id="10" name="Option B"/>
          <p:cNvSpPr/>
          <p:nvPr/>
        </p:nvSpPr>
        <p:spPr>
          <a:xfrm>
            <a:off x="6233008" y="3078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275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12420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call that runs the constructor</a:t>
            </a:r>
            <a:endParaRPr lang="en-IE" sz="2000" dirty="0"/>
          </a:p>
        </p:txBody>
      </p:sp>
      <p:sp>
        <p:nvSpPr>
          <p:cNvPr id="13" name="Option C"/>
          <p:cNvSpPr/>
          <p:nvPr/>
        </p:nvSpPr>
        <p:spPr>
          <a:xfrm>
            <a:off x="548640" y="42672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4637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31292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variable that refers to the object</a:t>
            </a:r>
            <a:endParaRPr lang="en-IE" sz="2000" dirty="0"/>
          </a:p>
        </p:txBody>
      </p:sp>
      <p:sp>
        <p:nvSpPr>
          <p:cNvPr id="16" name="Option D"/>
          <p:cNvSpPr/>
          <p:nvPr/>
        </p:nvSpPr>
        <p:spPr>
          <a:xfrm>
            <a:off x="6233008" y="426720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446379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31292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keyword that creates the object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83</a:t>
            </a:fld>
            <a:endParaRPr lang="en-IE"/>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Object initialisation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this line, what is </a:t>
            </a:r>
            <a:r>
              <a:rPr lang="en-IE" sz="2000" b="1" dirty="0">
                <a:solidFill>
                  <a:schemeClr val="tx2"/>
                </a:solidFill>
                <a:latin typeface="Consolas" pitchFamily="34" charset="0"/>
                <a:ea typeface="Consolas" pitchFamily="34" charset="-122"/>
                <a:cs typeface="Consolas" pitchFamily="34" charset="-120"/>
              </a:rPr>
              <a:t>employee1</a:t>
            </a:r>
            <a:r>
              <a:rPr lang="en-IE" sz="2000" b="1" dirty="0">
                <a:solidFill>
                  <a:schemeClr val="tx2"/>
                </a:solidFill>
              </a:rPr>
              <a:t>?</a:t>
            </a:r>
            <a:endParaRPr lang="en-IE" sz="2000" dirty="0"/>
          </a:p>
        </p:txBody>
      </p:sp>
      <p:sp>
        <p:nvSpPr>
          <p:cNvPr id="5" name="Answer code card"/>
          <p:cNvSpPr/>
          <p:nvPr/>
        </p:nvSpPr>
        <p:spPr>
          <a:xfrm>
            <a:off x="548640" y="1874520"/>
            <a:ext cx="5623560" cy="683260"/>
          </a:xfrm>
          <a:prstGeom prst="roundRect">
            <a:avLst>
              <a:gd name="adj" fmla="val 1605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28092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employee1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"jack"</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2C14E"/>
                </a:solidFill>
                <a:latin typeface="Consolas" pitchFamily="34" charset="0"/>
                <a:ea typeface="Consolas" pitchFamily="34" charset="-122"/>
                <a:cs typeface="Consolas" pitchFamily="34" charset="-120"/>
              </a:rPr>
              <a:t>2323</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7" name="Option A"/>
          <p:cNvSpPr/>
          <p:nvPr/>
        </p:nvSpPr>
        <p:spPr>
          <a:xfrm>
            <a:off x="548640" y="2786380"/>
            <a:ext cx="5623560" cy="713867"/>
          </a:xfrm>
          <a:prstGeom prst="roundRect">
            <a:avLst>
              <a:gd name="adj" fmla="val 1537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293300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2786380"/>
            <a:ext cx="4572000" cy="713867"/>
          </a:xfrm>
          <a:prstGeom prst="rect">
            <a:avLst/>
          </a:prstGeom>
          <a:noFill/>
          <a:ln/>
        </p:spPr>
        <p:txBody>
          <a:bodyPr wrap="square" lIns="0" tIns="0" rIns="0" bIns="0" rtlCol="0" anchor="ctr"/>
          <a:lstStyle/>
          <a:p>
            <a:pPr indent="0" marL="0">
              <a:buNone/>
            </a:pPr>
            <a:r>
              <a:rPr lang="en-IE" sz="1700" dirty="0">
                <a:solidFill>
                  <a:schemeClr val="tx2"/>
                </a:solidFill>
              </a:rPr>
              <a:t>The class the object is made from</a:t>
            </a:r>
            <a:endParaRPr lang="en-IE" sz="1700" dirty="0"/>
          </a:p>
        </p:txBody>
      </p:sp>
      <p:sp>
        <p:nvSpPr>
          <p:cNvPr id="10" name="Option B"/>
          <p:cNvSpPr/>
          <p:nvPr/>
        </p:nvSpPr>
        <p:spPr>
          <a:xfrm>
            <a:off x="548640" y="3646551"/>
            <a:ext cx="5623560" cy="713867"/>
          </a:xfrm>
          <a:prstGeom prst="roundRect">
            <a:avLst>
              <a:gd name="adj" fmla="val 15371"/>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79317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2" name="Option B text"/>
          <p:cNvSpPr txBox="1"/>
          <p:nvPr/>
        </p:nvSpPr>
        <p:spPr>
          <a:xfrm>
            <a:off x="1371600" y="3646551"/>
            <a:ext cx="4572000" cy="713867"/>
          </a:xfrm>
          <a:prstGeom prst="rect">
            <a:avLst/>
          </a:prstGeom>
          <a:noFill/>
          <a:ln/>
        </p:spPr>
        <p:txBody>
          <a:bodyPr wrap="square" lIns="0" tIns="0" rIns="0" bIns="0" rtlCol="0" anchor="ctr"/>
          <a:lstStyle/>
          <a:p>
            <a:pPr indent="0" marL="0">
              <a:buNone/>
            </a:pPr>
            <a:r>
              <a:rPr lang="en-IE" sz="1700" dirty="0">
                <a:solidFill>
                  <a:schemeClr val="tx2"/>
                </a:solidFill>
              </a:rPr>
              <a:t>The call that runs the constructor</a:t>
            </a:r>
            <a:endParaRPr lang="en-IE" sz="1700" dirty="0"/>
          </a:p>
        </p:txBody>
      </p:sp>
      <p:sp>
        <p:nvSpPr>
          <p:cNvPr id="13" name="Option C (correct)"/>
          <p:cNvSpPr/>
          <p:nvPr/>
        </p:nvSpPr>
        <p:spPr>
          <a:xfrm>
            <a:off x="548640" y="4506722"/>
            <a:ext cx="5623560" cy="713867"/>
          </a:xfrm>
          <a:prstGeom prst="roundRect">
            <a:avLst>
              <a:gd name="adj" fmla="val 15371"/>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653344"/>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5" name="Option C text"/>
          <p:cNvSpPr txBox="1"/>
          <p:nvPr/>
        </p:nvSpPr>
        <p:spPr>
          <a:xfrm>
            <a:off x="1371600" y="4506722"/>
            <a:ext cx="4142232" cy="713867"/>
          </a:xfrm>
          <a:prstGeom prst="rect">
            <a:avLst/>
          </a:prstGeom>
          <a:noFill/>
          <a:ln/>
        </p:spPr>
        <p:txBody>
          <a:bodyPr wrap="square" lIns="0" tIns="0" rIns="0" bIns="0" rtlCol="0" anchor="ctr"/>
          <a:lstStyle/>
          <a:p>
            <a:pPr indent="0" marL="0">
              <a:buNone/>
            </a:pPr>
            <a:r>
              <a:rPr lang="en-IE" sz="1700" b="1" dirty="0">
                <a:solidFill>
                  <a:schemeClr val="bg1"/>
                </a:solidFill>
              </a:rPr>
              <a:t>The variable that refers to the object</a:t>
            </a:r>
            <a:endParaRPr lang="en-IE" sz="1700" dirty="0"/>
          </a:p>
        </p:txBody>
      </p:sp>
      <p:pic>
        <p:nvPicPr>
          <p:cNvPr id="16" name="Correct mark" descr="Correct mark">    </p:cNvPr>
          <p:cNvPicPr>
            <a:picLocks noChangeAspect="1"/>
          </p:cNvPicPr>
          <p:nvPr/>
        </p:nvPicPr>
        <p:blipFill>
          <a:blip r:embed="rId1"/>
          <a:stretch>
            <a:fillRect/>
          </a:stretch>
        </p:blipFill>
        <p:spPr>
          <a:xfrm>
            <a:off x="5623560" y="4680776"/>
            <a:ext cx="365760" cy="365760"/>
          </a:xfrm>
          <a:prstGeom prst="rect">
            <a:avLst/>
          </a:prstGeom>
        </p:spPr>
      </p:pic>
      <p:sp>
        <p:nvSpPr>
          <p:cNvPr id="17" name="Option D"/>
          <p:cNvSpPr/>
          <p:nvPr/>
        </p:nvSpPr>
        <p:spPr>
          <a:xfrm>
            <a:off x="548640" y="5366893"/>
            <a:ext cx="5623560" cy="713867"/>
          </a:xfrm>
          <a:prstGeom prst="roundRect">
            <a:avLst>
              <a:gd name="adj" fmla="val 1537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1351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366893"/>
            <a:ext cx="4572000" cy="713867"/>
          </a:xfrm>
          <a:prstGeom prst="rect">
            <a:avLst/>
          </a:prstGeom>
          <a:noFill/>
          <a:ln/>
        </p:spPr>
        <p:txBody>
          <a:bodyPr wrap="square" lIns="0" tIns="0" rIns="0" bIns="0" rtlCol="0" anchor="ctr"/>
          <a:lstStyle/>
          <a:p>
            <a:pPr indent="0" marL="0">
              <a:buNone/>
            </a:pPr>
            <a:r>
              <a:rPr lang="en-IE" sz="1700" dirty="0">
                <a:solidFill>
                  <a:schemeClr val="tx2"/>
                </a:solidFill>
              </a:rPr>
              <a:t>The keyword that creates the object</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Employee</a:t>
            </a:r>
            <a:r>
              <a:rPr lang="en-IE" sz="1800" dirty="0">
                <a:solidFill>
                  <a:schemeClr val="tx1"/>
                </a:solidFill>
              </a:rPr>
              <a:t> is the class, </a:t>
            </a:r>
            <a:r>
              <a:rPr lang="en-IE" sz="1800" dirty="0">
                <a:solidFill>
                  <a:schemeClr val="accent2"/>
                </a:solidFill>
                <a:latin typeface="Consolas" pitchFamily="34" charset="0"/>
                <a:ea typeface="Consolas" pitchFamily="34" charset="-122"/>
                <a:cs typeface="Consolas" pitchFamily="34" charset="-120"/>
              </a:rPr>
              <a:t>new</a:t>
            </a:r>
            <a:r>
              <a:rPr lang="en-IE" sz="1800" dirty="0">
                <a:solidFill>
                  <a:schemeClr val="tx1"/>
                </a:solidFill>
              </a:rPr>
              <a:t> creates the object, </a:t>
            </a:r>
            <a:r>
              <a:rPr lang="en-IE" sz="1800" dirty="0">
                <a:solidFill>
                  <a:schemeClr val="accent2"/>
                </a:solidFill>
                <a:latin typeface="Consolas" pitchFamily="34" charset="0"/>
                <a:ea typeface="Consolas" pitchFamily="34" charset="-122"/>
                <a:cs typeface="Consolas" pitchFamily="34" charset="-120"/>
              </a:rPr>
              <a:t>Employee("jack", 2323)</a:t>
            </a:r>
            <a:r>
              <a:rPr lang="en-IE" sz="1800" dirty="0">
                <a:solidFill>
                  <a:schemeClr val="tx1"/>
                </a:solidFill>
              </a:rPr>
              <a:t> calls the constructor, and </a:t>
            </a:r>
            <a:r>
              <a:rPr lang="en-IE" sz="1800" dirty="0">
                <a:solidFill>
                  <a:schemeClr val="accent2"/>
                </a:solidFill>
                <a:latin typeface="Consolas" pitchFamily="34" charset="0"/>
                <a:ea typeface="Consolas" pitchFamily="34" charset="-122"/>
                <a:cs typeface="Consolas" pitchFamily="34" charset="-120"/>
              </a:rPr>
              <a:t>employee1</a:t>
            </a:r>
            <a:r>
              <a:rPr lang="en-IE" sz="1800" dirty="0">
                <a:solidFill>
                  <a:schemeClr val="tx1"/>
                </a:solidFill>
              </a:rPr>
              <a:t> is the variable we use to refer to the new object.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84</a:t>
            </a:fld>
            <a:endParaRPr lang="en-IE"/>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CREATING OBJECTS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Calling an object’s methods</a:t>
            </a:r>
            <a:endParaRPr lang="en-IE" sz="3400" dirty="0"/>
          </a:p>
        </p:txBody>
      </p:sp>
      <p:sp>
        <p:nvSpPr>
          <p:cNvPr id="5" name="Text 2"/>
          <p:cNvSpPr txBox="1"/>
          <p:nvPr/>
        </p:nvSpPr>
        <p:spPr>
          <a:xfrm>
            <a:off x="548640" y="1783080"/>
            <a:ext cx="2103120" cy="502920"/>
          </a:xfrm>
          <a:prstGeom prst="rect">
            <a:avLst/>
          </a:prstGeom>
          <a:noFill/>
          <a:ln/>
        </p:spPr>
        <p:txBody>
          <a:bodyPr wrap="square" lIns="0" tIns="0" rIns="0" bIns="0" rtlCol="0" anchor="ctr"/>
          <a:lstStyle/>
          <a:p>
            <a:pPr indent="0" marL="0">
              <a:buNone/>
            </a:pPr>
            <a:r>
              <a:rPr lang="en-IE" sz="1800" b="1" dirty="0">
                <a:solidFill>
                  <a:schemeClr val="tx1"/>
                </a:solidFill>
              </a:rPr>
              <a:t>To call a method:</a:t>
            </a:r>
            <a:endParaRPr lang="en-IE" sz="1800" dirty="0"/>
          </a:p>
        </p:txBody>
      </p:sp>
      <p:sp>
        <p:nvSpPr>
          <p:cNvPr id="6" name="Formula part"/>
          <p:cNvSpPr/>
          <p:nvPr/>
        </p:nvSpPr>
        <p:spPr>
          <a:xfrm>
            <a:off x="2651760" y="1783080"/>
            <a:ext cx="1783080" cy="502920"/>
          </a:xfrm>
          <a:prstGeom prst="roundRect">
            <a:avLst>
              <a:gd name="adj" fmla="val 18182"/>
            </a:avLst>
          </a:prstGeom>
          <a:solidFill>
            <a:schemeClr val="bg2"/>
          </a:solidFill>
          <a:ln/>
        </p:spPr>
        <p:txBody>
          <a:bodyPr wrap="square" lIns="0" tIns="0" rIns="0" bIns="0" rtlCol="0" anchor="ctr"/>
          <a:lstStyle/>
          <a:p>
            <a:pPr algn="ctr" indent="0" marL="0">
              <a:buNone/>
            </a:pPr>
            <a:r>
              <a:rPr lang="en-IE" sz="1600" b="1" dirty="0">
                <a:solidFill>
                  <a:schemeClr val="tx1"/>
                </a:solidFill>
              </a:rPr>
              <a:t>variable name</a:t>
            </a:r>
            <a:endParaRPr lang="en-IE" sz="1600" dirty="0"/>
          </a:p>
        </p:txBody>
      </p:sp>
      <p:sp>
        <p:nvSpPr>
          <p:cNvPr id="7" name="Text 4"/>
          <p:cNvSpPr txBox="1"/>
          <p:nvPr/>
        </p:nvSpPr>
        <p:spPr>
          <a:xfrm>
            <a:off x="4434840" y="1783080"/>
            <a:ext cx="411480" cy="502920"/>
          </a:xfrm>
          <a:prstGeom prst="rect">
            <a:avLst/>
          </a:prstGeom>
          <a:noFill/>
          <a:ln/>
        </p:spPr>
        <p:txBody>
          <a:bodyPr wrap="square" lIns="0" tIns="0" rIns="0" bIns="0" rtlCol="0" anchor="ctr"/>
          <a:lstStyle/>
          <a:p>
            <a:pPr algn="ctr" indent="0" marL="0">
              <a:buNone/>
            </a:pPr>
            <a:r>
              <a:rPr lang="en-IE" sz="2000" b="1" dirty="0">
                <a:solidFill>
                  <a:schemeClr val="tx2"/>
                </a:solidFill>
              </a:rPr>
              <a:t>+</a:t>
            </a:r>
            <a:endParaRPr lang="en-IE" sz="2000" dirty="0"/>
          </a:p>
        </p:txBody>
      </p:sp>
      <p:sp>
        <p:nvSpPr>
          <p:cNvPr id="8" name="Formula part"/>
          <p:cNvSpPr/>
          <p:nvPr/>
        </p:nvSpPr>
        <p:spPr>
          <a:xfrm>
            <a:off x="4846320" y="1783080"/>
            <a:ext cx="548640" cy="502920"/>
          </a:xfrm>
          <a:prstGeom prst="roundRect">
            <a:avLst>
              <a:gd name="adj" fmla="val 18182"/>
            </a:avLst>
          </a:prstGeom>
          <a:solidFill>
            <a:schemeClr val="bg2"/>
          </a:solidFill>
          <a:ln/>
        </p:spPr>
        <p:txBody>
          <a:bodyPr wrap="square" lIns="0" tIns="0" rIns="0" bIns="0" rtlCol="0" anchor="ctr"/>
          <a:lstStyle/>
          <a:p>
            <a:pPr algn="ctr" indent="0" marL="0">
              <a:buNone/>
            </a:pPr>
            <a:r>
              <a:rPr lang="en-IE" sz="2600" b="1" dirty="0">
                <a:solidFill>
                  <a:schemeClr val="accent1"/>
                </a:solidFill>
                <a:latin typeface="Consolas" pitchFamily="34" charset="0"/>
                <a:ea typeface="Consolas" pitchFamily="34" charset="-122"/>
                <a:cs typeface="Consolas" pitchFamily="34" charset="-120"/>
              </a:rPr>
              <a:t>.</a:t>
            </a:r>
            <a:endParaRPr lang="en-IE" sz="2600" dirty="0"/>
          </a:p>
        </p:txBody>
      </p:sp>
      <p:sp>
        <p:nvSpPr>
          <p:cNvPr id="9" name="Text 6"/>
          <p:cNvSpPr txBox="1"/>
          <p:nvPr/>
        </p:nvSpPr>
        <p:spPr>
          <a:xfrm>
            <a:off x="5394960" y="1783080"/>
            <a:ext cx="411480" cy="502920"/>
          </a:xfrm>
          <a:prstGeom prst="rect">
            <a:avLst/>
          </a:prstGeom>
          <a:noFill/>
          <a:ln/>
        </p:spPr>
        <p:txBody>
          <a:bodyPr wrap="square" lIns="0" tIns="0" rIns="0" bIns="0" rtlCol="0" anchor="ctr"/>
          <a:lstStyle/>
          <a:p>
            <a:pPr algn="ctr" indent="0" marL="0">
              <a:buNone/>
            </a:pPr>
            <a:r>
              <a:rPr lang="en-IE" sz="2000" b="1" dirty="0">
                <a:solidFill>
                  <a:schemeClr val="tx2"/>
                </a:solidFill>
              </a:rPr>
              <a:t>+</a:t>
            </a:r>
            <a:endParaRPr lang="en-IE" sz="2000" dirty="0"/>
          </a:p>
        </p:txBody>
      </p:sp>
      <p:sp>
        <p:nvSpPr>
          <p:cNvPr id="10" name="Formula part"/>
          <p:cNvSpPr/>
          <p:nvPr/>
        </p:nvSpPr>
        <p:spPr>
          <a:xfrm>
            <a:off x="5806440" y="1783080"/>
            <a:ext cx="1783080" cy="502920"/>
          </a:xfrm>
          <a:prstGeom prst="roundRect">
            <a:avLst>
              <a:gd name="adj" fmla="val 18182"/>
            </a:avLst>
          </a:prstGeom>
          <a:solidFill>
            <a:schemeClr val="bg2"/>
          </a:solidFill>
          <a:ln/>
        </p:spPr>
        <p:txBody>
          <a:bodyPr wrap="square" lIns="0" tIns="0" rIns="0" bIns="0" rtlCol="0" anchor="ctr"/>
          <a:lstStyle/>
          <a:p>
            <a:pPr algn="ctr" indent="0" marL="0">
              <a:buNone/>
            </a:pPr>
            <a:r>
              <a:rPr lang="en-IE" sz="1600" b="1" dirty="0">
                <a:solidFill>
                  <a:schemeClr val="tx1"/>
                </a:solidFill>
              </a:rPr>
              <a:t>method name</a:t>
            </a:r>
            <a:endParaRPr lang="en-IE" sz="1600" dirty="0"/>
          </a:p>
        </p:txBody>
      </p:sp>
      <p:sp>
        <p:nvSpPr>
          <p:cNvPr id="11" name="Text 8"/>
          <p:cNvSpPr txBox="1"/>
          <p:nvPr/>
        </p:nvSpPr>
        <p:spPr>
          <a:xfrm>
            <a:off x="7589520" y="1783080"/>
            <a:ext cx="411480" cy="502920"/>
          </a:xfrm>
          <a:prstGeom prst="rect">
            <a:avLst/>
          </a:prstGeom>
          <a:noFill/>
          <a:ln/>
        </p:spPr>
        <p:txBody>
          <a:bodyPr wrap="square" lIns="0" tIns="0" rIns="0" bIns="0" rtlCol="0" anchor="ctr"/>
          <a:lstStyle/>
          <a:p>
            <a:pPr algn="ctr" indent="0" marL="0">
              <a:buNone/>
            </a:pPr>
            <a:r>
              <a:rPr lang="en-IE" sz="2000" b="1" dirty="0">
                <a:solidFill>
                  <a:schemeClr val="tx2"/>
                </a:solidFill>
              </a:rPr>
              <a:t>→</a:t>
            </a:r>
            <a:endParaRPr lang="en-IE" sz="2000" dirty="0"/>
          </a:p>
        </p:txBody>
      </p:sp>
      <p:sp>
        <p:nvSpPr>
          <p:cNvPr id="12" name="Code chip"/>
          <p:cNvSpPr/>
          <p:nvPr/>
        </p:nvSpPr>
        <p:spPr>
          <a:xfrm>
            <a:off x="8046720" y="1783080"/>
            <a:ext cx="2926588"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employee1.sayName();</a:t>
            </a:r>
            <a:endParaRPr lang="en-IE" sz="1700" dirty="0"/>
          </a:p>
        </p:txBody>
      </p:sp>
      <p:sp>
        <p:nvSpPr>
          <p:cNvPr id="13" name="Calling methods card"/>
          <p:cNvSpPr/>
          <p:nvPr/>
        </p:nvSpPr>
        <p:spPr>
          <a:xfrm>
            <a:off x="548640" y="2697480"/>
            <a:ext cx="6949440"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14" name="Calling methods language"/>
          <p:cNvSpPr txBox="1"/>
          <p:nvPr/>
        </p:nvSpPr>
        <p:spPr>
          <a:xfrm>
            <a:off x="822960" y="2816352"/>
            <a:ext cx="64008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5" name="Calling methods text"/>
          <p:cNvSpPr txBox="1"/>
          <p:nvPr/>
        </p:nvSpPr>
        <p:spPr>
          <a:xfrm>
            <a:off x="822960" y="3191256"/>
            <a:ext cx="6400800" cy="1312164"/>
          </a:xfrm>
          <a:prstGeom prst="rect">
            <a:avLst/>
          </a:prstGeom>
          <a:noFill/>
          <a:ln/>
        </p:spPr>
        <p:txBody>
          <a:bodyPr wrap="square" lIns="0" tIns="0" rIns="0" bIns="0" rtlCol="0" anchor="t"/>
          <a:lstStyle/>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employee1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"jack"</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2323</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employee2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"bob"</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2325</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employee1.</a:t>
            </a:r>
            <a:r>
              <a:rPr lang="en-IE" sz="1500" dirty="0">
                <a:solidFill>
                  <a:srgbClr val="C9B0FF"/>
                </a:solidFill>
                <a:latin typeface="Consolas" pitchFamily="34" charset="0"/>
                <a:ea typeface="Consolas" pitchFamily="34" charset="-122"/>
                <a:cs typeface="Consolas" pitchFamily="34" charset="-120"/>
              </a:rPr>
              <a:t>sayName</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System</a:t>
            </a:r>
            <a:r>
              <a:rPr lang="en-IE" sz="1500" dirty="0">
                <a:solidFill>
                  <a:srgbClr val="E6EBF2"/>
                </a:solidFill>
                <a:latin typeface="Consolas" pitchFamily="34" charset="0"/>
                <a:ea typeface="Consolas" pitchFamily="34" charset="-122"/>
                <a:cs typeface="Consolas" pitchFamily="34" charset="-120"/>
              </a:rPr>
              <a:t>.out.</a:t>
            </a:r>
            <a:r>
              <a:rPr lang="en-IE" sz="1500" dirty="0">
                <a:solidFill>
                  <a:srgbClr val="C9B0FF"/>
                </a:solidFill>
                <a:latin typeface="Consolas" pitchFamily="34" charset="0"/>
                <a:ea typeface="Consolas" pitchFamily="34" charset="-122"/>
                <a:cs typeface="Consolas" pitchFamily="34" charset="-120"/>
              </a:rPr>
              <a:t>println</a:t>
            </a:r>
            <a:r>
              <a:rPr lang="en-IE" sz="1500" dirty="0">
                <a:solidFill>
                  <a:srgbClr val="E6EBF2"/>
                </a:solidFill>
                <a:latin typeface="Consolas" pitchFamily="34" charset="0"/>
                <a:ea typeface="Consolas" pitchFamily="34" charset="-122"/>
                <a:cs typeface="Consolas" pitchFamily="34" charset="-120"/>
              </a:rPr>
              <a:t>(employee2.</a:t>
            </a:r>
            <a:r>
              <a:rPr lang="en-IE" sz="1500" dirty="0">
                <a:solidFill>
                  <a:srgbClr val="C9B0FF"/>
                </a:solidFill>
                <a:latin typeface="Consolas" pitchFamily="34" charset="0"/>
                <a:ea typeface="Consolas" pitchFamily="34" charset="-122"/>
                <a:cs typeface="Consolas" pitchFamily="34" charset="-120"/>
              </a:rPr>
              <a:t>getInfo</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6" name="Output card"/>
          <p:cNvSpPr/>
          <p:nvPr/>
        </p:nvSpPr>
        <p:spPr>
          <a:xfrm>
            <a:off x="7818120" y="2697480"/>
            <a:ext cx="3824935"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17" name="Text 14"/>
          <p:cNvSpPr txBox="1"/>
          <p:nvPr/>
        </p:nvSpPr>
        <p:spPr>
          <a:xfrm>
            <a:off x="8092440" y="2816352"/>
            <a:ext cx="32762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8" name="Output text"/>
          <p:cNvSpPr txBox="1"/>
          <p:nvPr/>
        </p:nvSpPr>
        <p:spPr>
          <a:xfrm>
            <a:off x="8092440" y="3154680"/>
            <a:ext cx="3276295" cy="1367028"/>
          </a:xfrm>
          <a:prstGeom prst="rect">
            <a:avLst/>
          </a:prstGeom>
          <a:noFill/>
          <a:ln/>
        </p:spPr>
        <p:txBody>
          <a:bodyPr wrap="square" lIns="0" tIns="0" rIns="0" bIns="0" rtlCol="0" anchor="t"/>
          <a:lstStyle/>
          <a:p>
            <a:pPr indent="0" marL="0">
              <a:lnSpc>
                <a:spcPts val="2700"/>
              </a:lnSpc>
              <a:buNone/>
            </a:pPr>
            <a:r>
              <a:rPr lang="en-IE" sz="2000" dirty="0">
                <a:solidFill>
                  <a:srgbClr val="A9DB8C"/>
                </a:solidFill>
                <a:latin typeface="Consolas" pitchFamily="34" charset="0"/>
                <a:ea typeface="Consolas" pitchFamily="34" charset="-122"/>
                <a:cs typeface="Consolas" pitchFamily="34" charset="-120"/>
              </a:rPr>
              <a:t>jack</a:t>
            </a:r>
            <a:endParaRPr lang="en-IE" sz="2000" dirty="0"/>
          </a:p>
          <a:p>
            <a:pPr indent="0" marL="0">
              <a:lnSpc>
                <a:spcPts val="2700"/>
              </a:lnSpc>
              <a:buNone/>
            </a:pPr>
            <a:r>
              <a:rPr lang="en-IE" sz="2000" dirty="0">
                <a:solidFill>
                  <a:srgbClr val="A9DB8C"/>
                </a:solidFill>
                <a:latin typeface="Consolas" pitchFamily="34" charset="0"/>
                <a:ea typeface="Consolas" pitchFamily="34" charset="-122"/>
                <a:cs typeface="Consolas" pitchFamily="34" charset="-120"/>
              </a:rPr>
              <a:t>bob : 2325</a:t>
            </a:r>
            <a:endParaRPr lang="en-IE" sz="2000" dirty="0"/>
          </a:p>
        </p:txBody>
      </p:sp>
      <p:sp>
        <p:nvSpPr>
          <p:cNvPr id="19" name="Text 16"/>
          <p:cNvSpPr txBox="1"/>
          <p:nvPr/>
        </p:nvSpPr>
        <p:spPr>
          <a:xfrm>
            <a:off x="548640" y="5024628"/>
            <a:ext cx="11094415" cy="77724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sayName()</a:t>
            </a:r>
            <a:r>
              <a:rPr lang="en-IE" sz="1800" dirty="0">
                <a:solidFill>
                  <a:schemeClr val="tx1"/>
                </a:solidFill>
              </a:rPr>
              <a:t> prints the employee’s name. </a:t>
            </a:r>
            <a:r>
              <a:rPr lang="en-IE" sz="1800" dirty="0">
                <a:solidFill>
                  <a:schemeClr val="accent2"/>
                </a:solidFill>
                <a:latin typeface="Consolas" pitchFamily="34" charset="0"/>
                <a:ea typeface="Consolas" pitchFamily="34" charset="-122"/>
                <a:cs typeface="Consolas" pitchFamily="34" charset="-120"/>
              </a:rPr>
              <a:t>getInfo()</a:t>
            </a:r>
            <a:r>
              <a:rPr lang="en-IE" sz="1800" dirty="0">
                <a:solidFill>
                  <a:schemeClr val="tx1"/>
                </a:solidFill>
              </a:rPr>
              <a:t> gives back the name and the id joined together, and </a:t>
            </a:r>
            <a:r>
              <a:rPr lang="en-IE" sz="1800" dirty="0">
                <a:solidFill>
                  <a:schemeClr val="accent2"/>
                </a:solidFill>
                <a:latin typeface="Consolas" pitchFamily="34" charset="0"/>
                <a:ea typeface="Consolas" pitchFamily="34" charset="-122"/>
                <a:cs typeface="Consolas" pitchFamily="34" charset="-120"/>
              </a:rPr>
              <a:t>println</a:t>
            </a:r>
            <a:r>
              <a:rPr lang="en-IE" sz="1800" dirty="0">
                <a:solidFill>
                  <a:schemeClr val="tx1"/>
                </a:solidFill>
              </a:rPr>
              <a:t> shows it on the screen.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85</a:t>
            </a:fld>
            <a:endParaRPr lang="en-IE"/>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Using an object’s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1965960"/>
            <a:ext cx="11094415" cy="1127760"/>
          </a:xfrm>
          <a:prstGeom prst="roundRect">
            <a:avLst>
              <a:gd name="adj" fmla="val 973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725424"/>
          </a:xfrm>
          <a:prstGeom prst="rect">
            <a:avLst/>
          </a:prstGeom>
          <a:noFill/>
          <a:ln/>
        </p:spPr>
        <p:txBody>
          <a:bodyPr wrap="square" lIns="0" tIns="0" rIns="0" bIns="0" rtlCol="0" anchor="t"/>
          <a:lstStyle/>
          <a:p>
            <a:pPr indent="0" marL="0">
              <a:lnSpc>
                <a:spcPts val="2640"/>
              </a:lnSpc>
              <a:buNone/>
            </a:pPr>
            <a:r>
              <a:rPr lang="en-IE" sz="2000" dirty="0">
                <a:solidFill>
                  <a:srgbClr val="6CC4E8"/>
                </a:solidFill>
                <a:latin typeface="Consolas" pitchFamily="34" charset="0"/>
                <a:ea typeface="Consolas" pitchFamily="34" charset="-122"/>
                <a:cs typeface="Consolas" pitchFamily="34" charset="-120"/>
              </a:rPr>
              <a:t>Employee</a:t>
            </a:r>
            <a:r>
              <a:rPr lang="en-IE" sz="2000" dirty="0">
                <a:solidFill>
                  <a:srgbClr val="E6EBF2"/>
                </a:solidFill>
                <a:latin typeface="Consolas" pitchFamily="34" charset="0"/>
                <a:ea typeface="Consolas" pitchFamily="34" charset="-122"/>
                <a:cs typeface="Consolas" pitchFamily="34" charset="-120"/>
              </a:rPr>
              <a:t> employee2 = </a:t>
            </a:r>
            <a:r>
              <a:rPr lang="en-IE" sz="2000" dirty="0">
                <a:solidFill>
                  <a:srgbClr val="FF9F5A"/>
                </a:solidFill>
                <a:latin typeface="Consolas" pitchFamily="34" charset="0"/>
                <a:ea typeface="Consolas" pitchFamily="34" charset="-122"/>
                <a:cs typeface="Consolas" pitchFamily="34" charset="-120"/>
              </a:rPr>
              <a:t>new</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C9B0FF"/>
                </a:solidFill>
                <a:latin typeface="Consolas" pitchFamily="34" charset="0"/>
                <a:ea typeface="Consolas" pitchFamily="34" charset="-122"/>
                <a:cs typeface="Consolas" pitchFamily="34" charset="-120"/>
              </a:rPr>
              <a:t>Employee</a:t>
            </a:r>
            <a:r>
              <a:rPr lang="en-IE" sz="2000" dirty="0">
                <a:solidFill>
                  <a:srgbClr val="E6EBF2"/>
                </a:solidFill>
                <a:latin typeface="Consolas" pitchFamily="34" charset="0"/>
                <a:ea typeface="Consolas" pitchFamily="34" charset="-122"/>
                <a:cs typeface="Consolas" pitchFamily="34" charset="-120"/>
              </a:rPr>
              <a:t>(</a:t>
            </a:r>
            <a:r>
              <a:rPr lang="en-IE" sz="2000" dirty="0">
                <a:solidFill>
                  <a:srgbClr val="A9DB8C"/>
                </a:solidFill>
                <a:latin typeface="Consolas" pitchFamily="34" charset="0"/>
                <a:ea typeface="Consolas" pitchFamily="34" charset="-122"/>
                <a:cs typeface="Consolas" pitchFamily="34" charset="-120"/>
              </a:rPr>
              <a:t>"bob"</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F2C14E"/>
                </a:solidFill>
                <a:latin typeface="Consolas" pitchFamily="34" charset="0"/>
                <a:ea typeface="Consolas" pitchFamily="34" charset="-122"/>
                <a:cs typeface="Consolas" pitchFamily="34" charset="-120"/>
              </a:rPr>
              <a:t>2325</a:t>
            </a:r>
            <a:r>
              <a:rPr lang="en-IE" sz="2000" dirty="0">
                <a:solidFill>
                  <a:srgbClr val="E6EBF2"/>
                </a:solidFill>
                <a:latin typeface="Consolas" pitchFamily="34" charset="0"/>
                <a:ea typeface="Consolas" pitchFamily="34" charset="-122"/>
                <a:cs typeface="Consolas" pitchFamily="34" charset="-120"/>
              </a:rPr>
              <a:t>);</a:t>
            </a:r>
            <a:endParaRPr lang="en-IE" sz="2000" dirty="0"/>
          </a:p>
          <a:p>
            <a:pPr indent="0" marL="0">
              <a:lnSpc>
                <a:spcPts val="2640"/>
              </a:lnSpc>
              <a:buNone/>
            </a:pPr>
            <a:r>
              <a:rPr lang="en-IE" sz="2000" dirty="0">
                <a:solidFill>
                  <a:srgbClr val="6CC4E8"/>
                </a:solidFill>
                <a:latin typeface="Consolas" pitchFamily="34" charset="0"/>
                <a:ea typeface="Consolas" pitchFamily="34" charset="-122"/>
                <a:cs typeface="Consolas" pitchFamily="34" charset="-120"/>
              </a:rPr>
              <a:t>System</a:t>
            </a:r>
            <a:r>
              <a:rPr lang="en-IE" sz="2000" dirty="0">
                <a:solidFill>
                  <a:srgbClr val="E6EBF2"/>
                </a:solidFill>
                <a:latin typeface="Consolas" pitchFamily="34" charset="0"/>
                <a:ea typeface="Consolas" pitchFamily="34" charset="-122"/>
                <a:cs typeface="Consolas" pitchFamily="34" charset="-120"/>
              </a:rPr>
              <a:t>.out.</a:t>
            </a:r>
            <a:r>
              <a:rPr lang="en-IE" sz="2000" dirty="0">
                <a:solidFill>
                  <a:srgbClr val="C9B0FF"/>
                </a:solidFill>
                <a:latin typeface="Consolas" pitchFamily="34" charset="0"/>
                <a:ea typeface="Consolas" pitchFamily="34" charset="-122"/>
                <a:cs typeface="Consolas" pitchFamily="34" charset="-120"/>
              </a:rPr>
              <a:t>println</a:t>
            </a:r>
            <a:r>
              <a:rPr lang="en-IE" sz="2000" dirty="0">
                <a:solidFill>
                  <a:srgbClr val="E6EBF2"/>
                </a:solidFill>
                <a:latin typeface="Consolas" pitchFamily="34" charset="0"/>
                <a:ea typeface="Consolas" pitchFamily="34" charset="-122"/>
                <a:cs typeface="Consolas" pitchFamily="34" charset="-120"/>
              </a:rPr>
              <a:t>(employee2.</a:t>
            </a:r>
            <a:r>
              <a:rPr lang="en-IE" sz="2000" dirty="0">
                <a:solidFill>
                  <a:srgbClr val="C9B0FF"/>
                </a:solidFill>
                <a:latin typeface="Consolas" pitchFamily="34" charset="0"/>
                <a:ea typeface="Consolas" pitchFamily="34" charset="-122"/>
                <a:cs typeface="Consolas" pitchFamily="34" charset="-120"/>
              </a:rPr>
              <a:t>getInfo</a:t>
            </a:r>
            <a:r>
              <a:rPr lang="en-IE" sz="2000" dirty="0">
                <a:solidFill>
                  <a:srgbClr val="E6EBF2"/>
                </a:solidFill>
                <a:latin typeface="Consolas" pitchFamily="34" charset="0"/>
                <a:ea typeface="Consolas" pitchFamily="34" charset="-122"/>
                <a:cs typeface="Consolas" pitchFamily="34" charset="-120"/>
              </a:rPr>
              <a:t>());</a:t>
            </a:r>
            <a:endParaRPr lang="en-IE" sz="2000" dirty="0"/>
          </a:p>
        </p:txBody>
      </p:sp>
      <p:sp>
        <p:nvSpPr>
          <p:cNvPr id="7" name="Option A"/>
          <p:cNvSpPr/>
          <p:nvPr/>
        </p:nvSpPr>
        <p:spPr>
          <a:xfrm>
            <a:off x="548640" y="3413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610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45948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bob</a:t>
            </a:r>
            <a:endParaRPr lang="en-IE" sz="2000" dirty="0"/>
          </a:p>
        </p:txBody>
      </p:sp>
      <p:sp>
        <p:nvSpPr>
          <p:cNvPr id="10" name="Option B"/>
          <p:cNvSpPr/>
          <p:nvPr/>
        </p:nvSpPr>
        <p:spPr>
          <a:xfrm>
            <a:off x="6233008" y="3413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610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45948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bob : 2325</a:t>
            </a:r>
            <a:endParaRPr lang="en-IE" sz="2000" dirty="0"/>
          </a:p>
        </p:txBody>
      </p:sp>
      <p:sp>
        <p:nvSpPr>
          <p:cNvPr id="13" name="Option C"/>
          <p:cNvSpPr/>
          <p:nvPr/>
        </p:nvSpPr>
        <p:spPr>
          <a:xfrm>
            <a:off x="548640" y="4602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799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64820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2325</a:t>
            </a:r>
            <a:endParaRPr lang="en-IE" sz="2000" dirty="0"/>
          </a:p>
        </p:txBody>
      </p:sp>
      <p:sp>
        <p:nvSpPr>
          <p:cNvPr id="16" name="Option D"/>
          <p:cNvSpPr/>
          <p:nvPr/>
        </p:nvSpPr>
        <p:spPr>
          <a:xfrm>
            <a:off x="6233008" y="460248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47990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648200"/>
            <a:ext cx="4038448" cy="86868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employee2</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86</a:t>
            </a:fld>
            <a:endParaRPr lang="en-IE"/>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Using an object’s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909320"/>
          </a:xfrm>
          <a:prstGeom prst="roundRect">
            <a:avLst>
              <a:gd name="adj" fmla="val 1206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06984"/>
          </a:xfrm>
          <a:prstGeom prst="rect">
            <a:avLst/>
          </a:prstGeom>
          <a:noFill/>
          <a:ln/>
        </p:spPr>
        <p:txBody>
          <a:bodyPr wrap="square" lIns="0" tIns="0" rIns="0" bIns="0" rtlCol="0" anchor="t"/>
          <a:lstStyle/>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employee2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2C14E"/>
                </a:solidFill>
                <a:latin typeface="Consolas" pitchFamily="34" charset="0"/>
                <a:ea typeface="Consolas" pitchFamily="34" charset="-122"/>
                <a:cs typeface="Consolas" pitchFamily="34" charset="-120"/>
              </a:rPr>
              <a:t>2325</a:t>
            </a: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System</a:t>
            </a:r>
            <a:r>
              <a:rPr lang="en-IE" sz="1350" dirty="0">
                <a:solidFill>
                  <a:srgbClr val="E6EBF2"/>
                </a:solidFill>
                <a:latin typeface="Consolas" pitchFamily="34" charset="0"/>
                <a:ea typeface="Consolas" pitchFamily="34" charset="-122"/>
                <a:cs typeface="Consolas" pitchFamily="34" charset="-120"/>
              </a:rPr>
              <a:t>.out.</a:t>
            </a:r>
            <a:r>
              <a:rPr lang="en-IE" sz="1350" dirty="0">
                <a:solidFill>
                  <a:srgbClr val="C9B0FF"/>
                </a:solidFill>
                <a:latin typeface="Consolas" pitchFamily="34" charset="0"/>
                <a:ea typeface="Consolas" pitchFamily="34" charset="-122"/>
                <a:cs typeface="Consolas" pitchFamily="34" charset="-120"/>
              </a:rPr>
              <a:t>println</a:t>
            </a:r>
            <a:r>
              <a:rPr lang="en-IE" sz="1350" dirty="0">
                <a:solidFill>
                  <a:srgbClr val="E6EBF2"/>
                </a:solidFill>
                <a:latin typeface="Consolas" pitchFamily="34" charset="0"/>
                <a:ea typeface="Consolas" pitchFamily="34" charset="-122"/>
                <a:cs typeface="Consolas" pitchFamily="34" charset="-120"/>
              </a:rPr>
              <a:t>(employee2.</a:t>
            </a:r>
            <a:r>
              <a:rPr lang="en-IE" sz="1350" dirty="0">
                <a:solidFill>
                  <a:srgbClr val="C9B0FF"/>
                </a:solidFill>
                <a:latin typeface="Consolas" pitchFamily="34" charset="0"/>
                <a:ea typeface="Consolas" pitchFamily="34" charset="-122"/>
                <a:cs typeface="Consolas" pitchFamily="34" charset="-120"/>
              </a:rPr>
              <a:t>getInfo</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7" name="Option A"/>
          <p:cNvSpPr/>
          <p:nvPr/>
        </p:nvSpPr>
        <p:spPr>
          <a:xfrm>
            <a:off x="548640" y="3012440"/>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3080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012440"/>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bob</a:t>
            </a:r>
            <a:endParaRPr lang="en-IE" sz="1700" dirty="0"/>
          </a:p>
        </p:txBody>
      </p:sp>
      <p:sp>
        <p:nvSpPr>
          <p:cNvPr id="10" name="Option B (correct)"/>
          <p:cNvSpPr/>
          <p:nvPr/>
        </p:nvSpPr>
        <p:spPr>
          <a:xfrm>
            <a:off x="548640" y="3816096"/>
            <a:ext cx="5623560" cy="657352"/>
          </a:xfrm>
          <a:prstGeom prst="roundRect">
            <a:avLst>
              <a:gd name="adj" fmla="val 16692"/>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3934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3816096"/>
            <a:ext cx="4142232" cy="657352"/>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bob : 2325</a:t>
            </a:r>
            <a:endParaRPr lang="en-IE" sz="1700" dirty="0"/>
          </a:p>
        </p:txBody>
      </p:sp>
      <p:pic>
        <p:nvPicPr>
          <p:cNvPr id="13" name="Correct mark" descr="Correct mark">    </p:cNvPr>
          <p:cNvPicPr>
            <a:picLocks noChangeAspect="1"/>
          </p:cNvPicPr>
          <p:nvPr/>
        </p:nvPicPr>
        <p:blipFill>
          <a:blip r:embed="rId1"/>
          <a:stretch>
            <a:fillRect/>
          </a:stretch>
        </p:blipFill>
        <p:spPr>
          <a:xfrm>
            <a:off x="5623560" y="3961892"/>
            <a:ext cx="365760" cy="365760"/>
          </a:xfrm>
          <a:prstGeom prst="rect">
            <a:avLst/>
          </a:prstGeom>
        </p:spPr>
      </p:pic>
      <p:sp>
        <p:nvSpPr>
          <p:cNvPr id="14" name="Option C"/>
          <p:cNvSpPr/>
          <p:nvPr/>
        </p:nvSpPr>
        <p:spPr>
          <a:xfrm>
            <a:off x="548640" y="4619752"/>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381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19752"/>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2325</a:t>
            </a:r>
            <a:endParaRPr lang="en-IE" sz="1700" dirty="0"/>
          </a:p>
        </p:txBody>
      </p:sp>
      <p:sp>
        <p:nvSpPr>
          <p:cNvPr id="17" name="Option D"/>
          <p:cNvSpPr/>
          <p:nvPr/>
        </p:nvSpPr>
        <p:spPr>
          <a:xfrm>
            <a:off x="548640" y="5423408"/>
            <a:ext cx="5623560" cy="657352"/>
          </a:xfrm>
          <a:prstGeom prst="roundRect">
            <a:avLst>
              <a:gd name="adj" fmla="val 16692"/>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17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23408"/>
            <a:ext cx="4572000" cy="657352"/>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employee2</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getInfo()</a:t>
            </a:r>
            <a:r>
              <a:rPr lang="en-IE" sz="1800" dirty="0">
                <a:solidFill>
                  <a:schemeClr val="tx1"/>
                </a:solidFill>
              </a:rPr>
              <a:t> returns </a:t>
            </a:r>
            <a:r>
              <a:rPr lang="en-IE" sz="1800" dirty="0">
                <a:solidFill>
                  <a:schemeClr val="accent2"/>
                </a:solidFill>
                <a:latin typeface="Consolas" pitchFamily="34" charset="0"/>
                <a:ea typeface="Consolas" pitchFamily="34" charset="-122"/>
                <a:cs typeface="Consolas" pitchFamily="34" charset="-120"/>
              </a:rPr>
              <a:t>name + " : " + id</a:t>
            </a:r>
            <a:r>
              <a:rPr lang="en-IE" sz="1800" dirty="0">
                <a:solidFill>
                  <a:schemeClr val="tx1"/>
                </a:solidFill>
              </a:rPr>
              <a:t>, which is “bob : 2325”. Then </a:t>
            </a:r>
            <a:r>
              <a:rPr lang="en-IE" sz="1800" dirty="0">
                <a:solidFill>
                  <a:schemeClr val="accent2"/>
                </a:solidFill>
                <a:latin typeface="Consolas" pitchFamily="34" charset="0"/>
                <a:ea typeface="Consolas" pitchFamily="34" charset="-122"/>
                <a:cs typeface="Consolas" pitchFamily="34" charset="-120"/>
              </a:rPr>
              <a:t>println</a:t>
            </a:r>
            <a:r>
              <a:rPr lang="en-IE" sz="1800" dirty="0">
                <a:solidFill>
                  <a:schemeClr val="tx1"/>
                </a:solidFill>
              </a:rPr>
              <a:t> shows it on the screen.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87</a:t>
            </a:fld>
            <a:endParaRPr lang="en-IE"/>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Rules for constructors</a:t>
            </a:r>
            <a:endParaRPr lang="en-IE" sz="3400" dirty="0"/>
          </a:p>
        </p:txBody>
      </p:sp>
      <p:sp>
        <p:nvSpPr>
          <p:cNvPr id="5" name="Empty constructor card"/>
          <p:cNvSpPr/>
          <p:nvPr/>
        </p:nvSpPr>
        <p:spPr>
          <a:xfrm>
            <a:off x="548640" y="2788920"/>
            <a:ext cx="5120640"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6" name="Empty constructor language"/>
          <p:cNvSpPr txBox="1"/>
          <p:nvPr/>
        </p:nvSpPr>
        <p:spPr>
          <a:xfrm>
            <a:off x="822960" y="2907792"/>
            <a:ext cx="45720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Empty constructor text"/>
          <p:cNvSpPr txBox="1"/>
          <p:nvPr/>
        </p:nvSpPr>
        <p:spPr>
          <a:xfrm>
            <a:off x="822960" y="3282696"/>
            <a:ext cx="4572000" cy="131216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 </a:t>
            </a:r>
            <a:r>
              <a:rPr lang="en-IE" sz="1500" i="1" dirty="0">
                <a:solidFill>
                  <a:srgbClr val="A3AEC2"/>
                </a:solidFill>
                <a:latin typeface="Consolas" pitchFamily="34" charset="0"/>
                <a:ea typeface="Consolas" pitchFamily="34" charset="-122"/>
                <a:cs typeface="Consolas" pitchFamily="34" charset="-120"/>
              </a:rPr>
              <a:t>// constructor</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Card"/>
          <p:cNvSpPr/>
          <p:nvPr/>
        </p:nvSpPr>
        <p:spPr>
          <a:xfrm>
            <a:off x="6035040" y="1783080"/>
            <a:ext cx="5608015"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9" name="Rule number"/>
          <p:cNvSpPr/>
          <p:nvPr/>
        </p:nvSpPr>
        <p:spPr>
          <a:xfrm>
            <a:off x="6309360" y="2103120"/>
            <a:ext cx="594360" cy="594360"/>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1</a:t>
            </a:r>
            <a:endParaRPr lang="en-IE" sz="2000" dirty="0"/>
          </a:p>
        </p:txBody>
      </p:sp>
      <p:sp>
        <p:nvSpPr>
          <p:cNvPr id="10" name="Text 7"/>
          <p:cNvSpPr txBox="1"/>
          <p:nvPr/>
        </p:nvSpPr>
        <p:spPr>
          <a:xfrm>
            <a:off x="7132320" y="1965960"/>
            <a:ext cx="4282135" cy="384048"/>
          </a:xfrm>
          <a:prstGeom prst="rect">
            <a:avLst/>
          </a:prstGeom>
          <a:noFill/>
          <a:ln/>
        </p:spPr>
        <p:txBody>
          <a:bodyPr wrap="square" lIns="0" tIns="0" rIns="0" bIns="0" rtlCol="0" anchor="t"/>
          <a:lstStyle/>
          <a:p>
            <a:pPr indent="0" marL="0">
              <a:buNone/>
            </a:pPr>
            <a:r>
              <a:rPr lang="en-IE" sz="1900" b="1" dirty="0">
                <a:solidFill>
                  <a:schemeClr val="tx1"/>
                </a:solidFill>
              </a:rPr>
              <a:t>Same name as the class</a:t>
            </a:r>
            <a:endParaRPr lang="en-IE" sz="1900" dirty="0"/>
          </a:p>
        </p:txBody>
      </p:sp>
      <p:sp>
        <p:nvSpPr>
          <p:cNvPr id="11" name="Text 8"/>
          <p:cNvSpPr txBox="1"/>
          <p:nvPr/>
        </p:nvSpPr>
        <p:spPr>
          <a:xfrm>
            <a:off x="7132320" y="2368296"/>
            <a:ext cx="4282135" cy="548640"/>
          </a:xfrm>
          <a:prstGeom prst="rect">
            <a:avLst/>
          </a:prstGeom>
          <a:noFill/>
          <a:ln/>
        </p:spPr>
        <p:txBody>
          <a:bodyPr wrap="square" lIns="0" tIns="0" rIns="0" bIns="0" rtlCol="0" anchor="t"/>
          <a:lstStyle/>
          <a:p>
            <a:pPr indent="0" marL="0">
              <a:buNone/>
            </a:pPr>
            <a:r>
              <a:rPr lang="en-IE" sz="1500" dirty="0">
                <a:solidFill>
                  <a:schemeClr val="tx2"/>
                </a:solidFill>
              </a:rPr>
              <a:t>The class is Employee, so the constructor is called Employee too.</a:t>
            </a:r>
            <a:endParaRPr lang="en-IE" sz="1500" dirty="0"/>
          </a:p>
        </p:txBody>
      </p:sp>
      <p:sp>
        <p:nvSpPr>
          <p:cNvPr id="12" name="Card"/>
          <p:cNvSpPr/>
          <p:nvPr/>
        </p:nvSpPr>
        <p:spPr>
          <a:xfrm>
            <a:off x="6035040" y="3200400"/>
            <a:ext cx="5608015"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13" name="Rule number"/>
          <p:cNvSpPr/>
          <p:nvPr/>
        </p:nvSpPr>
        <p:spPr>
          <a:xfrm>
            <a:off x="6309360" y="3520440"/>
            <a:ext cx="594360" cy="594360"/>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2</a:t>
            </a:r>
            <a:endParaRPr lang="en-IE" sz="2000" dirty="0"/>
          </a:p>
        </p:txBody>
      </p:sp>
      <p:sp>
        <p:nvSpPr>
          <p:cNvPr id="14" name="Text 11"/>
          <p:cNvSpPr txBox="1"/>
          <p:nvPr/>
        </p:nvSpPr>
        <p:spPr>
          <a:xfrm>
            <a:off x="7132320" y="3383280"/>
            <a:ext cx="4282135" cy="384048"/>
          </a:xfrm>
          <a:prstGeom prst="rect">
            <a:avLst/>
          </a:prstGeom>
          <a:noFill/>
          <a:ln/>
        </p:spPr>
        <p:txBody>
          <a:bodyPr wrap="square" lIns="0" tIns="0" rIns="0" bIns="0" rtlCol="0" anchor="t"/>
          <a:lstStyle/>
          <a:p>
            <a:pPr indent="0" marL="0">
              <a:buNone/>
            </a:pPr>
            <a:r>
              <a:rPr lang="en-IE" sz="1900" b="1" dirty="0">
                <a:solidFill>
                  <a:schemeClr val="tx1"/>
                </a:solidFill>
              </a:rPr>
              <a:t>No return type, not even void</a:t>
            </a:r>
            <a:endParaRPr lang="en-IE" sz="1900" dirty="0"/>
          </a:p>
        </p:txBody>
      </p:sp>
      <p:sp>
        <p:nvSpPr>
          <p:cNvPr id="15" name="Text 12"/>
          <p:cNvSpPr txBox="1"/>
          <p:nvPr/>
        </p:nvSpPr>
        <p:spPr>
          <a:xfrm>
            <a:off x="7132320" y="3785616"/>
            <a:ext cx="4282135" cy="548640"/>
          </a:xfrm>
          <a:prstGeom prst="rect">
            <a:avLst/>
          </a:prstGeom>
          <a:noFill/>
          <a:ln/>
        </p:spPr>
        <p:txBody>
          <a:bodyPr wrap="square" lIns="0" tIns="0" rIns="0" bIns="0" rtlCol="0" anchor="t"/>
          <a:lstStyle/>
          <a:p>
            <a:pPr indent="0" marL="0">
              <a:buNone/>
            </a:pPr>
            <a:r>
              <a:rPr lang="en-IE" sz="1500" dirty="0">
                <a:solidFill>
                  <a:schemeClr val="tx2"/>
                </a:solidFill>
              </a:rPr>
              <a:t>This is how Java tells a constructor apart from a normal method.</a:t>
            </a:r>
            <a:endParaRPr lang="en-IE" sz="1500" dirty="0"/>
          </a:p>
        </p:txBody>
      </p:sp>
      <p:sp>
        <p:nvSpPr>
          <p:cNvPr id="16" name="Card"/>
          <p:cNvSpPr/>
          <p:nvPr/>
        </p:nvSpPr>
        <p:spPr>
          <a:xfrm>
            <a:off x="6035040" y="4617720"/>
            <a:ext cx="5608015"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17" name="Rule number"/>
          <p:cNvSpPr/>
          <p:nvPr/>
        </p:nvSpPr>
        <p:spPr>
          <a:xfrm>
            <a:off x="6309360" y="4937760"/>
            <a:ext cx="594360" cy="594360"/>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3</a:t>
            </a:r>
            <a:endParaRPr lang="en-IE" sz="2000" dirty="0"/>
          </a:p>
        </p:txBody>
      </p:sp>
      <p:sp>
        <p:nvSpPr>
          <p:cNvPr id="18" name="Text 15"/>
          <p:cNvSpPr txBox="1"/>
          <p:nvPr/>
        </p:nvSpPr>
        <p:spPr>
          <a:xfrm>
            <a:off x="7132320" y="4800600"/>
            <a:ext cx="4282135" cy="384048"/>
          </a:xfrm>
          <a:prstGeom prst="rect">
            <a:avLst/>
          </a:prstGeom>
          <a:noFill/>
          <a:ln/>
        </p:spPr>
        <p:txBody>
          <a:bodyPr wrap="square" lIns="0" tIns="0" rIns="0" bIns="0" rtlCol="0" anchor="t"/>
          <a:lstStyle/>
          <a:p>
            <a:pPr indent="0" marL="0">
              <a:buNone/>
            </a:pPr>
            <a:r>
              <a:rPr lang="en-IE" sz="1900" b="1" dirty="0">
                <a:solidFill>
                  <a:schemeClr val="tx1"/>
                </a:solidFill>
              </a:rPr>
              <a:t>Usually public</a:t>
            </a:r>
            <a:endParaRPr lang="en-IE" sz="1900" dirty="0"/>
          </a:p>
        </p:txBody>
      </p:sp>
      <p:sp>
        <p:nvSpPr>
          <p:cNvPr id="19" name="Text 16"/>
          <p:cNvSpPr txBox="1"/>
          <p:nvPr/>
        </p:nvSpPr>
        <p:spPr>
          <a:xfrm>
            <a:off x="7132320" y="5202936"/>
            <a:ext cx="4282135" cy="548640"/>
          </a:xfrm>
          <a:prstGeom prst="rect">
            <a:avLst/>
          </a:prstGeom>
          <a:noFill/>
          <a:ln/>
        </p:spPr>
        <p:txBody>
          <a:bodyPr wrap="square" lIns="0" tIns="0" rIns="0" bIns="0" rtlCol="0" anchor="t"/>
          <a:lstStyle/>
          <a:p>
            <a:pPr indent="0" marL="0">
              <a:buNone/>
            </a:pPr>
            <a:r>
              <a:rPr lang="en-IE" sz="1500" dirty="0">
                <a:solidFill>
                  <a:schemeClr val="tx2"/>
                </a:solidFill>
              </a:rPr>
              <a:t>We make constructors public so other classes can create objects.</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88</a:t>
            </a:fld>
            <a:endParaRPr lang="en-IE"/>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line is a correct constructor for the class </a:t>
            </a:r>
            <a:r>
              <a:rPr lang="en-IE" sz="2800" b="1" dirty="0">
                <a:solidFill>
                  <a:schemeClr val="accent2"/>
                </a:solidFill>
                <a:latin typeface="Consolas" pitchFamily="34" charset="0"/>
                <a:ea typeface="Consolas" pitchFamily="34" charset="-122"/>
                <a:cs typeface="Consolas" pitchFamily="34" charset="-120"/>
              </a:rPr>
              <a:t>Employee</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public void Employee() { }</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public employee() { }</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public int Employee() { }</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public Employee() { }</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89</a:t>
            </a:fld>
            <a:endParaRPr lang="en-IE"/>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line is a correct constructor for the class </a:t>
            </a:r>
            <a:r>
              <a:rPr lang="en-IE" sz="2000" b="1" dirty="0">
                <a:solidFill>
                  <a:schemeClr val="tx2"/>
                </a:solidFill>
                <a:latin typeface="Consolas" pitchFamily="34" charset="0"/>
                <a:ea typeface="Consolas" pitchFamily="34" charset="-122"/>
                <a:cs typeface="Consolas" pitchFamily="34" charset="-120"/>
              </a:rPr>
              <a:t>Employee</a:t>
            </a:r>
            <a:r>
              <a:rPr lang="en-IE" sz="2000" b="1" dirty="0">
                <a:solidFill>
                  <a:schemeClr val="tx2"/>
                </a:solidFill>
              </a:rPr>
              <a:t>?</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void Employee() { }</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employee() { }</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int Employee() { }</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Employee() { }</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constructor has exactly the same name as the class (capital E too) and no return type, not even void. A and C have a return type, so they are not constructors. B uses a small e, and Java is case-sensitive.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90</a:t>
            </a:fld>
            <a:endParaRPr lang="en-IE"/>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Passing values to a constructor</a:t>
            </a:r>
            <a:endParaRPr lang="en-IE" sz="3400" dirty="0"/>
          </a:p>
        </p:txBody>
      </p:sp>
      <p:sp>
        <p:nvSpPr>
          <p:cNvPr id="5" name="Constructor with parameters card"/>
          <p:cNvSpPr/>
          <p:nvPr/>
        </p:nvSpPr>
        <p:spPr>
          <a:xfrm>
            <a:off x="548640" y="1783080"/>
            <a:ext cx="5852160" cy="1821688"/>
          </a:xfrm>
          <a:prstGeom prst="roundRect">
            <a:avLst>
              <a:gd name="adj" fmla="val 6023"/>
            </a:avLst>
          </a:prstGeom>
          <a:solidFill>
            <a:schemeClr val="tx1"/>
          </a:solidFill>
          <a:ln/>
          <a:effectLst>
            <a:outerShdw sx="100000" sy="100000" kx="0" ky="0" algn="bl" rotWithShape="0" blurRad="114300" dist="31750" dir="5400000">
              <a:srgbClr val="1D2433">
                <a:alpha val="12000"/>
              </a:srgbClr>
            </a:outerShdw>
          </a:effectLst>
        </p:spPr>
      </p:sp>
      <p:sp>
        <p:nvSpPr>
          <p:cNvPr id="6" name="Constructor with parameters language"/>
          <p:cNvSpPr txBox="1"/>
          <p:nvPr/>
        </p:nvSpPr>
        <p:spPr>
          <a:xfrm>
            <a:off x="822960" y="1901952"/>
            <a:ext cx="53035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Constructor with parameters text"/>
          <p:cNvSpPr txBox="1"/>
          <p:nvPr/>
        </p:nvSpPr>
        <p:spPr>
          <a:xfrm>
            <a:off x="822960" y="2276856"/>
            <a:ext cx="5303520" cy="112674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Employee</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 </a:t>
            </a: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id)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.name = name;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.id = id;</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8" name="Text 5"/>
          <p:cNvSpPr txBox="1"/>
          <p:nvPr/>
        </p:nvSpPr>
        <p:spPr>
          <a:xfrm>
            <a:off x="548640" y="3833368"/>
            <a:ext cx="5852160" cy="320040"/>
          </a:xfrm>
          <a:prstGeom prst="rect">
            <a:avLst/>
          </a:prstGeom>
          <a:noFill/>
          <a:ln/>
        </p:spPr>
        <p:txBody>
          <a:bodyPr wrap="square" lIns="0" tIns="0" rIns="0" bIns="0" rtlCol="0" anchor="t"/>
          <a:lstStyle/>
          <a:p>
            <a:pPr indent="0" marL="0">
              <a:buNone/>
            </a:pPr>
            <a:r>
              <a:rPr lang="en-IE" sz="1500" b="1" dirty="0">
                <a:solidFill>
                  <a:schemeClr val="tx2"/>
                </a:solidFill>
              </a:rPr>
              <a:t>Called from another class:</a:t>
            </a:r>
            <a:endParaRPr lang="en-IE" sz="1500" dirty="0"/>
          </a:p>
        </p:txBody>
      </p:sp>
      <p:sp>
        <p:nvSpPr>
          <p:cNvPr id="9" name="Constructor call card"/>
          <p:cNvSpPr/>
          <p:nvPr/>
        </p:nvSpPr>
        <p:spPr>
          <a:xfrm>
            <a:off x="548640" y="4217416"/>
            <a:ext cx="5852160" cy="692150"/>
          </a:xfrm>
          <a:prstGeom prst="roundRect">
            <a:avLst>
              <a:gd name="adj" fmla="val 15853"/>
            </a:avLst>
          </a:prstGeom>
          <a:solidFill>
            <a:schemeClr val="tx1"/>
          </a:solidFill>
          <a:ln/>
          <a:effectLst>
            <a:outerShdw sx="100000" sy="100000" kx="0" ky="0" algn="bl" rotWithShape="0" blurRad="114300" dist="31750" dir="5400000">
              <a:srgbClr val="1D2433">
                <a:alpha val="12000"/>
              </a:srgbClr>
            </a:outerShdw>
          </a:effectLst>
        </p:spPr>
      </p:sp>
      <p:sp>
        <p:nvSpPr>
          <p:cNvPr id="10" name="Constructor call text"/>
          <p:cNvSpPr txBox="1"/>
          <p:nvPr/>
        </p:nvSpPr>
        <p:spPr>
          <a:xfrm>
            <a:off x="822960" y="4418584"/>
            <a:ext cx="5303520" cy="28981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 employee2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Employee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"bob"</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2C14E"/>
                </a:solidFill>
                <a:latin typeface="Consolas" pitchFamily="34" charset="0"/>
                <a:ea typeface="Consolas" pitchFamily="34" charset="-122"/>
                <a:cs typeface="Consolas" pitchFamily="34" charset="-120"/>
              </a:rPr>
              <a:t>2325</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1" name="Note"/>
          <p:cNvSpPr/>
          <p:nvPr/>
        </p:nvSpPr>
        <p:spPr>
          <a:xfrm>
            <a:off x="548640" y="5183886"/>
            <a:ext cx="5852160" cy="914400"/>
          </a:xfrm>
          <a:prstGeom prst="roundRect">
            <a:avLst>
              <a:gd name="adj" fmla="val 12000"/>
            </a:avLst>
          </a:prstGeom>
          <a:solidFill>
            <a:schemeClr val="bg2"/>
          </a:solidFill>
          <a:ln/>
        </p:spPr>
      </p:sp>
      <p:sp>
        <p:nvSpPr>
          <p:cNvPr id="12" name="Text 9"/>
          <p:cNvSpPr txBox="1"/>
          <p:nvPr/>
        </p:nvSpPr>
        <p:spPr>
          <a:xfrm>
            <a:off x="777240" y="5183886"/>
            <a:ext cx="5486400" cy="914400"/>
          </a:xfrm>
          <a:prstGeom prst="rect">
            <a:avLst/>
          </a:prstGeom>
          <a:noFill/>
          <a:ln/>
        </p:spPr>
        <p:txBody>
          <a:bodyPr wrap="square" lIns="0" tIns="0" rIns="0" bIns="0" rtlCol="0" anchor="ctr"/>
          <a:lstStyle/>
          <a:p>
            <a:pPr indent="0" marL="0">
              <a:buNone/>
            </a:pPr>
            <a:r>
              <a:rPr lang="en-IE" sz="1500" dirty="0">
                <a:solidFill>
                  <a:schemeClr val="accent2"/>
                </a:solidFill>
                <a:latin typeface="Consolas" pitchFamily="34" charset="0"/>
                <a:ea typeface="Consolas" pitchFamily="34" charset="-122"/>
                <a:cs typeface="Consolas" pitchFamily="34" charset="-120"/>
              </a:rPr>
              <a:t>this.name</a:t>
            </a:r>
            <a:r>
              <a:rPr lang="en-IE" sz="1500" dirty="0">
                <a:solidFill>
                  <a:schemeClr val="tx1"/>
                </a:solidFill>
              </a:rPr>
              <a:t> means the name of </a:t>
            </a:r>
            <a:r>
              <a:rPr lang="en-IE" sz="1500" b="1" dirty="0">
                <a:solidFill>
                  <a:schemeClr val="tx1"/>
                </a:solidFill>
              </a:rPr>
              <a:t>this</a:t>
            </a:r>
            <a:r>
              <a:rPr lang="en-IE" sz="1500" dirty="0">
                <a:solidFill>
                  <a:schemeClr val="tx1"/>
                </a:solidFill>
              </a:rPr>
              <a:t> object. </a:t>
            </a:r>
            <a:r>
              <a:rPr lang="en-IE" sz="1500" dirty="0">
                <a:solidFill>
                  <a:schemeClr val="accent2"/>
                </a:solidFill>
                <a:latin typeface="Consolas" pitchFamily="34" charset="0"/>
                <a:ea typeface="Consolas" pitchFamily="34" charset="-122"/>
                <a:cs typeface="Consolas" pitchFamily="34" charset="-120"/>
              </a:rPr>
              <a:t>name</a:t>
            </a:r>
            <a:r>
              <a:rPr lang="en-IE" sz="1500" dirty="0">
                <a:solidFill>
                  <a:schemeClr val="tx1"/>
                </a:solidFill>
              </a:rPr>
              <a:t> on its own is the value passed in.</a:t>
            </a:r>
            <a:endParaRPr lang="en-IE" sz="1500" dirty="0"/>
          </a:p>
        </p:txBody>
      </p:sp>
      <p:sp>
        <p:nvSpPr>
          <p:cNvPr id="13" name="Code chip"/>
          <p:cNvSpPr/>
          <p:nvPr/>
        </p:nvSpPr>
        <p:spPr>
          <a:xfrm>
            <a:off x="7490308" y="1874520"/>
            <a:ext cx="1067308"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2000" dirty="0">
                <a:solidFill>
                  <a:schemeClr val="accent2"/>
                </a:solidFill>
                <a:latin typeface="Consolas" pitchFamily="34" charset="0"/>
                <a:ea typeface="Consolas" pitchFamily="34" charset="-122"/>
                <a:cs typeface="Consolas" pitchFamily="34" charset="-120"/>
              </a:rPr>
              <a:t>"bob"</a:t>
            </a:r>
            <a:endParaRPr lang="en-IE" sz="2000" dirty="0"/>
          </a:p>
        </p:txBody>
      </p:sp>
      <p:sp>
        <p:nvSpPr>
          <p:cNvPr id="14" name="Code chip"/>
          <p:cNvSpPr/>
          <p:nvPr/>
        </p:nvSpPr>
        <p:spPr>
          <a:xfrm>
            <a:off x="9822028" y="1874520"/>
            <a:ext cx="912368" cy="502920"/>
          </a:xfrm>
          <a:prstGeom prst="roundRect">
            <a:avLst>
              <a:gd name="adj" fmla="val 14545"/>
            </a:avLst>
          </a:prstGeom>
          <a:solidFill>
            <a:schemeClr val="bg2"/>
          </a:solidFill>
          <a:ln/>
        </p:spPr>
        <p:txBody>
          <a:bodyPr wrap="square" lIns="0" tIns="0" rIns="0" bIns="0" rtlCol="0" anchor="ctr"/>
          <a:lstStyle/>
          <a:p>
            <a:pPr algn="ctr" indent="0" marL="0">
              <a:buNone/>
            </a:pPr>
            <a:r>
              <a:rPr lang="en-IE" sz="2000" dirty="0">
                <a:solidFill>
                  <a:schemeClr val="accent2"/>
                </a:solidFill>
                <a:latin typeface="Consolas" pitchFamily="34" charset="0"/>
                <a:ea typeface="Consolas" pitchFamily="34" charset="-122"/>
                <a:cs typeface="Consolas" pitchFamily="34" charset="-120"/>
              </a:rPr>
              <a:t>2325</a:t>
            </a:r>
            <a:endParaRPr lang="en-IE" sz="2000" dirty="0"/>
          </a:p>
        </p:txBody>
      </p:sp>
      <p:sp>
        <p:nvSpPr>
          <p:cNvPr id="15" name="Connector"/>
          <p:cNvSpPr/>
          <p:nvPr/>
        </p:nvSpPr>
        <p:spPr>
          <a:xfrm>
            <a:off x="8023962" y="2432304"/>
            <a:ext cx="517906" cy="484632"/>
          </a:xfrm>
          <a:prstGeom prst="line">
            <a:avLst/>
          </a:prstGeom>
          <a:noFill/>
          <a:ln w="19050">
            <a:solidFill>
              <a:schemeClr val="tx2"/>
            </a:solidFill>
            <a:prstDash val="solid"/>
            <a:tailEnd type="triangle"/>
          </a:ln>
        </p:spPr>
      </p:sp>
      <p:sp>
        <p:nvSpPr>
          <p:cNvPr id="16" name="Connector"/>
          <p:cNvSpPr/>
          <p:nvPr/>
        </p:nvSpPr>
        <p:spPr>
          <a:xfrm flipH="1">
            <a:off x="10004908" y="2432304"/>
            <a:ext cx="273304" cy="484632"/>
          </a:xfrm>
          <a:prstGeom prst="line">
            <a:avLst/>
          </a:prstGeom>
          <a:noFill/>
          <a:ln w="19050">
            <a:solidFill>
              <a:schemeClr val="tx2"/>
            </a:solidFill>
            <a:prstDash val="solid"/>
            <a:tailEnd type="triangle"/>
          </a:ln>
        </p:spPr>
      </p:sp>
      <p:sp>
        <p:nvSpPr>
          <p:cNvPr id="17" name="Constructor"/>
          <p:cNvSpPr/>
          <p:nvPr/>
        </p:nvSpPr>
        <p:spPr>
          <a:xfrm>
            <a:off x="7178040" y="2971800"/>
            <a:ext cx="4190695" cy="685800"/>
          </a:xfrm>
          <a:prstGeom prst="roundRect">
            <a:avLst>
              <a:gd name="adj" fmla="val 16000"/>
            </a:avLst>
          </a:prstGeom>
          <a:solidFill>
            <a:schemeClr val="accent4">
              <a:alpha val="14000"/>
            </a:schemeClr>
          </a:solidFill>
          <a:ln w="19050">
            <a:solidFill>
              <a:schemeClr val="accent4"/>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Employee(name, id)</a:t>
            </a:r>
            <a:endParaRPr lang="en-IE" sz="1800" dirty="0"/>
          </a:p>
        </p:txBody>
      </p:sp>
      <p:sp>
        <p:nvSpPr>
          <p:cNvPr id="18" name="Connector"/>
          <p:cNvSpPr/>
          <p:nvPr/>
        </p:nvSpPr>
        <p:spPr>
          <a:xfrm>
            <a:off x="9273388" y="3712464"/>
            <a:ext cx="0" cy="448056"/>
          </a:xfrm>
          <a:prstGeom prst="line">
            <a:avLst/>
          </a:prstGeom>
          <a:noFill/>
          <a:ln w="19050">
            <a:solidFill>
              <a:schemeClr val="tx2"/>
            </a:solidFill>
            <a:prstDash val="solid"/>
            <a:tailEnd type="triangle"/>
          </a:ln>
        </p:spPr>
      </p:sp>
      <p:sp>
        <p:nvSpPr>
          <p:cNvPr id="19" name="New object"/>
          <p:cNvSpPr/>
          <p:nvPr/>
        </p:nvSpPr>
        <p:spPr>
          <a:xfrm>
            <a:off x="7178040" y="4224528"/>
            <a:ext cx="4190695" cy="16002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20" name="Text 17"/>
          <p:cNvSpPr txBox="1"/>
          <p:nvPr/>
        </p:nvSpPr>
        <p:spPr>
          <a:xfrm>
            <a:off x="7498080" y="4407408"/>
            <a:ext cx="3550615" cy="384048"/>
          </a:xfrm>
          <a:prstGeom prst="rect">
            <a:avLst/>
          </a:prstGeom>
          <a:noFill/>
          <a:ln/>
        </p:spPr>
        <p:txBody>
          <a:bodyPr wrap="square" lIns="0" tIns="0" rIns="0" bIns="0" rtlCol="0" anchor="t"/>
          <a:lstStyle/>
          <a:p>
            <a:pPr indent="0" marL="0">
              <a:buNone/>
            </a:pPr>
            <a:r>
              <a:rPr lang="en-IE" sz="1800" b="1" dirty="0">
                <a:solidFill>
                  <a:schemeClr val="accent2"/>
                </a:solidFill>
                <a:latin typeface="Consolas" pitchFamily="34" charset="0"/>
                <a:ea typeface="Consolas" pitchFamily="34" charset="-122"/>
                <a:cs typeface="Consolas" pitchFamily="34" charset="-120"/>
              </a:rPr>
              <a:t>employee2</a:t>
            </a:r>
            <a:endParaRPr lang="en-IE" sz="1800" dirty="0"/>
          </a:p>
        </p:txBody>
      </p:sp>
      <p:sp>
        <p:nvSpPr>
          <p:cNvPr id="21" name="Code chip"/>
          <p:cNvSpPr/>
          <p:nvPr/>
        </p:nvSpPr>
        <p:spPr>
          <a:xfrm>
            <a:off x="7498080" y="4910328"/>
            <a:ext cx="1780032" cy="438912"/>
          </a:xfrm>
          <a:prstGeom prst="roundRect">
            <a:avLst>
              <a:gd name="adj" fmla="val 16667"/>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name = "bob"</a:t>
            </a:r>
            <a:endParaRPr lang="en-IE" sz="1600" dirty="0"/>
          </a:p>
        </p:txBody>
      </p:sp>
      <p:sp>
        <p:nvSpPr>
          <p:cNvPr id="22" name="Code chip"/>
          <p:cNvSpPr/>
          <p:nvPr/>
        </p:nvSpPr>
        <p:spPr>
          <a:xfrm>
            <a:off x="9418320" y="4910328"/>
            <a:ext cx="1408176" cy="438912"/>
          </a:xfrm>
          <a:prstGeom prst="roundRect">
            <a:avLst>
              <a:gd name="adj" fmla="val 16667"/>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id = 2325</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91</a:t>
            </a:fld>
            <a:endParaRPr lang="en-IE"/>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Creating an object from user input</a:t>
            </a:r>
            <a:endParaRPr lang="en-IE" sz="3400" dirty="0"/>
          </a:p>
        </p:txBody>
      </p:sp>
      <p:sp>
        <p:nvSpPr>
          <p:cNvPr id="5" name="Scanner input card"/>
          <p:cNvSpPr/>
          <p:nvPr/>
        </p:nvSpPr>
        <p:spPr>
          <a:xfrm>
            <a:off x="548640" y="1737360"/>
            <a:ext cx="11094415" cy="2357628"/>
          </a:xfrm>
          <a:prstGeom prst="roundRect">
            <a:avLst>
              <a:gd name="adj" fmla="val 4654"/>
            </a:avLst>
          </a:prstGeom>
          <a:solidFill>
            <a:schemeClr val="tx1"/>
          </a:solidFill>
          <a:ln/>
          <a:effectLst>
            <a:outerShdw sx="100000" sy="100000" kx="0" ky="0" algn="bl" rotWithShape="0" blurRad="114300" dist="31750" dir="5400000">
              <a:srgbClr val="1D2433">
                <a:alpha val="12000"/>
              </a:srgbClr>
            </a:outerShdw>
          </a:effectLst>
        </p:spPr>
      </p:sp>
      <p:sp>
        <p:nvSpPr>
          <p:cNvPr id="6" name="Scanner input language"/>
          <p:cNvSpPr txBox="1"/>
          <p:nvPr/>
        </p:nvSpPr>
        <p:spPr>
          <a:xfrm>
            <a:off x="822960" y="1856232"/>
            <a:ext cx="10545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Scanner input text"/>
          <p:cNvSpPr txBox="1"/>
          <p:nvPr/>
        </p:nvSpPr>
        <p:spPr>
          <a:xfrm>
            <a:off x="822960" y="2231136"/>
            <a:ext cx="10545775" cy="1662684"/>
          </a:xfrm>
          <a:prstGeom prst="rect">
            <a:avLst/>
          </a:prstGeom>
          <a:noFill/>
          <a:ln/>
        </p:spPr>
        <p:txBody>
          <a:bodyPr wrap="square" lIns="0" tIns="0" rIns="0" bIns="0" rtlCol="0" anchor="t"/>
          <a:lstStyle/>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Scanner</a:t>
            </a:r>
            <a:r>
              <a:rPr lang="en-IE" sz="1600" dirty="0">
                <a:solidFill>
                  <a:srgbClr val="E6EBF2"/>
                </a:solidFill>
                <a:latin typeface="Consolas" pitchFamily="34" charset="0"/>
                <a:ea typeface="Consolas" pitchFamily="34" charset="-122"/>
                <a:cs typeface="Consolas" pitchFamily="34" charset="-120"/>
              </a:rPr>
              <a:t> scanner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Scanner</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6CC4E8"/>
                </a:solidFill>
                <a:latin typeface="Consolas" pitchFamily="34" charset="0"/>
                <a:ea typeface="Consolas" pitchFamily="34" charset="-122"/>
                <a:cs typeface="Consolas" pitchFamily="34" charset="-120"/>
              </a:rPr>
              <a:t>System</a:t>
            </a:r>
            <a:r>
              <a:rPr lang="en-IE" sz="1600" dirty="0">
                <a:solidFill>
                  <a:srgbClr val="E6EBF2"/>
                </a:solidFill>
                <a:latin typeface="Consolas" pitchFamily="34" charset="0"/>
                <a:ea typeface="Consolas" pitchFamily="34" charset="-122"/>
                <a:cs typeface="Consolas" pitchFamily="34" charset="-120"/>
              </a:rPr>
              <a:t>.in);  </a:t>
            </a:r>
            <a:r>
              <a:rPr lang="en-IE" sz="1600" i="1" dirty="0">
                <a:solidFill>
                  <a:srgbClr val="A3AEC2"/>
                </a:solidFill>
                <a:latin typeface="Consolas" pitchFamily="34" charset="0"/>
                <a:ea typeface="Consolas" pitchFamily="34" charset="-122"/>
                <a:cs typeface="Consolas" pitchFamily="34" charset="-120"/>
              </a:rPr>
              <a:t>// import java.util.Scanner</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currentName = scanner.</a:t>
            </a:r>
            <a:r>
              <a:rPr lang="en-IE" sz="1600" dirty="0">
                <a:solidFill>
                  <a:srgbClr val="C9B0FF"/>
                </a:solidFill>
                <a:latin typeface="Consolas" pitchFamily="34" charset="0"/>
                <a:ea typeface="Consolas" pitchFamily="34" charset="-122"/>
                <a:cs typeface="Consolas" pitchFamily="34" charset="-120"/>
              </a:rPr>
              <a:t>nextLine</a:t>
            </a:r>
            <a:r>
              <a:rPr lang="en-IE" sz="1600" dirty="0">
                <a:solidFill>
                  <a:srgbClr val="E6EBF2"/>
                </a:solidFill>
                <a:latin typeface="Consolas" pitchFamily="34" charset="0"/>
                <a:ea typeface="Consolas" pitchFamily="34" charset="-122"/>
                <a:cs typeface="Consolas" pitchFamily="34" charset="-120"/>
              </a:rPr>
              <a:t>();   </a:t>
            </a:r>
            <a:r>
              <a:rPr lang="en-IE" sz="1600" i="1" dirty="0">
                <a:solidFill>
                  <a:srgbClr val="A3AEC2"/>
                </a:solidFill>
                <a:latin typeface="Consolas" pitchFamily="34" charset="0"/>
                <a:ea typeface="Consolas" pitchFamily="34" charset="-122"/>
                <a:cs typeface="Consolas" pitchFamily="34" charset="-120"/>
              </a:rPr>
              <a:t>// reads a line of text</a:t>
            </a:r>
            <a:endParaRPr lang="en-IE" sz="1600" dirty="0"/>
          </a:p>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currentId = scanner.</a:t>
            </a:r>
            <a:r>
              <a:rPr lang="en-IE" sz="1600" dirty="0">
                <a:solidFill>
                  <a:srgbClr val="C9B0FF"/>
                </a:solidFill>
                <a:latin typeface="Consolas" pitchFamily="34" charset="0"/>
                <a:ea typeface="Consolas" pitchFamily="34" charset="-122"/>
                <a:cs typeface="Consolas" pitchFamily="34" charset="-120"/>
              </a:rPr>
              <a:t>nextInt</a:t>
            </a:r>
            <a:r>
              <a:rPr lang="en-IE" sz="1600" dirty="0">
                <a:solidFill>
                  <a:srgbClr val="E6EBF2"/>
                </a:solidFill>
                <a:latin typeface="Consolas" pitchFamily="34" charset="0"/>
                <a:ea typeface="Consolas" pitchFamily="34" charset="-122"/>
                <a:cs typeface="Consolas" pitchFamily="34" charset="-120"/>
              </a:rPr>
              <a:t>();         </a:t>
            </a:r>
            <a:r>
              <a:rPr lang="en-IE" sz="1600" i="1" dirty="0">
                <a:solidFill>
                  <a:srgbClr val="A3AEC2"/>
                </a:solidFill>
                <a:latin typeface="Consolas" pitchFamily="34" charset="0"/>
                <a:ea typeface="Consolas" pitchFamily="34" charset="-122"/>
                <a:cs typeface="Consolas" pitchFamily="34" charset="-120"/>
              </a:rPr>
              <a:t>// reads a whole number</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Employee</a:t>
            </a:r>
            <a:r>
              <a:rPr lang="en-IE" sz="1600" dirty="0">
                <a:solidFill>
                  <a:srgbClr val="E6EBF2"/>
                </a:solidFill>
                <a:latin typeface="Consolas" pitchFamily="34" charset="0"/>
                <a:ea typeface="Consolas" pitchFamily="34" charset="-122"/>
                <a:cs typeface="Consolas" pitchFamily="34" charset="-120"/>
              </a:rPr>
              <a:t> employee1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Employee</a:t>
            </a:r>
            <a:r>
              <a:rPr lang="en-IE" sz="1600" dirty="0">
                <a:solidFill>
                  <a:srgbClr val="E6EBF2"/>
                </a:solidFill>
                <a:latin typeface="Consolas" pitchFamily="34" charset="0"/>
                <a:ea typeface="Consolas" pitchFamily="34" charset="-122"/>
                <a:cs typeface="Consolas" pitchFamily="34" charset="-120"/>
              </a:rPr>
              <a:t>(currentName, currentId);</a:t>
            </a:r>
            <a:endParaRPr lang="en-IE" sz="1600" dirty="0"/>
          </a:p>
        </p:txBody>
      </p:sp>
      <p:sp>
        <p:nvSpPr>
          <p:cNvPr id="8" name="Card"/>
          <p:cNvSpPr/>
          <p:nvPr/>
        </p:nvSpPr>
        <p:spPr>
          <a:xfrm>
            <a:off x="548640" y="4415028"/>
            <a:ext cx="3200400" cy="1711452"/>
          </a:xfrm>
          <a:prstGeom prst="roundRect">
            <a:avLst>
              <a:gd name="adj" fmla="val 6411"/>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804672" y="4643628"/>
            <a:ext cx="548640" cy="548640"/>
          </a:xfrm>
          <a:prstGeom prst="roundRect">
            <a:avLst>
              <a:gd name="adj" fmla="val 24000"/>
            </a:avLst>
          </a:prstGeom>
          <a:solidFill>
            <a:schemeClr val="accent2">
              <a:alpha val="14000"/>
            </a:schemeClr>
          </a:solidFill>
          <a:ln/>
        </p:spPr>
      </p:sp>
      <p:pic>
        <p:nvPicPr>
          <p:cNvPr id="10" name="keyboard icon" descr="keyboard icon">    </p:cNvPr>
          <p:cNvPicPr>
            <a:picLocks noChangeAspect="1"/>
          </p:cNvPicPr>
          <p:nvPr/>
        </p:nvPicPr>
        <p:blipFill>
          <a:blip r:embed="rId1"/>
          <a:stretch>
            <a:fillRect/>
          </a:stretch>
        </p:blipFill>
        <p:spPr>
          <a:xfrm>
            <a:off x="919886" y="4758842"/>
            <a:ext cx="318211" cy="318211"/>
          </a:xfrm>
          <a:prstGeom prst="rect">
            <a:avLst/>
          </a:prstGeom>
        </p:spPr>
      </p:pic>
      <p:sp>
        <p:nvSpPr>
          <p:cNvPr id="11" name="Text 7"/>
          <p:cNvSpPr txBox="1"/>
          <p:nvPr/>
        </p:nvSpPr>
        <p:spPr>
          <a:xfrm>
            <a:off x="1508760" y="4643628"/>
            <a:ext cx="2103120" cy="548640"/>
          </a:xfrm>
          <a:prstGeom prst="rect">
            <a:avLst/>
          </a:prstGeom>
          <a:noFill/>
          <a:ln/>
        </p:spPr>
        <p:txBody>
          <a:bodyPr wrap="square" lIns="0" tIns="0" rIns="0" bIns="0" rtlCol="0" anchor="ctr"/>
          <a:lstStyle/>
          <a:p>
            <a:pPr indent="0" marL="0">
              <a:buNone/>
            </a:pPr>
            <a:r>
              <a:rPr lang="en-IE" sz="1700" b="1" dirty="0">
                <a:solidFill>
                  <a:schemeClr val="tx1"/>
                </a:solidFill>
              </a:rPr>
              <a:t>The user types</a:t>
            </a:r>
            <a:endParaRPr lang="en-IE" sz="1700" dirty="0"/>
          </a:p>
        </p:txBody>
      </p:sp>
      <p:sp>
        <p:nvSpPr>
          <p:cNvPr id="12" name="Code chip"/>
          <p:cNvSpPr/>
          <p:nvPr/>
        </p:nvSpPr>
        <p:spPr>
          <a:xfrm>
            <a:off x="822960" y="5375148"/>
            <a:ext cx="819404" cy="438912"/>
          </a:xfrm>
          <a:prstGeom prst="roundRect">
            <a:avLst>
              <a:gd name="adj" fmla="val 16667"/>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Mary</a:t>
            </a:r>
            <a:endParaRPr lang="en-IE" sz="1700" dirty="0"/>
          </a:p>
        </p:txBody>
      </p:sp>
      <p:sp>
        <p:nvSpPr>
          <p:cNvPr id="13" name="Code chip"/>
          <p:cNvSpPr/>
          <p:nvPr/>
        </p:nvSpPr>
        <p:spPr>
          <a:xfrm>
            <a:off x="1779524" y="5375148"/>
            <a:ext cx="819404" cy="438912"/>
          </a:xfrm>
          <a:prstGeom prst="roundRect">
            <a:avLst>
              <a:gd name="adj" fmla="val 16667"/>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4410</a:t>
            </a:r>
            <a:endParaRPr lang="en-IE" sz="1700" dirty="0"/>
          </a:p>
        </p:txBody>
      </p:sp>
      <p:sp>
        <p:nvSpPr>
          <p:cNvPr id="14" name="Connector"/>
          <p:cNvSpPr/>
          <p:nvPr/>
        </p:nvSpPr>
        <p:spPr>
          <a:xfrm>
            <a:off x="3813048" y="5270754"/>
            <a:ext cx="618592" cy="0"/>
          </a:xfrm>
          <a:prstGeom prst="line">
            <a:avLst/>
          </a:prstGeom>
          <a:noFill/>
          <a:ln w="22225">
            <a:solidFill>
              <a:schemeClr val="tx2"/>
            </a:solidFill>
            <a:prstDash val="solid"/>
            <a:tailEnd type="triangle"/>
          </a:ln>
        </p:spPr>
      </p:sp>
      <p:sp>
        <p:nvSpPr>
          <p:cNvPr id="15" name="Card"/>
          <p:cNvSpPr/>
          <p:nvPr/>
        </p:nvSpPr>
        <p:spPr>
          <a:xfrm>
            <a:off x="4495648" y="4415028"/>
            <a:ext cx="3200400" cy="1711452"/>
          </a:xfrm>
          <a:prstGeom prst="roundRect">
            <a:avLst>
              <a:gd name="adj" fmla="val 6411"/>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4751680" y="4643628"/>
            <a:ext cx="548640" cy="548640"/>
          </a:xfrm>
          <a:prstGeom prst="roundRect">
            <a:avLst>
              <a:gd name="adj" fmla="val 24000"/>
            </a:avLst>
          </a:prstGeom>
          <a:solidFill>
            <a:schemeClr val="accent1">
              <a:alpha val="14000"/>
            </a:schemeClr>
          </a:solidFill>
          <a:ln/>
        </p:spPr>
      </p:sp>
      <p:pic>
        <p:nvPicPr>
          <p:cNvPr id="17" name="tag icon" descr="tag icon">    </p:cNvPr>
          <p:cNvPicPr>
            <a:picLocks noChangeAspect="1"/>
          </p:cNvPicPr>
          <p:nvPr/>
        </p:nvPicPr>
        <p:blipFill>
          <a:blip r:embed="rId2"/>
          <a:stretch>
            <a:fillRect/>
          </a:stretch>
        </p:blipFill>
        <p:spPr>
          <a:xfrm>
            <a:off x="4866894" y="4758842"/>
            <a:ext cx="318211" cy="318211"/>
          </a:xfrm>
          <a:prstGeom prst="rect">
            <a:avLst/>
          </a:prstGeom>
        </p:spPr>
      </p:pic>
      <p:sp>
        <p:nvSpPr>
          <p:cNvPr id="18" name="Text 13"/>
          <p:cNvSpPr txBox="1"/>
          <p:nvPr/>
        </p:nvSpPr>
        <p:spPr>
          <a:xfrm>
            <a:off x="5455768" y="4643628"/>
            <a:ext cx="2103120" cy="548640"/>
          </a:xfrm>
          <a:prstGeom prst="rect">
            <a:avLst/>
          </a:prstGeom>
          <a:noFill/>
          <a:ln/>
        </p:spPr>
        <p:txBody>
          <a:bodyPr wrap="square" lIns="0" tIns="0" rIns="0" bIns="0" rtlCol="0" anchor="ctr"/>
          <a:lstStyle/>
          <a:p>
            <a:pPr indent="0" marL="0">
              <a:buNone/>
            </a:pPr>
            <a:r>
              <a:rPr lang="en-IE" sz="1700" b="1" dirty="0">
                <a:solidFill>
                  <a:schemeClr val="tx1"/>
                </a:solidFill>
              </a:rPr>
              <a:t>Stored in variables</a:t>
            </a:r>
            <a:endParaRPr lang="en-IE" sz="1700" dirty="0"/>
          </a:p>
        </p:txBody>
      </p:sp>
      <p:sp>
        <p:nvSpPr>
          <p:cNvPr id="19" name="Text 14"/>
          <p:cNvSpPr txBox="1"/>
          <p:nvPr/>
        </p:nvSpPr>
        <p:spPr>
          <a:xfrm>
            <a:off x="4769968" y="5329428"/>
            <a:ext cx="2743200" cy="640080"/>
          </a:xfrm>
          <a:prstGeom prst="rect">
            <a:avLst/>
          </a:prstGeom>
          <a:noFill/>
          <a:ln/>
        </p:spPr>
        <p:txBody>
          <a:bodyPr wrap="square" lIns="0" tIns="0" rIns="0" bIns="0" rtlCol="0" anchor="t"/>
          <a:lstStyle/>
          <a:p>
            <a:pPr indent="0" marL="0">
              <a:lnSpc>
                <a:spcPts val="2000"/>
              </a:lnSpc>
              <a:buNone/>
            </a:pPr>
            <a:r>
              <a:rPr lang="en-IE" sz="1400" dirty="0">
                <a:solidFill>
                  <a:schemeClr val="tx1"/>
                </a:solidFill>
                <a:latin typeface="Consolas" pitchFamily="34" charset="0"/>
                <a:ea typeface="Consolas" pitchFamily="34" charset="-122"/>
                <a:cs typeface="Consolas" pitchFamily="34" charset="-120"/>
              </a:rPr>
              <a:t>currentName = "Mary"</a:t>
            </a:r>
            <a:endParaRPr lang="en-IE" sz="1400" dirty="0"/>
          </a:p>
          <a:p>
            <a:pPr indent="0" marL="0">
              <a:lnSpc>
                <a:spcPts val="2000"/>
              </a:lnSpc>
              <a:buNone/>
            </a:pPr>
            <a:r>
              <a:rPr lang="en-IE" sz="1400" dirty="0">
                <a:solidFill>
                  <a:schemeClr val="tx1"/>
                </a:solidFill>
                <a:latin typeface="Consolas" pitchFamily="34" charset="0"/>
                <a:ea typeface="Consolas" pitchFamily="34" charset="-122"/>
                <a:cs typeface="Consolas" pitchFamily="34" charset="-120"/>
              </a:rPr>
              <a:t>currentId = 4410</a:t>
            </a:r>
            <a:endParaRPr lang="en-IE" sz="1400" dirty="0"/>
          </a:p>
        </p:txBody>
      </p:sp>
      <p:sp>
        <p:nvSpPr>
          <p:cNvPr id="20" name="Connector"/>
          <p:cNvSpPr/>
          <p:nvPr/>
        </p:nvSpPr>
        <p:spPr>
          <a:xfrm>
            <a:off x="7760056" y="5270754"/>
            <a:ext cx="618592" cy="0"/>
          </a:xfrm>
          <a:prstGeom prst="line">
            <a:avLst/>
          </a:prstGeom>
          <a:noFill/>
          <a:ln w="22225">
            <a:solidFill>
              <a:schemeClr val="tx2"/>
            </a:solidFill>
            <a:prstDash val="solid"/>
            <a:tailEnd type="triangle"/>
          </a:ln>
        </p:spPr>
      </p:sp>
      <p:sp>
        <p:nvSpPr>
          <p:cNvPr id="21" name="Card"/>
          <p:cNvSpPr/>
          <p:nvPr/>
        </p:nvSpPr>
        <p:spPr>
          <a:xfrm>
            <a:off x="8442655" y="4415028"/>
            <a:ext cx="3200400" cy="1711452"/>
          </a:xfrm>
          <a:prstGeom prst="roundRect">
            <a:avLst>
              <a:gd name="adj" fmla="val 6411"/>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8698687" y="4643628"/>
            <a:ext cx="548640" cy="548640"/>
          </a:xfrm>
          <a:prstGeom prst="roundRect">
            <a:avLst>
              <a:gd name="adj" fmla="val 24000"/>
            </a:avLst>
          </a:prstGeom>
          <a:solidFill>
            <a:schemeClr val="accent3">
              <a:alpha val="14000"/>
            </a:schemeClr>
          </a:solidFill>
          <a:ln/>
        </p:spPr>
      </p:sp>
      <p:pic>
        <p:nvPicPr>
          <p:cNvPr id="23" name="user icon" descr="user icon">    </p:cNvPr>
          <p:cNvPicPr>
            <a:picLocks noChangeAspect="1"/>
          </p:cNvPicPr>
          <p:nvPr/>
        </p:nvPicPr>
        <p:blipFill>
          <a:blip r:embed="rId3"/>
          <a:stretch>
            <a:fillRect/>
          </a:stretch>
        </p:blipFill>
        <p:spPr>
          <a:xfrm>
            <a:off x="8813902" y="4758842"/>
            <a:ext cx="318211" cy="318211"/>
          </a:xfrm>
          <a:prstGeom prst="rect">
            <a:avLst/>
          </a:prstGeom>
        </p:spPr>
      </p:pic>
      <p:sp>
        <p:nvSpPr>
          <p:cNvPr id="24" name="Text 18"/>
          <p:cNvSpPr txBox="1"/>
          <p:nvPr/>
        </p:nvSpPr>
        <p:spPr>
          <a:xfrm>
            <a:off x="9402775" y="4643628"/>
            <a:ext cx="2103120" cy="548640"/>
          </a:xfrm>
          <a:prstGeom prst="rect">
            <a:avLst/>
          </a:prstGeom>
          <a:noFill/>
          <a:ln/>
        </p:spPr>
        <p:txBody>
          <a:bodyPr wrap="square" lIns="0" tIns="0" rIns="0" bIns="0" rtlCol="0" anchor="ctr"/>
          <a:lstStyle/>
          <a:p>
            <a:pPr indent="0" marL="0">
              <a:buNone/>
            </a:pPr>
            <a:r>
              <a:rPr lang="en-IE" sz="1700" b="1" dirty="0">
                <a:solidFill>
                  <a:schemeClr val="tx1"/>
                </a:solidFill>
              </a:rPr>
              <a:t>A new Employee object</a:t>
            </a:r>
            <a:endParaRPr lang="en-IE" sz="1700" dirty="0"/>
          </a:p>
        </p:txBody>
      </p:sp>
      <p:sp>
        <p:nvSpPr>
          <p:cNvPr id="25" name="Text 19"/>
          <p:cNvSpPr txBox="1"/>
          <p:nvPr/>
        </p:nvSpPr>
        <p:spPr>
          <a:xfrm>
            <a:off x="8716975" y="5329428"/>
            <a:ext cx="2743200" cy="640080"/>
          </a:xfrm>
          <a:prstGeom prst="rect">
            <a:avLst/>
          </a:prstGeom>
          <a:noFill/>
          <a:ln/>
        </p:spPr>
        <p:txBody>
          <a:bodyPr wrap="square" lIns="0" tIns="0" rIns="0" bIns="0" rtlCol="0" anchor="t"/>
          <a:lstStyle/>
          <a:p>
            <a:pPr indent="0" marL="0">
              <a:lnSpc>
                <a:spcPts val="2000"/>
              </a:lnSpc>
              <a:buNone/>
            </a:pPr>
            <a:r>
              <a:rPr lang="en-IE" sz="1400" dirty="0">
                <a:solidFill>
                  <a:schemeClr val="tx1"/>
                </a:solidFill>
                <a:latin typeface="Consolas" pitchFamily="34" charset="0"/>
                <a:ea typeface="Consolas" pitchFamily="34" charset="-122"/>
                <a:cs typeface="Consolas" pitchFamily="34" charset="-120"/>
              </a:rPr>
              <a:t>name = "Mary"</a:t>
            </a:r>
            <a:endParaRPr lang="en-IE" sz="1400" dirty="0"/>
          </a:p>
          <a:p>
            <a:pPr indent="0" marL="0">
              <a:lnSpc>
                <a:spcPts val="2000"/>
              </a:lnSpc>
              <a:buNone/>
            </a:pPr>
            <a:r>
              <a:rPr lang="en-IE" sz="1400" dirty="0">
                <a:solidFill>
                  <a:schemeClr val="tx1"/>
                </a:solidFill>
                <a:latin typeface="Consolas" pitchFamily="34" charset="0"/>
                <a:ea typeface="Consolas" pitchFamily="34" charset="-122"/>
                <a:cs typeface="Consolas" pitchFamily="34" charset="-120"/>
              </a:rPr>
              <a:t>id = 4410</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92</a:t>
            </a:fld>
            <a:endParaRPr lang="en-IE"/>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stored in the new object’s </a:t>
            </a:r>
            <a:r>
              <a:rPr lang="en-IE" sz="2800" b="1" dirty="0">
                <a:solidFill>
                  <a:schemeClr val="accent2"/>
                </a:solidFill>
                <a:latin typeface="Consolas" pitchFamily="34" charset="0"/>
                <a:ea typeface="Consolas" pitchFamily="34" charset="-122"/>
                <a:cs typeface="Consolas" pitchFamily="34" charset="-120"/>
              </a:rPr>
              <a:t>id</a:t>
            </a:r>
            <a:r>
              <a:rPr lang="en-IE" sz="2800" b="1" dirty="0">
                <a:solidFill>
                  <a:schemeClr val="tx1"/>
                </a:solidFill>
              </a:rPr>
              <a:t>?</a:t>
            </a:r>
            <a:endParaRPr lang="en-IE" sz="2800" dirty="0"/>
          </a:p>
        </p:txBody>
      </p:sp>
      <p:sp>
        <p:nvSpPr>
          <p:cNvPr id="5" name="Question code card"/>
          <p:cNvSpPr/>
          <p:nvPr/>
        </p:nvSpPr>
        <p:spPr>
          <a:xfrm>
            <a:off x="548640" y="2974086"/>
            <a:ext cx="6035040"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309295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467862"/>
            <a:ext cx="5486400" cy="131216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name,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id)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.name = name;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.id = id;</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6CC4E8"/>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employee2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"bob"</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2C14E"/>
                </a:solidFill>
                <a:latin typeface="Consolas" pitchFamily="34" charset="0"/>
                <a:ea typeface="Consolas" pitchFamily="34" charset="-122"/>
                <a:cs typeface="Consolas" pitchFamily="34" charset="-120"/>
              </a:rPr>
              <a:t>2325</a:t>
            </a: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2325</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"bob"</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0</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null</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93</a:t>
            </a:fld>
            <a:endParaRPr lang="en-IE"/>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stored in the new object’s </a:t>
            </a:r>
            <a:r>
              <a:rPr lang="en-IE" sz="2000" b="1" dirty="0">
                <a:solidFill>
                  <a:schemeClr val="tx2"/>
                </a:solidFill>
                <a:latin typeface="Consolas" pitchFamily="34" charset="0"/>
                <a:ea typeface="Consolas" pitchFamily="34" charset="-122"/>
                <a:cs typeface="Consolas" pitchFamily="34" charset="-120"/>
              </a:rPr>
              <a:t>id</a:t>
            </a:r>
            <a:r>
              <a:rPr lang="en-IE" sz="2000" b="1" dirty="0">
                <a:solidFill>
                  <a:schemeClr val="tx2"/>
                </a:solidFill>
              </a:rPr>
              <a:t>?</a:t>
            </a:r>
            <a:endParaRPr lang="en-IE" sz="2000" dirty="0"/>
          </a:p>
        </p:txBody>
      </p:sp>
      <p:sp>
        <p:nvSpPr>
          <p:cNvPr id="5" name="Answer code card"/>
          <p:cNvSpPr/>
          <p:nvPr/>
        </p:nvSpPr>
        <p:spPr>
          <a:xfrm>
            <a:off x="548640" y="1874520"/>
            <a:ext cx="5623560" cy="1587500"/>
          </a:xfrm>
          <a:prstGeom prst="roundRect">
            <a:avLst>
              <a:gd name="adj" fmla="val 6912"/>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185164"/>
          </a:xfrm>
          <a:prstGeom prst="rect">
            <a:avLst/>
          </a:prstGeom>
          <a:noFill/>
          <a:ln/>
        </p:spPr>
        <p:txBody>
          <a:bodyPr wrap="square" lIns="0" tIns="0" rIns="0" bIns="0" rtlCol="0" anchor="t"/>
          <a:lstStyle/>
          <a:p>
            <a:pPr indent="0" marL="0">
              <a:lnSpc>
                <a:spcPts val="1780"/>
              </a:lnSpc>
              <a:buNone/>
            </a:pPr>
            <a:r>
              <a:rPr lang="en-IE" sz="1350" dirty="0">
                <a:solidFill>
                  <a:srgbClr val="FF9F5A"/>
                </a:solidFill>
                <a:latin typeface="Consolas" pitchFamily="34" charset="0"/>
                <a:ea typeface="Consolas" pitchFamily="34" charset="-122"/>
                <a:cs typeface="Consolas" pitchFamily="34" charset="-120"/>
              </a:rPr>
              <a:t>public</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6CC4E8"/>
                </a:solidFill>
                <a:latin typeface="Consolas" pitchFamily="34" charset="0"/>
                <a:ea typeface="Consolas" pitchFamily="34" charset="-122"/>
                <a:cs typeface="Consolas" pitchFamily="34" charset="-120"/>
              </a:rPr>
              <a:t>String</a:t>
            </a:r>
            <a:r>
              <a:rPr lang="en-IE" sz="1350" dirty="0">
                <a:solidFill>
                  <a:srgbClr val="E6EBF2"/>
                </a:solidFill>
                <a:latin typeface="Consolas" pitchFamily="34" charset="0"/>
                <a:ea typeface="Consolas" pitchFamily="34" charset="-122"/>
                <a:cs typeface="Consolas" pitchFamily="34" charset="-120"/>
              </a:rPr>
              <a:t> name, </a:t>
            </a:r>
            <a:r>
              <a:rPr lang="en-IE" sz="1350" dirty="0">
                <a:solidFill>
                  <a:srgbClr val="FF9F5A"/>
                </a:solidFill>
                <a:latin typeface="Consolas" pitchFamily="34" charset="0"/>
                <a:ea typeface="Consolas" pitchFamily="34" charset="-122"/>
                <a:cs typeface="Consolas" pitchFamily="34" charset="-120"/>
              </a:rPr>
              <a:t>int</a:t>
            </a:r>
            <a:r>
              <a:rPr lang="en-IE" sz="1350" dirty="0">
                <a:solidFill>
                  <a:srgbClr val="E6EBF2"/>
                </a:solidFill>
                <a:latin typeface="Consolas" pitchFamily="34" charset="0"/>
                <a:ea typeface="Consolas" pitchFamily="34" charset="-122"/>
                <a:cs typeface="Consolas" pitchFamily="34" charset="-120"/>
              </a:rPr>
              <a:t> id) {</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.name = name;</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F9F5A"/>
                </a:solidFill>
                <a:latin typeface="Consolas" pitchFamily="34" charset="0"/>
                <a:ea typeface="Consolas" pitchFamily="34" charset="-122"/>
                <a:cs typeface="Consolas" pitchFamily="34" charset="-120"/>
              </a:rPr>
              <a:t>this</a:t>
            </a:r>
            <a:r>
              <a:rPr lang="en-IE" sz="1350" dirty="0">
                <a:solidFill>
                  <a:srgbClr val="E6EBF2"/>
                </a:solidFill>
                <a:latin typeface="Consolas" pitchFamily="34" charset="0"/>
                <a:ea typeface="Consolas" pitchFamily="34" charset="-122"/>
                <a:cs typeface="Consolas" pitchFamily="34" charset="-120"/>
              </a:rPr>
              <a:t>.id = id;</a:t>
            </a:r>
            <a:endParaRPr lang="en-IE" sz="1350" dirty="0"/>
          </a:p>
          <a:p>
            <a:pPr indent="0" marL="0">
              <a:lnSpc>
                <a:spcPts val="1780"/>
              </a:lnSpc>
              <a:buNone/>
            </a:pPr>
            <a:r>
              <a:rPr lang="en-IE" sz="1350" dirty="0">
                <a:solidFill>
                  <a:srgbClr val="E6EBF2"/>
                </a:solidFill>
                <a:latin typeface="Consolas" pitchFamily="34" charset="0"/>
                <a:ea typeface="Consolas" pitchFamily="34" charset="-122"/>
                <a:cs typeface="Consolas" pitchFamily="34" charset="-120"/>
              </a:rPr>
              <a:t>}</a:t>
            </a:r>
            <a:endParaRPr lang="en-IE" sz="1350" dirty="0"/>
          </a:p>
          <a:p>
            <a:pPr indent="0" marL="0">
              <a:lnSpc>
                <a:spcPts val="1780"/>
              </a:lnSpc>
              <a:buNone/>
            </a:pPr>
            <a:r>
              <a:rPr lang="en-IE" sz="1350" dirty="0">
                <a:solidFill>
                  <a:srgbClr val="6CC4E8"/>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 employee2 = </a:t>
            </a:r>
            <a:r>
              <a:rPr lang="en-IE" sz="1350" dirty="0">
                <a:solidFill>
                  <a:srgbClr val="FF9F5A"/>
                </a:solidFill>
                <a:latin typeface="Consolas" pitchFamily="34" charset="0"/>
                <a:ea typeface="Consolas" pitchFamily="34" charset="-122"/>
                <a:cs typeface="Consolas" pitchFamily="34" charset="-120"/>
              </a:rPr>
              <a:t>new</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C9B0FF"/>
                </a:solidFill>
                <a:latin typeface="Consolas" pitchFamily="34" charset="0"/>
                <a:ea typeface="Consolas" pitchFamily="34" charset="-122"/>
                <a:cs typeface="Consolas" pitchFamily="34" charset="-120"/>
              </a:rPr>
              <a:t>Employee</a:t>
            </a:r>
            <a:r>
              <a:rPr lang="en-IE" sz="1350" dirty="0">
                <a:solidFill>
                  <a:srgbClr val="E6EBF2"/>
                </a:solidFill>
                <a:latin typeface="Consolas" pitchFamily="34" charset="0"/>
                <a:ea typeface="Consolas" pitchFamily="34" charset="-122"/>
                <a:cs typeface="Consolas" pitchFamily="34" charset="-120"/>
              </a:rPr>
              <a:t>(</a:t>
            </a:r>
            <a:r>
              <a:rPr lang="en-IE" sz="1350" dirty="0">
                <a:solidFill>
                  <a:srgbClr val="A9DB8C"/>
                </a:solidFill>
                <a:latin typeface="Consolas" pitchFamily="34" charset="0"/>
                <a:ea typeface="Consolas" pitchFamily="34" charset="-122"/>
                <a:cs typeface="Consolas" pitchFamily="34" charset="-120"/>
              </a:rPr>
              <a:t>"bob"</a:t>
            </a:r>
            <a:r>
              <a:rPr lang="en-IE" sz="1350" dirty="0">
                <a:solidFill>
                  <a:srgbClr val="E6EBF2"/>
                </a:solidFill>
                <a:latin typeface="Consolas" pitchFamily="34" charset="0"/>
                <a:ea typeface="Consolas" pitchFamily="34" charset="-122"/>
                <a:cs typeface="Consolas" pitchFamily="34" charset="-120"/>
              </a:rPr>
              <a:t>, </a:t>
            </a:r>
            <a:r>
              <a:rPr lang="en-IE" sz="1350" dirty="0">
                <a:solidFill>
                  <a:srgbClr val="F2C14E"/>
                </a:solidFill>
                <a:latin typeface="Consolas" pitchFamily="34" charset="0"/>
                <a:ea typeface="Consolas" pitchFamily="34" charset="-122"/>
                <a:cs typeface="Consolas" pitchFamily="34" charset="-120"/>
              </a:rPr>
              <a:t>2325</a:t>
            </a:r>
            <a:r>
              <a:rPr lang="en-IE" sz="1350" dirty="0">
                <a:solidFill>
                  <a:srgbClr val="E6EBF2"/>
                </a:solidFill>
                <a:latin typeface="Consolas" pitchFamily="34" charset="0"/>
                <a:ea typeface="Consolas" pitchFamily="34" charset="-122"/>
                <a:cs typeface="Consolas" pitchFamily="34" charset="-120"/>
              </a:rPr>
              <a:t>);</a:t>
            </a:r>
            <a:endParaRPr lang="en-IE" sz="1350" dirty="0"/>
          </a:p>
        </p:txBody>
      </p:sp>
      <p:sp>
        <p:nvSpPr>
          <p:cNvPr id="7" name="Option A (correct)"/>
          <p:cNvSpPr/>
          <p:nvPr/>
        </p:nvSpPr>
        <p:spPr>
          <a:xfrm>
            <a:off x="548640" y="3690620"/>
            <a:ext cx="5623560" cy="487807"/>
          </a:xfrm>
          <a:prstGeom prst="roundRect">
            <a:avLst>
              <a:gd name="adj" fmla="val 22494"/>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754628"/>
            <a:ext cx="359791" cy="359791"/>
          </a:xfrm>
          <a:prstGeom prst="ellipse">
            <a:avLst/>
          </a:prstGeom>
          <a:solidFill>
            <a:schemeClr val="bg1"/>
          </a:solidFill>
          <a:ln/>
        </p:spPr>
        <p:txBody>
          <a:bodyPr wrap="square" lIns="0" tIns="0" rIns="0" bIns="0" rtlCol="0" anchor="ctr"/>
          <a:lstStyle/>
          <a:p>
            <a:pPr algn="ctr" indent="0" marL="0">
              <a:buNone/>
            </a:pPr>
            <a:r>
              <a:rPr lang="en-IE" sz="1400" b="1" dirty="0">
                <a:solidFill>
                  <a:schemeClr val="accent3"/>
                </a:solidFill>
              </a:rPr>
              <a:t>A</a:t>
            </a:r>
            <a:endParaRPr lang="en-IE" sz="1400" dirty="0"/>
          </a:p>
        </p:txBody>
      </p:sp>
      <p:sp>
        <p:nvSpPr>
          <p:cNvPr id="9" name="Option A text"/>
          <p:cNvSpPr txBox="1"/>
          <p:nvPr/>
        </p:nvSpPr>
        <p:spPr>
          <a:xfrm>
            <a:off x="1310767" y="3690620"/>
            <a:ext cx="4203065" cy="487807"/>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2325</a:t>
            </a:r>
            <a:endParaRPr lang="en-IE" sz="1500" dirty="0"/>
          </a:p>
        </p:txBody>
      </p:sp>
      <p:pic>
        <p:nvPicPr>
          <p:cNvPr id="10" name="Correct mark" descr="Correct mark">    </p:cNvPr>
          <p:cNvPicPr>
            <a:picLocks noChangeAspect="1"/>
          </p:cNvPicPr>
          <p:nvPr/>
        </p:nvPicPr>
        <p:blipFill>
          <a:blip r:embed="rId1"/>
          <a:stretch>
            <a:fillRect/>
          </a:stretch>
        </p:blipFill>
        <p:spPr>
          <a:xfrm>
            <a:off x="5623560" y="3751644"/>
            <a:ext cx="365760" cy="365760"/>
          </a:xfrm>
          <a:prstGeom prst="rect">
            <a:avLst/>
          </a:prstGeom>
        </p:spPr>
      </p:pic>
      <p:sp>
        <p:nvSpPr>
          <p:cNvPr id="11" name="Option B"/>
          <p:cNvSpPr/>
          <p:nvPr/>
        </p:nvSpPr>
        <p:spPr>
          <a:xfrm>
            <a:off x="548640" y="4324731"/>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388739"/>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B</a:t>
            </a:r>
            <a:endParaRPr lang="en-IE" sz="1400" dirty="0"/>
          </a:p>
        </p:txBody>
      </p:sp>
      <p:sp>
        <p:nvSpPr>
          <p:cNvPr id="13" name="Option B text"/>
          <p:cNvSpPr txBox="1"/>
          <p:nvPr/>
        </p:nvSpPr>
        <p:spPr>
          <a:xfrm>
            <a:off x="1310767" y="4324731"/>
            <a:ext cx="4632833" cy="487807"/>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"bob"</a:t>
            </a:r>
            <a:endParaRPr lang="en-IE" sz="1500" dirty="0"/>
          </a:p>
        </p:txBody>
      </p:sp>
      <p:sp>
        <p:nvSpPr>
          <p:cNvPr id="14" name="Option C"/>
          <p:cNvSpPr/>
          <p:nvPr/>
        </p:nvSpPr>
        <p:spPr>
          <a:xfrm>
            <a:off x="548640" y="4958842"/>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5022850"/>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C</a:t>
            </a:r>
            <a:endParaRPr lang="en-IE" sz="1400" dirty="0"/>
          </a:p>
        </p:txBody>
      </p:sp>
      <p:sp>
        <p:nvSpPr>
          <p:cNvPr id="16" name="Option C text"/>
          <p:cNvSpPr txBox="1"/>
          <p:nvPr/>
        </p:nvSpPr>
        <p:spPr>
          <a:xfrm>
            <a:off x="1310767" y="4958842"/>
            <a:ext cx="4632833" cy="487807"/>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0</a:t>
            </a:r>
            <a:endParaRPr lang="en-IE" sz="1500" dirty="0"/>
          </a:p>
        </p:txBody>
      </p:sp>
      <p:sp>
        <p:nvSpPr>
          <p:cNvPr id="17" name="Option D"/>
          <p:cNvSpPr/>
          <p:nvPr/>
        </p:nvSpPr>
        <p:spPr>
          <a:xfrm>
            <a:off x="548640" y="5592953"/>
            <a:ext cx="5623560" cy="487807"/>
          </a:xfrm>
          <a:prstGeom prst="roundRect">
            <a:avLst>
              <a:gd name="adj" fmla="val 22494"/>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56961"/>
            <a:ext cx="359791" cy="35979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D</a:t>
            </a:r>
            <a:endParaRPr lang="en-IE" sz="1400" dirty="0"/>
          </a:p>
        </p:txBody>
      </p:sp>
      <p:sp>
        <p:nvSpPr>
          <p:cNvPr id="19" name="Option D text"/>
          <p:cNvSpPr txBox="1"/>
          <p:nvPr/>
        </p:nvSpPr>
        <p:spPr>
          <a:xfrm>
            <a:off x="1310767" y="5592953"/>
            <a:ext cx="4632833" cy="487807"/>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null</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tx1"/>
                </a:solidFill>
              </a:rPr>
              <a:t>The line </a:t>
            </a:r>
            <a:r>
              <a:rPr lang="en-IE" sz="1800" dirty="0">
                <a:solidFill>
                  <a:schemeClr val="accent2"/>
                </a:solidFill>
                <a:latin typeface="Consolas" pitchFamily="34" charset="0"/>
                <a:ea typeface="Consolas" pitchFamily="34" charset="-122"/>
                <a:cs typeface="Consolas" pitchFamily="34" charset="-120"/>
              </a:rPr>
              <a:t>this.id = id;</a:t>
            </a:r>
            <a:r>
              <a:rPr lang="en-IE" sz="1800" dirty="0">
                <a:solidFill>
                  <a:schemeClr val="tx1"/>
                </a:solidFill>
              </a:rPr>
              <a:t> copies the 2325 we passed in into the new object’s id.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94</a:t>
            </a:fld>
            <a:endParaRPr lang="en-IE"/>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CONSTRUCTORS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No-arg constructors</a:t>
            </a:r>
            <a:endParaRPr lang="en-IE" sz="3400" dirty="0"/>
          </a:p>
        </p:txBody>
      </p:sp>
      <p:sp>
        <p:nvSpPr>
          <p:cNvPr id="5" name="No-arg constructor card"/>
          <p:cNvSpPr/>
          <p:nvPr/>
        </p:nvSpPr>
        <p:spPr>
          <a:xfrm>
            <a:off x="548640" y="1783080"/>
            <a:ext cx="5669280"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6" name="No-arg constructor language"/>
          <p:cNvSpPr txBox="1"/>
          <p:nvPr/>
        </p:nvSpPr>
        <p:spPr>
          <a:xfrm>
            <a:off x="822960" y="1901952"/>
            <a:ext cx="51206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No-arg constructor text"/>
          <p:cNvSpPr txBox="1"/>
          <p:nvPr/>
        </p:nvSpPr>
        <p:spPr>
          <a:xfrm>
            <a:off x="822960" y="2276856"/>
            <a:ext cx="5120640" cy="106070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Employee</a:t>
            </a:r>
            <a:r>
              <a:rPr lang="en-IE" sz="1500" dirty="0">
                <a:solidFill>
                  <a:srgbClr val="E6EBF2"/>
                </a:solidFill>
                <a:latin typeface="Consolas" pitchFamily="34" charset="0"/>
                <a:ea typeface="Consolas" pitchFamily="34" charset="-122"/>
                <a:cs typeface="Consolas" pitchFamily="34" charset="-120"/>
              </a:rPr>
              <a:t>() {  </a:t>
            </a:r>
            <a:r>
              <a:rPr lang="en-IE" sz="1500" i="1" dirty="0">
                <a:solidFill>
                  <a:srgbClr val="A3AEC2"/>
                </a:solidFill>
                <a:latin typeface="Consolas" pitchFamily="34" charset="0"/>
                <a:ea typeface="Consolas" pitchFamily="34" charset="-122"/>
                <a:cs typeface="Consolas" pitchFamily="34" charset="-120"/>
              </a:rPr>
              <a:t>// no-arg constructor</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name = </a:t>
            </a:r>
            <a:r>
              <a:rPr lang="en-IE" sz="1500" dirty="0">
                <a:solidFill>
                  <a:srgbClr val="A9DB8C"/>
                </a:solidFill>
                <a:latin typeface="Consolas" pitchFamily="34" charset="0"/>
                <a:ea typeface="Consolas" pitchFamily="34" charset="-122"/>
                <a:cs typeface="Consolas" pitchFamily="34" charset="-120"/>
              </a:rPr>
              <a:t>""</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id = </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Text 5"/>
          <p:cNvSpPr txBox="1"/>
          <p:nvPr/>
        </p:nvSpPr>
        <p:spPr>
          <a:xfrm>
            <a:off x="548640" y="3904488"/>
            <a:ext cx="5669280" cy="21945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 no-arg constructor takes </a:t>
            </a:r>
            <a:r>
              <a:rPr lang="en-IE" sz="1800" b="1" dirty="0">
                <a:solidFill>
                  <a:schemeClr val="tx1"/>
                </a:solidFill>
              </a:rPr>
              <a:t>no arguments</a:t>
            </a:r>
            <a:r>
              <a:rPr lang="en-IE" sz="1800" dirty="0">
                <a:solidFill>
                  <a:schemeClr val="tx1"/>
                </a:solidFill>
              </a:rPr>
              <a:t>: the brackets are empty.</a:t>
            </a:r>
            <a:endParaRPr lang="en-IE" sz="1800" dirty="0"/>
          </a:p>
          <a:p>
            <a:pPr marL="228600" indent="-228600">
              <a:spcAft>
                <a:spcPts val="1200"/>
              </a:spcAft>
              <a:buSzPct val="100000"/>
              <a:buChar char="•"/>
            </a:pPr>
            <a:r>
              <a:rPr lang="en-IE" sz="1800" dirty="0">
                <a:solidFill>
                  <a:schemeClr val="tx1"/>
                </a:solidFill>
              </a:rPr>
              <a:t>It gives the attributes safe starting values.</a:t>
            </a:r>
            <a:endParaRPr lang="en-IE" sz="1800" dirty="0"/>
          </a:p>
          <a:p>
            <a:pPr marL="228600" indent="-228600">
              <a:buSzPct val="100000"/>
              <a:buChar char="•"/>
            </a:pPr>
            <a:r>
              <a:rPr lang="en-IE" sz="1800" dirty="0">
                <a:solidFill>
                  <a:schemeClr val="tx1"/>
                </a:solidFill>
              </a:rPr>
              <a:t>Useful when we need an object now, but don’t have all its data yet.</a:t>
            </a:r>
            <a:endParaRPr lang="en-IE" sz="1800" dirty="0"/>
          </a:p>
        </p:txBody>
      </p:sp>
      <p:sp>
        <p:nvSpPr>
          <p:cNvPr id="9" name="Badge"/>
          <p:cNvSpPr/>
          <p:nvPr/>
        </p:nvSpPr>
        <p:spPr>
          <a:xfrm>
            <a:off x="7086600" y="1874520"/>
            <a:ext cx="4023360"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0" name="Badge header"/>
          <p:cNvSpPr/>
          <p:nvPr/>
        </p:nvSpPr>
        <p:spPr>
          <a:xfrm>
            <a:off x="7086600" y="1874520"/>
            <a:ext cx="4023360" cy="685800"/>
          </a:xfrm>
          <a:prstGeom prst="round2SameRect">
            <a:avLst>
              <a:gd name="adj" fmla="val 16000"/>
            </a:avLst>
          </a:prstGeom>
          <a:solidFill>
            <a:schemeClr val="accent2"/>
          </a:solidFill>
          <a:ln/>
        </p:spPr>
        <p:txBody>
          <a:bodyPr wrap="square" lIns="0" tIns="0" rIns="0" bIns="0" rtlCol="0" anchor="ctr"/>
          <a:lstStyle/>
          <a:p>
            <a:pPr algn="ctr" indent="0" marL="0">
              <a:buNone/>
            </a:pPr>
            <a:r>
              <a:rPr lang="en-IE" sz="1600" b="1" spc="300" kern="0" dirty="0">
                <a:solidFill>
                  <a:schemeClr val="bg1"/>
                </a:solidFill>
              </a:rPr>
              <a:t>EMPLOYEE</a:t>
            </a:r>
            <a:endParaRPr lang="en-IE" sz="1600" dirty="0"/>
          </a:p>
        </p:txBody>
      </p:sp>
      <p:sp>
        <p:nvSpPr>
          <p:cNvPr id="11" name="Photo"/>
          <p:cNvSpPr/>
          <p:nvPr/>
        </p:nvSpPr>
        <p:spPr>
          <a:xfrm>
            <a:off x="7452360" y="2880360"/>
            <a:ext cx="1234440" cy="1234440"/>
          </a:xfrm>
          <a:prstGeom prst="ellipse">
            <a:avLst/>
          </a:prstGeom>
          <a:solidFill>
            <a:schemeClr val="bg2"/>
          </a:solidFill>
          <a:ln/>
        </p:spPr>
      </p:sp>
      <p:pic>
        <p:nvPicPr>
          <p:cNvPr id="12" name="Photo icon" descr="Photo icon">    </p:cNvPr>
          <p:cNvPicPr>
            <a:picLocks noChangeAspect="1"/>
          </p:cNvPicPr>
          <p:nvPr/>
        </p:nvPicPr>
        <p:blipFill>
          <a:blip r:embed="rId1">
            <a:alphaModFix amt="65000"/>
          </a:blip>
          <a:stretch>
            <a:fillRect/>
          </a:stretch>
        </p:blipFill>
        <p:spPr>
          <a:xfrm>
            <a:off x="7635240" y="3063240"/>
            <a:ext cx="868680" cy="868680"/>
          </a:xfrm>
          <a:prstGeom prst="rect">
            <a:avLst/>
          </a:prstGeom>
        </p:spPr>
      </p:pic>
      <p:sp>
        <p:nvSpPr>
          <p:cNvPr id="13" name="Text 9"/>
          <p:cNvSpPr txBox="1"/>
          <p:nvPr/>
        </p:nvSpPr>
        <p:spPr>
          <a:xfrm>
            <a:off x="8961120" y="2880360"/>
            <a:ext cx="1828800" cy="274320"/>
          </a:xfrm>
          <a:prstGeom prst="rect">
            <a:avLst/>
          </a:prstGeom>
          <a:noFill/>
          <a:ln/>
        </p:spPr>
        <p:txBody>
          <a:bodyPr wrap="square" lIns="0" tIns="0" rIns="0" bIns="0" rtlCol="0" anchor="t"/>
          <a:lstStyle/>
          <a:p>
            <a:pPr indent="0" marL="0">
              <a:buNone/>
            </a:pPr>
            <a:r>
              <a:rPr lang="en-IE" sz="1100" b="1" spc="150" kern="0" dirty="0">
                <a:solidFill>
                  <a:schemeClr val="tx2"/>
                </a:solidFill>
              </a:rPr>
              <a:t>NAME</a:t>
            </a:r>
            <a:endParaRPr lang="en-IE" sz="1100" dirty="0"/>
          </a:p>
        </p:txBody>
      </p:sp>
      <p:sp>
        <p:nvSpPr>
          <p:cNvPr id="14" name="Text 10"/>
          <p:cNvSpPr txBox="1"/>
          <p:nvPr/>
        </p:nvSpPr>
        <p:spPr>
          <a:xfrm>
            <a:off x="8961120" y="3154680"/>
            <a:ext cx="1828800" cy="365760"/>
          </a:xfrm>
          <a:prstGeom prst="rect">
            <a:avLst/>
          </a:prstGeom>
          <a:noFill/>
          <a:ln/>
        </p:spPr>
        <p:txBody>
          <a:bodyPr wrap="square" lIns="0" tIns="0" rIns="0" bIns="0" rtlCol="0" anchor="t"/>
          <a:lstStyle/>
          <a:p>
            <a:pPr indent="0" marL="0">
              <a:buNone/>
            </a:pPr>
            <a:r>
              <a:rPr lang="en-IE" sz="1800" dirty="0">
                <a:solidFill>
                  <a:schemeClr val="tx2"/>
                </a:solidFill>
                <a:latin typeface="Consolas" pitchFamily="34" charset="0"/>
                <a:ea typeface="Consolas" pitchFamily="34" charset="-122"/>
                <a:cs typeface="Consolas" pitchFamily="34" charset="-120"/>
              </a:rPr>
              <a:t>""</a:t>
            </a:r>
            <a:endParaRPr lang="en-IE" sz="1800" dirty="0"/>
          </a:p>
        </p:txBody>
      </p:sp>
      <p:sp>
        <p:nvSpPr>
          <p:cNvPr id="15" name="Blank"/>
          <p:cNvSpPr/>
          <p:nvPr/>
        </p:nvSpPr>
        <p:spPr>
          <a:xfrm>
            <a:off x="8961120" y="3566160"/>
            <a:ext cx="1783080" cy="0"/>
          </a:xfrm>
          <a:prstGeom prst="line">
            <a:avLst/>
          </a:prstGeom>
          <a:noFill/>
          <a:ln w="12700">
            <a:solidFill>
              <a:schemeClr val="tx2"/>
            </a:solidFill>
            <a:prstDash val="dash"/>
          </a:ln>
        </p:spPr>
      </p:sp>
      <p:sp>
        <p:nvSpPr>
          <p:cNvPr id="16" name="Text 12"/>
          <p:cNvSpPr txBox="1"/>
          <p:nvPr/>
        </p:nvSpPr>
        <p:spPr>
          <a:xfrm>
            <a:off x="8961120" y="3749040"/>
            <a:ext cx="1828800" cy="274320"/>
          </a:xfrm>
          <a:prstGeom prst="rect">
            <a:avLst/>
          </a:prstGeom>
          <a:noFill/>
          <a:ln/>
        </p:spPr>
        <p:txBody>
          <a:bodyPr wrap="square" lIns="0" tIns="0" rIns="0" bIns="0" rtlCol="0" anchor="t"/>
          <a:lstStyle/>
          <a:p>
            <a:pPr indent="0" marL="0">
              <a:buNone/>
            </a:pPr>
            <a:r>
              <a:rPr lang="en-IE" sz="1100" b="1" spc="150" kern="0" dirty="0">
                <a:solidFill>
                  <a:schemeClr val="tx2"/>
                </a:solidFill>
              </a:rPr>
              <a:t>ID</a:t>
            </a:r>
            <a:endParaRPr lang="en-IE" sz="1100" dirty="0"/>
          </a:p>
        </p:txBody>
      </p:sp>
      <p:sp>
        <p:nvSpPr>
          <p:cNvPr id="17" name="Text 13"/>
          <p:cNvSpPr txBox="1"/>
          <p:nvPr/>
        </p:nvSpPr>
        <p:spPr>
          <a:xfrm>
            <a:off x="8961120" y="4023360"/>
            <a:ext cx="1828800" cy="365760"/>
          </a:xfrm>
          <a:prstGeom prst="rect">
            <a:avLst/>
          </a:prstGeom>
          <a:noFill/>
          <a:ln/>
        </p:spPr>
        <p:txBody>
          <a:bodyPr wrap="square" lIns="0" tIns="0" rIns="0" bIns="0" rtlCol="0" anchor="t"/>
          <a:lstStyle/>
          <a:p>
            <a:pPr indent="0" marL="0">
              <a:buNone/>
            </a:pPr>
            <a:r>
              <a:rPr lang="en-IE" sz="1800" dirty="0">
                <a:solidFill>
                  <a:schemeClr val="tx2"/>
                </a:solidFill>
                <a:latin typeface="Consolas" pitchFamily="34" charset="0"/>
                <a:ea typeface="Consolas" pitchFamily="34" charset="-122"/>
                <a:cs typeface="Consolas" pitchFamily="34" charset="-120"/>
              </a:rPr>
              <a:t>0</a:t>
            </a:r>
            <a:endParaRPr lang="en-IE" sz="1800" dirty="0"/>
          </a:p>
        </p:txBody>
      </p:sp>
      <p:sp>
        <p:nvSpPr>
          <p:cNvPr id="18" name="Text 14"/>
          <p:cNvSpPr txBox="1"/>
          <p:nvPr/>
        </p:nvSpPr>
        <p:spPr>
          <a:xfrm>
            <a:off x="7406640" y="4572000"/>
            <a:ext cx="3383280" cy="731520"/>
          </a:xfrm>
          <a:prstGeom prst="rect">
            <a:avLst/>
          </a:prstGeom>
          <a:noFill/>
          <a:ln/>
        </p:spPr>
        <p:txBody>
          <a:bodyPr wrap="square" lIns="0" tIns="0" rIns="0" bIns="0" rtlCol="0" anchor="ctr"/>
          <a:lstStyle/>
          <a:p>
            <a:pPr algn="ctr" indent="0" marL="0">
              <a:buNone/>
            </a:pPr>
            <a:r>
              <a:rPr lang="en-IE" sz="1500" i="1" dirty="0">
                <a:solidFill>
                  <a:schemeClr val="tx2"/>
                </a:solidFill>
              </a:rPr>
              <a:t>The object exists now. The real details can come later.</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95</a:t>
            </a:fld>
            <a:endParaRPr lang="en-IE"/>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No-arg constructors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When is a no-arg constructor useful?</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we want to delete an object we no longer need</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we need an object but don’t have its data yet</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we already have all the data to pass in</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Only when the class also has a main method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96</a:t>
            </a:fld>
            <a:endParaRPr lang="en-IE"/>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No-arg constructors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When is a no-arg constructor useful?</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we want to delete an object we no longer need</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When we need an object but don’t have its data yet</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we already have all the data to pass in</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Only when the class also has a main method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no-arg constructor gives the object safe starting values, like </a:t>
            </a:r>
            <a:r>
              <a:rPr lang="en-IE" sz="1800" dirty="0">
                <a:solidFill>
                  <a:schemeClr val="accent2"/>
                </a:solidFill>
                <a:latin typeface="Consolas" pitchFamily="34" charset="0"/>
                <a:ea typeface="Consolas" pitchFamily="34" charset="-122"/>
                <a:cs typeface="Consolas" pitchFamily="34" charset="-120"/>
              </a:rPr>
              <a:t>""</a:t>
            </a:r>
            <a:r>
              <a:rPr lang="en-IE" sz="1800" dirty="0">
                <a:solidFill>
                  <a:schemeClr val="tx1"/>
                </a:solidFill>
              </a:rPr>
              <a:t> and </a:t>
            </a:r>
            <a:r>
              <a:rPr lang="en-IE" sz="1800" dirty="0">
                <a:solidFill>
                  <a:schemeClr val="accent2"/>
                </a:solidFill>
                <a:latin typeface="Consolas" pitchFamily="34" charset="0"/>
                <a:ea typeface="Consolas" pitchFamily="34" charset="-122"/>
                <a:cs typeface="Consolas" pitchFamily="34" charset="-120"/>
              </a:rPr>
              <a:t>0</a:t>
            </a:r>
            <a:r>
              <a:rPr lang="en-IE" sz="1800" dirty="0">
                <a:solidFill>
                  <a:schemeClr val="tx1"/>
                </a:solidFill>
              </a:rPr>
              <a:t>. So we can create the object now, even though the real data isn’t ready yet.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97</a:t>
            </a:fld>
            <a:endParaRPr lang="en-IE"/>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1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5">
              <a:alpha val="14000"/>
            </a:schemeClr>
          </a:solidFill>
          <a:ln/>
        </p:spPr>
      </p:sp>
      <p:pic>
        <p:nvPicPr>
          <p:cNvPr id="7" name="shuffle icon" descr="shuffle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Paradigm</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style, or approach, for building programs.</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2">
              <a:alpha val="14000"/>
            </a:schemeClr>
          </a:solidFill>
          <a:ln/>
        </p:spPr>
      </p:sp>
      <p:pic>
        <p:nvPicPr>
          <p:cNvPr id="12" name="blueprint icon" descr="blueprint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Class</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template for making objects.</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4">
              <a:alpha val="14000"/>
            </a:schemeClr>
          </a:solidFill>
          <a:ln/>
        </p:spPr>
      </p:sp>
      <p:pic>
        <p:nvPicPr>
          <p:cNvPr id="17" name="cube icon" descr="cube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Object</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An instance of a class, with its own values.</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1">
              <a:alpha val="14000"/>
            </a:schemeClr>
          </a:solidFill>
          <a:ln/>
        </p:spPr>
      </p:sp>
      <p:pic>
        <p:nvPicPr>
          <p:cNvPr id="22" name="tag icon" descr="tag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Attribute</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A variable that holds an object’s data.</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4">
              <a:alpha val="14000"/>
            </a:schemeClr>
          </a:solidFill>
          <a:ln/>
        </p:spPr>
      </p:sp>
      <p:pic>
        <p:nvPicPr>
          <p:cNvPr id="27" name="lightning icon" descr="lightning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Method</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A function that belongs to a class.</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1">
              <a:alpha val="14000"/>
            </a:schemeClr>
          </a:solidFill>
          <a:ln/>
        </p:spPr>
      </p:sp>
      <p:pic>
        <p:nvPicPr>
          <p:cNvPr id="32" name="hammer icon" descr="hammer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Constructor</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Sets up a new object when it is created.</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3">
              <a:alpha val="14000"/>
            </a:schemeClr>
          </a:solidFill>
          <a:ln/>
        </p:spPr>
      </p:sp>
      <p:pic>
        <p:nvPicPr>
          <p:cNvPr id="37" name="plus square icon" descr="plus square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new</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The keyword that creates a new object.</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5">
              <a:alpha val="14000"/>
            </a:schemeClr>
          </a:solidFill>
          <a:ln/>
        </p:spPr>
      </p:sp>
      <p:pic>
        <p:nvPicPr>
          <p:cNvPr id="42" name="target icon" descr="target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The dot</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Reaches inside an object, as in </a:t>
            </a:r>
            <a:r>
              <a:rPr lang="en-IE" sz="1500" dirty="0">
                <a:solidFill>
                  <a:schemeClr val="accent2"/>
                </a:solidFill>
                <a:latin typeface="Consolas" pitchFamily="34" charset="0"/>
                <a:ea typeface="Consolas" pitchFamily="34" charset="-122"/>
                <a:cs typeface="Consolas" pitchFamily="34" charset="-120"/>
              </a:rPr>
              <a:t>tom.age</a:t>
            </a:r>
            <a:r>
              <a:rPr lang="en-IE" sz="1500" dirty="0">
                <a:solidFill>
                  <a:schemeClr val="tx2"/>
                </a:solidFill>
              </a:rPr>
              <a:t> or </a:t>
            </a:r>
            <a:r>
              <a:rPr lang="en-IE" sz="1500" dirty="0">
                <a:solidFill>
                  <a:schemeClr val="accent2"/>
                </a:solidFill>
                <a:latin typeface="Consolas" pitchFamily="34" charset="0"/>
                <a:ea typeface="Consolas" pitchFamily="34" charset="-122"/>
                <a:cs typeface="Consolas" pitchFamily="34" charset="-120"/>
              </a:rPr>
              <a:t>tom.sayHello()</a:t>
            </a:r>
            <a:r>
              <a:rPr lang="en-IE" sz="1500" dirty="0">
                <a:solidFill>
                  <a:schemeClr val="tx2"/>
                </a:solidFill>
              </a:rPr>
              <a: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98</a:t>
            </a:fld>
            <a:endParaRPr lang="en-IE"/>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1</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5964</Words>
  <Application>Microsoft Office PowerPoint</Application>
  <PresentationFormat>On-screen Show (16:9)</PresentationFormat>
  <Paragraphs>1470</Paragraphs>
  <Slides>99</Slides>
  <Notes>99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99</vt:i4>
      </vt:variant>
    </vt:vector>
  </HeadingPairs>
  <TitlesOfParts>
    <vt:vector size="103" baseType="lpstr">
      <vt:lpstr>Arial</vt:lpstr>
      <vt:lpstr>Calibri</vt:lpstr>
      <vt:lpstr>Consolas</vt:lpstr>
      <vt:lpstr>Blueprint</vt:lpstr>
      <vt:lpstr>Object-Oriented Programming</vt:lpstr>
      <vt:lpstr>What we cover today</vt:lpstr>
      <vt:lpstr>Ways of writing programs</vt:lpstr>
      <vt:lpstr>What is a program made of?</vt:lpstr>
      <vt:lpstr>What is a programming paradigm?</vt:lpstr>
      <vt:lpstr>What is a programming paradigm?</vt:lpstr>
      <vt:lpstr>Four common paradigms</vt:lpstr>
      <vt:lpstr>JavaScript lets you write functional code and also object-oriented code. What do we call a language like this?</vt:lpstr>
      <vt:lpstr>JavaScript lets you write functional code and also object-oriented code. What do we call a language like this?</vt:lpstr>
      <vt:lpstr>Procedural programming</vt:lpstr>
      <vt:lpstr>In procedural programming, how are data and functions organised?</vt:lpstr>
      <vt:lpstr>In procedural programming, how are data and functions organised?</vt:lpstr>
      <vt:lpstr>Functional programming</vt:lpstr>
      <vt:lpstr>A function is handed to a button and only runs later, when someone clicks. What do we call this function?</vt:lpstr>
      <vt:lpstr>A function is handed to a button and only runs later, when someone clicks. What do we call this function?</vt:lpstr>
      <vt:lpstr>Declarative programming</vt:lpstr>
      <vt:lpstr>Which sentence best describes declarative programming?</vt:lpstr>
      <vt:lpstr>Which sentence best describes declarative programming?</vt:lpstr>
      <vt:lpstr>Object-oriented programming (OOP)</vt:lpstr>
      <vt:lpstr>What is the main difference between OOP and procedural programming?</vt:lpstr>
      <vt:lpstr>What is the main difference between OOP and procedural programming?</vt:lpstr>
      <vt:lpstr>Objects look after themselves</vt:lpstr>
      <vt:lpstr>Objects are self-contained pieces of a program. Why is that useful?</vt:lpstr>
      <vt:lpstr>Objects are self-contained pieces of a program. Why is that useful?</vt:lpstr>
      <vt:lpstr>Why use OOP?</vt:lpstr>
      <vt:lpstr>The college uses the same Student class in its exam system and again in its library system. Which benefit of OOP is...</vt:lpstr>
      <vt:lpstr>The college uses the same Student class in its exam system and again in its library system. Which benefit of OOP is...</vt:lpstr>
      <vt:lpstr>From idea to working program</vt:lpstr>
      <vt:lpstr>Three stages of object-oriented development</vt:lpstr>
      <vt:lpstr>What is the correct order of the three stages?</vt:lpstr>
      <vt:lpstr>What is the correct order of the three stages?</vt:lpstr>
      <vt:lpstr>Analysis: what are we making?</vt:lpstr>
      <vt:lpstr>Object-oriented analysis mainly answers which question?</vt:lpstr>
      <vt:lpstr>Object-oriented analysis mainly answers which question?</vt:lpstr>
      <vt:lpstr>Design: how will we make it?</vt:lpstr>
      <vt:lpstr>Which of these is used in design to show the structure of the code before it is written?</vt:lpstr>
      <vt:lpstr>Which of these is used in design to show the structure of the code before it is written?</vt:lpstr>
      <vt:lpstr>Programming: making it work</vt:lpstr>
      <vt:lpstr>Which of these is a big part of the programming stage?</vt:lpstr>
      <vt:lpstr>Which of these is a big part of the programming stage?</vt:lpstr>
      <vt:lpstr>The building blocks</vt:lpstr>
      <vt:lpstr>Features of object-oriented systems</vt:lpstr>
      <vt:lpstr>Which of these is one of the four big features of object-oriented systems?</vt:lpstr>
      <vt:lpstr>Which of these is one of the four big features of object-oriented systems?</vt:lpstr>
      <vt:lpstr>Objects</vt:lpstr>
      <vt:lpstr>Think about a Car object. Which of these is a behaviour (method), not an attribute?</vt:lpstr>
      <vt:lpstr>Think about a Car object. Which of these is a behaviour (method), not an attribute?</vt:lpstr>
      <vt:lpstr>Classes: the template</vt:lpstr>
      <vt:lpstr>Reading a class diagram</vt:lpstr>
      <vt:lpstr>Which statement about classes is true?</vt:lpstr>
      <vt:lpstr>Which statement about classes is true?</vt:lpstr>
      <vt:lpstr>Objects are instances of a class</vt:lpstr>
      <vt:lpstr>We make 50 objects from one Student class. Which statement is true?</vt:lpstr>
      <vt:lpstr>We make 50 objects from one Student class. Which statement is true?</vt:lpstr>
      <vt:lpstr>Attributes</vt:lpstr>
      <vt:lpstr>In this class, what are age and name ?</vt:lpstr>
      <vt:lpstr>In this class, what are age and name ?</vt:lpstr>
      <vt:lpstr>Creating an object and reaching inside it</vt:lpstr>
      <vt:lpstr>After this line runs, what does the variable tom hold?</vt:lpstr>
      <vt:lpstr>After this line runs, what does the variable tom hold?</vt:lpstr>
      <vt:lpstr>Methods: what an object can do</vt:lpstr>
      <vt:lpstr>Values that we pass into a method when we call it are called…</vt:lpstr>
      <vt:lpstr>Values that we pass into a method when we call it are called…</vt:lpstr>
      <vt:lpstr>Method or function?</vt:lpstr>
      <vt:lpstr>Which sentence about functions and methods is correct?</vt:lpstr>
      <vt:lpstr>Which sentence about functions and methods is correct?</vt:lpstr>
      <vt:lpstr>Constructors</vt:lpstr>
      <vt:lpstr>Constructors</vt:lpstr>
      <vt:lpstr>One class, different starting values</vt:lpstr>
      <vt:lpstr>When does a constructor run?</vt:lpstr>
      <vt:lpstr>When does a constructor run?</vt:lpstr>
      <vt:lpstr>Default values, and more than one constructor</vt:lpstr>
      <vt:lpstr>A class has no constructor, and its attribute int age; is never given a value. What does age start as?</vt:lpstr>
      <vt:lpstr>A class has no constructor, and its attribute int age; is never given a value. What does age start as?</vt:lpstr>
      <vt:lpstr>Creating a class in three steps</vt:lpstr>
      <vt:lpstr>The Employee class, piece by piece</vt:lpstr>
      <vt:lpstr>Which class needs a main method?</vt:lpstr>
      <vt:lpstr>Which class needs a main method?</vt:lpstr>
      <vt:lpstr>Where classes live</vt:lpstr>
      <vt:lpstr>A public class is called Employee . What should its file be called?</vt:lpstr>
      <vt:lpstr>A public class is called Employee . What should its file be called?</vt:lpstr>
      <vt:lpstr>Creating an object with new</vt:lpstr>
      <vt:lpstr>In this line, what is employee1 ?</vt:lpstr>
      <vt:lpstr>In this line, what is employee1 ?</vt:lpstr>
      <vt:lpstr>Calling an object’s methods</vt:lpstr>
      <vt:lpstr>What does this code print?</vt:lpstr>
      <vt:lpstr>What does this code print?</vt:lpstr>
      <vt:lpstr>Rules for constructors</vt:lpstr>
      <vt:lpstr>Which line is a correct constructor for the class Employee ?</vt:lpstr>
      <vt:lpstr>Which line is a correct constructor for the class Employee ?</vt:lpstr>
      <vt:lpstr>Passing values to a constructor</vt:lpstr>
      <vt:lpstr>Creating an object from user input</vt:lpstr>
      <vt:lpstr>What is stored in the new object’s id ?</vt:lpstr>
      <vt:lpstr>What is stored in the new object’s id ?</vt:lpstr>
      <vt:lpstr>No-arg constructors</vt:lpstr>
      <vt:lpstr>When is a no-arg constructor useful?</vt:lpstr>
      <vt:lpstr>When is a no-arg constructor useful?</vt:lpstr>
      <vt:lpstr>Lecture 1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1</dc:title>
  <dc:subject>Lecture 1 ideas in plain words, with quick checks</dc:subject>
  <dc:creator>Saeid Rezaei</dc:creator>
  <cp:lastModifiedBy>Saeid Rezaei</cp:lastModifiedBy>
  <cp:revision>1</cp:revision>
  <dcterms:created xsi:type="dcterms:W3CDTF">2026-10-11T09:59:04Z</dcterms:created>
  <dcterms:modified xsi:type="dcterms:W3CDTF">2026-10-11T09:59:04Z</dcterms:modified>
</cp:coreProperties>
</file>
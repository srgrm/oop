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7f86579-13bd-b989-7d5d-8a0eeb58de2c}">
          <p14:sldIdLst>
            <p14:sldId id="256"/>
            <p14:sldId id="257"/>
          </p14:sldIdLst>
        </p14:section>
        <p14:section name="1. How classes relate" id="{1fef915c-0f6b-b5eb-1eb8-582acc5fad44}">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2. Inheritance" id="{a915c15b-ddc4-5add-d8cf-01692a9ab37c}">
          <p14:sldIdLst>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 name="3. Abstract classes and super" id="{5a0c2083-f4b5-a032-42d3-3c0d3c62b815}">
          <p14:sldIdLst>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Lst>
        </p14:section>
        <p14:section name="4. Inheritance and access" id="{283833ee-82fb-5b40-2772-a6abd9cee006}">
          <p14:sldIdLst>
            <p14:sldId id="319"/>
            <p14:sldId id="320"/>
            <p14:sldId id="321"/>
            <p14:sldId id="322"/>
            <p14:sldId id="323"/>
            <p14:sldId id="324"/>
            <p14:sldId id="325"/>
            <p14:sldId id="326"/>
            <p14:sldId id="327"/>
            <p14:sldId id="328"/>
          </p14:sldIdLst>
        </p14:section>
        <p14:section name="Wrap-up" id="{477c19ac-74d6-3907-5c04-f6d00bb6e5cd}">
          <p14:sldIdLst>
            <p14:sldId id="329"/>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Lecture 3 is about how classes relate to each other: working together, using, sharing, owning, and inheriting. The picture shows two of them: a Car is a Vehicle, and an Engine is part of a Car.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Four parts today. After each idea there's a quick check with four options. Give everyone about 30 seconds, take a show of hands for A, B, C and D, then go to the answer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1: the four ways one class can use or hold another.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Classes in object-oriented code can have different relationships. Here are the five we cover, in the order of the lecture, each with the example we'll use. The lines follow UML: a plain line is an association, a dashed arrow is a dependency, a hollow diamond sits on the class that has a part it can share, a filled diamond sits on the class that owns its part, and the hollow triangle points at the parent.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“Encapsulation”.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“Encapsulation”.
The five relationships are association, dependency, aggregation, composition and inheritance. Encapsulation, from Lecture 2, is about hiding data inside a class, not a link between classes.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Student and Module are both needed for the print statement, but apart from that they have nothing to do with each other. Neither one stores or creates the other. In UML, an association usually means one class keeps a reference to the other (a Student holding its Modules, say) without owning it; the lecture's example keeps it simpler.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“They work together, but each can exist on its own”.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“They work together, but each can exist on its own”.
In an association the classes know about each other and work together, but neither owns the other, so each can exist on its own. C describes composition and B describes inheritance. Where the classes are saved (D) has nothing to do with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Student needs a Module to do this one job, comparing modules. The Module comes in as a parameter and isn't kept afterwards. The lecture slide compares the names with ==; for Strings we use .equals(), which compares the text. == checks whether two variables refer to the same object, so two equal pieces of text can still give false.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“Only while compareModule() is running”.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“Only while compareModule() is running”.
The Module is a parameter, so Student only has it while the method runs. Nothing is saved in an attribute. That is what makes it a dependency: Student needs the Module for one job, and the Module normally exists on its own.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Aggregation is a has-a relationship where the part can be shared. A student has a university, and a teacher can have the very same university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Student and Teacher each keep a University attribute, but they don't create it: it arrives through the constructor. Compared with the lecture slide, University has a constructor here, and Teacher stores the college it is given.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University is created once, outside, and handed to every object that needs it. So other references to it exist. If we delete all the students, the teacher still has the university.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“It still exists, as the Teacher still refers to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“It still exists, as the Teacher still refers to it”.
This is aggregation: the University was created outside and passed in, so no single object owns it. Deleting the students only removes their references to it. The Teacher still refers to the same University.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“It is created outside and passed in to the constructor”.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“It is created outside and passed in to the constructor”.
The University is created once, outside the classes, and passed in: new Student(university). That is why a second reference to it can exist, for example in a Teacher. Creating it inside the Student (A) would be composition.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Composition is the stronger form of aggregation. The car owns its engine completely: no one else has it, and when the car object goes, so does its engine. Java has no delete command. An object is gone once nothing refers to it any more, and the garbage collector then reclaims the memory.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“It goes too, since only the Car referred to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“It goes too, since only the Car referred to it”.
This is composition: the Car is the only owner of its Engine. Nothing else has a reference to it, so when the Car goes, the Engine can no longer be reached and Java’s garbage collector removes it as well.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only difference in the code is where the part is created. Passed in from outside: aggregation. Created inside the class, with no other reference: composition.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“Student() { this.university = new University("Griffith", "Cork");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“Student() { this.university = new University("Griffith", "Cork"); }”.
In B the University is created inside the Student, so nothing else has a reference to it: composition. A receives a University made outside (aggregation), C only uses one for a job (dependency), and D shares another Student’s University.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2: inheritance, the is-a relationship, and the extends keyword.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Inheritance lets a new class start with everything another class has, and then add more. The picture shows a child class: the grey part comes from the parent, the rest is its own.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family words are where the names come from. Students will see all of these names in books and online, so it's worth showing that they mean the same two things: parent and child.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“Superclass”.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“Superclass”.
A parent class is also called a superclass or a base class. Subclass, derived class and extended class are all names for the child.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Both Car and Boat need an engine, so the engine goes in the parent, once. Wheels and anchor only make sense for one child each, so they go in the children.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“In Boat only”.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“In Boat only”.
Only boats need an anchor, so it goes in Boat. Attributes that every vehicle needs, like the engine, go in the parent. A car doesn’t need an anchor, so it shouldn’t inherit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Inheritance is the is-a relationship. A quick test students can use: say 'a Car is a Vehicle' out loud. If it sounds right, inheritance fits. It only works one way round.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“Car and Vehicle”.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“Car and Vehicle”.
A car is a vehicle, so Car can extend Vehicle. An engine is part of a car (composition), a student has a university (aggregation), and a student and a module just work together (association or dependency).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extends is how Java says 'is a'. Car extends Vehicle: Car is an extension of Vehicle and gets its attributes and methods. (The lecture slide writes Wheels[]; here it's Wheel[], an array of wheels.)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“Boat inherits Vehicle’s attributes and methods”.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“Boat inherits Vehicle’s attributes and methods”.
extends makes Boat a subclass of Vehicle, so Boat inherits Vehicle’s attributes and methods, like the engine. Inheritance goes from parent to child, never the other way.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rules. One parent only; inherited attributes are already there, so don't declare them again; and the parent doesn't have to be abstract. Abstract classes are next. Declaring engine again in Car does compile, but it creates a second engine that hides the inherited one, which only causes confusion.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“class Car extends Vehicle, Machine {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“class Car extends Vehicle, Machine { }”.
A class can extend only one superclass, so D is an error. A, B and C each have exactly one parent. SportsCar’s parent is Car, which is fine: a parent can have a parent of its own.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 abstract classes, the super keyword, and abstract methods, using the Employee example.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abstract class is a parent we never make objects of. If Vehicle were abstract, we could make cars and boats, but never a plain 'vehicle'. javac's message: Vehicle is abstract; cannot be instantiated.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Another example of inheritance: two subclasses of Employee. Everyone who works here is either full time or part time, never just an 'employee', so Employee is abstract.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“Because every employee is full time or part time”.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“Because every employee is full time or part time”.
No one is just an ‘employee’: each person is either full time or part time. So we never create Employee objects. Employee holds what they share, like name and id, and acts as the superclass.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is the shared part. abstract in the class header means we can't write new Employee(...). The name, id, getters and setters are written once, here, and both subclasses inherit them.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Now the two concrete classes, each in its own file. They only declare what's new: salary and bonus, or hours and payRate. Their getters and setters are left out here to save space.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“new FullTimeEmployee("Ann", 1, 900, 50)”.</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“new FullTimeEmployee("Ann", 1, 900, 50)”.
We can’t create objects of an abstract class, so A and B fail. FullTimeEmployee is concrete, so C works. D fails because PartTimeEmployee’s constructor needs four arguments: name, id, hours and payRate.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subclass can't assign name and id directly: they're private in Employee, and we can't make an Employee object. So super(name, id) hands them to Employee's constructor. It goes first. (Since Java 25 a few statements that don't touch the object may come before it, but before Java 25 it must be the first statement.)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“Calls the Employee constructor to set name and id”.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“Calls the Employee constructor to set name and id”.
super(...) calls the superclass constructor. Employee’s constructor sets the private name and id, which FullTimeEmployee can’t assign directly. It doesn’t make a second object: it sets up the Employee part of this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Making a Car runs Vehicle's constructor first, even though we never wrote super(). Java adds super() for us. That's also why FullTimeEmployee must call super(name, id) itself: Employee has no constructor without arguments, so the automatic super() would fail.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“Vehicle Car SportsCar”.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“Vehicle Car SportsCar”.
Every constructor first calls its parent’s constructor. When we don’t write super(), Java adds it for us. So Vehicle’s part is built first, then Car’s, then SportsCar’s.
Expect some B answers from anyone who thinks the child's constructor runs first.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abstract method is just the header: name, parameters and return type, with no body. Each child fills in its own version. @Override marks those versions; more on that next lecture. Forget the method in a subclass and javac says: FullTimeEmployee is not abstract and does not override abstract method calculatePay() in Employee.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“public abstract double calculatePay();”.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“public abstract double calculatePay();”.
An abstract method has the word abstract, a return type and no body: just a semicolon. B has a body, C is missing abstract (so it needs a body), and D has no return type.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Why not just write the two calculatePay methods without one in the parent? Consistency, mainly. The abstract method forces every subclass to use the same name and parameters, which helps testing, refactoring and teamwork.</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“So every subclass uses the same name and parameters”.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“So every subclass uses the same name and parameters”.
Mainly consistency. Every concrete subclass must have a calculatePay() with the same name and parameters, which makes testing and refactoring easier, especially when other people work on the code too. The compiler only checks that the method exists, not that the sum is right.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4: what the child declares itself, and which of the parent's attributes it can use.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FullTimeEmployee object has four attributes: two that come from Employee and two of its own. We only declare the new ones in the subclass. Strictly, private attributes are not inherited, but every object still holds them, so the object has a name and an id.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“Only salary and bonus”.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“Only salary and bonus”.
Employee already declares name and id, so FullTimeEmployee doesn’t declare them again. It only declares what is unique to it: salary and bonus.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child does have a name, but it can't touch it directly because it's private in Employee. It goes through the public getter and setter, which it inherits. The next slide shows the other option: protected.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“setName("Ann");”.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“setName("Ann");”.
A subclass can’t use the parent’s private attributes directly, so A, B and D give the error “name has private access in Employee”. The public setter is inherited, so setName("Ann") works.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protected is in between private and public. The subclass can use age directly, without a setter. Strictly, protected also opens it to classes in the same package. (The lecture slide's code is missing the brackets after PartTimeStudent.)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“protected”.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“protected”.
protected sits between private and public. Its own class, its subclasses and classes in the same package can use it. private would hide it from the subclass, and public would open it to everyone.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key words from today on one slide. A good one to leave up while taking questions.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Open the floor for questions. The summary slide before this one is a good one to go back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75</a:t>
            </a:fld>
            <a:endParaRPr lang="en-I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IE" sz="1400" b="1" spc="300" kern="0" dirty="0">
                <a:solidFill>
                  <a:schemeClr val="accent6"/>
                </a:solidFill>
              </a:defRPr>
            </a:lvl1pPr>
          </a:lstStyle>
          <a:p>
            <a:pPr indent="0" marL="0">
              <a:buNone/>
            </a:pP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IE" sz="5200" b="1" dirty="0">
                <a:solidFill>
                  <a:schemeClr val="bg1"/>
                </a:solidFill>
              </a:defRPr>
            </a:lvl1pPr>
          </a:lstStyle>
          <a:p>
            <a:pPr algn="l" indent="0" marL="0">
              <a:buNone/>
            </a:pP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IE" sz="9600" b="1" dirty="0">
                <a:solidFill>
                  <a:schemeClr val="accent1"/>
                </a:solidFill>
              </a:defRPr>
            </a:lvl1pPr>
          </a:lstStyle>
          <a:p>
            <a:pPr indent="0" marL="0">
              <a:buNone/>
            </a:pP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IE" sz="4400" b="1" dirty="0">
                <a:solidFill>
                  <a:schemeClr val="bg1"/>
                </a:solidFill>
              </a:defRPr>
            </a:lvl1pPr>
          </a:lstStyle>
          <a:p>
            <a:pPr algn="l" indent="0" marL="0">
              <a:buNone/>
            </a:pP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IE" sz="1200" b="1" spc="150" kern="0" dirty="0">
                <a:solidFill>
                  <a:schemeClr val="tx2"/>
                </a:solidFill>
              </a:defRPr>
            </a:lvl1pPr>
          </a:lstStyle>
          <a:p>
            <a:pPr indent="0" marL="0">
              <a:buNone/>
            </a:pP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IE" sz="3400" b="1" dirty="0">
                <a:solidFill>
                  <a:schemeClr val="tx1"/>
                </a:solidFill>
              </a:defRPr>
            </a:lvl1pPr>
          </a:lstStyle>
          <a:p>
            <a:pPr algn="l" indent="0" marL="0">
              <a:buNone/>
            </a:pPr>
            <a:endParaRPr lang="en-IE"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3</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1004</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IE" sz="2800" b="1" dirty="0">
                <a:solidFill>
                  <a:schemeClr val="tx1"/>
                </a:solidFill>
              </a:defRPr>
            </a:lvl1pPr>
          </a:lstStyle>
          <a:p>
            <a:pPr algn="l" indent="0" marL="0">
              <a:buNone/>
            </a:pPr>
            <a:endParaRPr lang="en-IE"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3</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1005</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IE" sz="2000" b="1" dirty="0">
                <a:solidFill>
                  <a:schemeClr val="tx2"/>
                </a:solidFill>
              </a:defRPr>
            </a:lvl1pPr>
          </a:lstStyle>
          <a:p>
            <a:pPr algn="l" indent="0" marL="0">
              <a:buNone/>
            </a:pPr>
            <a:endParaRPr lang="en-IE"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3</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1006</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IE" sz="6400" b="1" dirty="0">
                <a:solidFill>
                  <a:schemeClr val="bg1"/>
                </a:solidFill>
              </a:defRPr>
            </a:lvl1pPr>
          </a:lstStyle>
          <a:p>
            <a:pPr algn="l" indent="0" marL="0">
              <a:buNone/>
            </a:pP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IE" sz="2200" dirty="0">
                <a:solidFill>
                  <a:schemeClr val="bg2"/>
                </a:solidFill>
              </a:defRPr>
            </a:lvl1pPr>
          </a:lstStyle>
          <a:p>
            <a:pPr indent="0" marL="0">
              <a:buNone/>
            </a:pPr>
            <a:endParaRPr lang="en-IE"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null</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4.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6.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6.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4.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6.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6.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6.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6.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slideLayout" Target="../slideLayouts/slideLayout4.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6.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6.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4.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6.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4.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6.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4.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6.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6.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6.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6.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4.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6.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6.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4.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6.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slideLayout" Target="../slideLayouts/slideLayout4.xml"/><Relationship Id="rId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6.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image" Target="../media/image-74-8.png"/><Relationship Id="rId9" Type="http://schemas.openxmlformats.org/officeDocument/2006/relationships/slideLayout" Target="../slideLayouts/slideLayout4.xml"/><Relationship Id="rId10"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7.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IE" sz="1400" b="1" spc="300" kern="0" dirty="0">
                <a:solidFill>
                  <a:schemeClr val="accent6"/>
                </a:solidFill>
              </a:rPr>
              <a:t>LECTURE 3</a:t>
            </a: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IE" sz="5200" b="1" dirty="0">
                <a:solidFill>
                  <a:schemeClr val="bg1"/>
                </a:solidFill>
              </a:rPr>
              <a:t>Relationships</a:t>
            </a: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lIns="0" tIns="0" rIns="0" bIns="0" rtlCol="0" anchor="t"/>
          <a:lstStyle/>
          <a:p>
            <a:pPr indent="0" marL="0">
              <a:buNone/>
            </a:pPr>
            <a:r>
              <a:rPr lang="en-IE" sz="2000" dirty="0">
                <a:solidFill>
                  <a:schemeClr val="bg2"/>
                </a:solidFill>
              </a:rPr>
              <a:t>How classes use, share, own and inherit from each other</a:t>
            </a:r>
            <a:endParaRPr lang="en-IE" sz="2000" dirty="0"/>
          </a:p>
        </p:txBody>
      </p:sp>
      <p:sp>
        <p:nvSpPr>
          <p:cNvPr id="5" name="Box Vehicle"/>
          <p:cNvSpPr/>
          <p:nvPr/>
        </p:nvSpPr>
        <p:spPr>
          <a:xfrm>
            <a:off x="8001000" y="1417320"/>
            <a:ext cx="2194560" cy="658368"/>
          </a:xfrm>
          <a:prstGeom prst="roundRect">
            <a:avLst>
              <a:gd name="adj" fmla="val 11111"/>
            </a:avLst>
          </a:prstGeom>
          <a:solidFill>
            <a:schemeClr val="bg1">
              <a:alpha val="12000"/>
            </a:schemeClr>
          </a:solidFill>
          <a:ln w="19050">
            <a:solidFill>
              <a:schemeClr val="bg1"/>
            </a:solidFill>
            <a:prstDash val="solid"/>
          </a:ln>
        </p:spPr>
      </p:sp>
      <p:sp>
        <p:nvSpPr>
          <p:cNvPr id="6" name="Text 4"/>
          <p:cNvSpPr txBox="1"/>
          <p:nvPr/>
        </p:nvSpPr>
        <p:spPr>
          <a:xfrm>
            <a:off x="8001000" y="1417320"/>
            <a:ext cx="2194560" cy="658368"/>
          </a:xfrm>
          <a:prstGeom prst="rect">
            <a:avLst/>
          </a:prstGeom>
          <a:noFill/>
          <a:ln/>
        </p:spPr>
        <p:txBody>
          <a:bodyPr wrap="square" lIns="0" tIns="0" rIns="0" bIns="0" rtlCol="0" anchor="ctr"/>
          <a:lstStyle/>
          <a:p>
            <a:pPr algn="ctr" indent="0" marL="0">
              <a:buNone/>
            </a:pPr>
            <a:r>
              <a:rPr lang="en-IE" sz="1900" b="1" dirty="0">
                <a:solidFill>
                  <a:schemeClr val="bg1"/>
                </a:solidFill>
              </a:rPr>
              <a:t>Vehicle</a:t>
            </a:r>
            <a:endParaRPr lang="en-IE" sz="1900" dirty="0"/>
          </a:p>
        </p:txBody>
      </p:sp>
      <p:sp>
        <p:nvSpPr>
          <p:cNvPr id="7" name="Box Car"/>
          <p:cNvSpPr/>
          <p:nvPr/>
        </p:nvSpPr>
        <p:spPr>
          <a:xfrm>
            <a:off x="6903720" y="3063240"/>
            <a:ext cx="1828800" cy="603504"/>
          </a:xfrm>
          <a:prstGeom prst="roundRect">
            <a:avLst>
              <a:gd name="adj" fmla="val 12121"/>
            </a:avLst>
          </a:prstGeom>
          <a:solidFill>
            <a:schemeClr val="bg1">
              <a:alpha val="12000"/>
            </a:schemeClr>
          </a:solidFill>
          <a:ln w="19050">
            <a:solidFill>
              <a:schemeClr val="bg1"/>
            </a:solidFill>
            <a:prstDash val="solid"/>
          </a:ln>
        </p:spPr>
      </p:sp>
      <p:sp>
        <p:nvSpPr>
          <p:cNvPr id="8" name="Text 6"/>
          <p:cNvSpPr txBox="1"/>
          <p:nvPr/>
        </p:nvSpPr>
        <p:spPr>
          <a:xfrm>
            <a:off x="6903720" y="3063240"/>
            <a:ext cx="1828800" cy="603504"/>
          </a:xfrm>
          <a:prstGeom prst="rect">
            <a:avLst/>
          </a:prstGeom>
          <a:noFill/>
          <a:ln/>
        </p:spPr>
        <p:txBody>
          <a:bodyPr wrap="square" lIns="0" tIns="0" rIns="0" bIns="0" rtlCol="0" anchor="ctr"/>
          <a:lstStyle/>
          <a:p>
            <a:pPr algn="ctr" indent="0" marL="0">
              <a:buNone/>
            </a:pPr>
            <a:r>
              <a:rPr lang="en-IE" sz="1800" b="1" dirty="0">
                <a:solidFill>
                  <a:schemeClr val="bg1"/>
                </a:solidFill>
              </a:rPr>
              <a:t>Car</a:t>
            </a:r>
            <a:endParaRPr lang="en-IE" sz="1800" dirty="0"/>
          </a:p>
        </p:txBody>
      </p:sp>
      <p:sp>
        <p:nvSpPr>
          <p:cNvPr id="9" name="Box Boat"/>
          <p:cNvSpPr/>
          <p:nvPr/>
        </p:nvSpPr>
        <p:spPr>
          <a:xfrm>
            <a:off x="9464040" y="3063240"/>
            <a:ext cx="1828800" cy="603504"/>
          </a:xfrm>
          <a:prstGeom prst="roundRect">
            <a:avLst>
              <a:gd name="adj" fmla="val 12121"/>
            </a:avLst>
          </a:prstGeom>
          <a:solidFill>
            <a:schemeClr val="bg1">
              <a:alpha val="12000"/>
            </a:schemeClr>
          </a:solidFill>
          <a:ln w="19050">
            <a:solidFill>
              <a:schemeClr val="bg1"/>
            </a:solidFill>
            <a:prstDash val="solid"/>
          </a:ln>
        </p:spPr>
      </p:sp>
      <p:sp>
        <p:nvSpPr>
          <p:cNvPr id="10" name="Text 8"/>
          <p:cNvSpPr txBox="1"/>
          <p:nvPr/>
        </p:nvSpPr>
        <p:spPr>
          <a:xfrm>
            <a:off x="9464040" y="3063240"/>
            <a:ext cx="1828800" cy="603504"/>
          </a:xfrm>
          <a:prstGeom prst="rect">
            <a:avLst/>
          </a:prstGeom>
          <a:noFill/>
          <a:ln/>
        </p:spPr>
        <p:txBody>
          <a:bodyPr wrap="square" lIns="0" tIns="0" rIns="0" bIns="0" rtlCol="0" anchor="ctr"/>
          <a:lstStyle/>
          <a:p>
            <a:pPr algn="ctr" indent="0" marL="0">
              <a:buNone/>
            </a:pPr>
            <a:r>
              <a:rPr lang="en-IE" sz="1800" b="1" dirty="0">
                <a:solidFill>
                  <a:schemeClr val="bg1"/>
                </a:solidFill>
              </a:rPr>
              <a:t>Boat</a:t>
            </a:r>
            <a:endParaRPr lang="en-IE" sz="1800" dirty="0"/>
          </a:p>
        </p:txBody>
      </p:sp>
      <p:sp>
        <p:nvSpPr>
          <p:cNvPr id="11" name="Line"/>
          <p:cNvSpPr/>
          <p:nvPr/>
        </p:nvSpPr>
        <p:spPr>
          <a:xfrm flipV="1">
            <a:off x="9098280" y="2258568"/>
            <a:ext cx="0" cy="310896"/>
          </a:xfrm>
          <a:prstGeom prst="line">
            <a:avLst/>
          </a:prstGeom>
          <a:noFill/>
          <a:ln w="19050">
            <a:solidFill>
              <a:schemeClr val="bg1"/>
            </a:solidFill>
            <a:prstDash val="solid"/>
          </a:ln>
        </p:spPr>
      </p:sp>
      <p:sp>
        <p:nvSpPr>
          <p:cNvPr id="12" name="Line"/>
          <p:cNvSpPr/>
          <p:nvPr/>
        </p:nvSpPr>
        <p:spPr>
          <a:xfrm>
            <a:off x="7818120" y="2569464"/>
            <a:ext cx="2560320" cy="0"/>
          </a:xfrm>
          <a:prstGeom prst="line">
            <a:avLst/>
          </a:prstGeom>
          <a:noFill/>
          <a:ln w="19050">
            <a:solidFill>
              <a:schemeClr val="bg1"/>
            </a:solidFill>
            <a:prstDash val="solid"/>
          </a:ln>
        </p:spPr>
      </p:sp>
      <p:sp>
        <p:nvSpPr>
          <p:cNvPr id="13" name="Line"/>
          <p:cNvSpPr/>
          <p:nvPr/>
        </p:nvSpPr>
        <p:spPr>
          <a:xfrm flipV="1">
            <a:off x="7818120" y="2569464"/>
            <a:ext cx="0" cy="493776"/>
          </a:xfrm>
          <a:prstGeom prst="line">
            <a:avLst/>
          </a:prstGeom>
          <a:noFill/>
          <a:ln w="19050">
            <a:solidFill>
              <a:schemeClr val="bg1"/>
            </a:solidFill>
            <a:prstDash val="solid"/>
          </a:ln>
        </p:spPr>
      </p:sp>
      <p:sp>
        <p:nvSpPr>
          <p:cNvPr id="14" name="Line"/>
          <p:cNvSpPr/>
          <p:nvPr/>
        </p:nvSpPr>
        <p:spPr>
          <a:xfrm flipV="1">
            <a:off x="10378440" y="2569464"/>
            <a:ext cx="0" cy="493776"/>
          </a:xfrm>
          <a:prstGeom prst="line">
            <a:avLst/>
          </a:prstGeom>
          <a:noFill/>
          <a:ln w="19050">
            <a:solidFill>
              <a:schemeClr val="bg1"/>
            </a:solidFill>
            <a:prstDash val="solid"/>
          </a:ln>
        </p:spPr>
      </p:sp>
      <p:sp>
        <p:nvSpPr>
          <p:cNvPr id="15" name="Inheritance arrow head"/>
          <p:cNvSpPr/>
          <p:nvPr/>
        </p:nvSpPr>
        <p:spPr>
          <a:xfrm>
            <a:off x="8988552" y="2075688"/>
            <a:ext cx="219456" cy="182880"/>
          </a:xfrm>
          <a:prstGeom prst="triangle">
            <a:avLst/>
          </a:prstGeom>
          <a:solidFill>
            <a:srgbClr val="1E3F6B"/>
          </a:solidFill>
          <a:ln w="19050">
            <a:solidFill>
              <a:schemeClr val="bg1"/>
            </a:solidFill>
            <a:prstDash val="solid"/>
          </a:ln>
        </p:spPr>
      </p:sp>
      <p:sp>
        <p:nvSpPr>
          <p:cNvPr id="16" name="Box Engine"/>
          <p:cNvSpPr/>
          <p:nvPr/>
        </p:nvSpPr>
        <p:spPr>
          <a:xfrm>
            <a:off x="6903720" y="4800600"/>
            <a:ext cx="1828800" cy="603504"/>
          </a:xfrm>
          <a:prstGeom prst="roundRect">
            <a:avLst>
              <a:gd name="adj" fmla="val 12121"/>
            </a:avLst>
          </a:prstGeom>
          <a:solidFill>
            <a:schemeClr val="bg1">
              <a:alpha val="12000"/>
            </a:schemeClr>
          </a:solidFill>
          <a:ln w="19050">
            <a:solidFill>
              <a:schemeClr val="bg1"/>
            </a:solidFill>
            <a:prstDash val="solid"/>
          </a:ln>
        </p:spPr>
      </p:sp>
      <p:sp>
        <p:nvSpPr>
          <p:cNvPr id="17" name="Text 15"/>
          <p:cNvSpPr txBox="1"/>
          <p:nvPr/>
        </p:nvSpPr>
        <p:spPr>
          <a:xfrm>
            <a:off x="6903720" y="4800600"/>
            <a:ext cx="1828800" cy="603504"/>
          </a:xfrm>
          <a:prstGeom prst="rect">
            <a:avLst/>
          </a:prstGeom>
          <a:noFill/>
          <a:ln/>
        </p:spPr>
        <p:txBody>
          <a:bodyPr wrap="square" lIns="0" tIns="0" rIns="0" bIns="0" rtlCol="0" anchor="ctr"/>
          <a:lstStyle/>
          <a:p>
            <a:pPr algn="ctr" indent="0" marL="0">
              <a:buNone/>
            </a:pPr>
            <a:r>
              <a:rPr lang="en-IE" sz="1800" b="1" dirty="0">
                <a:solidFill>
                  <a:schemeClr val="bg1"/>
                </a:solidFill>
              </a:rPr>
              <a:t>Engine</a:t>
            </a:r>
            <a:endParaRPr lang="en-IE" sz="1800" dirty="0"/>
          </a:p>
        </p:txBody>
      </p:sp>
      <p:sp>
        <p:nvSpPr>
          <p:cNvPr id="18" name="Line"/>
          <p:cNvSpPr/>
          <p:nvPr/>
        </p:nvSpPr>
        <p:spPr>
          <a:xfrm flipV="1">
            <a:off x="7818120" y="3941064"/>
            <a:ext cx="0" cy="859536"/>
          </a:xfrm>
          <a:prstGeom prst="line">
            <a:avLst/>
          </a:prstGeom>
          <a:noFill/>
          <a:ln w="19050">
            <a:solidFill>
              <a:schemeClr val="bg1"/>
            </a:solidFill>
            <a:prstDash val="solid"/>
          </a:ln>
        </p:spPr>
      </p:sp>
      <p:sp>
        <p:nvSpPr>
          <p:cNvPr id="19" name="Composition diamond"/>
          <p:cNvSpPr/>
          <p:nvPr/>
        </p:nvSpPr>
        <p:spPr>
          <a:xfrm>
            <a:off x="7735824" y="3666744"/>
            <a:ext cx="164592" cy="274320"/>
          </a:xfrm>
          <a:prstGeom prst="diamond">
            <a:avLst/>
          </a:prstGeom>
          <a:solidFill>
            <a:schemeClr val="bg1"/>
          </a:solidFill>
          <a:ln w="19050">
            <a:solidFill>
              <a:schemeClr val="bg1"/>
            </a:solidFill>
            <a:prstDash val="solid"/>
          </a:ln>
        </p:spPr>
      </p:sp>
      <p:sp>
        <p:nvSpPr>
          <p:cNvPr id="20" name="Text 18"/>
          <p:cNvSpPr txBox="1"/>
          <p:nvPr/>
        </p:nvSpPr>
        <p:spPr>
          <a:xfrm>
            <a:off x="9253728" y="2157984"/>
            <a:ext cx="914400" cy="274320"/>
          </a:xfrm>
          <a:prstGeom prst="rect">
            <a:avLst/>
          </a:prstGeom>
          <a:noFill/>
          <a:ln/>
        </p:spPr>
        <p:txBody>
          <a:bodyPr wrap="square" lIns="0" tIns="0" rIns="0" bIns="0" rtlCol="0" anchor="t"/>
          <a:lstStyle/>
          <a:p>
            <a:pPr algn="l" indent="0" marL="0">
              <a:buNone/>
            </a:pPr>
            <a:r>
              <a:rPr lang="en-IE" sz="1300" i="1" dirty="0">
                <a:solidFill>
                  <a:schemeClr val="bg2"/>
                </a:solidFill>
              </a:rPr>
              <a:t>is a</a:t>
            </a:r>
            <a:endParaRPr lang="en-IE" sz="1300" dirty="0"/>
          </a:p>
        </p:txBody>
      </p:sp>
      <p:sp>
        <p:nvSpPr>
          <p:cNvPr id="21" name="Text 19"/>
          <p:cNvSpPr txBox="1"/>
          <p:nvPr/>
        </p:nvSpPr>
        <p:spPr>
          <a:xfrm>
            <a:off x="7955280" y="4160520"/>
            <a:ext cx="1280160" cy="274320"/>
          </a:xfrm>
          <a:prstGeom prst="rect">
            <a:avLst/>
          </a:prstGeom>
          <a:noFill/>
          <a:ln/>
        </p:spPr>
        <p:txBody>
          <a:bodyPr wrap="square" lIns="0" tIns="0" rIns="0" bIns="0" rtlCol="0" anchor="t"/>
          <a:lstStyle/>
          <a:p>
            <a:pPr algn="l" indent="0" marL="0">
              <a:buNone/>
            </a:pPr>
            <a:r>
              <a:rPr lang="en-IE" sz="1300" i="1" dirty="0">
                <a:solidFill>
                  <a:schemeClr val="bg2"/>
                </a:solidFill>
              </a:rPr>
              <a:t>part of</a:t>
            </a:r>
            <a:endParaRPr lang="en-IE" sz="1300" dirty="0"/>
          </a:p>
        </p:txBody>
      </p:sp>
      <p:pic>
        <p:nvPicPr>
          <p:cNvPr id="22" name="Car icon" descr="Car icon">    </p:cNvPr>
          <p:cNvPicPr>
            <a:picLocks noChangeAspect="1"/>
          </p:cNvPicPr>
          <p:nvPr/>
        </p:nvPicPr>
        <p:blipFill>
          <a:blip r:embed="rId1">
            <a:alphaModFix amt="70000"/>
          </a:blip>
          <a:stretch>
            <a:fillRect/>
          </a:stretch>
        </p:blipFill>
        <p:spPr>
          <a:xfrm>
            <a:off x="6492240" y="3172968"/>
            <a:ext cx="384048" cy="384048"/>
          </a:xfrm>
          <a:prstGeom prst="rect">
            <a:avLst/>
          </a:prstGeom>
        </p:spPr>
      </p:pic>
      <p:pic>
        <p:nvPicPr>
          <p:cNvPr id="23" name="Boat icon" descr="Boat icon">    </p:cNvPr>
          <p:cNvPicPr>
            <a:picLocks noChangeAspect="1"/>
          </p:cNvPicPr>
          <p:nvPr/>
        </p:nvPicPr>
        <p:blipFill>
          <a:blip r:embed="rId2">
            <a:alphaModFix amt="70000"/>
          </a:blip>
          <a:stretch>
            <a:fillRect/>
          </a:stretch>
        </p:blipFill>
        <p:spPr>
          <a:xfrm>
            <a:off x="11320272" y="3172968"/>
            <a:ext cx="384048" cy="384048"/>
          </a:xfrm>
          <a:prstGeom prst="rect">
            <a:avLst/>
          </a:prstGeom>
        </p:spPr>
      </p:pic>
      <p:pic>
        <p:nvPicPr>
          <p:cNvPr id="24" name="Engine icon" descr="Engine icon">    </p:cNvPr>
          <p:cNvPicPr>
            <a:picLocks noChangeAspect="1"/>
          </p:cNvPicPr>
          <p:nvPr/>
        </p:nvPicPr>
        <p:blipFill>
          <a:blip r:embed="rId3">
            <a:alphaModFix amt="70000"/>
          </a:blip>
          <a:stretch>
            <a:fillRect/>
          </a:stretch>
        </p:blipFill>
        <p:spPr>
          <a:xfrm>
            <a:off x="6492240" y="4910328"/>
            <a:ext cx="384048" cy="384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LECTURE 3</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we cover today</a:t>
            </a:r>
            <a:endParaRPr lang="en-IE" sz="3400" dirty="0"/>
          </a:p>
        </p:txBody>
      </p:sp>
      <p:sp>
        <p:nvSpPr>
          <p:cNvPr id="5" name="Text 2"/>
          <p:cNvSpPr txBox="1"/>
          <p:nvPr/>
        </p:nvSpPr>
        <p:spPr>
          <a:xfrm>
            <a:off x="548640" y="174650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01</a:t>
            </a:r>
            <a:endParaRPr lang="en-IE" sz="3000" dirty="0"/>
          </a:p>
        </p:txBody>
      </p:sp>
      <p:sp>
        <p:nvSpPr>
          <p:cNvPr id="6" name="Text 3"/>
          <p:cNvSpPr txBox="1"/>
          <p:nvPr/>
        </p:nvSpPr>
        <p:spPr>
          <a:xfrm>
            <a:off x="1463040" y="1783080"/>
            <a:ext cx="5577840" cy="384048"/>
          </a:xfrm>
          <a:prstGeom prst="rect">
            <a:avLst/>
          </a:prstGeom>
          <a:noFill/>
          <a:ln/>
        </p:spPr>
        <p:txBody>
          <a:bodyPr wrap="square" lIns="0" tIns="0" rIns="0" bIns="0" rtlCol="0" anchor="t"/>
          <a:lstStyle/>
          <a:p>
            <a:pPr indent="0" marL="0">
              <a:buNone/>
            </a:pPr>
            <a:r>
              <a:rPr lang="en-IE" sz="2100" b="1" dirty="0">
                <a:solidFill>
                  <a:schemeClr val="tx1"/>
                </a:solidFill>
              </a:rPr>
              <a:t>How classes relate</a:t>
            </a:r>
            <a:endParaRPr lang="en-IE" sz="2100" dirty="0"/>
          </a:p>
        </p:txBody>
      </p:sp>
      <p:sp>
        <p:nvSpPr>
          <p:cNvPr id="7" name="Text 4"/>
          <p:cNvSpPr txBox="1"/>
          <p:nvPr/>
        </p:nvSpPr>
        <p:spPr>
          <a:xfrm>
            <a:off x="1463040" y="2194560"/>
            <a:ext cx="5577840" cy="365760"/>
          </a:xfrm>
          <a:prstGeom prst="rect">
            <a:avLst/>
          </a:prstGeom>
          <a:noFill/>
          <a:ln/>
        </p:spPr>
        <p:txBody>
          <a:bodyPr wrap="square" lIns="0" tIns="0" rIns="0" bIns="0" rtlCol="0" anchor="t"/>
          <a:lstStyle/>
          <a:p>
            <a:pPr indent="0" marL="0">
              <a:buNone/>
            </a:pPr>
            <a:r>
              <a:rPr lang="en-IE" sz="1500" dirty="0">
                <a:solidFill>
                  <a:schemeClr val="tx2"/>
                </a:solidFill>
              </a:rPr>
              <a:t>Association, dependency, aggregation and composition</a:t>
            </a:r>
            <a:endParaRPr lang="en-IE" sz="1500" dirty="0"/>
          </a:p>
        </p:txBody>
      </p:sp>
      <p:sp>
        <p:nvSpPr>
          <p:cNvPr id="8" name="Text 5"/>
          <p:cNvSpPr txBox="1"/>
          <p:nvPr/>
        </p:nvSpPr>
        <p:spPr>
          <a:xfrm>
            <a:off x="548640" y="2816352"/>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02</a:t>
            </a:r>
            <a:endParaRPr lang="en-IE" sz="3000" dirty="0"/>
          </a:p>
        </p:txBody>
      </p:sp>
      <p:sp>
        <p:nvSpPr>
          <p:cNvPr id="9" name="Text 6"/>
          <p:cNvSpPr txBox="1"/>
          <p:nvPr/>
        </p:nvSpPr>
        <p:spPr>
          <a:xfrm>
            <a:off x="1463040" y="2852928"/>
            <a:ext cx="5577840" cy="384048"/>
          </a:xfrm>
          <a:prstGeom prst="rect">
            <a:avLst/>
          </a:prstGeom>
          <a:noFill/>
          <a:ln/>
        </p:spPr>
        <p:txBody>
          <a:bodyPr wrap="square" lIns="0" tIns="0" rIns="0" bIns="0" rtlCol="0" anchor="t"/>
          <a:lstStyle/>
          <a:p>
            <a:pPr indent="0" marL="0">
              <a:buNone/>
            </a:pPr>
            <a:r>
              <a:rPr lang="en-IE" sz="2100" b="1" dirty="0">
                <a:solidFill>
                  <a:schemeClr val="tx1"/>
                </a:solidFill>
              </a:rPr>
              <a:t>Inheritance</a:t>
            </a:r>
            <a:endParaRPr lang="en-IE" sz="2100" dirty="0"/>
          </a:p>
        </p:txBody>
      </p:sp>
      <p:sp>
        <p:nvSpPr>
          <p:cNvPr id="10" name="Text 7"/>
          <p:cNvSpPr txBox="1"/>
          <p:nvPr/>
        </p:nvSpPr>
        <p:spPr>
          <a:xfrm>
            <a:off x="1463040" y="3264408"/>
            <a:ext cx="5577840" cy="365760"/>
          </a:xfrm>
          <a:prstGeom prst="rect">
            <a:avLst/>
          </a:prstGeom>
          <a:noFill/>
          <a:ln/>
        </p:spPr>
        <p:txBody>
          <a:bodyPr wrap="square" lIns="0" tIns="0" rIns="0" bIns="0" rtlCol="0" anchor="t"/>
          <a:lstStyle/>
          <a:p>
            <a:pPr indent="0" marL="0">
              <a:buNone/>
            </a:pPr>
            <a:r>
              <a:rPr lang="en-IE" sz="1500" dirty="0">
                <a:solidFill>
                  <a:schemeClr val="tx2"/>
                </a:solidFill>
              </a:rPr>
              <a:t>Parents and children, is-a, and extends</a:t>
            </a:r>
            <a:endParaRPr lang="en-IE" sz="1500" dirty="0"/>
          </a:p>
        </p:txBody>
      </p:sp>
      <p:sp>
        <p:nvSpPr>
          <p:cNvPr id="11" name="Text 8"/>
          <p:cNvSpPr txBox="1"/>
          <p:nvPr/>
        </p:nvSpPr>
        <p:spPr>
          <a:xfrm>
            <a:off x="548640" y="3886200"/>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03</a:t>
            </a:r>
            <a:endParaRPr lang="en-IE" sz="3000" dirty="0"/>
          </a:p>
        </p:txBody>
      </p:sp>
      <p:sp>
        <p:nvSpPr>
          <p:cNvPr id="12" name="Text 9"/>
          <p:cNvSpPr txBox="1"/>
          <p:nvPr/>
        </p:nvSpPr>
        <p:spPr>
          <a:xfrm>
            <a:off x="1463040" y="3922776"/>
            <a:ext cx="5577840" cy="384048"/>
          </a:xfrm>
          <a:prstGeom prst="rect">
            <a:avLst/>
          </a:prstGeom>
          <a:noFill/>
          <a:ln/>
        </p:spPr>
        <p:txBody>
          <a:bodyPr wrap="square" lIns="0" tIns="0" rIns="0" bIns="0" rtlCol="0" anchor="t"/>
          <a:lstStyle/>
          <a:p>
            <a:pPr indent="0" marL="0">
              <a:buNone/>
            </a:pPr>
            <a:r>
              <a:rPr lang="en-IE" sz="2100" b="1" dirty="0">
                <a:solidFill>
                  <a:schemeClr val="tx1"/>
                </a:solidFill>
              </a:rPr>
              <a:t>Abstract classes and super</a:t>
            </a:r>
            <a:endParaRPr lang="en-IE" sz="2100" dirty="0"/>
          </a:p>
        </p:txBody>
      </p:sp>
      <p:sp>
        <p:nvSpPr>
          <p:cNvPr id="13" name="Text 10"/>
          <p:cNvSpPr txBox="1"/>
          <p:nvPr/>
        </p:nvSpPr>
        <p:spPr>
          <a:xfrm>
            <a:off x="1463040" y="4334256"/>
            <a:ext cx="5577840" cy="365760"/>
          </a:xfrm>
          <a:prstGeom prst="rect">
            <a:avLst/>
          </a:prstGeom>
          <a:noFill/>
          <a:ln/>
        </p:spPr>
        <p:txBody>
          <a:bodyPr wrap="square" lIns="0" tIns="0" rIns="0" bIns="0" rtlCol="0" anchor="t"/>
          <a:lstStyle/>
          <a:p>
            <a:pPr indent="0" marL="0">
              <a:buNone/>
            </a:pPr>
            <a:r>
              <a:rPr lang="en-IE" sz="1500" dirty="0">
                <a:solidFill>
                  <a:schemeClr val="tx2"/>
                </a:solidFill>
              </a:rPr>
              <a:t>Employee, constructors and abstract methods</a:t>
            </a:r>
            <a:endParaRPr lang="en-IE" sz="1500" dirty="0"/>
          </a:p>
        </p:txBody>
      </p:sp>
      <p:sp>
        <p:nvSpPr>
          <p:cNvPr id="14" name="Text 11"/>
          <p:cNvSpPr txBox="1"/>
          <p:nvPr/>
        </p:nvSpPr>
        <p:spPr>
          <a:xfrm>
            <a:off x="548640" y="4956048"/>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04</a:t>
            </a:r>
            <a:endParaRPr lang="en-IE" sz="3000" dirty="0"/>
          </a:p>
        </p:txBody>
      </p:sp>
      <p:sp>
        <p:nvSpPr>
          <p:cNvPr id="15" name="Text 12"/>
          <p:cNvSpPr txBox="1"/>
          <p:nvPr/>
        </p:nvSpPr>
        <p:spPr>
          <a:xfrm>
            <a:off x="1463040" y="4992624"/>
            <a:ext cx="5577840" cy="384048"/>
          </a:xfrm>
          <a:prstGeom prst="rect">
            <a:avLst/>
          </a:prstGeom>
          <a:noFill/>
          <a:ln/>
        </p:spPr>
        <p:txBody>
          <a:bodyPr wrap="square" lIns="0" tIns="0" rIns="0" bIns="0" rtlCol="0" anchor="t"/>
          <a:lstStyle/>
          <a:p>
            <a:pPr indent="0" marL="0">
              <a:buNone/>
            </a:pPr>
            <a:r>
              <a:rPr lang="en-IE" sz="2100" b="1" dirty="0">
                <a:solidFill>
                  <a:schemeClr val="tx1"/>
                </a:solidFill>
              </a:rPr>
              <a:t>Inheritance and access</a:t>
            </a:r>
            <a:endParaRPr lang="en-IE" sz="2100" dirty="0"/>
          </a:p>
        </p:txBody>
      </p:sp>
      <p:sp>
        <p:nvSpPr>
          <p:cNvPr id="16" name="Text 13"/>
          <p:cNvSpPr txBox="1"/>
          <p:nvPr/>
        </p:nvSpPr>
        <p:spPr>
          <a:xfrm>
            <a:off x="1463040" y="5404104"/>
            <a:ext cx="5577840" cy="365760"/>
          </a:xfrm>
          <a:prstGeom prst="rect">
            <a:avLst/>
          </a:prstGeom>
          <a:noFill/>
          <a:ln/>
        </p:spPr>
        <p:txBody>
          <a:bodyPr wrap="square" lIns="0" tIns="0" rIns="0" bIns="0" rtlCol="0" anchor="t"/>
          <a:lstStyle/>
          <a:p>
            <a:pPr indent="0" marL="0">
              <a:buNone/>
            </a:pPr>
            <a:r>
              <a:rPr lang="en-IE" sz="1500" dirty="0">
                <a:solidFill>
                  <a:schemeClr val="tx2"/>
                </a:solidFill>
              </a:rPr>
              <a:t>What a subclass can see: private and protected</a:t>
            </a:r>
            <a:endParaRPr lang="en-IE" sz="1500" dirty="0"/>
          </a:p>
        </p:txBody>
      </p:sp>
      <p:sp>
        <p:nvSpPr>
          <p:cNvPr id="17" name="How it works"/>
          <p:cNvSpPr/>
          <p:nvPr/>
        </p:nvSpPr>
        <p:spPr>
          <a:xfrm>
            <a:off x="7543800" y="1783080"/>
            <a:ext cx="4099255" cy="4160520"/>
          </a:xfrm>
          <a:prstGeom prst="roundRect">
            <a:avLst>
              <a:gd name="adj" fmla="val 2677"/>
            </a:avLst>
          </a:prstGeom>
          <a:solidFill>
            <a:schemeClr val="bg2"/>
          </a:solidFill>
          <a:ln/>
        </p:spPr>
      </p:sp>
      <p:sp>
        <p:nvSpPr>
          <p:cNvPr id="18" name="Text 15"/>
          <p:cNvSpPr txBox="1"/>
          <p:nvPr/>
        </p:nvSpPr>
        <p:spPr>
          <a:xfrm>
            <a:off x="7909560" y="2103120"/>
            <a:ext cx="3367735" cy="411480"/>
          </a:xfrm>
          <a:prstGeom prst="rect">
            <a:avLst/>
          </a:prstGeom>
          <a:noFill/>
          <a:ln/>
        </p:spPr>
        <p:txBody>
          <a:bodyPr wrap="square" lIns="0" tIns="0" rIns="0" bIns="0" rtlCol="0" anchor="t"/>
          <a:lstStyle/>
          <a:p>
            <a:pPr indent="0" marL="0">
              <a:buNone/>
            </a:pPr>
            <a:r>
              <a:rPr lang="en-IE" sz="1900" b="1" dirty="0">
                <a:solidFill>
                  <a:schemeClr val="tx1"/>
                </a:solidFill>
              </a:rPr>
              <a:t>How each topic works</a:t>
            </a:r>
            <a:endParaRPr lang="en-IE" sz="1900" dirty="0"/>
          </a:p>
        </p:txBody>
      </p:sp>
      <p:sp>
        <p:nvSpPr>
          <p:cNvPr id="19"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20" name="book open text icon"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1" name="Text 17"/>
          <p:cNvSpPr txBox="1"/>
          <p:nvPr/>
        </p:nvSpPr>
        <p:spPr>
          <a:xfrm>
            <a:off x="8732520" y="2752344"/>
            <a:ext cx="2590495" cy="676656"/>
          </a:xfrm>
          <a:prstGeom prst="rect">
            <a:avLst/>
          </a:prstGeom>
          <a:noFill/>
          <a:ln/>
        </p:spPr>
        <p:txBody>
          <a:bodyPr wrap="square" lIns="0" tIns="0" rIns="0" bIns="0" rtlCol="0" anchor="ctr"/>
          <a:lstStyle/>
          <a:p>
            <a:pPr indent="0" marL="0">
              <a:buNone/>
            </a:pPr>
            <a:r>
              <a:rPr lang="en-IE" sz="1600" dirty="0">
                <a:solidFill>
                  <a:schemeClr val="tx1"/>
                </a:solidFill>
              </a:rPr>
              <a:t>Read the idea and look at the example</a:t>
            </a:r>
            <a:endParaRPr lang="en-IE" sz="1600" dirty="0"/>
          </a:p>
        </p:txBody>
      </p:sp>
      <p:sp>
        <p:nvSpPr>
          <p:cNvPr id="22"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3" name="cursor click icon"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4" name="Text 19"/>
          <p:cNvSpPr txBox="1"/>
          <p:nvPr/>
        </p:nvSpPr>
        <p:spPr>
          <a:xfrm>
            <a:off x="8732520" y="3739896"/>
            <a:ext cx="2590495" cy="676656"/>
          </a:xfrm>
          <a:prstGeom prst="rect">
            <a:avLst/>
          </a:prstGeom>
          <a:noFill/>
          <a:ln/>
        </p:spPr>
        <p:txBody>
          <a:bodyPr wrap="square" lIns="0" tIns="0" rIns="0" bIns="0" rtlCol="0" anchor="ctr"/>
          <a:lstStyle/>
          <a:p>
            <a:pPr indent="0" marL="0">
              <a:buNone/>
            </a:pPr>
            <a:r>
              <a:rPr lang="en-IE" sz="1600" dirty="0">
                <a:solidFill>
                  <a:schemeClr val="tx1"/>
                </a:solidFill>
              </a:rPr>
              <a:t>Try the quick check: A, B, C or D?</a:t>
            </a:r>
            <a:endParaRPr lang="en-IE" sz="1600" dirty="0"/>
          </a:p>
        </p:txBody>
      </p:sp>
      <p:sp>
        <p:nvSpPr>
          <p:cNvPr id="25"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6" name="check circle icon"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7" name="Text 21"/>
          <p:cNvSpPr txBox="1"/>
          <p:nvPr/>
        </p:nvSpPr>
        <p:spPr>
          <a:xfrm>
            <a:off x="8732520" y="4727448"/>
            <a:ext cx="2590495" cy="676656"/>
          </a:xfrm>
          <a:prstGeom prst="rect">
            <a:avLst/>
          </a:prstGeom>
          <a:noFill/>
          <a:ln/>
        </p:spPr>
        <p:txBody>
          <a:bodyPr wrap="square" lIns="0" tIns="0" rIns="0" bIns="0" rtlCol="0" anchor="ctr"/>
          <a:lstStyle/>
          <a:p>
            <a:pPr indent="0" marL="0">
              <a:buNone/>
            </a:pPr>
            <a:r>
              <a:rPr lang="en-IE" sz="1600" dirty="0">
                <a:solidFill>
                  <a:schemeClr val="tx1"/>
                </a:solidFill>
              </a:rPr>
              <a:t>See the answer, and why, on the next slide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a:t>
            </a:fld>
            <a:endParaRPr lang="en-I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01</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How classes relate</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Using, sharing and owning other objects</a:t>
            </a:r>
            <a:endParaRPr lang="en-IE" sz="2000" dirty="0"/>
          </a:p>
        </p:txBody>
      </p:sp>
      <p:sp>
        <p:nvSpPr>
          <p:cNvPr id="5" name="Topic chip"/>
          <p:cNvSpPr/>
          <p:nvPr/>
        </p:nvSpPr>
        <p:spPr>
          <a:xfrm>
            <a:off x="822960"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Association</a:t>
            </a:r>
            <a:endParaRPr lang="en-IE" sz="1400" dirty="0"/>
          </a:p>
        </p:txBody>
      </p:sp>
      <p:sp>
        <p:nvSpPr>
          <p:cNvPr id="6" name="Topic chip"/>
          <p:cNvSpPr/>
          <p:nvPr/>
        </p:nvSpPr>
        <p:spPr>
          <a:xfrm>
            <a:off x="2388616"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Dependency</a:t>
            </a:r>
            <a:endParaRPr lang="en-IE" sz="1400" dirty="0"/>
          </a:p>
        </p:txBody>
      </p:sp>
      <p:sp>
        <p:nvSpPr>
          <p:cNvPr id="7" name="Topic chip"/>
          <p:cNvSpPr/>
          <p:nvPr/>
        </p:nvSpPr>
        <p:spPr>
          <a:xfrm>
            <a:off x="3861816"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Aggregation</a:t>
            </a:r>
            <a:endParaRPr lang="en-IE" sz="1400" dirty="0"/>
          </a:p>
        </p:txBody>
      </p:sp>
      <p:sp>
        <p:nvSpPr>
          <p:cNvPr id="8" name="Topic chip"/>
          <p:cNvSpPr/>
          <p:nvPr/>
        </p:nvSpPr>
        <p:spPr>
          <a:xfrm>
            <a:off x="5427472"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Composition</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Five ways classes can relate</a:t>
            </a:r>
            <a:endParaRPr lang="en-IE" sz="3400" dirty="0"/>
          </a:p>
        </p:txBody>
      </p:sp>
      <p:sp>
        <p:nvSpPr>
          <p:cNvPr id="5" name="Association"/>
          <p:cNvSpPr/>
          <p:nvPr/>
        </p:nvSpPr>
        <p:spPr>
          <a:xfrm>
            <a:off x="548640" y="1691640"/>
            <a:ext cx="11094415" cy="786384"/>
          </a:xfrm>
          <a:prstGeom prst="roundRect">
            <a:avLst>
              <a:gd name="adj" fmla="val 13953"/>
            </a:avLst>
          </a:prstGeom>
          <a:solidFill>
            <a:schemeClr val="bg2"/>
          </a:solidFill>
          <a:ln/>
        </p:spPr>
      </p:sp>
      <p:sp>
        <p:nvSpPr>
          <p:cNvPr id="6" name="Accent bar"/>
          <p:cNvSpPr/>
          <p:nvPr/>
        </p:nvSpPr>
        <p:spPr>
          <a:xfrm>
            <a:off x="548640" y="1691640"/>
            <a:ext cx="82296" cy="786384"/>
          </a:xfrm>
          <a:prstGeom prst="rect">
            <a:avLst/>
          </a:prstGeom>
          <a:solidFill>
            <a:schemeClr val="accent4"/>
          </a:solidFill>
          <a:ln/>
        </p:spPr>
      </p:sp>
      <p:sp>
        <p:nvSpPr>
          <p:cNvPr id="7" name="Text 4"/>
          <p:cNvSpPr txBox="1"/>
          <p:nvPr/>
        </p:nvSpPr>
        <p:spPr>
          <a:xfrm>
            <a:off x="868680" y="1691640"/>
            <a:ext cx="2103120" cy="786384"/>
          </a:xfrm>
          <a:prstGeom prst="rect">
            <a:avLst/>
          </a:prstGeom>
          <a:noFill/>
          <a:ln/>
        </p:spPr>
        <p:txBody>
          <a:bodyPr wrap="square" lIns="0" tIns="0" rIns="0" bIns="0" rtlCol="0" anchor="ctr"/>
          <a:lstStyle/>
          <a:p>
            <a:pPr indent="0" marL="0">
              <a:buNone/>
            </a:pPr>
            <a:r>
              <a:rPr lang="en-IE" sz="1900" b="1" dirty="0">
                <a:solidFill>
                  <a:schemeClr val="tx1"/>
                </a:solidFill>
              </a:rPr>
              <a:t>Association</a:t>
            </a:r>
            <a:endParaRPr lang="en-IE" sz="1900" dirty="0"/>
          </a:p>
        </p:txBody>
      </p:sp>
      <p:sp>
        <p:nvSpPr>
          <p:cNvPr id="8" name="Text 5"/>
          <p:cNvSpPr txBox="1"/>
          <p:nvPr/>
        </p:nvSpPr>
        <p:spPr>
          <a:xfrm>
            <a:off x="3017520" y="1691640"/>
            <a:ext cx="4160520" cy="786384"/>
          </a:xfrm>
          <a:prstGeom prst="rect">
            <a:avLst/>
          </a:prstGeom>
          <a:noFill/>
          <a:ln/>
        </p:spPr>
        <p:txBody>
          <a:bodyPr wrap="square" lIns="0" tIns="0" rIns="0" bIns="0" rtlCol="0" anchor="ctr"/>
          <a:lstStyle/>
          <a:p>
            <a:pPr indent="0" marL="0">
              <a:buNone/>
            </a:pPr>
            <a:r>
              <a:rPr lang="en-IE" sz="1500" dirty="0">
                <a:solidFill>
                  <a:schemeClr val="tx2"/>
                </a:solidFill>
              </a:rPr>
              <a:t>Two classes work together, but neither depends on the other.</a:t>
            </a:r>
            <a:endParaRPr lang="en-IE" sz="1500" dirty="0"/>
          </a:p>
        </p:txBody>
      </p:sp>
      <p:sp>
        <p:nvSpPr>
          <p:cNvPr id="9" name="Chip Student"/>
          <p:cNvSpPr/>
          <p:nvPr/>
        </p:nvSpPr>
        <p:spPr>
          <a:xfrm>
            <a:off x="7452360" y="1828800"/>
            <a:ext cx="1417320" cy="512064"/>
          </a:xfrm>
          <a:prstGeom prst="roundRect">
            <a:avLst>
              <a:gd name="adj" fmla="val 14286"/>
            </a:avLst>
          </a:prstGeom>
          <a:solidFill>
            <a:schemeClr val="bg1"/>
          </a:solidFill>
          <a:ln/>
        </p:spPr>
      </p:sp>
      <p:pic>
        <p:nvPicPr>
          <p:cNvPr id="10" name="Student icon" descr="Student icon">    </p:cNvPr>
          <p:cNvPicPr>
            <a:picLocks noChangeAspect="1"/>
          </p:cNvPicPr>
          <p:nvPr/>
        </p:nvPicPr>
        <p:blipFill>
          <a:blip r:embed="rId1"/>
          <a:stretch>
            <a:fillRect/>
          </a:stretch>
        </p:blipFill>
        <p:spPr>
          <a:xfrm>
            <a:off x="7562088" y="1911096"/>
            <a:ext cx="347472" cy="347472"/>
          </a:xfrm>
          <a:prstGeom prst="rect">
            <a:avLst/>
          </a:prstGeom>
        </p:spPr>
      </p:pic>
      <p:sp>
        <p:nvSpPr>
          <p:cNvPr id="11" name="Text 7"/>
          <p:cNvSpPr txBox="1"/>
          <p:nvPr/>
        </p:nvSpPr>
        <p:spPr>
          <a:xfrm>
            <a:off x="8001000" y="1828800"/>
            <a:ext cx="822960" cy="512064"/>
          </a:xfrm>
          <a:prstGeom prst="rect">
            <a:avLst/>
          </a:prstGeom>
          <a:noFill/>
          <a:ln/>
        </p:spPr>
        <p:txBody>
          <a:bodyPr wrap="square" lIns="0" tIns="0" rIns="0" bIns="0" rtlCol="0" anchor="ctr"/>
          <a:lstStyle/>
          <a:p>
            <a:pPr indent="0" marL="0">
              <a:buNone/>
            </a:pPr>
            <a:r>
              <a:rPr lang="en-IE" sz="1300" b="1" dirty="0">
                <a:solidFill>
                  <a:schemeClr val="tx1"/>
                </a:solidFill>
              </a:rPr>
              <a:t>Student</a:t>
            </a:r>
            <a:endParaRPr lang="en-IE" sz="1300" dirty="0"/>
          </a:p>
        </p:txBody>
      </p:sp>
      <p:sp>
        <p:nvSpPr>
          <p:cNvPr id="12" name="Line"/>
          <p:cNvSpPr/>
          <p:nvPr/>
        </p:nvSpPr>
        <p:spPr>
          <a:xfrm>
            <a:off x="8915400" y="2157984"/>
            <a:ext cx="1252728" cy="0"/>
          </a:xfrm>
          <a:prstGeom prst="line">
            <a:avLst/>
          </a:prstGeom>
          <a:noFill/>
          <a:ln w="22225">
            <a:solidFill>
              <a:schemeClr val="accent4"/>
            </a:solidFill>
            <a:prstDash val="solid"/>
          </a:ln>
        </p:spPr>
      </p:sp>
      <p:sp>
        <p:nvSpPr>
          <p:cNvPr id="13" name="Text 9"/>
          <p:cNvSpPr txBox="1"/>
          <p:nvPr/>
        </p:nvSpPr>
        <p:spPr>
          <a:xfrm>
            <a:off x="8869680" y="1764792"/>
            <a:ext cx="1344168" cy="274320"/>
          </a:xfrm>
          <a:prstGeom prst="rect">
            <a:avLst/>
          </a:prstGeom>
          <a:noFill/>
          <a:ln/>
        </p:spPr>
        <p:txBody>
          <a:bodyPr wrap="square" lIns="0" tIns="0" rIns="0" bIns="0" rtlCol="0" anchor="t"/>
          <a:lstStyle/>
          <a:p>
            <a:pPr algn="ctr" indent="0" marL="0">
              <a:buNone/>
            </a:pPr>
            <a:r>
              <a:rPr lang="en-IE" sz="1200" i="1" dirty="0">
                <a:solidFill>
                  <a:schemeClr val="tx2"/>
                </a:solidFill>
              </a:rPr>
              <a:t>works with</a:t>
            </a:r>
            <a:endParaRPr lang="en-IE" sz="1200" dirty="0"/>
          </a:p>
        </p:txBody>
      </p:sp>
      <p:sp>
        <p:nvSpPr>
          <p:cNvPr id="14" name="Chip Module"/>
          <p:cNvSpPr/>
          <p:nvPr/>
        </p:nvSpPr>
        <p:spPr>
          <a:xfrm>
            <a:off x="10222992" y="1828800"/>
            <a:ext cx="1417320" cy="512064"/>
          </a:xfrm>
          <a:prstGeom prst="roundRect">
            <a:avLst>
              <a:gd name="adj" fmla="val 14286"/>
            </a:avLst>
          </a:prstGeom>
          <a:solidFill>
            <a:schemeClr val="bg1"/>
          </a:solidFill>
          <a:ln/>
        </p:spPr>
      </p:sp>
      <p:pic>
        <p:nvPicPr>
          <p:cNvPr id="15" name="Module icon" descr="Module icon">    </p:cNvPr>
          <p:cNvPicPr>
            <a:picLocks noChangeAspect="1"/>
          </p:cNvPicPr>
          <p:nvPr/>
        </p:nvPicPr>
        <p:blipFill>
          <a:blip r:embed="rId2"/>
          <a:stretch>
            <a:fillRect/>
          </a:stretch>
        </p:blipFill>
        <p:spPr>
          <a:xfrm>
            <a:off x="10332720" y="1911096"/>
            <a:ext cx="347472" cy="347472"/>
          </a:xfrm>
          <a:prstGeom prst="rect">
            <a:avLst/>
          </a:prstGeom>
        </p:spPr>
      </p:pic>
      <p:sp>
        <p:nvSpPr>
          <p:cNvPr id="16" name="Text 11"/>
          <p:cNvSpPr txBox="1"/>
          <p:nvPr/>
        </p:nvSpPr>
        <p:spPr>
          <a:xfrm>
            <a:off x="10771632" y="1828800"/>
            <a:ext cx="822960" cy="512064"/>
          </a:xfrm>
          <a:prstGeom prst="rect">
            <a:avLst/>
          </a:prstGeom>
          <a:noFill/>
          <a:ln/>
        </p:spPr>
        <p:txBody>
          <a:bodyPr wrap="square" lIns="0" tIns="0" rIns="0" bIns="0" rtlCol="0" anchor="ctr"/>
          <a:lstStyle/>
          <a:p>
            <a:pPr indent="0" marL="0">
              <a:buNone/>
            </a:pPr>
            <a:r>
              <a:rPr lang="en-IE" sz="1300" b="1" dirty="0">
                <a:solidFill>
                  <a:schemeClr val="tx1"/>
                </a:solidFill>
              </a:rPr>
              <a:t>Module</a:t>
            </a:r>
            <a:endParaRPr lang="en-IE" sz="1300" dirty="0"/>
          </a:p>
        </p:txBody>
      </p:sp>
      <p:sp>
        <p:nvSpPr>
          <p:cNvPr id="17" name="Dependency"/>
          <p:cNvSpPr/>
          <p:nvPr/>
        </p:nvSpPr>
        <p:spPr>
          <a:xfrm>
            <a:off x="548640" y="2587752"/>
            <a:ext cx="11094415" cy="786384"/>
          </a:xfrm>
          <a:prstGeom prst="roundRect">
            <a:avLst>
              <a:gd name="adj" fmla="val 13953"/>
            </a:avLst>
          </a:prstGeom>
          <a:solidFill>
            <a:schemeClr val="bg2"/>
          </a:solidFill>
          <a:ln/>
        </p:spPr>
      </p:sp>
      <p:sp>
        <p:nvSpPr>
          <p:cNvPr id="18" name="Accent bar"/>
          <p:cNvSpPr/>
          <p:nvPr/>
        </p:nvSpPr>
        <p:spPr>
          <a:xfrm>
            <a:off x="548640" y="2587752"/>
            <a:ext cx="82296" cy="786384"/>
          </a:xfrm>
          <a:prstGeom prst="rect">
            <a:avLst/>
          </a:prstGeom>
          <a:solidFill>
            <a:schemeClr val="accent5"/>
          </a:solidFill>
          <a:ln/>
        </p:spPr>
      </p:sp>
      <p:sp>
        <p:nvSpPr>
          <p:cNvPr id="19" name="Text 14"/>
          <p:cNvSpPr txBox="1"/>
          <p:nvPr/>
        </p:nvSpPr>
        <p:spPr>
          <a:xfrm>
            <a:off x="868680" y="2587752"/>
            <a:ext cx="2103120" cy="786384"/>
          </a:xfrm>
          <a:prstGeom prst="rect">
            <a:avLst/>
          </a:prstGeom>
          <a:noFill/>
          <a:ln/>
        </p:spPr>
        <p:txBody>
          <a:bodyPr wrap="square" lIns="0" tIns="0" rIns="0" bIns="0" rtlCol="0" anchor="ctr"/>
          <a:lstStyle/>
          <a:p>
            <a:pPr indent="0" marL="0">
              <a:buNone/>
            </a:pPr>
            <a:r>
              <a:rPr lang="en-IE" sz="1900" b="1" dirty="0">
                <a:solidFill>
                  <a:schemeClr val="tx1"/>
                </a:solidFill>
              </a:rPr>
              <a:t>Dependency</a:t>
            </a:r>
            <a:endParaRPr lang="en-IE" sz="1900" dirty="0"/>
          </a:p>
        </p:txBody>
      </p:sp>
      <p:sp>
        <p:nvSpPr>
          <p:cNvPr id="20" name="Text 15"/>
          <p:cNvSpPr txBox="1"/>
          <p:nvPr/>
        </p:nvSpPr>
        <p:spPr>
          <a:xfrm>
            <a:off x="3017520" y="2587752"/>
            <a:ext cx="4160520" cy="786384"/>
          </a:xfrm>
          <a:prstGeom prst="rect">
            <a:avLst/>
          </a:prstGeom>
          <a:noFill/>
          <a:ln/>
        </p:spPr>
        <p:txBody>
          <a:bodyPr wrap="square" lIns="0" tIns="0" rIns="0" bIns="0" rtlCol="0" anchor="ctr"/>
          <a:lstStyle/>
          <a:p>
            <a:pPr indent="0" marL="0">
              <a:buNone/>
            </a:pPr>
            <a:r>
              <a:rPr lang="en-IE" sz="1500" dirty="0">
                <a:solidFill>
                  <a:schemeClr val="tx2"/>
                </a:solidFill>
              </a:rPr>
              <a:t>A class needs another class to complete a job.</a:t>
            </a:r>
            <a:endParaRPr lang="en-IE" sz="1500" dirty="0"/>
          </a:p>
        </p:txBody>
      </p:sp>
      <p:sp>
        <p:nvSpPr>
          <p:cNvPr id="21" name="Chip Student"/>
          <p:cNvSpPr/>
          <p:nvPr/>
        </p:nvSpPr>
        <p:spPr>
          <a:xfrm>
            <a:off x="7452360" y="2724912"/>
            <a:ext cx="1417320" cy="512064"/>
          </a:xfrm>
          <a:prstGeom prst="roundRect">
            <a:avLst>
              <a:gd name="adj" fmla="val 14286"/>
            </a:avLst>
          </a:prstGeom>
          <a:solidFill>
            <a:schemeClr val="bg1"/>
          </a:solidFill>
          <a:ln/>
        </p:spPr>
      </p:sp>
      <p:pic>
        <p:nvPicPr>
          <p:cNvPr id="22" name="Student icon" descr="Student icon">    </p:cNvPr>
          <p:cNvPicPr>
            <a:picLocks noChangeAspect="1"/>
          </p:cNvPicPr>
          <p:nvPr/>
        </p:nvPicPr>
        <p:blipFill>
          <a:blip r:embed="rId3"/>
          <a:stretch>
            <a:fillRect/>
          </a:stretch>
        </p:blipFill>
        <p:spPr>
          <a:xfrm>
            <a:off x="7562088" y="2807208"/>
            <a:ext cx="347472" cy="347472"/>
          </a:xfrm>
          <a:prstGeom prst="rect">
            <a:avLst/>
          </a:prstGeom>
        </p:spPr>
      </p:pic>
      <p:sp>
        <p:nvSpPr>
          <p:cNvPr id="23" name="Text 17"/>
          <p:cNvSpPr txBox="1"/>
          <p:nvPr/>
        </p:nvSpPr>
        <p:spPr>
          <a:xfrm>
            <a:off x="8001000" y="2724912"/>
            <a:ext cx="822960" cy="512064"/>
          </a:xfrm>
          <a:prstGeom prst="rect">
            <a:avLst/>
          </a:prstGeom>
          <a:noFill/>
          <a:ln/>
        </p:spPr>
        <p:txBody>
          <a:bodyPr wrap="square" lIns="0" tIns="0" rIns="0" bIns="0" rtlCol="0" anchor="ctr"/>
          <a:lstStyle/>
          <a:p>
            <a:pPr indent="0" marL="0">
              <a:buNone/>
            </a:pPr>
            <a:r>
              <a:rPr lang="en-IE" sz="1300" b="1" dirty="0">
                <a:solidFill>
                  <a:schemeClr val="tx1"/>
                </a:solidFill>
              </a:rPr>
              <a:t>Student</a:t>
            </a:r>
            <a:endParaRPr lang="en-IE" sz="1300" dirty="0"/>
          </a:p>
        </p:txBody>
      </p:sp>
      <p:sp>
        <p:nvSpPr>
          <p:cNvPr id="24" name="Connector"/>
          <p:cNvSpPr/>
          <p:nvPr/>
        </p:nvSpPr>
        <p:spPr>
          <a:xfrm>
            <a:off x="8933688" y="3054096"/>
            <a:ext cx="1216152" cy="0"/>
          </a:xfrm>
          <a:prstGeom prst="line">
            <a:avLst/>
          </a:prstGeom>
          <a:noFill/>
          <a:ln w="22225">
            <a:solidFill>
              <a:schemeClr val="accent5"/>
            </a:solidFill>
            <a:prstDash val="dash"/>
            <a:tailEnd type="triangle"/>
          </a:ln>
        </p:spPr>
      </p:sp>
      <p:sp>
        <p:nvSpPr>
          <p:cNvPr id="25" name="Text 19"/>
          <p:cNvSpPr txBox="1"/>
          <p:nvPr/>
        </p:nvSpPr>
        <p:spPr>
          <a:xfrm>
            <a:off x="8869680" y="2660904"/>
            <a:ext cx="1344168" cy="274320"/>
          </a:xfrm>
          <a:prstGeom prst="rect">
            <a:avLst/>
          </a:prstGeom>
          <a:noFill/>
          <a:ln/>
        </p:spPr>
        <p:txBody>
          <a:bodyPr wrap="square" lIns="0" tIns="0" rIns="0" bIns="0" rtlCol="0" anchor="t"/>
          <a:lstStyle/>
          <a:p>
            <a:pPr algn="ctr" indent="0" marL="0">
              <a:buNone/>
            </a:pPr>
            <a:r>
              <a:rPr lang="en-IE" sz="1200" i="1" dirty="0">
                <a:solidFill>
                  <a:schemeClr val="tx2"/>
                </a:solidFill>
              </a:rPr>
              <a:t>uses</a:t>
            </a:r>
            <a:endParaRPr lang="en-IE" sz="1200" dirty="0"/>
          </a:p>
        </p:txBody>
      </p:sp>
      <p:sp>
        <p:nvSpPr>
          <p:cNvPr id="26" name="Chip Module"/>
          <p:cNvSpPr/>
          <p:nvPr/>
        </p:nvSpPr>
        <p:spPr>
          <a:xfrm>
            <a:off x="10222992" y="2724912"/>
            <a:ext cx="1417320" cy="512064"/>
          </a:xfrm>
          <a:prstGeom prst="roundRect">
            <a:avLst>
              <a:gd name="adj" fmla="val 14286"/>
            </a:avLst>
          </a:prstGeom>
          <a:solidFill>
            <a:schemeClr val="bg1"/>
          </a:solidFill>
          <a:ln/>
        </p:spPr>
      </p:sp>
      <p:pic>
        <p:nvPicPr>
          <p:cNvPr id="27" name="Module icon" descr="Module icon">    </p:cNvPr>
          <p:cNvPicPr>
            <a:picLocks noChangeAspect="1"/>
          </p:cNvPicPr>
          <p:nvPr/>
        </p:nvPicPr>
        <p:blipFill>
          <a:blip r:embed="rId4"/>
          <a:stretch>
            <a:fillRect/>
          </a:stretch>
        </p:blipFill>
        <p:spPr>
          <a:xfrm>
            <a:off x="10332720" y="2807208"/>
            <a:ext cx="347472" cy="347472"/>
          </a:xfrm>
          <a:prstGeom prst="rect">
            <a:avLst/>
          </a:prstGeom>
        </p:spPr>
      </p:pic>
      <p:sp>
        <p:nvSpPr>
          <p:cNvPr id="28" name="Text 21"/>
          <p:cNvSpPr txBox="1"/>
          <p:nvPr/>
        </p:nvSpPr>
        <p:spPr>
          <a:xfrm>
            <a:off x="10771632" y="2724912"/>
            <a:ext cx="822960" cy="512064"/>
          </a:xfrm>
          <a:prstGeom prst="rect">
            <a:avLst/>
          </a:prstGeom>
          <a:noFill/>
          <a:ln/>
        </p:spPr>
        <p:txBody>
          <a:bodyPr wrap="square" lIns="0" tIns="0" rIns="0" bIns="0" rtlCol="0" anchor="ctr"/>
          <a:lstStyle/>
          <a:p>
            <a:pPr indent="0" marL="0">
              <a:buNone/>
            </a:pPr>
            <a:r>
              <a:rPr lang="en-IE" sz="1300" b="1" dirty="0">
                <a:solidFill>
                  <a:schemeClr val="tx1"/>
                </a:solidFill>
              </a:rPr>
              <a:t>Module</a:t>
            </a:r>
            <a:endParaRPr lang="en-IE" sz="1300" dirty="0"/>
          </a:p>
        </p:txBody>
      </p:sp>
      <p:sp>
        <p:nvSpPr>
          <p:cNvPr id="29" name="Aggregation"/>
          <p:cNvSpPr/>
          <p:nvPr/>
        </p:nvSpPr>
        <p:spPr>
          <a:xfrm>
            <a:off x="548640" y="3483864"/>
            <a:ext cx="11094415" cy="786384"/>
          </a:xfrm>
          <a:prstGeom prst="roundRect">
            <a:avLst>
              <a:gd name="adj" fmla="val 13953"/>
            </a:avLst>
          </a:prstGeom>
          <a:solidFill>
            <a:schemeClr val="bg2"/>
          </a:solidFill>
          <a:ln/>
        </p:spPr>
      </p:sp>
      <p:sp>
        <p:nvSpPr>
          <p:cNvPr id="30" name="Accent bar"/>
          <p:cNvSpPr/>
          <p:nvPr/>
        </p:nvSpPr>
        <p:spPr>
          <a:xfrm>
            <a:off x="548640" y="3483864"/>
            <a:ext cx="82296" cy="786384"/>
          </a:xfrm>
          <a:prstGeom prst="rect">
            <a:avLst/>
          </a:prstGeom>
          <a:solidFill>
            <a:schemeClr val="accent3"/>
          </a:solidFill>
          <a:ln/>
        </p:spPr>
      </p:sp>
      <p:sp>
        <p:nvSpPr>
          <p:cNvPr id="31" name="Text 24"/>
          <p:cNvSpPr txBox="1"/>
          <p:nvPr/>
        </p:nvSpPr>
        <p:spPr>
          <a:xfrm>
            <a:off x="868680" y="3483864"/>
            <a:ext cx="2103120" cy="786384"/>
          </a:xfrm>
          <a:prstGeom prst="rect">
            <a:avLst/>
          </a:prstGeom>
          <a:noFill/>
          <a:ln/>
        </p:spPr>
        <p:txBody>
          <a:bodyPr wrap="square" lIns="0" tIns="0" rIns="0" bIns="0" rtlCol="0" anchor="ctr"/>
          <a:lstStyle/>
          <a:p>
            <a:pPr indent="0" marL="0">
              <a:buNone/>
            </a:pPr>
            <a:r>
              <a:rPr lang="en-IE" sz="1900" b="1" dirty="0">
                <a:solidFill>
                  <a:schemeClr val="tx1"/>
                </a:solidFill>
              </a:rPr>
              <a:t>Aggregation</a:t>
            </a:r>
            <a:endParaRPr lang="en-IE" sz="1900" dirty="0"/>
          </a:p>
        </p:txBody>
      </p:sp>
      <p:sp>
        <p:nvSpPr>
          <p:cNvPr id="32" name="Text 25"/>
          <p:cNvSpPr txBox="1"/>
          <p:nvPr/>
        </p:nvSpPr>
        <p:spPr>
          <a:xfrm>
            <a:off x="3017520" y="3483864"/>
            <a:ext cx="4160520" cy="786384"/>
          </a:xfrm>
          <a:prstGeom prst="rect">
            <a:avLst/>
          </a:prstGeom>
          <a:noFill/>
          <a:ln/>
        </p:spPr>
        <p:txBody>
          <a:bodyPr wrap="square" lIns="0" tIns="0" rIns="0" bIns="0" rtlCol="0" anchor="ctr"/>
          <a:lstStyle/>
          <a:p>
            <a:pPr indent="0" marL="0">
              <a:buNone/>
            </a:pPr>
            <a:r>
              <a:rPr lang="en-IE" sz="1500" dirty="0">
                <a:solidFill>
                  <a:schemeClr val="tx2"/>
                </a:solidFill>
              </a:rPr>
              <a:t>A class has an object of another class, but can share it.</a:t>
            </a:r>
            <a:endParaRPr lang="en-IE" sz="1500" dirty="0"/>
          </a:p>
        </p:txBody>
      </p:sp>
      <p:sp>
        <p:nvSpPr>
          <p:cNvPr id="33" name="Chip Student"/>
          <p:cNvSpPr/>
          <p:nvPr/>
        </p:nvSpPr>
        <p:spPr>
          <a:xfrm>
            <a:off x="7452360" y="3621024"/>
            <a:ext cx="1417320" cy="512064"/>
          </a:xfrm>
          <a:prstGeom prst="roundRect">
            <a:avLst>
              <a:gd name="adj" fmla="val 14286"/>
            </a:avLst>
          </a:prstGeom>
          <a:solidFill>
            <a:schemeClr val="bg1"/>
          </a:solidFill>
          <a:ln/>
        </p:spPr>
      </p:sp>
      <p:pic>
        <p:nvPicPr>
          <p:cNvPr id="34" name="Student icon" descr="Student icon">    </p:cNvPr>
          <p:cNvPicPr>
            <a:picLocks noChangeAspect="1"/>
          </p:cNvPicPr>
          <p:nvPr/>
        </p:nvPicPr>
        <p:blipFill>
          <a:blip r:embed="rId5"/>
          <a:stretch>
            <a:fillRect/>
          </a:stretch>
        </p:blipFill>
        <p:spPr>
          <a:xfrm>
            <a:off x="7562088" y="3703320"/>
            <a:ext cx="347472" cy="347472"/>
          </a:xfrm>
          <a:prstGeom prst="rect">
            <a:avLst/>
          </a:prstGeom>
        </p:spPr>
      </p:pic>
      <p:sp>
        <p:nvSpPr>
          <p:cNvPr id="35" name="Text 27"/>
          <p:cNvSpPr txBox="1"/>
          <p:nvPr/>
        </p:nvSpPr>
        <p:spPr>
          <a:xfrm>
            <a:off x="8001000" y="3621024"/>
            <a:ext cx="822960" cy="512064"/>
          </a:xfrm>
          <a:prstGeom prst="rect">
            <a:avLst/>
          </a:prstGeom>
          <a:noFill/>
          <a:ln/>
        </p:spPr>
        <p:txBody>
          <a:bodyPr wrap="square" lIns="0" tIns="0" rIns="0" bIns="0" rtlCol="0" anchor="ctr"/>
          <a:lstStyle/>
          <a:p>
            <a:pPr indent="0" marL="0">
              <a:buNone/>
            </a:pPr>
            <a:r>
              <a:rPr lang="en-IE" sz="1300" b="1" dirty="0">
                <a:solidFill>
                  <a:schemeClr val="tx1"/>
                </a:solidFill>
              </a:rPr>
              <a:t>Student</a:t>
            </a:r>
            <a:endParaRPr lang="en-IE" sz="1300" dirty="0"/>
          </a:p>
        </p:txBody>
      </p:sp>
      <p:sp>
        <p:nvSpPr>
          <p:cNvPr id="36" name="Line"/>
          <p:cNvSpPr/>
          <p:nvPr/>
        </p:nvSpPr>
        <p:spPr>
          <a:xfrm flipH="1">
            <a:off x="9189720" y="3950208"/>
            <a:ext cx="978408" cy="0"/>
          </a:xfrm>
          <a:prstGeom prst="line">
            <a:avLst/>
          </a:prstGeom>
          <a:noFill/>
          <a:ln w="22225">
            <a:solidFill>
              <a:schemeClr val="accent3"/>
            </a:solidFill>
            <a:prstDash val="solid"/>
          </a:ln>
        </p:spPr>
      </p:sp>
      <p:sp>
        <p:nvSpPr>
          <p:cNvPr id="37" name="Aggregation diamond"/>
          <p:cNvSpPr/>
          <p:nvPr/>
        </p:nvSpPr>
        <p:spPr>
          <a:xfrm>
            <a:off x="8915400" y="3867912"/>
            <a:ext cx="274320" cy="164592"/>
          </a:xfrm>
          <a:prstGeom prst="diamond">
            <a:avLst/>
          </a:prstGeom>
          <a:solidFill>
            <a:schemeClr val="bg2"/>
          </a:solidFill>
          <a:ln w="19050">
            <a:solidFill>
              <a:schemeClr val="accent3"/>
            </a:solidFill>
            <a:prstDash val="solid"/>
          </a:ln>
        </p:spPr>
      </p:sp>
      <p:sp>
        <p:nvSpPr>
          <p:cNvPr id="38" name="Text 30"/>
          <p:cNvSpPr txBox="1"/>
          <p:nvPr/>
        </p:nvSpPr>
        <p:spPr>
          <a:xfrm>
            <a:off x="8869680" y="3557016"/>
            <a:ext cx="1344168" cy="274320"/>
          </a:xfrm>
          <a:prstGeom prst="rect">
            <a:avLst/>
          </a:prstGeom>
          <a:noFill/>
          <a:ln/>
        </p:spPr>
        <p:txBody>
          <a:bodyPr wrap="square" lIns="0" tIns="0" rIns="0" bIns="0" rtlCol="0" anchor="t"/>
          <a:lstStyle/>
          <a:p>
            <a:pPr algn="ctr" indent="0" marL="0">
              <a:buNone/>
            </a:pPr>
            <a:r>
              <a:rPr lang="en-IE" sz="1200" i="1" dirty="0">
                <a:solidFill>
                  <a:schemeClr val="tx2"/>
                </a:solidFill>
              </a:rPr>
              <a:t>has a</a:t>
            </a:r>
            <a:endParaRPr lang="en-IE" sz="1200" dirty="0"/>
          </a:p>
        </p:txBody>
      </p:sp>
      <p:sp>
        <p:nvSpPr>
          <p:cNvPr id="39" name="Chip University"/>
          <p:cNvSpPr/>
          <p:nvPr/>
        </p:nvSpPr>
        <p:spPr>
          <a:xfrm>
            <a:off x="10222992" y="3621024"/>
            <a:ext cx="1417320" cy="512064"/>
          </a:xfrm>
          <a:prstGeom prst="roundRect">
            <a:avLst>
              <a:gd name="adj" fmla="val 14286"/>
            </a:avLst>
          </a:prstGeom>
          <a:solidFill>
            <a:schemeClr val="bg1"/>
          </a:solidFill>
          <a:ln/>
        </p:spPr>
      </p:sp>
      <p:pic>
        <p:nvPicPr>
          <p:cNvPr id="40" name="University icon" descr="University icon">    </p:cNvPr>
          <p:cNvPicPr>
            <a:picLocks noChangeAspect="1"/>
          </p:cNvPicPr>
          <p:nvPr/>
        </p:nvPicPr>
        <p:blipFill>
          <a:blip r:embed="rId6"/>
          <a:stretch>
            <a:fillRect/>
          </a:stretch>
        </p:blipFill>
        <p:spPr>
          <a:xfrm>
            <a:off x="10332720" y="3703320"/>
            <a:ext cx="347472" cy="347472"/>
          </a:xfrm>
          <a:prstGeom prst="rect">
            <a:avLst/>
          </a:prstGeom>
        </p:spPr>
      </p:pic>
      <p:sp>
        <p:nvSpPr>
          <p:cNvPr id="41" name="Text 32"/>
          <p:cNvSpPr txBox="1"/>
          <p:nvPr/>
        </p:nvSpPr>
        <p:spPr>
          <a:xfrm>
            <a:off x="10771632" y="3621024"/>
            <a:ext cx="822960" cy="512064"/>
          </a:xfrm>
          <a:prstGeom prst="rect">
            <a:avLst/>
          </a:prstGeom>
          <a:noFill/>
          <a:ln/>
        </p:spPr>
        <p:txBody>
          <a:bodyPr wrap="square" lIns="0" tIns="0" rIns="0" bIns="0" rtlCol="0" anchor="ctr"/>
          <a:lstStyle/>
          <a:p>
            <a:pPr indent="0" marL="0">
              <a:buNone/>
            </a:pPr>
            <a:r>
              <a:rPr lang="en-IE" sz="1300" b="1" dirty="0">
                <a:solidFill>
                  <a:schemeClr val="tx1"/>
                </a:solidFill>
              </a:rPr>
              <a:t>University</a:t>
            </a:r>
            <a:endParaRPr lang="en-IE" sz="1300" dirty="0"/>
          </a:p>
        </p:txBody>
      </p:sp>
      <p:sp>
        <p:nvSpPr>
          <p:cNvPr id="42" name="Composition"/>
          <p:cNvSpPr/>
          <p:nvPr/>
        </p:nvSpPr>
        <p:spPr>
          <a:xfrm>
            <a:off x="548640" y="4379976"/>
            <a:ext cx="11094415" cy="786384"/>
          </a:xfrm>
          <a:prstGeom prst="roundRect">
            <a:avLst>
              <a:gd name="adj" fmla="val 13953"/>
            </a:avLst>
          </a:prstGeom>
          <a:solidFill>
            <a:schemeClr val="bg2"/>
          </a:solidFill>
          <a:ln/>
        </p:spPr>
      </p:sp>
      <p:sp>
        <p:nvSpPr>
          <p:cNvPr id="43" name="Accent bar"/>
          <p:cNvSpPr/>
          <p:nvPr/>
        </p:nvSpPr>
        <p:spPr>
          <a:xfrm>
            <a:off x="548640" y="4379976"/>
            <a:ext cx="82296" cy="786384"/>
          </a:xfrm>
          <a:prstGeom prst="rect">
            <a:avLst/>
          </a:prstGeom>
          <a:solidFill>
            <a:schemeClr val="accent1"/>
          </a:solidFill>
          <a:ln/>
        </p:spPr>
      </p:sp>
      <p:sp>
        <p:nvSpPr>
          <p:cNvPr id="44" name="Text 35"/>
          <p:cNvSpPr txBox="1"/>
          <p:nvPr/>
        </p:nvSpPr>
        <p:spPr>
          <a:xfrm>
            <a:off x="868680" y="4379976"/>
            <a:ext cx="2103120" cy="786384"/>
          </a:xfrm>
          <a:prstGeom prst="rect">
            <a:avLst/>
          </a:prstGeom>
          <a:noFill/>
          <a:ln/>
        </p:spPr>
        <p:txBody>
          <a:bodyPr wrap="square" lIns="0" tIns="0" rIns="0" bIns="0" rtlCol="0" anchor="ctr"/>
          <a:lstStyle/>
          <a:p>
            <a:pPr indent="0" marL="0">
              <a:buNone/>
            </a:pPr>
            <a:r>
              <a:rPr lang="en-IE" sz="1900" b="1" dirty="0">
                <a:solidFill>
                  <a:schemeClr val="tx1"/>
                </a:solidFill>
              </a:rPr>
              <a:t>Composition</a:t>
            </a:r>
            <a:endParaRPr lang="en-IE" sz="1900" dirty="0"/>
          </a:p>
        </p:txBody>
      </p:sp>
      <p:sp>
        <p:nvSpPr>
          <p:cNvPr id="45" name="Text 36"/>
          <p:cNvSpPr txBox="1"/>
          <p:nvPr/>
        </p:nvSpPr>
        <p:spPr>
          <a:xfrm>
            <a:off x="3017520" y="4379976"/>
            <a:ext cx="4160520" cy="786384"/>
          </a:xfrm>
          <a:prstGeom prst="rect">
            <a:avLst/>
          </a:prstGeom>
          <a:noFill/>
          <a:ln/>
        </p:spPr>
        <p:txBody>
          <a:bodyPr wrap="square" lIns="0" tIns="0" rIns="0" bIns="0" rtlCol="0" anchor="ctr"/>
          <a:lstStyle/>
          <a:p>
            <a:pPr indent="0" marL="0">
              <a:buNone/>
            </a:pPr>
            <a:r>
              <a:rPr lang="en-IE" sz="1500" dirty="0">
                <a:solidFill>
                  <a:schemeClr val="tx2"/>
                </a:solidFill>
              </a:rPr>
              <a:t>A class owns an object of another class completely.</a:t>
            </a:r>
            <a:endParaRPr lang="en-IE" sz="1500" dirty="0"/>
          </a:p>
        </p:txBody>
      </p:sp>
      <p:sp>
        <p:nvSpPr>
          <p:cNvPr id="46" name="Chip Car"/>
          <p:cNvSpPr/>
          <p:nvPr/>
        </p:nvSpPr>
        <p:spPr>
          <a:xfrm>
            <a:off x="7452360" y="4517136"/>
            <a:ext cx="1417320" cy="512064"/>
          </a:xfrm>
          <a:prstGeom prst="roundRect">
            <a:avLst>
              <a:gd name="adj" fmla="val 14286"/>
            </a:avLst>
          </a:prstGeom>
          <a:solidFill>
            <a:schemeClr val="bg1"/>
          </a:solidFill>
          <a:ln/>
        </p:spPr>
      </p:sp>
      <p:pic>
        <p:nvPicPr>
          <p:cNvPr id="47" name="Car icon" descr="Car icon">    </p:cNvPr>
          <p:cNvPicPr>
            <a:picLocks noChangeAspect="1"/>
          </p:cNvPicPr>
          <p:nvPr/>
        </p:nvPicPr>
        <p:blipFill>
          <a:blip r:embed="rId7"/>
          <a:stretch>
            <a:fillRect/>
          </a:stretch>
        </p:blipFill>
        <p:spPr>
          <a:xfrm>
            <a:off x="7562088" y="4599432"/>
            <a:ext cx="347472" cy="347472"/>
          </a:xfrm>
          <a:prstGeom prst="rect">
            <a:avLst/>
          </a:prstGeom>
        </p:spPr>
      </p:pic>
      <p:sp>
        <p:nvSpPr>
          <p:cNvPr id="48" name="Text 38"/>
          <p:cNvSpPr txBox="1"/>
          <p:nvPr/>
        </p:nvSpPr>
        <p:spPr>
          <a:xfrm>
            <a:off x="8001000" y="4517136"/>
            <a:ext cx="822960" cy="512064"/>
          </a:xfrm>
          <a:prstGeom prst="rect">
            <a:avLst/>
          </a:prstGeom>
          <a:noFill/>
          <a:ln/>
        </p:spPr>
        <p:txBody>
          <a:bodyPr wrap="square" lIns="0" tIns="0" rIns="0" bIns="0" rtlCol="0" anchor="ctr"/>
          <a:lstStyle/>
          <a:p>
            <a:pPr indent="0" marL="0">
              <a:buNone/>
            </a:pPr>
            <a:r>
              <a:rPr lang="en-IE" sz="1300" b="1" dirty="0">
                <a:solidFill>
                  <a:schemeClr val="tx1"/>
                </a:solidFill>
              </a:rPr>
              <a:t>Car</a:t>
            </a:r>
            <a:endParaRPr lang="en-IE" sz="1300" dirty="0"/>
          </a:p>
        </p:txBody>
      </p:sp>
      <p:sp>
        <p:nvSpPr>
          <p:cNvPr id="49" name="Line"/>
          <p:cNvSpPr/>
          <p:nvPr/>
        </p:nvSpPr>
        <p:spPr>
          <a:xfrm flipH="1">
            <a:off x="9189720" y="4846320"/>
            <a:ext cx="978408" cy="0"/>
          </a:xfrm>
          <a:prstGeom prst="line">
            <a:avLst/>
          </a:prstGeom>
          <a:noFill/>
          <a:ln w="22225">
            <a:solidFill>
              <a:schemeClr val="accent1"/>
            </a:solidFill>
            <a:prstDash val="solid"/>
          </a:ln>
        </p:spPr>
      </p:sp>
      <p:sp>
        <p:nvSpPr>
          <p:cNvPr id="50" name="Composition diamond"/>
          <p:cNvSpPr/>
          <p:nvPr/>
        </p:nvSpPr>
        <p:spPr>
          <a:xfrm>
            <a:off x="8915400" y="4764024"/>
            <a:ext cx="274320" cy="164592"/>
          </a:xfrm>
          <a:prstGeom prst="diamond">
            <a:avLst/>
          </a:prstGeom>
          <a:solidFill>
            <a:schemeClr val="accent1"/>
          </a:solidFill>
          <a:ln w="19050">
            <a:solidFill>
              <a:schemeClr val="accent1"/>
            </a:solidFill>
            <a:prstDash val="solid"/>
          </a:ln>
        </p:spPr>
      </p:sp>
      <p:sp>
        <p:nvSpPr>
          <p:cNvPr id="51" name="Text 41"/>
          <p:cNvSpPr txBox="1"/>
          <p:nvPr/>
        </p:nvSpPr>
        <p:spPr>
          <a:xfrm>
            <a:off x="8869680" y="4453128"/>
            <a:ext cx="1344168" cy="274320"/>
          </a:xfrm>
          <a:prstGeom prst="rect">
            <a:avLst/>
          </a:prstGeom>
          <a:noFill/>
          <a:ln/>
        </p:spPr>
        <p:txBody>
          <a:bodyPr wrap="square" lIns="0" tIns="0" rIns="0" bIns="0" rtlCol="0" anchor="t"/>
          <a:lstStyle/>
          <a:p>
            <a:pPr algn="ctr" indent="0" marL="0">
              <a:buNone/>
            </a:pPr>
            <a:r>
              <a:rPr lang="en-IE" sz="1200" i="1" dirty="0">
                <a:solidFill>
                  <a:schemeClr val="tx2"/>
                </a:solidFill>
              </a:rPr>
              <a:t>owns its</a:t>
            </a:r>
            <a:endParaRPr lang="en-IE" sz="1200" dirty="0"/>
          </a:p>
        </p:txBody>
      </p:sp>
      <p:sp>
        <p:nvSpPr>
          <p:cNvPr id="52" name="Chip Engine"/>
          <p:cNvSpPr/>
          <p:nvPr/>
        </p:nvSpPr>
        <p:spPr>
          <a:xfrm>
            <a:off x="10222992" y="4517136"/>
            <a:ext cx="1417320" cy="512064"/>
          </a:xfrm>
          <a:prstGeom prst="roundRect">
            <a:avLst>
              <a:gd name="adj" fmla="val 14286"/>
            </a:avLst>
          </a:prstGeom>
          <a:solidFill>
            <a:schemeClr val="bg1"/>
          </a:solidFill>
          <a:ln/>
        </p:spPr>
      </p:sp>
      <p:pic>
        <p:nvPicPr>
          <p:cNvPr id="53" name="Engine icon" descr="Engine icon">    </p:cNvPr>
          <p:cNvPicPr>
            <a:picLocks noChangeAspect="1"/>
          </p:cNvPicPr>
          <p:nvPr/>
        </p:nvPicPr>
        <p:blipFill>
          <a:blip r:embed="rId8"/>
          <a:stretch>
            <a:fillRect/>
          </a:stretch>
        </p:blipFill>
        <p:spPr>
          <a:xfrm>
            <a:off x="10332720" y="4599432"/>
            <a:ext cx="347472" cy="347472"/>
          </a:xfrm>
          <a:prstGeom prst="rect">
            <a:avLst/>
          </a:prstGeom>
        </p:spPr>
      </p:pic>
      <p:sp>
        <p:nvSpPr>
          <p:cNvPr id="54" name="Text 43"/>
          <p:cNvSpPr txBox="1"/>
          <p:nvPr/>
        </p:nvSpPr>
        <p:spPr>
          <a:xfrm>
            <a:off x="10771632" y="4517136"/>
            <a:ext cx="822960" cy="512064"/>
          </a:xfrm>
          <a:prstGeom prst="rect">
            <a:avLst/>
          </a:prstGeom>
          <a:noFill/>
          <a:ln/>
        </p:spPr>
        <p:txBody>
          <a:bodyPr wrap="square" lIns="0" tIns="0" rIns="0" bIns="0" rtlCol="0" anchor="ctr"/>
          <a:lstStyle/>
          <a:p>
            <a:pPr indent="0" marL="0">
              <a:buNone/>
            </a:pPr>
            <a:r>
              <a:rPr lang="en-IE" sz="1300" b="1" dirty="0">
                <a:solidFill>
                  <a:schemeClr val="tx1"/>
                </a:solidFill>
              </a:rPr>
              <a:t>Engine</a:t>
            </a:r>
            <a:endParaRPr lang="en-IE" sz="1300" dirty="0"/>
          </a:p>
        </p:txBody>
      </p:sp>
      <p:sp>
        <p:nvSpPr>
          <p:cNvPr id="55" name="Inheritance"/>
          <p:cNvSpPr/>
          <p:nvPr/>
        </p:nvSpPr>
        <p:spPr>
          <a:xfrm>
            <a:off x="548640" y="5276088"/>
            <a:ext cx="11094415" cy="786384"/>
          </a:xfrm>
          <a:prstGeom prst="roundRect">
            <a:avLst>
              <a:gd name="adj" fmla="val 13953"/>
            </a:avLst>
          </a:prstGeom>
          <a:solidFill>
            <a:schemeClr val="bg2"/>
          </a:solidFill>
          <a:ln/>
        </p:spPr>
      </p:sp>
      <p:sp>
        <p:nvSpPr>
          <p:cNvPr id="56" name="Accent bar"/>
          <p:cNvSpPr/>
          <p:nvPr/>
        </p:nvSpPr>
        <p:spPr>
          <a:xfrm>
            <a:off x="548640" y="5276088"/>
            <a:ext cx="82296" cy="786384"/>
          </a:xfrm>
          <a:prstGeom prst="rect">
            <a:avLst/>
          </a:prstGeom>
          <a:solidFill>
            <a:schemeClr val="accent2"/>
          </a:solidFill>
          <a:ln/>
        </p:spPr>
      </p:sp>
      <p:sp>
        <p:nvSpPr>
          <p:cNvPr id="57" name="Text 46"/>
          <p:cNvSpPr txBox="1"/>
          <p:nvPr/>
        </p:nvSpPr>
        <p:spPr>
          <a:xfrm>
            <a:off x="868680" y="5276088"/>
            <a:ext cx="2103120" cy="786384"/>
          </a:xfrm>
          <a:prstGeom prst="rect">
            <a:avLst/>
          </a:prstGeom>
          <a:noFill/>
          <a:ln/>
        </p:spPr>
        <p:txBody>
          <a:bodyPr wrap="square" lIns="0" tIns="0" rIns="0" bIns="0" rtlCol="0" anchor="ctr"/>
          <a:lstStyle/>
          <a:p>
            <a:pPr indent="0" marL="0">
              <a:buNone/>
            </a:pPr>
            <a:r>
              <a:rPr lang="en-IE" sz="1900" b="1" dirty="0">
                <a:solidFill>
                  <a:schemeClr val="tx1"/>
                </a:solidFill>
              </a:rPr>
              <a:t>Inheritance</a:t>
            </a:r>
            <a:endParaRPr lang="en-IE" sz="1900" dirty="0"/>
          </a:p>
        </p:txBody>
      </p:sp>
      <p:sp>
        <p:nvSpPr>
          <p:cNvPr id="58" name="Text 47"/>
          <p:cNvSpPr txBox="1"/>
          <p:nvPr/>
        </p:nvSpPr>
        <p:spPr>
          <a:xfrm>
            <a:off x="3017520" y="5276088"/>
            <a:ext cx="4160520" cy="786384"/>
          </a:xfrm>
          <a:prstGeom prst="rect">
            <a:avLst/>
          </a:prstGeom>
          <a:noFill/>
          <a:ln/>
        </p:spPr>
        <p:txBody>
          <a:bodyPr wrap="square" lIns="0" tIns="0" rIns="0" bIns="0" rtlCol="0" anchor="ctr"/>
          <a:lstStyle/>
          <a:p>
            <a:pPr indent="0" marL="0">
              <a:buNone/>
            </a:pPr>
            <a:r>
              <a:rPr lang="en-IE" sz="1500" dirty="0">
                <a:solidFill>
                  <a:schemeClr val="tx2"/>
                </a:solidFill>
              </a:rPr>
              <a:t>A class is a more specific version of another class.</a:t>
            </a:r>
            <a:endParaRPr lang="en-IE" sz="1500" dirty="0"/>
          </a:p>
        </p:txBody>
      </p:sp>
      <p:sp>
        <p:nvSpPr>
          <p:cNvPr id="59" name="Chip Car"/>
          <p:cNvSpPr/>
          <p:nvPr/>
        </p:nvSpPr>
        <p:spPr>
          <a:xfrm>
            <a:off x="7452360" y="5413248"/>
            <a:ext cx="1417320" cy="512064"/>
          </a:xfrm>
          <a:prstGeom prst="roundRect">
            <a:avLst>
              <a:gd name="adj" fmla="val 14286"/>
            </a:avLst>
          </a:prstGeom>
          <a:solidFill>
            <a:schemeClr val="bg1"/>
          </a:solidFill>
          <a:ln/>
        </p:spPr>
      </p:sp>
      <p:pic>
        <p:nvPicPr>
          <p:cNvPr id="60" name="Car icon" descr="Car icon">    </p:cNvPr>
          <p:cNvPicPr>
            <a:picLocks noChangeAspect="1"/>
          </p:cNvPicPr>
          <p:nvPr/>
        </p:nvPicPr>
        <p:blipFill>
          <a:blip r:embed="rId9"/>
          <a:stretch>
            <a:fillRect/>
          </a:stretch>
        </p:blipFill>
        <p:spPr>
          <a:xfrm>
            <a:off x="7562088" y="5495544"/>
            <a:ext cx="347472" cy="347472"/>
          </a:xfrm>
          <a:prstGeom prst="rect">
            <a:avLst/>
          </a:prstGeom>
        </p:spPr>
      </p:pic>
      <p:sp>
        <p:nvSpPr>
          <p:cNvPr id="61" name="Text 49"/>
          <p:cNvSpPr txBox="1"/>
          <p:nvPr/>
        </p:nvSpPr>
        <p:spPr>
          <a:xfrm>
            <a:off x="8001000" y="5413248"/>
            <a:ext cx="822960" cy="512064"/>
          </a:xfrm>
          <a:prstGeom prst="rect">
            <a:avLst/>
          </a:prstGeom>
          <a:noFill/>
          <a:ln/>
        </p:spPr>
        <p:txBody>
          <a:bodyPr wrap="square" lIns="0" tIns="0" rIns="0" bIns="0" rtlCol="0" anchor="ctr"/>
          <a:lstStyle/>
          <a:p>
            <a:pPr indent="0" marL="0">
              <a:buNone/>
            </a:pPr>
            <a:r>
              <a:rPr lang="en-IE" sz="1300" b="1" dirty="0">
                <a:solidFill>
                  <a:schemeClr val="tx1"/>
                </a:solidFill>
              </a:rPr>
              <a:t>Car</a:t>
            </a:r>
            <a:endParaRPr lang="en-IE" sz="1300" dirty="0"/>
          </a:p>
        </p:txBody>
      </p:sp>
      <p:sp>
        <p:nvSpPr>
          <p:cNvPr id="62" name="Line"/>
          <p:cNvSpPr/>
          <p:nvPr/>
        </p:nvSpPr>
        <p:spPr>
          <a:xfrm>
            <a:off x="8915400" y="5742432"/>
            <a:ext cx="1069848" cy="0"/>
          </a:xfrm>
          <a:prstGeom prst="line">
            <a:avLst/>
          </a:prstGeom>
          <a:noFill/>
          <a:ln w="22225">
            <a:solidFill>
              <a:schemeClr val="accent2"/>
            </a:solidFill>
            <a:prstDash val="solid"/>
          </a:ln>
        </p:spPr>
      </p:sp>
      <p:sp>
        <p:nvSpPr>
          <p:cNvPr id="63" name="Inheritance arrow head"/>
          <p:cNvSpPr/>
          <p:nvPr/>
        </p:nvSpPr>
        <p:spPr>
          <a:xfrm rot="5400000">
            <a:off x="9966960" y="5650992"/>
            <a:ext cx="219456" cy="182880"/>
          </a:xfrm>
          <a:prstGeom prst="triangle">
            <a:avLst/>
          </a:prstGeom>
          <a:solidFill>
            <a:schemeClr val="bg2"/>
          </a:solidFill>
          <a:ln w="19050">
            <a:solidFill>
              <a:schemeClr val="accent2"/>
            </a:solidFill>
            <a:prstDash val="solid"/>
          </a:ln>
        </p:spPr>
      </p:sp>
      <p:sp>
        <p:nvSpPr>
          <p:cNvPr id="64" name="Text 52"/>
          <p:cNvSpPr txBox="1"/>
          <p:nvPr/>
        </p:nvSpPr>
        <p:spPr>
          <a:xfrm>
            <a:off x="8869680" y="5349240"/>
            <a:ext cx="1344168" cy="274320"/>
          </a:xfrm>
          <a:prstGeom prst="rect">
            <a:avLst/>
          </a:prstGeom>
          <a:noFill/>
          <a:ln/>
        </p:spPr>
        <p:txBody>
          <a:bodyPr wrap="square" lIns="0" tIns="0" rIns="0" bIns="0" rtlCol="0" anchor="t"/>
          <a:lstStyle/>
          <a:p>
            <a:pPr algn="ctr" indent="0" marL="0">
              <a:buNone/>
            </a:pPr>
            <a:r>
              <a:rPr lang="en-IE" sz="1200" i="1" dirty="0">
                <a:solidFill>
                  <a:schemeClr val="tx2"/>
                </a:solidFill>
              </a:rPr>
              <a:t>is a</a:t>
            </a:r>
            <a:endParaRPr lang="en-IE" sz="1200" dirty="0"/>
          </a:p>
        </p:txBody>
      </p:sp>
      <p:sp>
        <p:nvSpPr>
          <p:cNvPr id="65" name="Chip Vehicle"/>
          <p:cNvSpPr/>
          <p:nvPr/>
        </p:nvSpPr>
        <p:spPr>
          <a:xfrm>
            <a:off x="10222992" y="5413248"/>
            <a:ext cx="1417320" cy="512064"/>
          </a:xfrm>
          <a:prstGeom prst="roundRect">
            <a:avLst>
              <a:gd name="adj" fmla="val 14286"/>
            </a:avLst>
          </a:prstGeom>
          <a:solidFill>
            <a:schemeClr val="bg1"/>
          </a:solidFill>
          <a:ln/>
        </p:spPr>
      </p:sp>
      <p:pic>
        <p:nvPicPr>
          <p:cNvPr id="66" name="Vehicle icon" descr="Vehicle icon">    </p:cNvPr>
          <p:cNvPicPr>
            <a:picLocks noChangeAspect="1"/>
          </p:cNvPicPr>
          <p:nvPr/>
        </p:nvPicPr>
        <p:blipFill>
          <a:blip r:embed="rId10"/>
          <a:stretch>
            <a:fillRect/>
          </a:stretch>
        </p:blipFill>
        <p:spPr>
          <a:xfrm>
            <a:off x="10332720" y="5495544"/>
            <a:ext cx="347472" cy="347472"/>
          </a:xfrm>
          <a:prstGeom prst="rect">
            <a:avLst/>
          </a:prstGeom>
        </p:spPr>
      </p:pic>
      <p:sp>
        <p:nvSpPr>
          <p:cNvPr id="67" name="Text 54"/>
          <p:cNvSpPr txBox="1"/>
          <p:nvPr/>
        </p:nvSpPr>
        <p:spPr>
          <a:xfrm>
            <a:off x="10771632" y="5413248"/>
            <a:ext cx="822960" cy="512064"/>
          </a:xfrm>
          <a:prstGeom prst="rect">
            <a:avLst/>
          </a:prstGeom>
          <a:noFill/>
          <a:ln/>
        </p:spPr>
        <p:txBody>
          <a:bodyPr wrap="square" lIns="0" tIns="0" rIns="0" bIns="0" rtlCol="0" anchor="ctr"/>
          <a:lstStyle/>
          <a:p>
            <a:pPr indent="0" marL="0">
              <a:buNone/>
            </a:pPr>
            <a:r>
              <a:rPr lang="en-IE" sz="1300" b="1" dirty="0">
                <a:solidFill>
                  <a:schemeClr val="tx1"/>
                </a:solidFill>
              </a:rPr>
              <a:t>Vehicle</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a:t>
            </a:fld>
            <a:endParaRPr lang="en-I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Relationships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is NOT one of the relationships between classes?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Association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Composition</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Encapsulation</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Inheritance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a:t>
            </a:fld>
            <a:endParaRPr lang="en-I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Relationships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is NOT one of the relationships between classes?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Association</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Composition</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Encapsulation</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Inheritance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five relationships are association, dependency, aggregation, composition and inheritance. Encapsulation, from Lecture 2, is about hiding data inside a class, not a link between classes.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a:t>
            </a:fld>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Association</a:t>
            </a:r>
            <a:endParaRPr lang="en-IE" sz="3400" dirty="0"/>
          </a:p>
        </p:txBody>
      </p:sp>
      <p:sp>
        <p:nvSpPr>
          <p:cNvPr id="5" name="Text 2"/>
          <p:cNvSpPr txBox="1"/>
          <p:nvPr/>
        </p:nvSpPr>
        <p:spPr>
          <a:xfrm>
            <a:off x="548640" y="1783080"/>
            <a:ext cx="4937760" cy="26517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Two classes are aware of each other, but not dependent on each other.</a:t>
            </a:r>
            <a:endParaRPr lang="en-IE" sz="1800" dirty="0"/>
          </a:p>
          <a:p>
            <a:pPr marL="228600" indent="-228600">
              <a:spcAft>
                <a:spcPts val="1200"/>
              </a:spcAft>
              <a:buSzPct val="100000"/>
              <a:buChar char="•"/>
            </a:pPr>
            <a:r>
              <a:rPr lang="en-IE" sz="1800" dirty="0">
                <a:solidFill>
                  <a:schemeClr val="tx1"/>
                </a:solidFill>
              </a:rPr>
              <a:t>Here a Student and a Module are both needed for the print statement to work.</a:t>
            </a:r>
            <a:endParaRPr lang="en-IE" sz="1800" dirty="0"/>
          </a:p>
          <a:p>
            <a:pPr marL="228600" indent="-228600">
              <a:buSzPct val="100000"/>
              <a:buChar char="•"/>
            </a:pPr>
            <a:r>
              <a:rPr lang="en-IE" sz="1800" dirty="0">
                <a:solidFill>
                  <a:schemeClr val="tx1"/>
                </a:solidFill>
              </a:rPr>
              <a:t>Apart from that they are unrelated. Neither one stores or creates the other.</a:t>
            </a:r>
            <a:endParaRPr lang="en-IE" sz="1800" dirty="0"/>
          </a:p>
        </p:txBody>
      </p:sp>
      <p:sp>
        <p:nvSpPr>
          <p:cNvPr id="6" name="Tile Student"/>
          <p:cNvSpPr/>
          <p:nvPr/>
        </p:nvSpPr>
        <p:spPr>
          <a:xfrm>
            <a:off x="685800" y="4526280"/>
            <a:ext cx="1554480" cy="1143000"/>
          </a:xfrm>
          <a:prstGeom prst="roundRect">
            <a:avLst>
              <a:gd name="adj" fmla="val 9600"/>
            </a:avLst>
          </a:prstGeom>
          <a:solidFill>
            <a:schemeClr val="bg1"/>
          </a:solidFill>
          <a:ln/>
          <a:effectLst>
            <a:outerShdw sx="100000" sy="100000" kx="0" ky="0" algn="bl" rotWithShape="0" blurRad="76200" dist="19050" dir="5400000">
              <a:srgbClr val="1D2433">
                <a:alpha val="8000"/>
              </a:srgbClr>
            </a:outerShdw>
          </a:effectLst>
        </p:spPr>
      </p:sp>
      <p:pic>
        <p:nvPicPr>
          <p:cNvPr id="7" name="Student icon" descr="Student icon">    </p:cNvPr>
          <p:cNvPicPr>
            <a:picLocks noChangeAspect="1"/>
          </p:cNvPicPr>
          <p:nvPr/>
        </p:nvPicPr>
        <p:blipFill>
          <a:blip r:embed="rId1"/>
          <a:stretch>
            <a:fillRect/>
          </a:stretch>
        </p:blipFill>
        <p:spPr>
          <a:xfrm>
            <a:off x="1225296" y="4672584"/>
            <a:ext cx="475488" cy="475488"/>
          </a:xfrm>
          <a:prstGeom prst="rect">
            <a:avLst/>
          </a:prstGeom>
        </p:spPr>
      </p:pic>
      <p:sp>
        <p:nvSpPr>
          <p:cNvPr id="8" name="Text 4"/>
          <p:cNvSpPr txBox="1"/>
          <p:nvPr/>
        </p:nvSpPr>
        <p:spPr>
          <a:xfrm>
            <a:off x="731520" y="5184648"/>
            <a:ext cx="1463040" cy="292608"/>
          </a:xfrm>
          <a:prstGeom prst="rect">
            <a:avLst/>
          </a:prstGeom>
          <a:noFill/>
          <a:ln/>
        </p:spPr>
        <p:txBody>
          <a:bodyPr wrap="square" lIns="0" tIns="0" rIns="0" bIns="0" rtlCol="0" anchor="ctr"/>
          <a:lstStyle/>
          <a:p>
            <a:pPr algn="ctr" indent="0" marL="0">
              <a:buNone/>
            </a:pPr>
            <a:r>
              <a:rPr lang="en-IE" sz="1400" b="1" dirty="0">
                <a:solidFill>
                  <a:schemeClr val="tx1"/>
                </a:solidFill>
              </a:rPr>
              <a:t>Student</a:t>
            </a:r>
            <a:endParaRPr lang="en-IE" sz="1400" dirty="0"/>
          </a:p>
        </p:txBody>
      </p:sp>
      <p:sp>
        <p:nvSpPr>
          <p:cNvPr id="9" name="Text 5"/>
          <p:cNvSpPr txBox="1"/>
          <p:nvPr/>
        </p:nvSpPr>
        <p:spPr>
          <a:xfrm>
            <a:off x="731520" y="5394960"/>
            <a:ext cx="1463040" cy="219456"/>
          </a:xfrm>
          <a:prstGeom prst="rect">
            <a:avLst/>
          </a:prstGeom>
          <a:noFill/>
          <a:ln/>
        </p:spPr>
        <p:txBody>
          <a:bodyPr wrap="square" lIns="0" tIns="0" rIns="0" bIns="0" rtlCol="0" anchor="t"/>
          <a:lstStyle/>
          <a:p>
            <a:pPr algn="ctr" indent="0" marL="0">
              <a:buNone/>
            </a:pPr>
            <a:r>
              <a:rPr lang="en-IE" sz="1100" i="1" dirty="0">
                <a:solidFill>
                  <a:schemeClr val="tx2"/>
                </a:solidFill>
              </a:rPr>
              <a:t>exists on its own</a:t>
            </a:r>
            <a:endParaRPr lang="en-IE" sz="1100" dirty="0"/>
          </a:p>
        </p:txBody>
      </p:sp>
      <p:sp>
        <p:nvSpPr>
          <p:cNvPr id="10" name="Tile Module"/>
          <p:cNvSpPr/>
          <p:nvPr/>
        </p:nvSpPr>
        <p:spPr>
          <a:xfrm>
            <a:off x="3749040" y="4526280"/>
            <a:ext cx="1554480" cy="1143000"/>
          </a:xfrm>
          <a:prstGeom prst="roundRect">
            <a:avLst>
              <a:gd name="adj" fmla="val 9600"/>
            </a:avLst>
          </a:prstGeom>
          <a:solidFill>
            <a:schemeClr val="bg1"/>
          </a:solidFill>
          <a:ln/>
          <a:effectLst>
            <a:outerShdw sx="100000" sy="100000" kx="0" ky="0" algn="bl" rotWithShape="0" blurRad="76200" dist="19050" dir="5400000">
              <a:srgbClr val="1D2433">
                <a:alpha val="8000"/>
              </a:srgbClr>
            </a:outerShdw>
          </a:effectLst>
        </p:spPr>
      </p:sp>
      <p:pic>
        <p:nvPicPr>
          <p:cNvPr id="11" name="Module icon" descr="Module icon">    </p:cNvPr>
          <p:cNvPicPr>
            <a:picLocks noChangeAspect="1"/>
          </p:cNvPicPr>
          <p:nvPr/>
        </p:nvPicPr>
        <p:blipFill>
          <a:blip r:embed="rId2"/>
          <a:stretch>
            <a:fillRect/>
          </a:stretch>
        </p:blipFill>
        <p:spPr>
          <a:xfrm>
            <a:off x="4288536" y="4672584"/>
            <a:ext cx="475488" cy="475488"/>
          </a:xfrm>
          <a:prstGeom prst="rect">
            <a:avLst/>
          </a:prstGeom>
        </p:spPr>
      </p:pic>
      <p:sp>
        <p:nvSpPr>
          <p:cNvPr id="12" name="Text 7"/>
          <p:cNvSpPr txBox="1"/>
          <p:nvPr/>
        </p:nvSpPr>
        <p:spPr>
          <a:xfrm>
            <a:off x="3794760" y="5184648"/>
            <a:ext cx="1463040" cy="292608"/>
          </a:xfrm>
          <a:prstGeom prst="rect">
            <a:avLst/>
          </a:prstGeom>
          <a:noFill/>
          <a:ln/>
        </p:spPr>
        <p:txBody>
          <a:bodyPr wrap="square" lIns="0" tIns="0" rIns="0" bIns="0" rtlCol="0" anchor="ctr"/>
          <a:lstStyle/>
          <a:p>
            <a:pPr algn="ctr" indent="0" marL="0">
              <a:buNone/>
            </a:pPr>
            <a:r>
              <a:rPr lang="en-IE" sz="1400" b="1" dirty="0">
                <a:solidFill>
                  <a:schemeClr val="tx1"/>
                </a:solidFill>
              </a:rPr>
              <a:t>Module</a:t>
            </a:r>
            <a:endParaRPr lang="en-IE" sz="1400" dirty="0"/>
          </a:p>
        </p:txBody>
      </p:sp>
      <p:sp>
        <p:nvSpPr>
          <p:cNvPr id="13" name="Text 8"/>
          <p:cNvSpPr txBox="1"/>
          <p:nvPr/>
        </p:nvSpPr>
        <p:spPr>
          <a:xfrm>
            <a:off x="3794760" y="5394960"/>
            <a:ext cx="1463040" cy="219456"/>
          </a:xfrm>
          <a:prstGeom prst="rect">
            <a:avLst/>
          </a:prstGeom>
          <a:noFill/>
          <a:ln/>
        </p:spPr>
        <p:txBody>
          <a:bodyPr wrap="square" lIns="0" tIns="0" rIns="0" bIns="0" rtlCol="0" anchor="t"/>
          <a:lstStyle/>
          <a:p>
            <a:pPr algn="ctr" indent="0" marL="0">
              <a:buNone/>
            </a:pPr>
            <a:r>
              <a:rPr lang="en-IE" sz="1100" i="1" dirty="0">
                <a:solidFill>
                  <a:schemeClr val="tx2"/>
                </a:solidFill>
              </a:rPr>
              <a:t>exists on its own</a:t>
            </a:r>
            <a:endParaRPr lang="en-IE" sz="1100" dirty="0"/>
          </a:p>
        </p:txBody>
      </p:sp>
      <p:sp>
        <p:nvSpPr>
          <p:cNvPr id="14" name="Print statement"/>
          <p:cNvSpPr/>
          <p:nvPr/>
        </p:nvSpPr>
        <p:spPr>
          <a:xfrm>
            <a:off x="2450592" y="4864608"/>
            <a:ext cx="1097280" cy="457200"/>
          </a:xfrm>
          <a:prstGeom prst="roundRect">
            <a:avLst>
              <a:gd name="adj" fmla="val 16000"/>
            </a:avLst>
          </a:prstGeom>
          <a:solidFill>
            <a:schemeClr val="accent4">
              <a:alpha val="14000"/>
            </a:schemeClr>
          </a:solidFill>
          <a:ln w="15875">
            <a:solidFill>
              <a:schemeClr val="accent4"/>
            </a:solidFill>
          </a:ln>
        </p:spPr>
        <p:txBody>
          <a:bodyPr wrap="square" lIns="0" tIns="0" rIns="0" bIns="0" rtlCol="0" anchor="ctr"/>
          <a:lstStyle/>
          <a:p>
            <a:pPr algn="ctr" indent="0" marL="0">
              <a:buNone/>
            </a:pPr>
            <a:r>
              <a:rPr lang="en-IE" sz="1400" b="1" dirty="0">
                <a:solidFill>
                  <a:schemeClr val="tx1"/>
                </a:solidFill>
                <a:latin typeface="Consolas" pitchFamily="34" charset="0"/>
                <a:ea typeface="Consolas" pitchFamily="34" charset="-122"/>
                <a:cs typeface="Consolas" pitchFamily="34" charset="-120"/>
              </a:rPr>
              <a:t>println</a:t>
            </a:r>
            <a:endParaRPr lang="en-IE" sz="1400" dirty="0"/>
          </a:p>
        </p:txBody>
      </p:sp>
      <p:sp>
        <p:nvSpPr>
          <p:cNvPr id="15" name="Connector"/>
          <p:cNvSpPr/>
          <p:nvPr/>
        </p:nvSpPr>
        <p:spPr>
          <a:xfrm>
            <a:off x="2276856" y="5093208"/>
            <a:ext cx="128016" cy="0"/>
          </a:xfrm>
          <a:prstGeom prst="line">
            <a:avLst/>
          </a:prstGeom>
          <a:noFill/>
          <a:ln w="19050">
            <a:solidFill>
              <a:schemeClr val="accent4"/>
            </a:solidFill>
            <a:prstDash val="solid"/>
            <a:tailEnd type="triangle"/>
          </a:ln>
        </p:spPr>
      </p:sp>
      <p:sp>
        <p:nvSpPr>
          <p:cNvPr id="16" name="Connector"/>
          <p:cNvSpPr/>
          <p:nvPr/>
        </p:nvSpPr>
        <p:spPr>
          <a:xfrm flipH="1">
            <a:off x="3593592" y="5093208"/>
            <a:ext cx="118872" cy="0"/>
          </a:xfrm>
          <a:prstGeom prst="line">
            <a:avLst/>
          </a:prstGeom>
          <a:noFill/>
          <a:ln w="19050">
            <a:solidFill>
              <a:schemeClr val="accent4"/>
            </a:solidFill>
            <a:prstDash val="solid"/>
            <a:tailEnd type="triangle"/>
          </a:ln>
        </p:spPr>
      </p:sp>
      <p:sp>
        <p:nvSpPr>
          <p:cNvPr id="17" name="Association code card"/>
          <p:cNvSpPr/>
          <p:nvPr/>
        </p:nvSpPr>
        <p:spPr>
          <a:xfrm>
            <a:off x="5897880" y="1783080"/>
            <a:ext cx="5745175" cy="2159508"/>
          </a:xfrm>
          <a:prstGeom prst="roundRect">
            <a:avLst>
              <a:gd name="adj" fmla="val 5081"/>
            </a:avLst>
          </a:prstGeom>
          <a:solidFill>
            <a:schemeClr val="tx1"/>
          </a:solidFill>
          <a:ln/>
          <a:effectLst>
            <a:outerShdw sx="100000" sy="100000" kx="0" ky="0" algn="bl" rotWithShape="0" blurRad="114300" dist="31750" dir="5400000">
              <a:srgbClr val="1D2433">
                <a:alpha val="12000"/>
              </a:srgbClr>
            </a:outerShdw>
          </a:effectLst>
        </p:spPr>
      </p:sp>
      <p:sp>
        <p:nvSpPr>
          <p:cNvPr id="18" name="Association code language"/>
          <p:cNvSpPr txBox="1"/>
          <p:nvPr/>
        </p:nvSpPr>
        <p:spPr>
          <a:xfrm>
            <a:off x="6172200" y="1901952"/>
            <a:ext cx="519653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9" name="Association code text"/>
          <p:cNvSpPr txBox="1"/>
          <p:nvPr/>
        </p:nvSpPr>
        <p:spPr>
          <a:xfrm>
            <a:off x="6172200" y="2276856"/>
            <a:ext cx="5196535" cy="146456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student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"bob"</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Module</a:t>
            </a:r>
            <a:r>
              <a:rPr lang="en-IE" sz="1400" dirty="0">
                <a:solidFill>
                  <a:srgbClr val="E6EBF2"/>
                </a:solidFill>
                <a:latin typeface="Consolas" pitchFamily="34" charset="0"/>
                <a:ea typeface="Consolas" pitchFamily="34" charset="-122"/>
                <a:cs typeface="Consolas" pitchFamily="34" charset="-120"/>
              </a:rPr>
              <a:t> module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Module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"CP"</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"The student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 student.</a:t>
            </a:r>
            <a:r>
              <a:rPr lang="en-IE" sz="1400" dirty="0">
                <a:solidFill>
                  <a:srgbClr val="C9B0FF"/>
                </a:solidFill>
                <a:latin typeface="Consolas" pitchFamily="34" charset="0"/>
                <a:ea typeface="Consolas" pitchFamily="34" charset="-122"/>
                <a:cs typeface="Consolas" pitchFamily="34" charset="-120"/>
              </a:rPr>
              <a:t>getName</a:t>
            </a: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A9DB8C"/>
                </a:solidFill>
                <a:latin typeface="Consolas" pitchFamily="34" charset="0"/>
                <a:ea typeface="Consolas" pitchFamily="34" charset="-122"/>
                <a:cs typeface="Consolas" pitchFamily="34" charset="-120"/>
              </a:rPr>
              <a:t>" is taking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 module.</a:t>
            </a:r>
            <a:r>
              <a:rPr lang="en-IE" sz="1400" dirty="0">
                <a:solidFill>
                  <a:srgbClr val="C9B0FF"/>
                </a:solidFill>
                <a:latin typeface="Consolas" pitchFamily="34" charset="0"/>
                <a:ea typeface="Consolas" pitchFamily="34" charset="-122"/>
                <a:cs typeface="Consolas" pitchFamily="34" charset="-120"/>
              </a:rPr>
              <a:t>getName</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20" name="Output card"/>
          <p:cNvSpPr/>
          <p:nvPr/>
        </p:nvSpPr>
        <p:spPr>
          <a:xfrm>
            <a:off x="5897880" y="4216908"/>
            <a:ext cx="5745175" cy="1051560"/>
          </a:xfrm>
          <a:prstGeom prst="roundRect">
            <a:avLst>
              <a:gd name="adj" fmla="val 10435"/>
            </a:avLst>
          </a:prstGeom>
          <a:solidFill>
            <a:schemeClr val="tx1"/>
          </a:solidFill>
          <a:ln/>
          <a:effectLst>
            <a:outerShdw sx="100000" sy="100000" kx="0" ky="0" algn="bl" rotWithShape="0" blurRad="114300" dist="31750" dir="5400000">
              <a:srgbClr val="1D2433">
                <a:alpha val="12000"/>
              </a:srgbClr>
            </a:outerShdw>
          </a:effectLst>
        </p:spPr>
      </p:sp>
      <p:sp>
        <p:nvSpPr>
          <p:cNvPr id="21" name="Text 16"/>
          <p:cNvSpPr txBox="1"/>
          <p:nvPr/>
        </p:nvSpPr>
        <p:spPr>
          <a:xfrm>
            <a:off x="6172200" y="4335780"/>
            <a:ext cx="519653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22" name="Output text"/>
          <p:cNvSpPr txBox="1"/>
          <p:nvPr/>
        </p:nvSpPr>
        <p:spPr>
          <a:xfrm>
            <a:off x="6172200" y="4674108"/>
            <a:ext cx="5196535" cy="411480"/>
          </a:xfrm>
          <a:prstGeom prst="rect">
            <a:avLst/>
          </a:prstGeom>
          <a:noFill/>
          <a:ln/>
        </p:spPr>
        <p:txBody>
          <a:bodyPr wrap="square" lIns="0" tIns="0" rIns="0" bIns="0" rtlCol="0" anchor="t"/>
          <a:lstStyle/>
          <a:p>
            <a:pPr indent="0" marL="0">
              <a:lnSpc>
                <a:spcPts val="2430"/>
              </a:lnSpc>
              <a:buNone/>
            </a:pPr>
            <a:r>
              <a:rPr lang="en-IE" sz="1800" dirty="0">
                <a:solidFill>
                  <a:srgbClr val="A9DB8C"/>
                </a:solidFill>
                <a:latin typeface="Consolas" pitchFamily="34" charset="0"/>
                <a:ea typeface="Consolas" pitchFamily="34" charset="-122"/>
                <a:cs typeface="Consolas" pitchFamily="34" charset="-120"/>
              </a:rPr>
              <a:t>The student bob is taking CP</a:t>
            </a:r>
            <a:endParaRPr lang="en-IE" sz="1800" dirty="0"/>
          </a:p>
        </p:txBody>
      </p:sp>
      <p:sp>
        <p:nvSpPr>
          <p:cNvPr id="23" name="Note"/>
          <p:cNvSpPr/>
          <p:nvPr/>
        </p:nvSpPr>
        <p:spPr>
          <a:xfrm>
            <a:off x="5897880" y="5542788"/>
            <a:ext cx="5745175" cy="777240"/>
          </a:xfrm>
          <a:prstGeom prst="roundRect">
            <a:avLst>
              <a:gd name="adj" fmla="val 14118"/>
            </a:avLst>
          </a:prstGeom>
          <a:solidFill>
            <a:schemeClr val="bg2"/>
          </a:solidFill>
          <a:ln/>
        </p:spPr>
      </p:sp>
      <p:sp>
        <p:nvSpPr>
          <p:cNvPr id="24" name="Icon tile"/>
          <p:cNvSpPr/>
          <p:nvPr/>
        </p:nvSpPr>
        <p:spPr>
          <a:xfrm>
            <a:off x="6172200" y="5666232"/>
            <a:ext cx="530352" cy="530352"/>
          </a:xfrm>
          <a:prstGeom prst="roundRect">
            <a:avLst>
              <a:gd name="adj" fmla="val 24000"/>
            </a:avLst>
          </a:prstGeom>
          <a:solidFill>
            <a:schemeClr val="accent4">
              <a:alpha val="14000"/>
            </a:schemeClr>
          </a:solidFill>
          <a:ln/>
        </p:spPr>
      </p:sp>
      <p:pic>
        <p:nvPicPr>
          <p:cNvPr id="25" name="info icon" descr="info icon">    </p:cNvPr>
          <p:cNvPicPr>
            <a:picLocks noChangeAspect="1"/>
          </p:cNvPicPr>
          <p:nvPr/>
        </p:nvPicPr>
        <p:blipFill>
          <a:blip r:embed="rId3"/>
          <a:stretch>
            <a:fillRect/>
          </a:stretch>
        </p:blipFill>
        <p:spPr>
          <a:xfrm>
            <a:off x="6283574" y="5777606"/>
            <a:ext cx="307604" cy="307604"/>
          </a:xfrm>
          <a:prstGeom prst="rect">
            <a:avLst/>
          </a:prstGeom>
        </p:spPr>
      </p:pic>
      <p:sp>
        <p:nvSpPr>
          <p:cNvPr id="26" name="Text 20"/>
          <p:cNvSpPr txBox="1"/>
          <p:nvPr/>
        </p:nvSpPr>
        <p:spPr>
          <a:xfrm>
            <a:off x="6922008" y="5542788"/>
            <a:ext cx="4465015" cy="777240"/>
          </a:xfrm>
          <a:prstGeom prst="rect">
            <a:avLst/>
          </a:prstGeom>
          <a:noFill/>
          <a:ln/>
        </p:spPr>
        <p:txBody>
          <a:bodyPr wrap="square" lIns="0" tIns="0" rIns="0" bIns="0" rtlCol="0" anchor="ctr"/>
          <a:lstStyle/>
          <a:p>
            <a:pPr indent="0" marL="0">
              <a:buNone/>
            </a:pPr>
            <a:r>
              <a:rPr lang="en-IE" sz="1600" dirty="0">
                <a:solidFill>
                  <a:schemeClr val="tx1"/>
                </a:solidFill>
              </a:rPr>
              <a:t>Neither object creates or owns the other, so each can exist on its own.</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a:t>
            </a:fld>
            <a:endParaRPr lang="en-I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Association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sentence best describes an association between two classes?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 work together, but each can exist on its own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One class inherits everything from the other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One class creates the other and owns it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two classes must be saved in the same file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a:t>
            </a:fld>
            <a:endParaRPr lang="en-I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Association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sentence best describes an association between two classes?</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They work together, but each can exist on its own</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One class inherits everything from the other</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One class creates the other and owns it</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two classes must be saved in the same file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In an association the classes know about each other and work together, but neither owns the other, so each can exist on its own. C describes composition and B describes inheritance. Where the classes are saved (D) has nothing to do with it.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a:t>
            </a:fld>
            <a:endParaRPr lang="en-I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Dependency</a:t>
            </a:r>
            <a:endParaRPr lang="en-IE" sz="3400" dirty="0"/>
          </a:p>
        </p:txBody>
      </p:sp>
      <p:sp>
        <p:nvSpPr>
          <p:cNvPr id="5" name="Text 2"/>
          <p:cNvSpPr txBox="1"/>
          <p:nvPr/>
        </p:nvSpPr>
        <p:spPr>
          <a:xfrm>
            <a:off x="548640" y="1783080"/>
            <a:ext cx="5029200" cy="292608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 dependency is when a class needs another class to complete a job.</a:t>
            </a:r>
            <a:endParaRPr lang="en-IE" sz="1800" dirty="0"/>
          </a:p>
          <a:p>
            <a:pPr marL="228600" indent="-228600">
              <a:spcAft>
                <a:spcPts val="1200"/>
              </a:spcAft>
              <a:buSzPct val="100000"/>
              <a:buChar char="•"/>
            </a:pPr>
            <a:r>
              <a:rPr lang="en-IE" sz="1800" dirty="0">
                <a:solidFill>
                  <a:schemeClr val="tx1"/>
                </a:solidFill>
              </a:rPr>
              <a:t>Here Student needs a Module for compareModule(), so it is passed in as a parameter.</a:t>
            </a:r>
            <a:endParaRPr lang="en-IE" sz="1800" dirty="0"/>
          </a:p>
          <a:p>
            <a:pPr marL="228600" indent="-228600">
              <a:buSzPct val="100000"/>
              <a:buChar char="•"/>
            </a:pPr>
            <a:r>
              <a:rPr lang="en-IE" sz="1800" dirty="0">
                <a:solidFill>
                  <a:schemeClr val="tx1"/>
                </a:solidFill>
              </a:rPr>
              <a:t>Student only has the Module while the method runs. Normally it exists independently of Student.</a:t>
            </a:r>
            <a:endParaRPr lang="en-IE" sz="1800" dirty="0"/>
          </a:p>
        </p:txBody>
      </p:sp>
      <p:sp>
        <p:nvSpPr>
          <p:cNvPr id="6" name="Dependency code card"/>
          <p:cNvSpPr/>
          <p:nvPr/>
        </p:nvSpPr>
        <p:spPr>
          <a:xfrm>
            <a:off x="5897880" y="1783080"/>
            <a:ext cx="5745175" cy="2635758"/>
          </a:xfrm>
          <a:prstGeom prst="roundRect">
            <a:avLst>
              <a:gd name="adj" fmla="val 4163"/>
            </a:avLst>
          </a:prstGeom>
          <a:solidFill>
            <a:schemeClr val="tx1"/>
          </a:solidFill>
          <a:ln/>
          <a:effectLst>
            <a:outerShdw sx="100000" sy="100000" kx="0" ky="0" algn="bl" rotWithShape="0" blurRad="114300" dist="31750" dir="5400000">
              <a:srgbClr val="1D2433">
                <a:alpha val="12000"/>
              </a:srgbClr>
            </a:outerShdw>
          </a:effectLst>
        </p:spPr>
      </p:sp>
      <p:sp>
        <p:nvSpPr>
          <p:cNvPr id="7" name="Dependency code language"/>
          <p:cNvSpPr txBox="1"/>
          <p:nvPr/>
        </p:nvSpPr>
        <p:spPr>
          <a:xfrm>
            <a:off x="6172200" y="1901952"/>
            <a:ext cx="519653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Dependency code text"/>
          <p:cNvSpPr txBox="1"/>
          <p:nvPr/>
        </p:nvSpPr>
        <p:spPr>
          <a:xfrm>
            <a:off x="6172200" y="2276856"/>
            <a:ext cx="5196535" cy="1940814"/>
          </a:xfrm>
          <a:prstGeom prst="rect">
            <a:avLst/>
          </a:prstGeom>
          <a:noFill/>
          <a:ln/>
        </p:spPr>
        <p:txBody>
          <a:bodyPr wrap="square" lIns="0" tIns="0" rIns="0" bIns="0" rtlCol="0" anchor="t"/>
          <a:lstStyle/>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class</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Student</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void</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compareModule</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6CC4E8"/>
                </a:solidFill>
                <a:latin typeface="Consolas" pitchFamily="34" charset="0"/>
                <a:ea typeface="Consolas" pitchFamily="34" charset="-122"/>
                <a:cs typeface="Consolas" pitchFamily="34" charset="-120"/>
              </a:rPr>
              <a:t>Module</a:t>
            </a:r>
            <a:r>
              <a:rPr lang="en-IE" sz="1250" dirty="0">
                <a:solidFill>
                  <a:srgbClr val="E6EBF2"/>
                </a:solidFill>
                <a:latin typeface="Consolas" pitchFamily="34" charset="0"/>
                <a:ea typeface="Consolas" pitchFamily="34" charset="-122"/>
                <a:cs typeface="Consolas" pitchFamily="34" charset="-120"/>
              </a:rPr>
              <a:t> module)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String</a:t>
            </a:r>
            <a:r>
              <a:rPr lang="en-IE" sz="1250" dirty="0">
                <a:solidFill>
                  <a:srgbClr val="E6EBF2"/>
                </a:solidFill>
                <a:latin typeface="Consolas" pitchFamily="34" charset="0"/>
                <a:ea typeface="Consolas" pitchFamily="34" charset="-122"/>
                <a:cs typeface="Consolas" pitchFamily="34" charset="-120"/>
              </a:rPr>
              <a:t> myModuleName = </a:t>
            </a:r>
            <a:r>
              <a:rPr lang="en-IE" sz="1250" dirty="0">
                <a:solidFill>
                  <a:srgbClr val="A9DB8C"/>
                </a:solidFill>
                <a:latin typeface="Consolas" pitchFamily="34" charset="0"/>
                <a:ea typeface="Consolas" pitchFamily="34" charset="-122"/>
                <a:cs typeface="Consolas" pitchFamily="34" charset="-120"/>
              </a:rPr>
              <a:t>"CP"</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if</a:t>
            </a:r>
            <a:r>
              <a:rPr lang="en-IE" sz="1250" dirty="0">
                <a:solidFill>
                  <a:srgbClr val="E6EBF2"/>
                </a:solidFill>
                <a:latin typeface="Consolas" pitchFamily="34" charset="0"/>
                <a:ea typeface="Consolas" pitchFamily="34" charset="-122"/>
                <a:cs typeface="Consolas" pitchFamily="34" charset="-120"/>
              </a:rPr>
              <a:t> (module.</a:t>
            </a:r>
            <a:r>
              <a:rPr lang="en-IE" sz="1250" dirty="0">
                <a:solidFill>
                  <a:srgbClr val="C9B0FF"/>
                </a:solidFill>
                <a:latin typeface="Consolas" pitchFamily="34" charset="0"/>
                <a:ea typeface="Consolas" pitchFamily="34" charset="-122"/>
                <a:cs typeface="Consolas" pitchFamily="34" charset="-120"/>
              </a:rPr>
              <a:t>getName</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C9B0FF"/>
                </a:solidFill>
                <a:latin typeface="Consolas" pitchFamily="34" charset="0"/>
                <a:ea typeface="Consolas" pitchFamily="34" charset="-122"/>
                <a:cs typeface="Consolas" pitchFamily="34" charset="-120"/>
              </a:rPr>
              <a:t>equals</a:t>
            </a:r>
            <a:r>
              <a:rPr lang="en-IE" sz="1250" dirty="0">
                <a:solidFill>
                  <a:srgbClr val="E6EBF2"/>
                </a:solidFill>
                <a:latin typeface="Consolas" pitchFamily="34" charset="0"/>
                <a:ea typeface="Consolas" pitchFamily="34" charset="-122"/>
                <a:cs typeface="Consolas" pitchFamily="34" charset="-120"/>
              </a:rPr>
              <a:t>(myModuleName))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System</a:t>
            </a:r>
            <a:r>
              <a:rPr lang="en-IE" sz="1250" dirty="0">
                <a:solidFill>
                  <a:srgbClr val="E6EBF2"/>
                </a:solidFill>
                <a:latin typeface="Consolas" pitchFamily="34" charset="0"/>
                <a:ea typeface="Consolas" pitchFamily="34" charset="-122"/>
                <a:cs typeface="Consolas" pitchFamily="34" charset="-120"/>
              </a:rPr>
              <a:t>.out.</a:t>
            </a:r>
            <a:r>
              <a:rPr lang="en-IE" sz="1250" dirty="0">
                <a:solidFill>
                  <a:srgbClr val="C9B0FF"/>
                </a:solidFill>
                <a:latin typeface="Consolas" pitchFamily="34" charset="0"/>
                <a:ea typeface="Consolas" pitchFamily="34" charset="-122"/>
                <a:cs typeface="Consolas" pitchFamily="34" charset="-120"/>
              </a:rPr>
              <a:t>println</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A9DB8C"/>
                </a:solidFill>
                <a:latin typeface="Consolas" pitchFamily="34" charset="0"/>
                <a:ea typeface="Consolas" pitchFamily="34" charset="-122"/>
                <a:cs typeface="Consolas" pitchFamily="34" charset="-120"/>
              </a:rPr>
              <a:t>"same module"</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a:t>
            </a:r>
            <a:endParaRPr lang="en-IE" sz="1250" dirty="0"/>
          </a:p>
        </p:txBody>
      </p:sp>
      <p:sp>
        <p:nvSpPr>
          <p:cNvPr id="9" name="Method call"/>
          <p:cNvSpPr/>
          <p:nvPr/>
        </p:nvSpPr>
        <p:spPr>
          <a:xfrm>
            <a:off x="548640" y="4846320"/>
            <a:ext cx="5029200" cy="1188720"/>
          </a:xfrm>
          <a:prstGeom prst="roundRect">
            <a:avLst>
              <a:gd name="adj" fmla="val 9231"/>
            </a:avLst>
          </a:prstGeom>
          <a:solidFill>
            <a:schemeClr val="accent5">
              <a:alpha val="10000"/>
            </a:schemeClr>
          </a:solidFill>
          <a:ln w="15875">
            <a:solidFill>
              <a:schemeClr val="accent5"/>
            </a:solidFill>
            <a:prstDash val="dash"/>
          </a:ln>
        </p:spPr>
      </p:sp>
      <p:sp>
        <p:nvSpPr>
          <p:cNvPr id="10" name="Text 7"/>
          <p:cNvSpPr txBox="1"/>
          <p:nvPr/>
        </p:nvSpPr>
        <p:spPr>
          <a:xfrm>
            <a:off x="777240" y="4937760"/>
            <a:ext cx="2926080" cy="274320"/>
          </a:xfrm>
          <a:prstGeom prst="rect">
            <a:avLst/>
          </a:prstGeom>
          <a:noFill/>
          <a:ln/>
        </p:spPr>
        <p:txBody>
          <a:bodyPr wrap="square" lIns="0" tIns="0" rIns="0" bIns="0" rtlCol="0" anchor="t"/>
          <a:lstStyle/>
          <a:p>
            <a:pPr indent="0" marL="0">
              <a:buNone/>
            </a:pPr>
            <a:r>
              <a:rPr lang="en-IE" sz="1200" i="1" dirty="0">
                <a:solidFill>
                  <a:schemeClr val="tx2"/>
                </a:solidFill>
              </a:rPr>
              <a:t>while compareModule() runs</a:t>
            </a:r>
            <a:endParaRPr lang="en-IE" sz="1200" dirty="0"/>
          </a:p>
        </p:txBody>
      </p:sp>
      <p:pic>
        <p:nvPicPr>
          <p:cNvPr id="11" name="Student icon" descr="Student icon">    </p:cNvPr>
          <p:cNvPicPr>
            <a:picLocks noChangeAspect="1"/>
          </p:cNvPicPr>
          <p:nvPr/>
        </p:nvPicPr>
        <p:blipFill>
          <a:blip r:embed="rId1"/>
          <a:stretch>
            <a:fillRect/>
          </a:stretch>
        </p:blipFill>
        <p:spPr>
          <a:xfrm>
            <a:off x="868680" y="5303520"/>
            <a:ext cx="502920" cy="502920"/>
          </a:xfrm>
          <a:prstGeom prst="rect">
            <a:avLst/>
          </a:prstGeom>
        </p:spPr>
      </p:pic>
      <p:sp>
        <p:nvSpPr>
          <p:cNvPr id="12" name="Text 8"/>
          <p:cNvSpPr txBox="1"/>
          <p:nvPr/>
        </p:nvSpPr>
        <p:spPr>
          <a:xfrm>
            <a:off x="1417320" y="5303520"/>
            <a:ext cx="1097280" cy="502920"/>
          </a:xfrm>
          <a:prstGeom prst="rect">
            <a:avLst/>
          </a:prstGeom>
          <a:noFill/>
          <a:ln/>
        </p:spPr>
        <p:txBody>
          <a:bodyPr wrap="square" lIns="0" tIns="0" rIns="0" bIns="0" rtlCol="0" anchor="ctr"/>
          <a:lstStyle/>
          <a:p>
            <a:pPr indent="0" marL="0">
              <a:buNone/>
            </a:pPr>
            <a:r>
              <a:rPr lang="en-IE" sz="1500" b="1" dirty="0">
                <a:solidFill>
                  <a:schemeClr val="tx1"/>
                </a:solidFill>
              </a:rPr>
              <a:t>Student</a:t>
            </a:r>
            <a:endParaRPr lang="en-IE" sz="1500" dirty="0"/>
          </a:p>
        </p:txBody>
      </p:sp>
      <p:sp>
        <p:nvSpPr>
          <p:cNvPr id="13" name="Connector"/>
          <p:cNvSpPr/>
          <p:nvPr/>
        </p:nvSpPr>
        <p:spPr>
          <a:xfrm>
            <a:off x="2514600" y="5559552"/>
            <a:ext cx="868680" cy="0"/>
          </a:xfrm>
          <a:prstGeom prst="line">
            <a:avLst/>
          </a:prstGeom>
          <a:noFill/>
          <a:ln w="19050">
            <a:solidFill>
              <a:schemeClr val="accent5"/>
            </a:solidFill>
            <a:prstDash val="dash"/>
            <a:tailEnd type="triangle"/>
          </a:ln>
        </p:spPr>
      </p:sp>
      <p:sp>
        <p:nvSpPr>
          <p:cNvPr id="14" name="Text 10"/>
          <p:cNvSpPr txBox="1"/>
          <p:nvPr/>
        </p:nvSpPr>
        <p:spPr>
          <a:xfrm>
            <a:off x="2514600" y="5230368"/>
            <a:ext cx="868680" cy="274320"/>
          </a:xfrm>
          <a:prstGeom prst="rect">
            <a:avLst/>
          </a:prstGeom>
          <a:noFill/>
          <a:ln/>
        </p:spPr>
        <p:txBody>
          <a:bodyPr wrap="square" lIns="0" tIns="0" rIns="0" bIns="0" rtlCol="0" anchor="t"/>
          <a:lstStyle/>
          <a:p>
            <a:pPr algn="ctr" indent="0" marL="0">
              <a:buNone/>
            </a:pPr>
            <a:r>
              <a:rPr lang="en-IE" sz="1200" i="1" dirty="0">
                <a:solidFill>
                  <a:schemeClr val="tx2"/>
                </a:solidFill>
              </a:rPr>
              <a:t>uses</a:t>
            </a:r>
            <a:endParaRPr lang="en-IE" sz="1200" dirty="0"/>
          </a:p>
        </p:txBody>
      </p:sp>
      <p:pic>
        <p:nvPicPr>
          <p:cNvPr id="15" name="Module icon" descr="Module icon">    </p:cNvPr>
          <p:cNvPicPr>
            <a:picLocks noChangeAspect="1"/>
          </p:cNvPicPr>
          <p:nvPr/>
        </p:nvPicPr>
        <p:blipFill>
          <a:blip r:embed="rId2"/>
          <a:stretch>
            <a:fillRect/>
          </a:stretch>
        </p:blipFill>
        <p:spPr>
          <a:xfrm>
            <a:off x="3520440" y="5303520"/>
            <a:ext cx="502920" cy="502920"/>
          </a:xfrm>
          <a:prstGeom prst="rect">
            <a:avLst/>
          </a:prstGeom>
        </p:spPr>
      </p:pic>
      <p:sp>
        <p:nvSpPr>
          <p:cNvPr id="16" name="Text 11"/>
          <p:cNvSpPr txBox="1"/>
          <p:nvPr/>
        </p:nvSpPr>
        <p:spPr>
          <a:xfrm>
            <a:off x="4069080" y="5303520"/>
            <a:ext cx="1280160" cy="502920"/>
          </a:xfrm>
          <a:prstGeom prst="rect">
            <a:avLst/>
          </a:prstGeom>
          <a:noFill/>
          <a:ln/>
        </p:spPr>
        <p:txBody>
          <a:bodyPr wrap="square" lIns="0" tIns="0" rIns="0" bIns="0" rtlCol="0" anchor="ctr"/>
          <a:lstStyle/>
          <a:p>
            <a:pPr indent="0" marL="0">
              <a:buNone/>
            </a:pPr>
            <a:r>
              <a:rPr lang="en-IE" sz="1500" b="1" dirty="0">
                <a:solidFill>
                  <a:schemeClr val="tx1"/>
                </a:solidFill>
              </a:rPr>
              <a:t>Module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a:t>
            </a:fld>
            <a:endParaRPr lang="en-I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3</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Dependency</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a:t>
            </a:r>
            <a:r>
              <a:rPr lang="en-IE" sz="2800" b="1" dirty="0">
                <a:solidFill>
                  <a:schemeClr val="accent2"/>
                </a:solidFill>
                <a:latin typeface="Consolas" pitchFamily="34" charset="0"/>
                <a:ea typeface="Consolas" pitchFamily="34" charset="-122"/>
                <a:cs typeface="Consolas" pitchFamily="34" charset="-120"/>
              </a:rPr>
              <a:t>compareModule(Module module)</a:t>
            </a:r>
            <a:r>
              <a:rPr lang="en-IE" sz="2800" b="1" dirty="0">
                <a:solidFill>
                  <a:schemeClr val="tx1"/>
                </a:solidFill>
              </a:rPr>
              <a:t>, how long does the Student object have the Module?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For the whole life of the Student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Forever, because the Module is copied into Student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Until the whole program ends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while compareModule() is running</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11</a:t>
            </a:fld>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3</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Dependency</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a:t>
            </a:r>
            <a:r>
              <a:rPr lang="en-IE" sz="2000" b="1" dirty="0">
                <a:solidFill>
                  <a:schemeClr val="tx2"/>
                </a:solidFill>
                <a:latin typeface="Consolas" pitchFamily="34" charset="0"/>
                <a:ea typeface="Consolas" pitchFamily="34" charset="-122"/>
                <a:cs typeface="Consolas" pitchFamily="34" charset="-120"/>
              </a:rPr>
              <a:t>compareModule(Module module)</a:t>
            </a:r>
            <a:r>
              <a:rPr lang="en-IE" sz="2000" b="1" dirty="0">
                <a:solidFill>
                  <a:schemeClr val="tx2"/>
                </a:solidFill>
              </a:rPr>
              <a:t>, how long does the Student object have the Module?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For the whole life of the Student object</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Forever, because the Module is copied into Student</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Until the whole program ends</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Only while compareModule() is running</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Module is a parameter, so Student only has it while the method runs. Nothing is saved in an attribute. That is what makes it a dependency: Student needs the Module for one job, and the Module normally exists on its own.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12</a:t>
            </a:fld>
            <a:endParaRPr lang="en-I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Aggregation</a:t>
            </a:r>
            <a:endParaRPr lang="en-IE" sz="3400" dirty="0"/>
          </a:p>
        </p:txBody>
      </p:sp>
      <p:sp>
        <p:nvSpPr>
          <p:cNvPr id="5" name="Text 2"/>
          <p:cNvSpPr txBox="1"/>
          <p:nvPr/>
        </p:nvSpPr>
        <p:spPr>
          <a:xfrm>
            <a:off x="548640" y="1783080"/>
            <a:ext cx="4937760" cy="274320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Aggregation is a “has-a” relationship.</a:t>
            </a:r>
            <a:endParaRPr lang="en-IE" sz="1900" dirty="0"/>
          </a:p>
          <a:p>
            <a:pPr marL="228600" indent="-228600">
              <a:spcAft>
                <a:spcPts val="1400"/>
              </a:spcAft>
              <a:buSzPct val="100000"/>
              <a:buChar char="•"/>
            </a:pPr>
            <a:r>
              <a:rPr lang="en-IE" sz="1900" dirty="0">
                <a:solidFill>
                  <a:schemeClr val="tx1"/>
                </a:solidFill>
              </a:rPr>
              <a:t>A class contains an object of another class, but isn’t its only owner.</a:t>
            </a:r>
            <a:endParaRPr lang="en-IE" sz="1900" dirty="0"/>
          </a:p>
          <a:p>
            <a:pPr marL="228600" indent="-228600">
              <a:buSzPct val="100000"/>
              <a:buChar char="•"/>
            </a:pPr>
            <a:r>
              <a:rPr lang="en-IE" sz="1900" dirty="0">
                <a:solidFill>
                  <a:schemeClr val="tx1"/>
                </a:solidFill>
              </a:rPr>
              <a:t>A Student has a University. A Teacher may have the same University.</a:t>
            </a:r>
            <a:endParaRPr lang="en-IE" sz="1900" dirty="0"/>
          </a:p>
        </p:txBody>
      </p:sp>
      <p:sp>
        <p:nvSpPr>
          <p:cNvPr id="6" name="Note"/>
          <p:cNvSpPr/>
          <p:nvPr/>
        </p:nvSpPr>
        <p:spPr>
          <a:xfrm>
            <a:off x="548640" y="4983480"/>
            <a:ext cx="4937760" cy="1005840"/>
          </a:xfrm>
          <a:prstGeom prst="roundRect">
            <a:avLst>
              <a:gd name="adj" fmla="val 10909"/>
            </a:avLst>
          </a:prstGeom>
          <a:solidFill>
            <a:schemeClr val="bg2"/>
          </a:solidFill>
          <a:ln/>
        </p:spPr>
      </p:sp>
      <p:sp>
        <p:nvSpPr>
          <p:cNvPr id="7" name="Icon tile"/>
          <p:cNvSpPr/>
          <p:nvPr/>
        </p:nvSpPr>
        <p:spPr>
          <a:xfrm>
            <a:off x="822960" y="5221224"/>
            <a:ext cx="530352" cy="530352"/>
          </a:xfrm>
          <a:prstGeom prst="roundRect">
            <a:avLst>
              <a:gd name="adj" fmla="val 24000"/>
            </a:avLst>
          </a:prstGeom>
          <a:solidFill>
            <a:schemeClr val="accent3">
              <a:alpha val="14000"/>
            </a:schemeClr>
          </a:solidFill>
          <a:ln/>
        </p:spPr>
      </p:sp>
      <p:pic>
        <p:nvPicPr>
          <p:cNvPr id="8" name="share network icon" descr="share network icon">    </p:cNvPr>
          <p:cNvPicPr>
            <a:picLocks noChangeAspect="1"/>
          </p:cNvPicPr>
          <p:nvPr/>
        </p:nvPicPr>
        <p:blipFill>
          <a:blip r:embed="rId1"/>
          <a:stretch>
            <a:fillRect/>
          </a:stretch>
        </p:blipFill>
        <p:spPr>
          <a:xfrm>
            <a:off x="934334" y="5332598"/>
            <a:ext cx="307604" cy="307604"/>
          </a:xfrm>
          <a:prstGeom prst="rect">
            <a:avLst/>
          </a:prstGeom>
        </p:spPr>
      </p:pic>
      <p:sp>
        <p:nvSpPr>
          <p:cNvPr id="9" name="Text 5"/>
          <p:cNvSpPr txBox="1"/>
          <p:nvPr/>
        </p:nvSpPr>
        <p:spPr>
          <a:xfrm>
            <a:off x="1572768" y="4983480"/>
            <a:ext cx="3657600" cy="1005840"/>
          </a:xfrm>
          <a:prstGeom prst="rect">
            <a:avLst/>
          </a:prstGeom>
          <a:noFill/>
          <a:ln/>
        </p:spPr>
        <p:txBody>
          <a:bodyPr wrap="square" lIns="0" tIns="0" rIns="0" bIns="0" rtlCol="0" anchor="ctr"/>
          <a:lstStyle/>
          <a:p>
            <a:pPr indent="0" marL="0">
              <a:buNone/>
            </a:pPr>
            <a:r>
              <a:rPr lang="en-IE" sz="1700" dirty="0">
                <a:solidFill>
                  <a:schemeClr val="tx1"/>
                </a:solidFill>
              </a:rPr>
              <a:t>The University is </a:t>
            </a:r>
            <a:r>
              <a:rPr lang="en-IE" sz="1700" b="1" dirty="0">
                <a:solidFill>
                  <a:schemeClr val="tx1"/>
                </a:solidFill>
              </a:rPr>
              <a:t>shared</a:t>
            </a:r>
            <a:r>
              <a:rPr lang="en-IE" sz="1700" dirty="0">
                <a:solidFill>
                  <a:schemeClr val="tx1"/>
                </a:solidFill>
              </a:rPr>
              <a:t>, so no single object owns it.</a:t>
            </a:r>
            <a:endParaRPr lang="en-IE" sz="1700" dirty="0"/>
          </a:p>
        </p:txBody>
      </p:sp>
      <p:sp>
        <p:nvSpPr>
          <p:cNvPr id="10" name="Tile Student"/>
          <p:cNvSpPr/>
          <p:nvPr/>
        </p:nvSpPr>
        <p:spPr>
          <a:xfrm>
            <a:off x="6126480" y="1965960"/>
            <a:ext cx="2011680" cy="1234440"/>
          </a:xfrm>
          <a:prstGeom prst="roundRect">
            <a:avLst>
              <a:gd name="adj" fmla="val 8889"/>
            </a:avLst>
          </a:prstGeom>
          <a:solidFill>
            <a:schemeClr val="bg1"/>
          </a:solidFill>
          <a:ln/>
          <a:effectLst>
            <a:outerShdw sx="100000" sy="100000" kx="0" ky="0" algn="bl" rotWithShape="0" blurRad="76200" dist="19050" dir="5400000">
              <a:srgbClr val="1D2433">
                <a:alpha val="8000"/>
              </a:srgbClr>
            </a:outerShdw>
          </a:effectLst>
        </p:spPr>
      </p:sp>
      <p:pic>
        <p:nvPicPr>
          <p:cNvPr id="11" name="Student icon" descr="Student icon">    </p:cNvPr>
          <p:cNvPicPr>
            <a:picLocks noChangeAspect="1"/>
          </p:cNvPicPr>
          <p:nvPr/>
        </p:nvPicPr>
        <p:blipFill>
          <a:blip r:embed="rId2"/>
          <a:stretch>
            <a:fillRect/>
          </a:stretch>
        </p:blipFill>
        <p:spPr>
          <a:xfrm>
            <a:off x="6894576" y="2112264"/>
            <a:ext cx="475488" cy="475488"/>
          </a:xfrm>
          <a:prstGeom prst="rect">
            <a:avLst/>
          </a:prstGeom>
        </p:spPr>
      </p:pic>
      <p:sp>
        <p:nvSpPr>
          <p:cNvPr id="12" name="Text 7"/>
          <p:cNvSpPr txBox="1"/>
          <p:nvPr/>
        </p:nvSpPr>
        <p:spPr>
          <a:xfrm>
            <a:off x="6172200" y="2624328"/>
            <a:ext cx="1920240" cy="292608"/>
          </a:xfrm>
          <a:prstGeom prst="rect">
            <a:avLst/>
          </a:prstGeom>
          <a:noFill/>
          <a:ln/>
        </p:spPr>
        <p:txBody>
          <a:bodyPr wrap="square" lIns="0" tIns="0" rIns="0" bIns="0" rtlCol="0" anchor="ctr"/>
          <a:lstStyle/>
          <a:p>
            <a:pPr algn="ctr" indent="0" marL="0">
              <a:buNone/>
            </a:pPr>
            <a:r>
              <a:rPr lang="en-IE" sz="1400" b="1" dirty="0">
                <a:solidFill>
                  <a:schemeClr val="tx1"/>
                </a:solidFill>
              </a:rPr>
              <a:t>Student</a:t>
            </a:r>
            <a:endParaRPr lang="en-IE" sz="1400" dirty="0"/>
          </a:p>
        </p:txBody>
      </p:sp>
      <p:sp>
        <p:nvSpPr>
          <p:cNvPr id="13" name="Tile Teacher"/>
          <p:cNvSpPr/>
          <p:nvPr/>
        </p:nvSpPr>
        <p:spPr>
          <a:xfrm>
            <a:off x="9372600" y="1965960"/>
            <a:ext cx="2011680" cy="1234440"/>
          </a:xfrm>
          <a:prstGeom prst="roundRect">
            <a:avLst>
              <a:gd name="adj" fmla="val 8889"/>
            </a:avLst>
          </a:prstGeom>
          <a:solidFill>
            <a:schemeClr val="bg1"/>
          </a:solidFill>
          <a:ln/>
          <a:effectLst>
            <a:outerShdw sx="100000" sy="100000" kx="0" ky="0" algn="bl" rotWithShape="0" blurRad="76200" dist="19050" dir="5400000">
              <a:srgbClr val="1D2433">
                <a:alpha val="8000"/>
              </a:srgbClr>
            </a:outerShdw>
          </a:effectLst>
        </p:spPr>
      </p:sp>
      <p:pic>
        <p:nvPicPr>
          <p:cNvPr id="14" name="Teacher icon" descr="Teacher icon">    </p:cNvPr>
          <p:cNvPicPr>
            <a:picLocks noChangeAspect="1"/>
          </p:cNvPicPr>
          <p:nvPr/>
        </p:nvPicPr>
        <p:blipFill>
          <a:blip r:embed="rId3"/>
          <a:stretch>
            <a:fillRect/>
          </a:stretch>
        </p:blipFill>
        <p:spPr>
          <a:xfrm>
            <a:off x="10140696" y="2112264"/>
            <a:ext cx="475488" cy="475488"/>
          </a:xfrm>
          <a:prstGeom prst="rect">
            <a:avLst/>
          </a:prstGeom>
        </p:spPr>
      </p:pic>
      <p:sp>
        <p:nvSpPr>
          <p:cNvPr id="15" name="Text 9"/>
          <p:cNvSpPr txBox="1"/>
          <p:nvPr/>
        </p:nvSpPr>
        <p:spPr>
          <a:xfrm>
            <a:off x="9418320" y="2624328"/>
            <a:ext cx="1920240" cy="292608"/>
          </a:xfrm>
          <a:prstGeom prst="rect">
            <a:avLst/>
          </a:prstGeom>
          <a:noFill/>
          <a:ln/>
        </p:spPr>
        <p:txBody>
          <a:bodyPr wrap="square" lIns="0" tIns="0" rIns="0" bIns="0" rtlCol="0" anchor="ctr"/>
          <a:lstStyle/>
          <a:p>
            <a:pPr algn="ctr" indent="0" marL="0">
              <a:buNone/>
            </a:pPr>
            <a:r>
              <a:rPr lang="en-IE" sz="1400" b="1" dirty="0">
                <a:solidFill>
                  <a:schemeClr val="tx1"/>
                </a:solidFill>
              </a:rPr>
              <a:t>Teacher</a:t>
            </a:r>
            <a:endParaRPr lang="en-IE" sz="1400" dirty="0"/>
          </a:p>
        </p:txBody>
      </p:sp>
      <p:sp>
        <p:nvSpPr>
          <p:cNvPr id="16" name="Tile University"/>
          <p:cNvSpPr/>
          <p:nvPr/>
        </p:nvSpPr>
        <p:spPr>
          <a:xfrm>
            <a:off x="7726680" y="4434840"/>
            <a:ext cx="2011680" cy="1325880"/>
          </a:xfrm>
          <a:prstGeom prst="roundRect">
            <a:avLst>
              <a:gd name="adj" fmla="val 8276"/>
            </a:avLst>
          </a:prstGeom>
          <a:solidFill>
            <a:schemeClr val="bg1"/>
          </a:solidFill>
          <a:ln/>
          <a:effectLst>
            <a:outerShdw sx="100000" sy="100000" kx="0" ky="0" algn="bl" rotWithShape="0" blurRad="76200" dist="19050" dir="5400000">
              <a:srgbClr val="1D2433">
                <a:alpha val="8000"/>
              </a:srgbClr>
            </a:outerShdw>
          </a:effectLst>
        </p:spPr>
      </p:sp>
      <p:pic>
        <p:nvPicPr>
          <p:cNvPr id="17" name="University icon" descr="University icon">    </p:cNvPr>
          <p:cNvPicPr>
            <a:picLocks noChangeAspect="1"/>
          </p:cNvPicPr>
          <p:nvPr/>
        </p:nvPicPr>
        <p:blipFill>
          <a:blip r:embed="rId4"/>
          <a:stretch>
            <a:fillRect/>
          </a:stretch>
        </p:blipFill>
        <p:spPr>
          <a:xfrm>
            <a:off x="8494776" y="4581144"/>
            <a:ext cx="475488" cy="475488"/>
          </a:xfrm>
          <a:prstGeom prst="rect">
            <a:avLst/>
          </a:prstGeom>
        </p:spPr>
      </p:pic>
      <p:sp>
        <p:nvSpPr>
          <p:cNvPr id="18" name="Text 11"/>
          <p:cNvSpPr txBox="1"/>
          <p:nvPr/>
        </p:nvSpPr>
        <p:spPr>
          <a:xfrm>
            <a:off x="7772400" y="5093208"/>
            <a:ext cx="1920240" cy="292608"/>
          </a:xfrm>
          <a:prstGeom prst="rect">
            <a:avLst/>
          </a:prstGeom>
          <a:noFill/>
          <a:ln/>
        </p:spPr>
        <p:txBody>
          <a:bodyPr wrap="square" lIns="0" tIns="0" rIns="0" bIns="0" rtlCol="0" anchor="ctr"/>
          <a:lstStyle/>
          <a:p>
            <a:pPr algn="ctr" indent="0" marL="0">
              <a:buNone/>
            </a:pPr>
            <a:r>
              <a:rPr lang="en-IE" sz="1400" b="1" dirty="0">
                <a:solidFill>
                  <a:schemeClr val="tx1"/>
                </a:solidFill>
              </a:rPr>
              <a:t>University</a:t>
            </a:r>
            <a:endParaRPr lang="en-IE" sz="1400" dirty="0"/>
          </a:p>
        </p:txBody>
      </p:sp>
      <p:sp>
        <p:nvSpPr>
          <p:cNvPr id="19" name="Text 12"/>
          <p:cNvSpPr txBox="1"/>
          <p:nvPr/>
        </p:nvSpPr>
        <p:spPr>
          <a:xfrm>
            <a:off x="7772400" y="5486400"/>
            <a:ext cx="1920240" cy="219456"/>
          </a:xfrm>
          <a:prstGeom prst="rect">
            <a:avLst/>
          </a:prstGeom>
          <a:noFill/>
          <a:ln/>
        </p:spPr>
        <p:txBody>
          <a:bodyPr wrap="square" lIns="0" tIns="0" rIns="0" bIns="0" rtlCol="0" anchor="t"/>
          <a:lstStyle/>
          <a:p>
            <a:pPr algn="ctr" indent="0" marL="0">
              <a:buNone/>
            </a:pPr>
            <a:r>
              <a:rPr lang="en-IE" sz="1100" i="1" dirty="0">
                <a:solidFill>
                  <a:schemeClr val="tx2"/>
                </a:solidFill>
              </a:rPr>
              <a:t>one object</a:t>
            </a:r>
            <a:endParaRPr lang="en-IE" sz="1100" dirty="0"/>
          </a:p>
        </p:txBody>
      </p:sp>
      <p:sp>
        <p:nvSpPr>
          <p:cNvPr id="20" name="Connector"/>
          <p:cNvSpPr/>
          <p:nvPr/>
        </p:nvSpPr>
        <p:spPr>
          <a:xfrm>
            <a:off x="7132320" y="3255264"/>
            <a:ext cx="914400" cy="1124712"/>
          </a:xfrm>
          <a:prstGeom prst="line">
            <a:avLst/>
          </a:prstGeom>
          <a:noFill/>
          <a:ln w="25400">
            <a:solidFill>
              <a:schemeClr val="accent3"/>
            </a:solidFill>
            <a:prstDash val="solid"/>
            <a:tailEnd type="triangle"/>
          </a:ln>
        </p:spPr>
      </p:sp>
      <p:sp>
        <p:nvSpPr>
          <p:cNvPr id="21" name="Connector"/>
          <p:cNvSpPr/>
          <p:nvPr/>
        </p:nvSpPr>
        <p:spPr>
          <a:xfrm flipH="1">
            <a:off x="9418320" y="3255264"/>
            <a:ext cx="960120" cy="1124712"/>
          </a:xfrm>
          <a:prstGeom prst="line">
            <a:avLst/>
          </a:prstGeom>
          <a:noFill/>
          <a:ln w="25400">
            <a:solidFill>
              <a:schemeClr val="accent3"/>
            </a:solidFill>
            <a:prstDash val="solid"/>
            <a:tailEnd type="triangle"/>
          </a:ln>
        </p:spPr>
      </p:sp>
      <p:sp>
        <p:nvSpPr>
          <p:cNvPr id="22" name="Text 15"/>
          <p:cNvSpPr txBox="1"/>
          <p:nvPr/>
        </p:nvSpPr>
        <p:spPr>
          <a:xfrm>
            <a:off x="6537960" y="3611880"/>
            <a:ext cx="1097280" cy="274320"/>
          </a:xfrm>
          <a:prstGeom prst="rect">
            <a:avLst/>
          </a:prstGeom>
          <a:noFill/>
          <a:ln/>
        </p:spPr>
        <p:txBody>
          <a:bodyPr wrap="square" lIns="0" tIns="0" rIns="0" bIns="0" rtlCol="0" anchor="t"/>
          <a:lstStyle/>
          <a:p>
            <a:pPr algn="ctr" indent="0" marL="0">
              <a:buNone/>
            </a:pPr>
            <a:r>
              <a:rPr lang="en-IE" sz="1300" i="1" dirty="0">
                <a:solidFill>
                  <a:schemeClr val="tx2"/>
                </a:solidFill>
              </a:rPr>
              <a:t>has a</a:t>
            </a:r>
            <a:endParaRPr lang="en-IE" sz="1300" dirty="0"/>
          </a:p>
        </p:txBody>
      </p:sp>
      <p:sp>
        <p:nvSpPr>
          <p:cNvPr id="23" name="Text 16"/>
          <p:cNvSpPr txBox="1"/>
          <p:nvPr/>
        </p:nvSpPr>
        <p:spPr>
          <a:xfrm>
            <a:off x="9829800" y="3611880"/>
            <a:ext cx="1097280" cy="274320"/>
          </a:xfrm>
          <a:prstGeom prst="rect">
            <a:avLst/>
          </a:prstGeom>
          <a:noFill/>
          <a:ln/>
        </p:spPr>
        <p:txBody>
          <a:bodyPr wrap="square" lIns="0" tIns="0" rIns="0" bIns="0" rtlCol="0" anchor="t"/>
          <a:lstStyle/>
          <a:p>
            <a:pPr algn="ctr" indent="0" marL="0">
              <a:buNone/>
            </a:pPr>
            <a:r>
              <a:rPr lang="en-IE" sz="1300" i="1" dirty="0">
                <a:solidFill>
                  <a:schemeClr val="tx2"/>
                </a:solidFill>
              </a:rPr>
              <a:t>has a</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13</a:t>
            </a:fld>
            <a:endParaRPr lang="en-I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Aggregation in code</a:t>
            </a:r>
            <a:endParaRPr lang="en-IE" sz="3400" dirty="0"/>
          </a:p>
        </p:txBody>
      </p:sp>
      <p:sp>
        <p:nvSpPr>
          <p:cNvPr id="5" name="University class card"/>
          <p:cNvSpPr/>
          <p:nvPr/>
        </p:nvSpPr>
        <p:spPr>
          <a:xfrm>
            <a:off x="548640" y="1737360"/>
            <a:ext cx="5577840" cy="3358388"/>
          </a:xfrm>
          <a:prstGeom prst="roundRect">
            <a:avLst>
              <a:gd name="adj" fmla="val 3267"/>
            </a:avLst>
          </a:prstGeom>
          <a:solidFill>
            <a:schemeClr val="tx1"/>
          </a:solidFill>
          <a:ln/>
          <a:effectLst>
            <a:outerShdw sx="100000" sy="100000" kx="0" ky="0" algn="bl" rotWithShape="0" blurRad="114300" dist="31750" dir="5400000">
              <a:srgbClr val="1D2433">
                <a:alpha val="12000"/>
              </a:srgbClr>
            </a:outerShdw>
          </a:effectLst>
        </p:spPr>
      </p:sp>
      <p:sp>
        <p:nvSpPr>
          <p:cNvPr id="6" name="University class language"/>
          <p:cNvSpPr txBox="1"/>
          <p:nvPr/>
        </p:nvSpPr>
        <p:spPr>
          <a:xfrm>
            <a:off x="822960" y="1856232"/>
            <a:ext cx="50292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University class text"/>
          <p:cNvSpPr txBox="1"/>
          <p:nvPr/>
        </p:nvSpPr>
        <p:spPr>
          <a:xfrm>
            <a:off x="822960" y="2231136"/>
            <a:ext cx="5029200" cy="2663444"/>
          </a:xfrm>
          <a:prstGeom prst="rect">
            <a:avLst/>
          </a:prstGeom>
          <a:noFill/>
          <a:ln/>
        </p:spPr>
        <p:txBody>
          <a:bodyPr wrap="square" lIns="0" tIns="0" rIns="0" bIns="0" rtlCol="0" anchor="t"/>
          <a:lstStyle/>
          <a:p>
            <a:pPr indent="0" marL="0">
              <a:lnSpc>
                <a:spcPts val="1580"/>
              </a:lnSpc>
              <a:buNone/>
            </a:pPr>
            <a:r>
              <a:rPr lang="en-IE" sz="1200" dirty="0">
                <a:solidFill>
                  <a:srgbClr val="FF9F5A"/>
                </a:solidFill>
                <a:latin typeface="Consolas" pitchFamily="34" charset="0"/>
                <a:ea typeface="Consolas" pitchFamily="34" charset="-122"/>
                <a:cs typeface="Consolas" pitchFamily="34" charset="-120"/>
              </a:rPr>
              <a:t>class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University</a:t>
            </a: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address;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University</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address)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.name = name;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.address = address;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getAddress</a:t>
            </a: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return</a:t>
            </a:r>
            <a:r>
              <a:rPr lang="en-IE" sz="1200" dirty="0">
                <a:solidFill>
                  <a:srgbClr val="E6EBF2"/>
                </a:solidFill>
                <a:latin typeface="Consolas" pitchFamily="34" charset="0"/>
                <a:ea typeface="Consolas" pitchFamily="34" charset="-122"/>
                <a:cs typeface="Consolas" pitchFamily="34" charset="-120"/>
              </a:rPr>
              <a:t> address;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a:t>
            </a:r>
            <a:endParaRPr lang="en-IE" sz="1200" dirty="0"/>
          </a:p>
        </p:txBody>
      </p:sp>
      <p:sp>
        <p:nvSpPr>
          <p:cNvPr id="8" name="Student class card"/>
          <p:cNvSpPr/>
          <p:nvPr/>
        </p:nvSpPr>
        <p:spPr>
          <a:xfrm>
            <a:off x="6400800" y="1737360"/>
            <a:ext cx="5242255" cy="1813560"/>
          </a:xfrm>
          <a:prstGeom prst="roundRect">
            <a:avLst>
              <a:gd name="adj" fmla="val 6050"/>
            </a:avLst>
          </a:prstGeom>
          <a:solidFill>
            <a:schemeClr val="tx1"/>
          </a:solidFill>
          <a:ln/>
          <a:effectLst>
            <a:outerShdw sx="100000" sy="100000" kx="0" ky="0" algn="bl" rotWithShape="0" blurRad="114300" dist="31750" dir="5400000">
              <a:srgbClr val="1D2433">
                <a:alpha val="12000"/>
              </a:srgbClr>
            </a:outerShdw>
          </a:effectLst>
        </p:spPr>
      </p:sp>
      <p:sp>
        <p:nvSpPr>
          <p:cNvPr id="9" name="Student class text"/>
          <p:cNvSpPr txBox="1"/>
          <p:nvPr/>
        </p:nvSpPr>
        <p:spPr>
          <a:xfrm>
            <a:off x="6675120" y="1938528"/>
            <a:ext cx="4693615" cy="141122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Student</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University</a:t>
            </a:r>
            <a:r>
              <a:rPr lang="en-IE" sz="1350" dirty="0">
                <a:solidFill>
                  <a:srgbClr val="E6EBF2"/>
                </a:solidFill>
                <a:latin typeface="Consolas" pitchFamily="34" charset="0"/>
                <a:ea typeface="Consolas" pitchFamily="34" charset="-122"/>
                <a:cs typeface="Consolas" pitchFamily="34" charset="-120"/>
              </a:rPr>
              <a:t> university;</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Student</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University</a:t>
            </a:r>
            <a:r>
              <a:rPr lang="en-IE" sz="1350" dirty="0">
                <a:solidFill>
                  <a:srgbClr val="E6EBF2"/>
                </a:solidFill>
                <a:latin typeface="Consolas" pitchFamily="34" charset="0"/>
                <a:ea typeface="Consolas" pitchFamily="34" charset="-122"/>
                <a:cs typeface="Consolas" pitchFamily="34" charset="-120"/>
              </a:rPr>
              <a:t> university)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.university = university;</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0" name="Teacher class card"/>
          <p:cNvSpPr/>
          <p:nvPr/>
        </p:nvSpPr>
        <p:spPr>
          <a:xfrm>
            <a:off x="6400800" y="3825240"/>
            <a:ext cx="5242255" cy="1813560"/>
          </a:xfrm>
          <a:prstGeom prst="roundRect">
            <a:avLst>
              <a:gd name="adj" fmla="val 6050"/>
            </a:avLst>
          </a:prstGeom>
          <a:solidFill>
            <a:schemeClr val="tx1"/>
          </a:solidFill>
          <a:ln/>
          <a:effectLst>
            <a:outerShdw sx="100000" sy="100000" kx="0" ky="0" algn="bl" rotWithShape="0" blurRad="114300" dist="31750" dir="5400000">
              <a:srgbClr val="1D2433">
                <a:alpha val="12000"/>
              </a:srgbClr>
            </a:outerShdw>
          </a:effectLst>
        </p:spPr>
      </p:sp>
      <p:sp>
        <p:nvSpPr>
          <p:cNvPr id="11" name="Teacher class text"/>
          <p:cNvSpPr txBox="1"/>
          <p:nvPr/>
        </p:nvSpPr>
        <p:spPr>
          <a:xfrm>
            <a:off x="6675120" y="4026408"/>
            <a:ext cx="4693615" cy="141122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Teacher</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University</a:t>
            </a:r>
            <a:r>
              <a:rPr lang="en-IE" sz="1350" dirty="0">
                <a:solidFill>
                  <a:srgbClr val="E6EBF2"/>
                </a:solidFill>
                <a:latin typeface="Consolas" pitchFamily="34" charset="0"/>
                <a:ea typeface="Consolas" pitchFamily="34" charset="-122"/>
                <a:cs typeface="Consolas" pitchFamily="34" charset="-120"/>
              </a:rPr>
              <a:t> college;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Teacher</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University</a:t>
            </a:r>
            <a:r>
              <a:rPr lang="en-IE" sz="1350" dirty="0">
                <a:solidFill>
                  <a:srgbClr val="E6EBF2"/>
                </a:solidFill>
                <a:latin typeface="Consolas" pitchFamily="34" charset="0"/>
                <a:ea typeface="Consolas" pitchFamily="34" charset="-122"/>
                <a:cs typeface="Consolas" pitchFamily="34" charset="-120"/>
              </a:rPr>
              <a:t> college)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.college = college;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2" name="Text 9"/>
          <p:cNvSpPr txBox="1"/>
          <p:nvPr/>
        </p:nvSpPr>
        <p:spPr>
          <a:xfrm>
            <a:off x="548640" y="5669280"/>
            <a:ext cx="5577840" cy="457200"/>
          </a:xfrm>
          <a:prstGeom prst="rect">
            <a:avLst/>
          </a:prstGeom>
          <a:noFill/>
          <a:ln/>
        </p:spPr>
        <p:txBody>
          <a:bodyPr wrap="square" lIns="0" tIns="0" rIns="0" bIns="0" rtlCol="0" anchor="t"/>
          <a:lstStyle/>
          <a:p>
            <a:pPr indent="0" marL="0">
              <a:buNone/>
            </a:pPr>
            <a:r>
              <a:rPr lang="en-IE" sz="1500" i="1" dirty="0">
                <a:solidFill>
                  <a:schemeClr val="tx2"/>
                </a:solidFill>
              </a:rPr>
              <a:t>Both keep a University attribute, and both receive it through the constructor.</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14</a:t>
            </a:fld>
            <a:endParaRPr lang="en-I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Created outside, passed in</a:t>
            </a:r>
            <a:endParaRPr lang="en-IE" sz="3400" dirty="0"/>
          </a:p>
        </p:txBody>
      </p:sp>
      <p:sp>
        <p:nvSpPr>
          <p:cNvPr id="5" name="Passing the university in card"/>
          <p:cNvSpPr/>
          <p:nvPr/>
        </p:nvSpPr>
        <p:spPr>
          <a:xfrm>
            <a:off x="548640" y="1691640"/>
            <a:ext cx="4892040" cy="1661160"/>
          </a:xfrm>
          <a:prstGeom prst="roundRect">
            <a:avLst>
              <a:gd name="adj" fmla="val 6606"/>
            </a:avLst>
          </a:prstGeom>
          <a:solidFill>
            <a:schemeClr val="tx1"/>
          </a:solidFill>
          <a:ln/>
          <a:effectLst>
            <a:outerShdw sx="100000" sy="100000" kx="0" ky="0" algn="bl" rotWithShape="0" blurRad="114300" dist="31750" dir="5400000">
              <a:srgbClr val="1D2433">
                <a:alpha val="12000"/>
              </a:srgbClr>
            </a:outerShdw>
          </a:effectLst>
        </p:spPr>
      </p:sp>
      <p:sp>
        <p:nvSpPr>
          <p:cNvPr id="6" name="Passing the university in text"/>
          <p:cNvSpPr txBox="1"/>
          <p:nvPr/>
        </p:nvSpPr>
        <p:spPr>
          <a:xfrm>
            <a:off x="822960" y="1892808"/>
            <a:ext cx="4343400" cy="1258824"/>
          </a:xfrm>
          <a:prstGeom prst="rect">
            <a:avLst/>
          </a:prstGeom>
          <a:noFill/>
          <a:ln/>
        </p:spPr>
        <p:txBody>
          <a:bodyPr wrap="square" lIns="0" tIns="0" rIns="0" bIns="0" rtlCol="0" anchor="t"/>
          <a:lstStyle/>
          <a:p>
            <a:pPr indent="0" marL="0">
              <a:lnSpc>
                <a:spcPts val="1580"/>
              </a:lnSpc>
              <a:buNone/>
            </a:pPr>
            <a:r>
              <a:rPr lang="en-IE" sz="1200" dirty="0">
                <a:solidFill>
                  <a:srgbClr val="6CC4E8"/>
                </a:solidFill>
                <a:latin typeface="Consolas" pitchFamily="34" charset="0"/>
                <a:ea typeface="Consolas" pitchFamily="34" charset="-122"/>
                <a:cs typeface="Consolas" pitchFamily="34" charset="-120"/>
              </a:rPr>
              <a:t>University</a:t>
            </a:r>
            <a:r>
              <a:rPr lang="en-IE" sz="1200" dirty="0">
                <a:solidFill>
                  <a:srgbClr val="E6EBF2"/>
                </a:solidFill>
                <a:latin typeface="Consolas" pitchFamily="34" charset="0"/>
                <a:ea typeface="Consolas" pitchFamily="34" charset="-122"/>
                <a:cs typeface="Consolas" pitchFamily="34" charset="-120"/>
              </a:rPr>
              <a:t> university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University</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A9DB8C"/>
                </a:solidFill>
                <a:latin typeface="Consolas" pitchFamily="34" charset="0"/>
                <a:ea typeface="Consolas" pitchFamily="34" charset="-122"/>
                <a:cs typeface="Consolas" pitchFamily="34" charset="-120"/>
              </a:rPr>
              <a:t>"Griffith"</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A9DB8C"/>
                </a:solidFill>
                <a:latin typeface="Consolas" pitchFamily="34" charset="0"/>
                <a:ea typeface="Consolas" pitchFamily="34" charset="-122"/>
                <a:cs typeface="Consolas" pitchFamily="34" charset="-120"/>
              </a:rPr>
              <a:t>"South Circular Road"</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6CC4E8"/>
                </a:solidFill>
                <a:latin typeface="Consolas" pitchFamily="34" charset="0"/>
                <a:ea typeface="Consolas" pitchFamily="34" charset="-122"/>
                <a:cs typeface="Consolas" pitchFamily="34" charset="-120"/>
              </a:rPr>
              <a:t>Student</a:t>
            </a:r>
            <a:r>
              <a:rPr lang="en-IE" sz="1200" dirty="0">
                <a:solidFill>
                  <a:srgbClr val="E6EBF2"/>
                </a:solidFill>
                <a:latin typeface="Consolas" pitchFamily="34" charset="0"/>
                <a:ea typeface="Consolas" pitchFamily="34" charset="-122"/>
                <a:cs typeface="Consolas" pitchFamily="34" charset="-120"/>
              </a:rPr>
              <a:t> student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Student</a:t>
            </a:r>
            <a:r>
              <a:rPr lang="en-IE" sz="1200" dirty="0">
                <a:solidFill>
                  <a:srgbClr val="E6EBF2"/>
                </a:solidFill>
                <a:latin typeface="Consolas" pitchFamily="34" charset="0"/>
                <a:ea typeface="Consolas" pitchFamily="34" charset="-122"/>
                <a:cs typeface="Consolas" pitchFamily="34" charset="-120"/>
              </a:rPr>
              <a:t>(university);</a:t>
            </a:r>
            <a:endParaRPr lang="en-IE" sz="1200" dirty="0"/>
          </a:p>
          <a:p>
            <a:pPr indent="0" marL="0">
              <a:lnSpc>
                <a:spcPts val="1580"/>
              </a:lnSpc>
              <a:buNone/>
            </a:pPr>
            <a:r>
              <a:rPr lang="en-IE" sz="1200" dirty="0">
                <a:solidFill>
                  <a:srgbClr val="6CC4E8"/>
                </a:solidFill>
                <a:latin typeface="Consolas" pitchFamily="34" charset="0"/>
                <a:ea typeface="Consolas" pitchFamily="34" charset="-122"/>
                <a:cs typeface="Consolas" pitchFamily="34" charset="-120"/>
              </a:rPr>
              <a:t>Student</a:t>
            </a:r>
            <a:r>
              <a:rPr lang="en-IE" sz="1200" dirty="0">
                <a:solidFill>
                  <a:srgbClr val="E6EBF2"/>
                </a:solidFill>
                <a:latin typeface="Consolas" pitchFamily="34" charset="0"/>
                <a:ea typeface="Consolas" pitchFamily="34" charset="-122"/>
                <a:cs typeface="Consolas" pitchFamily="34" charset="-120"/>
              </a:rPr>
              <a:t> studentTwo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Student</a:t>
            </a:r>
            <a:r>
              <a:rPr lang="en-IE" sz="1200" dirty="0">
                <a:solidFill>
                  <a:srgbClr val="E6EBF2"/>
                </a:solidFill>
                <a:latin typeface="Consolas" pitchFamily="34" charset="0"/>
                <a:ea typeface="Consolas" pitchFamily="34" charset="-122"/>
                <a:cs typeface="Consolas" pitchFamily="34" charset="-120"/>
              </a:rPr>
              <a:t>(university);</a:t>
            </a:r>
            <a:endParaRPr lang="en-IE" sz="1200" dirty="0"/>
          </a:p>
          <a:p>
            <a:pPr indent="0" marL="0">
              <a:lnSpc>
                <a:spcPts val="1580"/>
              </a:lnSpc>
              <a:buNone/>
            </a:pPr>
            <a:r>
              <a:rPr lang="en-IE" sz="1200" dirty="0">
                <a:solidFill>
                  <a:srgbClr val="6CC4E8"/>
                </a:solidFill>
                <a:latin typeface="Consolas" pitchFamily="34" charset="0"/>
                <a:ea typeface="Consolas" pitchFamily="34" charset="-122"/>
                <a:cs typeface="Consolas" pitchFamily="34" charset="-120"/>
              </a:rPr>
              <a:t>Teacher</a:t>
            </a:r>
            <a:r>
              <a:rPr lang="en-IE" sz="1200" dirty="0">
                <a:solidFill>
                  <a:srgbClr val="E6EBF2"/>
                </a:solidFill>
                <a:latin typeface="Consolas" pitchFamily="34" charset="0"/>
                <a:ea typeface="Consolas" pitchFamily="34" charset="-122"/>
                <a:cs typeface="Consolas" pitchFamily="34" charset="-120"/>
              </a:rPr>
              <a:t> teacher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Teacher</a:t>
            </a:r>
            <a:r>
              <a:rPr lang="en-IE" sz="1200" dirty="0">
                <a:solidFill>
                  <a:srgbClr val="E6EBF2"/>
                </a:solidFill>
                <a:latin typeface="Consolas" pitchFamily="34" charset="0"/>
                <a:ea typeface="Consolas" pitchFamily="34" charset="-122"/>
                <a:cs typeface="Consolas" pitchFamily="34" charset="-120"/>
              </a:rPr>
              <a:t>(university);</a:t>
            </a:r>
            <a:endParaRPr lang="en-IE" sz="1200" dirty="0"/>
          </a:p>
        </p:txBody>
      </p:sp>
      <p:sp>
        <p:nvSpPr>
          <p:cNvPr id="7" name="Text 4"/>
          <p:cNvSpPr txBox="1"/>
          <p:nvPr/>
        </p:nvSpPr>
        <p:spPr>
          <a:xfrm>
            <a:off x="548640" y="3672840"/>
            <a:ext cx="4892040" cy="245364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The classes are not completely tied together.</a:t>
            </a:r>
            <a:endParaRPr lang="en-IE" sz="1700" dirty="0"/>
          </a:p>
          <a:p>
            <a:pPr marL="228600" indent="-228600">
              <a:spcAft>
                <a:spcPts val="1000"/>
              </a:spcAft>
              <a:buSzPct val="100000"/>
              <a:buChar char="•"/>
            </a:pPr>
            <a:r>
              <a:rPr lang="en-IE" sz="1700" dirty="0">
                <a:solidFill>
                  <a:schemeClr val="tx1"/>
                </a:solidFill>
              </a:rPr>
              <a:t>We create the University outside the classes and pass it in, so a second reference to it can exist.</a:t>
            </a:r>
            <a:endParaRPr lang="en-IE" sz="1700" dirty="0"/>
          </a:p>
          <a:p>
            <a:pPr marL="228600" indent="-228600">
              <a:buSzPct val="100000"/>
              <a:buChar char="•"/>
            </a:pPr>
            <a:r>
              <a:rPr lang="en-IE" sz="1700" dirty="0">
                <a:solidFill>
                  <a:schemeClr val="tx1"/>
                </a:solidFill>
              </a:rPr>
              <a:t>If we delete all the Student objects, we can still find the University in the Teacher.</a:t>
            </a:r>
            <a:endParaRPr lang="en-IE" sz="1700" dirty="0"/>
          </a:p>
        </p:txBody>
      </p:sp>
      <p:sp>
        <p:nvSpPr>
          <p:cNvPr id="8" name="Memory"/>
          <p:cNvSpPr/>
          <p:nvPr/>
        </p:nvSpPr>
        <p:spPr>
          <a:xfrm>
            <a:off x="5806440" y="1691640"/>
            <a:ext cx="5836615" cy="4434840"/>
          </a:xfrm>
          <a:prstGeom prst="roundRect">
            <a:avLst>
              <a:gd name="adj" fmla="val 3093"/>
            </a:avLst>
          </a:prstGeom>
          <a:solidFill>
            <a:schemeClr val="bg2"/>
          </a:solidFill>
          <a:ln w="12700">
            <a:solidFill>
              <a:schemeClr val="tx2"/>
            </a:solidFill>
            <a:prstDash val="dash"/>
          </a:ln>
        </p:spPr>
      </p:sp>
      <p:sp>
        <p:nvSpPr>
          <p:cNvPr id="9" name="Text 6"/>
          <p:cNvSpPr txBox="1"/>
          <p:nvPr/>
        </p:nvSpPr>
        <p:spPr>
          <a:xfrm>
            <a:off x="6035040" y="1801368"/>
            <a:ext cx="1828800" cy="256032"/>
          </a:xfrm>
          <a:prstGeom prst="rect">
            <a:avLst/>
          </a:prstGeom>
          <a:noFill/>
          <a:ln/>
        </p:spPr>
        <p:txBody>
          <a:bodyPr wrap="square" lIns="0" tIns="0" rIns="0" bIns="0" rtlCol="0" anchor="t"/>
          <a:lstStyle/>
          <a:p>
            <a:pPr indent="0" marL="0">
              <a:buNone/>
            </a:pPr>
            <a:r>
              <a:rPr lang="en-IE" sz="1100" b="1" spc="150" kern="0" dirty="0">
                <a:solidFill>
                  <a:schemeClr val="tx2"/>
                </a:solidFill>
              </a:rPr>
              <a:t>MEMORY</a:t>
            </a:r>
            <a:endParaRPr lang="en-IE" sz="1100" dirty="0"/>
          </a:p>
        </p:txBody>
      </p:sp>
      <p:sp>
        <p:nvSpPr>
          <p:cNvPr id="10" name="University object"/>
          <p:cNvSpPr/>
          <p:nvPr/>
        </p:nvSpPr>
        <p:spPr>
          <a:xfrm>
            <a:off x="9128455" y="3291840"/>
            <a:ext cx="2240280" cy="1234440"/>
          </a:xfrm>
          <a:prstGeom prst="roundRect">
            <a:avLst>
              <a:gd name="adj" fmla="val 7407"/>
            </a:avLst>
          </a:prstGeom>
          <a:solidFill>
            <a:schemeClr val="bg1"/>
          </a:solidFill>
          <a:ln w="22225">
            <a:solidFill>
              <a:schemeClr val="accent3"/>
            </a:solidFill>
            <a:prstDash val="solid"/>
          </a:ln>
          <a:effectLst>
            <a:outerShdw sx="100000" sy="100000" kx="0" ky="0" algn="bl" rotWithShape="0" blurRad="76200" dist="19050" dir="5400000">
              <a:srgbClr val="1D2433">
                <a:alpha val="8000"/>
              </a:srgbClr>
            </a:outerShdw>
          </a:effectLst>
        </p:spPr>
      </p:sp>
      <p:pic>
        <p:nvPicPr>
          <p:cNvPr id="11" name="University icon" descr="University icon">    </p:cNvPr>
          <p:cNvPicPr>
            <a:picLocks noChangeAspect="1"/>
          </p:cNvPicPr>
          <p:nvPr/>
        </p:nvPicPr>
        <p:blipFill>
          <a:blip r:embed="rId1"/>
          <a:stretch>
            <a:fillRect/>
          </a:stretch>
        </p:blipFill>
        <p:spPr>
          <a:xfrm>
            <a:off x="9311335" y="3474720"/>
            <a:ext cx="420624" cy="420624"/>
          </a:xfrm>
          <a:prstGeom prst="rect">
            <a:avLst/>
          </a:prstGeom>
        </p:spPr>
      </p:pic>
      <p:sp>
        <p:nvSpPr>
          <p:cNvPr id="12" name="Text 8"/>
          <p:cNvSpPr txBox="1"/>
          <p:nvPr/>
        </p:nvSpPr>
        <p:spPr>
          <a:xfrm>
            <a:off x="9814255" y="3456432"/>
            <a:ext cx="1463040" cy="457200"/>
          </a:xfrm>
          <a:prstGeom prst="rect">
            <a:avLst/>
          </a:prstGeom>
          <a:noFill/>
          <a:ln/>
        </p:spPr>
        <p:txBody>
          <a:bodyPr wrap="square" lIns="0" tIns="0" rIns="0" bIns="0" rtlCol="0" anchor="ctr"/>
          <a:lstStyle/>
          <a:p>
            <a:pPr indent="0" marL="0">
              <a:buNone/>
            </a:pPr>
            <a:r>
              <a:rPr lang="en-IE" sz="1500" b="1" dirty="0">
                <a:solidFill>
                  <a:schemeClr val="accent3"/>
                </a:solidFill>
              </a:rPr>
              <a:t>University</a:t>
            </a:r>
            <a:endParaRPr lang="en-IE" sz="1500" dirty="0"/>
          </a:p>
        </p:txBody>
      </p:sp>
      <p:sp>
        <p:nvSpPr>
          <p:cNvPr id="13" name="Text 9"/>
          <p:cNvSpPr txBox="1"/>
          <p:nvPr/>
        </p:nvSpPr>
        <p:spPr>
          <a:xfrm>
            <a:off x="9311335" y="4005072"/>
            <a:ext cx="1920240" cy="329184"/>
          </a:xfrm>
          <a:prstGeom prst="rect">
            <a:avLst/>
          </a:prstGeom>
          <a:noFill/>
          <a:ln/>
        </p:spPr>
        <p:txBody>
          <a:bodyPr wrap="square" lIns="0" tIns="0" rIns="0" bIns="0" rtlCol="0" anchor="t"/>
          <a:lstStyle/>
          <a:p>
            <a:pPr indent="0" marL="0">
              <a:buNone/>
            </a:pPr>
            <a:r>
              <a:rPr lang="en-IE" sz="1300" dirty="0">
                <a:solidFill>
                  <a:schemeClr val="tx1"/>
                </a:solidFill>
                <a:latin typeface="Consolas" pitchFamily="34" charset="0"/>
                <a:ea typeface="Consolas" pitchFamily="34" charset="-122"/>
                <a:cs typeface="Consolas" pitchFamily="34" charset="-120"/>
              </a:rPr>
              <a:t>"Griffith"</a:t>
            </a:r>
            <a:endParaRPr lang="en-IE" sz="1300" dirty="0"/>
          </a:p>
        </p:txBody>
      </p:sp>
      <p:sp>
        <p:nvSpPr>
          <p:cNvPr id="14" name="Student object"/>
          <p:cNvSpPr/>
          <p:nvPr/>
        </p:nvSpPr>
        <p:spPr>
          <a:xfrm>
            <a:off x="6126480" y="2240280"/>
            <a:ext cx="2331720" cy="749808"/>
          </a:xfrm>
          <a:prstGeom prst="roundRect">
            <a:avLst>
              <a:gd name="adj" fmla="val 12195"/>
            </a:avLst>
          </a:prstGeom>
          <a:solidFill>
            <a:schemeClr val="bg1"/>
          </a:solidFill>
          <a:ln/>
          <a:effectLst>
            <a:outerShdw sx="100000" sy="100000" kx="0" ky="0" algn="bl" rotWithShape="0" blurRad="76200" dist="19050" dir="5400000">
              <a:srgbClr val="1D2433">
                <a:alpha val="8000"/>
              </a:srgbClr>
            </a:outerShdw>
          </a:effectLst>
        </p:spPr>
      </p:sp>
      <p:sp>
        <p:nvSpPr>
          <p:cNvPr id="15" name="Text 11"/>
          <p:cNvSpPr txBox="1"/>
          <p:nvPr/>
        </p:nvSpPr>
        <p:spPr>
          <a:xfrm>
            <a:off x="6309360" y="2313432"/>
            <a:ext cx="2057400" cy="274320"/>
          </a:xfrm>
          <a:prstGeom prst="rect">
            <a:avLst/>
          </a:prstGeom>
          <a:noFill/>
          <a:ln/>
        </p:spPr>
        <p:txBody>
          <a:bodyPr wrap="square" lIns="0" tIns="0" rIns="0" bIns="0" rtlCol="0" anchor="t"/>
          <a:lstStyle/>
          <a:p>
            <a:pPr indent="0" marL="0">
              <a:buNone/>
            </a:pPr>
            <a:r>
              <a:rPr lang="en-IE" sz="1300" b="1" dirty="0">
                <a:solidFill>
                  <a:schemeClr val="accent2"/>
                </a:solidFill>
              </a:rPr>
              <a:t>Student object</a:t>
            </a:r>
            <a:endParaRPr lang="en-IE" sz="1300" dirty="0"/>
          </a:p>
        </p:txBody>
      </p:sp>
      <p:sp>
        <p:nvSpPr>
          <p:cNvPr id="16" name="Text 12"/>
          <p:cNvSpPr txBox="1"/>
          <p:nvPr/>
        </p:nvSpPr>
        <p:spPr>
          <a:xfrm>
            <a:off x="6309360" y="2624328"/>
            <a:ext cx="2057400" cy="274320"/>
          </a:xfrm>
          <a:prstGeom prst="rect">
            <a:avLst/>
          </a:prstGeom>
          <a:noFill/>
          <a:ln/>
        </p:spPr>
        <p:txBody>
          <a:bodyPr wrap="square" lIns="0" tIns="0" rIns="0" bIns="0" rtlCol="0" anchor="t"/>
          <a:lstStyle/>
          <a:p>
            <a:pPr indent="0" marL="0">
              <a:buNone/>
            </a:pPr>
            <a:r>
              <a:rPr lang="en-IE" sz="1250" dirty="0">
                <a:solidFill>
                  <a:schemeClr val="tx1"/>
                </a:solidFill>
                <a:latin typeface="Consolas" pitchFamily="34" charset="0"/>
                <a:ea typeface="Consolas" pitchFamily="34" charset="-122"/>
                <a:cs typeface="Consolas" pitchFamily="34" charset="-120"/>
              </a:rPr>
              <a:t>university ●</a:t>
            </a:r>
            <a:endParaRPr lang="en-IE" sz="1250" dirty="0"/>
          </a:p>
        </p:txBody>
      </p:sp>
      <p:sp>
        <p:nvSpPr>
          <p:cNvPr id="17" name="Connector"/>
          <p:cNvSpPr/>
          <p:nvPr/>
        </p:nvSpPr>
        <p:spPr>
          <a:xfrm>
            <a:off x="8348472" y="2761488"/>
            <a:ext cx="743407" cy="850392"/>
          </a:xfrm>
          <a:prstGeom prst="line">
            <a:avLst/>
          </a:prstGeom>
          <a:noFill/>
          <a:ln w="19050">
            <a:solidFill>
              <a:schemeClr val="accent3"/>
            </a:solidFill>
            <a:prstDash val="solid"/>
            <a:tailEnd type="triangle"/>
          </a:ln>
        </p:spPr>
      </p:sp>
      <p:sp>
        <p:nvSpPr>
          <p:cNvPr id="18" name="Student object"/>
          <p:cNvSpPr/>
          <p:nvPr/>
        </p:nvSpPr>
        <p:spPr>
          <a:xfrm>
            <a:off x="6126480" y="3502152"/>
            <a:ext cx="2331720" cy="749808"/>
          </a:xfrm>
          <a:prstGeom prst="roundRect">
            <a:avLst>
              <a:gd name="adj" fmla="val 12195"/>
            </a:avLst>
          </a:prstGeom>
          <a:solidFill>
            <a:schemeClr val="bg1"/>
          </a:solidFill>
          <a:ln/>
          <a:effectLst>
            <a:outerShdw sx="100000" sy="100000" kx="0" ky="0" algn="bl" rotWithShape="0" blurRad="76200" dist="19050" dir="5400000">
              <a:srgbClr val="1D2433">
                <a:alpha val="8000"/>
              </a:srgbClr>
            </a:outerShdw>
          </a:effectLst>
        </p:spPr>
      </p:sp>
      <p:sp>
        <p:nvSpPr>
          <p:cNvPr id="19" name="Text 15"/>
          <p:cNvSpPr txBox="1"/>
          <p:nvPr/>
        </p:nvSpPr>
        <p:spPr>
          <a:xfrm>
            <a:off x="6309360" y="3575304"/>
            <a:ext cx="2057400" cy="274320"/>
          </a:xfrm>
          <a:prstGeom prst="rect">
            <a:avLst/>
          </a:prstGeom>
          <a:noFill/>
          <a:ln/>
        </p:spPr>
        <p:txBody>
          <a:bodyPr wrap="square" lIns="0" tIns="0" rIns="0" bIns="0" rtlCol="0" anchor="t"/>
          <a:lstStyle/>
          <a:p>
            <a:pPr indent="0" marL="0">
              <a:buNone/>
            </a:pPr>
            <a:r>
              <a:rPr lang="en-IE" sz="1300" b="1" dirty="0">
                <a:solidFill>
                  <a:schemeClr val="accent2"/>
                </a:solidFill>
              </a:rPr>
              <a:t>Student object</a:t>
            </a:r>
            <a:endParaRPr lang="en-IE" sz="1300" dirty="0"/>
          </a:p>
        </p:txBody>
      </p:sp>
      <p:sp>
        <p:nvSpPr>
          <p:cNvPr id="20" name="Text 16"/>
          <p:cNvSpPr txBox="1"/>
          <p:nvPr/>
        </p:nvSpPr>
        <p:spPr>
          <a:xfrm>
            <a:off x="6309360" y="3886200"/>
            <a:ext cx="2057400" cy="274320"/>
          </a:xfrm>
          <a:prstGeom prst="rect">
            <a:avLst/>
          </a:prstGeom>
          <a:noFill/>
          <a:ln/>
        </p:spPr>
        <p:txBody>
          <a:bodyPr wrap="square" lIns="0" tIns="0" rIns="0" bIns="0" rtlCol="0" anchor="t"/>
          <a:lstStyle/>
          <a:p>
            <a:pPr indent="0" marL="0">
              <a:buNone/>
            </a:pPr>
            <a:r>
              <a:rPr lang="en-IE" sz="1250" dirty="0">
                <a:solidFill>
                  <a:schemeClr val="tx1"/>
                </a:solidFill>
                <a:latin typeface="Consolas" pitchFamily="34" charset="0"/>
                <a:ea typeface="Consolas" pitchFamily="34" charset="-122"/>
                <a:cs typeface="Consolas" pitchFamily="34" charset="-120"/>
              </a:rPr>
              <a:t>university ●</a:t>
            </a:r>
            <a:endParaRPr lang="en-IE" sz="1250" dirty="0"/>
          </a:p>
        </p:txBody>
      </p:sp>
      <p:sp>
        <p:nvSpPr>
          <p:cNvPr id="21" name="Connector"/>
          <p:cNvSpPr/>
          <p:nvPr/>
        </p:nvSpPr>
        <p:spPr>
          <a:xfrm flipV="1">
            <a:off x="8348472" y="3904488"/>
            <a:ext cx="743407" cy="118872"/>
          </a:xfrm>
          <a:prstGeom prst="line">
            <a:avLst/>
          </a:prstGeom>
          <a:noFill/>
          <a:ln w="19050">
            <a:solidFill>
              <a:schemeClr val="accent3"/>
            </a:solidFill>
            <a:prstDash val="solid"/>
            <a:tailEnd type="triangle"/>
          </a:ln>
        </p:spPr>
      </p:sp>
      <p:sp>
        <p:nvSpPr>
          <p:cNvPr id="22" name="Teacher object"/>
          <p:cNvSpPr/>
          <p:nvPr/>
        </p:nvSpPr>
        <p:spPr>
          <a:xfrm>
            <a:off x="6126480" y="4764024"/>
            <a:ext cx="2331720" cy="749808"/>
          </a:xfrm>
          <a:prstGeom prst="roundRect">
            <a:avLst>
              <a:gd name="adj" fmla="val 12195"/>
            </a:avLst>
          </a:prstGeom>
          <a:solidFill>
            <a:schemeClr val="bg1"/>
          </a:solidFill>
          <a:ln/>
          <a:effectLst>
            <a:outerShdw sx="100000" sy="100000" kx="0" ky="0" algn="bl" rotWithShape="0" blurRad="76200" dist="19050" dir="5400000">
              <a:srgbClr val="1D2433">
                <a:alpha val="8000"/>
              </a:srgbClr>
            </a:outerShdw>
          </a:effectLst>
        </p:spPr>
      </p:sp>
      <p:sp>
        <p:nvSpPr>
          <p:cNvPr id="23" name="Text 19"/>
          <p:cNvSpPr txBox="1"/>
          <p:nvPr/>
        </p:nvSpPr>
        <p:spPr>
          <a:xfrm>
            <a:off x="6309360" y="4837176"/>
            <a:ext cx="2057400" cy="274320"/>
          </a:xfrm>
          <a:prstGeom prst="rect">
            <a:avLst/>
          </a:prstGeom>
          <a:noFill/>
          <a:ln/>
        </p:spPr>
        <p:txBody>
          <a:bodyPr wrap="square" lIns="0" tIns="0" rIns="0" bIns="0" rtlCol="0" anchor="t"/>
          <a:lstStyle/>
          <a:p>
            <a:pPr indent="0" marL="0">
              <a:buNone/>
            </a:pPr>
            <a:r>
              <a:rPr lang="en-IE" sz="1300" b="1" dirty="0">
                <a:solidFill>
                  <a:schemeClr val="accent2"/>
                </a:solidFill>
              </a:rPr>
              <a:t>Teacher object</a:t>
            </a:r>
            <a:endParaRPr lang="en-IE" sz="1300" dirty="0"/>
          </a:p>
        </p:txBody>
      </p:sp>
      <p:sp>
        <p:nvSpPr>
          <p:cNvPr id="24" name="Text 20"/>
          <p:cNvSpPr txBox="1"/>
          <p:nvPr/>
        </p:nvSpPr>
        <p:spPr>
          <a:xfrm>
            <a:off x="6309360" y="5148072"/>
            <a:ext cx="2057400" cy="274320"/>
          </a:xfrm>
          <a:prstGeom prst="rect">
            <a:avLst/>
          </a:prstGeom>
          <a:noFill/>
          <a:ln/>
        </p:spPr>
        <p:txBody>
          <a:bodyPr wrap="square" lIns="0" tIns="0" rIns="0" bIns="0" rtlCol="0" anchor="t"/>
          <a:lstStyle/>
          <a:p>
            <a:pPr indent="0" marL="0">
              <a:buNone/>
            </a:pPr>
            <a:r>
              <a:rPr lang="en-IE" sz="1250" dirty="0">
                <a:solidFill>
                  <a:schemeClr val="tx1"/>
                </a:solidFill>
                <a:latin typeface="Consolas" pitchFamily="34" charset="0"/>
                <a:ea typeface="Consolas" pitchFamily="34" charset="-122"/>
                <a:cs typeface="Consolas" pitchFamily="34" charset="-120"/>
              </a:rPr>
              <a:t>college ●</a:t>
            </a:r>
            <a:endParaRPr lang="en-IE" sz="1250" dirty="0"/>
          </a:p>
        </p:txBody>
      </p:sp>
      <p:sp>
        <p:nvSpPr>
          <p:cNvPr id="25" name="Connector"/>
          <p:cNvSpPr/>
          <p:nvPr/>
        </p:nvSpPr>
        <p:spPr>
          <a:xfrm flipV="1">
            <a:off x="8348472" y="4197096"/>
            <a:ext cx="743407" cy="1088136"/>
          </a:xfrm>
          <a:prstGeom prst="line">
            <a:avLst/>
          </a:prstGeom>
          <a:noFill/>
          <a:ln w="19050">
            <a:solidFill>
              <a:schemeClr val="accent3"/>
            </a:solidFill>
            <a:prstDash val="solid"/>
            <a:tailEnd type="triangle"/>
          </a:ln>
        </p:spPr>
      </p:sp>
      <p:sp>
        <p:nvSpPr>
          <p:cNvPr id="26" name="Text 22"/>
          <p:cNvSpPr txBox="1"/>
          <p:nvPr/>
        </p:nvSpPr>
        <p:spPr>
          <a:xfrm>
            <a:off x="8945575" y="4663440"/>
            <a:ext cx="2606040" cy="457200"/>
          </a:xfrm>
          <a:prstGeom prst="rect">
            <a:avLst/>
          </a:prstGeom>
          <a:noFill/>
          <a:ln/>
        </p:spPr>
        <p:txBody>
          <a:bodyPr wrap="square" lIns="0" tIns="0" rIns="0" bIns="0" rtlCol="0" anchor="t"/>
          <a:lstStyle/>
          <a:p>
            <a:pPr algn="ctr" indent="0" marL="0">
              <a:buNone/>
            </a:pPr>
            <a:r>
              <a:rPr lang="en-IE" sz="1250" i="1" dirty="0">
                <a:solidFill>
                  <a:schemeClr val="tx2"/>
                </a:solidFill>
              </a:rPr>
              <a:t>three objects, one University</a:t>
            </a:r>
            <a:endParaRPr lang="en-IE"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15</a:t>
            </a:fld>
            <a:endParaRPr lang="en-I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4</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Aggregation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Student and a Teacher share one University object. Every Student object is deleted. What happens to the University?</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still exists, as the Teacher still refers to it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is copied, so the Teacher gets a new one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program stops with an error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is deleted together with the students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16</a:t>
            </a:fld>
            <a:endParaRPr lang="en-I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4</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Aggregation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Student and a Teacher share one University object. Every Student object is deleted. What happens to the University?</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It still exists, as the Teacher still refers to it</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is copied, so the Teacher gets a new one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program stops with an error</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is deleted together with the students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This is aggregation: the University was created outside and passed in, so no single object owns it. Deleting the students only removes their references to it. The Teacher still refers to the same University.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17</a:t>
            </a:fld>
            <a:endParaRPr lang="en-I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5</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Aggregation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the aggregation example, how does each Student get its University?</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Each Student makes its own with </a:t>
            </a:r>
            <a:r>
              <a:rPr lang="en-IE" sz="2000" dirty="0">
                <a:solidFill>
                  <a:schemeClr val="accent2"/>
                </a:solidFill>
                <a:latin typeface="Consolas" pitchFamily="34" charset="0"/>
                <a:ea typeface="Consolas" pitchFamily="34" charset="-122"/>
                <a:cs typeface="Consolas" pitchFamily="34" charset="-120"/>
              </a:rPr>
              <a:t>new University(...)</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is created outside and passed in to the constructor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inherits one by writing </a:t>
            </a:r>
            <a:r>
              <a:rPr lang="en-IE" sz="2000" dirty="0">
                <a:solidFill>
                  <a:schemeClr val="accent2"/>
                </a:solidFill>
                <a:latin typeface="Consolas" pitchFamily="34" charset="0"/>
                <a:ea typeface="Consolas" pitchFamily="34" charset="-122"/>
                <a:cs typeface="Consolas" pitchFamily="34" charset="-120"/>
              </a:rPr>
              <a:t>extends University</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Java copies one over from the Teacher object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18</a:t>
            </a:fld>
            <a:endParaRPr lang="en-I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5</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Aggregation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the aggregation example, how does each Student get its University?</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Each Student makes its own with </a:t>
            </a:r>
            <a:r>
              <a:rPr lang="en-IE" sz="1700" dirty="0">
                <a:solidFill>
                  <a:schemeClr val="tx2"/>
                </a:solidFill>
                <a:latin typeface="Consolas" pitchFamily="34" charset="0"/>
                <a:ea typeface="Consolas" pitchFamily="34" charset="-122"/>
                <a:cs typeface="Consolas" pitchFamily="34" charset="-120"/>
              </a:rPr>
              <a:t>new University(...)</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It is created outside and passed in to the constructor</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inherits one by writing </a:t>
            </a:r>
            <a:r>
              <a:rPr lang="en-IE" sz="1700" dirty="0">
                <a:solidFill>
                  <a:schemeClr val="tx2"/>
                </a:solidFill>
                <a:latin typeface="Consolas" pitchFamily="34" charset="0"/>
                <a:ea typeface="Consolas" pitchFamily="34" charset="-122"/>
                <a:cs typeface="Consolas" pitchFamily="34" charset="-120"/>
              </a:rPr>
              <a:t>extends University</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Java copies one over from the Teacher object</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University is created once, outside the classes, and passed in: </a:t>
            </a:r>
            <a:r>
              <a:rPr lang="en-IE" sz="1800" dirty="0">
                <a:solidFill>
                  <a:schemeClr val="accent2"/>
                </a:solidFill>
                <a:latin typeface="Consolas" pitchFamily="34" charset="0"/>
                <a:ea typeface="Consolas" pitchFamily="34" charset="-122"/>
                <a:cs typeface="Consolas" pitchFamily="34" charset="-120"/>
              </a:rPr>
              <a:t>new Student(university)</a:t>
            </a:r>
            <a:r>
              <a:rPr lang="en-IE" sz="1800" dirty="0">
                <a:solidFill>
                  <a:schemeClr val="tx1"/>
                </a:solidFill>
              </a:rPr>
              <a:t>. That is why a second reference to it can exist, for example in a Teacher. Creating it inside the Student (A) would be composition.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19</a:t>
            </a:fld>
            <a:endParaRPr lang="en-I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Composition</a:t>
            </a:r>
            <a:endParaRPr lang="en-IE" sz="3400" dirty="0"/>
          </a:p>
        </p:txBody>
      </p:sp>
      <p:sp>
        <p:nvSpPr>
          <p:cNvPr id="5" name="Text 2"/>
          <p:cNvSpPr txBox="1"/>
          <p:nvPr/>
        </p:nvSpPr>
        <p:spPr>
          <a:xfrm>
            <a:off x="548640" y="1783080"/>
            <a:ext cx="5120640" cy="329184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Composition is a “part-of” relationship: a stronger form of aggregation.</a:t>
            </a:r>
            <a:endParaRPr lang="en-IE" sz="1900" dirty="0"/>
          </a:p>
          <a:p>
            <a:pPr marL="228600" indent="-228600">
              <a:spcAft>
                <a:spcPts val="1400"/>
              </a:spcAft>
              <a:buSzPct val="100000"/>
              <a:buChar char="•"/>
            </a:pPr>
            <a:r>
              <a:rPr lang="en-IE" sz="1900" dirty="0">
                <a:solidFill>
                  <a:schemeClr val="tx1"/>
                </a:solidFill>
              </a:rPr>
              <a:t>A class contains an object of another class and is its only owner.</a:t>
            </a:r>
            <a:endParaRPr lang="en-IE" sz="1900" dirty="0"/>
          </a:p>
          <a:p>
            <a:pPr marL="228600" indent="-228600">
              <a:buSzPct val="100000"/>
              <a:buChar char="•"/>
            </a:pPr>
            <a:r>
              <a:rPr lang="en-IE" sz="1900" dirty="0">
                <a:solidFill>
                  <a:schemeClr val="tx1"/>
                </a:solidFill>
              </a:rPr>
              <a:t>An engine is part of a car. If a car object is deleted, its engine object goes too.</a:t>
            </a:r>
            <a:endParaRPr lang="en-IE" sz="1900" dirty="0"/>
          </a:p>
        </p:txBody>
      </p:sp>
      <p:sp>
        <p:nvSpPr>
          <p:cNvPr id="6" name="Car object"/>
          <p:cNvSpPr/>
          <p:nvPr/>
        </p:nvSpPr>
        <p:spPr>
          <a:xfrm>
            <a:off x="6172200" y="1783080"/>
            <a:ext cx="2377440" cy="2743200"/>
          </a:xfrm>
          <a:prstGeom prst="roundRect">
            <a:avLst>
              <a:gd name="adj" fmla="val 5385"/>
            </a:avLst>
          </a:prstGeom>
          <a:solidFill>
            <a:schemeClr val="bg1"/>
          </a:solidFill>
          <a:ln w="22225">
            <a:solidFill>
              <a:schemeClr val="accent1"/>
            </a:solidFill>
            <a:prstDash val="solid"/>
          </a:ln>
          <a:effectLst>
            <a:outerShdw sx="100000" sy="100000" kx="0" ky="0" algn="bl" rotWithShape="0" blurRad="76200" dist="19050" dir="5400000">
              <a:srgbClr val="1D2433">
                <a:alpha val="8000"/>
              </a:srgbClr>
            </a:outerShdw>
          </a:effectLst>
        </p:spPr>
      </p:sp>
      <p:pic>
        <p:nvPicPr>
          <p:cNvPr id="7" name="Car icon" descr="Car icon">    </p:cNvPr>
          <p:cNvPicPr>
            <a:picLocks noChangeAspect="1"/>
          </p:cNvPicPr>
          <p:nvPr/>
        </p:nvPicPr>
        <p:blipFill>
          <a:blip r:embed="rId1"/>
          <a:stretch>
            <a:fillRect/>
          </a:stretch>
        </p:blipFill>
        <p:spPr>
          <a:xfrm>
            <a:off x="6400800" y="1965960"/>
            <a:ext cx="502920" cy="502920"/>
          </a:xfrm>
          <a:prstGeom prst="rect">
            <a:avLst/>
          </a:prstGeom>
        </p:spPr>
      </p:pic>
      <p:sp>
        <p:nvSpPr>
          <p:cNvPr id="8" name="Text 4"/>
          <p:cNvSpPr txBox="1"/>
          <p:nvPr/>
        </p:nvSpPr>
        <p:spPr>
          <a:xfrm>
            <a:off x="6995160" y="1984248"/>
            <a:ext cx="1600200" cy="457200"/>
          </a:xfrm>
          <a:prstGeom prst="rect">
            <a:avLst/>
          </a:prstGeom>
          <a:noFill/>
          <a:ln/>
        </p:spPr>
        <p:txBody>
          <a:bodyPr wrap="square" lIns="0" tIns="0" rIns="0" bIns="0" rtlCol="0" anchor="ctr"/>
          <a:lstStyle/>
          <a:p>
            <a:pPr indent="0" marL="0">
              <a:buNone/>
            </a:pPr>
            <a:r>
              <a:rPr lang="en-IE" sz="1600" b="1" dirty="0">
                <a:solidFill>
                  <a:schemeClr val="tx1"/>
                </a:solidFill>
              </a:rPr>
              <a:t>Car object</a:t>
            </a:r>
            <a:endParaRPr lang="en-IE" sz="1600" dirty="0"/>
          </a:p>
        </p:txBody>
      </p:sp>
      <p:sp>
        <p:nvSpPr>
          <p:cNvPr id="9" name="Engine object"/>
          <p:cNvSpPr/>
          <p:nvPr/>
        </p:nvSpPr>
        <p:spPr>
          <a:xfrm>
            <a:off x="6446520" y="2743200"/>
            <a:ext cx="1828800" cy="1417320"/>
          </a:xfrm>
          <a:prstGeom prst="roundRect">
            <a:avLst>
              <a:gd name="adj" fmla="val 6452"/>
            </a:avLst>
          </a:prstGeom>
          <a:solidFill>
            <a:schemeClr val="accent1">
              <a:alpha val="12000"/>
            </a:schemeClr>
          </a:solidFill>
          <a:ln w="12700">
            <a:solidFill>
              <a:schemeClr val="accent1"/>
            </a:solidFill>
            <a:prstDash val="solid"/>
          </a:ln>
        </p:spPr>
      </p:sp>
      <p:pic>
        <p:nvPicPr>
          <p:cNvPr id="10" name="Engine icon" descr="Engine icon">    </p:cNvPr>
          <p:cNvPicPr>
            <a:picLocks noChangeAspect="1"/>
          </p:cNvPicPr>
          <p:nvPr/>
        </p:nvPicPr>
        <p:blipFill>
          <a:blip r:embed="rId2"/>
          <a:stretch>
            <a:fillRect/>
          </a:stretch>
        </p:blipFill>
        <p:spPr>
          <a:xfrm>
            <a:off x="7086600" y="2880360"/>
            <a:ext cx="548640" cy="548640"/>
          </a:xfrm>
          <a:prstGeom prst="rect">
            <a:avLst/>
          </a:prstGeom>
        </p:spPr>
      </p:pic>
      <p:sp>
        <p:nvSpPr>
          <p:cNvPr id="11" name="Text 6"/>
          <p:cNvSpPr txBox="1"/>
          <p:nvPr/>
        </p:nvSpPr>
        <p:spPr>
          <a:xfrm>
            <a:off x="6446520" y="3502152"/>
            <a:ext cx="1828800" cy="365760"/>
          </a:xfrm>
          <a:prstGeom prst="rect">
            <a:avLst/>
          </a:prstGeom>
          <a:noFill/>
          <a:ln/>
        </p:spPr>
        <p:txBody>
          <a:bodyPr wrap="square" lIns="0" tIns="0" rIns="0" bIns="0" rtlCol="0" anchor="t"/>
          <a:lstStyle/>
          <a:p>
            <a:pPr algn="ctr" indent="0" marL="0">
              <a:buNone/>
            </a:pPr>
            <a:r>
              <a:rPr lang="en-IE" sz="1400" b="1" dirty="0">
                <a:solidFill>
                  <a:schemeClr val="tx1"/>
                </a:solidFill>
              </a:rPr>
              <a:t>Engine object</a:t>
            </a:r>
            <a:endParaRPr lang="en-IE" sz="1400" dirty="0"/>
          </a:p>
        </p:txBody>
      </p:sp>
      <p:sp>
        <p:nvSpPr>
          <p:cNvPr id="12" name="Deleted car"/>
          <p:cNvSpPr/>
          <p:nvPr/>
        </p:nvSpPr>
        <p:spPr>
          <a:xfrm>
            <a:off x="9217152" y="1783080"/>
            <a:ext cx="2377440" cy="2743200"/>
          </a:xfrm>
          <a:prstGeom prst="roundRect">
            <a:avLst>
              <a:gd name="adj" fmla="val 5385"/>
            </a:avLst>
          </a:prstGeom>
          <a:solidFill>
            <a:schemeClr val="bg2"/>
          </a:solidFill>
          <a:ln w="15875">
            <a:solidFill>
              <a:schemeClr val="tx2"/>
            </a:solidFill>
            <a:prstDash val="dash"/>
          </a:ln>
        </p:spPr>
      </p:sp>
      <p:pic>
        <p:nvPicPr>
          <p:cNvPr id="13" name="Car icon" descr="Car icon">    </p:cNvPr>
          <p:cNvPicPr>
            <a:picLocks noChangeAspect="1"/>
          </p:cNvPicPr>
          <p:nvPr/>
        </p:nvPicPr>
        <p:blipFill>
          <a:blip r:embed="rId3">
            <a:alphaModFix amt="55000"/>
          </a:blip>
          <a:stretch>
            <a:fillRect/>
          </a:stretch>
        </p:blipFill>
        <p:spPr>
          <a:xfrm>
            <a:off x="9445752" y="1965960"/>
            <a:ext cx="502920" cy="502920"/>
          </a:xfrm>
          <a:prstGeom prst="rect">
            <a:avLst/>
          </a:prstGeom>
        </p:spPr>
      </p:pic>
      <p:sp>
        <p:nvSpPr>
          <p:cNvPr id="14" name="Text 8"/>
          <p:cNvSpPr txBox="1"/>
          <p:nvPr/>
        </p:nvSpPr>
        <p:spPr>
          <a:xfrm>
            <a:off x="10040112" y="1984248"/>
            <a:ext cx="1600200" cy="457200"/>
          </a:xfrm>
          <a:prstGeom prst="rect">
            <a:avLst/>
          </a:prstGeom>
          <a:noFill/>
          <a:ln/>
        </p:spPr>
        <p:txBody>
          <a:bodyPr wrap="square" lIns="0" tIns="0" rIns="0" bIns="0" rtlCol="0" anchor="ctr"/>
          <a:lstStyle/>
          <a:p>
            <a:pPr indent="0" marL="0">
              <a:buNone/>
            </a:pPr>
            <a:r>
              <a:rPr lang="en-IE" sz="1600" b="1" dirty="0">
                <a:solidFill>
                  <a:schemeClr val="tx2"/>
                </a:solidFill>
              </a:rPr>
              <a:t>Car object</a:t>
            </a:r>
            <a:endParaRPr lang="en-IE" sz="1600" dirty="0"/>
          </a:p>
        </p:txBody>
      </p:sp>
      <p:sp>
        <p:nvSpPr>
          <p:cNvPr id="15" name="Deleted engine"/>
          <p:cNvSpPr/>
          <p:nvPr/>
        </p:nvSpPr>
        <p:spPr>
          <a:xfrm>
            <a:off x="9491472" y="2743200"/>
            <a:ext cx="1828800" cy="1417320"/>
          </a:xfrm>
          <a:prstGeom prst="roundRect">
            <a:avLst>
              <a:gd name="adj" fmla="val 6452"/>
            </a:avLst>
          </a:prstGeom>
          <a:solidFill>
            <a:schemeClr val="bg2"/>
          </a:solidFill>
          <a:ln w="12700">
            <a:solidFill>
              <a:schemeClr val="tx2"/>
            </a:solidFill>
            <a:prstDash val="dash"/>
          </a:ln>
        </p:spPr>
      </p:sp>
      <p:pic>
        <p:nvPicPr>
          <p:cNvPr id="16" name="Engine icon" descr="Engine icon">    </p:cNvPr>
          <p:cNvPicPr>
            <a:picLocks noChangeAspect="1"/>
          </p:cNvPicPr>
          <p:nvPr/>
        </p:nvPicPr>
        <p:blipFill>
          <a:blip r:embed="rId4">
            <a:alphaModFix amt="55000"/>
          </a:blip>
          <a:stretch>
            <a:fillRect/>
          </a:stretch>
        </p:blipFill>
        <p:spPr>
          <a:xfrm>
            <a:off x="10131552" y="2880360"/>
            <a:ext cx="548640" cy="548640"/>
          </a:xfrm>
          <a:prstGeom prst="rect">
            <a:avLst/>
          </a:prstGeom>
        </p:spPr>
      </p:pic>
      <p:sp>
        <p:nvSpPr>
          <p:cNvPr id="17" name="Text 10"/>
          <p:cNvSpPr txBox="1"/>
          <p:nvPr/>
        </p:nvSpPr>
        <p:spPr>
          <a:xfrm>
            <a:off x="9491472" y="3502152"/>
            <a:ext cx="1828800" cy="365760"/>
          </a:xfrm>
          <a:prstGeom prst="rect">
            <a:avLst/>
          </a:prstGeom>
          <a:noFill/>
          <a:ln/>
        </p:spPr>
        <p:txBody>
          <a:bodyPr wrap="square" lIns="0" tIns="0" rIns="0" bIns="0" rtlCol="0" anchor="t"/>
          <a:lstStyle/>
          <a:p>
            <a:pPr algn="ctr" indent="0" marL="0">
              <a:buNone/>
            </a:pPr>
            <a:r>
              <a:rPr lang="en-IE" sz="1400" b="1" dirty="0">
                <a:solidFill>
                  <a:schemeClr val="tx2"/>
                </a:solidFill>
              </a:rPr>
              <a:t>Engine object</a:t>
            </a:r>
            <a:endParaRPr lang="en-IE" sz="1400" dirty="0"/>
          </a:p>
        </p:txBody>
      </p:sp>
      <p:sp>
        <p:nvSpPr>
          <p:cNvPr id="18" name="Connector"/>
          <p:cNvSpPr/>
          <p:nvPr/>
        </p:nvSpPr>
        <p:spPr>
          <a:xfrm>
            <a:off x="8641080" y="3154680"/>
            <a:ext cx="484632" cy="0"/>
          </a:xfrm>
          <a:prstGeom prst="line">
            <a:avLst/>
          </a:prstGeom>
          <a:noFill/>
          <a:ln w="25400">
            <a:solidFill>
              <a:schemeClr val="tx2"/>
            </a:solidFill>
            <a:prstDash val="solid"/>
            <a:tailEnd type="triangle"/>
          </a:ln>
        </p:spPr>
      </p:sp>
      <p:sp>
        <p:nvSpPr>
          <p:cNvPr id="19" name="Text 12"/>
          <p:cNvSpPr txBox="1"/>
          <p:nvPr/>
        </p:nvSpPr>
        <p:spPr>
          <a:xfrm>
            <a:off x="6172200" y="4663440"/>
            <a:ext cx="2377440" cy="292608"/>
          </a:xfrm>
          <a:prstGeom prst="rect">
            <a:avLst/>
          </a:prstGeom>
          <a:noFill/>
          <a:ln/>
        </p:spPr>
        <p:txBody>
          <a:bodyPr wrap="square" lIns="0" tIns="0" rIns="0" bIns="0" rtlCol="0" anchor="t"/>
          <a:lstStyle/>
          <a:p>
            <a:pPr algn="ctr" indent="0" marL="0">
              <a:buNone/>
            </a:pPr>
            <a:r>
              <a:rPr lang="en-IE" sz="1300" i="1" dirty="0">
                <a:solidFill>
                  <a:schemeClr val="tx2"/>
                </a:solidFill>
              </a:rPr>
              <a:t>the car owns its engine</a:t>
            </a:r>
            <a:endParaRPr lang="en-IE" sz="1300" dirty="0"/>
          </a:p>
        </p:txBody>
      </p:sp>
      <p:sp>
        <p:nvSpPr>
          <p:cNvPr id="20" name="Text 13"/>
          <p:cNvSpPr txBox="1"/>
          <p:nvPr/>
        </p:nvSpPr>
        <p:spPr>
          <a:xfrm>
            <a:off x="9052560" y="4663440"/>
            <a:ext cx="2651760" cy="292608"/>
          </a:xfrm>
          <a:prstGeom prst="rect">
            <a:avLst/>
          </a:prstGeom>
          <a:noFill/>
          <a:ln/>
        </p:spPr>
        <p:txBody>
          <a:bodyPr wrap="square" lIns="0" tIns="0" rIns="0" bIns="0" rtlCol="0" anchor="t"/>
          <a:lstStyle/>
          <a:p>
            <a:pPr algn="ctr" indent="0" marL="0">
              <a:buNone/>
            </a:pPr>
            <a:r>
              <a:rPr lang="en-IE" sz="1300" i="1" dirty="0">
                <a:solidFill>
                  <a:schemeClr val="tx2"/>
                </a:solidFill>
              </a:rPr>
              <a:t>delete the car: the engine goes too</a:t>
            </a:r>
            <a:endParaRPr lang="en-IE" sz="1300" dirty="0"/>
          </a:p>
        </p:txBody>
      </p:sp>
      <p:sp>
        <p:nvSpPr>
          <p:cNvPr id="21" name="Note"/>
          <p:cNvSpPr/>
          <p:nvPr/>
        </p:nvSpPr>
        <p:spPr>
          <a:xfrm>
            <a:off x="548640" y="5257800"/>
            <a:ext cx="11094415" cy="777240"/>
          </a:xfrm>
          <a:prstGeom prst="roundRect">
            <a:avLst>
              <a:gd name="adj" fmla="val 14118"/>
            </a:avLst>
          </a:prstGeom>
          <a:solidFill>
            <a:schemeClr val="bg2"/>
          </a:solidFill>
          <a:ln/>
        </p:spPr>
      </p:sp>
      <p:sp>
        <p:nvSpPr>
          <p:cNvPr id="22" name="Icon tile"/>
          <p:cNvSpPr/>
          <p:nvPr/>
        </p:nvSpPr>
        <p:spPr>
          <a:xfrm>
            <a:off x="822960" y="5381244"/>
            <a:ext cx="530352" cy="530352"/>
          </a:xfrm>
          <a:prstGeom prst="roundRect">
            <a:avLst>
              <a:gd name="adj" fmla="val 24000"/>
            </a:avLst>
          </a:prstGeom>
          <a:solidFill>
            <a:schemeClr val="accent1">
              <a:alpha val="14000"/>
            </a:schemeClr>
          </a:solidFill>
          <a:ln/>
        </p:spPr>
      </p:sp>
      <p:pic>
        <p:nvPicPr>
          <p:cNvPr id="23" name="puzzle piece icon" descr="puzzle piece icon">    </p:cNvPr>
          <p:cNvPicPr>
            <a:picLocks noChangeAspect="1"/>
          </p:cNvPicPr>
          <p:nvPr/>
        </p:nvPicPr>
        <p:blipFill>
          <a:blip r:embed="rId5"/>
          <a:stretch>
            <a:fillRect/>
          </a:stretch>
        </p:blipFill>
        <p:spPr>
          <a:xfrm>
            <a:off x="934334" y="5492618"/>
            <a:ext cx="307604" cy="307604"/>
          </a:xfrm>
          <a:prstGeom prst="rect">
            <a:avLst/>
          </a:prstGeom>
        </p:spPr>
      </p:pic>
      <p:sp>
        <p:nvSpPr>
          <p:cNvPr id="24" name="Text 16"/>
          <p:cNvSpPr txBox="1"/>
          <p:nvPr/>
        </p:nvSpPr>
        <p:spPr>
          <a:xfrm>
            <a:off x="1572768" y="5257800"/>
            <a:ext cx="9814255" cy="777240"/>
          </a:xfrm>
          <a:prstGeom prst="rect">
            <a:avLst/>
          </a:prstGeom>
          <a:noFill/>
          <a:ln/>
        </p:spPr>
        <p:txBody>
          <a:bodyPr wrap="square" lIns="0" tIns="0" rIns="0" bIns="0" rtlCol="0" anchor="ctr"/>
          <a:lstStyle/>
          <a:p>
            <a:pPr indent="0" marL="0">
              <a:buNone/>
            </a:pPr>
            <a:r>
              <a:rPr lang="en-IE" sz="1700" dirty="0">
                <a:solidFill>
                  <a:schemeClr val="tx1"/>
                </a:solidFill>
              </a:rPr>
              <a:t>Aggregation: the part </a:t>
            </a:r>
            <a:r>
              <a:rPr lang="en-IE" sz="1700" b="1" dirty="0">
                <a:solidFill>
                  <a:schemeClr val="tx1"/>
                </a:solidFill>
              </a:rPr>
              <a:t>can be shared</a:t>
            </a:r>
            <a:r>
              <a:rPr lang="en-IE" sz="1700" dirty="0">
                <a:solidFill>
                  <a:schemeClr val="tx1"/>
                </a:solidFill>
              </a:rPr>
              <a:t>. Composition: the part </a:t>
            </a:r>
            <a:r>
              <a:rPr lang="en-IE" sz="1700" b="1" dirty="0">
                <a:solidFill>
                  <a:schemeClr val="tx1"/>
                </a:solidFill>
              </a:rPr>
              <a:t>belongs</a:t>
            </a:r>
            <a:r>
              <a:rPr lang="en-IE" sz="1700" dirty="0">
                <a:solidFill>
                  <a:schemeClr val="tx1"/>
                </a:solidFill>
              </a:rPr>
              <a:t> to one object.</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20</a:t>
            </a:fld>
            <a:endParaRPr lang="en-I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6</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Composition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Car creates its own Engine inside its constructor. The Car object is deleted. What happens to the Engine?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stays, because an engine is a separate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becomes shared by all the other cars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moves to the next Car that is created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goes too, since only the Car referred to it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21</a:t>
            </a:fld>
            <a:endParaRPr lang="en-I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6</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Composition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Car creates its own Engine inside its constructor. The Car object is deleted. What happens to the Engine?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stays, because an engine is a separate object</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becomes shared by all the other cars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moves to the next Car that is created</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It goes too, since only the Car referred to it</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This is composition: the Car is the only owner of its Engine. Nothing else has a reference to it, so when the Car goes, the Engine can no longer be reached and Java’s garbage collector removes it as well.</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22</a:t>
            </a:fld>
            <a:endParaRPr lang="en-I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HOW CLASSES RELATE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Composition in code</a:t>
            </a:r>
            <a:endParaRPr lang="en-IE" sz="3400" dirty="0"/>
          </a:p>
        </p:txBody>
      </p:sp>
      <p:sp>
        <p:nvSpPr>
          <p:cNvPr id="5" name="Text 2"/>
          <p:cNvSpPr txBox="1"/>
          <p:nvPr/>
        </p:nvSpPr>
        <p:spPr>
          <a:xfrm>
            <a:off x="548640" y="1645920"/>
            <a:ext cx="11094415" cy="685800"/>
          </a:xfrm>
          <a:prstGeom prst="rect">
            <a:avLst/>
          </a:prstGeom>
          <a:noFill/>
          <a:ln/>
        </p:spPr>
        <p:txBody>
          <a:bodyPr wrap="square" lIns="0" tIns="0" rIns="0" bIns="0" rtlCol="0" anchor="t"/>
          <a:lstStyle/>
          <a:p>
            <a:pPr indent="0" marL="0">
              <a:buNone/>
            </a:pPr>
            <a:r>
              <a:rPr lang="en-IE" sz="1800" dirty="0">
                <a:solidFill>
                  <a:schemeClr val="tx1"/>
                </a:solidFill>
              </a:rPr>
              <a:t>When we create objects inside a class, that class is composed of them. They are created in the class, and it holds the only reference.</a:t>
            </a:r>
            <a:endParaRPr lang="en-IE" sz="1800" dirty="0"/>
          </a:p>
        </p:txBody>
      </p:sp>
      <p:sp>
        <p:nvSpPr>
          <p:cNvPr id="6" name="Text 3"/>
          <p:cNvSpPr txBox="1"/>
          <p:nvPr/>
        </p:nvSpPr>
        <p:spPr>
          <a:xfrm>
            <a:off x="548640" y="2423160"/>
            <a:ext cx="5387188" cy="365760"/>
          </a:xfrm>
          <a:prstGeom prst="rect">
            <a:avLst/>
          </a:prstGeom>
          <a:noFill/>
          <a:ln/>
        </p:spPr>
        <p:txBody>
          <a:bodyPr wrap="square" lIns="0" tIns="0" rIns="0" bIns="0" rtlCol="0" anchor="t"/>
          <a:lstStyle/>
          <a:p>
            <a:pPr indent="0" marL="0">
              <a:buNone/>
            </a:pPr>
            <a:r>
              <a:rPr lang="en-IE" sz="1800" b="1" dirty="0">
                <a:solidFill>
                  <a:schemeClr val="accent3"/>
                </a:solidFill>
              </a:rPr>
              <a:t>Aggregation: passed in</a:t>
            </a:r>
            <a:endParaRPr lang="en-IE" sz="1800" dirty="0"/>
          </a:p>
        </p:txBody>
      </p:sp>
      <p:sp>
        <p:nvSpPr>
          <p:cNvPr id="7" name="Aggregation: passed in card"/>
          <p:cNvSpPr/>
          <p:nvPr/>
        </p:nvSpPr>
        <p:spPr>
          <a:xfrm>
            <a:off x="548640" y="2834640"/>
            <a:ext cx="5387188" cy="2278888"/>
          </a:xfrm>
          <a:prstGeom prst="roundRect">
            <a:avLst>
              <a:gd name="adj" fmla="val 4815"/>
            </a:avLst>
          </a:prstGeom>
          <a:solidFill>
            <a:schemeClr val="tx1"/>
          </a:solidFill>
          <a:ln/>
          <a:effectLst>
            <a:outerShdw sx="100000" sy="100000" kx="0" ky="0" algn="bl" rotWithShape="0" blurRad="114300" dist="31750" dir="5400000">
              <a:srgbClr val="1D2433">
                <a:alpha val="12000"/>
              </a:srgbClr>
            </a:outerShdw>
          </a:effectLst>
        </p:spPr>
      </p:sp>
      <p:sp>
        <p:nvSpPr>
          <p:cNvPr id="8" name="Aggregation: passed in language"/>
          <p:cNvSpPr txBox="1"/>
          <p:nvPr/>
        </p:nvSpPr>
        <p:spPr>
          <a:xfrm>
            <a:off x="822960" y="295351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9" name="Aggregation: passed in text"/>
          <p:cNvSpPr txBox="1"/>
          <p:nvPr/>
        </p:nvSpPr>
        <p:spPr>
          <a:xfrm>
            <a:off x="822960" y="3328416"/>
            <a:ext cx="4838548" cy="158394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private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University</a:t>
            </a:r>
            <a:r>
              <a:rPr lang="en-IE" sz="1300" dirty="0">
                <a:solidFill>
                  <a:srgbClr val="E6EBF2"/>
                </a:solidFill>
                <a:latin typeface="Consolas" pitchFamily="34" charset="0"/>
                <a:ea typeface="Consolas" pitchFamily="34" charset="-122"/>
                <a:cs typeface="Consolas" pitchFamily="34" charset="-120"/>
              </a:rPr>
              <a:t> university;</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University</a:t>
            </a:r>
            <a:r>
              <a:rPr lang="en-IE" sz="1300" dirty="0">
                <a:solidFill>
                  <a:srgbClr val="E6EBF2"/>
                </a:solidFill>
                <a:latin typeface="Consolas" pitchFamily="34" charset="0"/>
                <a:ea typeface="Consolas" pitchFamily="34" charset="-122"/>
                <a:cs typeface="Consolas" pitchFamily="34" charset="-120"/>
              </a:rPr>
              <a:t> university)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this</a:t>
            </a:r>
            <a:r>
              <a:rPr lang="en-IE" sz="1300" dirty="0">
                <a:solidFill>
                  <a:srgbClr val="E6EBF2"/>
                </a:solidFill>
                <a:latin typeface="Consolas" pitchFamily="34" charset="0"/>
                <a:ea typeface="Consolas" pitchFamily="34" charset="-122"/>
                <a:cs typeface="Consolas" pitchFamily="34" charset="-120"/>
              </a:rPr>
              <a:t>.university = university;</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10" name="Text 7"/>
          <p:cNvSpPr txBox="1"/>
          <p:nvPr/>
        </p:nvSpPr>
        <p:spPr>
          <a:xfrm>
            <a:off x="548640" y="5440680"/>
            <a:ext cx="5387188" cy="594360"/>
          </a:xfrm>
          <a:prstGeom prst="rect">
            <a:avLst/>
          </a:prstGeom>
          <a:noFill/>
          <a:ln/>
        </p:spPr>
        <p:txBody>
          <a:bodyPr wrap="square" lIns="0" tIns="0" rIns="0" bIns="0" rtlCol="0" anchor="t"/>
          <a:lstStyle/>
          <a:p>
            <a:pPr indent="0" marL="0">
              <a:buNone/>
            </a:pPr>
            <a:r>
              <a:rPr lang="en-IE" sz="1500" i="1" dirty="0">
                <a:solidFill>
                  <a:schemeClr val="tx2"/>
                </a:solidFill>
              </a:rPr>
              <a:t>Made outside, so others can share it. Deleting a Student leaves the University alone.</a:t>
            </a:r>
            <a:endParaRPr lang="en-IE" sz="1500" dirty="0"/>
          </a:p>
        </p:txBody>
      </p:sp>
      <p:sp>
        <p:nvSpPr>
          <p:cNvPr id="11" name="Text 8"/>
          <p:cNvSpPr txBox="1"/>
          <p:nvPr/>
        </p:nvSpPr>
        <p:spPr>
          <a:xfrm>
            <a:off x="6255868" y="2423160"/>
            <a:ext cx="5387188" cy="365760"/>
          </a:xfrm>
          <a:prstGeom prst="rect">
            <a:avLst/>
          </a:prstGeom>
          <a:noFill/>
          <a:ln/>
        </p:spPr>
        <p:txBody>
          <a:bodyPr wrap="square" lIns="0" tIns="0" rIns="0" bIns="0" rtlCol="0" anchor="t"/>
          <a:lstStyle/>
          <a:p>
            <a:pPr indent="0" marL="0">
              <a:buNone/>
            </a:pPr>
            <a:r>
              <a:rPr lang="en-IE" sz="1800" b="1" dirty="0">
                <a:solidFill>
                  <a:schemeClr val="accent1"/>
                </a:solidFill>
              </a:rPr>
              <a:t>Composition: created inside</a:t>
            </a:r>
            <a:endParaRPr lang="en-IE" sz="1800" dirty="0"/>
          </a:p>
        </p:txBody>
      </p:sp>
      <p:sp>
        <p:nvSpPr>
          <p:cNvPr id="12" name="Composition: created inside card"/>
          <p:cNvSpPr/>
          <p:nvPr/>
        </p:nvSpPr>
        <p:spPr>
          <a:xfrm>
            <a:off x="6255868" y="2834640"/>
            <a:ext cx="5387188" cy="2497328"/>
          </a:xfrm>
          <a:prstGeom prst="roundRect">
            <a:avLst>
              <a:gd name="adj" fmla="val 4394"/>
            </a:avLst>
          </a:prstGeom>
          <a:solidFill>
            <a:schemeClr val="tx1"/>
          </a:solidFill>
          <a:ln/>
          <a:effectLst>
            <a:outerShdw sx="100000" sy="100000" kx="0" ky="0" algn="bl" rotWithShape="0" blurRad="114300" dist="31750" dir="5400000">
              <a:srgbClr val="1D2433">
                <a:alpha val="12000"/>
              </a:srgbClr>
            </a:outerShdw>
          </a:effectLst>
        </p:spPr>
      </p:sp>
      <p:sp>
        <p:nvSpPr>
          <p:cNvPr id="13" name="Composition: created inside language"/>
          <p:cNvSpPr txBox="1"/>
          <p:nvPr/>
        </p:nvSpPr>
        <p:spPr>
          <a:xfrm>
            <a:off x="6530188" y="295351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4" name="Composition: created inside text"/>
          <p:cNvSpPr txBox="1"/>
          <p:nvPr/>
        </p:nvSpPr>
        <p:spPr>
          <a:xfrm>
            <a:off x="6530188" y="3328416"/>
            <a:ext cx="4838548" cy="180238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private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University</a:t>
            </a:r>
            <a:r>
              <a:rPr lang="en-IE" sz="1300" dirty="0">
                <a:solidFill>
                  <a:srgbClr val="E6EBF2"/>
                </a:solidFill>
                <a:latin typeface="Consolas" pitchFamily="34" charset="0"/>
                <a:ea typeface="Consolas" pitchFamily="34" charset="-122"/>
                <a:cs typeface="Consolas" pitchFamily="34" charset="-120"/>
              </a:rPr>
              <a:t> university;</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Student</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this</a:t>
            </a:r>
            <a:r>
              <a:rPr lang="en-IE" sz="1300" dirty="0">
                <a:solidFill>
                  <a:srgbClr val="E6EBF2"/>
                </a:solidFill>
                <a:latin typeface="Consolas" pitchFamily="34" charset="0"/>
                <a:ea typeface="Consolas" pitchFamily="34" charset="-122"/>
                <a:cs typeface="Consolas" pitchFamily="34" charset="-120"/>
              </a:rPr>
              <a:t>.university = </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University</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A9DB8C"/>
                </a:solidFill>
                <a:latin typeface="Consolas" pitchFamily="34" charset="0"/>
                <a:ea typeface="Consolas" pitchFamily="34" charset="-122"/>
                <a:cs typeface="Consolas" pitchFamily="34" charset="-120"/>
              </a:rPr>
              <a:t>"Griffith"</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A9DB8C"/>
                </a:solidFill>
                <a:latin typeface="Consolas" pitchFamily="34" charset="0"/>
                <a:ea typeface="Consolas" pitchFamily="34" charset="-122"/>
                <a:cs typeface="Consolas" pitchFamily="34" charset="-120"/>
              </a:rPr>
              <a:t>"South Circular Road"</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15" name="Text 12"/>
          <p:cNvSpPr txBox="1"/>
          <p:nvPr/>
        </p:nvSpPr>
        <p:spPr>
          <a:xfrm>
            <a:off x="6255868" y="5440680"/>
            <a:ext cx="5387188" cy="594360"/>
          </a:xfrm>
          <a:prstGeom prst="rect">
            <a:avLst/>
          </a:prstGeom>
          <a:noFill/>
          <a:ln/>
        </p:spPr>
        <p:txBody>
          <a:bodyPr wrap="square" lIns="0" tIns="0" rIns="0" bIns="0" rtlCol="0" anchor="t"/>
          <a:lstStyle/>
          <a:p>
            <a:pPr indent="0" marL="0">
              <a:buNone/>
            </a:pPr>
            <a:r>
              <a:rPr lang="en-IE" sz="1500" i="1" dirty="0">
                <a:solidFill>
                  <a:schemeClr val="tx2"/>
                </a:solidFill>
              </a:rPr>
              <a:t>Made inside, so Student is its only owner. When the Student goes, its University goes too.</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23</a:t>
            </a:fld>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7</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Composition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code makes a Student the only owner of its University?</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Student(University university) { this.university = university;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Student() { this.university = new University("Griffith", "Cork");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void compare(University u) { System.out.println(u); }</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Student(Student other) { this.university = other.university; }</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24</a:t>
            </a:fld>
            <a:endParaRPr lang="en-I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7</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Composition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code makes a Student the only owner of its University?</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Student(University university) { this.university = university; }</a:t>
            </a:r>
            <a:endParaRPr lang="en-IE"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532888"/>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Student() { this.university = new University("Griffith", "Cork"); }</a:t>
            </a:r>
            <a:endParaRPr lang="en-IE" sz="1700" dirty="0"/>
          </a:p>
        </p:txBody>
      </p:sp>
      <p:pic>
        <p:nvPicPr>
          <p:cNvPr id="11" name="Correct mark"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void compare(University u) { System.out.println(u); }</a:t>
            </a:r>
            <a:endParaRPr lang="en-IE"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Student(Student other) { this.university = other.university; }</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In B the University is created inside the Student, so nothing else has a reference to it: composition. A receives a University made outside (aggregation), C only uses one for a job (dependency), and D shares another Student’s University.</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25</a:t>
            </a:fld>
            <a:endParaRPr lang="en-I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02</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Inheritance</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Building new classes from existing ones</a:t>
            </a:r>
            <a:endParaRPr lang="en-IE" sz="2000" dirty="0"/>
          </a:p>
        </p:txBody>
      </p:sp>
      <p:sp>
        <p:nvSpPr>
          <p:cNvPr id="5" name="Topic chip"/>
          <p:cNvSpPr/>
          <p:nvPr/>
        </p:nvSpPr>
        <p:spPr>
          <a:xfrm>
            <a:off x="822960" y="4846320"/>
            <a:ext cx="188163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Parent and child</a:t>
            </a:r>
            <a:endParaRPr lang="en-IE" sz="1400" dirty="0"/>
          </a:p>
        </p:txBody>
      </p:sp>
      <p:sp>
        <p:nvSpPr>
          <p:cNvPr id="6" name="Topic chip"/>
          <p:cNvSpPr/>
          <p:nvPr/>
        </p:nvSpPr>
        <p:spPr>
          <a:xfrm>
            <a:off x="2850896" y="4846320"/>
            <a:ext cx="7721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is-a</a:t>
            </a:r>
            <a:endParaRPr lang="en-IE" sz="1400" dirty="0"/>
          </a:p>
        </p:txBody>
      </p:sp>
      <p:sp>
        <p:nvSpPr>
          <p:cNvPr id="7" name="Topic chip"/>
          <p:cNvSpPr/>
          <p:nvPr/>
        </p:nvSpPr>
        <p:spPr>
          <a:xfrm>
            <a:off x="3769360"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extends</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Inheritance in Java</a:t>
            </a:r>
            <a:endParaRPr lang="en-IE" sz="3400" dirty="0"/>
          </a:p>
        </p:txBody>
      </p:sp>
      <p:sp>
        <p:nvSpPr>
          <p:cNvPr id="5" name="Text 2"/>
          <p:cNvSpPr txBox="1"/>
          <p:nvPr/>
        </p:nvSpPr>
        <p:spPr>
          <a:xfrm>
            <a:off x="548640" y="1783080"/>
            <a:ext cx="5120640" cy="320040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Inheritance is supported by object-oriented languages like Java.</a:t>
            </a:r>
            <a:endParaRPr lang="en-IE" sz="1900" dirty="0"/>
          </a:p>
          <a:p>
            <a:pPr marL="228600" indent="-228600">
              <a:spcAft>
                <a:spcPts val="1400"/>
              </a:spcAft>
              <a:buSzPct val="100000"/>
              <a:buChar char="•"/>
            </a:pPr>
            <a:r>
              <a:rPr lang="en-IE" sz="1900" dirty="0">
                <a:solidFill>
                  <a:schemeClr val="tx1"/>
                </a:solidFill>
              </a:rPr>
              <a:t>We create new classes that inherit the attributes and methods of another class.</a:t>
            </a:r>
            <a:endParaRPr lang="en-IE" sz="1900" dirty="0"/>
          </a:p>
          <a:p>
            <a:pPr marL="228600" indent="-228600">
              <a:buSzPct val="100000"/>
              <a:buChar char="•"/>
            </a:pPr>
            <a:r>
              <a:rPr lang="en-IE" sz="1900" dirty="0">
                <a:solidFill>
                  <a:schemeClr val="tx1"/>
                </a:solidFill>
              </a:rPr>
              <a:t>As well as that, the new class has attributes and methods of its own.</a:t>
            </a:r>
            <a:endParaRPr lang="en-IE" sz="1900" dirty="0"/>
          </a:p>
        </p:txBody>
      </p:sp>
      <p:sp>
        <p:nvSpPr>
          <p:cNvPr id="6" name="Class Vehicle"/>
          <p:cNvSpPr/>
          <p:nvPr/>
        </p:nvSpPr>
        <p:spPr>
          <a:xfrm>
            <a:off x="6400800" y="1783080"/>
            <a:ext cx="2377440" cy="1338580"/>
          </a:xfrm>
          <a:prstGeom prst="rect">
            <a:avLst/>
          </a:prstGeom>
          <a:solidFill>
            <a:schemeClr val="bg1"/>
          </a:solidFill>
          <a:ln w="19050">
            <a:solidFill>
              <a:schemeClr val="accent2"/>
            </a:solidFill>
            <a:prstDash val="solid"/>
          </a:ln>
          <a:effectLst>
            <a:outerShdw sx="100000" sy="100000" kx="0" ky="0" algn="bl" rotWithShape="0" blurRad="76200" dist="19050" dir="5400000">
              <a:srgbClr val="1D2433">
                <a:alpha val="8000"/>
              </a:srgbClr>
            </a:outerShdw>
          </a:effectLst>
        </p:spPr>
      </p:sp>
      <p:sp>
        <p:nvSpPr>
          <p:cNvPr id="7" name="Class Vehicle header"/>
          <p:cNvSpPr/>
          <p:nvPr/>
        </p:nvSpPr>
        <p:spPr>
          <a:xfrm>
            <a:off x="6400800" y="1783080"/>
            <a:ext cx="2377440" cy="457200"/>
          </a:xfrm>
          <a:prstGeom prst="rect">
            <a:avLst/>
          </a:prstGeom>
          <a:solidFill>
            <a:schemeClr val="accent2">
              <a:alpha val="14000"/>
            </a:schemeClr>
          </a:solidFill>
          <a:ln w="19050">
            <a:solidFill>
              <a:schemeClr val="accent2"/>
            </a:solidFill>
            <a:prstDash val="solid"/>
          </a:ln>
        </p:spPr>
      </p:sp>
      <p:sp>
        <p:nvSpPr>
          <p:cNvPr id="8" name="Text 5"/>
          <p:cNvSpPr txBox="1"/>
          <p:nvPr/>
        </p:nvSpPr>
        <p:spPr>
          <a:xfrm>
            <a:off x="6400800" y="1819656"/>
            <a:ext cx="2377440" cy="384048"/>
          </a:xfrm>
          <a:prstGeom prst="rect">
            <a:avLst/>
          </a:prstGeom>
          <a:noFill/>
          <a:ln/>
        </p:spPr>
        <p:txBody>
          <a:bodyPr wrap="square" lIns="0" tIns="0" rIns="0" bIns="0" rtlCol="0" anchor="ctr"/>
          <a:lstStyle/>
          <a:p>
            <a:pPr algn="ctr" indent="0" marL="0">
              <a:buNone/>
            </a:pPr>
            <a:r>
              <a:rPr lang="en-IE" sz="1600" b="1" dirty="0">
                <a:solidFill>
                  <a:schemeClr val="tx1"/>
                </a:solidFill>
              </a:rPr>
              <a:t>Vehicle</a:t>
            </a:r>
            <a:endParaRPr lang="en-IE" sz="1600" dirty="0"/>
          </a:p>
        </p:txBody>
      </p:sp>
      <p:sp>
        <p:nvSpPr>
          <p:cNvPr id="9" name="Vehicle attributes"/>
          <p:cNvSpPr txBox="1"/>
          <p:nvPr/>
        </p:nvSpPr>
        <p:spPr>
          <a:xfrm>
            <a:off x="6528816" y="2331720"/>
            <a:ext cx="2121408" cy="257810"/>
          </a:xfrm>
          <a:prstGeom prst="rect">
            <a:avLst/>
          </a:prstGeom>
          <a:noFill/>
          <a:ln/>
        </p:spPr>
        <p:txBody>
          <a:bodyPr wrap="square" lIns="0" tIns="0" rIns="0" bIns="0" rtlCol="0" anchor="t"/>
          <a:lstStyle/>
          <a:p>
            <a:pPr indent="0" marL="0">
              <a:lnSpc>
                <a:spcPts val="2030"/>
              </a:lnSpc>
              <a:buNone/>
            </a:pPr>
            <a:r>
              <a:rPr lang="en-IE" sz="1400" dirty="0">
                <a:solidFill>
                  <a:schemeClr val="tx1"/>
                </a:solidFill>
                <a:latin typeface="Consolas" pitchFamily="34" charset="0"/>
                <a:ea typeface="Consolas" pitchFamily="34" charset="-122"/>
                <a:cs typeface="Consolas" pitchFamily="34" charset="-120"/>
              </a:rPr>
              <a:t>engine</a:t>
            </a:r>
            <a:endParaRPr lang="en-IE" sz="1400" dirty="0"/>
          </a:p>
        </p:txBody>
      </p:sp>
      <p:sp>
        <p:nvSpPr>
          <p:cNvPr id="10" name="Connector"/>
          <p:cNvSpPr/>
          <p:nvPr/>
        </p:nvSpPr>
        <p:spPr>
          <a:xfrm>
            <a:off x="6400800" y="2680970"/>
            <a:ext cx="2377440" cy="0"/>
          </a:xfrm>
          <a:prstGeom prst="line">
            <a:avLst/>
          </a:prstGeom>
          <a:noFill/>
          <a:ln w="15875">
            <a:solidFill>
              <a:schemeClr val="accent2"/>
            </a:solidFill>
            <a:prstDash val="solid"/>
          </a:ln>
        </p:spPr>
      </p:sp>
      <p:sp>
        <p:nvSpPr>
          <p:cNvPr id="11" name="Vehicle methods"/>
          <p:cNvSpPr txBox="1"/>
          <p:nvPr/>
        </p:nvSpPr>
        <p:spPr>
          <a:xfrm>
            <a:off x="6528816" y="2772410"/>
            <a:ext cx="2121408" cy="257810"/>
          </a:xfrm>
          <a:prstGeom prst="rect">
            <a:avLst/>
          </a:prstGeom>
          <a:noFill/>
          <a:ln/>
        </p:spPr>
        <p:txBody>
          <a:bodyPr wrap="square" lIns="0" tIns="0" rIns="0" bIns="0" rtlCol="0" anchor="t"/>
          <a:lstStyle/>
          <a:p>
            <a:pPr indent="0" marL="0">
              <a:lnSpc>
                <a:spcPts val="2030"/>
              </a:lnSpc>
              <a:buNone/>
            </a:pPr>
            <a:r>
              <a:rPr lang="en-IE" sz="1400" dirty="0">
                <a:solidFill>
                  <a:schemeClr val="tx1"/>
                </a:solidFill>
                <a:latin typeface="Consolas" pitchFamily="34" charset="0"/>
                <a:ea typeface="Consolas" pitchFamily="34" charset="-122"/>
                <a:cs typeface="Consolas" pitchFamily="34" charset="-120"/>
              </a:rPr>
              <a:t>start()</a:t>
            </a:r>
            <a:endParaRPr lang="en-IE" sz="1400" dirty="0"/>
          </a:p>
        </p:txBody>
      </p:sp>
      <p:sp>
        <p:nvSpPr>
          <p:cNvPr id="12" name="Class Car"/>
          <p:cNvSpPr/>
          <p:nvPr/>
        </p:nvSpPr>
        <p:spPr>
          <a:xfrm>
            <a:off x="9098280" y="3246120"/>
            <a:ext cx="2542032" cy="2514600"/>
          </a:xfrm>
          <a:prstGeom prst="rect">
            <a:avLst/>
          </a:prstGeom>
          <a:solidFill>
            <a:schemeClr val="bg1"/>
          </a:solidFill>
          <a:ln w="19050">
            <a:solidFill>
              <a:schemeClr val="accent1"/>
            </a:solidFill>
            <a:prstDash val="solid"/>
          </a:ln>
          <a:effectLst>
            <a:outerShdw sx="100000" sy="100000" kx="0" ky="0" algn="bl" rotWithShape="0" blurRad="76200" dist="19050" dir="5400000">
              <a:srgbClr val="1D2433">
                <a:alpha val="8000"/>
              </a:srgbClr>
            </a:outerShdw>
          </a:effectLst>
        </p:spPr>
      </p:sp>
      <p:sp>
        <p:nvSpPr>
          <p:cNvPr id="13" name="Class Car header"/>
          <p:cNvSpPr/>
          <p:nvPr/>
        </p:nvSpPr>
        <p:spPr>
          <a:xfrm>
            <a:off x="9098280" y="3246120"/>
            <a:ext cx="2542032" cy="457200"/>
          </a:xfrm>
          <a:prstGeom prst="rect">
            <a:avLst/>
          </a:prstGeom>
          <a:solidFill>
            <a:schemeClr val="accent1">
              <a:alpha val="14000"/>
            </a:schemeClr>
          </a:solidFill>
          <a:ln w="19050">
            <a:solidFill>
              <a:schemeClr val="accent1"/>
            </a:solidFill>
            <a:prstDash val="solid"/>
          </a:ln>
        </p:spPr>
      </p:sp>
      <p:sp>
        <p:nvSpPr>
          <p:cNvPr id="14" name="Text 11"/>
          <p:cNvSpPr txBox="1"/>
          <p:nvPr/>
        </p:nvSpPr>
        <p:spPr>
          <a:xfrm>
            <a:off x="9098280" y="3282696"/>
            <a:ext cx="2542032" cy="384048"/>
          </a:xfrm>
          <a:prstGeom prst="rect">
            <a:avLst/>
          </a:prstGeom>
          <a:noFill/>
          <a:ln/>
        </p:spPr>
        <p:txBody>
          <a:bodyPr wrap="square" lIns="0" tIns="0" rIns="0" bIns="0" rtlCol="0" anchor="ctr"/>
          <a:lstStyle/>
          <a:p>
            <a:pPr algn="ctr" indent="0" marL="0">
              <a:buNone/>
            </a:pPr>
            <a:r>
              <a:rPr lang="en-IE" sz="1600" b="1" dirty="0">
                <a:solidFill>
                  <a:schemeClr val="tx1"/>
                </a:solidFill>
              </a:rPr>
              <a:t>Car</a:t>
            </a:r>
            <a:endParaRPr lang="en-IE" sz="1600" dirty="0"/>
          </a:p>
        </p:txBody>
      </p:sp>
      <p:sp>
        <p:nvSpPr>
          <p:cNvPr id="15" name="Inherited part"/>
          <p:cNvSpPr/>
          <p:nvPr/>
        </p:nvSpPr>
        <p:spPr>
          <a:xfrm>
            <a:off x="9235440" y="3840480"/>
            <a:ext cx="2267712" cy="914400"/>
          </a:xfrm>
          <a:prstGeom prst="rect">
            <a:avLst/>
          </a:prstGeom>
          <a:solidFill>
            <a:schemeClr val="bg2"/>
          </a:solidFill>
          <a:ln/>
        </p:spPr>
      </p:sp>
      <p:sp>
        <p:nvSpPr>
          <p:cNvPr id="16" name="Text 13"/>
          <p:cNvSpPr txBox="1"/>
          <p:nvPr/>
        </p:nvSpPr>
        <p:spPr>
          <a:xfrm>
            <a:off x="9354312" y="3867912"/>
            <a:ext cx="2084832" cy="256032"/>
          </a:xfrm>
          <a:prstGeom prst="rect">
            <a:avLst/>
          </a:prstGeom>
          <a:noFill/>
          <a:ln/>
        </p:spPr>
        <p:txBody>
          <a:bodyPr wrap="square" lIns="0" tIns="0" rIns="0" bIns="0" rtlCol="0" anchor="t"/>
          <a:lstStyle/>
          <a:p>
            <a:pPr indent="0" marL="0">
              <a:buNone/>
            </a:pPr>
            <a:r>
              <a:rPr lang="en-IE" sz="1150" i="1" dirty="0">
                <a:solidFill>
                  <a:schemeClr val="tx2"/>
                </a:solidFill>
              </a:rPr>
              <a:t>inherited from Vehicle</a:t>
            </a:r>
            <a:endParaRPr lang="en-IE" sz="1150" dirty="0"/>
          </a:p>
        </p:txBody>
      </p:sp>
      <p:sp>
        <p:nvSpPr>
          <p:cNvPr id="17" name="Text 14"/>
          <p:cNvSpPr txBox="1"/>
          <p:nvPr/>
        </p:nvSpPr>
        <p:spPr>
          <a:xfrm>
            <a:off x="9354312" y="4142232"/>
            <a:ext cx="2084832" cy="548640"/>
          </a:xfrm>
          <a:prstGeom prst="rect">
            <a:avLst/>
          </a:prstGeom>
          <a:noFill/>
          <a:ln/>
        </p:spPr>
        <p:txBody>
          <a:bodyPr wrap="square" lIns="0" tIns="0" rIns="0" bIns="0" rtlCol="0" anchor="t"/>
          <a:lstStyle/>
          <a:p>
            <a:pPr indent="0" marL="0">
              <a:lnSpc>
                <a:spcPts val="1900"/>
              </a:lnSpc>
              <a:buNone/>
            </a:pPr>
            <a:r>
              <a:rPr lang="en-IE" sz="1350" dirty="0">
                <a:solidFill>
                  <a:schemeClr val="tx2"/>
                </a:solidFill>
                <a:latin typeface="Consolas" pitchFamily="34" charset="0"/>
                <a:ea typeface="Consolas" pitchFamily="34" charset="-122"/>
                <a:cs typeface="Consolas" pitchFamily="34" charset="-120"/>
              </a:rPr>
              <a:t>engine</a:t>
            </a:r>
            <a:endParaRPr lang="en-IE" sz="1350" dirty="0"/>
          </a:p>
          <a:p>
            <a:pPr indent="0" marL="0">
              <a:lnSpc>
                <a:spcPts val="1900"/>
              </a:lnSpc>
              <a:buNone/>
            </a:pPr>
            <a:r>
              <a:rPr lang="en-IE" sz="1350" dirty="0">
                <a:solidFill>
                  <a:schemeClr val="tx2"/>
                </a:solidFill>
                <a:latin typeface="Consolas" pitchFamily="34" charset="0"/>
                <a:ea typeface="Consolas" pitchFamily="34" charset="-122"/>
                <a:cs typeface="Consolas" pitchFamily="34" charset="-120"/>
              </a:rPr>
              <a:t>start()</a:t>
            </a:r>
            <a:endParaRPr lang="en-IE" sz="1350" dirty="0"/>
          </a:p>
        </p:txBody>
      </p:sp>
      <p:sp>
        <p:nvSpPr>
          <p:cNvPr id="18" name="Text 15"/>
          <p:cNvSpPr txBox="1"/>
          <p:nvPr/>
        </p:nvSpPr>
        <p:spPr>
          <a:xfrm>
            <a:off x="9354312" y="4846320"/>
            <a:ext cx="2084832" cy="256032"/>
          </a:xfrm>
          <a:prstGeom prst="rect">
            <a:avLst/>
          </a:prstGeom>
          <a:noFill/>
          <a:ln/>
        </p:spPr>
        <p:txBody>
          <a:bodyPr wrap="square" lIns="0" tIns="0" rIns="0" bIns="0" rtlCol="0" anchor="t"/>
          <a:lstStyle/>
          <a:p>
            <a:pPr indent="0" marL="0">
              <a:buNone/>
            </a:pPr>
            <a:r>
              <a:rPr lang="en-IE" sz="1150" i="1" dirty="0">
                <a:solidFill>
                  <a:schemeClr val="accent1"/>
                </a:solidFill>
              </a:rPr>
              <a:t>its own</a:t>
            </a:r>
            <a:endParaRPr lang="en-IE" sz="1150" dirty="0"/>
          </a:p>
        </p:txBody>
      </p:sp>
      <p:sp>
        <p:nvSpPr>
          <p:cNvPr id="19" name="Text 16"/>
          <p:cNvSpPr txBox="1"/>
          <p:nvPr/>
        </p:nvSpPr>
        <p:spPr>
          <a:xfrm>
            <a:off x="9354312" y="5102352"/>
            <a:ext cx="2084832" cy="548640"/>
          </a:xfrm>
          <a:prstGeom prst="rect">
            <a:avLst/>
          </a:prstGeom>
          <a:noFill/>
          <a:ln/>
        </p:spPr>
        <p:txBody>
          <a:bodyPr wrap="square" lIns="0" tIns="0" rIns="0" bIns="0" rtlCol="0" anchor="t"/>
          <a:lstStyle/>
          <a:p>
            <a:pPr indent="0" marL="0">
              <a:lnSpc>
                <a:spcPts val="1900"/>
              </a:lnSpc>
              <a:buNone/>
            </a:pPr>
            <a:r>
              <a:rPr lang="en-IE" sz="1350" b="1" dirty="0">
                <a:solidFill>
                  <a:schemeClr val="tx1"/>
                </a:solidFill>
                <a:latin typeface="Consolas" pitchFamily="34" charset="0"/>
                <a:ea typeface="Consolas" pitchFamily="34" charset="-122"/>
                <a:cs typeface="Consolas" pitchFamily="34" charset="-120"/>
              </a:rPr>
              <a:t>wheels</a:t>
            </a:r>
            <a:endParaRPr lang="en-IE" sz="1350" dirty="0"/>
          </a:p>
          <a:p>
            <a:pPr indent="0" marL="0">
              <a:lnSpc>
                <a:spcPts val="1900"/>
              </a:lnSpc>
              <a:buNone/>
            </a:pPr>
            <a:r>
              <a:rPr lang="en-IE" sz="1350" b="1" dirty="0">
                <a:solidFill>
                  <a:schemeClr val="tx1"/>
                </a:solidFill>
                <a:latin typeface="Consolas" pitchFamily="34" charset="0"/>
                <a:ea typeface="Consolas" pitchFamily="34" charset="-122"/>
                <a:cs typeface="Consolas" pitchFamily="34" charset="-120"/>
              </a:rPr>
              <a:t>honk()</a:t>
            </a:r>
            <a:endParaRPr lang="en-IE" sz="1350" dirty="0"/>
          </a:p>
        </p:txBody>
      </p:sp>
      <p:sp>
        <p:nvSpPr>
          <p:cNvPr id="20" name="Line"/>
          <p:cNvSpPr/>
          <p:nvPr/>
        </p:nvSpPr>
        <p:spPr>
          <a:xfrm flipH="1">
            <a:off x="7589520" y="4297680"/>
            <a:ext cx="1508760" cy="0"/>
          </a:xfrm>
          <a:prstGeom prst="line">
            <a:avLst/>
          </a:prstGeom>
          <a:noFill/>
          <a:ln w="19050">
            <a:solidFill>
              <a:schemeClr val="tx1"/>
            </a:solidFill>
            <a:prstDash val="solid"/>
          </a:ln>
        </p:spPr>
      </p:sp>
      <p:sp>
        <p:nvSpPr>
          <p:cNvPr id="21" name="Line"/>
          <p:cNvSpPr/>
          <p:nvPr/>
        </p:nvSpPr>
        <p:spPr>
          <a:xfrm flipV="1">
            <a:off x="7589520" y="3304540"/>
            <a:ext cx="0" cy="993140"/>
          </a:xfrm>
          <a:prstGeom prst="line">
            <a:avLst/>
          </a:prstGeom>
          <a:noFill/>
          <a:ln w="19050">
            <a:solidFill>
              <a:schemeClr val="tx1"/>
            </a:solidFill>
            <a:prstDash val="solid"/>
          </a:ln>
        </p:spPr>
      </p:sp>
      <p:sp>
        <p:nvSpPr>
          <p:cNvPr id="22" name="Inheritance arrow head"/>
          <p:cNvSpPr/>
          <p:nvPr/>
        </p:nvSpPr>
        <p:spPr>
          <a:xfrm>
            <a:off x="7479792" y="3121660"/>
            <a:ext cx="219456" cy="182880"/>
          </a:xfrm>
          <a:prstGeom prst="triangle">
            <a:avLst/>
          </a:prstGeom>
          <a:solidFill>
            <a:schemeClr val="bg1"/>
          </a:solidFill>
          <a:ln w="19050">
            <a:solidFill>
              <a:schemeClr val="tx1"/>
            </a:solidFill>
            <a:prstDash val="solid"/>
          </a:ln>
        </p:spPr>
      </p:sp>
      <p:sp>
        <p:nvSpPr>
          <p:cNvPr id="23" name="Text 20"/>
          <p:cNvSpPr txBox="1"/>
          <p:nvPr/>
        </p:nvSpPr>
        <p:spPr>
          <a:xfrm>
            <a:off x="7699248" y="3959352"/>
            <a:ext cx="1463040" cy="274320"/>
          </a:xfrm>
          <a:prstGeom prst="rect">
            <a:avLst/>
          </a:prstGeom>
          <a:noFill/>
          <a:ln/>
        </p:spPr>
        <p:txBody>
          <a:bodyPr wrap="square" lIns="0" tIns="0" rIns="0" bIns="0" rtlCol="0" anchor="t"/>
          <a:lstStyle/>
          <a:p>
            <a:pPr algn="l" indent="0" marL="0">
              <a:buNone/>
            </a:pPr>
            <a:r>
              <a:rPr lang="en-IE" sz="1250" i="1" dirty="0">
                <a:solidFill>
                  <a:schemeClr val="tx2"/>
                </a:solidFill>
              </a:rPr>
              <a:t>inherits from</a:t>
            </a:r>
            <a:endParaRPr lang="en-IE"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27</a:t>
            </a:fld>
            <a:endParaRPr lang="en-I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Parents and children</a:t>
            </a:r>
            <a:endParaRPr lang="en-IE" sz="3400" dirty="0"/>
          </a:p>
        </p:txBody>
      </p:sp>
      <p:sp>
        <p:nvSpPr>
          <p:cNvPr id="5" name="Text 2"/>
          <p:cNvSpPr txBox="1"/>
          <p:nvPr/>
        </p:nvSpPr>
        <p:spPr>
          <a:xfrm>
            <a:off x="548640" y="1783080"/>
            <a:ext cx="5212080" cy="23774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Inheritance normally means family: a child inherits traits from a parent, and the parent inherited traits from their parents.</a:t>
            </a:r>
            <a:endParaRPr lang="en-IE" sz="1800" dirty="0"/>
          </a:p>
          <a:p>
            <a:pPr marL="228600" indent="-228600">
              <a:buSzPct val="100000"/>
              <a:buChar char="•"/>
            </a:pPr>
            <a:r>
              <a:rPr lang="en-IE" sz="1800" dirty="0">
                <a:solidFill>
                  <a:schemeClr val="tx1"/>
                </a:solidFill>
              </a:rPr>
              <a:t>In object orientation it’s much the same: a child class inherits attributes and behaviours from a parent class.</a:t>
            </a:r>
            <a:endParaRPr lang="en-IE" sz="1800" dirty="0"/>
          </a:p>
        </p:txBody>
      </p:sp>
      <p:pic>
        <p:nvPicPr>
          <p:cNvPr id="6" name="Family tree icon" descr="Family tree icon">    </p:cNvPr>
          <p:cNvPicPr>
            <a:picLocks noChangeAspect="1"/>
          </p:cNvPicPr>
          <p:nvPr/>
        </p:nvPicPr>
        <p:blipFill>
          <a:blip r:embed="rId1"/>
          <a:stretch>
            <a:fillRect/>
          </a:stretch>
        </p:blipFill>
        <p:spPr>
          <a:xfrm>
            <a:off x="685800" y="4343400"/>
            <a:ext cx="1097280" cy="1097280"/>
          </a:xfrm>
          <a:prstGeom prst="rect">
            <a:avLst/>
          </a:prstGeom>
        </p:spPr>
      </p:pic>
      <p:sp>
        <p:nvSpPr>
          <p:cNvPr id="7" name="Text 3"/>
          <p:cNvSpPr txBox="1"/>
          <p:nvPr/>
        </p:nvSpPr>
        <p:spPr>
          <a:xfrm>
            <a:off x="1965960" y="4526280"/>
            <a:ext cx="3657600" cy="731520"/>
          </a:xfrm>
          <a:prstGeom prst="rect">
            <a:avLst/>
          </a:prstGeom>
          <a:noFill/>
          <a:ln/>
        </p:spPr>
        <p:txBody>
          <a:bodyPr wrap="square" lIns="0" tIns="0" rIns="0" bIns="0" rtlCol="0" anchor="ctr"/>
          <a:lstStyle/>
          <a:p>
            <a:pPr indent="0" marL="0">
              <a:buNone/>
            </a:pPr>
            <a:r>
              <a:rPr lang="en-IE" sz="1700" i="1" dirty="0">
                <a:solidFill>
                  <a:schemeClr val="tx2"/>
                </a:solidFill>
              </a:rPr>
              <a:t>parent → child → grandchild</a:t>
            </a:r>
            <a:endParaRPr lang="en-IE" sz="1700" dirty="0"/>
          </a:p>
        </p:txBody>
      </p:sp>
      <p:sp>
        <p:nvSpPr>
          <p:cNvPr id="8" name="The parent"/>
          <p:cNvSpPr/>
          <p:nvPr/>
        </p:nvSpPr>
        <p:spPr>
          <a:xfrm>
            <a:off x="6172200" y="1783080"/>
            <a:ext cx="2651760" cy="4160520"/>
          </a:xfrm>
          <a:prstGeom prst="roundRect">
            <a:avLst>
              <a:gd name="adj" fmla="val 4138"/>
            </a:avLst>
          </a:prstGeom>
          <a:solidFill>
            <a:schemeClr val="bg1"/>
          </a:solidFill>
          <a:ln/>
          <a:effectLst>
            <a:outerShdw sx="100000" sy="100000" kx="0" ky="0" algn="bl" rotWithShape="0" blurRad="114300" dist="31750" dir="5400000">
              <a:srgbClr val="1D2433">
                <a:alpha val="12000"/>
              </a:srgbClr>
            </a:outerShdw>
          </a:effectLst>
        </p:spPr>
      </p:sp>
      <p:sp>
        <p:nvSpPr>
          <p:cNvPr id="9" name="Icon tile"/>
          <p:cNvSpPr/>
          <p:nvPr/>
        </p:nvSpPr>
        <p:spPr>
          <a:xfrm>
            <a:off x="6446520" y="2057400"/>
            <a:ext cx="640080" cy="640080"/>
          </a:xfrm>
          <a:prstGeom prst="roundRect">
            <a:avLst>
              <a:gd name="adj" fmla="val 24000"/>
            </a:avLst>
          </a:prstGeom>
          <a:solidFill>
            <a:schemeClr val="accent2">
              <a:alpha val="14000"/>
            </a:schemeClr>
          </a:solidFill>
          <a:ln/>
        </p:spPr>
      </p:sp>
      <p:pic>
        <p:nvPicPr>
          <p:cNvPr id="10" name="user circle icon" descr="user circle icon">    </p:cNvPr>
          <p:cNvPicPr>
            <a:picLocks noChangeAspect="1"/>
          </p:cNvPicPr>
          <p:nvPr/>
        </p:nvPicPr>
        <p:blipFill>
          <a:blip r:embed="rId2"/>
          <a:stretch>
            <a:fillRect/>
          </a:stretch>
        </p:blipFill>
        <p:spPr>
          <a:xfrm>
            <a:off x="6580937" y="2191817"/>
            <a:ext cx="371246" cy="371246"/>
          </a:xfrm>
          <a:prstGeom prst="rect">
            <a:avLst/>
          </a:prstGeom>
        </p:spPr>
      </p:pic>
      <p:sp>
        <p:nvSpPr>
          <p:cNvPr id="11" name="Text 6"/>
          <p:cNvSpPr txBox="1"/>
          <p:nvPr/>
        </p:nvSpPr>
        <p:spPr>
          <a:xfrm>
            <a:off x="6446520" y="2834640"/>
            <a:ext cx="2103120" cy="411480"/>
          </a:xfrm>
          <a:prstGeom prst="rect">
            <a:avLst/>
          </a:prstGeom>
          <a:noFill/>
          <a:ln/>
        </p:spPr>
        <p:txBody>
          <a:bodyPr wrap="square" lIns="0" tIns="0" rIns="0" bIns="0" rtlCol="0" anchor="t"/>
          <a:lstStyle/>
          <a:p>
            <a:pPr indent="0" marL="0">
              <a:buNone/>
            </a:pPr>
            <a:r>
              <a:rPr lang="en-IE" sz="2000" b="1" dirty="0">
                <a:solidFill>
                  <a:schemeClr val="tx1"/>
                </a:solidFill>
              </a:rPr>
              <a:t>The parent</a:t>
            </a:r>
            <a:endParaRPr lang="en-IE" sz="2000" dirty="0"/>
          </a:p>
        </p:txBody>
      </p:sp>
      <p:sp>
        <p:nvSpPr>
          <p:cNvPr id="12" name="Text 7"/>
          <p:cNvSpPr txBox="1"/>
          <p:nvPr/>
        </p:nvSpPr>
        <p:spPr>
          <a:xfrm>
            <a:off x="6446520" y="3291840"/>
            <a:ext cx="2103120" cy="274320"/>
          </a:xfrm>
          <a:prstGeom prst="rect">
            <a:avLst/>
          </a:prstGeom>
          <a:noFill/>
          <a:ln/>
        </p:spPr>
        <p:txBody>
          <a:bodyPr wrap="square" lIns="0" tIns="0" rIns="0" bIns="0" rtlCol="0" anchor="t"/>
          <a:lstStyle/>
          <a:p>
            <a:pPr indent="0" marL="0">
              <a:buNone/>
            </a:pPr>
            <a:r>
              <a:rPr lang="en-IE" sz="1300" i="1" dirty="0">
                <a:solidFill>
                  <a:schemeClr val="tx2"/>
                </a:solidFill>
              </a:rPr>
              <a:t>also called</a:t>
            </a:r>
            <a:endParaRPr lang="en-IE" sz="1300" dirty="0"/>
          </a:p>
        </p:txBody>
      </p:sp>
      <p:sp>
        <p:nvSpPr>
          <p:cNvPr id="13" name="Name"/>
          <p:cNvSpPr/>
          <p:nvPr/>
        </p:nvSpPr>
        <p:spPr>
          <a:xfrm>
            <a:off x="6446520" y="3657600"/>
            <a:ext cx="2103120" cy="475488"/>
          </a:xfrm>
          <a:prstGeom prst="roundRect">
            <a:avLst>
              <a:gd name="adj" fmla="val 15385"/>
            </a:avLst>
          </a:prstGeom>
          <a:solidFill>
            <a:schemeClr val="accent2">
              <a:alpha val="12000"/>
            </a:schemeClr>
          </a:solidFill>
          <a:ln/>
        </p:spPr>
        <p:txBody>
          <a:bodyPr wrap="square" lIns="0" tIns="0" rIns="0" bIns="0" rtlCol="0" anchor="ctr"/>
          <a:lstStyle/>
          <a:p>
            <a:pPr algn="ctr" indent="0" marL="0">
              <a:buNone/>
            </a:pPr>
            <a:r>
              <a:rPr lang="en-IE" sz="1600" b="1" dirty="0">
                <a:solidFill>
                  <a:schemeClr val="tx1"/>
                </a:solidFill>
              </a:rPr>
              <a:t>superclass</a:t>
            </a:r>
            <a:endParaRPr lang="en-IE" sz="1600" dirty="0"/>
          </a:p>
        </p:txBody>
      </p:sp>
      <p:sp>
        <p:nvSpPr>
          <p:cNvPr id="14" name="Name"/>
          <p:cNvSpPr/>
          <p:nvPr/>
        </p:nvSpPr>
        <p:spPr>
          <a:xfrm>
            <a:off x="6446520" y="4279392"/>
            <a:ext cx="2103120" cy="475488"/>
          </a:xfrm>
          <a:prstGeom prst="roundRect">
            <a:avLst>
              <a:gd name="adj" fmla="val 15385"/>
            </a:avLst>
          </a:prstGeom>
          <a:solidFill>
            <a:schemeClr val="accent2">
              <a:alpha val="12000"/>
            </a:schemeClr>
          </a:solidFill>
          <a:ln/>
        </p:spPr>
        <p:txBody>
          <a:bodyPr wrap="square" lIns="0" tIns="0" rIns="0" bIns="0" rtlCol="0" anchor="ctr"/>
          <a:lstStyle/>
          <a:p>
            <a:pPr algn="ctr" indent="0" marL="0">
              <a:buNone/>
            </a:pPr>
            <a:r>
              <a:rPr lang="en-IE" sz="1600" b="1" dirty="0">
                <a:solidFill>
                  <a:schemeClr val="tx1"/>
                </a:solidFill>
              </a:rPr>
              <a:t>base class</a:t>
            </a:r>
            <a:endParaRPr lang="en-IE" sz="1600" dirty="0"/>
          </a:p>
        </p:txBody>
      </p:sp>
      <p:sp>
        <p:nvSpPr>
          <p:cNvPr id="15" name="The child"/>
          <p:cNvSpPr/>
          <p:nvPr/>
        </p:nvSpPr>
        <p:spPr>
          <a:xfrm>
            <a:off x="8988552" y="1783080"/>
            <a:ext cx="2651760" cy="4160520"/>
          </a:xfrm>
          <a:prstGeom prst="roundRect">
            <a:avLst>
              <a:gd name="adj" fmla="val 4138"/>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9262872" y="2057400"/>
            <a:ext cx="640080" cy="640080"/>
          </a:xfrm>
          <a:prstGeom prst="roundRect">
            <a:avLst>
              <a:gd name="adj" fmla="val 24000"/>
            </a:avLst>
          </a:prstGeom>
          <a:solidFill>
            <a:schemeClr val="accent1">
              <a:alpha val="14000"/>
            </a:schemeClr>
          </a:solidFill>
          <a:ln/>
        </p:spPr>
      </p:sp>
      <p:pic>
        <p:nvPicPr>
          <p:cNvPr id="17" name="user icon" descr="user icon">    </p:cNvPr>
          <p:cNvPicPr>
            <a:picLocks noChangeAspect="1"/>
          </p:cNvPicPr>
          <p:nvPr/>
        </p:nvPicPr>
        <p:blipFill>
          <a:blip r:embed="rId3"/>
          <a:stretch>
            <a:fillRect/>
          </a:stretch>
        </p:blipFill>
        <p:spPr>
          <a:xfrm>
            <a:off x="9397289" y="2191817"/>
            <a:ext cx="371246" cy="371246"/>
          </a:xfrm>
          <a:prstGeom prst="rect">
            <a:avLst/>
          </a:prstGeom>
        </p:spPr>
      </p:pic>
      <p:sp>
        <p:nvSpPr>
          <p:cNvPr id="18" name="Text 12"/>
          <p:cNvSpPr txBox="1"/>
          <p:nvPr/>
        </p:nvSpPr>
        <p:spPr>
          <a:xfrm>
            <a:off x="9262872" y="2834640"/>
            <a:ext cx="2103120" cy="411480"/>
          </a:xfrm>
          <a:prstGeom prst="rect">
            <a:avLst/>
          </a:prstGeom>
          <a:noFill/>
          <a:ln/>
        </p:spPr>
        <p:txBody>
          <a:bodyPr wrap="square" lIns="0" tIns="0" rIns="0" bIns="0" rtlCol="0" anchor="t"/>
          <a:lstStyle/>
          <a:p>
            <a:pPr indent="0" marL="0">
              <a:buNone/>
            </a:pPr>
            <a:r>
              <a:rPr lang="en-IE" sz="2000" b="1" dirty="0">
                <a:solidFill>
                  <a:schemeClr val="tx1"/>
                </a:solidFill>
              </a:rPr>
              <a:t>The child</a:t>
            </a:r>
            <a:endParaRPr lang="en-IE" sz="2000" dirty="0"/>
          </a:p>
        </p:txBody>
      </p:sp>
      <p:sp>
        <p:nvSpPr>
          <p:cNvPr id="19" name="Text 13"/>
          <p:cNvSpPr txBox="1"/>
          <p:nvPr/>
        </p:nvSpPr>
        <p:spPr>
          <a:xfrm>
            <a:off x="9262872" y="3291840"/>
            <a:ext cx="2103120" cy="274320"/>
          </a:xfrm>
          <a:prstGeom prst="rect">
            <a:avLst/>
          </a:prstGeom>
          <a:noFill/>
          <a:ln/>
        </p:spPr>
        <p:txBody>
          <a:bodyPr wrap="square" lIns="0" tIns="0" rIns="0" bIns="0" rtlCol="0" anchor="t"/>
          <a:lstStyle/>
          <a:p>
            <a:pPr indent="0" marL="0">
              <a:buNone/>
            </a:pPr>
            <a:r>
              <a:rPr lang="en-IE" sz="1300" i="1" dirty="0">
                <a:solidFill>
                  <a:schemeClr val="tx2"/>
                </a:solidFill>
              </a:rPr>
              <a:t>also called</a:t>
            </a:r>
            <a:endParaRPr lang="en-IE" sz="1300" dirty="0"/>
          </a:p>
        </p:txBody>
      </p:sp>
      <p:sp>
        <p:nvSpPr>
          <p:cNvPr id="20" name="Name"/>
          <p:cNvSpPr/>
          <p:nvPr/>
        </p:nvSpPr>
        <p:spPr>
          <a:xfrm>
            <a:off x="9262872" y="3657600"/>
            <a:ext cx="2103120" cy="475488"/>
          </a:xfrm>
          <a:prstGeom prst="roundRect">
            <a:avLst>
              <a:gd name="adj" fmla="val 15385"/>
            </a:avLst>
          </a:prstGeom>
          <a:solidFill>
            <a:schemeClr val="accent1">
              <a:alpha val="12000"/>
            </a:schemeClr>
          </a:solidFill>
          <a:ln/>
        </p:spPr>
        <p:txBody>
          <a:bodyPr wrap="square" lIns="0" tIns="0" rIns="0" bIns="0" rtlCol="0" anchor="ctr"/>
          <a:lstStyle/>
          <a:p>
            <a:pPr algn="ctr" indent="0" marL="0">
              <a:buNone/>
            </a:pPr>
            <a:r>
              <a:rPr lang="en-IE" sz="1600" b="1" dirty="0">
                <a:solidFill>
                  <a:schemeClr val="tx1"/>
                </a:solidFill>
              </a:rPr>
              <a:t>subclass</a:t>
            </a:r>
            <a:endParaRPr lang="en-IE" sz="1600" dirty="0"/>
          </a:p>
        </p:txBody>
      </p:sp>
      <p:sp>
        <p:nvSpPr>
          <p:cNvPr id="21" name="Name"/>
          <p:cNvSpPr/>
          <p:nvPr/>
        </p:nvSpPr>
        <p:spPr>
          <a:xfrm>
            <a:off x="9262872" y="4279392"/>
            <a:ext cx="2103120" cy="475488"/>
          </a:xfrm>
          <a:prstGeom prst="roundRect">
            <a:avLst>
              <a:gd name="adj" fmla="val 15385"/>
            </a:avLst>
          </a:prstGeom>
          <a:solidFill>
            <a:schemeClr val="accent1">
              <a:alpha val="12000"/>
            </a:schemeClr>
          </a:solidFill>
          <a:ln/>
        </p:spPr>
        <p:txBody>
          <a:bodyPr wrap="square" lIns="0" tIns="0" rIns="0" bIns="0" rtlCol="0" anchor="ctr"/>
          <a:lstStyle/>
          <a:p>
            <a:pPr algn="ctr" indent="0" marL="0">
              <a:buNone/>
            </a:pPr>
            <a:r>
              <a:rPr lang="en-IE" sz="1600" b="1" dirty="0">
                <a:solidFill>
                  <a:schemeClr val="tx1"/>
                </a:solidFill>
              </a:rPr>
              <a:t>derived class</a:t>
            </a:r>
            <a:endParaRPr lang="en-IE" sz="1600" dirty="0"/>
          </a:p>
        </p:txBody>
      </p:sp>
      <p:sp>
        <p:nvSpPr>
          <p:cNvPr id="22" name="Name"/>
          <p:cNvSpPr/>
          <p:nvPr/>
        </p:nvSpPr>
        <p:spPr>
          <a:xfrm>
            <a:off x="9262872" y="4901184"/>
            <a:ext cx="2103120" cy="475488"/>
          </a:xfrm>
          <a:prstGeom prst="roundRect">
            <a:avLst>
              <a:gd name="adj" fmla="val 15385"/>
            </a:avLst>
          </a:prstGeom>
          <a:solidFill>
            <a:schemeClr val="accent1">
              <a:alpha val="12000"/>
            </a:schemeClr>
          </a:solidFill>
          <a:ln/>
        </p:spPr>
        <p:txBody>
          <a:bodyPr wrap="square" lIns="0" tIns="0" rIns="0" bIns="0" rtlCol="0" anchor="ctr"/>
          <a:lstStyle/>
          <a:p>
            <a:pPr algn="ctr" indent="0" marL="0">
              <a:buNone/>
            </a:pPr>
            <a:r>
              <a:rPr lang="en-IE" sz="1600" b="1" dirty="0">
                <a:solidFill>
                  <a:schemeClr val="tx1"/>
                </a:solidFill>
              </a:rPr>
              <a:t>extended class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28</a:t>
            </a:fld>
            <a:endParaRPr lang="en-I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8</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Inheritance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is another name for a parent class?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Subclass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Derived class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Superclass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Extended class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29</a:t>
            </a:fld>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8</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Inheritance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is another name for a parent class?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Subclass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Derived class</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Superclass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Extended class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parent class is also called a superclass or a base class. Subclass, derived class and extended class are all names for the child.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30</a:t>
            </a:fld>
            <a:endParaRPr lang="en-I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Example: the vehicle family</a:t>
            </a:r>
            <a:endParaRPr lang="en-IE" sz="3400" dirty="0"/>
          </a:p>
        </p:txBody>
      </p:sp>
      <p:sp>
        <p:nvSpPr>
          <p:cNvPr id="5" name="Text 2"/>
          <p:cNvSpPr txBox="1"/>
          <p:nvPr/>
        </p:nvSpPr>
        <p:spPr>
          <a:xfrm>
            <a:off x="548640" y="1783080"/>
            <a:ext cx="5120640" cy="420624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Vehicle has an engine attribute.</a:t>
            </a:r>
            <a:endParaRPr lang="en-IE" sz="1800" dirty="0"/>
          </a:p>
          <a:p>
            <a:pPr marL="228600" indent="-228600">
              <a:spcAft>
                <a:spcPts val="1200"/>
              </a:spcAft>
              <a:buSzPct val="100000"/>
              <a:buChar char="•"/>
            </a:pPr>
            <a:r>
              <a:rPr lang="en-IE" sz="1800" dirty="0">
                <a:solidFill>
                  <a:schemeClr val="tx1"/>
                </a:solidFill>
              </a:rPr>
              <a:t>Car and Boat both need an engine. Rather than declare it twice, both inherit it from Vehicle.</a:t>
            </a:r>
            <a:endParaRPr lang="en-IE" sz="1800" dirty="0"/>
          </a:p>
          <a:p>
            <a:pPr marL="228600" indent="-228600">
              <a:spcAft>
                <a:spcPts val="1200"/>
              </a:spcAft>
              <a:buSzPct val="100000"/>
              <a:buChar char="•"/>
            </a:pPr>
            <a:r>
              <a:rPr lang="en-IE" sz="1800" dirty="0">
                <a:solidFill>
                  <a:schemeClr val="tx1"/>
                </a:solidFill>
              </a:rPr>
              <a:t>Then each adds its own: a car has wheels, a boat has an anchor.</a:t>
            </a:r>
            <a:endParaRPr lang="en-IE" sz="1800" dirty="0"/>
          </a:p>
          <a:p>
            <a:pPr marL="228600" indent="-228600">
              <a:buSzPct val="100000"/>
              <a:buChar char="•"/>
            </a:pPr>
            <a:r>
              <a:rPr lang="en-IE" sz="1800" dirty="0">
                <a:solidFill>
                  <a:schemeClr val="tx1"/>
                </a:solidFill>
              </a:rPr>
              <a:t>These go in the children, not the parent: a car doesn’t need an anchor, and a boat doesn’t need wheels.</a:t>
            </a:r>
            <a:endParaRPr lang="en-IE" sz="1800" dirty="0"/>
          </a:p>
        </p:txBody>
      </p:sp>
      <p:sp>
        <p:nvSpPr>
          <p:cNvPr id="6" name="Class Vehicle"/>
          <p:cNvSpPr/>
          <p:nvPr/>
        </p:nvSpPr>
        <p:spPr>
          <a:xfrm>
            <a:off x="7589520" y="1783080"/>
            <a:ext cx="2560320" cy="916305"/>
          </a:xfrm>
          <a:prstGeom prst="rect">
            <a:avLst/>
          </a:prstGeom>
          <a:solidFill>
            <a:schemeClr val="bg1"/>
          </a:solidFill>
          <a:ln w="19050">
            <a:solidFill>
              <a:schemeClr val="accent2"/>
            </a:solidFill>
            <a:prstDash val="solid"/>
          </a:ln>
          <a:effectLst>
            <a:outerShdw sx="100000" sy="100000" kx="0" ky="0" algn="bl" rotWithShape="0" blurRad="76200" dist="19050" dir="5400000">
              <a:srgbClr val="1D2433">
                <a:alpha val="8000"/>
              </a:srgbClr>
            </a:outerShdw>
          </a:effectLst>
        </p:spPr>
      </p:sp>
      <p:sp>
        <p:nvSpPr>
          <p:cNvPr id="7" name="Class Vehicle header"/>
          <p:cNvSpPr/>
          <p:nvPr/>
        </p:nvSpPr>
        <p:spPr>
          <a:xfrm>
            <a:off x="7589520" y="1783080"/>
            <a:ext cx="2560320" cy="457200"/>
          </a:xfrm>
          <a:prstGeom prst="rect">
            <a:avLst/>
          </a:prstGeom>
          <a:solidFill>
            <a:schemeClr val="accent2">
              <a:alpha val="14000"/>
            </a:schemeClr>
          </a:solidFill>
          <a:ln w="19050">
            <a:solidFill>
              <a:schemeClr val="accent2"/>
            </a:solidFill>
            <a:prstDash val="solid"/>
          </a:ln>
        </p:spPr>
      </p:sp>
      <p:sp>
        <p:nvSpPr>
          <p:cNvPr id="8" name="Text 5"/>
          <p:cNvSpPr txBox="1"/>
          <p:nvPr/>
        </p:nvSpPr>
        <p:spPr>
          <a:xfrm>
            <a:off x="7589520" y="1819656"/>
            <a:ext cx="2560320" cy="384048"/>
          </a:xfrm>
          <a:prstGeom prst="rect">
            <a:avLst/>
          </a:prstGeom>
          <a:noFill/>
          <a:ln/>
        </p:spPr>
        <p:txBody>
          <a:bodyPr wrap="square" lIns="0" tIns="0" rIns="0" bIns="0" rtlCol="0" anchor="ctr"/>
          <a:lstStyle/>
          <a:p>
            <a:pPr algn="ctr" indent="0" marL="0">
              <a:buNone/>
            </a:pPr>
            <a:r>
              <a:rPr lang="en-IE" sz="1600" b="1" dirty="0">
                <a:solidFill>
                  <a:schemeClr val="tx1"/>
                </a:solidFill>
              </a:rPr>
              <a:t>Vehicle</a:t>
            </a:r>
            <a:endParaRPr lang="en-IE" sz="1600" dirty="0"/>
          </a:p>
        </p:txBody>
      </p:sp>
      <p:sp>
        <p:nvSpPr>
          <p:cNvPr id="9" name="Vehicle attributes"/>
          <p:cNvSpPr txBox="1"/>
          <p:nvPr/>
        </p:nvSpPr>
        <p:spPr>
          <a:xfrm>
            <a:off x="7717536" y="2331720"/>
            <a:ext cx="2304288" cy="276225"/>
          </a:xfrm>
          <a:prstGeom prst="rect">
            <a:avLst/>
          </a:prstGeom>
          <a:noFill/>
          <a:ln/>
        </p:spPr>
        <p:txBody>
          <a:bodyPr wrap="square" lIns="0" tIns="0" rIns="0" bIns="0" rtlCol="0" anchor="t"/>
          <a:lstStyle/>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engine</a:t>
            </a:r>
            <a:endParaRPr lang="en-IE" sz="1500" dirty="0"/>
          </a:p>
        </p:txBody>
      </p:sp>
      <p:sp>
        <p:nvSpPr>
          <p:cNvPr id="10" name="Class Car"/>
          <p:cNvSpPr/>
          <p:nvPr/>
        </p:nvSpPr>
        <p:spPr>
          <a:xfrm>
            <a:off x="6172200" y="4023360"/>
            <a:ext cx="2377440" cy="916305"/>
          </a:xfrm>
          <a:prstGeom prst="rect">
            <a:avLst/>
          </a:prstGeom>
          <a:solidFill>
            <a:schemeClr val="bg1"/>
          </a:solidFill>
          <a:ln w="19050">
            <a:solidFill>
              <a:schemeClr val="accent1"/>
            </a:solidFill>
            <a:prstDash val="solid"/>
          </a:ln>
          <a:effectLst>
            <a:outerShdw sx="100000" sy="100000" kx="0" ky="0" algn="bl" rotWithShape="0" blurRad="76200" dist="19050" dir="5400000">
              <a:srgbClr val="1D2433">
                <a:alpha val="8000"/>
              </a:srgbClr>
            </a:outerShdw>
          </a:effectLst>
        </p:spPr>
      </p:sp>
      <p:sp>
        <p:nvSpPr>
          <p:cNvPr id="11" name="Class Car header"/>
          <p:cNvSpPr/>
          <p:nvPr/>
        </p:nvSpPr>
        <p:spPr>
          <a:xfrm>
            <a:off x="6172200" y="4023360"/>
            <a:ext cx="2377440" cy="457200"/>
          </a:xfrm>
          <a:prstGeom prst="rect">
            <a:avLst/>
          </a:prstGeom>
          <a:solidFill>
            <a:schemeClr val="accent1">
              <a:alpha val="14000"/>
            </a:schemeClr>
          </a:solidFill>
          <a:ln w="19050">
            <a:solidFill>
              <a:schemeClr val="accent1"/>
            </a:solidFill>
            <a:prstDash val="solid"/>
          </a:ln>
        </p:spPr>
      </p:sp>
      <p:sp>
        <p:nvSpPr>
          <p:cNvPr id="12" name="Text 9"/>
          <p:cNvSpPr txBox="1"/>
          <p:nvPr/>
        </p:nvSpPr>
        <p:spPr>
          <a:xfrm>
            <a:off x="6172200" y="4059936"/>
            <a:ext cx="2377440" cy="384048"/>
          </a:xfrm>
          <a:prstGeom prst="rect">
            <a:avLst/>
          </a:prstGeom>
          <a:noFill/>
          <a:ln/>
        </p:spPr>
        <p:txBody>
          <a:bodyPr wrap="square" lIns="0" tIns="0" rIns="0" bIns="0" rtlCol="0" anchor="ctr"/>
          <a:lstStyle/>
          <a:p>
            <a:pPr algn="ctr" indent="0" marL="0">
              <a:buNone/>
            </a:pPr>
            <a:r>
              <a:rPr lang="en-IE" sz="1600" b="1" dirty="0">
                <a:solidFill>
                  <a:schemeClr val="tx1"/>
                </a:solidFill>
              </a:rPr>
              <a:t>Car</a:t>
            </a:r>
            <a:endParaRPr lang="en-IE" sz="1600" dirty="0"/>
          </a:p>
        </p:txBody>
      </p:sp>
      <p:sp>
        <p:nvSpPr>
          <p:cNvPr id="13" name="Car attributes"/>
          <p:cNvSpPr txBox="1"/>
          <p:nvPr/>
        </p:nvSpPr>
        <p:spPr>
          <a:xfrm>
            <a:off x="6300216" y="4572000"/>
            <a:ext cx="2121408" cy="276225"/>
          </a:xfrm>
          <a:prstGeom prst="rect">
            <a:avLst/>
          </a:prstGeom>
          <a:noFill/>
          <a:ln/>
        </p:spPr>
        <p:txBody>
          <a:bodyPr wrap="square" lIns="0" tIns="0" rIns="0" bIns="0" rtlCol="0" anchor="t"/>
          <a:lstStyle/>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wheels</a:t>
            </a:r>
            <a:endParaRPr lang="en-IE" sz="1500" dirty="0"/>
          </a:p>
        </p:txBody>
      </p:sp>
      <p:sp>
        <p:nvSpPr>
          <p:cNvPr id="14" name="Class Boat"/>
          <p:cNvSpPr/>
          <p:nvPr/>
        </p:nvSpPr>
        <p:spPr>
          <a:xfrm>
            <a:off x="9262872" y="4023360"/>
            <a:ext cx="2377440" cy="916305"/>
          </a:xfrm>
          <a:prstGeom prst="rect">
            <a:avLst/>
          </a:prstGeom>
          <a:solidFill>
            <a:schemeClr val="bg1"/>
          </a:solidFill>
          <a:ln w="19050">
            <a:solidFill>
              <a:schemeClr val="accent1"/>
            </a:solidFill>
            <a:prstDash val="solid"/>
          </a:ln>
          <a:effectLst>
            <a:outerShdw sx="100000" sy="100000" kx="0" ky="0" algn="bl" rotWithShape="0" blurRad="76200" dist="19050" dir="5400000">
              <a:srgbClr val="1D2433">
                <a:alpha val="8000"/>
              </a:srgbClr>
            </a:outerShdw>
          </a:effectLst>
        </p:spPr>
      </p:sp>
      <p:sp>
        <p:nvSpPr>
          <p:cNvPr id="15" name="Class Boat header"/>
          <p:cNvSpPr/>
          <p:nvPr/>
        </p:nvSpPr>
        <p:spPr>
          <a:xfrm>
            <a:off x="9262872" y="4023360"/>
            <a:ext cx="2377440" cy="457200"/>
          </a:xfrm>
          <a:prstGeom prst="rect">
            <a:avLst/>
          </a:prstGeom>
          <a:solidFill>
            <a:schemeClr val="accent1">
              <a:alpha val="14000"/>
            </a:schemeClr>
          </a:solidFill>
          <a:ln w="19050">
            <a:solidFill>
              <a:schemeClr val="accent1"/>
            </a:solidFill>
            <a:prstDash val="solid"/>
          </a:ln>
        </p:spPr>
      </p:sp>
      <p:sp>
        <p:nvSpPr>
          <p:cNvPr id="16" name="Text 13"/>
          <p:cNvSpPr txBox="1"/>
          <p:nvPr/>
        </p:nvSpPr>
        <p:spPr>
          <a:xfrm>
            <a:off x="9262872" y="4059936"/>
            <a:ext cx="2377440" cy="384048"/>
          </a:xfrm>
          <a:prstGeom prst="rect">
            <a:avLst/>
          </a:prstGeom>
          <a:noFill/>
          <a:ln/>
        </p:spPr>
        <p:txBody>
          <a:bodyPr wrap="square" lIns="0" tIns="0" rIns="0" bIns="0" rtlCol="0" anchor="ctr"/>
          <a:lstStyle/>
          <a:p>
            <a:pPr algn="ctr" indent="0" marL="0">
              <a:buNone/>
            </a:pPr>
            <a:r>
              <a:rPr lang="en-IE" sz="1600" b="1" dirty="0">
                <a:solidFill>
                  <a:schemeClr val="tx1"/>
                </a:solidFill>
              </a:rPr>
              <a:t>Boat</a:t>
            </a:r>
            <a:endParaRPr lang="en-IE" sz="1600" dirty="0"/>
          </a:p>
        </p:txBody>
      </p:sp>
      <p:sp>
        <p:nvSpPr>
          <p:cNvPr id="17" name="Boat attributes"/>
          <p:cNvSpPr txBox="1"/>
          <p:nvPr/>
        </p:nvSpPr>
        <p:spPr>
          <a:xfrm>
            <a:off x="9390888" y="4572000"/>
            <a:ext cx="2121408" cy="276225"/>
          </a:xfrm>
          <a:prstGeom prst="rect">
            <a:avLst/>
          </a:prstGeom>
          <a:noFill/>
          <a:ln/>
        </p:spPr>
        <p:txBody>
          <a:bodyPr wrap="square" lIns="0" tIns="0" rIns="0" bIns="0" rtlCol="0" anchor="t"/>
          <a:lstStyle/>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anchor</a:t>
            </a:r>
            <a:endParaRPr lang="en-IE" sz="1500" dirty="0"/>
          </a:p>
        </p:txBody>
      </p:sp>
      <p:sp>
        <p:nvSpPr>
          <p:cNvPr id="18" name="Line"/>
          <p:cNvSpPr/>
          <p:nvPr/>
        </p:nvSpPr>
        <p:spPr>
          <a:xfrm flipV="1">
            <a:off x="8869680" y="2882265"/>
            <a:ext cx="0" cy="479108"/>
          </a:xfrm>
          <a:prstGeom prst="line">
            <a:avLst/>
          </a:prstGeom>
          <a:noFill/>
          <a:ln w="19050">
            <a:solidFill>
              <a:schemeClr val="tx1"/>
            </a:solidFill>
            <a:prstDash val="solid"/>
          </a:ln>
        </p:spPr>
      </p:sp>
      <p:sp>
        <p:nvSpPr>
          <p:cNvPr id="19" name="Line"/>
          <p:cNvSpPr/>
          <p:nvPr/>
        </p:nvSpPr>
        <p:spPr>
          <a:xfrm>
            <a:off x="7360920" y="3361373"/>
            <a:ext cx="3090672" cy="0"/>
          </a:xfrm>
          <a:prstGeom prst="line">
            <a:avLst/>
          </a:prstGeom>
          <a:noFill/>
          <a:ln w="19050">
            <a:solidFill>
              <a:schemeClr val="tx1"/>
            </a:solidFill>
            <a:prstDash val="solid"/>
          </a:ln>
        </p:spPr>
      </p:sp>
      <p:sp>
        <p:nvSpPr>
          <p:cNvPr id="20" name="Line"/>
          <p:cNvSpPr/>
          <p:nvPr/>
        </p:nvSpPr>
        <p:spPr>
          <a:xfrm flipV="1">
            <a:off x="7360920" y="3361373"/>
            <a:ext cx="0" cy="661988"/>
          </a:xfrm>
          <a:prstGeom prst="line">
            <a:avLst/>
          </a:prstGeom>
          <a:noFill/>
          <a:ln w="19050">
            <a:solidFill>
              <a:schemeClr val="tx1"/>
            </a:solidFill>
            <a:prstDash val="solid"/>
          </a:ln>
        </p:spPr>
      </p:sp>
      <p:sp>
        <p:nvSpPr>
          <p:cNvPr id="21" name="Line"/>
          <p:cNvSpPr/>
          <p:nvPr/>
        </p:nvSpPr>
        <p:spPr>
          <a:xfrm flipV="1">
            <a:off x="10451592" y="3361373"/>
            <a:ext cx="0" cy="661988"/>
          </a:xfrm>
          <a:prstGeom prst="line">
            <a:avLst/>
          </a:prstGeom>
          <a:noFill/>
          <a:ln w="19050">
            <a:solidFill>
              <a:schemeClr val="tx1"/>
            </a:solidFill>
            <a:prstDash val="solid"/>
          </a:ln>
        </p:spPr>
      </p:sp>
      <p:sp>
        <p:nvSpPr>
          <p:cNvPr id="22" name="Inheritance arrow head"/>
          <p:cNvSpPr/>
          <p:nvPr/>
        </p:nvSpPr>
        <p:spPr>
          <a:xfrm>
            <a:off x="8759952" y="2699385"/>
            <a:ext cx="219456" cy="182880"/>
          </a:xfrm>
          <a:prstGeom prst="triangle">
            <a:avLst/>
          </a:prstGeom>
          <a:solidFill>
            <a:schemeClr val="bg1"/>
          </a:solidFill>
          <a:ln w="19050">
            <a:solidFill>
              <a:schemeClr val="tx1"/>
            </a:solidFill>
            <a:prstDash val="solid"/>
          </a:ln>
        </p:spPr>
      </p:sp>
      <p:pic>
        <p:nvPicPr>
          <p:cNvPr id="23" name="Engine icon" descr="Engine icon">    </p:cNvPr>
          <p:cNvPicPr>
            <a:picLocks noChangeAspect="1"/>
          </p:cNvPicPr>
          <p:nvPr/>
        </p:nvPicPr>
        <p:blipFill>
          <a:blip r:embed="rId1"/>
          <a:stretch>
            <a:fillRect/>
          </a:stretch>
        </p:blipFill>
        <p:spPr>
          <a:xfrm>
            <a:off x="9646920" y="2295144"/>
            <a:ext cx="347472" cy="347472"/>
          </a:xfrm>
          <a:prstGeom prst="rect">
            <a:avLst/>
          </a:prstGeom>
        </p:spPr>
      </p:pic>
      <p:pic>
        <p:nvPicPr>
          <p:cNvPr id="24" name="Wheel icon" descr="Wheel icon">    </p:cNvPr>
          <p:cNvPicPr>
            <a:picLocks noChangeAspect="1"/>
          </p:cNvPicPr>
          <p:nvPr/>
        </p:nvPicPr>
        <p:blipFill>
          <a:blip r:embed="rId2"/>
          <a:stretch>
            <a:fillRect/>
          </a:stretch>
        </p:blipFill>
        <p:spPr>
          <a:xfrm>
            <a:off x="8046720" y="4535424"/>
            <a:ext cx="347472" cy="347472"/>
          </a:xfrm>
          <a:prstGeom prst="rect">
            <a:avLst/>
          </a:prstGeom>
        </p:spPr>
      </p:pic>
      <p:pic>
        <p:nvPicPr>
          <p:cNvPr id="25" name="Anchor icon" descr="Anchor icon">    </p:cNvPr>
          <p:cNvPicPr>
            <a:picLocks noChangeAspect="1"/>
          </p:cNvPicPr>
          <p:nvPr/>
        </p:nvPicPr>
        <p:blipFill>
          <a:blip r:embed="rId3"/>
          <a:stretch>
            <a:fillRect/>
          </a:stretch>
        </p:blipFill>
        <p:spPr>
          <a:xfrm>
            <a:off x="11137392" y="4535424"/>
            <a:ext cx="347472" cy="347472"/>
          </a:xfrm>
          <a:prstGeom prst="rect">
            <a:avLst/>
          </a:prstGeom>
        </p:spPr>
      </p:pic>
      <p:sp>
        <p:nvSpPr>
          <p:cNvPr id="26" name="Text 20"/>
          <p:cNvSpPr txBox="1"/>
          <p:nvPr/>
        </p:nvSpPr>
        <p:spPr>
          <a:xfrm>
            <a:off x="6172200" y="5257800"/>
            <a:ext cx="5468112" cy="320040"/>
          </a:xfrm>
          <a:prstGeom prst="rect">
            <a:avLst/>
          </a:prstGeom>
          <a:noFill/>
          <a:ln/>
        </p:spPr>
        <p:txBody>
          <a:bodyPr wrap="square" lIns="0" tIns="0" rIns="0" bIns="0" rtlCol="0" anchor="t"/>
          <a:lstStyle/>
          <a:p>
            <a:pPr algn="ctr" indent="0" marL="0">
              <a:buNone/>
            </a:pPr>
            <a:r>
              <a:rPr lang="en-IE" sz="1350" i="1" dirty="0">
                <a:solidFill>
                  <a:schemeClr val="tx2"/>
                </a:solidFill>
              </a:rPr>
              <a:t>each child: engine (inherited) + its own attribute</a:t>
            </a:r>
            <a:endParaRPr lang="en-IE" sz="13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31</a:t>
            </a:fld>
            <a:endParaRPr lang="en-I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9</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Inheritance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Car and Boat both extend Vehicle. Where should the anchor attribute go?</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Vehicle, so every vehicle gets one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Car only</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both Car and Boat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Boat only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32</a:t>
            </a:fld>
            <a:endParaRPr lang="en-I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9</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Inheritance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Car and Boat both extend Vehicle. Where should the anchor attribute go?</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In Vehicle, so every vehicle gets one</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In Car only</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In both Car and Boat</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In Boat only</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Only boats need an anchor, so it goes in Boat. Attributes that every vehicle needs, like the engine, go in the parent. A car doesn’t need an anchor, so it shouldn’t inherit one.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33</a:t>
            </a:fld>
            <a:endParaRPr lang="en-I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An is-a relationship</a:t>
            </a:r>
            <a:endParaRPr lang="en-IE" sz="3400" dirty="0"/>
          </a:p>
        </p:txBody>
      </p:sp>
      <p:sp>
        <p:nvSpPr>
          <p:cNvPr id="5" name="Text 2"/>
          <p:cNvSpPr txBox="1"/>
          <p:nvPr/>
        </p:nvSpPr>
        <p:spPr>
          <a:xfrm>
            <a:off x="548640" y="1783080"/>
            <a:ext cx="4937760" cy="274320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Inheritance is known as an is-a relationship.</a:t>
            </a:r>
            <a:endParaRPr lang="en-IE" sz="1900" dirty="0"/>
          </a:p>
          <a:p>
            <a:pPr marL="228600" indent="-228600">
              <a:spcAft>
                <a:spcPts val="1400"/>
              </a:spcAft>
              <a:buSzPct val="100000"/>
              <a:buChar char="•"/>
            </a:pPr>
            <a:r>
              <a:rPr lang="en-IE" sz="1900" dirty="0">
                <a:solidFill>
                  <a:schemeClr val="tx1"/>
                </a:solidFill>
              </a:rPr>
              <a:t>A car is a vehicle. A boat is a vehicle.</a:t>
            </a:r>
            <a:endParaRPr lang="en-IE" sz="1900" dirty="0"/>
          </a:p>
          <a:p>
            <a:pPr marL="228600" indent="-228600">
              <a:buSzPct val="100000"/>
              <a:buChar char="•"/>
            </a:pPr>
            <a:r>
              <a:rPr lang="en-IE" sz="1900" dirty="0">
                <a:solidFill>
                  <a:schemeClr val="tx1"/>
                </a:solidFill>
              </a:rPr>
              <a:t>The relationship only goes one way: a vehicle is not (necessarily) a car.</a:t>
            </a:r>
            <a:endParaRPr lang="en-IE" sz="1900" dirty="0"/>
          </a:p>
        </p:txBody>
      </p:sp>
      <p:sp>
        <p:nvSpPr>
          <p:cNvPr id="6" name="Sentence"/>
          <p:cNvSpPr/>
          <p:nvPr/>
        </p:nvSpPr>
        <p:spPr>
          <a:xfrm>
            <a:off x="5897880" y="1828800"/>
            <a:ext cx="574517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pic>
        <p:nvPicPr>
          <p:cNvPr id="7" name="A car" descr="A car">    </p:cNvPr>
          <p:cNvPicPr>
            <a:picLocks noChangeAspect="1"/>
          </p:cNvPicPr>
          <p:nvPr/>
        </p:nvPicPr>
        <p:blipFill>
          <a:blip r:embed="rId1"/>
          <a:stretch>
            <a:fillRect/>
          </a:stretch>
        </p:blipFill>
        <p:spPr>
          <a:xfrm>
            <a:off x="6126480" y="2103120"/>
            <a:ext cx="548640" cy="548640"/>
          </a:xfrm>
          <a:prstGeom prst="rect">
            <a:avLst/>
          </a:prstGeom>
        </p:spPr>
      </p:pic>
      <p:sp>
        <p:nvSpPr>
          <p:cNvPr id="8" name="Text 4"/>
          <p:cNvSpPr txBox="1"/>
          <p:nvPr/>
        </p:nvSpPr>
        <p:spPr>
          <a:xfrm>
            <a:off x="6766560" y="1828800"/>
            <a:ext cx="1280160" cy="1097280"/>
          </a:xfrm>
          <a:prstGeom prst="rect">
            <a:avLst/>
          </a:prstGeom>
          <a:noFill/>
          <a:ln/>
        </p:spPr>
        <p:txBody>
          <a:bodyPr wrap="square" lIns="0" tIns="0" rIns="0" bIns="0" rtlCol="0" anchor="ctr"/>
          <a:lstStyle/>
          <a:p>
            <a:pPr indent="0" marL="0">
              <a:buNone/>
            </a:pPr>
            <a:r>
              <a:rPr lang="en-IE" sz="1900" b="1" dirty="0">
                <a:solidFill>
                  <a:schemeClr val="tx1"/>
                </a:solidFill>
              </a:rPr>
              <a:t>A car</a:t>
            </a:r>
            <a:endParaRPr lang="en-IE" sz="1900" dirty="0"/>
          </a:p>
        </p:txBody>
      </p:sp>
      <p:sp>
        <p:nvSpPr>
          <p:cNvPr id="9" name="Text 5"/>
          <p:cNvSpPr txBox="1"/>
          <p:nvPr/>
        </p:nvSpPr>
        <p:spPr>
          <a:xfrm>
            <a:off x="8001000" y="1828800"/>
            <a:ext cx="1417320" cy="1097280"/>
          </a:xfrm>
          <a:prstGeom prst="rect">
            <a:avLst/>
          </a:prstGeom>
          <a:noFill/>
          <a:ln/>
        </p:spPr>
        <p:txBody>
          <a:bodyPr wrap="square" lIns="0" tIns="0" rIns="0" bIns="0" rtlCol="0" anchor="ctr"/>
          <a:lstStyle/>
          <a:p>
            <a:pPr algn="ctr" indent="0" marL="0">
              <a:buNone/>
            </a:pPr>
            <a:r>
              <a:rPr lang="en-IE" sz="1600" i="1" dirty="0">
                <a:solidFill>
                  <a:schemeClr val="accent3"/>
                </a:solidFill>
              </a:rPr>
              <a:t>is a</a:t>
            </a:r>
            <a:endParaRPr lang="en-IE" sz="1600" dirty="0"/>
          </a:p>
        </p:txBody>
      </p:sp>
      <p:pic>
        <p:nvPicPr>
          <p:cNvPr id="10" name="vehicle" descr="vehicle">    </p:cNvPr>
          <p:cNvPicPr>
            <a:picLocks noChangeAspect="1"/>
          </p:cNvPicPr>
          <p:nvPr/>
        </p:nvPicPr>
        <p:blipFill>
          <a:blip r:embed="rId2"/>
          <a:stretch>
            <a:fillRect/>
          </a:stretch>
        </p:blipFill>
        <p:spPr>
          <a:xfrm>
            <a:off x="9464040" y="2103120"/>
            <a:ext cx="548640" cy="548640"/>
          </a:xfrm>
          <a:prstGeom prst="rect">
            <a:avLst/>
          </a:prstGeom>
        </p:spPr>
      </p:pic>
      <p:sp>
        <p:nvSpPr>
          <p:cNvPr id="11" name="Text 6"/>
          <p:cNvSpPr txBox="1"/>
          <p:nvPr/>
        </p:nvSpPr>
        <p:spPr>
          <a:xfrm>
            <a:off x="10085832" y="1828800"/>
            <a:ext cx="868680" cy="1097280"/>
          </a:xfrm>
          <a:prstGeom prst="rect">
            <a:avLst/>
          </a:prstGeom>
          <a:noFill/>
          <a:ln/>
        </p:spPr>
        <p:txBody>
          <a:bodyPr wrap="square" lIns="0" tIns="0" rIns="0" bIns="0" rtlCol="0" anchor="ctr"/>
          <a:lstStyle/>
          <a:p>
            <a:pPr indent="0" marL="0">
              <a:buNone/>
            </a:pPr>
            <a:r>
              <a:rPr lang="en-IE" sz="1900" b="1" dirty="0">
                <a:solidFill>
                  <a:schemeClr val="tx1"/>
                </a:solidFill>
              </a:rPr>
              <a:t>vehicle</a:t>
            </a:r>
            <a:endParaRPr lang="en-IE" sz="1900" dirty="0"/>
          </a:p>
        </p:txBody>
      </p:sp>
      <p:pic>
        <p:nvPicPr>
          <p:cNvPr id="12" name="True" descr="True">    </p:cNvPr>
          <p:cNvPicPr>
            <a:picLocks noChangeAspect="1"/>
          </p:cNvPicPr>
          <p:nvPr/>
        </p:nvPicPr>
        <p:blipFill>
          <a:blip r:embed="rId3"/>
          <a:stretch>
            <a:fillRect/>
          </a:stretch>
        </p:blipFill>
        <p:spPr>
          <a:xfrm>
            <a:off x="10957255" y="2157984"/>
            <a:ext cx="438912" cy="438912"/>
          </a:xfrm>
          <a:prstGeom prst="rect">
            <a:avLst/>
          </a:prstGeom>
        </p:spPr>
      </p:pic>
      <p:sp>
        <p:nvSpPr>
          <p:cNvPr id="13" name="Sentence"/>
          <p:cNvSpPr/>
          <p:nvPr/>
        </p:nvSpPr>
        <p:spPr>
          <a:xfrm>
            <a:off x="5897880" y="3200400"/>
            <a:ext cx="574517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pic>
        <p:nvPicPr>
          <p:cNvPr id="14" name="A boat" descr="A boat">    </p:cNvPr>
          <p:cNvPicPr>
            <a:picLocks noChangeAspect="1"/>
          </p:cNvPicPr>
          <p:nvPr/>
        </p:nvPicPr>
        <p:blipFill>
          <a:blip r:embed="rId4"/>
          <a:stretch>
            <a:fillRect/>
          </a:stretch>
        </p:blipFill>
        <p:spPr>
          <a:xfrm>
            <a:off x="6126480" y="3474720"/>
            <a:ext cx="548640" cy="548640"/>
          </a:xfrm>
          <a:prstGeom prst="rect">
            <a:avLst/>
          </a:prstGeom>
        </p:spPr>
      </p:pic>
      <p:sp>
        <p:nvSpPr>
          <p:cNvPr id="15" name="Text 8"/>
          <p:cNvSpPr txBox="1"/>
          <p:nvPr/>
        </p:nvSpPr>
        <p:spPr>
          <a:xfrm>
            <a:off x="6766560" y="3200400"/>
            <a:ext cx="1280160" cy="1097280"/>
          </a:xfrm>
          <a:prstGeom prst="rect">
            <a:avLst/>
          </a:prstGeom>
          <a:noFill/>
          <a:ln/>
        </p:spPr>
        <p:txBody>
          <a:bodyPr wrap="square" lIns="0" tIns="0" rIns="0" bIns="0" rtlCol="0" anchor="ctr"/>
          <a:lstStyle/>
          <a:p>
            <a:pPr indent="0" marL="0">
              <a:buNone/>
            </a:pPr>
            <a:r>
              <a:rPr lang="en-IE" sz="1900" b="1" dirty="0">
                <a:solidFill>
                  <a:schemeClr val="tx1"/>
                </a:solidFill>
              </a:rPr>
              <a:t>A boat</a:t>
            </a:r>
            <a:endParaRPr lang="en-IE" sz="1900" dirty="0"/>
          </a:p>
        </p:txBody>
      </p:sp>
      <p:sp>
        <p:nvSpPr>
          <p:cNvPr id="16" name="Text 9"/>
          <p:cNvSpPr txBox="1"/>
          <p:nvPr/>
        </p:nvSpPr>
        <p:spPr>
          <a:xfrm>
            <a:off x="8001000" y="3200400"/>
            <a:ext cx="1417320" cy="1097280"/>
          </a:xfrm>
          <a:prstGeom prst="rect">
            <a:avLst/>
          </a:prstGeom>
          <a:noFill/>
          <a:ln/>
        </p:spPr>
        <p:txBody>
          <a:bodyPr wrap="square" lIns="0" tIns="0" rIns="0" bIns="0" rtlCol="0" anchor="ctr"/>
          <a:lstStyle/>
          <a:p>
            <a:pPr algn="ctr" indent="0" marL="0">
              <a:buNone/>
            </a:pPr>
            <a:r>
              <a:rPr lang="en-IE" sz="1600" i="1" dirty="0">
                <a:solidFill>
                  <a:schemeClr val="accent3"/>
                </a:solidFill>
              </a:rPr>
              <a:t>is a</a:t>
            </a:r>
            <a:endParaRPr lang="en-IE" sz="1600" dirty="0"/>
          </a:p>
        </p:txBody>
      </p:sp>
      <p:pic>
        <p:nvPicPr>
          <p:cNvPr id="17" name="vehicle" descr="vehicle">    </p:cNvPr>
          <p:cNvPicPr>
            <a:picLocks noChangeAspect="1"/>
          </p:cNvPicPr>
          <p:nvPr/>
        </p:nvPicPr>
        <p:blipFill>
          <a:blip r:embed="rId5"/>
          <a:stretch>
            <a:fillRect/>
          </a:stretch>
        </p:blipFill>
        <p:spPr>
          <a:xfrm>
            <a:off x="9464040" y="3474720"/>
            <a:ext cx="548640" cy="548640"/>
          </a:xfrm>
          <a:prstGeom prst="rect">
            <a:avLst/>
          </a:prstGeom>
        </p:spPr>
      </p:pic>
      <p:sp>
        <p:nvSpPr>
          <p:cNvPr id="18" name="Text 10"/>
          <p:cNvSpPr txBox="1"/>
          <p:nvPr/>
        </p:nvSpPr>
        <p:spPr>
          <a:xfrm>
            <a:off x="10085832" y="3200400"/>
            <a:ext cx="868680" cy="1097280"/>
          </a:xfrm>
          <a:prstGeom prst="rect">
            <a:avLst/>
          </a:prstGeom>
          <a:noFill/>
          <a:ln/>
        </p:spPr>
        <p:txBody>
          <a:bodyPr wrap="square" lIns="0" tIns="0" rIns="0" bIns="0" rtlCol="0" anchor="ctr"/>
          <a:lstStyle/>
          <a:p>
            <a:pPr indent="0" marL="0">
              <a:buNone/>
            </a:pPr>
            <a:r>
              <a:rPr lang="en-IE" sz="1900" b="1" dirty="0">
                <a:solidFill>
                  <a:schemeClr val="tx1"/>
                </a:solidFill>
              </a:rPr>
              <a:t>vehicle</a:t>
            </a:r>
            <a:endParaRPr lang="en-IE" sz="1900" dirty="0"/>
          </a:p>
        </p:txBody>
      </p:sp>
      <p:pic>
        <p:nvPicPr>
          <p:cNvPr id="19" name="True" descr="True">    </p:cNvPr>
          <p:cNvPicPr>
            <a:picLocks noChangeAspect="1"/>
          </p:cNvPicPr>
          <p:nvPr/>
        </p:nvPicPr>
        <p:blipFill>
          <a:blip r:embed="rId6"/>
          <a:stretch>
            <a:fillRect/>
          </a:stretch>
        </p:blipFill>
        <p:spPr>
          <a:xfrm>
            <a:off x="10957255" y="3529584"/>
            <a:ext cx="438912" cy="438912"/>
          </a:xfrm>
          <a:prstGeom prst="rect">
            <a:avLst/>
          </a:prstGeom>
        </p:spPr>
      </p:pic>
      <p:sp>
        <p:nvSpPr>
          <p:cNvPr id="20" name="Sentence"/>
          <p:cNvSpPr/>
          <p:nvPr/>
        </p:nvSpPr>
        <p:spPr>
          <a:xfrm>
            <a:off x="5897880" y="4572000"/>
            <a:ext cx="5745175" cy="1097280"/>
          </a:xfrm>
          <a:prstGeom prst="roundRect">
            <a:avLst>
              <a:gd name="adj" fmla="val 10000"/>
            </a:avLst>
          </a:prstGeom>
          <a:solidFill>
            <a:schemeClr val="bg2"/>
          </a:solidFill>
          <a:ln/>
        </p:spPr>
      </p:sp>
      <p:pic>
        <p:nvPicPr>
          <p:cNvPr id="21" name="A vehicle" descr="A vehicle">    </p:cNvPr>
          <p:cNvPicPr>
            <a:picLocks noChangeAspect="1"/>
          </p:cNvPicPr>
          <p:nvPr/>
        </p:nvPicPr>
        <p:blipFill>
          <a:blip r:embed="rId7"/>
          <a:stretch>
            <a:fillRect/>
          </a:stretch>
        </p:blipFill>
        <p:spPr>
          <a:xfrm>
            <a:off x="6126480" y="4846320"/>
            <a:ext cx="548640" cy="548640"/>
          </a:xfrm>
          <a:prstGeom prst="rect">
            <a:avLst/>
          </a:prstGeom>
        </p:spPr>
      </p:pic>
      <p:sp>
        <p:nvSpPr>
          <p:cNvPr id="22" name="Text 12"/>
          <p:cNvSpPr txBox="1"/>
          <p:nvPr/>
        </p:nvSpPr>
        <p:spPr>
          <a:xfrm>
            <a:off x="6766560" y="4572000"/>
            <a:ext cx="1280160" cy="1097280"/>
          </a:xfrm>
          <a:prstGeom prst="rect">
            <a:avLst/>
          </a:prstGeom>
          <a:noFill/>
          <a:ln/>
        </p:spPr>
        <p:txBody>
          <a:bodyPr wrap="square" lIns="0" tIns="0" rIns="0" bIns="0" rtlCol="0" anchor="ctr"/>
          <a:lstStyle/>
          <a:p>
            <a:pPr indent="0" marL="0">
              <a:buNone/>
            </a:pPr>
            <a:r>
              <a:rPr lang="en-IE" sz="1900" b="1" dirty="0">
                <a:solidFill>
                  <a:schemeClr val="tx2"/>
                </a:solidFill>
              </a:rPr>
              <a:t>A vehicle</a:t>
            </a:r>
            <a:endParaRPr lang="en-IE" sz="1900" dirty="0"/>
          </a:p>
        </p:txBody>
      </p:sp>
      <p:sp>
        <p:nvSpPr>
          <p:cNvPr id="23" name="Text 13"/>
          <p:cNvSpPr txBox="1"/>
          <p:nvPr/>
        </p:nvSpPr>
        <p:spPr>
          <a:xfrm>
            <a:off x="8001000" y="4572000"/>
            <a:ext cx="1417320" cy="1097280"/>
          </a:xfrm>
          <a:prstGeom prst="rect">
            <a:avLst/>
          </a:prstGeom>
          <a:noFill/>
          <a:ln/>
        </p:spPr>
        <p:txBody>
          <a:bodyPr wrap="square" lIns="0" tIns="0" rIns="0" bIns="0" rtlCol="0" anchor="ctr"/>
          <a:lstStyle/>
          <a:p>
            <a:pPr algn="ctr" indent="0" marL="0">
              <a:buNone/>
            </a:pPr>
            <a:r>
              <a:rPr lang="en-IE" sz="1600" i="1" dirty="0">
                <a:solidFill>
                  <a:srgbClr val="C0392B"/>
                </a:solidFill>
              </a:rPr>
              <a:t>is not always a</a:t>
            </a:r>
            <a:endParaRPr lang="en-IE" sz="1600" dirty="0"/>
          </a:p>
        </p:txBody>
      </p:sp>
      <p:pic>
        <p:nvPicPr>
          <p:cNvPr id="24" name="car" descr="car">    </p:cNvPr>
          <p:cNvPicPr>
            <a:picLocks noChangeAspect="1"/>
          </p:cNvPicPr>
          <p:nvPr/>
        </p:nvPicPr>
        <p:blipFill>
          <a:blip r:embed="rId8"/>
          <a:stretch>
            <a:fillRect/>
          </a:stretch>
        </p:blipFill>
        <p:spPr>
          <a:xfrm>
            <a:off x="9464040" y="4846320"/>
            <a:ext cx="548640" cy="548640"/>
          </a:xfrm>
          <a:prstGeom prst="rect">
            <a:avLst/>
          </a:prstGeom>
        </p:spPr>
      </p:pic>
      <p:sp>
        <p:nvSpPr>
          <p:cNvPr id="25" name="Text 14"/>
          <p:cNvSpPr txBox="1"/>
          <p:nvPr/>
        </p:nvSpPr>
        <p:spPr>
          <a:xfrm>
            <a:off x="10085832" y="4572000"/>
            <a:ext cx="868680" cy="1097280"/>
          </a:xfrm>
          <a:prstGeom prst="rect">
            <a:avLst/>
          </a:prstGeom>
          <a:noFill/>
          <a:ln/>
        </p:spPr>
        <p:txBody>
          <a:bodyPr wrap="square" lIns="0" tIns="0" rIns="0" bIns="0" rtlCol="0" anchor="ctr"/>
          <a:lstStyle/>
          <a:p>
            <a:pPr indent="0" marL="0">
              <a:buNone/>
            </a:pPr>
            <a:r>
              <a:rPr lang="en-IE" sz="1900" b="1" dirty="0">
                <a:solidFill>
                  <a:schemeClr val="tx2"/>
                </a:solidFill>
              </a:rPr>
              <a:t>car</a:t>
            </a:r>
            <a:endParaRPr lang="en-IE" sz="1900" dirty="0"/>
          </a:p>
        </p:txBody>
      </p:sp>
      <p:pic>
        <p:nvPicPr>
          <p:cNvPr id="26" name="Not true" descr="Not true">    </p:cNvPr>
          <p:cNvPicPr>
            <a:picLocks noChangeAspect="1"/>
          </p:cNvPicPr>
          <p:nvPr/>
        </p:nvPicPr>
        <p:blipFill>
          <a:blip r:embed="rId9"/>
          <a:stretch>
            <a:fillRect/>
          </a:stretch>
        </p:blipFill>
        <p:spPr>
          <a:xfrm>
            <a:off x="10957255" y="4901184"/>
            <a:ext cx="438912" cy="438912"/>
          </a:xfrm>
          <a:prstGeom prst="rect">
            <a:avLst/>
          </a:prstGeom>
        </p:spPr>
      </p:pic>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34</a:t>
            </a:fld>
            <a:endParaRPr lang="en-I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is-a</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pair of classes has an is-a relationship?</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Car and Engine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Car and Vehicle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Student and University</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Student and Module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35</a:t>
            </a:fld>
            <a:endParaRPr lang="en-I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is-a</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pair of classes has an is-a relationship?</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Car and Engine</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Car and Vehicle</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Student and University</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Student and Module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car is a vehicle, so Car can extend Vehicle. An engine is part of a car (composition), a student has a university (aggregation), and a student and a module just work together (association or dependency).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36</a:t>
            </a:fld>
            <a:endParaRPr lang="en-I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extends keyword</a:t>
            </a:r>
            <a:endParaRPr lang="en-IE" sz="3400" dirty="0"/>
          </a:p>
        </p:txBody>
      </p:sp>
      <p:sp>
        <p:nvSpPr>
          <p:cNvPr id="5" name="Vehicle family card"/>
          <p:cNvSpPr/>
          <p:nvPr/>
        </p:nvSpPr>
        <p:spPr>
          <a:xfrm>
            <a:off x="548640" y="1783080"/>
            <a:ext cx="5120640" cy="3697478"/>
          </a:xfrm>
          <a:prstGeom prst="roundRect">
            <a:avLst>
              <a:gd name="adj" fmla="val 2968"/>
            </a:avLst>
          </a:prstGeom>
          <a:solidFill>
            <a:schemeClr val="tx1"/>
          </a:solidFill>
          <a:ln/>
          <a:effectLst>
            <a:outerShdw sx="100000" sy="100000" kx="0" ky="0" algn="bl" rotWithShape="0" blurRad="114300" dist="31750" dir="5400000">
              <a:srgbClr val="1D2433">
                <a:alpha val="12000"/>
              </a:srgbClr>
            </a:outerShdw>
          </a:effectLst>
        </p:spPr>
      </p:sp>
      <p:sp>
        <p:nvSpPr>
          <p:cNvPr id="6" name="Vehicle family language"/>
          <p:cNvSpPr txBox="1"/>
          <p:nvPr/>
        </p:nvSpPr>
        <p:spPr>
          <a:xfrm>
            <a:off x="822960" y="1901952"/>
            <a:ext cx="4572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Vehicle family text"/>
          <p:cNvSpPr txBox="1"/>
          <p:nvPr/>
        </p:nvSpPr>
        <p:spPr>
          <a:xfrm>
            <a:off x="822960" y="2276856"/>
            <a:ext cx="4572000" cy="300253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class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Vehicle</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Engine</a:t>
            </a:r>
            <a:r>
              <a:rPr lang="en-IE" sz="1600" dirty="0">
                <a:solidFill>
                  <a:srgbClr val="E6EBF2"/>
                </a:solidFill>
                <a:latin typeface="Consolas" pitchFamily="34" charset="0"/>
                <a:ea typeface="Consolas" pitchFamily="34" charset="-122"/>
                <a:cs typeface="Consolas" pitchFamily="34" charset="-120"/>
              </a:rPr>
              <a:t> engine;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class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Car</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extends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Vehicle</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Wheel</a:t>
            </a:r>
            <a:r>
              <a:rPr lang="en-IE" sz="1600" dirty="0">
                <a:solidFill>
                  <a:srgbClr val="E6EBF2"/>
                </a:solidFill>
                <a:latin typeface="Consolas" pitchFamily="34" charset="0"/>
                <a:ea typeface="Consolas" pitchFamily="34" charset="-122"/>
                <a:cs typeface="Consolas" pitchFamily="34" charset="-120"/>
              </a:rPr>
              <a:t>[] wheels;</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class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Boat</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extends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Vehicle</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Anchor</a:t>
            </a:r>
            <a:r>
              <a:rPr lang="en-IE" sz="1600" dirty="0">
                <a:solidFill>
                  <a:srgbClr val="E6EBF2"/>
                </a:solidFill>
                <a:latin typeface="Consolas" pitchFamily="34" charset="0"/>
                <a:ea typeface="Consolas" pitchFamily="34" charset="-122"/>
                <a:cs typeface="Consolas" pitchFamily="34" charset="-120"/>
              </a:rPr>
              <a:t> anchor;</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8" name="Part: the child"/>
          <p:cNvSpPr/>
          <p:nvPr/>
        </p:nvSpPr>
        <p:spPr>
          <a:xfrm>
            <a:off x="6263640" y="1874520"/>
            <a:ext cx="1803654" cy="822960"/>
          </a:xfrm>
          <a:prstGeom prst="roundRect">
            <a:avLst>
              <a:gd name="adj" fmla="val 13333"/>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class Car</a:t>
            </a:r>
            <a:endParaRPr lang="en-IE" sz="1800" dirty="0"/>
          </a:p>
        </p:txBody>
      </p:sp>
      <p:sp>
        <p:nvSpPr>
          <p:cNvPr id="9" name="Connector"/>
          <p:cNvSpPr/>
          <p:nvPr/>
        </p:nvSpPr>
        <p:spPr>
          <a:xfrm>
            <a:off x="7165467" y="2743200"/>
            <a:ext cx="0" cy="301752"/>
          </a:xfrm>
          <a:prstGeom prst="line">
            <a:avLst/>
          </a:prstGeom>
          <a:noFill/>
          <a:ln w="19050">
            <a:solidFill>
              <a:schemeClr val="accent1"/>
            </a:solidFill>
            <a:prstDash val="solid"/>
          </a:ln>
        </p:spPr>
      </p:sp>
      <p:sp>
        <p:nvSpPr>
          <p:cNvPr id="10" name="Text 7"/>
          <p:cNvSpPr txBox="1"/>
          <p:nvPr/>
        </p:nvSpPr>
        <p:spPr>
          <a:xfrm>
            <a:off x="6172200" y="3090672"/>
            <a:ext cx="1986534" cy="329184"/>
          </a:xfrm>
          <a:prstGeom prst="rect">
            <a:avLst/>
          </a:prstGeom>
          <a:noFill/>
          <a:ln/>
        </p:spPr>
        <p:txBody>
          <a:bodyPr wrap="square" lIns="0" tIns="0" rIns="0" bIns="0" rtlCol="0" anchor="t"/>
          <a:lstStyle/>
          <a:p>
            <a:pPr algn="ctr" indent="0" marL="0">
              <a:buNone/>
            </a:pPr>
            <a:r>
              <a:rPr lang="en-IE" sz="1600" b="1" dirty="0">
                <a:solidFill>
                  <a:schemeClr val="tx1"/>
                </a:solidFill>
              </a:rPr>
              <a:t>the child</a:t>
            </a:r>
            <a:endParaRPr lang="en-IE" sz="1600" dirty="0"/>
          </a:p>
        </p:txBody>
      </p:sp>
      <p:sp>
        <p:nvSpPr>
          <p:cNvPr id="11" name="Text 8"/>
          <p:cNvSpPr txBox="1"/>
          <p:nvPr/>
        </p:nvSpPr>
        <p:spPr>
          <a:xfrm>
            <a:off x="6172200" y="3429000"/>
            <a:ext cx="1986534" cy="566928"/>
          </a:xfrm>
          <a:prstGeom prst="rect">
            <a:avLst/>
          </a:prstGeom>
          <a:noFill/>
          <a:ln/>
        </p:spPr>
        <p:txBody>
          <a:bodyPr wrap="square" lIns="0" tIns="0" rIns="0" bIns="0" rtlCol="0" anchor="t"/>
          <a:lstStyle/>
          <a:p>
            <a:pPr algn="ctr" indent="0" marL="0">
              <a:buNone/>
            </a:pPr>
            <a:r>
              <a:rPr lang="en-IE" sz="1300" dirty="0">
                <a:solidFill>
                  <a:schemeClr val="tx2"/>
                </a:solidFill>
              </a:rPr>
              <a:t>a new class</a:t>
            </a:r>
            <a:endParaRPr lang="en-IE" sz="1300" dirty="0"/>
          </a:p>
        </p:txBody>
      </p:sp>
      <p:sp>
        <p:nvSpPr>
          <p:cNvPr id="12" name="Part: the keyword"/>
          <p:cNvSpPr/>
          <p:nvPr/>
        </p:nvSpPr>
        <p:spPr>
          <a:xfrm>
            <a:off x="8295894" y="1874520"/>
            <a:ext cx="1524762" cy="822960"/>
          </a:xfrm>
          <a:prstGeom prst="roundRect">
            <a:avLst>
              <a:gd name="adj" fmla="val 13333"/>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extends</a:t>
            </a:r>
            <a:endParaRPr lang="en-IE" sz="1800" dirty="0"/>
          </a:p>
        </p:txBody>
      </p:sp>
      <p:sp>
        <p:nvSpPr>
          <p:cNvPr id="13" name="Connector"/>
          <p:cNvSpPr/>
          <p:nvPr/>
        </p:nvSpPr>
        <p:spPr>
          <a:xfrm>
            <a:off x="9058275" y="2743200"/>
            <a:ext cx="0" cy="301752"/>
          </a:xfrm>
          <a:prstGeom prst="line">
            <a:avLst/>
          </a:prstGeom>
          <a:noFill/>
          <a:ln w="19050">
            <a:solidFill>
              <a:schemeClr val="accent2"/>
            </a:solidFill>
            <a:prstDash val="solid"/>
          </a:ln>
        </p:spPr>
      </p:sp>
      <p:sp>
        <p:nvSpPr>
          <p:cNvPr id="14" name="Text 11"/>
          <p:cNvSpPr txBox="1"/>
          <p:nvPr/>
        </p:nvSpPr>
        <p:spPr>
          <a:xfrm>
            <a:off x="8204454" y="3090672"/>
            <a:ext cx="1707642" cy="329184"/>
          </a:xfrm>
          <a:prstGeom prst="rect">
            <a:avLst/>
          </a:prstGeom>
          <a:noFill/>
          <a:ln/>
        </p:spPr>
        <p:txBody>
          <a:bodyPr wrap="square" lIns="0" tIns="0" rIns="0" bIns="0" rtlCol="0" anchor="t"/>
          <a:lstStyle/>
          <a:p>
            <a:pPr algn="ctr" indent="0" marL="0">
              <a:buNone/>
            </a:pPr>
            <a:r>
              <a:rPr lang="en-IE" sz="1600" b="1" dirty="0">
                <a:solidFill>
                  <a:schemeClr val="tx1"/>
                </a:solidFill>
              </a:rPr>
              <a:t>the keyword</a:t>
            </a:r>
            <a:endParaRPr lang="en-IE" sz="1600" dirty="0"/>
          </a:p>
        </p:txBody>
      </p:sp>
      <p:sp>
        <p:nvSpPr>
          <p:cNvPr id="15" name="Text 12"/>
          <p:cNvSpPr txBox="1"/>
          <p:nvPr/>
        </p:nvSpPr>
        <p:spPr>
          <a:xfrm>
            <a:off x="8204454" y="3429000"/>
            <a:ext cx="1707642" cy="566928"/>
          </a:xfrm>
          <a:prstGeom prst="rect">
            <a:avLst/>
          </a:prstGeom>
          <a:noFill/>
          <a:ln/>
        </p:spPr>
        <p:txBody>
          <a:bodyPr wrap="square" lIns="0" tIns="0" rIns="0" bIns="0" rtlCol="0" anchor="t"/>
          <a:lstStyle/>
          <a:p>
            <a:pPr algn="ctr" indent="0" marL="0">
              <a:buNone/>
            </a:pPr>
            <a:r>
              <a:rPr lang="en-IE" sz="1300" dirty="0">
                <a:solidFill>
                  <a:schemeClr val="tx2"/>
                </a:solidFill>
              </a:rPr>
              <a:t>“is an extension of”</a:t>
            </a:r>
            <a:endParaRPr lang="en-IE" sz="1300" dirty="0"/>
          </a:p>
        </p:txBody>
      </p:sp>
      <p:sp>
        <p:nvSpPr>
          <p:cNvPr id="16" name="Part: the parent"/>
          <p:cNvSpPr/>
          <p:nvPr/>
        </p:nvSpPr>
        <p:spPr>
          <a:xfrm>
            <a:off x="10049256" y="1874520"/>
            <a:ext cx="1524762" cy="822960"/>
          </a:xfrm>
          <a:prstGeom prst="roundRect">
            <a:avLst>
              <a:gd name="adj" fmla="val 13333"/>
            </a:avLst>
          </a:prstGeom>
          <a:solidFill>
            <a:schemeClr val="accent4">
              <a:alpha val="14000"/>
            </a:schemeClr>
          </a:solidFill>
          <a:ln w="19050">
            <a:solidFill>
              <a:schemeClr val="accent4"/>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Vehicle</a:t>
            </a:r>
            <a:endParaRPr lang="en-IE" sz="1800" dirty="0"/>
          </a:p>
        </p:txBody>
      </p:sp>
      <p:sp>
        <p:nvSpPr>
          <p:cNvPr id="17" name="Connector"/>
          <p:cNvSpPr/>
          <p:nvPr/>
        </p:nvSpPr>
        <p:spPr>
          <a:xfrm>
            <a:off x="10811637" y="2743200"/>
            <a:ext cx="0" cy="301752"/>
          </a:xfrm>
          <a:prstGeom prst="line">
            <a:avLst/>
          </a:prstGeom>
          <a:noFill/>
          <a:ln w="19050">
            <a:solidFill>
              <a:schemeClr val="accent4"/>
            </a:solidFill>
            <a:prstDash val="solid"/>
          </a:ln>
        </p:spPr>
      </p:sp>
      <p:sp>
        <p:nvSpPr>
          <p:cNvPr id="18" name="Text 15"/>
          <p:cNvSpPr txBox="1"/>
          <p:nvPr/>
        </p:nvSpPr>
        <p:spPr>
          <a:xfrm>
            <a:off x="9957816" y="3090672"/>
            <a:ext cx="1707642" cy="329184"/>
          </a:xfrm>
          <a:prstGeom prst="rect">
            <a:avLst/>
          </a:prstGeom>
          <a:noFill/>
          <a:ln/>
        </p:spPr>
        <p:txBody>
          <a:bodyPr wrap="square" lIns="0" tIns="0" rIns="0" bIns="0" rtlCol="0" anchor="t"/>
          <a:lstStyle/>
          <a:p>
            <a:pPr algn="ctr" indent="0" marL="0">
              <a:buNone/>
            </a:pPr>
            <a:r>
              <a:rPr lang="en-IE" sz="1600" b="1" dirty="0">
                <a:solidFill>
                  <a:schemeClr val="tx1"/>
                </a:solidFill>
              </a:rPr>
              <a:t>the parent</a:t>
            </a:r>
            <a:endParaRPr lang="en-IE" sz="1600" dirty="0"/>
          </a:p>
        </p:txBody>
      </p:sp>
      <p:sp>
        <p:nvSpPr>
          <p:cNvPr id="19" name="Text 16"/>
          <p:cNvSpPr txBox="1"/>
          <p:nvPr/>
        </p:nvSpPr>
        <p:spPr>
          <a:xfrm>
            <a:off x="9957816" y="3429000"/>
            <a:ext cx="1707642" cy="566928"/>
          </a:xfrm>
          <a:prstGeom prst="rect">
            <a:avLst/>
          </a:prstGeom>
          <a:noFill/>
          <a:ln/>
        </p:spPr>
        <p:txBody>
          <a:bodyPr wrap="square" lIns="0" tIns="0" rIns="0" bIns="0" rtlCol="0" anchor="t"/>
          <a:lstStyle/>
          <a:p>
            <a:pPr algn="ctr" indent="0" marL="0">
              <a:buNone/>
            </a:pPr>
            <a:r>
              <a:rPr lang="en-IE" sz="1300" dirty="0">
                <a:solidFill>
                  <a:schemeClr val="tx2"/>
                </a:solidFill>
              </a:rPr>
              <a:t>the superclass</a:t>
            </a:r>
            <a:endParaRPr lang="en-IE" sz="1300" dirty="0"/>
          </a:p>
        </p:txBody>
      </p:sp>
      <p:sp>
        <p:nvSpPr>
          <p:cNvPr id="20" name="Text 17"/>
          <p:cNvSpPr txBox="1"/>
          <p:nvPr/>
        </p:nvSpPr>
        <p:spPr>
          <a:xfrm>
            <a:off x="6172200" y="4206240"/>
            <a:ext cx="5470855" cy="182880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accent2"/>
                </a:solidFill>
                <a:latin typeface="Consolas" pitchFamily="34" charset="0"/>
                <a:ea typeface="Consolas" pitchFamily="34" charset="-122"/>
                <a:cs typeface="Consolas" pitchFamily="34" charset="-120"/>
              </a:rPr>
              <a:t>extends</a:t>
            </a:r>
            <a:r>
              <a:rPr lang="en-IE" sz="1700" dirty="0">
                <a:solidFill>
                  <a:schemeClr val="tx1"/>
                </a:solidFill>
              </a:rPr>
              <a:t> after Car and Boat says each class is an extension of the superclass Vehicle.</a:t>
            </a:r>
            <a:endParaRPr lang="en-IE" sz="1700" dirty="0"/>
          </a:p>
          <a:p>
            <a:pPr marL="228600" indent="-228600">
              <a:buSzPct val="100000"/>
              <a:buChar char="•"/>
            </a:pPr>
            <a:r>
              <a:rPr lang="en-IE" sz="1700" dirty="0">
                <a:solidFill>
                  <a:schemeClr val="tx1"/>
                </a:solidFill>
              </a:rPr>
              <a:t>As a result, it inherits Vehicle’s attributes and methods: Car and Boat both have an engine.</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37</a:t>
            </a:fld>
            <a:endParaRPr lang="en-I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a:t>
            </a:r>
            <a:r>
              <a:rPr lang="en-IE" sz="2800" b="1" dirty="0">
                <a:solidFill>
                  <a:schemeClr val="accent2"/>
                </a:solidFill>
                <a:latin typeface="Consolas" pitchFamily="34" charset="0"/>
                <a:ea typeface="Consolas" pitchFamily="34" charset="-122"/>
                <a:cs typeface="Consolas" pitchFamily="34" charset="-120"/>
              </a:rPr>
              <a:t>extends Vehicle</a:t>
            </a:r>
            <a:r>
              <a:rPr lang="en-IE" sz="2800" b="1" dirty="0">
                <a:solidFill>
                  <a:schemeClr val="tx1"/>
                </a:solidFill>
              </a:rPr>
              <a:t> mean in </a:t>
            </a:r>
            <a:r>
              <a:rPr lang="en-IE" sz="2800" b="1" dirty="0">
                <a:solidFill>
                  <a:schemeClr val="accent2"/>
                </a:solidFill>
                <a:latin typeface="Consolas" pitchFamily="34" charset="0"/>
                <a:ea typeface="Consolas" pitchFamily="34" charset="-122"/>
                <a:cs typeface="Consolas" pitchFamily="34" charset="-120"/>
              </a:rPr>
              <a:t>class Boat extends Vehicle</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Boat inherits Vehicle’s attributes and methods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Boat creates its own Vehicle object inside it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Vehicle inherits the anchor attribute from Boat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Boat gets Vehicle’s methods but not its attributes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38</a:t>
            </a:fld>
            <a:endParaRPr lang="en-I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a:t>
            </a:r>
            <a:r>
              <a:rPr lang="en-IE" sz="2000" b="1" dirty="0">
                <a:solidFill>
                  <a:schemeClr val="tx2"/>
                </a:solidFill>
                <a:latin typeface="Consolas" pitchFamily="34" charset="0"/>
                <a:ea typeface="Consolas" pitchFamily="34" charset="-122"/>
                <a:cs typeface="Consolas" pitchFamily="34" charset="-120"/>
              </a:rPr>
              <a:t>extends Vehicle</a:t>
            </a:r>
            <a:r>
              <a:rPr lang="en-IE" sz="2000" b="1" dirty="0">
                <a:solidFill>
                  <a:schemeClr val="tx2"/>
                </a:solidFill>
              </a:rPr>
              <a:t> mean in </a:t>
            </a:r>
            <a:r>
              <a:rPr lang="en-IE" sz="2000" b="1" dirty="0">
                <a:solidFill>
                  <a:schemeClr val="tx2"/>
                </a:solidFill>
                <a:latin typeface="Consolas" pitchFamily="34" charset="0"/>
                <a:ea typeface="Consolas" pitchFamily="34" charset="-122"/>
                <a:cs typeface="Consolas" pitchFamily="34" charset="-120"/>
              </a:rPr>
              <a:t>class Boat extends Vehicle</a:t>
            </a:r>
            <a:r>
              <a:rPr lang="en-IE" sz="2000" b="1" dirty="0">
                <a:solidFill>
                  <a:schemeClr val="tx2"/>
                </a:solidFill>
              </a:rPr>
              <a: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Boat inherits Vehicle’s attributes and methods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Boat creates its own Vehicle object inside it</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Vehicle inherits the anchor attribute from Boat</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Boat gets Vehicle’s methods but not its attributes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extends</a:t>
            </a:r>
            <a:r>
              <a:rPr lang="en-IE" sz="1800" dirty="0">
                <a:solidFill>
                  <a:schemeClr val="tx1"/>
                </a:solidFill>
              </a:rPr>
              <a:t> makes Boat a subclass of Vehicle, so Boat inherits Vehicle’s attributes and methods, like the engine. Inheritance goes from parent to child, never the other way.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39</a:t>
            </a:fld>
            <a:endParaRPr lang="en-I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Three rules for extends</a:t>
            </a:r>
            <a:endParaRPr lang="en-IE" sz="3400" dirty="0"/>
          </a:p>
        </p:txBody>
      </p:sp>
      <p:sp>
        <p:nvSpPr>
          <p:cNvPr id="5" name="One parent only"/>
          <p:cNvSpPr/>
          <p:nvPr/>
        </p:nvSpPr>
        <p:spPr>
          <a:xfrm>
            <a:off x="548640" y="169164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48256"/>
            <a:ext cx="658368" cy="658368"/>
          </a:xfrm>
          <a:prstGeom prst="roundRect">
            <a:avLst>
              <a:gd name="adj" fmla="val 24000"/>
            </a:avLst>
          </a:prstGeom>
          <a:solidFill>
            <a:schemeClr val="accent1">
              <a:alpha val="14000"/>
            </a:schemeClr>
          </a:solidFill>
          <a:ln/>
        </p:spPr>
      </p:sp>
      <p:pic>
        <p:nvPicPr>
          <p:cNvPr id="7" name="number circle one icon" descr="number circle one icon">    </p:cNvPr>
          <p:cNvPicPr>
            <a:picLocks noChangeAspect="1"/>
          </p:cNvPicPr>
          <p:nvPr/>
        </p:nvPicPr>
        <p:blipFill>
          <a:blip r:embed="rId1"/>
          <a:stretch>
            <a:fillRect/>
          </a:stretch>
        </p:blipFill>
        <p:spPr>
          <a:xfrm>
            <a:off x="961217" y="2186513"/>
            <a:ext cx="381853" cy="381853"/>
          </a:xfrm>
          <a:prstGeom prst="rect">
            <a:avLst/>
          </a:prstGeom>
        </p:spPr>
      </p:pic>
      <p:sp>
        <p:nvSpPr>
          <p:cNvPr id="8" name="Text 4"/>
          <p:cNvSpPr txBox="1"/>
          <p:nvPr/>
        </p:nvSpPr>
        <p:spPr>
          <a:xfrm>
            <a:off x="1737360" y="1892808"/>
            <a:ext cx="4023360" cy="384048"/>
          </a:xfrm>
          <a:prstGeom prst="rect">
            <a:avLst/>
          </a:prstGeom>
          <a:noFill/>
          <a:ln/>
        </p:spPr>
        <p:txBody>
          <a:bodyPr wrap="square" lIns="0" tIns="0" rIns="0" bIns="0" rtlCol="0" anchor="t"/>
          <a:lstStyle/>
          <a:p>
            <a:pPr indent="0" marL="0">
              <a:buNone/>
            </a:pPr>
            <a:r>
              <a:rPr lang="en-IE" sz="1900" b="1" dirty="0">
                <a:solidFill>
                  <a:schemeClr val="tx1"/>
                </a:solidFill>
              </a:rPr>
              <a:t>One parent only</a:t>
            </a:r>
            <a:endParaRPr lang="en-IE" sz="1900" dirty="0"/>
          </a:p>
        </p:txBody>
      </p:sp>
      <p:sp>
        <p:nvSpPr>
          <p:cNvPr id="9" name="Text 5"/>
          <p:cNvSpPr txBox="1"/>
          <p:nvPr/>
        </p:nvSpPr>
        <p:spPr>
          <a:xfrm>
            <a:off x="1737360" y="2295144"/>
            <a:ext cx="4023360" cy="621792"/>
          </a:xfrm>
          <a:prstGeom prst="rect">
            <a:avLst/>
          </a:prstGeom>
          <a:noFill/>
          <a:ln/>
        </p:spPr>
        <p:txBody>
          <a:bodyPr wrap="square" lIns="0" tIns="0" rIns="0" bIns="0" rtlCol="0" anchor="t"/>
          <a:lstStyle/>
          <a:p>
            <a:pPr indent="0" marL="0">
              <a:buNone/>
            </a:pPr>
            <a:r>
              <a:rPr lang="en-IE" sz="1500" dirty="0">
                <a:solidFill>
                  <a:schemeClr val="tx2"/>
                </a:solidFill>
              </a:rPr>
              <a:t>A class can extend only one superclass.</a:t>
            </a:r>
            <a:endParaRPr lang="en-IE" sz="1500" dirty="0"/>
          </a:p>
        </p:txBody>
      </p:sp>
      <p:sp>
        <p:nvSpPr>
          <p:cNvPr id="10" name="One parent only code card"/>
          <p:cNvSpPr/>
          <p:nvPr/>
        </p:nvSpPr>
        <p:spPr>
          <a:xfrm>
            <a:off x="6035040" y="2039620"/>
            <a:ext cx="4937760" cy="675640"/>
          </a:xfrm>
          <a:prstGeom prst="roundRect">
            <a:avLst>
              <a:gd name="adj" fmla="val 16241"/>
            </a:avLst>
          </a:prstGeom>
          <a:solidFill>
            <a:schemeClr val="tx1"/>
          </a:solidFill>
          <a:ln/>
          <a:effectLst>
            <a:outerShdw sx="100000" sy="100000" kx="0" ky="0" algn="bl" rotWithShape="0" blurRad="114300" dist="31750" dir="5400000">
              <a:srgbClr val="1D2433">
                <a:alpha val="12000"/>
              </a:srgbClr>
            </a:outerShdw>
          </a:effectLst>
        </p:spPr>
      </p:sp>
      <p:sp>
        <p:nvSpPr>
          <p:cNvPr id="11" name="One parent only code text"/>
          <p:cNvSpPr txBox="1"/>
          <p:nvPr/>
        </p:nvSpPr>
        <p:spPr>
          <a:xfrm>
            <a:off x="6309360" y="2240788"/>
            <a:ext cx="4389120" cy="27330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Car</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extends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Vehicle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Machine</a:t>
            </a:r>
            <a:r>
              <a:rPr lang="en-IE" sz="1300" dirty="0">
                <a:solidFill>
                  <a:srgbClr val="E6EBF2"/>
                </a:solidFill>
                <a:latin typeface="Consolas" pitchFamily="34" charset="0"/>
                <a:ea typeface="Consolas" pitchFamily="34" charset="-122"/>
                <a:cs typeface="Consolas" pitchFamily="34" charset="-120"/>
              </a:rPr>
              <a:t> { }</a:t>
            </a:r>
            <a:endParaRPr lang="en-IE" sz="1300" dirty="0"/>
          </a:p>
        </p:txBody>
      </p:sp>
      <p:pic>
        <p:nvPicPr>
          <p:cNvPr id="12" name="Does not compile" descr="Does not compile">    </p:cNvPr>
          <p:cNvPicPr>
            <a:picLocks noChangeAspect="1"/>
          </p:cNvPicPr>
          <p:nvPr/>
        </p:nvPicPr>
        <p:blipFill>
          <a:blip r:embed="rId2"/>
          <a:stretch>
            <a:fillRect/>
          </a:stretch>
        </p:blipFill>
        <p:spPr>
          <a:xfrm>
            <a:off x="11128248" y="2176272"/>
            <a:ext cx="402336" cy="402336"/>
          </a:xfrm>
          <a:prstGeom prst="rect">
            <a:avLst/>
          </a:prstGeom>
        </p:spPr>
      </p:pic>
      <p:sp>
        <p:nvSpPr>
          <p:cNvPr id="13" name="Don’t declare it again"/>
          <p:cNvSpPr/>
          <p:nvPr/>
        </p:nvSpPr>
        <p:spPr>
          <a:xfrm>
            <a:off x="548640" y="3191256"/>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4" name="Icon tile"/>
          <p:cNvSpPr/>
          <p:nvPr/>
        </p:nvSpPr>
        <p:spPr>
          <a:xfrm>
            <a:off x="822960" y="3547872"/>
            <a:ext cx="658368" cy="658368"/>
          </a:xfrm>
          <a:prstGeom prst="roundRect">
            <a:avLst>
              <a:gd name="adj" fmla="val 24000"/>
            </a:avLst>
          </a:prstGeom>
          <a:solidFill>
            <a:schemeClr val="accent2">
              <a:alpha val="14000"/>
            </a:schemeClr>
          </a:solidFill>
          <a:ln/>
        </p:spPr>
      </p:sp>
      <p:pic>
        <p:nvPicPr>
          <p:cNvPr id="15" name="copy simple icon" descr="copy simple icon">    </p:cNvPr>
          <p:cNvPicPr>
            <a:picLocks noChangeAspect="1"/>
          </p:cNvPicPr>
          <p:nvPr/>
        </p:nvPicPr>
        <p:blipFill>
          <a:blip r:embed="rId3"/>
          <a:stretch>
            <a:fillRect/>
          </a:stretch>
        </p:blipFill>
        <p:spPr>
          <a:xfrm>
            <a:off x="961217" y="3686129"/>
            <a:ext cx="381853" cy="381853"/>
          </a:xfrm>
          <a:prstGeom prst="rect">
            <a:avLst/>
          </a:prstGeom>
        </p:spPr>
      </p:pic>
      <p:sp>
        <p:nvSpPr>
          <p:cNvPr id="16" name="Text 10"/>
          <p:cNvSpPr txBox="1"/>
          <p:nvPr/>
        </p:nvSpPr>
        <p:spPr>
          <a:xfrm>
            <a:off x="1737360" y="3392424"/>
            <a:ext cx="4023360" cy="384048"/>
          </a:xfrm>
          <a:prstGeom prst="rect">
            <a:avLst/>
          </a:prstGeom>
          <a:noFill/>
          <a:ln/>
        </p:spPr>
        <p:txBody>
          <a:bodyPr wrap="square" lIns="0" tIns="0" rIns="0" bIns="0" rtlCol="0" anchor="t"/>
          <a:lstStyle/>
          <a:p>
            <a:pPr indent="0" marL="0">
              <a:buNone/>
            </a:pPr>
            <a:r>
              <a:rPr lang="en-IE" sz="1900" b="1" dirty="0">
                <a:solidFill>
                  <a:schemeClr val="tx1"/>
                </a:solidFill>
              </a:rPr>
              <a:t>Don’t declare it again</a:t>
            </a:r>
            <a:endParaRPr lang="en-IE" sz="1900" dirty="0"/>
          </a:p>
        </p:txBody>
      </p:sp>
      <p:sp>
        <p:nvSpPr>
          <p:cNvPr id="17" name="Text 11"/>
          <p:cNvSpPr txBox="1"/>
          <p:nvPr/>
        </p:nvSpPr>
        <p:spPr>
          <a:xfrm>
            <a:off x="1737360" y="3794760"/>
            <a:ext cx="4023360" cy="621792"/>
          </a:xfrm>
          <a:prstGeom prst="rect">
            <a:avLst/>
          </a:prstGeom>
          <a:noFill/>
          <a:ln/>
        </p:spPr>
        <p:txBody>
          <a:bodyPr wrap="square" lIns="0" tIns="0" rIns="0" bIns="0" rtlCol="0" anchor="t"/>
          <a:lstStyle/>
          <a:p>
            <a:pPr indent="0" marL="0">
              <a:buNone/>
            </a:pPr>
            <a:r>
              <a:rPr lang="en-IE" sz="1500" dirty="0">
                <a:solidFill>
                  <a:schemeClr val="tx2"/>
                </a:solidFill>
              </a:rPr>
              <a:t>Inherited attributes are already there, so we don’t declare them again in the child.</a:t>
            </a:r>
            <a:endParaRPr lang="en-IE" sz="1500" dirty="0"/>
          </a:p>
        </p:txBody>
      </p:sp>
      <p:sp>
        <p:nvSpPr>
          <p:cNvPr id="18" name="Don’t declare it again code card"/>
          <p:cNvSpPr/>
          <p:nvPr/>
        </p:nvSpPr>
        <p:spPr>
          <a:xfrm>
            <a:off x="6035040" y="3320796"/>
            <a:ext cx="4937760" cy="1112520"/>
          </a:xfrm>
          <a:prstGeom prst="roundRect">
            <a:avLst>
              <a:gd name="adj" fmla="val 9863"/>
            </a:avLst>
          </a:prstGeom>
          <a:solidFill>
            <a:schemeClr val="tx1"/>
          </a:solidFill>
          <a:ln/>
          <a:effectLst>
            <a:outerShdw sx="100000" sy="100000" kx="0" ky="0" algn="bl" rotWithShape="0" blurRad="114300" dist="31750" dir="5400000">
              <a:srgbClr val="1D2433">
                <a:alpha val="12000"/>
              </a:srgbClr>
            </a:outerShdw>
          </a:effectLst>
        </p:spPr>
      </p:sp>
      <p:sp>
        <p:nvSpPr>
          <p:cNvPr id="19" name="Don’t declare it again code text"/>
          <p:cNvSpPr txBox="1"/>
          <p:nvPr/>
        </p:nvSpPr>
        <p:spPr>
          <a:xfrm>
            <a:off x="6309360" y="3521964"/>
            <a:ext cx="4389120" cy="71018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Car</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extends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Vehicle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Wheel</a:t>
            </a:r>
            <a:r>
              <a:rPr lang="en-IE" sz="1300" dirty="0">
                <a:solidFill>
                  <a:srgbClr val="E6EBF2"/>
                </a:solidFill>
                <a:latin typeface="Consolas" pitchFamily="34" charset="0"/>
                <a:ea typeface="Consolas" pitchFamily="34" charset="-122"/>
                <a:cs typeface="Consolas" pitchFamily="34" charset="-120"/>
              </a:rPr>
              <a:t>[] wheels;   </a:t>
            </a:r>
            <a:r>
              <a:rPr lang="en-IE" sz="1300" i="1" dirty="0">
                <a:solidFill>
                  <a:srgbClr val="A3AEC2"/>
                </a:solidFill>
                <a:latin typeface="Consolas" pitchFamily="34" charset="0"/>
                <a:ea typeface="Consolas" pitchFamily="34" charset="-122"/>
                <a:cs typeface="Consolas" pitchFamily="34" charset="-120"/>
              </a:rPr>
              <a:t>// no engine here</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pic>
        <p:nvPicPr>
          <p:cNvPr id="20" name="Compiles" descr="Compiles">    </p:cNvPr>
          <p:cNvPicPr>
            <a:picLocks noChangeAspect="1"/>
          </p:cNvPicPr>
          <p:nvPr/>
        </p:nvPicPr>
        <p:blipFill>
          <a:blip r:embed="rId4"/>
          <a:stretch>
            <a:fillRect/>
          </a:stretch>
        </p:blipFill>
        <p:spPr>
          <a:xfrm>
            <a:off x="11128248" y="3675888"/>
            <a:ext cx="402336" cy="402336"/>
          </a:xfrm>
          <a:prstGeom prst="rect">
            <a:avLst/>
          </a:prstGeom>
        </p:spPr>
      </p:pic>
      <p:sp>
        <p:nvSpPr>
          <p:cNvPr id="21" name="A normal class can be a parent"/>
          <p:cNvSpPr/>
          <p:nvPr/>
        </p:nvSpPr>
        <p:spPr>
          <a:xfrm>
            <a:off x="548640" y="4690872"/>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822960" y="5047488"/>
            <a:ext cx="658368" cy="658368"/>
          </a:xfrm>
          <a:prstGeom prst="roundRect">
            <a:avLst>
              <a:gd name="adj" fmla="val 24000"/>
            </a:avLst>
          </a:prstGeom>
          <a:solidFill>
            <a:schemeClr val="accent3">
              <a:alpha val="14000"/>
            </a:schemeClr>
          </a:solidFill>
          <a:ln/>
        </p:spPr>
      </p:sp>
      <p:pic>
        <p:nvPicPr>
          <p:cNvPr id="23" name="blueprint icon" descr="blueprint icon">    </p:cNvPr>
          <p:cNvPicPr>
            <a:picLocks noChangeAspect="1"/>
          </p:cNvPicPr>
          <p:nvPr/>
        </p:nvPicPr>
        <p:blipFill>
          <a:blip r:embed="rId5"/>
          <a:stretch>
            <a:fillRect/>
          </a:stretch>
        </p:blipFill>
        <p:spPr>
          <a:xfrm>
            <a:off x="961217" y="5185745"/>
            <a:ext cx="381853" cy="381853"/>
          </a:xfrm>
          <a:prstGeom prst="rect">
            <a:avLst/>
          </a:prstGeom>
        </p:spPr>
      </p:pic>
      <p:sp>
        <p:nvSpPr>
          <p:cNvPr id="24" name="Text 16"/>
          <p:cNvSpPr txBox="1"/>
          <p:nvPr/>
        </p:nvSpPr>
        <p:spPr>
          <a:xfrm>
            <a:off x="1737360" y="4892040"/>
            <a:ext cx="4023360" cy="384048"/>
          </a:xfrm>
          <a:prstGeom prst="rect">
            <a:avLst/>
          </a:prstGeom>
          <a:noFill/>
          <a:ln/>
        </p:spPr>
        <p:txBody>
          <a:bodyPr wrap="square" lIns="0" tIns="0" rIns="0" bIns="0" rtlCol="0" anchor="t"/>
          <a:lstStyle/>
          <a:p>
            <a:pPr indent="0" marL="0">
              <a:buNone/>
            </a:pPr>
            <a:r>
              <a:rPr lang="en-IE" sz="1900" b="1" dirty="0">
                <a:solidFill>
                  <a:schemeClr val="tx1"/>
                </a:solidFill>
              </a:rPr>
              <a:t>A normal class can be a parent</a:t>
            </a:r>
            <a:endParaRPr lang="en-IE" sz="1900" dirty="0"/>
          </a:p>
        </p:txBody>
      </p:sp>
      <p:sp>
        <p:nvSpPr>
          <p:cNvPr id="25" name="Text 17"/>
          <p:cNvSpPr txBox="1"/>
          <p:nvPr/>
        </p:nvSpPr>
        <p:spPr>
          <a:xfrm>
            <a:off x="1737360" y="5294376"/>
            <a:ext cx="4023360" cy="621792"/>
          </a:xfrm>
          <a:prstGeom prst="rect">
            <a:avLst/>
          </a:prstGeom>
          <a:noFill/>
          <a:ln/>
        </p:spPr>
        <p:txBody>
          <a:bodyPr wrap="square" lIns="0" tIns="0" rIns="0" bIns="0" rtlCol="0" anchor="t"/>
          <a:lstStyle/>
          <a:p>
            <a:pPr indent="0" marL="0">
              <a:buNone/>
            </a:pPr>
            <a:r>
              <a:rPr lang="en-IE" sz="1500" dirty="0">
                <a:solidFill>
                  <a:schemeClr val="tx2"/>
                </a:solidFill>
              </a:rPr>
              <a:t>The superclass doesn’t need to be abstract to be extended.</a:t>
            </a:r>
            <a:endParaRPr lang="en-IE" sz="1500" dirty="0"/>
          </a:p>
        </p:txBody>
      </p:sp>
      <p:sp>
        <p:nvSpPr>
          <p:cNvPr id="26" name="A normal class can be a parent code card"/>
          <p:cNvSpPr/>
          <p:nvPr/>
        </p:nvSpPr>
        <p:spPr>
          <a:xfrm>
            <a:off x="6035040" y="5038852"/>
            <a:ext cx="4937760" cy="675640"/>
          </a:xfrm>
          <a:prstGeom prst="roundRect">
            <a:avLst>
              <a:gd name="adj" fmla="val 16241"/>
            </a:avLst>
          </a:prstGeom>
          <a:solidFill>
            <a:schemeClr val="tx1"/>
          </a:solidFill>
          <a:ln/>
          <a:effectLst>
            <a:outerShdw sx="100000" sy="100000" kx="0" ky="0" algn="bl" rotWithShape="0" blurRad="114300" dist="31750" dir="5400000">
              <a:srgbClr val="1D2433">
                <a:alpha val="12000"/>
              </a:srgbClr>
            </a:outerShdw>
          </a:effectLst>
        </p:spPr>
      </p:sp>
      <p:sp>
        <p:nvSpPr>
          <p:cNvPr id="27" name="A normal class can be a parent code text"/>
          <p:cNvSpPr txBox="1"/>
          <p:nvPr/>
        </p:nvSpPr>
        <p:spPr>
          <a:xfrm>
            <a:off x="6309360" y="5240020"/>
            <a:ext cx="4389120" cy="27330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Vehicle</a:t>
            </a:r>
            <a:r>
              <a:rPr lang="en-IE" sz="1300" dirty="0">
                <a:solidFill>
                  <a:srgbClr val="E6EBF2"/>
                </a:solidFill>
                <a:latin typeface="Consolas" pitchFamily="34" charset="0"/>
                <a:ea typeface="Consolas" pitchFamily="34" charset="-122"/>
                <a:cs typeface="Consolas" pitchFamily="34" charset="-120"/>
              </a:rPr>
              <a:t> { ... }   </a:t>
            </a:r>
            <a:r>
              <a:rPr lang="en-IE" sz="1300" i="1" dirty="0">
                <a:solidFill>
                  <a:srgbClr val="A3AEC2"/>
                </a:solidFill>
                <a:latin typeface="Consolas" pitchFamily="34" charset="0"/>
                <a:ea typeface="Consolas" pitchFamily="34" charset="-122"/>
                <a:cs typeface="Consolas" pitchFamily="34" charset="-120"/>
              </a:rPr>
              <a:t>// a normal class</a:t>
            </a:r>
            <a:endParaRPr lang="en-IE" sz="1300" dirty="0"/>
          </a:p>
        </p:txBody>
      </p:sp>
      <p:pic>
        <p:nvPicPr>
          <p:cNvPr id="28" name="Compiles" descr="Compiles">    </p:cNvPr>
          <p:cNvPicPr>
            <a:picLocks noChangeAspect="1"/>
          </p:cNvPicPr>
          <p:nvPr/>
        </p:nvPicPr>
        <p:blipFill>
          <a:blip r:embed="rId6"/>
          <a:stretch>
            <a:fillRect/>
          </a:stretch>
        </p:blipFill>
        <p:spPr>
          <a:xfrm>
            <a:off x="11128248" y="5175504"/>
            <a:ext cx="402336" cy="402336"/>
          </a:xfrm>
          <a:prstGeom prst="rect">
            <a:avLst/>
          </a:prstGeom>
        </p:spPr>
      </p:pic>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40</a:t>
            </a:fld>
            <a:endParaRPr lang="en-I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class declaration will NOT compile?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Car extends Vehicle { int doors;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Boat extends Vehicle {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SportsCar extends Car { }</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Car extends Vehicle, Machine { }</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41</a:t>
            </a:fld>
            <a:endParaRPr lang="en-I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class declaration will NOT compile?</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class Car extends Vehicle { int doors; }</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class Boat extends Vehicle { }</a:t>
            </a:r>
            <a:endParaRPr lang="en-IE"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class SportsCar extends Car { }</a:t>
            </a:r>
            <a:endParaRPr lang="en-IE"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3941064"/>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class Car extends Vehicle, Machine { }</a:t>
            </a:r>
            <a:endParaRPr lang="en-IE" sz="1700" dirty="0"/>
          </a:p>
        </p:txBody>
      </p:sp>
      <p:pic>
        <p:nvPicPr>
          <p:cNvPr id="17" name="Correct mark"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 class can extend only one superclass, so D is an error. A, B and C each have exactly one parent. SportsCar’s parent is Car, which is fine: a parent can have a parent of its own.</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42</a:t>
            </a:fld>
            <a:endParaRPr lang="en-I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03</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Abstract classes and super</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Parents we never make objects of</a:t>
            </a:r>
            <a:endParaRPr lang="en-IE" sz="2000" dirty="0"/>
          </a:p>
        </p:txBody>
      </p:sp>
      <p:sp>
        <p:nvSpPr>
          <p:cNvPr id="5" name="Topic chip"/>
          <p:cNvSpPr/>
          <p:nvPr/>
        </p:nvSpPr>
        <p:spPr>
          <a:xfrm>
            <a:off x="822960" y="4846320"/>
            <a:ext cx="188163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Abstract classes</a:t>
            </a:r>
            <a:endParaRPr lang="en-IE" sz="1400" dirty="0"/>
          </a:p>
        </p:txBody>
      </p:sp>
      <p:sp>
        <p:nvSpPr>
          <p:cNvPr id="6" name="Topic chip"/>
          <p:cNvSpPr/>
          <p:nvPr/>
        </p:nvSpPr>
        <p:spPr>
          <a:xfrm>
            <a:off x="2850896" y="4846320"/>
            <a:ext cx="86461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super</a:t>
            </a:r>
            <a:endParaRPr lang="en-IE" sz="1400" dirty="0"/>
          </a:p>
        </p:txBody>
      </p:sp>
      <p:sp>
        <p:nvSpPr>
          <p:cNvPr id="7" name="Topic chip"/>
          <p:cNvSpPr/>
          <p:nvPr/>
        </p:nvSpPr>
        <p:spPr>
          <a:xfrm>
            <a:off x="3861816" y="4846320"/>
            <a:ext cx="188163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Abstract methods</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Abstract classes</a:t>
            </a:r>
            <a:endParaRPr lang="en-IE" sz="3400" dirty="0"/>
          </a:p>
        </p:txBody>
      </p:sp>
      <p:sp>
        <p:nvSpPr>
          <p:cNvPr id="5" name="Text 2"/>
          <p:cNvSpPr txBox="1"/>
          <p:nvPr/>
        </p:nvSpPr>
        <p:spPr>
          <a:xfrm>
            <a:off x="548640" y="1783080"/>
            <a:ext cx="5120640" cy="274320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An abstract class will never have objects (instances of itself) created.</a:t>
            </a:r>
            <a:endParaRPr lang="en-IE" sz="1800" dirty="0"/>
          </a:p>
          <a:p>
            <a:pPr marL="228600" indent="-228600">
              <a:spcAft>
                <a:spcPts val="1200"/>
              </a:spcAft>
              <a:buSzPct val="100000"/>
              <a:buChar char="•"/>
            </a:pPr>
            <a:r>
              <a:rPr lang="en-IE" sz="1800" dirty="0">
                <a:solidFill>
                  <a:schemeClr val="tx1"/>
                </a:solidFill>
              </a:rPr>
              <a:t>Instead it acts as a superclass for more specific, non-abstract (concrete) subclasses.</a:t>
            </a:r>
            <a:endParaRPr lang="en-IE" sz="1800" dirty="0"/>
          </a:p>
          <a:p>
            <a:pPr marL="228600" indent="-228600">
              <a:buSzPct val="100000"/>
              <a:buChar char="•"/>
            </a:pPr>
            <a:r>
              <a:rPr lang="en-IE" sz="1800" dirty="0">
                <a:solidFill>
                  <a:schemeClr val="tx1"/>
                </a:solidFill>
              </a:rPr>
              <a:t>It’s a class used as a blueprint for other classes.</a:t>
            </a:r>
            <a:endParaRPr lang="en-IE" sz="1800" dirty="0"/>
          </a:p>
        </p:txBody>
      </p:sp>
      <p:sp>
        <p:nvSpPr>
          <p:cNvPr id="6" name="Code chip"/>
          <p:cNvSpPr/>
          <p:nvPr/>
        </p:nvSpPr>
        <p:spPr>
          <a:xfrm>
            <a:off x="548640" y="4617720"/>
            <a:ext cx="237744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new Vehicle()</a:t>
            </a:r>
            <a:endParaRPr lang="en-IE" sz="1800" dirty="0"/>
          </a:p>
        </p:txBody>
      </p:sp>
      <p:pic>
        <p:nvPicPr>
          <p:cNvPr id="7" name="Does not work" descr="Does not work">    </p:cNvPr>
          <p:cNvPicPr>
            <a:picLocks noChangeAspect="1"/>
          </p:cNvPicPr>
          <p:nvPr/>
        </p:nvPicPr>
        <p:blipFill>
          <a:blip r:embed="rId1"/>
          <a:stretch>
            <a:fillRect/>
          </a:stretch>
        </p:blipFill>
        <p:spPr>
          <a:xfrm>
            <a:off x="3108960" y="4709160"/>
            <a:ext cx="347472" cy="347472"/>
          </a:xfrm>
          <a:prstGeom prst="rect">
            <a:avLst/>
          </a:prstGeom>
        </p:spPr>
      </p:pic>
      <p:sp>
        <p:nvSpPr>
          <p:cNvPr id="8" name="Text 4"/>
          <p:cNvSpPr txBox="1"/>
          <p:nvPr/>
        </p:nvSpPr>
        <p:spPr>
          <a:xfrm>
            <a:off x="3566160" y="4654296"/>
            <a:ext cx="2651760" cy="457200"/>
          </a:xfrm>
          <a:prstGeom prst="rect">
            <a:avLst/>
          </a:prstGeom>
          <a:noFill/>
          <a:ln/>
        </p:spPr>
        <p:txBody>
          <a:bodyPr wrap="square" lIns="0" tIns="0" rIns="0" bIns="0" rtlCol="0" anchor="ctr"/>
          <a:lstStyle/>
          <a:p>
            <a:pPr indent="0" marL="0">
              <a:buNone/>
            </a:pPr>
            <a:r>
              <a:rPr lang="en-IE" sz="1350" b="1" dirty="0">
                <a:solidFill>
                  <a:srgbClr val="C0392B"/>
                </a:solidFill>
              </a:rPr>
              <a:t>Vehicle is abstract; cannot be instantiated</a:t>
            </a:r>
            <a:endParaRPr lang="en-IE" sz="1350" dirty="0"/>
          </a:p>
        </p:txBody>
      </p:sp>
      <p:sp>
        <p:nvSpPr>
          <p:cNvPr id="9" name="Code chip"/>
          <p:cNvSpPr/>
          <p:nvPr/>
        </p:nvSpPr>
        <p:spPr>
          <a:xfrm>
            <a:off x="548640" y="5303520"/>
            <a:ext cx="237744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new Car()</a:t>
            </a:r>
            <a:endParaRPr lang="en-IE" sz="1800" dirty="0"/>
          </a:p>
        </p:txBody>
      </p:sp>
      <p:pic>
        <p:nvPicPr>
          <p:cNvPr id="10" name="Works" descr="Works">    </p:cNvPr>
          <p:cNvPicPr>
            <a:picLocks noChangeAspect="1"/>
          </p:cNvPicPr>
          <p:nvPr/>
        </p:nvPicPr>
        <p:blipFill>
          <a:blip r:embed="rId2"/>
          <a:stretch>
            <a:fillRect/>
          </a:stretch>
        </p:blipFill>
        <p:spPr>
          <a:xfrm>
            <a:off x="3108960" y="5394960"/>
            <a:ext cx="347472" cy="347472"/>
          </a:xfrm>
          <a:prstGeom prst="rect">
            <a:avLst/>
          </a:prstGeom>
        </p:spPr>
      </p:pic>
      <p:sp>
        <p:nvSpPr>
          <p:cNvPr id="11" name="Text 6"/>
          <p:cNvSpPr txBox="1"/>
          <p:nvPr/>
        </p:nvSpPr>
        <p:spPr>
          <a:xfrm>
            <a:off x="3566160" y="5340096"/>
            <a:ext cx="2286000" cy="457200"/>
          </a:xfrm>
          <a:prstGeom prst="rect">
            <a:avLst/>
          </a:prstGeom>
          <a:noFill/>
          <a:ln/>
        </p:spPr>
        <p:txBody>
          <a:bodyPr wrap="square" lIns="0" tIns="0" rIns="0" bIns="0" rtlCol="0" anchor="ctr"/>
          <a:lstStyle/>
          <a:p>
            <a:pPr indent="0" marL="0">
              <a:buNone/>
            </a:pPr>
            <a:r>
              <a:rPr lang="en-IE" sz="1400" b="1" dirty="0">
                <a:solidFill>
                  <a:schemeClr val="accent3"/>
                </a:solidFill>
              </a:rPr>
              <a:t>Car is concrete: fine</a:t>
            </a:r>
            <a:endParaRPr lang="en-IE" sz="1400" dirty="0"/>
          </a:p>
        </p:txBody>
      </p:sp>
      <p:sp>
        <p:nvSpPr>
          <p:cNvPr id="12" name="Box Vehicle"/>
          <p:cNvSpPr/>
          <p:nvPr/>
        </p:nvSpPr>
        <p:spPr>
          <a:xfrm>
            <a:off x="7635240" y="1965960"/>
            <a:ext cx="2651760" cy="868680"/>
          </a:xfrm>
          <a:prstGeom prst="roundRect">
            <a:avLst>
              <a:gd name="adj" fmla="val 8421"/>
            </a:avLst>
          </a:prstGeom>
          <a:solidFill>
            <a:schemeClr val="accent2">
              <a:alpha val="14000"/>
            </a:schemeClr>
          </a:solidFill>
          <a:ln w="19050">
            <a:solidFill>
              <a:schemeClr val="accent2"/>
            </a:solidFill>
            <a:prstDash val="solid"/>
          </a:ln>
        </p:spPr>
      </p:sp>
      <p:sp>
        <p:nvSpPr>
          <p:cNvPr id="13" name="Text 8"/>
          <p:cNvSpPr txBox="1"/>
          <p:nvPr/>
        </p:nvSpPr>
        <p:spPr>
          <a:xfrm>
            <a:off x="7635240" y="2011680"/>
            <a:ext cx="2651760" cy="219456"/>
          </a:xfrm>
          <a:prstGeom prst="rect">
            <a:avLst/>
          </a:prstGeom>
          <a:noFill/>
          <a:ln/>
        </p:spPr>
        <p:txBody>
          <a:bodyPr wrap="square" lIns="0" tIns="0" rIns="0" bIns="0" rtlCol="0" anchor="ctr"/>
          <a:lstStyle/>
          <a:p>
            <a:pPr algn="ctr" indent="0" marL="0">
              <a:buNone/>
            </a:pPr>
            <a:r>
              <a:rPr lang="en-IE" sz="1100" i="1" dirty="0">
                <a:solidFill>
                  <a:schemeClr val="tx2"/>
                </a:solidFill>
              </a:rPr>
              <a:t>«abstract»</a:t>
            </a:r>
            <a:endParaRPr lang="en-IE" sz="1100" dirty="0"/>
          </a:p>
        </p:txBody>
      </p:sp>
      <p:sp>
        <p:nvSpPr>
          <p:cNvPr id="14" name="Text 9"/>
          <p:cNvSpPr txBox="1"/>
          <p:nvPr/>
        </p:nvSpPr>
        <p:spPr>
          <a:xfrm>
            <a:off x="7635240" y="2203704"/>
            <a:ext cx="2651760" cy="594360"/>
          </a:xfrm>
          <a:prstGeom prst="rect">
            <a:avLst/>
          </a:prstGeom>
          <a:noFill/>
          <a:ln/>
        </p:spPr>
        <p:txBody>
          <a:bodyPr wrap="square" lIns="0" tIns="0" rIns="0" bIns="0" rtlCol="0" anchor="ctr"/>
          <a:lstStyle/>
          <a:p>
            <a:pPr algn="ctr" indent="0" marL="0">
              <a:buNone/>
            </a:pPr>
            <a:r>
              <a:rPr lang="en-IE" sz="1900" b="1" i="1" dirty="0">
                <a:solidFill>
                  <a:schemeClr val="tx1"/>
                </a:solidFill>
              </a:rPr>
              <a:t>Vehicle</a:t>
            </a:r>
            <a:endParaRPr lang="en-IE" sz="1900" dirty="0"/>
          </a:p>
        </p:txBody>
      </p:sp>
      <p:sp>
        <p:nvSpPr>
          <p:cNvPr id="15" name="Box Car"/>
          <p:cNvSpPr/>
          <p:nvPr/>
        </p:nvSpPr>
        <p:spPr>
          <a:xfrm>
            <a:off x="6263640" y="4023360"/>
            <a:ext cx="2286000" cy="685800"/>
          </a:xfrm>
          <a:prstGeom prst="roundRect">
            <a:avLst>
              <a:gd name="adj" fmla="val 10667"/>
            </a:avLst>
          </a:prstGeom>
          <a:solidFill>
            <a:schemeClr val="accent1">
              <a:alpha val="14000"/>
            </a:schemeClr>
          </a:solidFill>
          <a:ln w="19050">
            <a:solidFill>
              <a:schemeClr val="accent1"/>
            </a:solidFill>
            <a:prstDash val="solid"/>
          </a:ln>
        </p:spPr>
      </p:sp>
      <p:sp>
        <p:nvSpPr>
          <p:cNvPr id="16" name="Text 11"/>
          <p:cNvSpPr txBox="1"/>
          <p:nvPr/>
        </p:nvSpPr>
        <p:spPr>
          <a:xfrm>
            <a:off x="6263640" y="4023360"/>
            <a:ext cx="2286000" cy="685800"/>
          </a:xfrm>
          <a:prstGeom prst="rect">
            <a:avLst/>
          </a:prstGeom>
          <a:noFill/>
          <a:ln/>
        </p:spPr>
        <p:txBody>
          <a:bodyPr wrap="square" lIns="0" tIns="0" rIns="0" bIns="0" rtlCol="0" anchor="ctr"/>
          <a:lstStyle/>
          <a:p>
            <a:pPr algn="ctr" indent="0" marL="0">
              <a:buNone/>
            </a:pPr>
            <a:r>
              <a:rPr lang="en-IE" sz="1800" b="1" dirty="0">
                <a:solidFill>
                  <a:schemeClr val="tx1"/>
                </a:solidFill>
              </a:rPr>
              <a:t>Car</a:t>
            </a:r>
            <a:endParaRPr lang="en-IE" sz="1800" dirty="0"/>
          </a:p>
        </p:txBody>
      </p:sp>
      <p:sp>
        <p:nvSpPr>
          <p:cNvPr id="17" name="Box Boat"/>
          <p:cNvSpPr/>
          <p:nvPr/>
        </p:nvSpPr>
        <p:spPr>
          <a:xfrm>
            <a:off x="9354312" y="4023360"/>
            <a:ext cx="2286000" cy="685800"/>
          </a:xfrm>
          <a:prstGeom prst="roundRect">
            <a:avLst>
              <a:gd name="adj" fmla="val 10667"/>
            </a:avLst>
          </a:prstGeom>
          <a:solidFill>
            <a:schemeClr val="accent1">
              <a:alpha val="14000"/>
            </a:schemeClr>
          </a:solidFill>
          <a:ln w="19050">
            <a:solidFill>
              <a:schemeClr val="accent1"/>
            </a:solidFill>
            <a:prstDash val="solid"/>
          </a:ln>
        </p:spPr>
      </p:sp>
      <p:sp>
        <p:nvSpPr>
          <p:cNvPr id="18" name="Text 13"/>
          <p:cNvSpPr txBox="1"/>
          <p:nvPr/>
        </p:nvSpPr>
        <p:spPr>
          <a:xfrm>
            <a:off x="9354312" y="4023360"/>
            <a:ext cx="2286000" cy="685800"/>
          </a:xfrm>
          <a:prstGeom prst="rect">
            <a:avLst/>
          </a:prstGeom>
          <a:noFill/>
          <a:ln/>
        </p:spPr>
        <p:txBody>
          <a:bodyPr wrap="square" lIns="0" tIns="0" rIns="0" bIns="0" rtlCol="0" anchor="ctr"/>
          <a:lstStyle/>
          <a:p>
            <a:pPr algn="ctr" indent="0" marL="0">
              <a:buNone/>
            </a:pPr>
            <a:r>
              <a:rPr lang="en-IE" sz="1800" b="1" dirty="0">
                <a:solidFill>
                  <a:schemeClr val="tx1"/>
                </a:solidFill>
              </a:rPr>
              <a:t>Boat</a:t>
            </a:r>
            <a:endParaRPr lang="en-IE" sz="1800" dirty="0"/>
          </a:p>
        </p:txBody>
      </p:sp>
      <p:sp>
        <p:nvSpPr>
          <p:cNvPr id="19" name="Line"/>
          <p:cNvSpPr/>
          <p:nvPr/>
        </p:nvSpPr>
        <p:spPr>
          <a:xfrm flipV="1">
            <a:off x="8961120" y="3017520"/>
            <a:ext cx="0" cy="411480"/>
          </a:xfrm>
          <a:prstGeom prst="line">
            <a:avLst/>
          </a:prstGeom>
          <a:noFill/>
          <a:ln w="19050">
            <a:solidFill>
              <a:schemeClr val="tx1"/>
            </a:solidFill>
            <a:prstDash val="solid"/>
          </a:ln>
        </p:spPr>
      </p:sp>
      <p:sp>
        <p:nvSpPr>
          <p:cNvPr id="20" name="Line"/>
          <p:cNvSpPr/>
          <p:nvPr/>
        </p:nvSpPr>
        <p:spPr>
          <a:xfrm>
            <a:off x="7406640" y="3429000"/>
            <a:ext cx="3090672" cy="0"/>
          </a:xfrm>
          <a:prstGeom prst="line">
            <a:avLst/>
          </a:prstGeom>
          <a:noFill/>
          <a:ln w="19050">
            <a:solidFill>
              <a:schemeClr val="tx1"/>
            </a:solidFill>
            <a:prstDash val="solid"/>
          </a:ln>
        </p:spPr>
      </p:sp>
      <p:sp>
        <p:nvSpPr>
          <p:cNvPr id="21" name="Line"/>
          <p:cNvSpPr/>
          <p:nvPr/>
        </p:nvSpPr>
        <p:spPr>
          <a:xfrm flipV="1">
            <a:off x="7406640" y="3429000"/>
            <a:ext cx="0" cy="594360"/>
          </a:xfrm>
          <a:prstGeom prst="line">
            <a:avLst/>
          </a:prstGeom>
          <a:noFill/>
          <a:ln w="19050">
            <a:solidFill>
              <a:schemeClr val="tx1"/>
            </a:solidFill>
            <a:prstDash val="solid"/>
          </a:ln>
        </p:spPr>
      </p:sp>
      <p:sp>
        <p:nvSpPr>
          <p:cNvPr id="22" name="Line"/>
          <p:cNvSpPr/>
          <p:nvPr/>
        </p:nvSpPr>
        <p:spPr>
          <a:xfrm flipV="1">
            <a:off x="10497312" y="3429000"/>
            <a:ext cx="0" cy="594360"/>
          </a:xfrm>
          <a:prstGeom prst="line">
            <a:avLst/>
          </a:prstGeom>
          <a:noFill/>
          <a:ln w="19050">
            <a:solidFill>
              <a:schemeClr val="tx1"/>
            </a:solidFill>
            <a:prstDash val="solid"/>
          </a:ln>
        </p:spPr>
      </p:sp>
      <p:sp>
        <p:nvSpPr>
          <p:cNvPr id="23" name="Inheritance arrow head"/>
          <p:cNvSpPr/>
          <p:nvPr/>
        </p:nvSpPr>
        <p:spPr>
          <a:xfrm>
            <a:off x="8851392" y="2834640"/>
            <a:ext cx="219456" cy="182880"/>
          </a:xfrm>
          <a:prstGeom prst="triangle">
            <a:avLst/>
          </a:prstGeom>
          <a:solidFill>
            <a:schemeClr val="bg1"/>
          </a:solidFill>
          <a:ln w="19050">
            <a:solidFill>
              <a:schemeClr val="tx1"/>
            </a:solidFill>
            <a:prstDash val="solid"/>
          </a:ln>
        </p:spPr>
      </p:sp>
      <p:sp>
        <p:nvSpPr>
          <p:cNvPr id="24" name="Text 19"/>
          <p:cNvSpPr txBox="1"/>
          <p:nvPr/>
        </p:nvSpPr>
        <p:spPr>
          <a:xfrm>
            <a:off x="6903720" y="1581912"/>
            <a:ext cx="4114800" cy="292608"/>
          </a:xfrm>
          <a:prstGeom prst="rect">
            <a:avLst/>
          </a:prstGeom>
          <a:noFill/>
          <a:ln/>
        </p:spPr>
        <p:txBody>
          <a:bodyPr wrap="square" lIns="0" tIns="0" rIns="0" bIns="0" rtlCol="0" anchor="t"/>
          <a:lstStyle/>
          <a:p>
            <a:pPr algn="ctr" indent="0" marL="0">
              <a:buNone/>
            </a:pPr>
            <a:r>
              <a:rPr lang="en-IE" sz="1300" i="1" dirty="0">
                <a:solidFill>
                  <a:schemeClr val="tx2"/>
                </a:solidFill>
              </a:rPr>
              <a:t>if we make Vehicle abstract, it never has objects</a:t>
            </a:r>
            <a:endParaRPr lang="en-IE" sz="1300" dirty="0"/>
          </a:p>
        </p:txBody>
      </p:sp>
      <p:sp>
        <p:nvSpPr>
          <p:cNvPr id="25" name="Text 20"/>
          <p:cNvSpPr txBox="1"/>
          <p:nvPr/>
        </p:nvSpPr>
        <p:spPr>
          <a:xfrm>
            <a:off x="6263640" y="4846320"/>
            <a:ext cx="5376672" cy="320040"/>
          </a:xfrm>
          <a:prstGeom prst="rect">
            <a:avLst/>
          </a:prstGeom>
          <a:noFill/>
          <a:ln/>
        </p:spPr>
        <p:txBody>
          <a:bodyPr wrap="square" lIns="0" tIns="0" rIns="0" bIns="0" rtlCol="0" anchor="t"/>
          <a:lstStyle/>
          <a:p>
            <a:pPr algn="ctr" indent="0" marL="0">
              <a:buNone/>
            </a:pPr>
            <a:r>
              <a:rPr lang="en-IE" sz="1300" i="1" dirty="0">
                <a:solidFill>
                  <a:schemeClr val="tx2"/>
                </a:solidFill>
              </a:rPr>
              <a:t>objects are made from these</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44</a:t>
            </a:fld>
            <a:endParaRPr lang="en-I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Example: full-time and part-time employees</a:t>
            </a:r>
            <a:endParaRPr lang="en-IE" sz="3400" dirty="0"/>
          </a:p>
        </p:txBody>
      </p:sp>
      <p:sp>
        <p:nvSpPr>
          <p:cNvPr id="5" name="Text 2"/>
          <p:cNvSpPr txBox="1"/>
          <p:nvPr/>
        </p:nvSpPr>
        <p:spPr>
          <a:xfrm>
            <a:off x="548640" y="1783080"/>
            <a:ext cx="4937760" cy="420624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Two subclasses of an Employee class: FullTimeEmployee and PartTimeEmployee.</a:t>
            </a:r>
            <a:endParaRPr lang="en-IE" sz="1800" dirty="0"/>
          </a:p>
          <a:p>
            <a:pPr marL="228600" indent="-228600">
              <a:spcAft>
                <a:spcPts val="1200"/>
              </a:spcAft>
              <a:buSzPct val="100000"/>
              <a:buChar char="•"/>
            </a:pPr>
            <a:r>
              <a:rPr lang="en-IE" sz="1800" dirty="0">
                <a:solidFill>
                  <a:schemeClr val="tx1"/>
                </a:solidFill>
              </a:rPr>
              <a:t>Each inherits the general attributes from Employee, and has its own specific attributes and methods.</a:t>
            </a:r>
            <a:endParaRPr lang="en-IE" sz="1800" dirty="0"/>
          </a:p>
          <a:p>
            <a:pPr marL="228600" indent="-228600">
              <a:spcAft>
                <a:spcPts val="1200"/>
              </a:spcAft>
              <a:buSzPct val="100000"/>
              <a:buChar char="•"/>
            </a:pPr>
            <a:r>
              <a:rPr lang="en-IE" sz="1800" dirty="0">
                <a:solidFill>
                  <a:schemeClr val="tx1"/>
                </a:solidFill>
              </a:rPr>
              <a:t>No one is just an employee: they must be either full time or part time.</a:t>
            </a:r>
            <a:endParaRPr lang="en-IE" sz="1800" dirty="0"/>
          </a:p>
          <a:p>
            <a:pPr marL="228600" indent="-228600">
              <a:buSzPct val="100000"/>
              <a:buChar char="•"/>
            </a:pPr>
            <a:r>
              <a:rPr lang="en-IE" sz="1800" dirty="0">
                <a:solidFill>
                  <a:schemeClr val="tx1"/>
                </a:solidFill>
              </a:rPr>
              <a:t>So we make the Employee class abstract.</a:t>
            </a:r>
            <a:endParaRPr lang="en-IE" sz="1800" dirty="0"/>
          </a:p>
        </p:txBody>
      </p:sp>
      <p:sp>
        <p:nvSpPr>
          <p:cNvPr id="6" name="Class Employee"/>
          <p:cNvSpPr/>
          <p:nvPr/>
        </p:nvSpPr>
        <p:spPr>
          <a:xfrm>
            <a:off x="7223760" y="1783080"/>
            <a:ext cx="3017520" cy="1393698"/>
          </a:xfrm>
          <a:prstGeom prst="rect">
            <a:avLst/>
          </a:prstGeom>
          <a:solidFill>
            <a:schemeClr val="bg1"/>
          </a:solidFill>
          <a:ln w="19050">
            <a:solidFill>
              <a:schemeClr val="accent2"/>
            </a:solidFill>
            <a:prstDash val="solid"/>
          </a:ln>
          <a:effectLst>
            <a:outerShdw sx="100000" sy="100000" kx="0" ky="0" algn="bl" rotWithShape="0" blurRad="76200" dist="19050" dir="5400000">
              <a:srgbClr val="1D2433">
                <a:alpha val="8000"/>
              </a:srgbClr>
            </a:outerShdw>
          </a:effectLst>
        </p:spPr>
      </p:sp>
      <p:sp>
        <p:nvSpPr>
          <p:cNvPr id="7" name="Class Employee header"/>
          <p:cNvSpPr/>
          <p:nvPr/>
        </p:nvSpPr>
        <p:spPr>
          <a:xfrm>
            <a:off x="7223760" y="1783080"/>
            <a:ext cx="3017520" cy="658368"/>
          </a:xfrm>
          <a:prstGeom prst="rect">
            <a:avLst/>
          </a:prstGeom>
          <a:solidFill>
            <a:schemeClr val="accent2">
              <a:alpha val="14000"/>
            </a:schemeClr>
          </a:solidFill>
          <a:ln w="19050">
            <a:solidFill>
              <a:schemeClr val="accent2"/>
            </a:solidFill>
            <a:prstDash val="solid"/>
          </a:ln>
        </p:spPr>
      </p:sp>
      <p:sp>
        <p:nvSpPr>
          <p:cNvPr id="8" name="Text 5"/>
          <p:cNvSpPr txBox="1"/>
          <p:nvPr/>
        </p:nvSpPr>
        <p:spPr>
          <a:xfrm>
            <a:off x="7223760" y="1847088"/>
            <a:ext cx="3017520" cy="237744"/>
          </a:xfrm>
          <a:prstGeom prst="rect">
            <a:avLst/>
          </a:prstGeom>
          <a:noFill/>
          <a:ln/>
        </p:spPr>
        <p:txBody>
          <a:bodyPr wrap="square" lIns="0" tIns="0" rIns="0" bIns="0" rtlCol="0" anchor="ctr"/>
          <a:lstStyle/>
          <a:p>
            <a:pPr algn="ctr" indent="0" marL="0">
              <a:buNone/>
            </a:pPr>
            <a:r>
              <a:rPr lang="en-IE" sz="1150" i="1" dirty="0">
                <a:solidFill>
                  <a:schemeClr val="tx2"/>
                </a:solidFill>
              </a:rPr>
              <a:t>«abstract»</a:t>
            </a:r>
            <a:endParaRPr lang="en-IE" sz="1150" dirty="0"/>
          </a:p>
        </p:txBody>
      </p:sp>
      <p:sp>
        <p:nvSpPr>
          <p:cNvPr id="9" name="Text 6"/>
          <p:cNvSpPr txBox="1"/>
          <p:nvPr/>
        </p:nvSpPr>
        <p:spPr>
          <a:xfrm>
            <a:off x="7223760" y="2057400"/>
            <a:ext cx="3017520" cy="384048"/>
          </a:xfrm>
          <a:prstGeom prst="rect">
            <a:avLst/>
          </a:prstGeom>
          <a:noFill/>
          <a:ln/>
        </p:spPr>
        <p:txBody>
          <a:bodyPr wrap="square" lIns="0" tIns="0" rIns="0" bIns="0" rtlCol="0" anchor="ctr"/>
          <a:lstStyle/>
          <a:p>
            <a:pPr algn="ctr" indent="0" marL="0">
              <a:buNone/>
            </a:pPr>
            <a:r>
              <a:rPr lang="en-IE" sz="1600" b="1" i="1" dirty="0">
                <a:solidFill>
                  <a:schemeClr val="tx1"/>
                </a:solidFill>
              </a:rPr>
              <a:t>Employee</a:t>
            </a:r>
            <a:endParaRPr lang="en-IE" sz="1600" dirty="0"/>
          </a:p>
        </p:txBody>
      </p:sp>
      <p:sp>
        <p:nvSpPr>
          <p:cNvPr id="10" name="Employee attributes"/>
          <p:cNvSpPr txBox="1"/>
          <p:nvPr/>
        </p:nvSpPr>
        <p:spPr>
          <a:xfrm>
            <a:off x="7351776" y="2532888"/>
            <a:ext cx="2761488" cy="552450"/>
          </a:xfrm>
          <a:prstGeom prst="rect">
            <a:avLst/>
          </a:prstGeom>
          <a:noFill/>
          <a:ln/>
        </p:spPr>
        <p:txBody>
          <a:bodyPr wrap="square" lIns="0" tIns="0" rIns="0" bIns="0" rtlCol="0" anchor="t"/>
          <a:lstStyle/>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name</a:t>
            </a:r>
            <a:endParaRPr lang="en-IE" sz="1500" dirty="0"/>
          </a:p>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id</a:t>
            </a:r>
            <a:endParaRPr lang="en-IE" sz="1500" dirty="0"/>
          </a:p>
        </p:txBody>
      </p:sp>
      <p:sp>
        <p:nvSpPr>
          <p:cNvPr id="11" name="Class FullTimeEmployee"/>
          <p:cNvSpPr/>
          <p:nvPr/>
        </p:nvSpPr>
        <p:spPr>
          <a:xfrm>
            <a:off x="5897880" y="4160520"/>
            <a:ext cx="2743200" cy="1192530"/>
          </a:xfrm>
          <a:prstGeom prst="rect">
            <a:avLst/>
          </a:prstGeom>
          <a:solidFill>
            <a:schemeClr val="bg1"/>
          </a:solidFill>
          <a:ln w="19050">
            <a:solidFill>
              <a:schemeClr val="accent1"/>
            </a:solidFill>
            <a:prstDash val="solid"/>
          </a:ln>
          <a:effectLst>
            <a:outerShdw sx="100000" sy="100000" kx="0" ky="0" algn="bl" rotWithShape="0" blurRad="76200" dist="19050" dir="5400000">
              <a:srgbClr val="1D2433">
                <a:alpha val="8000"/>
              </a:srgbClr>
            </a:outerShdw>
          </a:effectLst>
        </p:spPr>
      </p:sp>
      <p:sp>
        <p:nvSpPr>
          <p:cNvPr id="12" name="Class FullTimeEmployee header"/>
          <p:cNvSpPr/>
          <p:nvPr/>
        </p:nvSpPr>
        <p:spPr>
          <a:xfrm>
            <a:off x="5897880" y="4160520"/>
            <a:ext cx="2743200" cy="457200"/>
          </a:xfrm>
          <a:prstGeom prst="rect">
            <a:avLst/>
          </a:prstGeom>
          <a:solidFill>
            <a:schemeClr val="accent1">
              <a:alpha val="14000"/>
            </a:schemeClr>
          </a:solidFill>
          <a:ln w="19050">
            <a:solidFill>
              <a:schemeClr val="accent1"/>
            </a:solidFill>
            <a:prstDash val="solid"/>
          </a:ln>
        </p:spPr>
      </p:sp>
      <p:sp>
        <p:nvSpPr>
          <p:cNvPr id="13" name="Text 10"/>
          <p:cNvSpPr txBox="1"/>
          <p:nvPr/>
        </p:nvSpPr>
        <p:spPr>
          <a:xfrm>
            <a:off x="5897880" y="4197096"/>
            <a:ext cx="2743200" cy="384048"/>
          </a:xfrm>
          <a:prstGeom prst="rect">
            <a:avLst/>
          </a:prstGeom>
          <a:noFill/>
          <a:ln/>
        </p:spPr>
        <p:txBody>
          <a:bodyPr wrap="square" lIns="0" tIns="0" rIns="0" bIns="0" rtlCol="0" anchor="ctr"/>
          <a:lstStyle/>
          <a:p>
            <a:pPr algn="ctr" indent="0" marL="0">
              <a:buNone/>
            </a:pPr>
            <a:r>
              <a:rPr lang="en-IE" sz="1500" b="1" dirty="0">
                <a:solidFill>
                  <a:schemeClr val="tx1"/>
                </a:solidFill>
              </a:rPr>
              <a:t>FullTimeEmployee</a:t>
            </a:r>
            <a:endParaRPr lang="en-IE" sz="1500" dirty="0"/>
          </a:p>
        </p:txBody>
      </p:sp>
      <p:sp>
        <p:nvSpPr>
          <p:cNvPr id="14" name="FullTimeEmployee attributes"/>
          <p:cNvSpPr txBox="1"/>
          <p:nvPr/>
        </p:nvSpPr>
        <p:spPr>
          <a:xfrm>
            <a:off x="6025896" y="4709160"/>
            <a:ext cx="2487168" cy="552450"/>
          </a:xfrm>
          <a:prstGeom prst="rect">
            <a:avLst/>
          </a:prstGeom>
          <a:noFill/>
          <a:ln/>
        </p:spPr>
        <p:txBody>
          <a:bodyPr wrap="square" lIns="0" tIns="0" rIns="0" bIns="0" rtlCol="0" anchor="t"/>
          <a:lstStyle/>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salary</a:t>
            </a:r>
            <a:endParaRPr lang="en-IE" sz="1500" dirty="0"/>
          </a:p>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bonus</a:t>
            </a:r>
            <a:endParaRPr lang="en-IE" sz="1500" dirty="0"/>
          </a:p>
        </p:txBody>
      </p:sp>
      <p:sp>
        <p:nvSpPr>
          <p:cNvPr id="15" name="Class PartTimeEmployee"/>
          <p:cNvSpPr/>
          <p:nvPr/>
        </p:nvSpPr>
        <p:spPr>
          <a:xfrm>
            <a:off x="8897112" y="4160520"/>
            <a:ext cx="2743200" cy="1192530"/>
          </a:xfrm>
          <a:prstGeom prst="rect">
            <a:avLst/>
          </a:prstGeom>
          <a:solidFill>
            <a:schemeClr val="bg1"/>
          </a:solidFill>
          <a:ln w="19050">
            <a:solidFill>
              <a:schemeClr val="accent1"/>
            </a:solidFill>
            <a:prstDash val="solid"/>
          </a:ln>
          <a:effectLst>
            <a:outerShdw sx="100000" sy="100000" kx="0" ky="0" algn="bl" rotWithShape="0" blurRad="76200" dist="19050" dir="5400000">
              <a:srgbClr val="1D2433">
                <a:alpha val="8000"/>
              </a:srgbClr>
            </a:outerShdw>
          </a:effectLst>
        </p:spPr>
      </p:sp>
      <p:sp>
        <p:nvSpPr>
          <p:cNvPr id="16" name="Class PartTimeEmployee header"/>
          <p:cNvSpPr/>
          <p:nvPr/>
        </p:nvSpPr>
        <p:spPr>
          <a:xfrm>
            <a:off x="8897112" y="4160520"/>
            <a:ext cx="2743200" cy="457200"/>
          </a:xfrm>
          <a:prstGeom prst="rect">
            <a:avLst/>
          </a:prstGeom>
          <a:solidFill>
            <a:schemeClr val="accent1">
              <a:alpha val="14000"/>
            </a:schemeClr>
          </a:solidFill>
          <a:ln w="19050">
            <a:solidFill>
              <a:schemeClr val="accent1"/>
            </a:solidFill>
            <a:prstDash val="solid"/>
          </a:ln>
        </p:spPr>
      </p:sp>
      <p:sp>
        <p:nvSpPr>
          <p:cNvPr id="17" name="Text 14"/>
          <p:cNvSpPr txBox="1"/>
          <p:nvPr/>
        </p:nvSpPr>
        <p:spPr>
          <a:xfrm>
            <a:off x="8897112" y="4197096"/>
            <a:ext cx="2743200" cy="384048"/>
          </a:xfrm>
          <a:prstGeom prst="rect">
            <a:avLst/>
          </a:prstGeom>
          <a:noFill/>
          <a:ln/>
        </p:spPr>
        <p:txBody>
          <a:bodyPr wrap="square" lIns="0" tIns="0" rIns="0" bIns="0" rtlCol="0" anchor="ctr"/>
          <a:lstStyle/>
          <a:p>
            <a:pPr algn="ctr" indent="0" marL="0">
              <a:buNone/>
            </a:pPr>
            <a:r>
              <a:rPr lang="en-IE" sz="1500" b="1" dirty="0">
                <a:solidFill>
                  <a:schemeClr val="tx1"/>
                </a:solidFill>
              </a:rPr>
              <a:t>PartTimeEmployee</a:t>
            </a:r>
            <a:endParaRPr lang="en-IE" sz="1500" dirty="0"/>
          </a:p>
        </p:txBody>
      </p:sp>
      <p:sp>
        <p:nvSpPr>
          <p:cNvPr id="18" name="PartTimeEmployee attributes"/>
          <p:cNvSpPr txBox="1"/>
          <p:nvPr/>
        </p:nvSpPr>
        <p:spPr>
          <a:xfrm>
            <a:off x="9025128" y="4709160"/>
            <a:ext cx="2487168" cy="552450"/>
          </a:xfrm>
          <a:prstGeom prst="rect">
            <a:avLst/>
          </a:prstGeom>
          <a:noFill/>
          <a:ln/>
        </p:spPr>
        <p:txBody>
          <a:bodyPr wrap="square" lIns="0" tIns="0" rIns="0" bIns="0" rtlCol="0" anchor="t"/>
          <a:lstStyle/>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hours</a:t>
            </a:r>
            <a:endParaRPr lang="en-IE" sz="1500" dirty="0"/>
          </a:p>
          <a:p>
            <a:pPr indent="0" marL="0">
              <a:lnSpc>
                <a:spcPts val="2175"/>
              </a:lnSpc>
              <a:buNone/>
            </a:pPr>
            <a:r>
              <a:rPr lang="en-IE" sz="1500" dirty="0">
                <a:solidFill>
                  <a:schemeClr val="tx1"/>
                </a:solidFill>
                <a:latin typeface="Consolas" pitchFamily="34" charset="0"/>
                <a:ea typeface="Consolas" pitchFamily="34" charset="-122"/>
                <a:cs typeface="Consolas" pitchFamily="34" charset="-120"/>
              </a:rPr>
              <a:t>payRate</a:t>
            </a:r>
            <a:endParaRPr lang="en-IE" sz="1500" dirty="0"/>
          </a:p>
        </p:txBody>
      </p:sp>
      <p:sp>
        <p:nvSpPr>
          <p:cNvPr id="19" name="Line"/>
          <p:cNvSpPr/>
          <p:nvPr/>
        </p:nvSpPr>
        <p:spPr>
          <a:xfrm flipV="1">
            <a:off x="8732520" y="3359658"/>
            <a:ext cx="0" cy="308991"/>
          </a:xfrm>
          <a:prstGeom prst="line">
            <a:avLst/>
          </a:prstGeom>
          <a:noFill/>
          <a:ln w="19050">
            <a:solidFill>
              <a:schemeClr val="tx1"/>
            </a:solidFill>
            <a:prstDash val="solid"/>
          </a:ln>
        </p:spPr>
      </p:sp>
      <p:sp>
        <p:nvSpPr>
          <p:cNvPr id="20" name="Line"/>
          <p:cNvSpPr/>
          <p:nvPr/>
        </p:nvSpPr>
        <p:spPr>
          <a:xfrm>
            <a:off x="7269480" y="3668649"/>
            <a:ext cx="2999232" cy="0"/>
          </a:xfrm>
          <a:prstGeom prst="line">
            <a:avLst/>
          </a:prstGeom>
          <a:noFill/>
          <a:ln w="19050">
            <a:solidFill>
              <a:schemeClr val="tx1"/>
            </a:solidFill>
            <a:prstDash val="solid"/>
          </a:ln>
        </p:spPr>
      </p:sp>
      <p:sp>
        <p:nvSpPr>
          <p:cNvPr id="21" name="Line"/>
          <p:cNvSpPr/>
          <p:nvPr/>
        </p:nvSpPr>
        <p:spPr>
          <a:xfrm flipV="1">
            <a:off x="7269480" y="3668649"/>
            <a:ext cx="0" cy="491871"/>
          </a:xfrm>
          <a:prstGeom prst="line">
            <a:avLst/>
          </a:prstGeom>
          <a:noFill/>
          <a:ln w="19050">
            <a:solidFill>
              <a:schemeClr val="tx1"/>
            </a:solidFill>
            <a:prstDash val="solid"/>
          </a:ln>
        </p:spPr>
      </p:sp>
      <p:sp>
        <p:nvSpPr>
          <p:cNvPr id="22" name="Line"/>
          <p:cNvSpPr/>
          <p:nvPr/>
        </p:nvSpPr>
        <p:spPr>
          <a:xfrm flipV="1">
            <a:off x="10268712" y="3668649"/>
            <a:ext cx="0" cy="491871"/>
          </a:xfrm>
          <a:prstGeom prst="line">
            <a:avLst/>
          </a:prstGeom>
          <a:noFill/>
          <a:ln w="19050">
            <a:solidFill>
              <a:schemeClr val="tx1"/>
            </a:solidFill>
            <a:prstDash val="solid"/>
          </a:ln>
        </p:spPr>
      </p:sp>
      <p:sp>
        <p:nvSpPr>
          <p:cNvPr id="23" name="Inheritance arrow head"/>
          <p:cNvSpPr/>
          <p:nvPr/>
        </p:nvSpPr>
        <p:spPr>
          <a:xfrm>
            <a:off x="8622792" y="3176778"/>
            <a:ext cx="219456" cy="182880"/>
          </a:xfrm>
          <a:prstGeom prst="triangle">
            <a:avLst/>
          </a:prstGeom>
          <a:solidFill>
            <a:schemeClr val="bg1"/>
          </a:solidFill>
          <a:ln w="19050">
            <a:solidFill>
              <a:schemeClr val="tx1"/>
            </a:solidFill>
            <a:prstDash val="solid"/>
          </a:ln>
        </p:spPr>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is Employee made abstract?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Because it must not have any attributes of its own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Because only an abstract class can be extended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Because its methods will then run faster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Because every employee is full time or part time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46</a:t>
            </a:fld>
            <a:endParaRPr lang="en-I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is Employee made abstract?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Because it must not have any attributes of its own</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Because only an abstract class can be extended</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Because its methods will then run faster</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Because every employee is full time or part time</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No one is just an ‘employee’: each person is either full time or part time. So we never create Employee objects. Employee holds what they share, like name and id, and acts as the superclass.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47</a:t>
            </a:fld>
            <a:endParaRPr lang="en-I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abstract Employee class</a:t>
            </a:r>
            <a:endParaRPr lang="en-IE" sz="3400" dirty="0"/>
          </a:p>
        </p:txBody>
      </p:sp>
      <p:sp>
        <p:nvSpPr>
          <p:cNvPr id="5" name="Employee class card"/>
          <p:cNvSpPr/>
          <p:nvPr/>
        </p:nvSpPr>
        <p:spPr>
          <a:xfrm>
            <a:off x="548640" y="1691640"/>
            <a:ext cx="6355080" cy="3893058"/>
          </a:xfrm>
          <a:prstGeom prst="roundRect">
            <a:avLst>
              <a:gd name="adj" fmla="val 2819"/>
            </a:avLst>
          </a:prstGeom>
          <a:solidFill>
            <a:schemeClr val="tx1"/>
          </a:solidFill>
          <a:ln/>
          <a:effectLst>
            <a:outerShdw sx="100000" sy="100000" kx="0" ky="0" algn="bl" rotWithShape="0" blurRad="114300" dist="31750" dir="5400000">
              <a:srgbClr val="1D2433">
                <a:alpha val="12000"/>
              </a:srgbClr>
            </a:outerShdw>
          </a:effectLst>
        </p:spPr>
      </p:sp>
      <p:sp>
        <p:nvSpPr>
          <p:cNvPr id="6" name="Employee class language"/>
          <p:cNvSpPr txBox="1"/>
          <p:nvPr/>
        </p:nvSpPr>
        <p:spPr>
          <a:xfrm>
            <a:off x="822960" y="1810512"/>
            <a:ext cx="580644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Employee class text"/>
          <p:cNvSpPr txBox="1"/>
          <p:nvPr/>
        </p:nvSpPr>
        <p:spPr>
          <a:xfrm>
            <a:off x="822960" y="2185416"/>
            <a:ext cx="5806440" cy="3198114"/>
          </a:xfrm>
          <a:prstGeom prst="rect">
            <a:avLst/>
          </a:prstGeom>
          <a:noFill/>
          <a:ln/>
        </p:spPr>
        <p:txBody>
          <a:bodyPr wrap="square" lIns="0" tIns="0" rIns="0" bIns="0" rtlCol="0" anchor="t"/>
          <a:lstStyle/>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abstract</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class</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Employee</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private</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String</a:t>
            </a:r>
            <a:r>
              <a:rPr lang="en-IE" sz="1250" dirty="0">
                <a:solidFill>
                  <a:srgbClr val="E6EBF2"/>
                </a:solidFill>
                <a:latin typeface="Consolas" pitchFamily="34" charset="0"/>
                <a:ea typeface="Consolas" pitchFamily="34" charset="-122"/>
                <a:cs typeface="Consolas" pitchFamily="34" charset="-120"/>
              </a:rPr>
              <a:t> name;</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private</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id;</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Employee</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6CC4E8"/>
                </a:solidFill>
                <a:latin typeface="Consolas" pitchFamily="34" charset="0"/>
                <a:ea typeface="Consolas" pitchFamily="34" charset="-122"/>
                <a:cs typeface="Consolas" pitchFamily="34" charset="-120"/>
              </a:rPr>
              <a:t>String</a:t>
            </a:r>
            <a:r>
              <a:rPr lang="en-IE" sz="1250" dirty="0">
                <a:solidFill>
                  <a:srgbClr val="E6EBF2"/>
                </a:solidFill>
                <a:latin typeface="Consolas" pitchFamily="34" charset="0"/>
                <a:ea typeface="Consolas" pitchFamily="34" charset="-122"/>
                <a:cs typeface="Consolas" pitchFamily="34" charset="-120"/>
              </a:rPr>
              <a:t> name, </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id)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this</a:t>
            </a:r>
            <a:r>
              <a:rPr lang="en-IE" sz="1250" dirty="0">
                <a:solidFill>
                  <a:srgbClr val="E6EBF2"/>
                </a:solidFill>
                <a:latin typeface="Consolas" pitchFamily="34" charset="0"/>
                <a:ea typeface="Consolas" pitchFamily="34" charset="-122"/>
                <a:cs typeface="Consolas" pitchFamily="34" charset="-120"/>
              </a:rPr>
              <a:t>.name = name;</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this</a:t>
            </a:r>
            <a:r>
              <a:rPr lang="en-IE" sz="1250" dirty="0">
                <a:solidFill>
                  <a:srgbClr val="E6EBF2"/>
                </a:solidFill>
                <a:latin typeface="Consolas" pitchFamily="34" charset="0"/>
                <a:ea typeface="Consolas" pitchFamily="34" charset="-122"/>
                <a:cs typeface="Consolas" pitchFamily="34" charset="-120"/>
              </a:rPr>
              <a:t>.id = id;</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String</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getName</a:t>
            </a:r>
            <a:r>
              <a:rPr lang="en-IE" sz="1250" dirty="0">
                <a:solidFill>
                  <a:srgbClr val="E6EBF2"/>
                </a:solidFill>
                <a:latin typeface="Consolas" pitchFamily="34" charset="0"/>
                <a:ea typeface="Consolas" pitchFamily="34" charset="-122"/>
                <a:cs typeface="Consolas" pitchFamily="34" charset="-120"/>
              </a:rPr>
              <a:t>() { </a:t>
            </a:r>
            <a:r>
              <a:rPr lang="en-IE" sz="1250" dirty="0">
                <a:solidFill>
                  <a:srgbClr val="FF9F5A"/>
                </a:solidFill>
                <a:latin typeface="Consolas" pitchFamily="34" charset="0"/>
                <a:ea typeface="Consolas" pitchFamily="34" charset="-122"/>
                <a:cs typeface="Consolas" pitchFamily="34" charset="-120"/>
              </a:rPr>
              <a:t>return</a:t>
            </a:r>
            <a:r>
              <a:rPr lang="en-IE" sz="1250" dirty="0">
                <a:solidFill>
                  <a:srgbClr val="E6EBF2"/>
                </a:solidFill>
                <a:latin typeface="Consolas" pitchFamily="34" charset="0"/>
                <a:ea typeface="Consolas" pitchFamily="34" charset="-122"/>
                <a:cs typeface="Consolas" pitchFamily="34" charset="-120"/>
              </a:rPr>
              <a:t> name;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void</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setName</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6CC4E8"/>
                </a:solidFill>
                <a:latin typeface="Consolas" pitchFamily="34" charset="0"/>
                <a:ea typeface="Consolas" pitchFamily="34" charset="-122"/>
                <a:cs typeface="Consolas" pitchFamily="34" charset="-120"/>
              </a:rPr>
              <a:t>String</a:t>
            </a:r>
            <a:r>
              <a:rPr lang="en-IE" sz="1250" dirty="0">
                <a:solidFill>
                  <a:srgbClr val="E6EBF2"/>
                </a:solidFill>
                <a:latin typeface="Consolas" pitchFamily="34" charset="0"/>
                <a:ea typeface="Consolas" pitchFamily="34" charset="-122"/>
                <a:cs typeface="Consolas" pitchFamily="34" charset="-120"/>
              </a:rPr>
              <a:t> name) { </a:t>
            </a:r>
            <a:r>
              <a:rPr lang="en-IE" sz="1250" dirty="0">
                <a:solidFill>
                  <a:srgbClr val="FF9F5A"/>
                </a:solidFill>
                <a:latin typeface="Consolas" pitchFamily="34" charset="0"/>
                <a:ea typeface="Consolas" pitchFamily="34" charset="-122"/>
                <a:cs typeface="Consolas" pitchFamily="34" charset="-120"/>
              </a:rPr>
              <a:t>this</a:t>
            </a:r>
            <a:r>
              <a:rPr lang="en-IE" sz="1250" dirty="0">
                <a:solidFill>
                  <a:srgbClr val="E6EBF2"/>
                </a:solidFill>
                <a:latin typeface="Consolas" pitchFamily="34" charset="0"/>
                <a:ea typeface="Consolas" pitchFamily="34" charset="-122"/>
                <a:cs typeface="Consolas" pitchFamily="34" charset="-120"/>
              </a:rPr>
              <a:t>.name = name;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getId</a:t>
            </a:r>
            <a:r>
              <a:rPr lang="en-IE" sz="1250" dirty="0">
                <a:solidFill>
                  <a:srgbClr val="E6EBF2"/>
                </a:solidFill>
                <a:latin typeface="Consolas" pitchFamily="34" charset="0"/>
                <a:ea typeface="Consolas" pitchFamily="34" charset="-122"/>
                <a:cs typeface="Consolas" pitchFamily="34" charset="-120"/>
              </a:rPr>
              <a:t>() { </a:t>
            </a:r>
            <a:r>
              <a:rPr lang="en-IE" sz="1250" dirty="0">
                <a:solidFill>
                  <a:srgbClr val="FF9F5A"/>
                </a:solidFill>
                <a:latin typeface="Consolas" pitchFamily="34" charset="0"/>
                <a:ea typeface="Consolas" pitchFamily="34" charset="-122"/>
                <a:cs typeface="Consolas" pitchFamily="34" charset="-120"/>
              </a:rPr>
              <a:t>return</a:t>
            </a:r>
            <a:r>
              <a:rPr lang="en-IE" sz="1250" dirty="0">
                <a:solidFill>
                  <a:srgbClr val="E6EBF2"/>
                </a:solidFill>
                <a:latin typeface="Consolas" pitchFamily="34" charset="0"/>
                <a:ea typeface="Consolas" pitchFamily="34" charset="-122"/>
                <a:cs typeface="Consolas" pitchFamily="34" charset="-120"/>
              </a:rPr>
              <a:t> id;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void</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setId</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id) { </a:t>
            </a:r>
            <a:r>
              <a:rPr lang="en-IE" sz="1250" dirty="0">
                <a:solidFill>
                  <a:srgbClr val="FF9F5A"/>
                </a:solidFill>
                <a:latin typeface="Consolas" pitchFamily="34" charset="0"/>
                <a:ea typeface="Consolas" pitchFamily="34" charset="-122"/>
                <a:cs typeface="Consolas" pitchFamily="34" charset="-120"/>
              </a:rPr>
              <a:t>this</a:t>
            </a:r>
            <a:r>
              <a:rPr lang="en-IE" sz="1250" dirty="0">
                <a:solidFill>
                  <a:srgbClr val="E6EBF2"/>
                </a:solidFill>
                <a:latin typeface="Consolas" pitchFamily="34" charset="0"/>
                <a:ea typeface="Consolas" pitchFamily="34" charset="-122"/>
                <a:cs typeface="Consolas" pitchFamily="34" charset="-120"/>
              </a:rPr>
              <a:t>.id = id;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a:t>
            </a:r>
            <a:endParaRPr lang="en-IE" sz="1250" dirty="0"/>
          </a:p>
        </p:txBody>
      </p:sp>
      <p:sp>
        <p:nvSpPr>
          <p:cNvPr id="8" name="Note"/>
          <p:cNvSpPr/>
          <p:nvPr/>
        </p:nvSpPr>
        <p:spPr>
          <a:xfrm>
            <a:off x="7178040" y="1691640"/>
            <a:ext cx="4465015" cy="1298448"/>
          </a:xfrm>
          <a:prstGeom prst="roundRect">
            <a:avLst>
              <a:gd name="adj" fmla="val 8451"/>
            </a:avLst>
          </a:prstGeom>
          <a:solidFill>
            <a:schemeClr val="bg1"/>
          </a:solidFill>
          <a:ln/>
          <a:effectLst>
            <a:outerShdw sx="100000" sy="100000" kx="0" ky="0" algn="bl" rotWithShape="0" blurRad="114300" dist="31750" dir="5400000">
              <a:srgbClr val="1D2433">
                <a:alpha val="12000"/>
              </a:srgbClr>
            </a:outerShdw>
          </a:effectLst>
        </p:spPr>
      </p:sp>
      <p:sp>
        <p:nvSpPr>
          <p:cNvPr id="9" name="Icon tile"/>
          <p:cNvSpPr/>
          <p:nvPr/>
        </p:nvSpPr>
        <p:spPr>
          <a:xfrm>
            <a:off x="7406640" y="1965960"/>
            <a:ext cx="548640" cy="548640"/>
          </a:xfrm>
          <a:prstGeom prst="roundRect">
            <a:avLst>
              <a:gd name="adj" fmla="val 24000"/>
            </a:avLst>
          </a:prstGeom>
          <a:solidFill>
            <a:schemeClr val="accent1">
              <a:alpha val="14000"/>
            </a:schemeClr>
          </a:solidFill>
          <a:ln/>
        </p:spPr>
      </p:sp>
      <p:pic>
        <p:nvPicPr>
          <p:cNvPr id="10" name="prohibit icon" descr="prohibit icon">    </p:cNvPr>
          <p:cNvPicPr>
            <a:picLocks noChangeAspect="1"/>
          </p:cNvPicPr>
          <p:nvPr/>
        </p:nvPicPr>
        <p:blipFill>
          <a:blip r:embed="rId1"/>
          <a:stretch>
            <a:fillRect/>
          </a:stretch>
        </p:blipFill>
        <p:spPr>
          <a:xfrm>
            <a:off x="7521854" y="2081174"/>
            <a:ext cx="318211" cy="318211"/>
          </a:xfrm>
          <a:prstGeom prst="rect">
            <a:avLst/>
          </a:prstGeom>
        </p:spPr>
      </p:pic>
      <p:sp>
        <p:nvSpPr>
          <p:cNvPr id="11" name="Text 7"/>
          <p:cNvSpPr txBox="1"/>
          <p:nvPr/>
        </p:nvSpPr>
        <p:spPr>
          <a:xfrm>
            <a:off x="8138160" y="1874520"/>
            <a:ext cx="3322015" cy="347472"/>
          </a:xfrm>
          <a:prstGeom prst="rect">
            <a:avLst/>
          </a:prstGeom>
          <a:noFill/>
          <a:ln/>
        </p:spPr>
        <p:txBody>
          <a:bodyPr wrap="square" lIns="0" tIns="0" rIns="0" bIns="0" rtlCol="0" anchor="t"/>
          <a:lstStyle/>
          <a:p>
            <a:pPr indent="0" marL="0">
              <a:buNone/>
            </a:pPr>
            <a:r>
              <a:rPr lang="en-IE" sz="1700" b="1" dirty="0">
                <a:solidFill>
                  <a:schemeClr val="tx1"/>
                </a:solidFill>
              </a:rPr>
              <a:t>abstract</a:t>
            </a:r>
            <a:endParaRPr lang="en-IE" sz="1700" dirty="0"/>
          </a:p>
        </p:txBody>
      </p:sp>
      <p:sp>
        <p:nvSpPr>
          <p:cNvPr id="12" name="Text 8"/>
          <p:cNvSpPr txBox="1"/>
          <p:nvPr/>
        </p:nvSpPr>
        <p:spPr>
          <a:xfrm>
            <a:off x="8138160" y="2240280"/>
            <a:ext cx="3322015" cy="658368"/>
          </a:xfrm>
          <a:prstGeom prst="rect">
            <a:avLst/>
          </a:prstGeom>
          <a:noFill/>
          <a:ln/>
        </p:spPr>
        <p:txBody>
          <a:bodyPr wrap="square" lIns="0" tIns="0" rIns="0" bIns="0" rtlCol="0" anchor="t"/>
          <a:lstStyle/>
          <a:p>
            <a:pPr indent="0" marL="0">
              <a:buNone/>
            </a:pPr>
            <a:r>
              <a:rPr lang="en-IE" sz="1400" dirty="0">
                <a:solidFill>
                  <a:schemeClr val="tx2"/>
                </a:solidFill>
              </a:rPr>
              <a:t>We can’t create an Employee object, so </a:t>
            </a:r>
            <a:r>
              <a:rPr lang="en-IE" sz="1400" dirty="0">
                <a:solidFill>
                  <a:schemeClr val="accent2"/>
                </a:solidFill>
                <a:latin typeface="Consolas" pitchFamily="34" charset="0"/>
                <a:ea typeface="Consolas" pitchFamily="34" charset="-122"/>
                <a:cs typeface="Consolas" pitchFamily="34" charset="-120"/>
              </a:rPr>
              <a:t>new Employee("Ann", 1)</a:t>
            </a:r>
            <a:r>
              <a:rPr lang="en-IE" sz="1400" dirty="0">
                <a:solidFill>
                  <a:schemeClr val="tx2"/>
                </a:solidFill>
              </a:rPr>
              <a:t> won’t compile.</a:t>
            </a:r>
            <a:endParaRPr lang="en-IE" sz="1400" dirty="0"/>
          </a:p>
        </p:txBody>
      </p:sp>
      <p:sp>
        <p:nvSpPr>
          <p:cNvPr id="13" name="Note"/>
          <p:cNvSpPr/>
          <p:nvPr/>
        </p:nvSpPr>
        <p:spPr>
          <a:xfrm>
            <a:off x="7178040" y="3154680"/>
            <a:ext cx="4465015" cy="1298448"/>
          </a:xfrm>
          <a:prstGeom prst="roundRect">
            <a:avLst>
              <a:gd name="adj" fmla="val 8451"/>
            </a:avLst>
          </a:prstGeom>
          <a:solidFill>
            <a:schemeClr val="bg1"/>
          </a:solidFill>
          <a:ln/>
          <a:effectLst>
            <a:outerShdw sx="100000" sy="100000" kx="0" ky="0" algn="bl" rotWithShape="0" blurRad="114300" dist="31750" dir="5400000">
              <a:srgbClr val="1D2433">
                <a:alpha val="12000"/>
              </a:srgbClr>
            </a:outerShdw>
          </a:effectLst>
        </p:spPr>
      </p:sp>
      <p:sp>
        <p:nvSpPr>
          <p:cNvPr id="14" name="Icon tile"/>
          <p:cNvSpPr/>
          <p:nvPr/>
        </p:nvSpPr>
        <p:spPr>
          <a:xfrm>
            <a:off x="7406640" y="3429000"/>
            <a:ext cx="548640" cy="548640"/>
          </a:xfrm>
          <a:prstGeom prst="roundRect">
            <a:avLst>
              <a:gd name="adj" fmla="val 24000"/>
            </a:avLst>
          </a:prstGeom>
          <a:solidFill>
            <a:schemeClr val="accent2">
              <a:alpha val="14000"/>
            </a:schemeClr>
          </a:solidFill>
          <a:ln/>
        </p:spPr>
      </p:sp>
      <p:pic>
        <p:nvPicPr>
          <p:cNvPr id="15" name="stack icon" descr="stack icon">    </p:cNvPr>
          <p:cNvPicPr>
            <a:picLocks noChangeAspect="1"/>
          </p:cNvPicPr>
          <p:nvPr/>
        </p:nvPicPr>
        <p:blipFill>
          <a:blip r:embed="rId2"/>
          <a:stretch>
            <a:fillRect/>
          </a:stretch>
        </p:blipFill>
        <p:spPr>
          <a:xfrm>
            <a:off x="7521854" y="3544214"/>
            <a:ext cx="318211" cy="318211"/>
          </a:xfrm>
          <a:prstGeom prst="rect">
            <a:avLst/>
          </a:prstGeom>
        </p:spPr>
      </p:pic>
      <p:sp>
        <p:nvSpPr>
          <p:cNvPr id="16" name="Text 11"/>
          <p:cNvSpPr txBox="1"/>
          <p:nvPr/>
        </p:nvSpPr>
        <p:spPr>
          <a:xfrm>
            <a:off x="8138160" y="3337560"/>
            <a:ext cx="3322015" cy="347472"/>
          </a:xfrm>
          <a:prstGeom prst="rect">
            <a:avLst/>
          </a:prstGeom>
          <a:noFill/>
          <a:ln/>
        </p:spPr>
        <p:txBody>
          <a:bodyPr wrap="square" lIns="0" tIns="0" rIns="0" bIns="0" rtlCol="0" anchor="t"/>
          <a:lstStyle/>
          <a:p>
            <a:pPr indent="0" marL="0">
              <a:buNone/>
            </a:pPr>
            <a:r>
              <a:rPr lang="en-IE" sz="1700" b="1" dirty="0">
                <a:solidFill>
                  <a:schemeClr val="tx1"/>
                </a:solidFill>
              </a:rPr>
              <a:t>Written once</a:t>
            </a:r>
            <a:endParaRPr lang="en-IE" sz="1700" dirty="0"/>
          </a:p>
        </p:txBody>
      </p:sp>
      <p:sp>
        <p:nvSpPr>
          <p:cNvPr id="17" name="Text 12"/>
          <p:cNvSpPr txBox="1"/>
          <p:nvPr/>
        </p:nvSpPr>
        <p:spPr>
          <a:xfrm>
            <a:off x="8138160" y="3703320"/>
            <a:ext cx="3322015" cy="658368"/>
          </a:xfrm>
          <a:prstGeom prst="rect">
            <a:avLst/>
          </a:prstGeom>
          <a:noFill/>
          <a:ln/>
        </p:spPr>
        <p:txBody>
          <a:bodyPr wrap="square" lIns="0" tIns="0" rIns="0" bIns="0" rtlCol="0" anchor="t"/>
          <a:lstStyle/>
          <a:p>
            <a:pPr indent="0" marL="0">
              <a:buNone/>
            </a:pPr>
            <a:r>
              <a:rPr lang="en-IE" sz="1400" dirty="0">
                <a:solidFill>
                  <a:schemeClr val="tx2"/>
                </a:solidFill>
              </a:rPr>
              <a:t>name, id and their getters and setters live here, once.</a:t>
            </a:r>
            <a:endParaRPr lang="en-IE" sz="1400" dirty="0"/>
          </a:p>
        </p:txBody>
      </p:sp>
      <p:sp>
        <p:nvSpPr>
          <p:cNvPr id="18" name="Note"/>
          <p:cNvSpPr/>
          <p:nvPr/>
        </p:nvSpPr>
        <p:spPr>
          <a:xfrm>
            <a:off x="7178040" y="4617720"/>
            <a:ext cx="4465015" cy="1298448"/>
          </a:xfrm>
          <a:prstGeom prst="roundRect">
            <a:avLst>
              <a:gd name="adj" fmla="val 8451"/>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7406640" y="4892040"/>
            <a:ext cx="548640" cy="548640"/>
          </a:xfrm>
          <a:prstGeom prst="roundRect">
            <a:avLst>
              <a:gd name="adj" fmla="val 24000"/>
            </a:avLst>
          </a:prstGeom>
          <a:solidFill>
            <a:schemeClr val="accent3">
              <a:alpha val="14000"/>
            </a:schemeClr>
          </a:solidFill>
          <a:ln/>
        </p:spPr>
      </p:sp>
      <p:pic>
        <p:nvPicPr>
          <p:cNvPr id="20" name="arrow fat down icon" descr="arrow fat down icon">    </p:cNvPr>
          <p:cNvPicPr>
            <a:picLocks noChangeAspect="1"/>
          </p:cNvPicPr>
          <p:nvPr/>
        </p:nvPicPr>
        <p:blipFill>
          <a:blip r:embed="rId3"/>
          <a:stretch>
            <a:fillRect/>
          </a:stretch>
        </p:blipFill>
        <p:spPr>
          <a:xfrm>
            <a:off x="7521854" y="5007254"/>
            <a:ext cx="318211" cy="318211"/>
          </a:xfrm>
          <a:prstGeom prst="rect">
            <a:avLst/>
          </a:prstGeom>
        </p:spPr>
      </p:pic>
      <p:sp>
        <p:nvSpPr>
          <p:cNvPr id="21" name="Text 15"/>
          <p:cNvSpPr txBox="1"/>
          <p:nvPr/>
        </p:nvSpPr>
        <p:spPr>
          <a:xfrm>
            <a:off x="8138160" y="4800600"/>
            <a:ext cx="3322015" cy="347472"/>
          </a:xfrm>
          <a:prstGeom prst="rect">
            <a:avLst/>
          </a:prstGeom>
          <a:noFill/>
          <a:ln/>
        </p:spPr>
        <p:txBody>
          <a:bodyPr wrap="square" lIns="0" tIns="0" rIns="0" bIns="0" rtlCol="0" anchor="t"/>
          <a:lstStyle/>
          <a:p>
            <a:pPr indent="0" marL="0">
              <a:buNone/>
            </a:pPr>
            <a:r>
              <a:rPr lang="en-IE" sz="1700" b="1" dirty="0">
                <a:solidFill>
                  <a:schemeClr val="tx1"/>
                </a:solidFill>
              </a:rPr>
              <a:t>Inherited</a:t>
            </a:r>
            <a:endParaRPr lang="en-IE" sz="1700" dirty="0"/>
          </a:p>
        </p:txBody>
      </p:sp>
      <p:sp>
        <p:nvSpPr>
          <p:cNvPr id="22" name="Text 16"/>
          <p:cNvSpPr txBox="1"/>
          <p:nvPr/>
        </p:nvSpPr>
        <p:spPr>
          <a:xfrm>
            <a:off x="8138160" y="5166360"/>
            <a:ext cx="3322015" cy="658368"/>
          </a:xfrm>
          <a:prstGeom prst="rect">
            <a:avLst/>
          </a:prstGeom>
          <a:noFill/>
          <a:ln/>
        </p:spPr>
        <p:txBody>
          <a:bodyPr wrap="square" lIns="0" tIns="0" rIns="0" bIns="0" rtlCol="0" anchor="t"/>
          <a:lstStyle/>
          <a:p>
            <a:pPr indent="0" marL="0">
              <a:buNone/>
            </a:pPr>
            <a:r>
              <a:rPr lang="en-IE" sz="1400" dirty="0">
                <a:solidFill>
                  <a:schemeClr val="tx2"/>
                </a:solidFill>
              </a:rPr>
              <a:t>Both subclasses get all of this without writing it again.</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48</a:t>
            </a:fld>
            <a:endParaRPr lang="en-I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Concrete subclasses</a:t>
            </a:r>
            <a:endParaRPr lang="en-IE" sz="3400" dirty="0"/>
          </a:p>
        </p:txBody>
      </p:sp>
      <p:sp>
        <p:nvSpPr>
          <p:cNvPr id="5" name="FullTimeEmployee card"/>
          <p:cNvSpPr/>
          <p:nvPr/>
        </p:nvSpPr>
        <p:spPr>
          <a:xfrm>
            <a:off x="548640" y="1691640"/>
            <a:ext cx="5387188" cy="3157728"/>
          </a:xfrm>
          <a:prstGeom prst="roundRect">
            <a:avLst>
              <a:gd name="adj" fmla="val 3475"/>
            </a:avLst>
          </a:prstGeom>
          <a:solidFill>
            <a:schemeClr val="tx1"/>
          </a:solidFill>
          <a:ln/>
          <a:effectLst>
            <a:outerShdw sx="100000" sy="100000" kx="0" ky="0" algn="bl" rotWithShape="0" blurRad="114300" dist="31750" dir="5400000">
              <a:srgbClr val="1D2433">
                <a:alpha val="12000"/>
              </a:srgbClr>
            </a:outerShdw>
          </a:effectLst>
        </p:spPr>
      </p:sp>
      <p:sp>
        <p:nvSpPr>
          <p:cNvPr id="6" name="FullTimeEmployee language"/>
          <p:cNvSpPr txBox="1"/>
          <p:nvPr/>
        </p:nvSpPr>
        <p:spPr>
          <a:xfrm>
            <a:off x="822960" y="181051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FullTimeEmployee text"/>
          <p:cNvSpPr txBox="1"/>
          <p:nvPr/>
        </p:nvSpPr>
        <p:spPr>
          <a:xfrm>
            <a:off x="822960" y="2185416"/>
            <a:ext cx="4838548" cy="2462784"/>
          </a:xfrm>
          <a:prstGeom prst="rect">
            <a:avLst/>
          </a:prstGeom>
          <a:noFill/>
          <a:ln/>
        </p:spPr>
        <p:txBody>
          <a:bodyPr wrap="square" lIns="0" tIns="0" rIns="0" bIns="0" rtlCol="0" anchor="t"/>
          <a:lstStyle/>
          <a:p>
            <a:pPr indent="0" marL="0">
              <a:lnSpc>
                <a:spcPts val="1580"/>
              </a:lnSpc>
              <a:buNone/>
            </a:pP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class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FullTimeEmployee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extends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double</a:t>
            </a:r>
            <a:r>
              <a:rPr lang="en-IE" sz="1200" dirty="0">
                <a:solidFill>
                  <a:srgbClr val="E6EBF2"/>
                </a:solidFill>
                <a:latin typeface="Consolas" pitchFamily="34" charset="0"/>
                <a:ea typeface="Consolas" pitchFamily="34" charset="-122"/>
                <a:cs typeface="Consolas" pitchFamily="34" charset="-120"/>
              </a:rPr>
              <a:t> salary;</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double</a:t>
            </a:r>
            <a:r>
              <a:rPr lang="en-IE" sz="1200" dirty="0">
                <a:solidFill>
                  <a:srgbClr val="E6EBF2"/>
                </a:solidFill>
                <a:latin typeface="Consolas" pitchFamily="34" charset="0"/>
                <a:ea typeface="Consolas" pitchFamily="34" charset="-122"/>
                <a:cs typeface="Consolas" pitchFamily="34" charset="-120"/>
              </a:rPr>
              <a:t> bonus;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FullTimeEmployee</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 </a:t>
            </a:r>
            <a:r>
              <a:rPr lang="en-IE" sz="1200" dirty="0">
                <a:solidFill>
                  <a:srgbClr val="FF9F5A"/>
                </a:solidFill>
                <a:latin typeface="Consolas" pitchFamily="34" charset="0"/>
                <a:ea typeface="Consolas" pitchFamily="34" charset="-122"/>
                <a:cs typeface="Consolas" pitchFamily="34" charset="-120"/>
              </a:rPr>
              <a:t>int</a:t>
            </a:r>
            <a:r>
              <a:rPr lang="en-IE" sz="1200" dirty="0">
                <a:solidFill>
                  <a:srgbClr val="E6EBF2"/>
                </a:solidFill>
                <a:latin typeface="Consolas" pitchFamily="34" charset="0"/>
                <a:ea typeface="Consolas" pitchFamily="34" charset="-122"/>
                <a:cs typeface="Consolas" pitchFamily="34" charset="-120"/>
              </a:rPr>
              <a:t> id,</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double</a:t>
            </a:r>
            <a:r>
              <a:rPr lang="en-IE" sz="1200" dirty="0">
                <a:solidFill>
                  <a:srgbClr val="E6EBF2"/>
                </a:solidFill>
                <a:latin typeface="Consolas" pitchFamily="34" charset="0"/>
                <a:ea typeface="Consolas" pitchFamily="34" charset="-122"/>
                <a:cs typeface="Consolas" pitchFamily="34" charset="-120"/>
              </a:rPr>
              <a:t> salary, </a:t>
            </a:r>
            <a:r>
              <a:rPr lang="en-IE" sz="1200" dirty="0">
                <a:solidFill>
                  <a:srgbClr val="FF9F5A"/>
                </a:solidFill>
                <a:latin typeface="Consolas" pitchFamily="34" charset="0"/>
                <a:ea typeface="Consolas" pitchFamily="34" charset="-122"/>
                <a:cs typeface="Consolas" pitchFamily="34" charset="-120"/>
              </a:rPr>
              <a:t>double</a:t>
            </a:r>
            <a:r>
              <a:rPr lang="en-IE" sz="1200" dirty="0">
                <a:solidFill>
                  <a:srgbClr val="E6EBF2"/>
                </a:solidFill>
                <a:latin typeface="Consolas" pitchFamily="34" charset="0"/>
                <a:ea typeface="Consolas" pitchFamily="34" charset="-122"/>
                <a:cs typeface="Consolas" pitchFamily="34" charset="-120"/>
              </a:rPr>
              <a:t> bonus)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super</a:t>
            </a:r>
            <a:r>
              <a:rPr lang="en-IE" sz="1200" dirty="0">
                <a:solidFill>
                  <a:srgbClr val="E6EBF2"/>
                </a:solidFill>
                <a:latin typeface="Consolas" pitchFamily="34" charset="0"/>
                <a:ea typeface="Consolas" pitchFamily="34" charset="-122"/>
                <a:cs typeface="Consolas" pitchFamily="34" charset="-120"/>
              </a:rPr>
              <a:t>(name, id);</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.salary = salary;</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.bonus = bonus;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i="1" dirty="0">
                <a:solidFill>
                  <a:srgbClr val="A3AEC2"/>
                </a:solidFill>
                <a:latin typeface="Consolas" pitchFamily="34" charset="0"/>
                <a:ea typeface="Consolas" pitchFamily="34" charset="-122"/>
                <a:cs typeface="Consolas" pitchFamily="34" charset="-120"/>
              </a:rPr>
              <a:t>// getters and setters for salary and bonus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a:t>
            </a:r>
            <a:endParaRPr lang="en-IE" sz="1200" dirty="0"/>
          </a:p>
        </p:txBody>
      </p:sp>
      <p:sp>
        <p:nvSpPr>
          <p:cNvPr id="8" name="PartTimeEmployee card"/>
          <p:cNvSpPr/>
          <p:nvPr/>
        </p:nvSpPr>
        <p:spPr>
          <a:xfrm>
            <a:off x="6255868" y="1691640"/>
            <a:ext cx="5387188" cy="3157728"/>
          </a:xfrm>
          <a:prstGeom prst="roundRect">
            <a:avLst>
              <a:gd name="adj" fmla="val 3475"/>
            </a:avLst>
          </a:prstGeom>
          <a:solidFill>
            <a:schemeClr val="tx1"/>
          </a:solidFill>
          <a:ln/>
          <a:effectLst>
            <a:outerShdw sx="100000" sy="100000" kx="0" ky="0" algn="bl" rotWithShape="0" blurRad="114300" dist="31750" dir="5400000">
              <a:srgbClr val="1D2433">
                <a:alpha val="12000"/>
              </a:srgbClr>
            </a:outerShdw>
          </a:effectLst>
        </p:spPr>
      </p:sp>
      <p:sp>
        <p:nvSpPr>
          <p:cNvPr id="9" name="PartTimeEmployee language"/>
          <p:cNvSpPr txBox="1"/>
          <p:nvPr/>
        </p:nvSpPr>
        <p:spPr>
          <a:xfrm>
            <a:off x="6530188" y="181051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0" name="PartTimeEmployee text"/>
          <p:cNvSpPr txBox="1"/>
          <p:nvPr/>
        </p:nvSpPr>
        <p:spPr>
          <a:xfrm>
            <a:off x="6530188" y="2185416"/>
            <a:ext cx="4838548" cy="2462784"/>
          </a:xfrm>
          <a:prstGeom prst="rect">
            <a:avLst/>
          </a:prstGeom>
          <a:noFill/>
          <a:ln/>
        </p:spPr>
        <p:txBody>
          <a:bodyPr wrap="square" lIns="0" tIns="0" rIns="0" bIns="0" rtlCol="0" anchor="t"/>
          <a:lstStyle/>
          <a:p>
            <a:pPr indent="0" marL="0">
              <a:lnSpc>
                <a:spcPts val="1580"/>
              </a:lnSpc>
              <a:buNone/>
            </a:pP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class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PartTimeEmployee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extends</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int</a:t>
            </a:r>
            <a:r>
              <a:rPr lang="en-IE" sz="1200" dirty="0">
                <a:solidFill>
                  <a:srgbClr val="E6EBF2"/>
                </a:solidFill>
                <a:latin typeface="Consolas" pitchFamily="34" charset="0"/>
                <a:ea typeface="Consolas" pitchFamily="34" charset="-122"/>
                <a:cs typeface="Consolas" pitchFamily="34" charset="-120"/>
              </a:rPr>
              <a:t> hours;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private</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double</a:t>
            </a:r>
            <a:r>
              <a:rPr lang="en-IE" sz="1200" dirty="0">
                <a:solidFill>
                  <a:srgbClr val="E6EBF2"/>
                </a:solidFill>
                <a:latin typeface="Consolas" pitchFamily="34" charset="0"/>
                <a:ea typeface="Consolas" pitchFamily="34" charset="-122"/>
                <a:cs typeface="Consolas" pitchFamily="34" charset="-120"/>
              </a:rPr>
              <a:t> payRate;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public</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PartTimeEmployee</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String</a:t>
            </a:r>
            <a:r>
              <a:rPr lang="en-IE" sz="1200" dirty="0">
                <a:solidFill>
                  <a:srgbClr val="E6EBF2"/>
                </a:solidFill>
                <a:latin typeface="Consolas" pitchFamily="34" charset="0"/>
                <a:ea typeface="Consolas" pitchFamily="34" charset="-122"/>
                <a:cs typeface="Consolas" pitchFamily="34" charset="-120"/>
              </a:rPr>
              <a:t> name, </a:t>
            </a:r>
            <a:r>
              <a:rPr lang="en-IE" sz="1200" dirty="0">
                <a:solidFill>
                  <a:srgbClr val="FF9F5A"/>
                </a:solidFill>
                <a:latin typeface="Consolas" pitchFamily="34" charset="0"/>
                <a:ea typeface="Consolas" pitchFamily="34" charset="-122"/>
                <a:cs typeface="Consolas" pitchFamily="34" charset="-120"/>
              </a:rPr>
              <a:t>int</a:t>
            </a:r>
            <a:r>
              <a:rPr lang="en-IE" sz="1200" dirty="0">
                <a:solidFill>
                  <a:srgbClr val="E6EBF2"/>
                </a:solidFill>
                <a:latin typeface="Consolas" pitchFamily="34" charset="0"/>
                <a:ea typeface="Consolas" pitchFamily="34" charset="-122"/>
                <a:cs typeface="Consolas" pitchFamily="34" charset="-120"/>
              </a:rPr>
              <a:t> id,</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int</a:t>
            </a:r>
            <a:r>
              <a:rPr lang="en-IE" sz="1200" dirty="0">
                <a:solidFill>
                  <a:srgbClr val="E6EBF2"/>
                </a:solidFill>
                <a:latin typeface="Consolas" pitchFamily="34" charset="0"/>
                <a:ea typeface="Consolas" pitchFamily="34" charset="-122"/>
                <a:cs typeface="Consolas" pitchFamily="34" charset="-120"/>
              </a:rPr>
              <a:t> hours, </a:t>
            </a:r>
            <a:r>
              <a:rPr lang="en-IE" sz="1200" dirty="0">
                <a:solidFill>
                  <a:srgbClr val="FF9F5A"/>
                </a:solidFill>
                <a:latin typeface="Consolas" pitchFamily="34" charset="0"/>
                <a:ea typeface="Consolas" pitchFamily="34" charset="-122"/>
                <a:cs typeface="Consolas" pitchFamily="34" charset="-120"/>
              </a:rPr>
              <a:t>double</a:t>
            </a:r>
            <a:r>
              <a:rPr lang="en-IE" sz="1200" dirty="0">
                <a:solidFill>
                  <a:srgbClr val="E6EBF2"/>
                </a:solidFill>
                <a:latin typeface="Consolas" pitchFamily="34" charset="0"/>
                <a:ea typeface="Consolas" pitchFamily="34" charset="-122"/>
                <a:cs typeface="Consolas" pitchFamily="34" charset="-120"/>
              </a:rPr>
              <a:t> payRate)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super</a:t>
            </a:r>
            <a:r>
              <a:rPr lang="en-IE" sz="1200" dirty="0">
                <a:solidFill>
                  <a:srgbClr val="E6EBF2"/>
                </a:solidFill>
                <a:latin typeface="Consolas" pitchFamily="34" charset="0"/>
                <a:ea typeface="Consolas" pitchFamily="34" charset="-122"/>
                <a:cs typeface="Consolas" pitchFamily="34" charset="-120"/>
              </a:rPr>
              <a:t>(name, id);</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.hours = hours;</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FF9F5A"/>
                </a:solidFill>
                <a:latin typeface="Consolas" pitchFamily="34" charset="0"/>
                <a:ea typeface="Consolas" pitchFamily="34" charset="-122"/>
                <a:cs typeface="Consolas" pitchFamily="34" charset="-120"/>
              </a:rPr>
              <a:t>this</a:t>
            </a:r>
            <a:r>
              <a:rPr lang="en-IE" sz="1200" dirty="0">
                <a:solidFill>
                  <a:srgbClr val="E6EBF2"/>
                </a:solidFill>
                <a:latin typeface="Consolas" pitchFamily="34" charset="0"/>
                <a:ea typeface="Consolas" pitchFamily="34" charset="-122"/>
                <a:cs typeface="Consolas" pitchFamily="34" charset="-120"/>
              </a:rPr>
              <a:t>.payRate = payRate;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r>
              <a:rPr lang="en-IE" sz="1200" i="1" dirty="0">
                <a:solidFill>
                  <a:srgbClr val="A3AEC2"/>
                </a:solidFill>
                <a:latin typeface="Consolas" pitchFamily="34" charset="0"/>
                <a:ea typeface="Consolas" pitchFamily="34" charset="-122"/>
                <a:cs typeface="Consolas" pitchFamily="34" charset="-120"/>
              </a:rPr>
              <a:t>// getters and setters for hours and payRate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a:t>
            </a:r>
            <a:endParaRPr lang="en-IE" sz="1200" dirty="0"/>
          </a:p>
        </p:txBody>
      </p:sp>
      <p:sp>
        <p:nvSpPr>
          <p:cNvPr id="11" name="Note"/>
          <p:cNvSpPr/>
          <p:nvPr/>
        </p:nvSpPr>
        <p:spPr>
          <a:xfrm>
            <a:off x="548640" y="5123688"/>
            <a:ext cx="11094415" cy="822960"/>
          </a:xfrm>
          <a:prstGeom prst="roundRect">
            <a:avLst>
              <a:gd name="adj" fmla="val 13333"/>
            </a:avLst>
          </a:prstGeom>
          <a:solidFill>
            <a:schemeClr val="bg2"/>
          </a:solidFill>
          <a:ln/>
        </p:spPr>
      </p:sp>
      <p:sp>
        <p:nvSpPr>
          <p:cNvPr id="12" name="Icon tile"/>
          <p:cNvSpPr/>
          <p:nvPr/>
        </p:nvSpPr>
        <p:spPr>
          <a:xfrm>
            <a:off x="822960" y="5269992"/>
            <a:ext cx="530352" cy="530352"/>
          </a:xfrm>
          <a:prstGeom prst="roundRect">
            <a:avLst>
              <a:gd name="adj" fmla="val 24000"/>
            </a:avLst>
          </a:prstGeom>
          <a:solidFill>
            <a:schemeClr val="accent3">
              <a:alpha val="14000"/>
            </a:schemeClr>
          </a:solidFill>
          <a:ln/>
        </p:spPr>
      </p:sp>
      <p:pic>
        <p:nvPicPr>
          <p:cNvPr id="13" name="cube icon" descr="cube icon">    </p:cNvPr>
          <p:cNvPicPr>
            <a:picLocks noChangeAspect="1"/>
          </p:cNvPicPr>
          <p:nvPr/>
        </p:nvPicPr>
        <p:blipFill>
          <a:blip r:embed="rId1"/>
          <a:stretch>
            <a:fillRect/>
          </a:stretch>
        </p:blipFill>
        <p:spPr>
          <a:xfrm>
            <a:off x="934334" y="5381366"/>
            <a:ext cx="307604" cy="307604"/>
          </a:xfrm>
          <a:prstGeom prst="rect">
            <a:avLst/>
          </a:prstGeom>
        </p:spPr>
      </p:pic>
      <p:sp>
        <p:nvSpPr>
          <p:cNvPr id="14" name="Text 10"/>
          <p:cNvSpPr txBox="1"/>
          <p:nvPr/>
        </p:nvSpPr>
        <p:spPr>
          <a:xfrm>
            <a:off x="1572768" y="5123688"/>
            <a:ext cx="9814255" cy="822960"/>
          </a:xfrm>
          <a:prstGeom prst="rect">
            <a:avLst/>
          </a:prstGeom>
          <a:noFill/>
          <a:ln/>
        </p:spPr>
        <p:txBody>
          <a:bodyPr wrap="square" lIns="0" tIns="0" rIns="0" bIns="0" rtlCol="0" anchor="ctr"/>
          <a:lstStyle/>
          <a:p>
            <a:pPr indent="0" marL="0">
              <a:buNone/>
            </a:pPr>
            <a:r>
              <a:rPr lang="en-IE" sz="1700" dirty="0">
                <a:solidFill>
                  <a:schemeClr val="tx1"/>
                </a:solidFill>
              </a:rPr>
              <a:t>A non-abstract class is a </a:t>
            </a:r>
            <a:r>
              <a:rPr lang="en-IE" sz="1700" b="1" dirty="0">
                <a:solidFill>
                  <a:schemeClr val="tx1"/>
                </a:solidFill>
              </a:rPr>
              <a:t>concrete</a:t>
            </a:r>
            <a:r>
              <a:rPr lang="en-IE" sz="1700" dirty="0">
                <a:solidFill>
                  <a:schemeClr val="tx1"/>
                </a:solidFill>
              </a:rPr>
              <a:t> class: we can make instances of it. Each one goes in its own .java file.</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49</a:t>
            </a:fld>
            <a:endParaRPr lang="en-I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Concrete 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Employee is abstract; FullTimeEmployee and PartTimeEmployee extend it. Which of these creates an object without an error?</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new Employee("Ann", 1)</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new Employee("Ann", 1, 900, 50)</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new FullTimeEmployee("Ann", 1, 900, 50)</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new PartTimeEmployee("Ann", 1, 20)</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50</a:t>
            </a:fld>
            <a:endParaRPr lang="en-I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Concrete 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Employee is abstract; FullTimeEmployee and PartTimeEmployee extend it. Which of these creates an object without an error?</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new Employee("Ann", 1)</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new Employee("Ann", 1, 900, 50)</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new FullTimeEmployee("Ann", 1, 900, 50)</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new PartTimeEmployee("Ann", 1, 20)</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We can’t create objects of an abstract class, so A and B fail. FullTimeEmployee is concrete, so C works. D fails because PartTimeEmployee’s constructor needs four arguments: name, id, hours and payRate.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51</a:t>
            </a:fld>
            <a:endParaRPr lang="en-I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Calling the parent’s constructor with super</a:t>
            </a:r>
            <a:endParaRPr lang="en-IE" sz="3400" dirty="0"/>
          </a:p>
        </p:txBody>
      </p:sp>
      <p:sp>
        <p:nvSpPr>
          <p:cNvPr id="5" name="Text 2"/>
          <p:cNvSpPr txBox="1"/>
          <p:nvPr/>
        </p:nvSpPr>
        <p:spPr>
          <a:xfrm>
            <a:off x="548640" y="1783080"/>
            <a:ext cx="5029200" cy="4206240"/>
          </a:xfrm>
          <a:prstGeom prst="rect">
            <a:avLst/>
          </a:prstGeom>
          <a:noFill/>
          <a:ln/>
        </p:spPr>
        <p:txBody>
          <a:bodyPr wrap="square" lIns="0" tIns="0" rIns="0" bIns="0" rtlCol="0" anchor="t"/>
          <a:lstStyle/>
          <a:p>
            <a:pPr marL="228600" indent="-228600">
              <a:spcAft>
                <a:spcPts val="1200"/>
              </a:spcAft>
              <a:buSzPct val="100000"/>
              <a:buChar char="•"/>
            </a:pPr>
            <a:r>
              <a:rPr lang="en-IE" sz="1700" dirty="0">
                <a:solidFill>
                  <a:schemeClr val="tx1"/>
                </a:solidFill>
              </a:rPr>
              <a:t>Both subclass constructors use the super keyword: </a:t>
            </a:r>
            <a:r>
              <a:rPr lang="en-IE" sz="1700" dirty="0">
                <a:solidFill>
                  <a:schemeClr val="accent2"/>
                </a:solidFill>
                <a:latin typeface="Consolas" pitchFamily="34" charset="0"/>
                <a:ea typeface="Consolas" pitchFamily="34" charset="-122"/>
                <a:cs typeface="Consolas" pitchFamily="34" charset="-120"/>
              </a:rPr>
              <a:t>super(name, id);</a:t>
            </a:r>
            <a:endParaRPr lang="en-IE" sz="1700" dirty="0"/>
          </a:p>
          <a:p>
            <a:pPr marL="228600" indent="-228600">
              <a:spcAft>
                <a:spcPts val="1200"/>
              </a:spcAft>
              <a:buSzPct val="100000"/>
              <a:buChar char="•"/>
            </a:pPr>
            <a:r>
              <a:rPr lang="en-IE" sz="1700" dirty="0">
                <a:solidFill>
                  <a:schemeClr val="tx1"/>
                </a:solidFill>
              </a:rPr>
              <a:t>The subclass can’t assign the superclass’s private attributes directly, so </a:t>
            </a:r>
            <a:r>
              <a:rPr lang="en-IE" sz="1700" dirty="0">
                <a:solidFill>
                  <a:schemeClr val="accent2"/>
                </a:solidFill>
                <a:latin typeface="Consolas" pitchFamily="34" charset="0"/>
                <a:ea typeface="Consolas" pitchFamily="34" charset="-122"/>
                <a:cs typeface="Consolas" pitchFamily="34" charset="-120"/>
              </a:rPr>
              <a:t>this.name = name</a:t>
            </a:r>
            <a:r>
              <a:rPr lang="en-IE" sz="1700" dirty="0">
                <a:solidFill>
                  <a:schemeClr val="tx1"/>
                </a:solidFill>
              </a:rPr>
              <a:t> won’t compile.</a:t>
            </a:r>
            <a:endParaRPr lang="en-IE" sz="1700" dirty="0"/>
          </a:p>
          <a:p>
            <a:pPr marL="228600" indent="-228600">
              <a:spcAft>
                <a:spcPts val="1200"/>
              </a:spcAft>
              <a:buSzPct val="100000"/>
              <a:buChar char="•"/>
            </a:pPr>
            <a:r>
              <a:rPr lang="en-IE" sz="1700" dirty="0">
                <a:solidFill>
                  <a:schemeClr val="tx1"/>
                </a:solidFill>
              </a:rPr>
              <a:t>So Java lets us call the superclass constructor with </a:t>
            </a:r>
            <a:r>
              <a:rPr lang="en-IE" sz="1700" dirty="0">
                <a:solidFill>
                  <a:schemeClr val="accent2"/>
                </a:solidFill>
                <a:latin typeface="Consolas" pitchFamily="34" charset="0"/>
                <a:ea typeface="Consolas" pitchFamily="34" charset="-122"/>
                <a:cs typeface="Consolas" pitchFamily="34" charset="-120"/>
              </a:rPr>
              <a:t>super(...)</a:t>
            </a:r>
            <a:r>
              <a:rPr lang="en-IE" sz="1700" dirty="0">
                <a:solidFill>
                  <a:schemeClr val="tx1"/>
                </a:solidFill>
              </a:rPr>
              <a:t>.</a:t>
            </a:r>
            <a:endParaRPr lang="en-IE" sz="1700" dirty="0"/>
          </a:p>
          <a:p>
            <a:pPr marL="228600" indent="-228600">
              <a:buSzPct val="100000"/>
              <a:buChar char="•"/>
            </a:pPr>
            <a:r>
              <a:rPr lang="en-IE" sz="1700" dirty="0">
                <a:solidFill>
                  <a:schemeClr val="tx1"/>
                </a:solidFill>
              </a:rPr>
              <a:t>It must be the first statement in the subclass constructor.</a:t>
            </a:r>
            <a:endParaRPr lang="en-IE" sz="1700" dirty="0"/>
          </a:p>
        </p:txBody>
      </p:sp>
      <p:sp>
        <p:nvSpPr>
          <p:cNvPr id="6" name="Subclass constructor card"/>
          <p:cNvSpPr/>
          <p:nvPr/>
        </p:nvSpPr>
        <p:spPr>
          <a:xfrm>
            <a:off x="5897880" y="1783080"/>
            <a:ext cx="5745175" cy="2106168"/>
          </a:xfrm>
          <a:prstGeom prst="roundRect">
            <a:avLst>
              <a:gd name="adj" fmla="val 5210"/>
            </a:avLst>
          </a:prstGeom>
          <a:solidFill>
            <a:schemeClr val="tx1"/>
          </a:solidFill>
          <a:ln/>
          <a:effectLst>
            <a:outerShdw sx="100000" sy="100000" kx="0" ky="0" algn="bl" rotWithShape="0" blurRad="114300" dist="31750" dir="5400000">
              <a:srgbClr val="1D2433">
                <a:alpha val="12000"/>
              </a:srgbClr>
            </a:outerShdw>
          </a:effectLst>
        </p:spPr>
      </p:sp>
      <p:sp>
        <p:nvSpPr>
          <p:cNvPr id="7" name="Subclass constructor language"/>
          <p:cNvSpPr txBox="1"/>
          <p:nvPr/>
        </p:nvSpPr>
        <p:spPr>
          <a:xfrm>
            <a:off x="6172200" y="1901952"/>
            <a:ext cx="519653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Subclass constructor text"/>
          <p:cNvSpPr txBox="1"/>
          <p:nvPr/>
        </p:nvSpPr>
        <p:spPr>
          <a:xfrm>
            <a:off x="6172200" y="2276856"/>
            <a:ext cx="5196535" cy="141122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FullTimeEmployee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name,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id,</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salary,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bonus)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super</a:t>
            </a:r>
            <a:r>
              <a:rPr lang="en-IE" sz="1350" dirty="0">
                <a:solidFill>
                  <a:srgbClr val="E6EBF2"/>
                </a:solidFill>
                <a:latin typeface="Consolas" pitchFamily="34" charset="0"/>
                <a:ea typeface="Consolas" pitchFamily="34" charset="-122"/>
                <a:cs typeface="Consolas" pitchFamily="34" charset="-120"/>
              </a:rPr>
              <a:t>(name, id);</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.salary = salary;</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.bonus = bonus;</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9" name="Employee constructor card"/>
          <p:cNvSpPr/>
          <p:nvPr/>
        </p:nvSpPr>
        <p:spPr>
          <a:xfrm>
            <a:off x="5897880" y="4483608"/>
            <a:ext cx="5745175" cy="1654048"/>
          </a:xfrm>
          <a:prstGeom prst="roundRect">
            <a:avLst>
              <a:gd name="adj" fmla="val 6634"/>
            </a:avLst>
          </a:prstGeom>
          <a:solidFill>
            <a:schemeClr val="tx1"/>
          </a:solidFill>
          <a:ln/>
          <a:effectLst>
            <a:outerShdw sx="100000" sy="100000" kx="0" ky="0" algn="bl" rotWithShape="0" blurRad="114300" dist="31750" dir="5400000">
              <a:srgbClr val="1D2433">
                <a:alpha val="12000"/>
              </a:srgbClr>
            </a:outerShdw>
          </a:effectLst>
        </p:spPr>
      </p:sp>
      <p:sp>
        <p:nvSpPr>
          <p:cNvPr id="10" name="Employee constructor language"/>
          <p:cNvSpPr txBox="1"/>
          <p:nvPr/>
        </p:nvSpPr>
        <p:spPr>
          <a:xfrm>
            <a:off x="6172200" y="4602480"/>
            <a:ext cx="519653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1" name="Employee constructor text"/>
          <p:cNvSpPr txBox="1"/>
          <p:nvPr/>
        </p:nvSpPr>
        <p:spPr>
          <a:xfrm>
            <a:off x="6172200" y="4977384"/>
            <a:ext cx="5196535" cy="95910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name,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id)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.name = name;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.id = id;</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2" name="Highlight"/>
          <p:cNvSpPr/>
          <p:nvPr/>
        </p:nvSpPr>
        <p:spPr>
          <a:xfrm>
            <a:off x="6108192" y="2732278"/>
            <a:ext cx="2011680" cy="256032"/>
          </a:xfrm>
          <a:prstGeom prst="roundRect">
            <a:avLst>
              <a:gd name="adj" fmla="val 21429"/>
            </a:avLst>
          </a:prstGeom>
          <a:ln w="25400">
            <a:solidFill>
              <a:schemeClr val="accent6"/>
            </a:solidFill>
            <a:prstDash val="solid"/>
          </a:ln>
        </p:spPr>
      </p:sp>
      <p:sp>
        <p:nvSpPr>
          <p:cNvPr id="13" name="Line"/>
          <p:cNvSpPr/>
          <p:nvPr/>
        </p:nvSpPr>
        <p:spPr>
          <a:xfrm flipH="1">
            <a:off x="5760720" y="2860294"/>
            <a:ext cx="347472" cy="0"/>
          </a:xfrm>
          <a:prstGeom prst="line">
            <a:avLst/>
          </a:prstGeom>
          <a:noFill/>
          <a:ln w="25400">
            <a:solidFill>
              <a:schemeClr val="accent6"/>
            </a:solidFill>
            <a:prstDash val="solid"/>
          </a:ln>
        </p:spPr>
      </p:sp>
      <p:sp>
        <p:nvSpPr>
          <p:cNvPr id="14" name="Line"/>
          <p:cNvSpPr/>
          <p:nvPr/>
        </p:nvSpPr>
        <p:spPr>
          <a:xfrm>
            <a:off x="5760720" y="2860294"/>
            <a:ext cx="0" cy="2230120"/>
          </a:xfrm>
          <a:prstGeom prst="line">
            <a:avLst/>
          </a:prstGeom>
          <a:noFill/>
          <a:ln w="25400">
            <a:solidFill>
              <a:schemeClr val="accent6"/>
            </a:solidFill>
            <a:prstDash val="solid"/>
          </a:ln>
        </p:spPr>
      </p:sp>
      <p:sp>
        <p:nvSpPr>
          <p:cNvPr id="15" name="Line"/>
          <p:cNvSpPr/>
          <p:nvPr/>
        </p:nvSpPr>
        <p:spPr>
          <a:xfrm>
            <a:off x="5760720" y="5090414"/>
            <a:ext cx="155448" cy="0"/>
          </a:xfrm>
          <a:prstGeom prst="line">
            <a:avLst/>
          </a:prstGeom>
          <a:noFill/>
          <a:ln w="25400">
            <a:solidFill>
              <a:schemeClr val="accent6"/>
            </a:solidFill>
            <a:prstDash val="solid"/>
            <a:tailEnd type="arrow"/>
          </a:ln>
        </p:spPr>
      </p:sp>
      <p:sp>
        <p:nvSpPr>
          <p:cNvPr id="16" name="Text 13"/>
          <p:cNvSpPr txBox="1"/>
          <p:nvPr/>
        </p:nvSpPr>
        <p:spPr>
          <a:xfrm>
            <a:off x="5897880" y="4117848"/>
            <a:ext cx="5742432" cy="274320"/>
          </a:xfrm>
          <a:prstGeom prst="rect">
            <a:avLst/>
          </a:prstGeom>
          <a:noFill/>
          <a:ln/>
        </p:spPr>
        <p:txBody>
          <a:bodyPr wrap="square" lIns="0" tIns="0" rIns="0" bIns="0" rtlCol="0" anchor="t"/>
          <a:lstStyle/>
          <a:p>
            <a:pPr indent="0" marL="0">
              <a:buNone/>
            </a:pPr>
            <a:r>
              <a:rPr lang="en-IE" sz="1300" b="1" dirty="0">
                <a:solidFill>
                  <a:schemeClr val="accent2"/>
                </a:solidFill>
                <a:latin typeface="Consolas" pitchFamily="34" charset="0"/>
                <a:ea typeface="Consolas" pitchFamily="34" charset="-122"/>
                <a:cs typeface="Consolas" pitchFamily="34" charset="-120"/>
              </a:rPr>
              <a:t>super(name, id)</a:t>
            </a:r>
            <a:r>
              <a:rPr lang="en-IE" sz="1300" b="1" dirty="0">
                <a:solidFill>
                  <a:schemeClr val="tx2"/>
                </a:solidFill>
              </a:rPr>
              <a:t> calls this constructor in Employee:</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52</a:t>
            </a:fld>
            <a:endParaRPr lang="en-I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super</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a:t>
            </a:r>
            <a:r>
              <a:rPr lang="en-IE" sz="2800" b="1" dirty="0">
                <a:solidFill>
                  <a:schemeClr val="accent2"/>
                </a:solidFill>
                <a:latin typeface="Consolas" pitchFamily="34" charset="0"/>
                <a:ea typeface="Consolas" pitchFamily="34" charset="-122"/>
                <a:cs typeface="Consolas" pitchFamily="34" charset="-120"/>
              </a:rPr>
              <a:t>super(name, id);</a:t>
            </a:r>
            <a:r>
              <a:rPr lang="en-IE" sz="2800" b="1" dirty="0">
                <a:solidFill>
                  <a:schemeClr val="tx1"/>
                </a:solidFill>
              </a:rPr>
              <a:t> do in the FullTimeEmployee constructor?</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Calls the Employee constructor to set name and id</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Creates a second Employee object next to this one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Makes the name and id attributes public to everyone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Declares name and id again inside FullTimeEmployee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53</a:t>
            </a:fld>
            <a:endParaRPr lang="en-I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super</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a:t>
            </a:r>
            <a:r>
              <a:rPr lang="en-IE" sz="2000" b="1" dirty="0">
                <a:solidFill>
                  <a:schemeClr val="tx2"/>
                </a:solidFill>
                <a:latin typeface="Consolas" pitchFamily="34" charset="0"/>
                <a:ea typeface="Consolas" pitchFamily="34" charset="-122"/>
                <a:cs typeface="Consolas" pitchFamily="34" charset="-120"/>
              </a:rPr>
              <a:t>super(name, id);</a:t>
            </a:r>
            <a:r>
              <a:rPr lang="en-IE" sz="2000" b="1" dirty="0">
                <a:solidFill>
                  <a:schemeClr val="tx2"/>
                </a:solidFill>
              </a:rPr>
              <a:t> do in the FullTimeEmployee constructor?</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Calls the Employee constructor to set name and id</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Creates a second Employee object next to this one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Makes the name and id attributes public to everyone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Declares name and id again inside FullTimeEmployee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super(...)</a:t>
            </a:r>
            <a:r>
              <a:rPr lang="en-IE" sz="1800" dirty="0">
                <a:solidFill>
                  <a:schemeClr val="tx1"/>
                </a:solidFill>
              </a:rPr>
              <a:t> calls the superclass constructor. Employee’s constructor sets the private name and id, which FullTimeEmployee can’t assign directly. It doesn’t make a second object: it sets up the Employee part of this one.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54</a:t>
            </a:fld>
            <a:endParaRPr lang="en-IE"/>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parent constructor always runs</a:t>
            </a:r>
            <a:endParaRPr lang="en-IE" sz="3400" dirty="0"/>
          </a:p>
        </p:txBody>
      </p:sp>
      <p:sp>
        <p:nvSpPr>
          <p:cNvPr id="5" name="Text 2"/>
          <p:cNvSpPr txBox="1"/>
          <p:nvPr/>
        </p:nvSpPr>
        <p:spPr>
          <a:xfrm>
            <a:off x="548640" y="1783080"/>
            <a:ext cx="5120640" cy="365760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When we call a subclass constructor, it automatically calls the superclass constructor too, first.</a:t>
            </a:r>
            <a:endParaRPr lang="en-IE" sz="1700" dirty="0"/>
          </a:p>
          <a:p>
            <a:pPr marL="228600" indent="-228600">
              <a:spcAft>
                <a:spcPts val="1000"/>
              </a:spcAft>
              <a:buSzPct val="100000"/>
              <a:buChar char="•"/>
            </a:pPr>
            <a:r>
              <a:rPr lang="en-IE" sz="1700" dirty="0">
                <a:solidFill>
                  <a:schemeClr val="tx1"/>
                </a:solidFill>
              </a:rPr>
              <a:t>If we don’t write </a:t>
            </a:r>
            <a:r>
              <a:rPr lang="en-IE" sz="1700" dirty="0">
                <a:solidFill>
                  <a:schemeClr val="accent2"/>
                </a:solidFill>
                <a:latin typeface="Consolas" pitchFamily="34" charset="0"/>
                <a:ea typeface="Consolas" pitchFamily="34" charset="-122"/>
                <a:cs typeface="Consolas" pitchFamily="34" charset="-120"/>
              </a:rPr>
              <a:t>super(...)</a:t>
            </a:r>
            <a:r>
              <a:rPr lang="en-IE" sz="1700" dirty="0">
                <a:solidFill>
                  <a:schemeClr val="tx1"/>
                </a:solidFill>
              </a:rPr>
              <a:t>, Java calls the parent’s no-arg constructor.</a:t>
            </a:r>
            <a:endParaRPr lang="en-IE" sz="1700" dirty="0"/>
          </a:p>
          <a:p>
            <a:pPr marL="228600" indent="-228600">
              <a:spcAft>
                <a:spcPts val="1000"/>
              </a:spcAft>
              <a:buSzPct val="100000"/>
              <a:buChar char="•"/>
            </a:pPr>
            <a:r>
              <a:rPr lang="en-IE" sz="1700" dirty="0">
                <a:solidFill>
                  <a:schemeClr val="tx1"/>
                </a:solidFill>
              </a:rPr>
              <a:t>To pass arguments into the superclass constructor, we write </a:t>
            </a:r>
            <a:r>
              <a:rPr lang="en-IE" sz="1700" dirty="0">
                <a:solidFill>
                  <a:schemeClr val="accent2"/>
                </a:solidFill>
                <a:latin typeface="Consolas" pitchFamily="34" charset="0"/>
                <a:ea typeface="Consolas" pitchFamily="34" charset="-122"/>
                <a:cs typeface="Consolas" pitchFamily="34" charset="-120"/>
              </a:rPr>
              <a:t>super(...)</a:t>
            </a:r>
            <a:r>
              <a:rPr lang="en-IE" sz="1700" dirty="0">
                <a:solidFill>
                  <a:schemeClr val="tx1"/>
                </a:solidFill>
              </a:rPr>
              <a:t> ourselves.</a:t>
            </a:r>
            <a:endParaRPr lang="en-IE" sz="1700" dirty="0"/>
          </a:p>
          <a:p>
            <a:pPr marL="228600" indent="-228600">
              <a:buSzPct val="100000"/>
              <a:buChar char="•"/>
            </a:pPr>
            <a:r>
              <a:rPr lang="en-IE" sz="1700" dirty="0">
                <a:solidFill>
                  <a:schemeClr val="accent2"/>
                </a:solidFill>
                <a:latin typeface="Consolas" pitchFamily="34" charset="0"/>
                <a:ea typeface="Consolas" pitchFamily="34" charset="-122"/>
                <a:cs typeface="Consolas" pitchFamily="34" charset="-120"/>
              </a:rPr>
              <a:t>super</a:t>
            </a:r>
            <a:r>
              <a:rPr lang="en-IE" sz="1700" dirty="0">
                <a:solidFill>
                  <a:schemeClr val="tx1"/>
                </a:solidFill>
              </a:rPr>
              <a:t> is like </a:t>
            </a:r>
            <a:r>
              <a:rPr lang="en-IE" sz="1700" dirty="0">
                <a:solidFill>
                  <a:schemeClr val="accent2"/>
                </a:solidFill>
                <a:latin typeface="Consolas" pitchFamily="34" charset="0"/>
                <a:ea typeface="Consolas" pitchFamily="34" charset="-122"/>
                <a:cs typeface="Consolas" pitchFamily="34" charset="-120"/>
              </a:rPr>
              <a:t>this</a:t>
            </a:r>
            <a:r>
              <a:rPr lang="en-IE" sz="1700" dirty="0">
                <a:solidFill>
                  <a:schemeClr val="tx1"/>
                </a:solidFill>
              </a:rPr>
              <a:t>, but it refers to the parent class directly, without using its name.</a:t>
            </a:r>
            <a:endParaRPr lang="en-IE" sz="1700" dirty="0"/>
          </a:p>
        </p:txBody>
      </p:sp>
      <p:sp>
        <p:nvSpPr>
          <p:cNvPr id="6" name="Constructor order card"/>
          <p:cNvSpPr/>
          <p:nvPr/>
        </p:nvSpPr>
        <p:spPr>
          <a:xfrm>
            <a:off x="5989320" y="1783080"/>
            <a:ext cx="5653735" cy="3264408"/>
          </a:xfrm>
          <a:prstGeom prst="roundRect">
            <a:avLst>
              <a:gd name="adj" fmla="val 3361"/>
            </a:avLst>
          </a:prstGeom>
          <a:solidFill>
            <a:schemeClr val="tx1"/>
          </a:solidFill>
          <a:ln/>
          <a:effectLst>
            <a:outerShdw sx="100000" sy="100000" kx="0" ky="0" algn="bl" rotWithShape="0" blurRad="114300" dist="31750" dir="5400000">
              <a:srgbClr val="1D2433">
                <a:alpha val="12000"/>
              </a:srgbClr>
            </a:outerShdw>
          </a:effectLst>
        </p:spPr>
      </p:sp>
      <p:sp>
        <p:nvSpPr>
          <p:cNvPr id="7" name="Constructor order language"/>
          <p:cNvSpPr txBox="1"/>
          <p:nvPr/>
        </p:nvSpPr>
        <p:spPr>
          <a:xfrm>
            <a:off x="6263640" y="1901952"/>
            <a:ext cx="51050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Constructor order text"/>
          <p:cNvSpPr txBox="1"/>
          <p:nvPr/>
        </p:nvSpPr>
        <p:spPr>
          <a:xfrm>
            <a:off x="6263640" y="2276856"/>
            <a:ext cx="5105095" cy="2569464"/>
          </a:xfrm>
          <a:prstGeom prst="rect">
            <a:avLst/>
          </a:prstGeom>
          <a:noFill/>
          <a:ln/>
        </p:spPr>
        <p:txBody>
          <a:bodyPr wrap="square" lIns="0" tIns="0" rIns="0" bIns="0" rtlCol="0" anchor="t"/>
          <a:lstStyle/>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class</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Vehicle</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Vehicle</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System</a:t>
            </a:r>
            <a:r>
              <a:rPr lang="en-IE" sz="1250" dirty="0">
                <a:solidFill>
                  <a:srgbClr val="E6EBF2"/>
                </a:solidFill>
                <a:latin typeface="Consolas" pitchFamily="34" charset="0"/>
                <a:ea typeface="Consolas" pitchFamily="34" charset="-122"/>
                <a:cs typeface="Consolas" pitchFamily="34" charset="-120"/>
              </a:rPr>
              <a:t>.out.</a:t>
            </a:r>
            <a:r>
              <a:rPr lang="en-IE" sz="1250" dirty="0">
                <a:solidFill>
                  <a:srgbClr val="C9B0FF"/>
                </a:solidFill>
                <a:latin typeface="Consolas" pitchFamily="34" charset="0"/>
                <a:ea typeface="Consolas" pitchFamily="34" charset="-122"/>
                <a:cs typeface="Consolas" pitchFamily="34" charset="-120"/>
              </a:rPr>
              <a:t>println</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A9DB8C"/>
                </a:solidFill>
                <a:latin typeface="Consolas" pitchFamily="34" charset="0"/>
                <a:ea typeface="Consolas" pitchFamily="34" charset="-122"/>
                <a:cs typeface="Consolas" pitchFamily="34" charset="-120"/>
              </a:rPr>
              <a:t>"Vehicle made"</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class</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Car</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extends</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Vehicle</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Car</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i="1" dirty="0">
                <a:solidFill>
                  <a:srgbClr val="A3AEC2"/>
                </a:solidFill>
                <a:latin typeface="Consolas" pitchFamily="34" charset="0"/>
                <a:ea typeface="Consolas" pitchFamily="34" charset="-122"/>
                <a:cs typeface="Consolas" pitchFamily="34" charset="-120"/>
              </a:rPr>
              <a:t>// Java adds super(); here</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System</a:t>
            </a:r>
            <a:r>
              <a:rPr lang="en-IE" sz="1250" dirty="0">
                <a:solidFill>
                  <a:srgbClr val="E6EBF2"/>
                </a:solidFill>
                <a:latin typeface="Consolas" pitchFamily="34" charset="0"/>
                <a:ea typeface="Consolas" pitchFamily="34" charset="-122"/>
                <a:cs typeface="Consolas" pitchFamily="34" charset="-120"/>
              </a:rPr>
              <a:t>.out.</a:t>
            </a:r>
            <a:r>
              <a:rPr lang="en-IE" sz="1250" dirty="0">
                <a:solidFill>
                  <a:srgbClr val="C9B0FF"/>
                </a:solidFill>
                <a:latin typeface="Consolas" pitchFamily="34" charset="0"/>
                <a:ea typeface="Consolas" pitchFamily="34" charset="-122"/>
                <a:cs typeface="Consolas" pitchFamily="34" charset="-120"/>
              </a:rPr>
              <a:t>println</a:t>
            </a:r>
            <a:r>
              <a:rPr lang="en-IE" sz="1250" dirty="0">
                <a:solidFill>
                  <a:srgbClr val="E6EBF2"/>
                </a:solidFill>
                <a:latin typeface="Consolas" pitchFamily="34" charset="0"/>
                <a:ea typeface="Consolas" pitchFamily="34" charset="-122"/>
                <a:cs typeface="Consolas" pitchFamily="34" charset="-120"/>
              </a:rPr>
              <a:t>(</a:t>
            </a:r>
            <a:r>
              <a:rPr lang="en-IE" sz="1250" dirty="0">
                <a:solidFill>
                  <a:srgbClr val="A9DB8C"/>
                </a:solidFill>
                <a:latin typeface="Consolas" pitchFamily="34" charset="0"/>
                <a:ea typeface="Consolas" pitchFamily="34" charset="-122"/>
                <a:cs typeface="Consolas" pitchFamily="34" charset="-120"/>
              </a:rPr>
              <a:t>"Car made"</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6CC4E8"/>
                </a:solidFill>
                <a:latin typeface="Consolas" pitchFamily="34" charset="0"/>
                <a:ea typeface="Consolas" pitchFamily="34" charset="-122"/>
                <a:cs typeface="Consolas" pitchFamily="34" charset="-120"/>
              </a:rPr>
              <a:t>Car</a:t>
            </a:r>
            <a:r>
              <a:rPr lang="en-IE" sz="1250" dirty="0">
                <a:solidFill>
                  <a:srgbClr val="E6EBF2"/>
                </a:solidFill>
                <a:latin typeface="Consolas" pitchFamily="34" charset="0"/>
                <a:ea typeface="Consolas" pitchFamily="34" charset="-122"/>
                <a:cs typeface="Consolas" pitchFamily="34" charset="-120"/>
              </a:rPr>
              <a:t> car = </a:t>
            </a:r>
            <a:r>
              <a:rPr lang="en-IE" sz="1250" dirty="0">
                <a:solidFill>
                  <a:srgbClr val="FF9F5A"/>
                </a:solidFill>
                <a:latin typeface="Consolas" pitchFamily="34" charset="0"/>
                <a:ea typeface="Consolas" pitchFamily="34" charset="-122"/>
                <a:cs typeface="Consolas" pitchFamily="34" charset="-120"/>
              </a:rPr>
              <a:t>new</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Car</a:t>
            </a:r>
            <a:r>
              <a:rPr lang="en-IE" sz="1250" dirty="0">
                <a:solidFill>
                  <a:srgbClr val="E6EBF2"/>
                </a:solidFill>
                <a:latin typeface="Consolas" pitchFamily="34" charset="0"/>
                <a:ea typeface="Consolas" pitchFamily="34" charset="-122"/>
                <a:cs typeface="Consolas" pitchFamily="34" charset="-120"/>
              </a:rPr>
              <a:t>();   </a:t>
            </a:r>
            <a:r>
              <a:rPr lang="en-IE" sz="1250" i="1" dirty="0">
                <a:solidFill>
                  <a:srgbClr val="A3AEC2"/>
                </a:solidFill>
                <a:latin typeface="Consolas" pitchFamily="34" charset="0"/>
                <a:ea typeface="Consolas" pitchFamily="34" charset="-122"/>
                <a:cs typeface="Consolas" pitchFamily="34" charset="-120"/>
              </a:rPr>
              <a:t>// in main</a:t>
            </a:r>
            <a:endParaRPr lang="en-IE" sz="1250" dirty="0"/>
          </a:p>
        </p:txBody>
      </p:sp>
      <p:sp>
        <p:nvSpPr>
          <p:cNvPr id="9" name="Output card"/>
          <p:cNvSpPr/>
          <p:nvPr/>
        </p:nvSpPr>
        <p:spPr>
          <a:xfrm>
            <a:off x="5989320" y="5212080"/>
            <a:ext cx="5653735" cy="1024128"/>
          </a:xfrm>
          <a:prstGeom prst="roundRect">
            <a:avLst>
              <a:gd name="adj" fmla="val 10714"/>
            </a:avLst>
          </a:prstGeom>
          <a:solidFill>
            <a:schemeClr val="tx1"/>
          </a:solidFill>
          <a:ln/>
          <a:effectLst>
            <a:outerShdw sx="100000" sy="100000" kx="0" ky="0" algn="bl" rotWithShape="0" blurRad="114300" dist="31750" dir="5400000">
              <a:srgbClr val="1D2433">
                <a:alpha val="12000"/>
              </a:srgbClr>
            </a:outerShdw>
          </a:effectLst>
        </p:spPr>
      </p:sp>
      <p:sp>
        <p:nvSpPr>
          <p:cNvPr id="10" name="Text 7"/>
          <p:cNvSpPr txBox="1"/>
          <p:nvPr/>
        </p:nvSpPr>
        <p:spPr>
          <a:xfrm>
            <a:off x="6263640" y="5330952"/>
            <a:ext cx="51050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1" name="Output text"/>
          <p:cNvSpPr txBox="1"/>
          <p:nvPr/>
        </p:nvSpPr>
        <p:spPr>
          <a:xfrm>
            <a:off x="6263640" y="5669280"/>
            <a:ext cx="5105095" cy="384048"/>
          </a:xfrm>
          <a:prstGeom prst="rect">
            <a:avLst/>
          </a:prstGeom>
          <a:noFill/>
          <a:ln/>
        </p:spPr>
        <p:txBody>
          <a:bodyPr wrap="square" lIns="0" tIns="0" rIns="0" bIns="0" rtlCol="0" anchor="t"/>
          <a:lstStyle/>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Vehicle made</a:t>
            </a:r>
            <a:endParaRPr lang="en-IE" sz="1400" dirty="0"/>
          </a:p>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Car made</a:t>
            </a:r>
            <a:endParaRPr lang="en-IE" sz="1400" dirty="0"/>
          </a:p>
        </p:txBody>
      </p:sp>
      <p:sp>
        <p:nvSpPr>
          <p:cNvPr id="12" name="Callout"/>
          <p:cNvSpPr/>
          <p:nvPr/>
        </p:nvSpPr>
        <p:spPr>
          <a:xfrm>
            <a:off x="548640" y="5257800"/>
            <a:ext cx="5120640" cy="914400"/>
          </a:xfrm>
          <a:prstGeom prst="roundRect">
            <a:avLst>
              <a:gd name="adj" fmla="val 12000"/>
            </a:avLst>
          </a:prstGeom>
          <a:solidFill>
            <a:schemeClr val="accent1">
              <a:alpha val="12000"/>
            </a:schemeClr>
          </a:solidFill>
          <a:ln/>
        </p:spPr>
      </p:sp>
      <p:pic>
        <p:nvPicPr>
          <p:cNvPr id="13" name="Callout icon" descr="Callout icon">    </p:cNvPr>
          <p:cNvPicPr>
            <a:picLocks noChangeAspect="1"/>
          </p:cNvPicPr>
          <p:nvPr/>
        </p:nvPicPr>
        <p:blipFill>
          <a:blip r:embed="rId1"/>
          <a:stretch>
            <a:fillRect/>
          </a:stretch>
        </p:blipFill>
        <p:spPr>
          <a:xfrm>
            <a:off x="777240" y="5458968"/>
            <a:ext cx="420624" cy="420624"/>
          </a:xfrm>
          <a:prstGeom prst="rect">
            <a:avLst/>
          </a:prstGeom>
        </p:spPr>
      </p:pic>
      <p:sp>
        <p:nvSpPr>
          <p:cNvPr id="14" name="Text 10"/>
          <p:cNvSpPr txBox="1"/>
          <p:nvPr/>
        </p:nvSpPr>
        <p:spPr>
          <a:xfrm>
            <a:off x="1325880" y="5440680"/>
            <a:ext cx="4160520" cy="548640"/>
          </a:xfrm>
          <a:prstGeom prst="rect">
            <a:avLst/>
          </a:prstGeom>
          <a:noFill/>
          <a:ln/>
        </p:spPr>
        <p:txBody>
          <a:bodyPr wrap="square" lIns="0" tIns="0" rIns="0" bIns="0" rtlCol="0" anchor="ctr"/>
          <a:lstStyle/>
          <a:p>
            <a:pPr indent="0" marL="0">
              <a:buNone/>
            </a:pPr>
            <a:r>
              <a:rPr lang="en-IE" sz="1400" dirty="0">
                <a:solidFill>
                  <a:schemeClr val="tx1"/>
                </a:solidFill>
              </a:rPr>
              <a:t>Employee has no constructor without arguments, so its subclasses must call </a:t>
            </a:r>
            <a:r>
              <a:rPr lang="en-IE" sz="1400" dirty="0">
                <a:solidFill>
                  <a:schemeClr val="accent2"/>
                </a:solidFill>
                <a:latin typeface="Consolas" pitchFamily="34" charset="0"/>
                <a:ea typeface="Consolas" pitchFamily="34" charset="-122"/>
                <a:cs typeface="Consolas" pitchFamily="34" charset="-120"/>
              </a:rPr>
              <a:t>super(name, id)</a:t>
            </a:r>
            <a:r>
              <a:rPr lang="en-IE" sz="1400" dirty="0">
                <a:solidFill>
                  <a:schemeClr val="tx1"/>
                </a:solidFill>
              </a:rPr>
              <a:t>.</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55</a:t>
            </a:fld>
            <a:endParaRPr lang="en-I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super</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2359406"/>
            <a:ext cx="6035040" cy="3236468"/>
          </a:xfrm>
          <a:prstGeom prst="roundRect">
            <a:avLst>
              <a:gd name="adj" fmla="val 339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47827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853182"/>
            <a:ext cx="5486400" cy="254152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Vehicle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Vehicle</a:t>
            </a:r>
            <a:r>
              <a:rPr lang="en-IE" sz="1350" dirty="0">
                <a:solidFill>
                  <a:srgbClr val="E6EBF2"/>
                </a:solidFill>
                <a:latin typeface="Consolas" pitchFamily="34" charset="0"/>
                <a:ea typeface="Consolas" pitchFamily="34" charset="-122"/>
                <a:cs typeface="Consolas" pitchFamily="34" charset="-120"/>
              </a:rPr>
              <a:t>() { </a:t>
            </a: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"Vehicle "</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Car</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extends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Vehicle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Car</a:t>
            </a:r>
            <a:r>
              <a:rPr lang="en-IE" sz="1350" dirty="0">
                <a:solidFill>
                  <a:srgbClr val="E6EBF2"/>
                </a:solidFill>
                <a:latin typeface="Consolas" pitchFamily="34" charset="0"/>
                <a:ea typeface="Consolas" pitchFamily="34" charset="-122"/>
                <a:cs typeface="Consolas" pitchFamily="34" charset="-120"/>
              </a:rPr>
              <a:t>() { </a:t>
            </a: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"Car "</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SportsCar</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extends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Car</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SportsCar</a:t>
            </a:r>
            <a:r>
              <a:rPr lang="en-IE" sz="1350" dirty="0">
                <a:solidFill>
                  <a:srgbClr val="E6EBF2"/>
                </a:solidFill>
                <a:latin typeface="Consolas" pitchFamily="34" charset="0"/>
                <a:ea typeface="Consolas" pitchFamily="34" charset="-122"/>
                <a:cs typeface="Consolas" pitchFamily="34" charset="-120"/>
              </a:rPr>
              <a:t>() { </a:t>
            </a: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"SportsCar "</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i="1" dirty="0">
                <a:solidFill>
                  <a:srgbClr val="A3AEC2"/>
                </a:solidFill>
                <a:latin typeface="Consolas" pitchFamily="34" charset="0"/>
                <a:ea typeface="Consolas" pitchFamily="34" charset="-122"/>
                <a:cs typeface="Consolas" pitchFamily="34" charset="-120"/>
              </a:rPr>
              <a:t>// in main:</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SportsCar</a:t>
            </a:r>
            <a:r>
              <a:rPr lang="en-IE" sz="1350" dirty="0">
                <a:solidFill>
                  <a:srgbClr val="E6EBF2"/>
                </a:solidFill>
                <a:latin typeface="Consolas" pitchFamily="34" charset="0"/>
                <a:ea typeface="Consolas" pitchFamily="34" charset="-122"/>
                <a:cs typeface="Consolas" pitchFamily="34" charset="-120"/>
              </a:rPr>
              <a:t> s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SportsCar</a:t>
            </a: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SportsCar</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SportsCar Car Vehicle</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Vehicle Car SportsCar</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Nothing, because no super() is written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56</a:t>
            </a:fld>
            <a:endParaRPr lang="en-IE"/>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super</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463040"/>
          </a:xfrm>
          <a:prstGeom prst="roundRect">
            <a:avLst>
              <a:gd name="adj" fmla="val 750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060704"/>
          </a:xfrm>
          <a:prstGeom prst="rect">
            <a:avLst/>
          </a:prstGeom>
          <a:noFill/>
          <a:ln/>
        </p:spPr>
        <p:txBody>
          <a:bodyPr wrap="square" lIns="0" tIns="0" rIns="0" bIns="0" rtlCol="0" anchor="t"/>
          <a:lstStyle/>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new SportsCar() runs, parent first:</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1. Vehicle()    prints "Vehicle "</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2. Car()        prints "Car "</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3. SportsCar()  prints "SportsCar "</a:t>
            </a:r>
            <a:endParaRPr lang="en-IE" sz="1500" dirty="0"/>
          </a:p>
        </p:txBody>
      </p:sp>
      <p:sp>
        <p:nvSpPr>
          <p:cNvPr id="7" name="Option A"/>
          <p:cNvSpPr/>
          <p:nvPr/>
        </p:nvSpPr>
        <p:spPr>
          <a:xfrm>
            <a:off x="548640" y="3566160"/>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630168"/>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41882" y="3566160"/>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SportsCar</a:t>
            </a:r>
            <a:endParaRPr lang="en-IE" sz="1500" dirty="0"/>
          </a:p>
        </p:txBody>
      </p:sp>
      <p:sp>
        <p:nvSpPr>
          <p:cNvPr id="10" name="Option B"/>
          <p:cNvSpPr/>
          <p:nvPr/>
        </p:nvSpPr>
        <p:spPr>
          <a:xfrm>
            <a:off x="548640" y="4231386"/>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295394"/>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41882" y="4231386"/>
            <a:ext cx="4601718" cy="518922"/>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SportsCar Car Vehicle</a:t>
            </a:r>
            <a:endParaRPr lang="en-IE" sz="1500" dirty="0"/>
          </a:p>
        </p:txBody>
      </p:sp>
      <p:sp>
        <p:nvSpPr>
          <p:cNvPr id="13" name="Option C (correct)"/>
          <p:cNvSpPr/>
          <p:nvPr/>
        </p:nvSpPr>
        <p:spPr>
          <a:xfrm>
            <a:off x="548640" y="4896612"/>
            <a:ext cx="5623560" cy="518922"/>
          </a:xfrm>
          <a:prstGeom prst="roundRect">
            <a:avLst>
              <a:gd name="adj" fmla="val 21145"/>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960620"/>
            <a:ext cx="390906" cy="390906"/>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5" name="Option C text"/>
          <p:cNvSpPr txBox="1"/>
          <p:nvPr/>
        </p:nvSpPr>
        <p:spPr>
          <a:xfrm>
            <a:off x="1341882" y="4896612"/>
            <a:ext cx="4171950" cy="518922"/>
          </a:xfrm>
          <a:prstGeom prst="rect">
            <a:avLst/>
          </a:prstGeom>
          <a:noFill/>
          <a:ln/>
        </p:spPr>
        <p:txBody>
          <a:bodyPr wrap="square" lIns="0" tIns="0" rIns="0" bIns="0" rtlCol="0" anchor="ctr"/>
          <a:lstStyle/>
          <a:p>
            <a:pPr indent="0" marL="0">
              <a:buNone/>
            </a:pPr>
            <a:r>
              <a:rPr lang="en-IE" sz="1500" b="1" dirty="0">
                <a:solidFill>
                  <a:schemeClr val="bg1"/>
                </a:solidFill>
                <a:latin typeface="Consolas" pitchFamily="34" charset="0"/>
                <a:ea typeface="Consolas" pitchFamily="34" charset="-122"/>
                <a:cs typeface="Consolas" pitchFamily="34" charset="-120"/>
              </a:rPr>
              <a:t>Vehicle Car SportsCar</a:t>
            </a:r>
            <a:endParaRPr lang="en-IE" sz="1500" dirty="0"/>
          </a:p>
        </p:txBody>
      </p:sp>
      <p:pic>
        <p:nvPicPr>
          <p:cNvPr id="16" name="Correct mark" descr="Correct mark">    </p:cNvPr>
          <p:cNvPicPr>
            <a:picLocks noChangeAspect="1"/>
          </p:cNvPicPr>
          <p:nvPr/>
        </p:nvPicPr>
        <p:blipFill>
          <a:blip r:embed="rId1"/>
          <a:stretch>
            <a:fillRect/>
          </a:stretch>
        </p:blipFill>
        <p:spPr>
          <a:xfrm>
            <a:off x="5623560" y="4973193"/>
            <a:ext cx="365760" cy="365760"/>
          </a:xfrm>
          <a:prstGeom prst="rect">
            <a:avLst/>
          </a:prstGeom>
        </p:spPr>
      </p:pic>
      <p:sp>
        <p:nvSpPr>
          <p:cNvPr id="17" name="Option D"/>
          <p:cNvSpPr/>
          <p:nvPr/>
        </p:nvSpPr>
        <p:spPr>
          <a:xfrm>
            <a:off x="548640" y="5561838"/>
            <a:ext cx="5623560" cy="518922"/>
          </a:xfrm>
          <a:prstGeom prst="roundRect">
            <a:avLst>
              <a:gd name="adj" fmla="val 21145"/>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25846"/>
            <a:ext cx="390906" cy="39090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41882" y="5561838"/>
            <a:ext cx="4601718" cy="518922"/>
          </a:xfrm>
          <a:prstGeom prst="rect">
            <a:avLst/>
          </a:prstGeom>
          <a:noFill/>
          <a:ln/>
        </p:spPr>
        <p:txBody>
          <a:bodyPr wrap="square" lIns="0" tIns="0" rIns="0" bIns="0" rtlCol="0" anchor="ctr"/>
          <a:lstStyle/>
          <a:p>
            <a:pPr indent="0" marL="0">
              <a:buNone/>
            </a:pPr>
            <a:r>
              <a:rPr lang="en-IE" sz="1500" dirty="0">
                <a:solidFill>
                  <a:schemeClr val="tx2"/>
                </a:solidFill>
              </a:rPr>
              <a:t>Nothing, because no super() is written</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Every constructor first calls its parent’s constructor. When we don’t write </a:t>
            </a:r>
            <a:r>
              <a:rPr lang="en-IE" sz="1800" dirty="0">
                <a:solidFill>
                  <a:schemeClr val="accent2"/>
                </a:solidFill>
                <a:latin typeface="Consolas" pitchFamily="34" charset="0"/>
                <a:ea typeface="Consolas" pitchFamily="34" charset="-122"/>
                <a:cs typeface="Consolas" pitchFamily="34" charset="-120"/>
              </a:rPr>
              <a:t>super()</a:t>
            </a:r>
            <a:r>
              <a:rPr lang="en-IE" sz="1800" dirty="0">
                <a:solidFill>
                  <a:schemeClr val="tx1"/>
                </a:solidFill>
              </a:rPr>
              <a:t>, Java adds it for us. So Vehicle’s part is built first, then Car’s, then SportsCar’s.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57</a:t>
            </a:fld>
            <a:endParaRPr lang="en-I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Abstract methods</a:t>
            </a:r>
            <a:endParaRPr lang="en-IE" sz="3400" dirty="0"/>
          </a:p>
        </p:txBody>
      </p:sp>
      <p:sp>
        <p:nvSpPr>
          <p:cNvPr id="5" name="Text 2"/>
          <p:cNvSpPr txBox="1"/>
          <p:nvPr/>
        </p:nvSpPr>
        <p:spPr>
          <a:xfrm>
            <a:off x="548640" y="1783080"/>
            <a:ext cx="5029200" cy="2011680"/>
          </a:xfrm>
          <a:prstGeom prst="rect">
            <a:avLst/>
          </a:prstGeom>
          <a:noFill/>
          <a:ln/>
        </p:spPr>
        <p:txBody>
          <a:bodyPr wrap="square" lIns="0" tIns="0" rIns="0" bIns="0" rtlCol="0" anchor="t"/>
          <a:lstStyle/>
          <a:p>
            <a:pPr marL="228600" indent="-228600">
              <a:spcAft>
                <a:spcPts val="1000"/>
              </a:spcAft>
              <a:buSzPct val="100000"/>
              <a:buChar char="•"/>
            </a:pPr>
            <a:r>
              <a:rPr lang="en-IE" sz="1800" dirty="0">
                <a:solidFill>
                  <a:schemeClr val="tx1"/>
                </a:solidFill>
              </a:rPr>
              <a:t>An abstract method is a method without an implementation: no body.</a:t>
            </a:r>
            <a:endParaRPr lang="en-IE" sz="1800" dirty="0"/>
          </a:p>
          <a:p>
            <a:pPr marL="228600" indent="-228600">
              <a:spcAft>
                <a:spcPts val="1000"/>
              </a:spcAft>
              <a:buSzPct val="100000"/>
              <a:buChar char="•"/>
            </a:pPr>
            <a:r>
              <a:rPr lang="en-IE" sz="1800" dirty="0">
                <a:solidFill>
                  <a:schemeClr val="tx1"/>
                </a:solidFill>
              </a:rPr>
              <a:t>It sets out a method every subclass must write.</a:t>
            </a:r>
            <a:endParaRPr lang="en-IE" sz="1800" dirty="0"/>
          </a:p>
          <a:p>
            <a:pPr marL="228600" indent="-228600">
              <a:buSzPct val="100000"/>
              <a:buChar char="•"/>
            </a:pPr>
            <a:r>
              <a:rPr lang="en-IE" sz="1800" dirty="0">
                <a:solidFill>
                  <a:schemeClr val="tx1"/>
                </a:solidFill>
              </a:rPr>
              <a:t>Each child class gives its own implementation of the method.</a:t>
            </a:r>
            <a:endParaRPr lang="en-IE" sz="1800" dirty="0"/>
          </a:p>
        </p:txBody>
      </p:sp>
      <p:sp>
        <p:nvSpPr>
          <p:cNvPr id="6" name="Text 3"/>
          <p:cNvSpPr txBox="1"/>
          <p:nvPr/>
        </p:nvSpPr>
        <p:spPr>
          <a:xfrm>
            <a:off x="548640" y="3931920"/>
            <a:ext cx="3657600" cy="274320"/>
          </a:xfrm>
          <a:prstGeom prst="rect">
            <a:avLst/>
          </a:prstGeom>
          <a:noFill/>
          <a:ln/>
        </p:spPr>
        <p:txBody>
          <a:bodyPr wrap="square" lIns="0" tIns="0" rIns="0" bIns="0" rtlCol="0" anchor="t"/>
          <a:lstStyle/>
          <a:p>
            <a:pPr indent="0" marL="0">
              <a:buNone/>
            </a:pPr>
            <a:r>
              <a:rPr lang="en-IE" sz="1300" b="1" dirty="0">
                <a:solidFill>
                  <a:schemeClr val="tx2"/>
                </a:solidFill>
              </a:rPr>
              <a:t>In the parent class</a:t>
            </a:r>
            <a:endParaRPr lang="en-IE" sz="1300" dirty="0"/>
          </a:p>
        </p:txBody>
      </p:sp>
      <p:sp>
        <p:nvSpPr>
          <p:cNvPr id="7" name="Abstract method card"/>
          <p:cNvSpPr/>
          <p:nvPr/>
        </p:nvSpPr>
        <p:spPr>
          <a:xfrm>
            <a:off x="548640" y="4251960"/>
            <a:ext cx="5029200" cy="1361440"/>
          </a:xfrm>
          <a:prstGeom prst="roundRect">
            <a:avLst>
              <a:gd name="adj" fmla="val 8060"/>
            </a:avLst>
          </a:prstGeom>
          <a:solidFill>
            <a:schemeClr val="tx1"/>
          </a:solidFill>
          <a:ln/>
          <a:effectLst>
            <a:outerShdw sx="100000" sy="100000" kx="0" ky="0" algn="bl" rotWithShape="0" blurRad="114300" dist="31750" dir="5400000">
              <a:srgbClr val="1D2433">
                <a:alpha val="12000"/>
              </a:srgbClr>
            </a:outerShdw>
          </a:effectLst>
        </p:spPr>
      </p:sp>
      <p:sp>
        <p:nvSpPr>
          <p:cNvPr id="8" name="Abstract method text"/>
          <p:cNvSpPr txBox="1"/>
          <p:nvPr/>
        </p:nvSpPr>
        <p:spPr>
          <a:xfrm>
            <a:off x="822960" y="4453128"/>
            <a:ext cx="4480560" cy="95910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abstract</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abstract</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calculatePay</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9" name="Text 6"/>
          <p:cNvSpPr txBox="1"/>
          <p:nvPr/>
        </p:nvSpPr>
        <p:spPr>
          <a:xfrm>
            <a:off x="6400800" y="1783080"/>
            <a:ext cx="5242255" cy="274320"/>
          </a:xfrm>
          <a:prstGeom prst="rect">
            <a:avLst/>
          </a:prstGeom>
          <a:noFill/>
          <a:ln/>
        </p:spPr>
        <p:txBody>
          <a:bodyPr wrap="square" lIns="0" tIns="0" rIns="0" bIns="0" rtlCol="0" anchor="t"/>
          <a:lstStyle/>
          <a:p>
            <a:pPr indent="0" marL="0">
              <a:buNone/>
            </a:pPr>
            <a:r>
              <a:rPr lang="en-IE" sz="1300" b="1" dirty="0">
                <a:solidFill>
                  <a:schemeClr val="tx2"/>
                </a:solidFill>
              </a:rPr>
              <a:t>In the first child: FullTimeEmployee</a:t>
            </a:r>
            <a:endParaRPr lang="en-IE" sz="1300" dirty="0"/>
          </a:p>
        </p:txBody>
      </p:sp>
      <p:sp>
        <p:nvSpPr>
          <p:cNvPr id="10" name="In the first child: FullTimeEmployee card"/>
          <p:cNvSpPr/>
          <p:nvPr/>
        </p:nvSpPr>
        <p:spPr>
          <a:xfrm>
            <a:off x="6400800" y="2130552"/>
            <a:ext cx="5242255" cy="1397000"/>
          </a:xfrm>
          <a:prstGeom prst="roundRect">
            <a:avLst>
              <a:gd name="adj" fmla="val 7855"/>
            </a:avLst>
          </a:prstGeom>
          <a:solidFill>
            <a:schemeClr val="tx1"/>
          </a:solidFill>
          <a:ln/>
          <a:effectLst>
            <a:outerShdw sx="100000" sy="100000" kx="0" ky="0" algn="bl" rotWithShape="0" blurRad="114300" dist="31750" dir="5400000">
              <a:srgbClr val="1D2433">
                <a:alpha val="12000"/>
              </a:srgbClr>
            </a:outerShdw>
          </a:effectLst>
        </p:spPr>
      </p:sp>
      <p:sp>
        <p:nvSpPr>
          <p:cNvPr id="11" name="In the first child: FullTimeEmployee text"/>
          <p:cNvSpPr txBox="1"/>
          <p:nvPr/>
        </p:nvSpPr>
        <p:spPr>
          <a:xfrm>
            <a:off x="6675120" y="2331720"/>
            <a:ext cx="4693615" cy="994664"/>
          </a:xfrm>
          <a:prstGeom prst="rect">
            <a:avLst/>
          </a:prstGeom>
          <a:noFill/>
          <a:ln/>
        </p:spPr>
        <p:txBody>
          <a:bodyPr wrap="square" lIns="0" tIns="0" rIns="0" bIns="0" rtlCol="0" anchor="t"/>
          <a:lstStyle/>
          <a:p>
            <a:pPr indent="0" marL="0">
              <a:lnSpc>
                <a:spcPts val="1850"/>
              </a:lnSpc>
              <a:buNone/>
            </a:pPr>
            <a:r>
              <a:rPr lang="en-IE" sz="1400" dirty="0">
                <a:solidFill>
                  <a:srgbClr val="E8C468"/>
                </a:solidFill>
                <a:latin typeface="Consolas" pitchFamily="34" charset="0"/>
                <a:ea typeface="Consolas" pitchFamily="34" charset="-122"/>
                <a:cs typeface="Consolas" pitchFamily="34" charset="-120"/>
              </a:rPr>
              <a:t>@Override</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calculatePay</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salary + bonus;</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2" name="Line"/>
          <p:cNvSpPr/>
          <p:nvPr/>
        </p:nvSpPr>
        <p:spPr>
          <a:xfrm>
            <a:off x="5623560" y="4932680"/>
            <a:ext cx="365760" cy="0"/>
          </a:xfrm>
          <a:prstGeom prst="line">
            <a:avLst/>
          </a:prstGeom>
          <a:noFill/>
          <a:ln w="22225">
            <a:solidFill>
              <a:schemeClr val="accent1"/>
            </a:solidFill>
            <a:prstDash val="solid"/>
          </a:ln>
        </p:spPr>
      </p:sp>
      <p:sp>
        <p:nvSpPr>
          <p:cNvPr id="13" name="Line"/>
          <p:cNvSpPr/>
          <p:nvPr/>
        </p:nvSpPr>
        <p:spPr>
          <a:xfrm flipV="1">
            <a:off x="5989320" y="2829052"/>
            <a:ext cx="0" cy="2103628"/>
          </a:xfrm>
          <a:prstGeom prst="line">
            <a:avLst/>
          </a:prstGeom>
          <a:noFill/>
          <a:ln w="22225">
            <a:solidFill>
              <a:schemeClr val="accent1"/>
            </a:solidFill>
            <a:prstDash val="solid"/>
          </a:ln>
        </p:spPr>
      </p:sp>
      <p:sp>
        <p:nvSpPr>
          <p:cNvPr id="14" name="Line"/>
          <p:cNvSpPr/>
          <p:nvPr/>
        </p:nvSpPr>
        <p:spPr>
          <a:xfrm>
            <a:off x="5989320" y="2829052"/>
            <a:ext cx="365760" cy="0"/>
          </a:xfrm>
          <a:prstGeom prst="line">
            <a:avLst/>
          </a:prstGeom>
          <a:noFill/>
          <a:ln w="22225">
            <a:solidFill>
              <a:schemeClr val="accent1"/>
            </a:solidFill>
            <a:prstDash val="solid"/>
            <a:tailEnd type="arrow"/>
          </a:ln>
        </p:spPr>
      </p:sp>
      <p:sp>
        <p:nvSpPr>
          <p:cNvPr id="15" name="Text 12"/>
          <p:cNvSpPr txBox="1"/>
          <p:nvPr/>
        </p:nvSpPr>
        <p:spPr>
          <a:xfrm>
            <a:off x="6400800" y="3939032"/>
            <a:ext cx="5242255" cy="274320"/>
          </a:xfrm>
          <a:prstGeom prst="rect">
            <a:avLst/>
          </a:prstGeom>
          <a:noFill/>
          <a:ln/>
        </p:spPr>
        <p:txBody>
          <a:bodyPr wrap="square" lIns="0" tIns="0" rIns="0" bIns="0" rtlCol="0" anchor="t"/>
          <a:lstStyle/>
          <a:p>
            <a:pPr indent="0" marL="0">
              <a:buNone/>
            </a:pPr>
            <a:r>
              <a:rPr lang="en-IE" sz="1300" b="1" dirty="0">
                <a:solidFill>
                  <a:schemeClr val="tx2"/>
                </a:solidFill>
              </a:rPr>
              <a:t>In the second child: PartTimeEmployee</a:t>
            </a:r>
            <a:endParaRPr lang="en-IE" sz="1300" dirty="0"/>
          </a:p>
        </p:txBody>
      </p:sp>
      <p:sp>
        <p:nvSpPr>
          <p:cNvPr id="16" name="In the second child: PartTimeEmployee card"/>
          <p:cNvSpPr/>
          <p:nvPr/>
        </p:nvSpPr>
        <p:spPr>
          <a:xfrm>
            <a:off x="6400800" y="4286504"/>
            <a:ext cx="5242255" cy="1397000"/>
          </a:xfrm>
          <a:prstGeom prst="roundRect">
            <a:avLst>
              <a:gd name="adj" fmla="val 7855"/>
            </a:avLst>
          </a:prstGeom>
          <a:solidFill>
            <a:schemeClr val="tx1"/>
          </a:solidFill>
          <a:ln/>
          <a:effectLst>
            <a:outerShdw sx="100000" sy="100000" kx="0" ky="0" algn="bl" rotWithShape="0" blurRad="114300" dist="31750" dir="5400000">
              <a:srgbClr val="1D2433">
                <a:alpha val="12000"/>
              </a:srgbClr>
            </a:outerShdw>
          </a:effectLst>
        </p:spPr>
      </p:sp>
      <p:sp>
        <p:nvSpPr>
          <p:cNvPr id="17" name="In the second child: PartTimeEmployee text"/>
          <p:cNvSpPr txBox="1"/>
          <p:nvPr/>
        </p:nvSpPr>
        <p:spPr>
          <a:xfrm>
            <a:off x="6675120" y="4487672"/>
            <a:ext cx="4693615" cy="994664"/>
          </a:xfrm>
          <a:prstGeom prst="rect">
            <a:avLst/>
          </a:prstGeom>
          <a:noFill/>
          <a:ln/>
        </p:spPr>
        <p:txBody>
          <a:bodyPr wrap="square" lIns="0" tIns="0" rIns="0" bIns="0" rtlCol="0" anchor="t"/>
          <a:lstStyle/>
          <a:p>
            <a:pPr indent="0" marL="0">
              <a:lnSpc>
                <a:spcPts val="1850"/>
              </a:lnSpc>
              <a:buNone/>
            </a:pPr>
            <a:r>
              <a:rPr lang="en-IE" sz="1400" dirty="0">
                <a:solidFill>
                  <a:srgbClr val="E8C468"/>
                </a:solidFill>
                <a:latin typeface="Consolas" pitchFamily="34" charset="0"/>
                <a:ea typeface="Consolas" pitchFamily="34" charset="-122"/>
                <a:cs typeface="Consolas" pitchFamily="34" charset="-120"/>
              </a:rPr>
              <a:t>@Override</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calculatePay</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hours * payRate;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8" name="Line"/>
          <p:cNvSpPr/>
          <p:nvPr/>
        </p:nvSpPr>
        <p:spPr>
          <a:xfrm>
            <a:off x="5623560" y="4932680"/>
            <a:ext cx="365760" cy="0"/>
          </a:xfrm>
          <a:prstGeom prst="line">
            <a:avLst/>
          </a:prstGeom>
          <a:noFill/>
          <a:ln w="22225">
            <a:solidFill>
              <a:schemeClr val="accent1"/>
            </a:solidFill>
            <a:prstDash val="solid"/>
          </a:ln>
        </p:spPr>
      </p:sp>
      <p:sp>
        <p:nvSpPr>
          <p:cNvPr id="19" name="Line"/>
          <p:cNvSpPr/>
          <p:nvPr/>
        </p:nvSpPr>
        <p:spPr>
          <a:xfrm>
            <a:off x="5989320" y="4932680"/>
            <a:ext cx="0" cy="52324"/>
          </a:xfrm>
          <a:prstGeom prst="line">
            <a:avLst/>
          </a:prstGeom>
          <a:noFill/>
          <a:ln w="22225">
            <a:solidFill>
              <a:schemeClr val="accent1"/>
            </a:solidFill>
            <a:prstDash val="solid"/>
          </a:ln>
        </p:spPr>
      </p:sp>
      <p:sp>
        <p:nvSpPr>
          <p:cNvPr id="20" name="Line"/>
          <p:cNvSpPr/>
          <p:nvPr/>
        </p:nvSpPr>
        <p:spPr>
          <a:xfrm>
            <a:off x="5989320" y="4985004"/>
            <a:ext cx="365760" cy="0"/>
          </a:xfrm>
          <a:prstGeom prst="line">
            <a:avLst/>
          </a:prstGeom>
          <a:noFill/>
          <a:ln w="22225">
            <a:solidFill>
              <a:schemeClr val="accent1"/>
            </a:solidFill>
            <a:prstDash val="solid"/>
            <a:tailEnd type="arrow"/>
          </a:ln>
        </p:spPr>
      </p:sp>
      <p:sp>
        <p:nvSpPr>
          <p:cNvPr id="21" name="Text 18"/>
          <p:cNvSpPr txBox="1"/>
          <p:nvPr/>
        </p:nvSpPr>
        <p:spPr>
          <a:xfrm>
            <a:off x="548640" y="5723128"/>
            <a:ext cx="5029200" cy="320040"/>
          </a:xfrm>
          <a:prstGeom prst="rect">
            <a:avLst/>
          </a:prstGeom>
          <a:noFill/>
          <a:ln/>
        </p:spPr>
        <p:txBody>
          <a:bodyPr wrap="square" lIns="0" tIns="0" rIns="0" bIns="0" rtlCol="0" anchor="t"/>
          <a:lstStyle/>
          <a:p>
            <a:pPr indent="0" marL="0">
              <a:buNone/>
            </a:pPr>
            <a:r>
              <a:rPr lang="en-IE" sz="1400" i="1" dirty="0">
                <a:solidFill>
                  <a:schemeClr val="tx2"/>
                </a:solidFill>
              </a:rPr>
              <a:t>No body: the line ends with a semicolon.</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58</a:t>
            </a:fld>
            <a:endParaRPr lang="en-I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is a correct abstract method in the abstract class Employee?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abstract double calculatePay();</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abstract double calculatePay() {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double calculatePay();</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abstract calculatePay();</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59</a:t>
            </a:fld>
            <a:endParaRPr lang="en-I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is a correct abstract method in the abstract class Employee?</a:t>
            </a:r>
            <a:endParaRPr lang="en-IE" sz="2000" dirty="0"/>
          </a:p>
        </p:txBody>
      </p:sp>
      <p:sp>
        <p:nvSpPr>
          <p:cNvPr id="5" name="Option A (correct)"/>
          <p:cNvSpPr/>
          <p:nvPr/>
        </p:nvSpPr>
        <p:spPr>
          <a:xfrm>
            <a:off x="548640" y="1828800"/>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191109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28800"/>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 abstract double calculatePay();</a:t>
            </a:r>
            <a:endParaRPr lang="en-IE" sz="1700" dirty="0"/>
          </a:p>
        </p:txBody>
      </p:sp>
      <p:pic>
        <p:nvPicPr>
          <p:cNvPr id="8" name="Correct mark" descr="Correct mark">    </p:cNvPr>
          <p:cNvPicPr>
            <a:picLocks noChangeAspect="1"/>
          </p:cNvPicPr>
          <p:nvPr/>
        </p:nvPicPr>
        <p:blipFill>
          <a:blip r:embed="rId1"/>
          <a:stretch>
            <a:fillRect/>
          </a:stretch>
        </p:blipFill>
        <p:spPr>
          <a:xfrm>
            <a:off x="11094415" y="1938528"/>
            <a:ext cx="365760" cy="365760"/>
          </a:xfrm>
          <a:prstGeom prst="rect">
            <a:avLst/>
          </a:prstGeom>
        </p:spPr>
      </p:pic>
      <p:sp>
        <p:nvSpPr>
          <p:cNvPr id="9"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abstract double calculatePay() { }</a:t>
            </a:r>
            <a:endParaRPr lang="en-IE" sz="1700" dirty="0"/>
          </a:p>
        </p:txBody>
      </p:sp>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double calculatePay();</a:t>
            </a:r>
            <a:endParaRPr lang="en-IE"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abstract calculatePay();</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An abstract method has the word abstract, a return type and no body: just a semicolon. B has a body, C is missing abstract (so it needs a body), and D has no return type.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60</a:t>
            </a:fld>
            <a:endParaRPr lang="en-I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ABSTRACT CLASSES AND SUPER</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Why have an abstract method at all?</a:t>
            </a:r>
            <a:endParaRPr lang="en-IE" sz="3400" dirty="0"/>
          </a:p>
        </p:txBody>
      </p:sp>
      <p:sp>
        <p:nvSpPr>
          <p:cNvPr id="5" name="Text 2"/>
          <p:cNvSpPr txBox="1"/>
          <p:nvPr/>
        </p:nvSpPr>
        <p:spPr>
          <a:xfrm>
            <a:off x="548640" y="1691640"/>
            <a:ext cx="11094415" cy="457200"/>
          </a:xfrm>
          <a:prstGeom prst="rect">
            <a:avLst/>
          </a:prstGeom>
          <a:noFill/>
          <a:ln/>
        </p:spPr>
        <p:txBody>
          <a:bodyPr wrap="square" lIns="0" tIns="0" rIns="0" bIns="0" rtlCol="0" anchor="t"/>
          <a:lstStyle/>
          <a:p>
            <a:pPr indent="0" marL="0">
              <a:buNone/>
            </a:pPr>
            <a:r>
              <a:rPr lang="en-IE" sz="1900" i="1" dirty="0">
                <a:solidFill>
                  <a:schemeClr val="tx2"/>
                </a:solidFill>
              </a:rPr>
              <a:t>Why not just write the two methods in the children, without one in the parent?</a:t>
            </a:r>
            <a:endParaRPr lang="en-IE" sz="1900" dirty="0"/>
          </a:p>
        </p:txBody>
      </p:sp>
      <p:sp>
        <p:nvSpPr>
          <p:cNvPr id="6" name="Card"/>
          <p:cNvSpPr/>
          <p:nvPr/>
        </p:nvSpPr>
        <p:spPr>
          <a:xfrm>
            <a:off x="548640" y="2377440"/>
            <a:ext cx="3515258" cy="3611880"/>
          </a:xfrm>
          <a:prstGeom prst="roundRect">
            <a:avLst>
              <a:gd name="adj" fmla="val 3121"/>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822960" y="2670048"/>
            <a:ext cx="713232" cy="713232"/>
          </a:xfrm>
          <a:prstGeom prst="roundRect">
            <a:avLst>
              <a:gd name="adj" fmla="val 24000"/>
            </a:avLst>
          </a:prstGeom>
          <a:solidFill>
            <a:schemeClr val="accent2">
              <a:alpha val="14000"/>
            </a:schemeClr>
          </a:solidFill>
          <a:ln/>
        </p:spPr>
      </p:sp>
      <p:pic>
        <p:nvPicPr>
          <p:cNvPr id="8" name="ruler icon" descr="ruler icon">    </p:cNvPr>
          <p:cNvPicPr>
            <a:picLocks noChangeAspect="1"/>
          </p:cNvPicPr>
          <p:nvPr/>
        </p:nvPicPr>
        <p:blipFill>
          <a:blip r:embed="rId1"/>
          <a:stretch>
            <a:fillRect/>
          </a:stretch>
        </p:blipFill>
        <p:spPr>
          <a:xfrm>
            <a:off x="972739" y="2819827"/>
            <a:ext cx="413675" cy="413675"/>
          </a:xfrm>
          <a:prstGeom prst="rect">
            <a:avLst/>
          </a:prstGeom>
        </p:spPr>
      </p:pic>
      <p:sp>
        <p:nvSpPr>
          <p:cNvPr id="9" name="Text 5"/>
          <p:cNvSpPr txBox="1"/>
          <p:nvPr/>
        </p:nvSpPr>
        <p:spPr>
          <a:xfrm>
            <a:off x="822960" y="3566160"/>
            <a:ext cx="2966618" cy="411480"/>
          </a:xfrm>
          <a:prstGeom prst="rect">
            <a:avLst/>
          </a:prstGeom>
          <a:noFill/>
          <a:ln/>
        </p:spPr>
        <p:txBody>
          <a:bodyPr wrap="square" lIns="0" tIns="0" rIns="0" bIns="0" rtlCol="0" anchor="t"/>
          <a:lstStyle/>
          <a:p>
            <a:pPr indent="0" marL="0">
              <a:buNone/>
            </a:pPr>
            <a:r>
              <a:rPr lang="en-IE" sz="2100" b="1" dirty="0">
                <a:solidFill>
                  <a:schemeClr val="tx1"/>
                </a:solidFill>
              </a:rPr>
              <a:t>Consistency</a:t>
            </a:r>
            <a:endParaRPr lang="en-IE" sz="2100" dirty="0"/>
          </a:p>
        </p:txBody>
      </p:sp>
      <p:sp>
        <p:nvSpPr>
          <p:cNvPr id="10" name="Text 6"/>
          <p:cNvSpPr txBox="1"/>
          <p:nvPr/>
        </p:nvSpPr>
        <p:spPr>
          <a:xfrm>
            <a:off x="822960" y="4069080"/>
            <a:ext cx="2966618" cy="1737360"/>
          </a:xfrm>
          <a:prstGeom prst="rect">
            <a:avLst/>
          </a:prstGeom>
          <a:noFill/>
          <a:ln/>
        </p:spPr>
        <p:txBody>
          <a:bodyPr wrap="square" lIns="0" tIns="0" rIns="0" bIns="0" rtlCol="0" anchor="t"/>
          <a:lstStyle/>
          <a:p>
            <a:pPr indent="0" marL="0">
              <a:buNone/>
            </a:pPr>
            <a:r>
              <a:rPr lang="en-IE" sz="1600" dirty="0">
                <a:solidFill>
                  <a:schemeClr val="tx2"/>
                </a:solidFill>
              </a:rPr>
              <a:t>Both methods are sure to have the same name and parameters: calculatePay(), not getPay() in one class and pay() in another.</a:t>
            </a:r>
            <a:endParaRPr lang="en-IE" sz="1600" dirty="0"/>
          </a:p>
        </p:txBody>
      </p:sp>
      <p:sp>
        <p:nvSpPr>
          <p:cNvPr id="11" name="Card"/>
          <p:cNvSpPr/>
          <p:nvPr/>
        </p:nvSpPr>
        <p:spPr>
          <a:xfrm>
            <a:off x="4338218" y="2377440"/>
            <a:ext cx="3515258" cy="3611880"/>
          </a:xfrm>
          <a:prstGeom prst="roundRect">
            <a:avLst>
              <a:gd name="adj" fmla="val 3121"/>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4612538" y="2670048"/>
            <a:ext cx="713232" cy="713232"/>
          </a:xfrm>
          <a:prstGeom prst="roundRect">
            <a:avLst>
              <a:gd name="adj" fmla="val 24000"/>
            </a:avLst>
          </a:prstGeom>
          <a:solidFill>
            <a:schemeClr val="accent3">
              <a:alpha val="14000"/>
            </a:schemeClr>
          </a:solidFill>
          <a:ln/>
        </p:spPr>
      </p:sp>
      <p:pic>
        <p:nvPicPr>
          <p:cNvPr id="13" name="test tube icon" descr="test tube icon">    </p:cNvPr>
          <p:cNvPicPr>
            <a:picLocks noChangeAspect="1"/>
          </p:cNvPicPr>
          <p:nvPr/>
        </p:nvPicPr>
        <p:blipFill>
          <a:blip r:embed="rId2"/>
          <a:stretch>
            <a:fillRect/>
          </a:stretch>
        </p:blipFill>
        <p:spPr>
          <a:xfrm>
            <a:off x="4762317" y="2819827"/>
            <a:ext cx="413675" cy="413675"/>
          </a:xfrm>
          <a:prstGeom prst="rect">
            <a:avLst/>
          </a:prstGeom>
        </p:spPr>
      </p:pic>
      <p:sp>
        <p:nvSpPr>
          <p:cNvPr id="14" name="Text 9"/>
          <p:cNvSpPr txBox="1"/>
          <p:nvPr/>
        </p:nvSpPr>
        <p:spPr>
          <a:xfrm>
            <a:off x="4612538" y="3566160"/>
            <a:ext cx="2966618" cy="411480"/>
          </a:xfrm>
          <a:prstGeom prst="rect">
            <a:avLst/>
          </a:prstGeom>
          <a:noFill/>
          <a:ln/>
        </p:spPr>
        <p:txBody>
          <a:bodyPr wrap="square" lIns="0" tIns="0" rIns="0" bIns="0" rtlCol="0" anchor="t"/>
          <a:lstStyle/>
          <a:p>
            <a:pPr indent="0" marL="0">
              <a:buNone/>
            </a:pPr>
            <a:r>
              <a:rPr lang="en-IE" sz="2100" b="1" dirty="0">
                <a:solidFill>
                  <a:schemeClr val="tx1"/>
                </a:solidFill>
              </a:rPr>
              <a:t>Testing and refactoring</a:t>
            </a:r>
            <a:endParaRPr lang="en-IE" sz="2100" dirty="0"/>
          </a:p>
        </p:txBody>
      </p:sp>
      <p:sp>
        <p:nvSpPr>
          <p:cNvPr id="15" name="Text 10"/>
          <p:cNvSpPr txBox="1"/>
          <p:nvPr/>
        </p:nvSpPr>
        <p:spPr>
          <a:xfrm>
            <a:off x="4612538" y="4069080"/>
            <a:ext cx="2966618" cy="1737360"/>
          </a:xfrm>
          <a:prstGeom prst="rect">
            <a:avLst/>
          </a:prstGeom>
          <a:noFill/>
          <a:ln/>
        </p:spPr>
        <p:txBody>
          <a:bodyPr wrap="square" lIns="0" tIns="0" rIns="0" bIns="0" rtlCol="0" anchor="t"/>
          <a:lstStyle/>
          <a:p>
            <a:pPr indent="0" marL="0">
              <a:buNone/>
            </a:pPr>
            <a:r>
              <a:rPr lang="en-IE" sz="1600" dirty="0">
                <a:solidFill>
                  <a:schemeClr val="tx2"/>
                </a:solidFill>
              </a:rPr>
              <a:t>With the same name and parameters everywhere, the code is easier to test and to change later.</a:t>
            </a:r>
            <a:endParaRPr lang="en-IE" sz="1600" dirty="0"/>
          </a:p>
        </p:txBody>
      </p:sp>
      <p:sp>
        <p:nvSpPr>
          <p:cNvPr id="16" name="Card"/>
          <p:cNvSpPr/>
          <p:nvPr/>
        </p:nvSpPr>
        <p:spPr>
          <a:xfrm>
            <a:off x="8127797" y="2377440"/>
            <a:ext cx="3515258" cy="3611880"/>
          </a:xfrm>
          <a:prstGeom prst="roundRect">
            <a:avLst>
              <a:gd name="adj" fmla="val 3121"/>
            </a:avLst>
          </a:prstGeom>
          <a:solidFill>
            <a:schemeClr val="bg1"/>
          </a:solidFill>
          <a:ln/>
          <a:effectLst>
            <a:outerShdw sx="100000" sy="100000" kx="0" ky="0" algn="bl" rotWithShape="0" blurRad="114300" dist="31750" dir="5400000">
              <a:srgbClr val="1D2433">
                <a:alpha val="12000"/>
              </a:srgbClr>
            </a:outerShdw>
          </a:effectLst>
        </p:spPr>
      </p:sp>
      <p:sp>
        <p:nvSpPr>
          <p:cNvPr id="17" name="Icon tile"/>
          <p:cNvSpPr/>
          <p:nvPr/>
        </p:nvSpPr>
        <p:spPr>
          <a:xfrm>
            <a:off x="8402117" y="2670048"/>
            <a:ext cx="713232" cy="713232"/>
          </a:xfrm>
          <a:prstGeom prst="roundRect">
            <a:avLst>
              <a:gd name="adj" fmla="val 24000"/>
            </a:avLst>
          </a:prstGeom>
          <a:solidFill>
            <a:schemeClr val="accent1">
              <a:alpha val="14000"/>
            </a:schemeClr>
          </a:solidFill>
          <a:ln/>
        </p:spPr>
      </p:sp>
      <p:pic>
        <p:nvPicPr>
          <p:cNvPr id="18" name="users three icon" descr="users three icon">    </p:cNvPr>
          <p:cNvPicPr>
            <a:picLocks noChangeAspect="1"/>
          </p:cNvPicPr>
          <p:nvPr/>
        </p:nvPicPr>
        <p:blipFill>
          <a:blip r:embed="rId3"/>
          <a:stretch>
            <a:fillRect/>
          </a:stretch>
        </p:blipFill>
        <p:spPr>
          <a:xfrm>
            <a:off x="8551896" y="2819827"/>
            <a:ext cx="413675" cy="413675"/>
          </a:xfrm>
          <a:prstGeom prst="rect">
            <a:avLst/>
          </a:prstGeom>
        </p:spPr>
      </p:pic>
      <p:sp>
        <p:nvSpPr>
          <p:cNvPr id="19" name="Text 13"/>
          <p:cNvSpPr txBox="1"/>
          <p:nvPr/>
        </p:nvSpPr>
        <p:spPr>
          <a:xfrm>
            <a:off x="8402117" y="3566160"/>
            <a:ext cx="2966618" cy="411480"/>
          </a:xfrm>
          <a:prstGeom prst="rect">
            <a:avLst/>
          </a:prstGeom>
          <a:noFill/>
          <a:ln/>
        </p:spPr>
        <p:txBody>
          <a:bodyPr wrap="square" lIns="0" tIns="0" rIns="0" bIns="0" rtlCol="0" anchor="t"/>
          <a:lstStyle/>
          <a:p>
            <a:pPr indent="0" marL="0">
              <a:buNone/>
            </a:pPr>
            <a:r>
              <a:rPr lang="en-IE" sz="2100" b="1" dirty="0">
                <a:solidFill>
                  <a:schemeClr val="tx1"/>
                </a:solidFill>
              </a:rPr>
              <a:t>Working together</a:t>
            </a:r>
            <a:endParaRPr lang="en-IE" sz="2100" dirty="0"/>
          </a:p>
        </p:txBody>
      </p:sp>
      <p:sp>
        <p:nvSpPr>
          <p:cNvPr id="20" name="Text 14"/>
          <p:cNvSpPr txBox="1"/>
          <p:nvPr/>
        </p:nvSpPr>
        <p:spPr>
          <a:xfrm>
            <a:off x="8402117" y="4069080"/>
            <a:ext cx="2966618" cy="1737360"/>
          </a:xfrm>
          <a:prstGeom prst="rect">
            <a:avLst/>
          </a:prstGeom>
          <a:noFill/>
          <a:ln/>
        </p:spPr>
        <p:txBody>
          <a:bodyPr wrap="square" lIns="0" tIns="0" rIns="0" bIns="0" rtlCol="0" anchor="t"/>
          <a:lstStyle/>
          <a:p>
            <a:pPr indent="0" marL="0">
              <a:buNone/>
            </a:pPr>
            <a:r>
              <a:rPr lang="en-IE" sz="1600" dirty="0">
                <a:solidFill>
                  <a:schemeClr val="tx2"/>
                </a:solidFill>
              </a:rPr>
              <a:t>In future you’ll write code that other people are working on too. The abstract method tells them what to write.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61</a:t>
            </a:fld>
            <a:endParaRPr lang="en-IE"/>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declare </a:t>
            </a:r>
            <a:r>
              <a:rPr lang="en-IE" sz="2800" b="1" dirty="0">
                <a:solidFill>
                  <a:schemeClr val="accent2"/>
                </a:solidFill>
                <a:latin typeface="Consolas" pitchFamily="34" charset="0"/>
                <a:ea typeface="Consolas" pitchFamily="34" charset="-122"/>
                <a:cs typeface="Consolas" pitchFamily="34" charset="-120"/>
              </a:rPr>
              <a:t>calculatePay()</a:t>
            </a:r>
            <a:r>
              <a:rPr lang="en-IE" sz="2800" b="1" dirty="0">
                <a:solidFill>
                  <a:schemeClr val="tx1"/>
                </a:solidFill>
              </a:rPr>
              <a:t> as abstract in Employee?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the compiler can check each pay calculation is correct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every subclass uses the same name and parameters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that we are able to create Employee objects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So that the subclasses don’t need their own version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62</a:t>
            </a:fld>
            <a:endParaRPr lang="en-I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declare </a:t>
            </a:r>
            <a:r>
              <a:rPr lang="en-IE" sz="2000" b="1" dirty="0">
                <a:solidFill>
                  <a:schemeClr val="tx2"/>
                </a:solidFill>
                <a:latin typeface="Consolas" pitchFamily="34" charset="0"/>
                <a:ea typeface="Consolas" pitchFamily="34" charset="-122"/>
                <a:cs typeface="Consolas" pitchFamily="34" charset="-120"/>
              </a:rPr>
              <a:t>calculatePay()</a:t>
            </a:r>
            <a:r>
              <a:rPr lang="en-IE" sz="2000" b="1" dirty="0">
                <a:solidFill>
                  <a:schemeClr val="tx2"/>
                </a:solidFill>
              </a:rPr>
              <a:t> as abstract in Employee?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the compiler can check each pay calculation is correct</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So every subclass uses the same name and parameters</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that we are able to create Employee objects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So that the subclasses don’t need their own version</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Mainly consistency. Every concrete subclass must have a calculatePay() with the same name and parameters, which makes testing and refactoring easier, especially when other people work on the code too. The compiler only checks that the method exists, not that the sum is right.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63</a:t>
            </a:fld>
            <a:endParaRPr lang="en-IE"/>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04</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Inheritance and access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What a subclass can and can’t see</a:t>
            </a:r>
            <a:endParaRPr lang="en-IE" sz="2000" dirty="0"/>
          </a:p>
        </p:txBody>
      </p:sp>
      <p:sp>
        <p:nvSpPr>
          <p:cNvPr id="5" name="Topic chip"/>
          <p:cNvSpPr/>
          <p:nvPr/>
        </p:nvSpPr>
        <p:spPr>
          <a:xfrm>
            <a:off x="822960" y="4846320"/>
            <a:ext cx="169672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Own attributes</a:t>
            </a:r>
            <a:endParaRPr lang="en-IE" sz="1400" dirty="0"/>
          </a:p>
        </p:txBody>
      </p:sp>
      <p:sp>
        <p:nvSpPr>
          <p:cNvPr id="6" name="Topic chip"/>
          <p:cNvSpPr/>
          <p:nvPr/>
        </p:nvSpPr>
        <p:spPr>
          <a:xfrm>
            <a:off x="2665984"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private</a:t>
            </a:r>
            <a:endParaRPr lang="en-IE" sz="1400" dirty="0"/>
          </a:p>
        </p:txBody>
      </p:sp>
      <p:sp>
        <p:nvSpPr>
          <p:cNvPr id="7" name="Topic chip"/>
          <p:cNvSpPr/>
          <p:nvPr/>
        </p:nvSpPr>
        <p:spPr>
          <a:xfrm>
            <a:off x="3861816"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protected</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 AND ACCESS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Each subclass adds its own attributes</a:t>
            </a:r>
            <a:endParaRPr lang="en-IE" sz="3400" dirty="0"/>
          </a:p>
        </p:txBody>
      </p:sp>
      <p:sp>
        <p:nvSpPr>
          <p:cNvPr id="5" name="Text 2"/>
          <p:cNvSpPr txBox="1"/>
          <p:nvPr/>
        </p:nvSpPr>
        <p:spPr>
          <a:xfrm>
            <a:off x="548640" y="1783080"/>
            <a:ext cx="4572000" cy="274320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The subclasses have extra attributes, such as salary and bonus, that are unique to each child.</a:t>
            </a:r>
            <a:endParaRPr lang="en-IE" sz="1800" dirty="0"/>
          </a:p>
          <a:p>
            <a:pPr marL="228600" indent="-228600">
              <a:buSzPct val="100000"/>
              <a:buChar char="•"/>
            </a:pPr>
            <a:r>
              <a:rPr lang="en-IE" sz="1800" dirty="0">
                <a:solidFill>
                  <a:schemeClr val="tx1"/>
                </a:solidFill>
              </a:rPr>
              <a:t>Every FullTimeEmployee object already has a name and id from Employee, so we don’t declare them again.</a:t>
            </a:r>
            <a:endParaRPr lang="en-IE" sz="1800" dirty="0"/>
          </a:p>
        </p:txBody>
      </p:sp>
      <p:sp>
        <p:nvSpPr>
          <p:cNvPr id="6" name="A FullTimeEmployee object"/>
          <p:cNvSpPr/>
          <p:nvPr/>
        </p:nvSpPr>
        <p:spPr>
          <a:xfrm>
            <a:off x="5440680" y="1783080"/>
            <a:ext cx="2971800" cy="4069080"/>
          </a:xfrm>
          <a:prstGeom prst="roundRect">
            <a:avLst>
              <a:gd name="adj" fmla="val 3692"/>
            </a:avLst>
          </a:prstGeom>
          <a:solidFill>
            <a:schemeClr val="bg1"/>
          </a:solidFill>
          <a:ln w="15875">
            <a:solidFill>
              <a:schemeClr val="accent1"/>
            </a:solidFill>
            <a:prstDash val="solid"/>
          </a:ln>
          <a:effectLst>
            <a:outerShdw sx="100000" sy="100000" kx="0" ky="0" algn="bl" rotWithShape="0" blurRad="114300" dist="31750" dir="5400000">
              <a:srgbClr val="1D2433">
                <a:alpha val="12000"/>
              </a:srgbClr>
            </a:outerShdw>
          </a:effectLst>
        </p:spPr>
      </p:sp>
      <p:sp>
        <p:nvSpPr>
          <p:cNvPr id="7" name="Text 4"/>
          <p:cNvSpPr txBox="1"/>
          <p:nvPr/>
        </p:nvSpPr>
        <p:spPr>
          <a:xfrm>
            <a:off x="5669280" y="1965960"/>
            <a:ext cx="2514600" cy="365760"/>
          </a:xfrm>
          <a:prstGeom prst="rect">
            <a:avLst/>
          </a:prstGeom>
          <a:noFill/>
          <a:ln/>
        </p:spPr>
        <p:txBody>
          <a:bodyPr wrap="square" lIns="0" tIns="0" rIns="0" bIns="0" rtlCol="0" anchor="t"/>
          <a:lstStyle/>
          <a:p>
            <a:pPr indent="0" marL="0">
              <a:buNone/>
            </a:pPr>
            <a:r>
              <a:rPr lang="en-IE" sz="1500" b="1" dirty="0">
                <a:solidFill>
                  <a:schemeClr val="accent1"/>
                </a:solidFill>
              </a:rPr>
              <a:t>A FullTimeEmployee object</a:t>
            </a:r>
            <a:endParaRPr lang="en-IE" sz="1500" dirty="0"/>
          </a:p>
        </p:txBody>
      </p:sp>
      <p:sp>
        <p:nvSpPr>
          <p:cNvPr id="8" name="Inherited"/>
          <p:cNvSpPr/>
          <p:nvPr/>
        </p:nvSpPr>
        <p:spPr>
          <a:xfrm>
            <a:off x="5669280" y="2514600"/>
            <a:ext cx="2514600" cy="1371600"/>
          </a:xfrm>
          <a:prstGeom prst="roundRect">
            <a:avLst>
              <a:gd name="adj" fmla="val 5333"/>
            </a:avLst>
          </a:prstGeom>
          <a:solidFill>
            <a:schemeClr val="bg2"/>
          </a:solidFill>
          <a:ln/>
        </p:spPr>
      </p:sp>
      <p:sp>
        <p:nvSpPr>
          <p:cNvPr id="9" name="Text 6"/>
          <p:cNvSpPr txBox="1"/>
          <p:nvPr/>
        </p:nvSpPr>
        <p:spPr>
          <a:xfrm>
            <a:off x="5806440" y="2587752"/>
            <a:ext cx="2240280" cy="274320"/>
          </a:xfrm>
          <a:prstGeom prst="rect">
            <a:avLst/>
          </a:prstGeom>
          <a:noFill/>
          <a:ln/>
        </p:spPr>
        <p:txBody>
          <a:bodyPr wrap="square" lIns="0" tIns="0" rIns="0" bIns="0" rtlCol="0" anchor="t"/>
          <a:lstStyle/>
          <a:p>
            <a:pPr indent="0" marL="0">
              <a:buNone/>
            </a:pPr>
            <a:r>
              <a:rPr lang="en-IE" sz="1200" i="1" dirty="0">
                <a:solidFill>
                  <a:schemeClr val="tx2"/>
                </a:solidFill>
              </a:rPr>
              <a:t>from Employee</a:t>
            </a:r>
            <a:endParaRPr lang="en-IE" sz="1200" dirty="0"/>
          </a:p>
        </p:txBody>
      </p:sp>
      <p:sp>
        <p:nvSpPr>
          <p:cNvPr id="10" name="Text 7"/>
          <p:cNvSpPr txBox="1"/>
          <p:nvPr/>
        </p:nvSpPr>
        <p:spPr>
          <a:xfrm>
            <a:off x="5806440" y="2926080"/>
            <a:ext cx="2240280" cy="365760"/>
          </a:xfrm>
          <a:prstGeom prst="rect">
            <a:avLst/>
          </a:prstGeom>
          <a:noFill/>
          <a:ln/>
        </p:spPr>
        <p:txBody>
          <a:bodyPr wrap="square" lIns="0" tIns="0" rIns="0" bIns="0" rtlCol="0" anchor="t"/>
          <a:lstStyle/>
          <a:p>
            <a:pPr indent="0" marL="0">
              <a:buNone/>
            </a:pPr>
            <a:r>
              <a:rPr lang="en-IE" sz="1600" dirty="0">
                <a:solidFill>
                  <a:schemeClr val="tx2"/>
                </a:solidFill>
                <a:latin typeface="Consolas" pitchFamily="34" charset="0"/>
                <a:ea typeface="Consolas" pitchFamily="34" charset="-122"/>
                <a:cs typeface="Consolas" pitchFamily="34" charset="-120"/>
              </a:rPr>
              <a:t>name</a:t>
            </a:r>
            <a:endParaRPr lang="en-IE" sz="1600" dirty="0"/>
          </a:p>
        </p:txBody>
      </p:sp>
      <p:sp>
        <p:nvSpPr>
          <p:cNvPr id="11" name="Text 8"/>
          <p:cNvSpPr txBox="1"/>
          <p:nvPr/>
        </p:nvSpPr>
        <p:spPr>
          <a:xfrm>
            <a:off x="5806440" y="3337560"/>
            <a:ext cx="2240280" cy="365760"/>
          </a:xfrm>
          <a:prstGeom prst="rect">
            <a:avLst/>
          </a:prstGeom>
          <a:noFill/>
          <a:ln/>
        </p:spPr>
        <p:txBody>
          <a:bodyPr wrap="square" lIns="0" tIns="0" rIns="0" bIns="0" rtlCol="0" anchor="t"/>
          <a:lstStyle/>
          <a:p>
            <a:pPr indent="0" marL="0">
              <a:buNone/>
            </a:pPr>
            <a:r>
              <a:rPr lang="en-IE" sz="1600" dirty="0">
                <a:solidFill>
                  <a:schemeClr val="tx2"/>
                </a:solidFill>
                <a:latin typeface="Consolas" pitchFamily="34" charset="0"/>
                <a:ea typeface="Consolas" pitchFamily="34" charset="-122"/>
                <a:cs typeface="Consolas" pitchFamily="34" charset="-120"/>
              </a:rPr>
              <a:t>id</a:t>
            </a:r>
            <a:endParaRPr lang="en-IE" sz="1600" dirty="0"/>
          </a:p>
        </p:txBody>
      </p:sp>
      <p:sp>
        <p:nvSpPr>
          <p:cNvPr id="12" name="Own"/>
          <p:cNvSpPr/>
          <p:nvPr/>
        </p:nvSpPr>
        <p:spPr>
          <a:xfrm>
            <a:off x="5669280" y="4069080"/>
            <a:ext cx="2514600" cy="1508760"/>
          </a:xfrm>
          <a:prstGeom prst="roundRect">
            <a:avLst>
              <a:gd name="adj" fmla="val 4848"/>
            </a:avLst>
          </a:prstGeom>
          <a:solidFill>
            <a:schemeClr val="accent1">
              <a:alpha val="12000"/>
            </a:schemeClr>
          </a:solidFill>
          <a:ln/>
        </p:spPr>
      </p:sp>
      <p:sp>
        <p:nvSpPr>
          <p:cNvPr id="13" name="Text 10"/>
          <p:cNvSpPr txBox="1"/>
          <p:nvPr/>
        </p:nvSpPr>
        <p:spPr>
          <a:xfrm>
            <a:off x="5806440" y="4142232"/>
            <a:ext cx="2240280" cy="274320"/>
          </a:xfrm>
          <a:prstGeom prst="rect">
            <a:avLst/>
          </a:prstGeom>
          <a:noFill/>
          <a:ln/>
        </p:spPr>
        <p:txBody>
          <a:bodyPr wrap="square" lIns="0" tIns="0" rIns="0" bIns="0" rtlCol="0" anchor="t"/>
          <a:lstStyle/>
          <a:p>
            <a:pPr indent="0" marL="0">
              <a:buNone/>
            </a:pPr>
            <a:r>
              <a:rPr lang="en-IE" sz="1200" i="1" dirty="0">
                <a:solidFill>
                  <a:schemeClr val="accent1"/>
                </a:solidFill>
              </a:rPr>
              <a:t>declared in the subclass</a:t>
            </a:r>
            <a:endParaRPr lang="en-IE" sz="1200" dirty="0"/>
          </a:p>
        </p:txBody>
      </p:sp>
      <p:sp>
        <p:nvSpPr>
          <p:cNvPr id="14" name="Text 11"/>
          <p:cNvSpPr txBox="1"/>
          <p:nvPr/>
        </p:nvSpPr>
        <p:spPr>
          <a:xfrm>
            <a:off x="5806440" y="4480560"/>
            <a:ext cx="2240280" cy="365760"/>
          </a:xfrm>
          <a:prstGeom prst="rect">
            <a:avLst/>
          </a:prstGeom>
          <a:noFill/>
          <a:ln/>
        </p:spPr>
        <p:txBody>
          <a:bodyPr wrap="square" lIns="0" tIns="0" rIns="0" bIns="0" rtlCol="0" anchor="t"/>
          <a:lstStyle/>
          <a:p>
            <a:pPr indent="0" marL="0">
              <a:buNone/>
            </a:pPr>
            <a:r>
              <a:rPr lang="en-IE" sz="1600" b="1" dirty="0">
                <a:solidFill>
                  <a:schemeClr val="tx1"/>
                </a:solidFill>
                <a:latin typeface="Consolas" pitchFamily="34" charset="0"/>
                <a:ea typeface="Consolas" pitchFamily="34" charset="-122"/>
                <a:cs typeface="Consolas" pitchFamily="34" charset="-120"/>
              </a:rPr>
              <a:t>salary</a:t>
            </a:r>
            <a:endParaRPr lang="en-IE" sz="1600" dirty="0"/>
          </a:p>
        </p:txBody>
      </p:sp>
      <p:sp>
        <p:nvSpPr>
          <p:cNvPr id="15" name="Text 12"/>
          <p:cNvSpPr txBox="1"/>
          <p:nvPr/>
        </p:nvSpPr>
        <p:spPr>
          <a:xfrm>
            <a:off x="5806440" y="4892040"/>
            <a:ext cx="2240280" cy="365760"/>
          </a:xfrm>
          <a:prstGeom prst="rect">
            <a:avLst/>
          </a:prstGeom>
          <a:noFill/>
          <a:ln/>
        </p:spPr>
        <p:txBody>
          <a:bodyPr wrap="square" lIns="0" tIns="0" rIns="0" bIns="0" rtlCol="0" anchor="t"/>
          <a:lstStyle/>
          <a:p>
            <a:pPr indent="0" marL="0">
              <a:buNone/>
            </a:pPr>
            <a:r>
              <a:rPr lang="en-IE" sz="1600" b="1" dirty="0">
                <a:solidFill>
                  <a:schemeClr val="tx1"/>
                </a:solidFill>
                <a:latin typeface="Consolas" pitchFamily="34" charset="0"/>
                <a:ea typeface="Consolas" pitchFamily="34" charset="-122"/>
                <a:cs typeface="Consolas" pitchFamily="34" charset="-120"/>
              </a:rPr>
              <a:t>bonus</a:t>
            </a:r>
            <a:endParaRPr lang="en-IE" sz="1600" dirty="0"/>
          </a:p>
        </p:txBody>
      </p:sp>
      <p:sp>
        <p:nvSpPr>
          <p:cNvPr id="16" name="A PartTimeEmployee object"/>
          <p:cNvSpPr/>
          <p:nvPr/>
        </p:nvSpPr>
        <p:spPr>
          <a:xfrm>
            <a:off x="8613648" y="1783080"/>
            <a:ext cx="2971800" cy="4069080"/>
          </a:xfrm>
          <a:prstGeom prst="roundRect">
            <a:avLst>
              <a:gd name="adj" fmla="val 3692"/>
            </a:avLst>
          </a:prstGeom>
          <a:solidFill>
            <a:schemeClr val="bg1"/>
          </a:solidFill>
          <a:ln w="15875">
            <a:solidFill>
              <a:schemeClr val="accent1"/>
            </a:solidFill>
            <a:prstDash val="solid"/>
          </a:ln>
          <a:effectLst>
            <a:outerShdw sx="100000" sy="100000" kx="0" ky="0" algn="bl" rotWithShape="0" blurRad="114300" dist="31750" dir="5400000">
              <a:srgbClr val="1D2433">
                <a:alpha val="12000"/>
              </a:srgbClr>
            </a:outerShdw>
          </a:effectLst>
        </p:spPr>
      </p:sp>
      <p:sp>
        <p:nvSpPr>
          <p:cNvPr id="17" name="Text 14"/>
          <p:cNvSpPr txBox="1"/>
          <p:nvPr/>
        </p:nvSpPr>
        <p:spPr>
          <a:xfrm>
            <a:off x="8842248" y="1965960"/>
            <a:ext cx="2514600" cy="365760"/>
          </a:xfrm>
          <a:prstGeom prst="rect">
            <a:avLst/>
          </a:prstGeom>
          <a:noFill/>
          <a:ln/>
        </p:spPr>
        <p:txBody>
          <a:bodyPr wrap="square" lIns="0" tIns="0" rIns="0" bIns="0" rtlCol="0" anchor="t"/>
          <a:lstStyle/>
          <a:p>
            <a:pPr indent="0" marL="0">
              <a:buNone/>
            </a:pPr>
            <a:r>
              <a:rPr lang="en-IE" sz="1500" b="1" dirty="0">
                <a:solidFill>
                  <a:schemeClr val="accent1"/>
                </a:solidFill>
              </a:rPr>
              <a:t>A PartTimeEmployee object</a:t>
            </a:r>
            <a:endParaRPr lang="en-IE" sz="1500" dirty="0"/>
          </a:p>
        </p:txBody>
      </p:sp>
      <p:sp>
        <p:nvSpPr>
          <p:cNvPr id="18" name="Inherited"/>
          <p:cNvSpPr/>
          <p:nvPr/>
        </p:nvSpPr>
        <p:spPr>
          <a:xfrm>
            <a:off x="8842248" y="2514600"/>
            <a:ext cx="2514600" cy="1371600"/>
          </a:xfrm>
          <a:prstGeom prst="roundRect">
            <a:avLst>
              <a:gd name="adj" fmla="val 5333"/>
            </a:avLst>
          </a:prstGeom>
          <a:solidFill>
            <a:schemeClr val="bg2"/>
          </a:solidFill>
          <a:ln/>
        </p:spPr>
      </p:sp>
      <p:sp>
        <p:nvSpPr>
          <p:cNvPr id="19" name="Text 16"/>
          <p:cNvSpPr txBox="1"/>
          <p:nvPr/>
        </p:nvSpPr>
        <p:spPr>
          <a:xfrm>
            <a:off x="8979408" y="2587752"/>
            <a:ext cx="2240280" cy="274320"/>
          </a:xfrm>
          <a:prstGeom prst="rect">
            <a:avLst/>
          </a:prstGeom>
          <a:noFill/>
          <a:ln/>
        </p:spPr>
        <p:txBody>
          <a:bodyPr wrap="square" lIns="0" tIns="0" rIns="0" bIns="0" rtlCol="0" anchor="t"/>
          <a:lstStyle/>
          <a:p>
            <a:pPr indent="0" marL="0">
              <a:buNone/>
            </a:pPr>
            <a:r>
              <a:rPr lang="en-IE" sz="1200" i="1" dirty="0">
                <a:solidFill>
                  <a:schemeClr val="tx2"/>
                </a:solidFill>
              </a:rPr>
              <a:t>from Employee</a:t>
            </a:r>
            <a:endParaRPr lang="en-IE" sz="1200" dirty="0"/>
          </a:p>
        </p:txBody>
      </p:sp>
      <p:sp>
        <p:nvSpPr>
          <p:cNvPr id="20" name="Text 17"/>
          <p:cNvSpPr txBox="1"/>
          <p:nvPr/>
        </p:nvSpPr>
        <p:spPr>
          <a:xfrm>
            <a:off x="8979408" y="2926080"/>
            <a:ext cx="2240280" cy="365760"/>
          </a:xfrm>
          <a:prstGeom prst="rect">
            <a:avLst/>
          </a:prstGeom>
          <a:noFill/>
          <a:ln/>
        </p:spPr>
        <p:txBody>
          <a:bodyPr wrap="square" lIns="0" tIns="0" rIns="0" bIns="0" rtlCol="0" anchor="t"/>
          <a:lstStyle/>
          <a:p>
            <a:pPr indent="0" marL="0">
              <a:buNone/>
            </a:pPr>
            <a:r>
              <a:rPr lang="en-IE" sz="1600" dirty="0">
                <a:solidFill>
                  <a:schemeClr val="tx2"/>
                </a:solidFill>
                <a:latin typeface="Consolas" pitchFamily="34" charset="0"/>
                <a:ea typeface="Consolas" pitchFamily="34" charset="-122"/>
                <a:cs typeface="Consolas" pitchFamily="34" charset="-120"/>
              </a:rPr>
              <a:t>name</a:t>
            </a:r>
            <a:endParaRPr lang="en-IE" sz="1600" dirty="0"/>
          </a:p>
        </p:txBody>
      </p:sp>
      <p:sp>
        <p:nvSpPr>
          <p:cNvPr id="21" name="Text 18"/>
          <p:cNvSpPr txBox="1"/>
          <p:nvPr/>
        </p:nvSpPr>
        <p:spPr>
          <a:xfrm>
            <a:off x="8979408" y="3337560"/>
            <a:ext cx="2240280" cy="365760"/>
          </a:xfrm>
          <a:prstGeom prst="rect">
            <a:avLst/>
          </a:prstGeom>
          <a:noFill/>
          <a:ln/>
        </p:spPr>
        <p:txBody>
          <a:bodyPr wrap="square" lIns="0" tIns="0" rIns="0" bIns="0" rtlCol="0" anchor="t"/>
          <a:lstStyle/>
          <a:p>
            <a:pPr indent="0" marL="0">
              <a:buNone/>
            </a:pPr>
            <a:r>
              <a:rPr lang="en-IE" sz="1600" dirty="0">
                <a:solidFill>
                  <a:schemeClr val="tx2"/>
                </a:solidFill>
                <a:latin typeface="Consolas" pitchFamily="34" charset="0"/>
                <a:ea typeface="Consolas" pitchFamily="34" charset="-122"/>
                <a:cs typeface="Consolas" pitchFamily="34" charset="-120"/>
              </a:rPr>
              <a:t>id</a:t>
            </a:r>
            <a:endParaRPr lang="en-IE" sz="1600" dirty="0"/>
          </a:p>
        </p:txBody>
      </p:sp>
      <p:sp>
        <p:nvSpPr>
          <p:cNvPr id="22" name="Own"/>
          <p:cNvSpPr/>
          <p:nvPr/>
        </p:nvSpPr>
        <p:spPr>
          <a:xfrm>
            <a:off x="8842248" y="4069080"/>
            <a:ext cx="2514600" cy="1508760"/>
          </a:xfrm>
          <a:prstGeom prst="roundRect">
            <a:avLst>
              <a:gd name="adj" fmla="val 4848"/>
            </a:avLst>
          </a:prstGeom>
          <a:solidFill>
            <a:schemeClr val="accent1">
              <a:alpha val="12000"/>
            </a:schemeClr>
          </a:solidFill>
          <a:ln/>
        </p:spPr>
      </p:sp>
      <p:sp>
        <p:nvSpPr>
          <p:cNvPr id="23" name="Text 20"/>
          <p:cNvSpPr txBox="1"/>
          <p:nvPr/>
        </p:nvSpPr>
        <p:spPr>
          <a:xfrm>
            <a:off x="8979408" y="4142232"/>
            <a:ext cx="2240280" cy="274320"/>
          </a:xfrm>
          <a:prstGeom prst="rect">
            <a:avLst/>
          </a:prstGeom>
          <a:noFill/>
          <a:ln/>
        </p:spPr>
        <p:txBody>
          <a:bodyPr wrap="square" lIns="0" tIns="0" rIns="0" bIns="0" rtlCol="0" anchor="t"/>
          <a:lstStyle/>
          <a:p>
            <a:pPr indent="0" marL="0">
              <a:buNone/>
            </a:pPr>
            <a:r>
              <a:rPr lang="en-IE" sz="1200" i="1" dirty="0">
                <a:solidFill>
                  <a:schemeClr val="accent1"/>
                </a:solidFill>
              </a:rPr>
              <a:t>declared in the subclass</a:t>
            </a:r>
            <a:endParaRPr lang="en-IE" sz="1200" dirty="0"/>
          </a:p>
        </p:txBody>
      </p:sp>
      <p:sp>
        <p:nvSpPr>
          <p:cNvPr id="24" name="Text 21"/>
          <p:cNvSpPr txBox="1"/>
          <p:nvPr/>
        </p:nvSpPr>
        <p:spPr>
          <a:xfrm>
            <a:off x="8979408" y="4480560"/>
            <a:ext cx="2240280" cy="365760"/>
          </a:xfrm>
          <a:prstGeom prst="rect">
            <a:avLst/>
          </a:prstGeom>
          <a:noFill/>
          <a:ln/>
        </p:spPr>
        <p:txBody>
          <a:bodyPr wrap="square" lIns="0" tIns="0" rIns="0" bIns="0" rtlCol="0" anchor="t"/>
          <a:lstStyle/>
          <a:p>
            <a:pPr indent="0" marL="0">
              <a:buNone/>
            </a:pPr>
            <a:r>
              <a:rPr lang="en-IE" sz="1600" b="1" dirty="0">
                <a:solidFill>
                  <a:schemeClr val="tx1"/>
                </a:solidFill>
                <a:latin typeface="Consolas" pitchFamily="34" charset="0"/>
                <a:ea typeface="Consolas" pitchFamily="34" charset="-122"/>
                <a:cs typeface="Consolas" pitchFamily="34" charset="-120"/>
              </a:rPr>
              <a:t>hours</a:t>
            </a:r>
            <a:endParaRPr lang="en-IE" sz="1600" dirty="0"/>
          </a:p>
        </p:txBody>
      </p:sp>
      <p:sp>
        <p:nvSpPr>
          <p:cNvPr id="25" name="Text 22"/>
          <p:cNvSpPr txBox="1"/>
          <p:nvPr/>
        </p:nvSpPr>
        <p:spPr>
          <a:xfrm>
            <a:off x="8979408" y="4892040"/>
            <a:ext cx="2240280" cy="365760"/>
          </a:xfrm>
          <a:prstGeom prst="rect">
            <a:avLst/>
          </a:prstGeom>
          <a:noFill/>
          <a:ln/>
        </p:spPr>
        <p:txBody>
          <a:bodyPr wrap="square" lIns="0" tIns="0" rIns="0" bIns="0" rtlCol="0" anchor="t"/>
          <a:lstStyle/>
          <a:p>
            <a:pPr indent="0" marL="0">
              <a:buNone/>
            </a:pPr>
            <a:r>
              <a:rPr lang="en-IE" sz="1600" b="1" dirty="0">
                <a:solidFill>
                  <a:schemeClr val="tx1"/>
                </a:solidFill>
                <a:latin typeface="Consolas" pitchFamily="34" charset="0"/>
                <a:ea typeface="Consolas" pitchFamily="34" charset="-122"/>
                <a:cs typeface="Consolas" pitchFamily="34" charset="-120"/>
              </a:rPr>
              <a:t>payRate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65</a:t>
            </a:fld>
            <a:endParaRPr lang="en-I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Attributes in subclasses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FullTimeEmployee extends Employee, which already declares name and id. Which attributes should FullTimeEmployee declare?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salary and bonus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name, id, salary and bonus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name and id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None, because subclasses can’t add any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66</a:t>
            </a:fld>
            <a:endParaRPr lang="en-I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Attributes in subclasses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FullTimeEmployee extends Employee, which already declares name and id. Which attributes should FullTimeEmployee declare?</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Only salary and bonus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name, id, salary and bonus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name and id</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None, because subclasses can’t add any</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Employee already declares name and id, so FullTimeEmployee doesn’t declare them again. It only declares what is unique to it: salary and bonus.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67</a:t>
            </a:fld>
            <a:endParaRPr lang="en-IE"/>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 AND ACCESS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Private attributes stay private</a:t>
            </a:r>
            <a:endParaRPr lang="en-IE" sz="3400" dirty="0"/>
          </a:p>
        </p:txBody>
      </p:sp>
      <p:sp>
        <p:nvSpPr>
          <p:cNvPr id="5" name="Text 2"/>
          <p:cNvSpPr txBox="1"/>
          <p:nvPr/>
        </p:nvSpPr>
        <p:spPr>
          <a:xfrm>
            <a:off x="548640" y="1783080"/>
            <a:ext cx="4846320" cy="292608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Private attributes in the parent are not visible in the child.</a:t>
            </a:r>
            <a:endParaRPr lang="en-IE" sz="1800" dirty="0"/>
          </a:p>
          <a:p>
            <a:pPr marL="228600" indent="-228600">
              <a:spcAft>
                <a:spcPts val="1200"/>
              </a:spcAft>
              <a:buSzPct val="100000"/>
              <a:buChar char="•"/>
            </a:pPr>
            <a:r>
              <a:rPr lang="en-IE" sz="1800" dirty="0">
                <a:solidFill>
                  <a:schemeClr val="tx1"/>
                </a:solidFill>
              </a:rPr>
              <a:t>To use them, the child goes through the parent’s public getters and setters.</a:t>
            </a:r>
            <a:endParaRPr lang="en-IE" sz="1800" dirty="0"/>
          </a:p>
          <a:p>
            <a:pPr marL="228600" indent="-228600">
              <a:buSzPct val="100000"/>
              <a:buChar char="•"/>
            </a:pPr>
            <a:r>
              <a:rPr lang="en-IE" sz="1800" dirty="0">
                <a:solidFill>
                  <a:schemeClr val="tx1"/>
                </a:solidFill>
              </a:rPr>
              <a:t>The other option is to make the attribute protected (next).</a:t>
            </a:r>
            <a:endParaRPr lang="en-IE" sz="1800" dirty="0"/>
          </a:p>
        </p:txBody>
      </p:sp>
      <p:sp>
        <p:nvSpPr>
          <p:cNvPr id="6" name="Private in child card"/>
          <p:cNvSpPr/>
          <p:nvPr/>
        </p:nvSpPr>
        <p:spPr>
          <a:xfrm>
            <a:off x="5760720" y="1783080"/>
            <a:ext cx="5882335" cy="2394458"/>
          </a:xfrm>
          <a:prstGeom prst="roundRect">
            <a:avLst>
              <a:gd name="adj" fmla="val 4583"/>
            </a:avLst>
          </a:prstGeom>
          <a:solidFill>
            <a:schemeClr val="tx1"/>
          </a:solidFill>
          <a:ln/>
          <a:effectLst>
            <a:outerShdw sx="100000" sy="100000" kx="0" ky="0" algn="bl" rotWithShape="0" blurRad="114300" dist="31750" dir="5400000">
              <a:srgbClr val="1D2433">
                <a:alpha val="12000"/>
              </a:srgbClr>
            </a:outerShdw>
          </a:effectLst>
        </p:spPr>
      </p:sp>
      <p:sp>
        <p:nvSpPr>
          <p:cNvPr id="7" name="Private in child language"/>
          <p:cNvSpPr txBox="1"/>
          <p:nvPr/>
        </p:nvSpPr>
        <p:spPr>
          <a:xfrm>
            <a:off x="6035040" y="1901952"/>
            <a:ext cx="53336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Private in child text"/>
          <p:cNvSpPr txBox="1"/>
          <p:nvPr/>
        </p:nvSpPr>
        <p:spPr>
          <a:xfrm>
            <a:off x="6035040" y="2276856"/>
            <a:ext cx="5333695" cy="16995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FullTimeEmployee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extends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changeName</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.name = </a:t>
            </a:r>
            <a:r>
              <a:rPr lang="en-IE" sz="1400" dirty="0">
                <a:solidFill>
                  <a:srgbClr val="A9DB8C"/>
                </a:solidFill>
                <a:latin typeface="Consolas" pitchFamily="34" charset="0"/>
                <a:ea typeface="Consolas" pitchFamily="34" charset="-122"/>
                <a:cs typeface="Consolas" pitchFamily="34" charset="-120"/>
              </a:rPr>
              <a:t>"Ann"</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error</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setName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"Ann"</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works</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Compiler error"/>
          <p:cNvSpPr/>
          <p:nvPr/>
        </p:nvSpPr>
        <p:spPr>
          <a:xfrm>
            <a:off x="5760720" y="4451858"/>
            <a:ext cx="5882335" cy="658368"/>
          </a:xfrm>
          <a:prstGeom prst="roundRect">
            <a:avLst>
              <a:gd name="adj" fmla="val 16667"/>
            </a:avLst>
          </a:prstGeom>
          <a:solidFill>
            <a:schemeClr val="bg2"/>
          </a:solidFill>
          <a:ln/>
        </p:spPr>
      </p:sp>
      <p:pic>
        <p:nvPicPr>
          <p:cNvPr id="10" name="Error icon" descr="Error icon">    </p:cNvPr>
          <p:cNvPicPr>
            <a:picLocks noChangeAspect="1"/>
          </p:cNvPicPr>
          <p:nvPr/>
        </p:nvPicPr>
        <p:blipFill>
          <a:blip r:embed="rId1"/>
          <a:stretch>
            <a:fillRect/>
          </a:stretch>
        </p:blipFill>
        <p:spPr>
          <a:xfrm>
            <a:off x="5989320" y="4598162"/>
            <a:ext cx="365760" cy="365760"/>
          </a:xfrm>
          <a:prstGeom prst="rect">
            <a:avLst/>
          </a:prstGeom>
        </p:spPr>
      </p:pic>
      <p:sp>
        <p:nvSpPr>
          <p:cNvPr id="11" name="Text 7"/>
          <p:cNvSpPr txBox="1"/>
          <p:nvPr/>
        </p:nvSpPr>
        <p:spPr>
          <a:xfrm>
            <a:off x="6492240" y="4451858"/>
            <a:ext cx="5029200" cy="658368"/>
          </a:xfrm>
          <a:prstGeom prst="rect">
            <a:avLst/>
          </a:prstGeom>
          <a:noFill/>
          <a:ln/>
        </p:spPr>
        <p:txBody>
          <a:bodyPr wrap="square" lIns="0" tIns="0" rIns="0" bIns="0" rtlCol="0" anchor="ctr"/>
          <a:lstStyle/>
          <a:p>
            <a:pPr indent="0" marL="0">
              <a:buNone/>
            </a:pPr>
            <a:r>
              <a:rPr lang="en-IE" sz="1500" b="1" dirty="0">
                <a:solidFill>
                  <a:schemeClr val="tx1"/>
                </a:solidFill>
              </a:rPr>
              <a:t>Error: </a:t>
            </a:r>
            <a:r>
              <a:rPr lang="en-IE" sz="1500" dirty="0">
                <a:solidFill>
                  <a:schemeClr val="tx1"/>
                </a:solidFill>
                <a:latin typeface="Consolas" pitchFamily="34" charset="0"/>
                <a:ea typeface="Consolas" pitchFamily="34" charset="-122"/>
                <a:cs typeface="Consolas" pitchFamily="34" charset="-120"/>
              </a:rPr>
              <a:t>name has private access in Employee</a:t>
            </a:r>
            <a:endParaRPr lang="en-IE" sz="1500" dirty="0"/>
          </a:p>
        </p:txBody>
      </p:sp>
      <p:pic>
        <p:nvPicPr>
          <p:cNvPr id="12" name="Works" descr="Works">    </p:cNvPr>
          <p:cNvPicPr>
            <a:picLocks noChangeAspect="1"/>
          </p:cNvPicPr>
          <p:nvPr/>
        </p:nvPicPr>
        <p:blipFill>
          <a:blip r:embed="rId2"/>
          <a:stretch>
            <a:fillRect/>
          </a:stretch>
        </p:blipFill>
        <p:spPr>
          <a:xfrm>
            <a:off x="5760720" y="5352542"/>
            <a:ext cx="347472" cy="347472"/>
          </a:xfrm>
          <a:prstGeom prst="rect">
            <a:avLst/>
          </a:prstGeom>
        </p:spPr>
      </p:pic>
      <p:sp>
        <p:nvSpPr>
          <p:cNvPr id="13" name="Text 8"/>
          <p:cNvSpPr txBox="1"/>
          <p:nvPr/>
        </p:nvSpPr>
        <p:spPr>
          <a:xfrm>
            <a:off x="6217920" y="5320538"/>
            <a:ext cx="5425135" cy="411480"/>
          </a:xfrm>
          <a:prstGeom prst="rect">
            <a:avLst/>
          </a:prstGeom>
          <a:noFill/>
          <a:ln/>
        </p:spPr>
        <p:txBody>
          <a:bodyPr wrap="square" lIns="0" tIns="0" rIns="0" bIns="0" rtlCol="0" anchor="ctr"/>
          <a:lstStyle/>
          <a:p>
            <a:pPr indent="0" marL="0">
              <a:buNone/>
            </a:pPr>
            <a:r>
              <a:rPr lang="en-IE" sz="1500" b="1" dirty="0">
                <a:solidFill>
                  <a:schemeClr val="accent3"/>
                </a:solidFill>
              </a:rPr>
              <a:t>setName() is public, so the child inherits it and can call it.</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68</a:t>
            </a:fld>
            <a:endParaRPr lang="en-I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Access levels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FullTimeEmployee, which line works when name is private in Employee?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this.name = "Ann";</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name = "Ann";</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setName("Ann");</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Employee.name = "Ann";</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69</a:t>
            </a:fld>
            <a:endParaRPr lang="en-I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Access levels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FullTimeEmployee, which line works when name is private in Employee?</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this.name = "Ann";</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name = "Ann";</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setName("Ann");</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Employee.name = "Ann";</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 subclass can’t use the parent’s private attributes directly, so A, B and D give the error “name has private access in Employee”. The public setter is inherited, so </a:t>
            </a:r>
            <a:r>
              <a:rPr lang="en-IE" sz="1600" dirty="0">
                <a:solidFill>
                  <a:schemeClr val="accent2"/>
                </a:solidFill>
                <a:latin typeface="Consolas" pitchFamily="34" charset="0"/>
                <a:ea typeface="Consolas" pitchFamily="34" charset="-122"/>
                <a:cs typeface="Consolas" pitchFamily="34" charset="-120"/>
              </a:rPr>
              <a:t>setName("Ann")</a:t>
            </a:r>
            <a:r>
              <a:rPr lang="en-IE" sz="1600" dirty="0">
                <a:solidFill>
                  <a:schemeClr val="tx1"/>
                </a:solidFill>
              </a:rPr>
              <a:t> works.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70</a:t>
            </a:fld>
            <a:endParaRPr lang="en-I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INHERITANCE AND ACCESS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protected modifier</a:t>
            </a:r>
            <a:endParaRPr lang="en-IE" sz="3400" dirty="0"/>
          </a:p>
        </p:txBody>
      </p:sp>
      <p:sp>
        <p:nvSpPr>
          <p:cNvPr id="5" name="private"/>
          <p:cNvSpPr/>
          <p:nvPr/>
        </p:nvSpPr>
        <p:spPr>
          <a:xfrm>
            <a:off x="548640" y="1783080"/>
            <a:ext cx="5120640"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77240" y="1938528"/>
            <a:ext cx="548640" cy="548640"/>
          </a:xfrm>
          <a:prstGeom prst="roundRect">
            <a:avLst>
              <a:gd name="adj" fmla="val 24000"/>
            </a:avLst>
          </a:prstGeom>
          <a:solidFill>
            <a:schemeClr val="accent1">
              <a:alpha val="14000"/>
            </a:schemeClr>
          </a:solidFill>
          <a:ln/>
        </p:spPr>
      </p:sp>
      <p:pic>
        <p:nvPicPr>
          <p:cNvPr id="7" name="lock simple icon" descr="lock simple icon">    </p:cNvPr>
          <p:cNvPicPr>
            <a:picLocks noChangeAspect="1"/>
          </p:cNvPicPr>
          <p:nvPr/>
        </p:nvPicPr>
        <p:blipFill>
          <a:blip r:embed="rId1"/>
          <a:stretch>
            <a:fillRect/>
          </a:stretch>
        </p:blipFill>
        <p:spPr>
          <a:xfrm>
            <a:off x="892454" y="2053742"/>
            <a:ext cx="318211" cy="318211"/>
          </a:xfrm>
          <a:prstGeom prst="rect">
            <a:avLst/>
          </a:prstGeom>
        </p:spPr>
      </p:pic>
      <p:sp>
        <p:nvSpPr>
          <p:cNvPr id="8" name="Text 4"/>
          <p:cNvSpPr txBox="1"/>
          <p:nvPr/>
        </p:nvSpPr>
        <p:spPr>
          <a:xfrm>
            <a:off x="1508760" y="1783080"/>
            <a:ext cx="1463040" cy="868680"/>
          </a:xfrm>
          <a:prstGeom prst="rect">
            <a:avLst/>
          </a:prstGeom>
          <a:noFill/>
          <a:ln/>
        </p:spPr>
        <p:txBody>
          <a:bodyPr wrap="square" lIns="0" tIns="0" rIns="0" bIns="0" rtlCol="0" anchor="ctr"/>
          <a:lstStyle/>
          <a:p>
            <a:pPr indent="0" marL="0">
              <a:buNone/>
            </a:pPr>
            <a:r>
              <a:rPr lang="en-IE" sz="1800" b="1" dirty="0">
                <a:solidFill>
                  <a:schemeClr val="accent2"/>
                </a:solidFill>
                <a:latin typeface="Consolas" pitchFamily="34" charset="0"/>
                <a:ea typeface="Consolas" pitchFamily="34" charset="-122"/>
                <a:cs typeface="Consolas" pitchFamily="34" charset="-120"/>
              </a:rPr>
              <a:t>private</a:t>
            </a:r>
            <a:endParaRPr lang="en-IE" sz="1800" dirty="0"/>
          </a:p>
        </p:txBody>
      </p:sp>
      <p:sp>
        <p:nvSpPr>
          <p:cNvPr id="9" name="Text 5"/>
          <p:cNvSpPr txBox="1"/>
          <p:nvPr/>
        </p:nvSpPr>
        <p:spPr>
          <a:xfrm>
            <a:off x="2971800" y="1783080"/>
            <a:ext cx="2560320" cy="868680"/>
          </a:xfrm>
          <a:prstGeom prst="rect">
            <a:avLst/>
          </a:prstGeom>
          <a:noFill/>
          <a:ln/>
        </p:spPr>
        <p:txBody>
          <a:bodyPr wrap="square" lIns="0" tIns="0" rIns="0" bIns="0" rtlCol="0" anchor="ctr"/>
          <a:lstStyle/>
          <a:p>
            <a:pPr indent="0" marL="0">
              <a:buNone/>
            </a:pPr>
            <a:r>
              <a:rPr lang="en-IE" sz="1400" dirty="0">
                <a:solidFill>
                  <a:schemeClr val="tx2"/>
                </a:solidFill>
              </a:rPr>
              <a:t>Its own class only.</a:t>
            </a:r>
            <a:endParaRPr lang="en-IE" sz="1400" dirty="0"/>
          </a:p>
        </p:txBody>
      </p:sp>
      <p:sp>
        <p:nvSpPr>
          <p:cNvPr id="10" name="protected"/>
          <p:cNvSpPr/>
          <p:nvPr/>
        </p:nvSpPr>
        <p:spPr>
          <a:xfrm>
            <a:off x="548640" y="2807208"/>
            <a:ext cx="5120640" cy="868680"/>
          </a:xfrm>
          <a:prstGeom prst="roundRect">
            <a:avLst>
              <a:gd name="adj" fmla="val 12632"/>
            </a:avLst>
          </a:prstGeom>
          <a:solidFill>
            <a:schemeClr val="bg1"/>
          </a:solidFill>
          <a:ln w="22225">
            <a:solidFill>
              <a:schemeClr val="accent5"/>
            </a:solidFill>
            <a:prstDash val="solid"/>
          </a:ln>
          <a:effectLst>
            <a:outerShdw sx="100000" sy="100000" kx="0" ky="0" algn="bl" rotWithShape="0" blurRad="114300" dist="31750" dir="5400000">
              <a:srgbClr val="1D2433">
                <a:alpha val="12000"/>
              </a:srgbClr>
            </a:outerShdw>
          </a:effectLst>
        </p:spPr>
      </p:sp>
      <p:sp>
        <p:nvSpPr>
          <p:cNvPr id="11" name="Icon tile"/>
          <p:cNvSpPr/>
          <p:nvPr/>
        </p:nvSpPr>
        <p:spPr>
          <a:xfrm>
            <a:off x="777240" y="2962656"/>
            <a:ext cx="548640" cy="548640"/>
          </a:xfrm>
          <a:prstGeom prst="roundRect">
            <a:avLst>
              <a:gd name="adj" fmla="val 24000"/>
            </a:avLst>
          </a:prstGeom>
          <a:solidFill>
            <a:schemeClr val="accent5">
              <a:alpha val="14000"/>
            </a:schemeClr>
          </a:solidFill>
          <a:ln/>
        </p:spPr>
      </p:sp>
      <p:pic>
        <p:nvPicPr>
          <p:cNvPr id="12" name="tree structure icon" descr="tree structure icon">    </p:cNvPr>
          <p:cNvPicPr>
            <a:picLocks noChangeAspect="1"/>
          </p:cNvPicPr>
          <p:nvPr/>
        </p:nvPicPr>
        <p:blipFill>
          <a:blip r:embed="rId2"/>
          <a:stretch>
            <a:fillRect/>
          </a:stretch>
        </p:blipFill>
        <p:spPr>
          <a:xfrm>
            <a:off x="892454" y="3077870"/>
            <a:ext cx="318211" cy="318211"/>
          </a:xfrm>
          <a:prstGeom prst="rect">
            <a:avLst/>
          </a:prstGeom>
        </p:spPr>
      </p:pic>
      <p:sp>
        <p:nvSpPr>
          <p:cNvPr id="13" name="Text 8"/>
          <p:cNvSpPr txBox="1"/>
          <p:nvPr/>
        </p:nvSpPr>
        <p:spPr>
          <a:xfrm>
            <a:off x="1508760" y="2807208"/>
            <a:ext cx="1463040" cy="868680"/>
          </a:xfrm>
          <a:prstGeom prst="rect">
            <a:avLst/>
          </a:prstGeom>
          <a:noFill/>
          <a:ln/>
        </p:spPr>
        <p:txBody>
          <a:bodyPr wrap="square" lIns="0" tIns="0" rIns="0" bIns="0" rtlCol="0" anchor="ctr"/>
          <a:lstStyle/>
          <a:p>
            <a:pPr indent="0" marL="0">
              <a:buNone/>
            </a:pPr>
            <a:r>
              <a:rPr lang="en-IE" sz="1800" b="1" dirty="0">
                <a:solidFill>
                  <a:schemeClr val="accent2"/>
                </a:solidFill>
                <a:latin typeface="Consolas" pitchFamily="34" charset="0"/>
                <a:ea typeface="Consolas" pitchFamily="34" charset="-122"/>
                <a:cs typeface="Consolas" pitchFamily="34" charset="-120"/>
              </a:rPr>
              <a:t>protected</a:t>
            </a:r>
            <a:endParaRPr lang="en-IE" sz="1800" dirty="0"/>
          </a:p>
        </p:txBody>
      </p:sp>
      <p:sp>
        <p:nvSpPr>
          <p:cNvPr id="14" name="Text 9"/>
          <p:cNvSpPr txBox="1"/>
          <p:nvPr/>
        </p:nvSpPr>
        <p:spPr>
          <a:xfrm>
            <a:off x="2971800" y="2807208"/>
            <a:ext cx="2560320" cy="868680"/>
          </a:xfrm>
          <a:prstGeom prst="rect">
            <a:avLst/>
          </a:prstGeom>
          <a:noFill/>
          <a:ln/>
        </p:spPr>
        <p:txBody>
          <a:bodyPr wrap="square" lIns="0" tIns="0" rIns="0" bIns="0" rtlCol="0" anchor="ctr"/>
          <a:lstStyle/>
          <a:p>
            <a:pPr indent="0" marL="0">
              <a:buNone/>
            </a:pPr>
            <a:r>
              <a:rPr lang="en-IE" sz="1400" dirty="0">
                <a:solidFill>
                  <a:schemeClr val="tx2"/>
                </a:solidFill>
              </a:rPr>
              <a:t>Its own class, its subclasses, and classes in the same package.</a:t>
            </a:r>
            <a:endParaRPr lang="en-IE" sz="1400" dirty="0"/>
          </a:p>
        </p:txBody>
      </p:sp>
      <p:sp>
        <p:nvSpPr>
          <p:cNvPr id="15" name="public"/>
          <p:cNvSpPr/>
          <p:nvPr/>
        </p:nvSpPr>
        <p:spPr>
          <a:xfrm>
            <a:off x="548640" y="3831336"/>
            <a:ext cx="5120640"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777240" y="3986784"/>
            <a:ext cx="548640" cy="548640"/>
          </a:xfrm>
          <a:prstGeom prst="roundRect">
            <a:avLst>
              <a:gd name="adj" fmla="val 24000"/>
            </a:avLst>
          </a:prstGeom>
          <a:solidFill>
            <a:schemeClr val="accent3">
              <a:alpha val="14000"/>
            </a:schemeClr>
          </a:solidFill>
          <a:ln/>
        </p:spPr>
      </p:sp>
      <p:pic>
        <p:nvPicPr>
          <p:cNvPr id="17" name="globe hemisphere west icon" descr="globe hemisphere west icon">    </p:cNvPr>
          <p:cNvPicPr>
            <a:picLocks noChangeAspect="1"/>
          </p:cNvPicPr>
          <p:nvPr/>
        </p:nvPicPr>
        <p:blipFill>
          <a:blip r:embed="rId3"/>
          <a:stretch>
            <a:fillRect/>
          </a:stretch>
        </p:blipFill>
        <p:spPr>
          <a:xfrm>
            <a:off x="892454" y="4101998"/>
            <a:ext cx="318211" cy="318211"/>
          </a:xfrm>
          <a:prstGeom prst="rect">
            <a:avLst/>
          </a:prstGeom>
        </p:spPr>
      </p:pic>
      <p:sp>
        <p:nvSpPr>
          <p:cNvPr id="18" name="Text 12"/>
          <p:cNvSpPr txBox="1"/>
          <p:nvPr/>
        </p:nvSpPr>
        <p:spPr>
          <a:xfrm>
            <a:off x="1508760" y="3831336"/>
            <a:ext cx="1463040" cy="868680"/>
          </a:xfrm>
          <a:prstGeom prst="rect">
            <a:avLst/>
          </a:prstGeom>
          <a:noFill/>
          <a:ln/>
        </p:spPr>
        <p:txBody>
          <a:bodyPr wrap="square" lIns="0" tIns="0" rIns="0" bIns="0" rtlCol="0" anchor="ctr"/>
          <a:lstStyle/>
          <a:p>
            <a:pPr indent="0" marL="0">
              <a:buNone/>
            </a:pPr>
            <a:r>
              <a:rPr lang="en-IE" sz="1800" b="1" dirty="0">
                <a:solidFill>
                  <a:schemeClr val="accent2"/>
                </a:solidFill>
                <a:latin typeface="Consolas" pitchFamily="34" charset="0"/>
                <a:ea typeface="Consolas" pitchFamily="34" charset="-122"/>
                <a:cs typeface="Consolas" pitchFamily="34" charset="-120"/>
              </a:rPr>
              <a:t>public</a:t>
            </a:r>
            <a:endParaRPr lang="en-IE" sz="1800" dirty="0"/>
          </a:p>
        </p:txBody>
      </p:sp>
      <p:sp>
        <p:nvSpPr>
          <p:cNvPr id="19" name="Text 13"/>
          <p:cNvSpPr txBox="1"/>
          <p:nvPr/>
        </p:nvSpPr>
        <p:spPr>
          <a:xfrm>
            <a:off x="2971800" y="3831336"/>
            <a:ext cx="2560320" cy="868680"/>
          </a:xfrm>
          <a:prstGeom prst="rect">
            <a:avLst/>
          </a:prstGeom>
          <a:noFill/>
          <a:ln/>
        </p:spPr>
        <p:txBody>
          <a:bodyPr wrap="square" lIns="0" tIns="0" rIns="0" bIns="0" rtlCol="0" anchor="ctr"/>
          <a:lstStyle/>
          <a:p>
            <a:pPr indent="0" marL="0">
              <a:buNone/>
            </a:pPr>
            <a:r>
              <a:rPr lang="en-IE" sz="1400" dirty="0">
                <a:solidFill>
                  <a:schemeClr val="tx2"/>
                </a:solidFill>
              </a:rPr>
              <a:t>Everyone.</a:t>
            </a:r>
            <a:endParaRPr lang="en-IE" sz="1400" dirty="0"/>
          </a:p>
        </p:txBody>
      </p:sp>
      <p:sp>
        <p:nvSpPr>
          <p:cNvPr id="20" name="Text 14"/>
          <p:cNvSpPr txBox="1"/>
          <p:nvPr/>
        </p:nvSpPr>
        <p:spPr>
          <a:xfrm>
            <a:off x="548640" y="4937760"/>
            <a:ext cx="5120640" cy="365760"/>
          </a:xfrm>
          <a:prstGeom prst="rect">
            <a:avLst/>
          </a:prstGeom>
          <a:noFill/>
          <a:ln/>
        </p:spPr>
        <p:txBody>
          <a:bodyPr wrap="square" lIns="0" tIns="0" rIns="0" bIns="0" rtlCol="0" anchor="t"/>
          <a:lstStyle/>
          <a:p>
            <a:pPr indent="0" marL="0">
              <a:buNone/>
            </a:pPr>
            <a:r>
              <a:rPr lang="en-IE" sz="1500" i="1" dirty="0">
                <a:solidFill>
                  <a:schemeClr val="tx2"/>
                </a:solidFill>
              </a:rPr>
              <a:t>More open than private, but not as open as public.</a:t>
            </a:r>
            <a:endParaRPr lang="en-IE" sz="1500" dirty="0"/>
          </a:p>
        </p:txBody>
      </p:sp>
      <p:sp>
        <p:nvSpPr>
          <p:cNvPr id="21" name="Protected example card"/>
          <p:cNvSpPr/>
          <p:nvPr/>
        </p:nvSpPr>
        <p:spPr>
          <a:xfrm>
            <a:off x="5989320" y="1783080"/>
            <a:ext cx="5653735" cy="3099308"/>
          </a:xfrm>
          <a:prstGeom prst="roundRect">
            <a:avLst>
              <a:gd name="adj" fmla="val 3540"/>
            </a:avLst>
          </a:prstGeom>
          <a:solidFill>
            <a:schemeClr val="tx1"/>
          </a:solidFill>
          <a:ln/>
          <a:effectLst>
            <a:outerShdw sx="100000" sy="100000" kx="0" ky="0" algn="bl" rotWithShape="0" blurRad="114300" dist="31750" dir="5400000">
              <a:srgbClr val="1D2433">
                <a:alpha val="12000"/>
              </a:srgbClr>
            </a:outerShdw>
          </a:effectLst>
        </p:spPr>
      </p:sp>
      <p:sp>
        <p:nvSpPr>
          <p:cNvPr id="22" name="Protected example language"/>
          <p:cNvSpPr txBox="1"/>
          <p:nvPr/>
        </p:nvSpPr>
        <p:spPr>
          <a:xfrm>
            <a:off x="6263640" y="1901952"/>
            <a:ext cx="51050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23" name="Protected example text"/>
          <p:cNvSpPr txBox="1"/>
          <p:nvPr/>
        </p:nvSpPr>
        <p:spPr>
          <a:xfrm>
            <a:off x="6263640" y="2276856"/>
            <a:ext cx="5105095" cy="24043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private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name;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protected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age;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PartTimeStudent</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extends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PartTimeStudent</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.age = </a:t>
            </a:r>
            <a:r>
              <a:rPr lang="en-IE" sz="1400" dirty="0">
                <a:solidFill>
                  <a:srgbClr val="F2C14E"/>
                </a:solidFill>
                <a:latin typeface="Consolas" pitchFamily="34" charset="0"/>
                <a:ea typeface="Consolas" pitchFamily="34" charset="-122"/>
                <a:cs typeface="Consolas" pitchFamily="34" charset="-120"/>
              </a:rPr>
              <a:t>20</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age is protected</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24" name="Note"/>
          <p:cNvSpPr/>
          <p:nvPr/>
        </p:nvSpPr>
        <p:spPr>
          <a:xfrm>
            <a:off x="5989320" y="5074920"/>
            <a:ext cx="5653735" cy="777240"/>
          </a:xfrm>
          <a:prstGeom prst="roundRect">
            <a:avLst>
              <a:gd name="adj" fmla="val 14118"/>
            </a:avLst>
          </a:prstGeom>
          <a:solidFill>
            <a:schemeClr val="bg2"/>
          </a:solidFill>
          <a:ln/>
        </p:spPr>
      </p:sp>
      <p:sp>
        <p:nvSpPr>
          <p:cNvPr id="25" name="Icon tile"/>
          <p:cNvSpPr/>
          <p:nvPr/>
        </p:nvSpPr>
        <p:spPr>
          <a:xfrm>
            <a:off x="6263640" y="5198364"/>
            <a:ext cx="530352" cy="530352"/>
          </a:xfrm>
          <a:prstGeom prst="roundRect">
            <a:avLst>
              <a:gd name="adj" fmla="val 24000"/>
            </a:avLst>
          </a:prstGeom>
          <a:solidFill>
            <a:schemeClr val="accent5">
              <a:alpha val="14000"/>
            </a:schemeClr>
          </a:solidFill>
          <a:ln/>
        </p:spPr>
      </p:sp>
      <p:pic>
        <p:nvPicPr>
          <p:cNvPr id="26" name="info icon" descr="info icon">    </p:cNvPr>
          <p:cNvPicPr>
            <a:picLocks noChangeAspect="1"/>
          </p:cNvPicPr>
          <p:nvPr/>
        </p:nvPicPr>
        <p:blipFill>
          <a:blip r:embed="rId4"/>
          <a:stretch>
            <a:fillRect/>
          </a:stretch>
        </p:blipFill>
        <p:spPr>
          <a:xfrm>
            <a:off x="6375014" y="5309738"/>
            <a:ext cx="307604" cy="307604"/>
          </a:xfrm>
          <a:prstGeom prst="rect">
            <a:avLst/>
          </a:prstGeom>
        </p:spPr>
      </p:pic>
      <p:sp>
        <p:nvSpPr>
          <p:cNvPr id="27" name="Text 20"/>
          <p:cNvSpPr txBox="1"/>
          <p:nvPr/>
        </p:nvSpPr>
        <p:spPr>
          <a:xfrm>
            <a:off x="7013448" y="5074920"/>
            <a:ext cx="4373575" cy="777240"/>
          </a:xfrm>
          <a:prstGeom prst="rect">
            <a:avLst/>
          </a:prstGeom>
          <a:noFill/>
          <a:ln/>
        </p:spPr>
        <p:txBody>
          <a:bodyPr wrap="square" lIns="0" tIns="0" rIns="0" bIns="0" rtlCol="0" anchor="ctr"/>
          <a:lstStyle/>
          <a:p>
            <a:pPr indent="0" marL="0">
              <a:buNone/>
            </a:pPr>
            <a:r>
              <a:rPr lang="en-IE" sz="1600" dirty="0">
                <a:solidFill>
                  <a:schemeClr val="tx1"/>
                </a:solidFill>
              </a:rPr>
              <a:t>The child can use age directly, without a setter.</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71</a:t>
            </a:fld>
            <a:endParaRPr lang="en-I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protected</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modifier lets a subclass use an attribute directly, but keeps it hidden from unrelated classes in other packages?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private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protected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public</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static</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72</a:t>
            </a:fld>
            <a:endParaRPr lang="en-IE"/>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protected</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modifier lets a subclass use an attribute directly, but keeps it hidden from unrelated classes in other packages?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private</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protected</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static</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protected</a:t>
            </a:r>
            <a:r>
              <a:rPr lang="en-IE" sz="1800" dirty="0">
                <a:solidFill>
                  <a:schemeClr val="tx1"/>
                </a:solidFill>
              </a:rPr>
              <a:t> sits between </a:t>
            </a:r>
            <a:r>
              <a:rPr lang="en-IE" sz="1800" dirty="0">
                <a:solidFill>
                  <a:schemeClr val="accent2"/>
                </a:solidFill>
                <a:latin typeface="Consolas" pitchFamily="34" charset="0"/>
                <a:ea typeface="Consolas" pitchFamily="34" charset="-122"/>
                <a:cs typeface="Consolas" pitchFamily="34" charset="-120"/>
              </a:rPr>
              <a:t>private</a:t>
            </a:r>
            <a:r>
              <a:rPr lang="en-IE" sz="1800" dirty="0">
                <a:solidFill>
                  <a:schemeClr val="tx1"/>
                </a:solidFill>
              </a:rPr>
              <a:t> and </a:t>
            </a:r>
            <a:r>
              <a:rPr lang="en-IE" sz="1800" dirty="0">
                <a:solidFill>
                  <a:schemeClr val="accent2"/>
                </a:solidFill>
                <a:latin typeface="Consolas" pitchFamily="34" charset="0"/>
                <a:ea typeface="Consolas" pitchFamily="34" charset="-122"/>
                <a:cs typeface="Consolas" pitchFamily="34" charset="-120"/>
              </a:rPr>
              <a:t>public</a:t>
            </a:r>
            <a:r>
              <a:rPr lang="en-IE" sz="1800" dirty="0">
                <a:solidFill>
                  <a:schemeClr val="tx1"/>
                </a:solidFill>
              </a:rPr>
              <a:t>. Its own class, its subclasses and classes in the same package can use it. </a:t>
            </a:r>
            <a:r>
              <a:rPr lang="en-IE" sz="1800" dirty="0">
                <a:solidFill>
                  <a:schemeClr val="accent2"/>
                </a:solidFill>
                <a:latin typeface="Consolas" pitchFamily="34" charset="0"/>
                <a:ea typeface="Consolas" pitchFamily="34" charset="-122"/>
                <a:cs typeface="Consolas" pitchFamily="34" charset="-120"/>
              </a:rPr>
              <a:t>private</a:t>
            </a:r>
            <a:r>
              <a:rPr lang="en-IE" sz="1800" dirty="0">
                <a:solidFill>
                  <a:schemeClr val="tx1"/>
                </a:solidFill>
              </a:rPr>
              <a:t> would hide it from the subclass, and </a:t>
            </a:r>
            <a:r>
              <a:rPr lang="en-IE" sz="1800" dirty="0">
                <a:solidFill>
                  <a:schemeClr val="accent2"/>
                </a:solidFill>
                <a:latin typeface="Consolas" pitchFamily="34" charset="0"/>
                <a:ea typeface="Consolas" pitchFamily="34" charset="-122"/>
                <a:cs typeface="Consolas" pitchFamily="34" charset="-120"/>
              </a:rPr>
              <a:t>public</a:t>
            </a:r>
            <a:r>
              <a:rPr lang="en-IE" sz="1800" dirty="0">
                <a:solidFill>
                  <a:schemeClr val="tx1"/>
                </a:solidFill>
              </a:rPr>
              <a:t> would open it to everyone.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73</a:t>
            </a:fld>
            <a:endParaRPr lang="en-IE"/>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WRAP-UP</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Lecture 3 at a glance</a:t>
            </a:r>
            <a:endParaRPr lang="en-IE" sz="3400" dirty="0"/>
          </a:p>
        </p:txBody>
      </p:sp>
      <p:sp>
        <p:nvSpPr>
          <p:cNvPr id="5" name="Card"/>
          <p:cNvSpPr/>
          <p:nvPr/>
        </p:nvSpPr>
        <p:spPr>
          <a:xfrm>
            <a:off x="548640"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04672" y="2039112"/>
            <a:ext cx="548640" cy="548640"/>
          </a:xfrm>
          <a:prstGeom prst="roundRect">
            <a:avLst>
              <a:gd name="adj" fmla="val 24000"/>
            </a:avLst>
          </a:prstGeom>
          <a:solidFill>
            <a:schemeClr val="accent4">
              <a:alpha val="14000"/>
            </a:schemeClr>
          </a:solidFill>
          <a:ln/>
        </p:spPr>
      </p:sp>
      <p:pic>
        <p:nvPicPr>
          <p:cNvPr id="7" name="handshake icon" descr="handshake icon">    </p:cNvPr>
          <p:cNvPicPr>
            <a:picLocks noChangeAspect="1"/>
          </p:cNvPicPr>
          <p:nvPr/>
        </p:nvPicPr>
        <p:blipFill>
          <a:blip r:embed="rId1"/>
          <a:stretch>
            <a:fillRect/>
          </a:stretch>
        </p:blipFill>
        <p:spPr>
          <a:xfrm>
            <a:off x="919886" y="2154326"/>
            <a:ext cx="318211" cy="318211"/>
          </a:xfrm>
          <a:prstGeom prst="rect">
            <a:avLst/>
          </a:prstGeom>
        </p:spPr>
      </p:pic>
      <p:sp>
        <p:nvSpPr>
          <p:cNvPr id="8" name="Text 4"/>
          <p:cNvSpPr txBox="1"/>
          <p:nvPr/>
        </p:nvSpPr>
        <p:spPr>
          <a:xfrm>
            <a:off x="1481328"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Association</a:t>
            </a:r>
            <a:endParaRPr lang="en-IE" sz="1900" dirty="0"/>
          </a:p>
        </p:txBody>
      </p:sp>
      <p:sp>
        <p:nvSpPr>
          <p:cNvPr id="9" name="Text 5"/>
          <p:cNvSpPr txBox="1"/>
          <p:nvPr/>
        </p:nvSpPr>
        <p:spPr>
          <a:xfrm>
            <a:off x="804672"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Two classes work together; each can exist on its own.</a:t>
            </a:r>
            <a:endParaRPr lang="en-IE" sz="1500" dirty="0"/>
          </a:p>
        </p:txBody>
      </p:sp>
      <p:sp>
        <p:nvSpPr>
          <p:cNvPr id="10" name="Card"/>
          <p:cNvSpPr/>
          <p:nvPr/>
        </p:nvSpPr>
        <p:spPr>
          <a:xfrm>
            <a:off x="3379394"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35426" y="2039112"/>
            <a:ext cx="548640" cy="548640"/>
          </a:xfrm>
          <a:prstGeom prst="roundRect">
            <a:avLst>
              <a:gd name="adj" fmla="val 24000"/>
            </a:avLst>
          </a:prstGeom>
          <a:solidFill>
            <a:schemeClr val="accent5">
              <a:alpha val="14000"/>
            </a:schemeClr>
          </a:solidFill>
          <a:ln/>
        </p:spPr>
      </p:sp>
      <p:pic>
        <p:nvPicPr>
          <p:cNvPr id="12" name="arrow bend down right icon" descr="arrow bend down right icon">    </p:cNvPr>
          <p:cNvPicPr>
            <a:picLocks noChangeAspect="1"/>
          </p:cNvPicPr>
          <p:nvPr/>
        </p:nvPicPr>
        <p:blipFill>
          <a:blip r:embed="rId2"/>
          <a:stretch>
            <a:fillRect/>
          </a:stretch>
        </p:blipFill>
        <p:spPr>
          <a:xfrm>
            <a:off x="3750640" y="2154326"/>
            <a:ext cx="318211" cy="318211"/>
          </a:xfrm>
          <a:prstGeom prst="rect">
            <a:avLst/>
          </a:prstGeom>
        </p:spPr>
      </p:pic>
      <p:sp>
        <p:nvSpPr>
          <p:cNvPr id="13" name="Text 8"/>
          <p:cNvSpPr txBox="1"/>
          <p:nvPr/>
        </p:nvSpPr>
        <p:spPr>
          <a:xfrm>
            <a:off x="4312082"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Dependency</a:t>
            </a:r>
            <a:endParaRPr lang="en-IE" sz="1900" dirty="0"/>
          </a:p>
        </p:txBody>
      </p:sp>
      <p:sp>
        <p:nvSpPr>
          <p:cNvPr id="14" name="Text 9"/>
          <p:cNvSpPr txBox="1"/>
          <p:nvPr/>
        </p:nvSpPr>
        <p:spPr>
          <a:xfrm>
            <a:off x="3635426"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class needs another one to do a job, e.g. passed in as a parameter.</a:t>
            </a:r>
            <a:endParaRPr lang="en-IE" sz="1500" dirty="0"/>
          </a:p>
        </p:txBody>
      </p:sp>
      <p:sp>
        <p:nvSpPr>
          <p:cNvPr id="15" name="Card"/>
          <p:cNvSpPr/>
          <p:nvPr/>
        </p:nvSpPr>
        <p:spPr>
          <a:xfrm>
            <a:off x="6210148"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6466180" y="2039112"/>
            <a:ext cx="548640" cy="548640"/>
          </a:xfrm>
          <a:prstGeom prst="roundRect">
            <a:avLst>
              <a:gd name="adj" fmla="val 24000"/>
            </a:avLst>
          </a:prstGeom>
          <a:solidFill>
            <a:schemeClr val="accent3">
              <a:alpha val="14000"/>
            </a:schemeClr>
          </a:solidFill>
          <a:ln/>
        </p:spPr>
      </p:sp>
      <p:pic>
        <p:nvPicPr>
          <p:cNvPr id="17" name="share network icon" descr="share network icon">    </p:cNvPr>
          <p:cNvPicPr>
            <a:picLocks noChangeAspect="1"/>
          </p:cNvPicPr>
          <p:nvPr/>
        </p:nvPicPr>
        <p:blipFill>
          <a:blip r:embed="rId3"/>
          <a:stretch>
            <a:fillRect/>
          </a:stretch>
        </p:blipFill>
        <p:spPr>
          <a:xfrm>
            <a:off x="6581394" y="2154326"/>
            <a:ext cx="318211" cy="318211"/>
          </a:xfrm>
          <a:prstGeom prst="rect">
            <a:avLst/>
          </a:prstGeom>
        </p:spPr>
      </p:pic>
      <p:sp>
        <p:nvSpPr>
          <p:cNvPr id="18" name="Text 12"/>
          <p:cNvSpPr txBox="1"/>
          <p:nvPr/>
        </p:nvSpPr>
        <p:spPr>
          <a:xfrm>
            <a:off x="7142836"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Aggregation</a:t>
            </a:r>
            <a:endParaRPr lang="en-IE" sz="1900" dirty="0"/>
          </a:p>
        </p:txBody>
      </p:sp>
      <p:sp>
        <p:nvSpPr>
          <p:cNvPr id="19" name="Text 13"/>
          <p:cNvSpPr txBox="1"/>
          <p:nvPr/>
        </p:nvSpPr>
        <p:spPr>
          <a:xfrm>
            <a:off x="6466180"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Has-a: the part is passed in and can be shared.</a:t>
            </a:r>
            <a:endParaRPr lang="en-IE" sz="1500" dirty="0"/>
          </a:p>
        </p:txBody>
      </p:sp>
      <p:sp>
        <p:nvSpPr>
          <p:cNvPr id="20" name="Card"/>
          <p:cNvSpPr/>
          <p:nvPr/>
        </p:nvSpPr>
        <p:spPr>
          <a:xfrm>
            <a:off x="9040901"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296933" y="2039112"/>
            <a:ext cx="548640" cy="548640"/>
          </a:xfrm>
          <a:prstGeom prst="roundRect">
            <a:avLst>
              <a:gd name="adj" fmla="val 24000"/>
            </a:avLst>
          </a:prstGeom>
          <a:solidFill>
            <a:schemeClr val="accent1">
              <a:alpha val="14000"/>
            </a:schemeClr>
          </a:solidFill>
          <a:ln/>
        </p:spPr>
      </p:sp>
      <p:pic>
        <p:nvPicPr>
          <p:cNvPr id="22" name="puzzle piece icon" descr="puzzle piece icon">    </p:cNvPr>
          <p:cNvPicPr>
            <a:picLocks noChangeAspect="1"/>
          </p:cNvPicPr>
          <p:nvPr/>
        </p:nvPicPr>
        <p:blipFill>
          <a:blip r:embed="rId4"/>
          <a:stretch>
            <a:fillRect/>
          </a:stretch>
        </p:blipFill>
        <p:spPr>
          <a:xfrm>
            <a:off x="9412148" y="2154326"/>
            <a:ext cx="318211" cy="318211"/>
          </a:xfrm>
          <a:prstGeom prst="rect">
            <a:avLst/>
          </a:prstGeom>
        </p:spPr>
      </p:pic>
      <p:sp>
        <p:nvSpPr>
          <p:cNvPr id="23" name="Text 16"/>
          <p:cNvSpPr txBox="1"/>
          <p:nvPr/>
        </p:nvSpPr>
        <p:spPr>
          <a:xfrm>
            <a:off x="9973589"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Composition</a:t>
            </a:r>
            <a:endParaRPr lang="en-IE" sz="1900" dirty="0"/>
          </a:p>
        </p:txBody>
      </p:sp>
      <p:sp>
        <p:nvSpPr>
          <p:cNvPr id="24" name="Text 17"/>
          <p:cNvSpPr txBox="1"/>
          <p:nvPr/>
        </p:nvSpPr>
        <p:spPr>
          <a:xfrm>
            <a:off x="9296933"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Part-of: the part is created inside and has one owner.</a:t>
            </a:r>
            <a:endParaRPr lang="en-IE" sz="1500" dirty="0"/>
          </a:p>
        </p:txBody>
      </p:sp>
      <p:sp>
        <p:nvSpPr>
          <p:cNvPr id="25" name="Card"/>
          <p:cNvSpPr/>
          <p:nvPr/>
        </p:nvSpPr>
        <p:spPr>
          <a:xfrm>
            <a:off x="548640"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04672" y="4279392"/>
            <a:ext cx="548640" cy="548640"/>
          </a:xfrm>
          <a:prstGeom prst="roundRect">
            <a:avLst>
              <a:gd name="adj" fmla="val 24000"/>
            </a:avLst>
          </a:prstGeom>
          <a:solidFill>
            <a:schemeClr val="accent2">
              <a:alpha val="14000"/>
            </a:schemeClr>
          </a:solidFill>
          <a:ln/>
        </p:spPr>
      </p:sp>
      <p:pic>
        <p:nvPicPr>
          <p:cNvPr id="27" name="tree structure icon" descr="tree structure icon">    </p:cNvPr>
          <p:cNvPicPr>
            <a:picLocks noChangeAspect="1"/>
          </p:cNvPicPr>
          <p:nvPr/>
        </p:nvPicPr>
        <p:blipFill>
          <a:blip r:embed="rId5"/>
          <a:stretch>
            <a:fillRect/>
          </a:stretch>
        </p:blipFill>
        <p:spPr>
          <a:xfrm>
            <a:off x="919886" y="4394606"/>
            <a:ext cx="318211" cy="318211"/>
          </a:xfrm>
          <a:prstGeom prst="rect">
            <a:avLst/>
          </a:prstGeom>
        </p:spPr>
      </p:pic>
      <p:sp>
        <p:nvSpPr>
          <p:cNvPr id="28" name="Text 20"/>
          <p:cNvSpPr txBox="1"/>
          <p:nvPr/>
        </p:nvSpPr>
        <p:spPr>
          <a:xfrm>
            <a:off x="1481328"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Inheritance</a:t>
            </a:r>
            <a:endParaRPr lang="en-IE" sz="1900" dirty="0"/>
          </a:p>
        </p:txBody>
      </p:sp>
      <p:sp>
        <p:nvSpPr>
          <p:cNvPr id="29" name="Text 21"/>
          <p:cNvSpPr txBox="1"/>
          <p:nvPr/>
        </p:nvSpPr>
        <p:spPr>
          <a:xfrm>
            <a:off x="804672"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Is-a: </a:t>
            </a:r>
            <a:r>
              <a:rPr lang="en-IE" sz="1500" dirty="0">
                <a:solidFill>
                  <a:schemeClr val="accent2"/>
                </a:solidFill>
                <a:latin typeface="Consolas" pitchFamily="34" charset="0"/>
                <a:ea typeface="Consolas" pitchFamily="34" charset="-122"/>
                <a:cs typeface="Consolas" pitchFamily="34" charset="-120"/>
              </a:rPr>
              <a:t>extends</a:t>
            </a:r>
            <a:r>
              <a:rPr lang="en-IE" sz="1500" dirty="0">
                <a:solidFill>
                  <a:schemeClr val="tx2"/>
                </a:solidFill>
              </a:rPr>
              <a:t> gives the child the parent’s attributes and methods.</a:t>
            </a:r>
            <a:endParaRPr lang="en-IE" sz="1500" dirty="0"/>
          </a:p>
        </p:txBody>
      </p:sp>
      <p:sp>
        <p:nvSpPr>
          <p:cNvPr id="30" name="Card"/>
          <p:cNvSpPr/>
          <p:nvPr/>
        </p:nvSpPr>
        <p:spPr>
          <a:xfrm>
            <a:off x="3379394"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3635426" y="4279392"/>
            <a:ext cx="548640" cy="548640"/>
          </a:xfrm>
          <a:prstGeom prst="roundRect">
            <a:avLst>
              <a:gd name="adj" fmla="val 24000"/>
            </a:avLst>
          </a:prstGeom>
          <a:solidFill>
            <a:schemeClr val="accent5">
              <a:alpha val="14000"/>
            </a:schemeClr>
          </a:solidFill>
          <a:ln/>
        </p:spPr>
      </p:sp>
      <p:pic>
        <p:nvPicPr>
          <p:cNvPr id="32" name="blueprint icon" descr="blueprint icon">    </p:cNvPr>
          <p:cNvPicPr>
            <a:picLocks noChangeAspect="1"/>
          </p:cNvPicPr>
          <p:nvPr/>
        </p:nvPicPr>
        <p:blipFill>
          <a:blip r:embed="rId6"/>
          <a:stretch>
            <a:fillRect/>
          </a:stretch>
        </p:blipFill>
        <p:spPr>
          <a:xfrm>
            <a:off x="3750640" y="4394606"/>
            <a:ext cx="318211" cy="318211"/>
          </a:xfrm>
          <a:prstGeom prst="rect">
            <a:avLst/>
          </a:prstGeom>
        </p:spPr>
      </p:pic>
      <p:sp>
        <p:nvSpPr>
          <p:cNvPr id="33" name="Text 24"/>
          <p:cNvSpPr txBox="1"/>
          <p:nvPr/>
        </p:nvSpPr>
        <p:spPr>
          <a:xfrm>
            <a:off x="4312082"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Abstract class</a:t>
            </a:r>
            <a:endParaRPr lang="en-IE" sz="1900" dirty="0"/>
          </a:p>
        </p:txBody>
      </p:sp>
      <p:sp>
        <p:nvSpPr>
          <p:cNvPr id="34" name="Text 25"/>
          <p:cNvSpPr txBox="1"/>
          <p:nvPr/>
        </p:nvSpPr>
        <p:spPr>
          <a:xfrm>
            <a:off x="3635426"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 blueprint superclass that never has objects of its own.</a:t>
            </a:r>
            <a:endParaRPr lang="en-IE" sz="1500" dirty="0"/>
          </a:p>
        </p:txBody>
      </p:sp>
      <p:sp>
        <p:nvSpPr>
          <p:cNvPr id="35" name="Card"/>
          <p:cNvSpPr/>
          <p:nvPr/>
        </p:nvSpPr>
        <p:spPr>
          <a:xfrm>
            <a:off x="6210148"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6466180" y="4279392"/>
            <a:ext cx="548640" cy="548640"/>
          </a:xfrm>
          <a:prstGeom prst="roundRect">
            <a:avLst>
              <a:gd name="adj" fmla="val 24000"/>
            </a:avLst>
          </a:prstGeom>
          <a:solidFill>
            <a:schemeClr val="accent4">
              <a:alpha val="14000"/>
            </a:schemeClr>
          </a:solidFill>
          <a:ln/>
        </p:spPr>
      </p:sp>
      <p:pic>
        <p:nvPicPr>
          <p:cNvPr id="37" name="arrow up icon" descr="arrow up icon">    </p:cNvPr>
          <p:cNvPicPr>
            <a:picLocks noChangeAspect="1"/>
          </p:cNvPicPr>
          <p:nvPr/>
        </p:nvPicPr>
        <p:blipFill>
          <a:blip r:embed="rId7"/>
          <a:stretch>
            <a:fillRect/>
          </a:stretch>
        </p:blipFill>
        <p:spPr>
          <a:xfrm>
            <a:off x="6581394" y="4394606"/>
            <a:ext cx="318211" cy="318211"/>
          </a:xfrm>
          <a:prstGeom prst="rect">
            <a:avLst/>
          </a:prstGeom>
        </p:spPr>
      </p:pic>
      <p:sp>
        <p:nvSpPr>
          <p:cNvPr id="38" name="Text 28"/>
          <p:cNvSpPr txBox="1"/>
          <p:nvPr/>
        </p:nvSpPr>
        <p:spPr>
          <a:xfrm>
            <a:off x="7142836"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super</a:t>
            </a:r>
            <a:endParaRPr lang="en-IE" sz="1900" dirty="0"/>
          </a:p>
        </p:txBody>
      </p:sp>
      <p:sp>
        <p:nvSpPr>
          <p:cNvPr id="39" name="Text 29"/>
          <p:cNvSpPr txBox="1"/>
          <p:nvPr/>
        </p:nvSpPr>
        <p:spPr>
          <a:xfrm>
            <a:off x="6466180"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Calls the parent’s constructor, as the first statement.</a:t>
            </a:r>
            <a:endParaRPr lang="en-IE" sz="1500" dirty="0"/>
          </a:p>
        </p:txBody>
      </p:sp>
      <p:sp>
        <p:nvSpPr>
          <p:cNvPr id="40" name="Card"/>
          <p:cNvSpPr/>
          <p:nvPr/>
        </p:nvSpPr>
        <p:spPr>
          <a:xfrm>
            <a:off x="9040901"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1" name="Icon tile"/>
          <p:cNvSpPr/>
          <p:nvPr/>
        </p:nvSpPr>
        <p:spPr>
          <a:xfrm>
            <a:off x="9296933" y="4279392"/>
            <a:ext cx="548640" cy="548640"/>
          </a:xfrm>
          <a:prstGeom prst="roundRect">
            <a:avLst>
              <a:gd name="adj" fmla="val 24000"/>
            </a:avLst>
          </a:prstGeom>
          <a:solidFill>
            <a:schemeClr val="accent3">
              <a:alpha val="14000"/>
            </a:schemeClr>
          </a:solidFill>
          <a:ln/>
        </p:spPr>
      </p:sp>
      <p:pic>
        <p:nvPicPr>
          <p:cNvPr id="42" name="lock key icon" descr="lock key icon">    </p:cNvPr>
          <p:cNvPicPr>
            <a:picLocks noChangeAspect="1"/>
          </p:cNvPicPr>
          <p:nvPr/>
        </p:nvPicPr>
        <p:blipFill>
          <a:blip r:embed="rId8"/>
          <a:stretch>
            <a:fillRect/>
          </a:stretch>
        </p:blipFill>
        <p:spPr>
          <a:xfrm>
            <a:off x="9412148" y="4394606"/>
            <a:ext cx="318211" cy="318211"/>
          </a:xfrm>
          <a:prstGeom prst="rect">
            <a:avLst/>
          </a:prstGeom>
        </p:spPr>
      </p:pic>
      <p:sp>
        <p:nvSpPr>
          <p:cNvPr id="43" name="Text 32"/>
          <p:cNvSpPr txBox="1"/>
          <p:nvPr/>
        </p:nvSpPr>
        <p:spPr>
          <a:xfrm>
            <a:off x="9973589"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protected</a:t>
            </a:r>
            <a:endParaRPr lang="en-IE" sz="1900" dirty="0"/>
          </a:p>
        </p:txBody>
      </p:sp>
      <p:sp>
        <p:nvSpPr>
          <p:cNvPr id="44" name="Text 33"/>
          <p:cNvSpPr txBox="1"/>
          <p:nvPr/>
        </p:nvSpPr>
        <p:spPr>
          <a:xfrm>
            <a:off x="9296933"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Visible to the class, its subclasses and its package.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74</a:t>
            </a:fld>
            <a:endParaRPr lang="en-IE"/>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IE" sz="6400" b="1" dirty="0">
                <a:solidFill>
                  <a:schemeClr val="bg1"/>
                </a:solidFill>
              </a:rPr>
              <a:t>Questions?</a:t>
            </a: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IE" sz="2200" dirty="0">
                <a:solidFill>
                  <a:schemeClr val="bg2"/>
                </a:solidFill>
              </a:rPr>
              <a:t>Object-Oriented Programming  ·  Lecture 3</a:t>
            </a:r>
            <a:endParaRPr lang="en-IE" sz="2200" dirty="0"/>
          </a:p>
        </p:txBody>
      </p:sp>
      <p:pic>
        <p:nvPicPr>
          <p:cNvPr id="4" name="Questions icon"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4882</Words>
  <Application>Microsoft Office PowerPoint</Application>
  <PresentationFormat>On-screen Show (16:9)</PresentationFormat>
  <Paragraphs>1115</Paragraphs>
  <Slides>75</Slides>
  <Notes>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75</vt:i4>
      </vt:variant>
    </vt:vector>
  </HeadingPairs>
  <TitlesOfParts>
    <vt:vector size="79" baseType="lpstr">
      <vt:lpstr>Arial</vt:lpstr>
      <vt:lpstr>Calibri</vt:lpstr>
      <vt:lpstr>Consolas</vt:lpstr>
      <vt:lpstr>Blueprint</vt:lpstr>
      <vt:lpstr>Relationships</vt:lpstr>
      <vt:lpstr>What we cover today</vt:lpstr>
      <vt:lpstr>How classes relate</vt:lpstr>
      <vt:lpstr>Five ways classes can relate</vt:lpstr>
      <vt:lpstr>Which of these is NOT one of the relationships between classes?</vt:lpstr>
      <vt:lpstr>Which of these is NOT one of the relationships between classes?</vt:lpstr>
      <vt:lpstr>Association</vt:lpstr>
      <vt:lpstr>Which sentence best describes an association between two classes?</vt:lpstr>
      <vt:lpstr>Which sentence best describes an association between two classes?</vt:lpstr>
      <vt:lpstr>Dependency</vt:lpstr>
      <vt:lpstr>In compareModule(Module module) , how long does the Student object have the Module?</vt:lpstr>
      <vt:lpstr>In compareModule(Module module) , how long does the Student object have the Module?</vt:lpstr>
      <vt:lpstr>Aggregation</vt:lpstr>
      <vt:lpstr>Aggregation in code</vt:lpstr>
      <vt:lpstr>Created outside, passed in</vt:lpstr>
      <vt:lpstr>A Student and a Teacher share one University object. Every Student object is deleted. What happens to the University?</vt:lpstr>
      <vt:lpstr>A Student and a Teacher share one University object. Every Student object is deleted. What happens to the University?</vt:lpstr>
      <vt:lpstr>In the aggregation example, how does each Student get its University?</vt:lpstr>
      <vt:lpstr>In the aggregation example, how does each Student get its University?</vt:lpstr>
      <vt:lpstr>Composition</vt:lpstr>
      <vt:lpstr>A Car creates its own Engine inside its constructor. The Car object is deleted. What happens to the Engine?</vt:lpstr>
      <vt:lpstr>A Car creates its own Engine inside its constructor. The Car object is deleted. What happens to the Engine?</vt:lpstr>
      <vt:lpstr>Composition in code</vt:lpstr>
      <vt:lpstr>Which code makes a Student the only owner of its University?</vt:lpstr>
      <vt:lpstr>Which code makes a Student the only owner of its University?</vt:lpstr>
      <vt:lpstr>Inheritance</vt:lpstr>
      <vt:lpstr>Inheritance in Java</vt:lpstr>
      <vt:lpstr>Parents and children</vt:lpstr>
      <vt:lpstr>Which of these is another name for a parent class?</vt:lpstr>
      <vt:lpstr>Which of these is another name for a parent class?</vt:lpstr>
      <vt:lpstr>Example: the vehicle family</vt:lpstr>
      <vt:lpstr>Car and Boat both extend Vehicle. Where should the anchor attribute go?</vt:lpstr>
      <vt:lpstr>Car and Boat both extend Vehicle. Where should the anchor attribute go?</vt:lpstr>
      <vt:lpstr>An is-a relationship</vt:lpstr>
      <vt:lpstr>Which pair of classes has an is-a relationship?</vt:lpstr>
      <vt:lpstr>Which pair of classes has an is-a relationship?</vt:lpstr>
      <vt:lpstr>The extends keyword</vt:lpstr>
      <vt:lpstr>What does extends Vehicle mean in class Boat extends Vehicle ?</vt:lpstr>
      <vt:lpstr>What does extends Vehicle mean in class Boat extends Vehicle ?</vt:lpstr>
      <vt:lpstr>Three rules for extends</vt:lpstr>
      <vt:lpstr>Which class declaration will NOT compile?</vt:lpstr>
      <vt:lpstr>Which class declaration will NOT compile?</vt:lpstr>
      <vt:lpstr>Abstract classes and super</vt:lpstr>
      <vt:lpstr>Abstract classes</vt:lpstr>
      <vt:lpstr>Example: full-time and part-time employees</vt:lpstr>
      <vt:lpstr>Why is Employee made abstract?</vt:lpstr>
      <vt:lpstr>Why is Employee made abstract?</vt:lpstr>
      <vt:lpstr>The abstract Employee class</vt:lpstr>
      <vt:lpstr>Concrete subclasses</vt:lpstr>
      <vt:lpstr>Employee is abstract; FullTimeEmployee and PartTimeEmployee extend it. Which of these creates an object without an...</vt:lpstr>
      <vt:lpstr>Employee is abstract; FullTimeEmployee and PartTimeEmployee extend it. Which of these creates an object without an...</vt:lpstr>
      <vt:lpstr>Calling the parent’s constructor with super</vt:lpstr>
      <vt:lpstr>What does super(name, id); do in the FullTimeEmployee constructor?</vt:lpstr>
      <vt:lpstr>What does super(name, id); do in the FullTimeEmployee constructor?</vt:lpstr>
      <vt:lpstr>The parent constructor always runs</vt:lpstr>
      <vt:lpstr>What does this code print?</vt:lpstr>
      <vt:lpstr>What does this code print?</vt:lpstr>
      <vt:lpstr>Abstract methods</vt:lpstr>
      <vt:lpstr>Which is a correct abstract method in the abstract class Employee?</vt:lpstr>
      <vt:lpstr>Which is a correct abstract method in the abstract class Employee?</vt:lpstr>
      <vt:lpstr>Why have an abstract method at all?</vt:lpstr>
      <vt:lpstr>Why declare calculatePay() as abstract in Employee?</vt:lpstr>
      <vt:lpstr>Why declare calculatePay() as abstract in Employee?</vt:lpstr>
      <vt:lpstr>Inheritance and access</vt:lpstr>
      <vt:lpstr>Each subclass adds its own attributes</vt:lpstr>
      <vt:lpstr>FullTimeEmployee extends Employee, which already declares name and id. Which attributes should FullTimeEmployee declare?</vt:lpstr>
      <vt:lpstr>FullTimeEmployee extends Employee, which already declares name and id. Which attributes should FullTimeEmployee declare?</vt:lpstr>
      <vt:lpstr>Private attributes stay private</vt:lpstr>
      <vt:lpstr>In FullTimeEmployee, which line works when name is private in Employee?</vt:lpstr>
      <vt:lpstr>In FullTimeEmployee, which line works when name is private in Employee?</vt:lpstr>
      <vt:lpstr>The protected modifier</vt:lpstr>
      <vt:lpstr>Which modifier lets a subclass use an attribute directly, but keeps it hidden from unrelated classes in other packages?</vt:lpstr>
      <vt:lpstr>Which modifier lets a subclass use an attribute directly, but keeps it hidden from unrelated classes in other packages?</vt:lpstr>
      <vt:lpstr>Lecture 3 at a glance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3, Relationships</dc:title>
  <dc:subject>Lecture 3 ideas in plain words, with quick checks</dc:subject>
  <dc:creator>Saeid Rezaei</dc:creator>
  <cp:lastModifiedBy>Saeid Rezaei</cp:lastModifiedBy>
  <cp:revision>1</cp:revision>
  <dcterms:created xsi:type="dcterms:W3CDTF">2026-10-11T09:59:10Z</dcterms:created>
  <dcterms:modified xsi:type="dcterms:W3CDTF">2026-10-11T09:59:10Z</dcterms:modified>
</cp:coreProperties>
</file>
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1a196a-bba6-7337-9a2f-f59eb602ac69}">
          <p14:sldIdLst>
            <p14:sldId id="256"/>
            <p14:sldId id="257"/>
          </p14:sldIdLst>
        </p14:section>
        <p14:section name="1. Hiding the details" id="{ed46a513-20da-731a-ea73-ddfc9070b631}">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2. Getters and setters" id="{7b43ad0e-bbf8-b0cd-69bf-a36c5208ab3f}">
          <p14:sldIdLst>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3. Instances and static" id="{f6c1e37e-ccad-4baa-38e1-4423becc5ad0}">
          <p14:sldIdLst>
            <p14:sldId id="298"/>
            <p14:sldId id="299"/>
            <p14:sldId id="300"/>
            <p14:sldId id="301"/>
            <p14:sldId id="302"/>
            <p14:sldId id="303"/>
            <p14:sldId id="304"/>
            <p14:sldId id="305"/>
            <p14:sldId id="306"/>
            <p14:sldId id="307"/>
            <p14:sldId id="308"/>
            <p14:sldId id="309"/>
            <p14:sldId id="310"/>
            <p14:sldId id="311"/>
            <p14:sldId id="312"/>
            <p14:sldId id="313"/>
            <p14:sldId id="314"/>
          </p14:sldIdLst>
        </p14:section>
        <p14:section name="4. Let Eclipse do the typing" id="{b52212f8-4d4b-af33-17c4-4a1635cb0366}">
          <p14:sldIdLst>
            <p14:sldId id="315"/>
            <p14:sldId id="316"/>
            <p14:sldId id="317"/>
            <p14:sldId id="318"/>
            <p14:sldId id="319"/>
            <p14:sldId id="320"/>
            <p14:sldId id="321"/>
            <p14:sldId id="322"/>
            <p14:sldId id="323"/>
            <p14:sldId id="324"/>
            <p14:sldId id="325"/>
          </p14:sldIdLst>
        </p14:section>
        <p14:section name="Wrap-up" id="{96811fad-2719-707f-92db-d29da0e99142}">
          <p14:sldIdLst>
            <p14:sldId id="326"/>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Lecture 2 is about encapsulation: keeping an object's data hidden and letting other classes use it only through methods. The picture shows the idea: the private data is locked away, and other classes can only reach the public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Four parts today. After each idea there's a quick check with four options. For each one, give everyone about 30 seconds, take a show of hands for A, B, C and D, then go to the answer slide.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1: why we hide details, and how Java controls who can see what.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Abstraction means showing only what we need to use something, and hiding how it works inside. The car is the classic example: the driver uses the wheel and the brake and never needs to see the engine.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“Show only what we need and hide the rest”.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“Show only what we need and hide the rest”.
Abstraction hides the details we don’t need. Like driving a car: we use the wheel and the brake without seeing how the engine works. Hiding everything (D) would leave nothing to use, and speed (C) isn’t the point.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Encapsulation keeps a class's data and the methods that use it together, and hides the details. Scanner is a good example students already know: they call nextLine() and nextInt() without ever seeing the code inside, and its internal helper methods are kept private.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“Its public method names, but not the code inside”.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“Its public method names, but not the code inside”.
Encapsulation hides how a class is built. We see the public methods we need, like nextLine(), but not the code inside them. Scanner keeps its internal helper methods private.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Java has four access levels. Here they are in order, from the most restrictive (private) to the least restrictive (public). Default is what you get when you don't write any keyword; Eclipse calls it package. A subclass is a class that extends another one, which is Lecture 3.</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“private”.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“private”.
private is the most restrictive level: only code inside the same class can use it. public is the least restrictive: it can be used from anywhere.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Read the table row by row. Inside the class, everything is visible. The further right you go, the more places can reach it. Only public reaches a class in another package that isn't a subclass.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“public”.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“public”.
Only public reaches a class in another package that isn’t a subclass. protected stops at the same package and subclasses, even if the class creates an object first.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Making attributes private is the normal way to encapsulate data. The error on the right is exactly what javac says if another class tries to touch a private attribute.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“Make them private to block direct access”.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“Make them private to block direct access”.
To encapsulate data we make it private. Other classes then can’t read or change it directly; they have to go through the methods we choose to provide.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2: how other classes read and change private data.</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19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private attribute stays hidden inside the object. Other classes ask for a copy of it with the getter, and send in a new value with the setter.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setter (mutator)”.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setter (mutator)”.
A setter, also called a mutator, updates a private attribute with a new value. A getter (accessor) only lets us read the value.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Read the getter from left to right. Getters are normally public, so other classes can call them. In Java they don't have to be, but in our examples they always are.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main is in a separate class, Main.java, so it can't touch the private name directly, but it can call getName(). The program prints jack.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“public int getAge() { return age;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“public int getAge() { return age; }”.
A getter is usually public, returns the same type as the attribute (int), takes no arguments and returns the attribute. A can’t return a value from a void method, B returns the argument instead of the attribute, and C returns a String, but age is an int.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getter hands back a value, not the attribute itself, so you can't assign to it. javac rejects the first line with 'unexpected type: required variable, found value'. If we want to change the name, that's what the setter is for. The lecture slide says this fails because the returned value is 'immutable'. The real reason is that Java can only assign to a variable, and a method call gives a value. In Java, immutable means an object that can never change once it is made, like a String; that comes up in Lecture 6.</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“A method call gives back a value, not a variable”.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“A method call gives back a value, not a variable”.
The getter hands back a copy of the value. We can read it, but we can’t assign to it, because only a variable can go on the left of =. To change the name we call the setter: student.setName("bob");</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29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Same idea as the getter, the other way round. A setter takes one value in and stores it. It should only ever update one attribute.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main is in a separate class, Main.java, so it can't write to the private name directly, but it can call setName("tom"). After that line, the object's name is tom.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“public void setName(String theName) { name = theName; }”.</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“public void setName(String theName) { name = theName; }”.
A setter is usually public, returns void, and takes one parameter of the same type as the attribute (String). A has a return type but no return, B has no parameter, and D takes an int instead of a String.</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Not everything has to be private. These are the situations where getters and setters are worth writing. One detail for later: if the attribute holds an object, a plain getter copies the reference, not the object, so a careful class hands out a copy of the object itself.</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“A getter, but no setter”.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“A getter, but no setter”.
With only a getter, other classes can read the value but have no way to change it. A setter on its own (B) gives the opposite: they could change it but not read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means the object the code is running on. In the constructor, this.id is the object's attribute and id is the parameter, so the same name can be used for both. One catch for later: there is no this inside a static method, because there's no current object there.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“The current object’s own age attribute”.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“The current object’s own age attribute”.
this means the current object. So this.age is the object’s own attribute, and age on its own is the parameter. The line copies the parameter into the attribute.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39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Three benefits. The picture at the bottom is the 'easier to maintain' idea: as long as the inputs and outputs stay the same, nobody outside cares how the inside works.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“Easier to maintain”.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“Easier to maintain”.
People using the method only rely on its inputs and outputs, so we can change how it works inside without affecting them. That makes the code easier to maintain.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3: what happens in memory when we create objects, and what static means.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Two calls to new, two separate instances. The variables only hold references to them. Changing one instance doesn't touch the other. The lecture slides call the variable 'the object'; in Java, object and instance mean the same thing, and the variable only holds a reference to it.</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B, “Nothing, because they are separate instances”.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B, “Nothing, because they are separate instances”.
Each new Student() creates a separate instance with its own attributes. Changing one does not affect the other.</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After studentOne = studentTwo, both variables refer to the same instance: two references, one object. The instance that studentOne used to point to is no longer used. Only share an instance like this on purpose.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“Ann”.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“Ann”.
studentOne = studentTwo; makes both variables point to Ben’s instance. Setting the name through studentOne changes that one shared object, so studentTwo shows “Ann” too.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49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Static things belong to the class, not to any one object, so there's only one copy. Math is the everyday example: we never write new Math(), we just use Math.round() and Math.PI. (Math's constructor is private, so new Math() wouldn't even compile.) Java doesn't let us mark a top-level class itself as static (javac says 'modifier static not allowed here'), so 'static class' here means a class like Math whose members are all static.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C, “When one value can be shared by all objects”.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C, “When one value can be shared by all objects”.
A static attribute belongs to the class, so there is only one copy, shared by every object. That suits values that don’t need to be different for each object, like Math.PI.</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A static method has no object of its own (no this), so it can't use instance attributes directly. To reach them it needs an object first, which is exactly what main does when it creates one. The code on the right shows the error javac gives.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“Instance attributes”.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“Instance attributes”.
A static method belongs to the class, not to any one object, so it has no instance attributes of its own to use directly. It can use static attributes, its parameters and other static methods.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Everything in Currency is static: the two exchange rates and the two methods that use them. Nothing here needs a Currency object. The rates are public only to keep the example short; normally we'd still keep attributes private, as in part 1.</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main uses the rate and the method straight through the class name. 500 yuan times 0.13 gives 65.0 euro.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“26.0”.</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“26.0”.
exchangeYuan multiplies the amount by exchangeRateYuanEuro (0.13), so 200 × 0.13 = 26.0. We call it with the class name because it is static: no Currency object is needed.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59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Part 4: getting Eclipse to write getters and setters for us, and how the constructor can use them.</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Classes follow a set layout, so the IDE can write the routine parts for us. In Eclipse the generate options are under the Source menu. The same menu opens with a right-click in the editor (Source), or with Alt+Shift+S (Cmd+Alt+S on a Mac).</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This is the window you get after choosing Generate Getters and Setters. Tick what you need, keep the access modifier as public, and click Generate.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62</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“In the Source menu”.</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63</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“In the Source menu”.
Open the class, click Source on the top bar, and the generate options are near the bottom of that menu, including Generate Getters and Setters… and Generate Constructor using Fields…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64</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second way: click on the attribute and press Ctrl+1 (Cmd+1 on a Mac). Choose Create getter and setter, check the names in the Encapsulate Fields window and click OK.</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65</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D, “Ctrl+1”.</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66</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D, “Ctrl+1”.
Click on the attribute and press Ctrl+1. Quick Fix suggests some options, including “Create getter and setter for ‘name’…”.</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67</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In the Encapsulate Fields window, 'Field access in declaring type' decides whether the class's own code, such as the constructor, keeps using the field directly or goes through the new getter and setter. With setters, any checks inside them also run when the object is created.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68</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Correct answer: A, “When the setter checks the values it is given”.</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69</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answer is A, “When the setter checks the values it is given”.
If the setter checks the value (for example, that a number is in range), calling it from the constructor means those checks also run when the object is first created.</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70</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key words from today on one slide. Good one to leave up while taking questions.</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71</a:t>
            </a:fld>
            <a:endParaRPr lang="en-IE"/>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Open the floor for questions. The summary slide before this one is a good one to go back to.</a:t>
            </a:r>
            <a:endParaRPr lang="en-IE" dirty="0"/>
          </a:p>
        </p:txBody>
      </p:sp>
      <p:sp>
        <p:nvSpPr>
          <p:cNvPr id="4" name="Slide Number Placeholder 3"/>
          <p:cNvSpPr>
            <a:spLocks noGrp="1"/>
          </p:cNvSpPr>
          <p:nvPr>
            <p:ph type="sldNum" sz="quarter" idx="10"/>
          </p:nvPr>
        </p:nvSpPr>
        <p:spPr/>
        <p:txBody>
          <a:bodyPr/>
          <a:lstStyle/>
          <a:p>
            <a:fld id="{F7021451-1387-4CA6-816F-3879F97B5CBC}" type="slidenum">
              <a:rPr lang="en-IE"/>
              <a:t>72</a:t>
            </a:fld>
            <a:endParaRPr lang="en-IE"/>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IE" sz="1400" b="1" spc="300" kern="0" dirty="0">
                <a:solidFill>
                  <a:schemeClr val="accent6"/>
                </a:solidFill>
              </a:defRPr>
            </a:lvl1pPr>
          </a:lstStyle>
          <a:p>
            <a:pPr indent="0" marL="0">
              <a:buNone/>
            </a:pP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IE" sz="5200" b="1" dirty="0">
                <a:solidFill>
                  <a:schemeClr val="bg1"/>
                </a:solidFill>
              </a:defRPr>
            </a:lvl1pPr>
          </a:lstStyle>
          <a:p>
            <a:pPr algn="l" indent="0" marL="0">
              <a:buNone/>
            </a:pP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IE" sz="9600" b="1" dirty="0">
                <a:solidFill>
                  <a:schemeClr val="accent1"/>
                </a:solidFill>
              </a:defRPr>
            </a:lvl1pPr>
          </a:lstStyle>
          <a:p>
            <a:pPr indent="0" marL="0">
              <a:buNone/>
            </a:pP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IE" sz="4400" b="1" dirty="0">
                <a:solidFill>
                  <a:schemeClr val="bg1"/>
                </a:solidFill>
              </a:defRPr>
            </a:lvl1pPr>
          </a:lstStyle>
          <a:p>
            <a:pPr algn="l" indent="0" marL="0">
              <a:buNone/>
            </a:pP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IE" sz="2000" dirty="0">
                <a:solidFill>
                  <a:schemeClr val="bg2"/>
                </a:solidFill>
              </a:defRPr>
            </a:lvl1pPr>
          </a:lstStyle>
          <a:p>
            <a:pPr indent="0" marL="0">
              <a:buNone/>
            </a:pPr>
            <a:endParaRPr lang="en-IE"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IE" sz="1200" b="1" spc="150" kern="0" dirty="0">
                <a:solidFill>
                  <a:schemeClr val="tx2"/>
                </a:solidFill>
              </a:defRPr>
            </a:lvl1pPr>
          </a:lstStyle>
          <a:p>
            <a:pPr indent="0" marL="0">
              <a:buNone/>
            </a:pP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IE" sz="3400" b="1" dirty="0">
                <a:solidFill>
                  <a:schemeClr val="tx1"/>
                </a:solidFill>
              </a:defRPr>
            </a:lvl1pPr>
          </a:lstStyle>
          <a:p>
            <a:pPr algn="l" indent="0" marL="0">
              <a:buNone/>
            </a:pPr>
            <a:endParaRPr lang="en-IE"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2</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1004</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IE" sz="2800" b="1" dirty="0">
                <a:solidFill>
                  <a:schemeClr val="tx1"/>
                </a:solidFill>
              </a:defRPr>
            </a:lvl1pPr>
          </a:lstStyle>
          <a:p>
            <a:pPr algn="l" indent="0" marL="0">
              <a:buNone/>
            </a:pPr>
            <a:endParaRPr lang="en-IE"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2</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1005</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IE" sz="2000" b="1" dirty="0">
                <a:solidFill>
                  <a:schemeClr val="tx2"/>
                </a:solidFill>
              </a:defRPr>
            </a:lvl1pPr>
          </a:lstStyle>
          <a:p>
            <a:pPr algn="l" indent="0" marL="0">
              <a:buNone/>
            </a:pPr>
            <a:endParaRPr lang="en-IE"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IE" sz="1000" dirty="0">
                <a:solidFill>
                  <a:schemeClr val="tx2"/>
                </a:solidFill>
              </a:rPr>
              <a:t>Object-Oriented Programming  ·  Lecture 2</a:t>
            </a:r>
            <a:endParaRPr lang="en-IE"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1006</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IE" sz="6400" b="1" dirty="0">
                <a:solidFill>
                  <a:schemeClr val="bg1"/>
                </a:solidFill>
              </a:defRPr>
            </a:lvl1pPr>
          </a:lstStyle>
          <a:p>
            <a:pPr algn="l" indent="0" marL="0">
              <a:buNone/>
            </a:pP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IE" sz="2200" dirty="0">
                <a:solidFill>
                  <a:schemeClr val="bg2"/>
                </a:solidFill>
              </a:defRPr>
            </a:lvl1pPr>
          </a:lstStyle>
          <a:p>
            <a:pPr indent="0" marL="0">
              <a:buNone/>
            </a:pPr>
            <a:endParaRPr lang="en-IE"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null</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I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4.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6.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6.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6.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6.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4.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6.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6.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6.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6.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4.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6.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4.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6.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4.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6.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4.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6.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4.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6.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image" Target="../media/image-71-7.png"/><Relationship Id="rId8" Type="http://schemas.openxmlformats.org/officeDocument/2006/relationships/image" Target="../media/image-71-8.png"/><Relationship Id="rId9" Type="http://schemas.openxmlformats.org/officeDocument/2006/relationships/slideLayout" Target="../slideLayouts/slideLayout4.xml"/><Relationship Id="rId10"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7.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IE" sz="1400" b="1" spc="300" kern="0" dirty="0">
                <a:solidFill>
                  <a:schemeClr val="accent6"/>
                </a:solidFill>
              </a:rPr>
              <a:t>LECTURE 2</a:t>
            </a:r>
            <a:endParaRPr lang="en-IE"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IE" sz="5200" b="1" dirty="0">
                <a:solidFill>
                  <a:schemeClr val="bg1"/>
                </a:solidFill>
              </a:rPr>
              <a:t>Encapsulation</a:t>
            </a:r>
            <a:endParaRPr lang="en-IE" sz="5200" dirty="0"/>
          </a:p>
        </p:txBody>
      </p:sp>
      <p:sp>
        <p:nvSpPr>
          <p:cNvPr id="4" name="Text 0"/>
          <p:cNvSpPr/>
          <p:nvPr>
            <p:ph idx="102" type="body" hasCustomPrompt="1"/>
          </p:nvPr>
        </p:nvSpPr>
        <p:spPr>
          <a:xfrm>
            <a:off x="822960" y="3017520"/>
            <a:ext cx="5669280" cy="914400"/>
          </a:xfrm>
          <a:prstGeom prst="rect">
            <a:avLst/>
          </a:prstGeom>
          <a:noFill/>
          <a:ln/>
        </p:spPr>
        <p:txBody>
          <a:bodyPr wrap="square" lIns="0" tIns="0" rIns="0" bIns="0" rtlCol="0" anchor="t"/>
          <a:lstStyle/>
          <a:p>
            <a:pPr indent="0" marL="0">
              <a:buNone/>
            </a:pPr>
            <a:r>
              <a:rPr lang="en-IE" sz="2000" dirty="0">
                <a:solidFill>
                  <a:schemeClr val="bg2"/>
                </a:solidFill>
              </a:rPr>
              <a:t>Abstraction, access modifiers, getters and setters, instances and static</a:t>
            </a:r>
            <a:endParaRPr lang="en-IE" sz="2000" dirty="0"/>
          </a:p>
        </p:txBody>
      </p:sp>
      <p:sp>
        <p:nvSpPr>
          <p:cNvPr id="5" name="Class outline"/>
          <p:cNvSpPr/>
          <p:nvPr/>
        </p:nvSpPr>
        <p:spPr>
          <a:xfrm>
            <a:off x="6949440" y="1508760"/>
            <a:ext cx="2834640" cy="3520440"/>
          </a:xfrm>
          <a:prstGeom prst="roundRect">
            <a:avLst>
              <a:gd name="adj" fmla="val 3871"/>
            </a:avLst>
          </a:prstGeom>
          <a:solidFill>
            <a:schemeClr val="bg1">
              <a:alpha val="7000"/>
            </a:schemeClr>
          </a:solidFill>
          <a:ln w="19050">
            <a:solidFill>
              <a:schemeClr val="bg1">
                <a:alpha val="85000"/>
              </a:schemeClr>
            </a:solidFill>
            <a:prstDash val="dash"/>
          </a:ln>
        </p:spPr>
      </p:sp>
      <p:sp>
        <p:nvSpPr>
          <p:cNvPr id="6" name="Text 4"/>
          <p:cNvSpPr txBox="1"/>
          <p:nvPr/>
        </p:nvSpPr>
        <p:spPr>
          <a:xfrm>
            <a:off x="7178040" y="1673352"/>
            <a:ext cx="2377440" cy="384048"/>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class Student</a:t>
            </a:r>
            <a:endParaRPr lang="en-IE" sz="1700" dirty="0"/>
          </a:p>
        </p:txBody>
      </p:sp>
      <p:sp>
        <p:nvSpPr>
          <p:cNvPr id="7" name="Private area"/>
          <p:cNvSpPr/>
          <p:nvPr/>
        </p:nvSpPr>
        <p:spPr>
          <a:xfrm>
            <a:off x="7178040" y="2240280"/>
            <a:ext cx="2377440" cy="1188720"/>
          </a:xfrm>
          <a:prstGeom prst="roundRect">
            <a:avLst>
              <a:gd name="adj" fmla="val 7692"/>
            </a:avLst>
          </a:prstGeom>
          <a:solidFill>
            <a:schemeClr val="bg1">
              <a:alpha val="14000"/>
            </a:schemeClr>
          </a:solidFill>
          <a:ln w="12700">
            <a:solidFill>
              <a:schemeClr val="bg1">
                <a:alpha val="50000"/>
              </a:schemeClr>
            </a:solidFill>
            <a:prstDash val="solid"/>
          </a:ln>
        </p:spPr>
      </p:sp>
      <p:pic>
        <p:nvPicPr>
          <p:cNvPr id="8" name="Lock" descr="Lock">    </p:cNvPr>
          <p:cNvPicPr>
            <a:picLocks noChangeAspect="1"/>
          </p:cNvPicPr>
          <p:nvPr/>
        </p:nvPicPr>
        <p:blipFill>
          <a:blip r:embed="rId1"/>
          <a:stretch>
            <a:fillRect/>
          </a:stretch>
        </p:blipFill>
        <p:spPr>
          <a:xfrm>
            <a:off x="9098280" y="2350008"/>
            <a:ext cx="329184" cy="329184"/>
          </a:xfrm>
          <a:prstGeom prst="rect">
            <a:avLst/>
          </a:prstGeom>
        </p:spPr>
      </p:pic>
      <p:sp>
        <p:nvSpPr>
          <p:cNvPr id="9" name="Text 6"/>
          <p:cNvSpPr txBox="1"/>
          <p:nvPr/>
        </p:nvSpPr>
        <p:spPr>
          <a:xfrm>
            <a:off x="7360920" y="2441448"/>
            <a:ext cx="1737360" cy="822960"/>
          </a:xfrm>
          <a:prstGeom prst="rect">
            <a:avLst/>
          </a:prstGeom>
          <a:noFill/>
          <a:ln/>
        </p:spPr>
        <p:txBody>
          <a:bodyPr wrap="square" lIns="0" tIns="0" rIns="0" bIns="0" rtlCol="0" anchor="t"/>
          <a:lstStyle/>
          <a:p>
            <a:pPr indent="0" marL="0">
              <a:lnSpc>
                <a:spcPts val="2200"/>
              </a:lnSpc>
              <a:buNone/>
            </a:pPr>
            <a:r>
              <a:rPr lang="en-IE" sz="1400" dirty="0">
                <a:solidFill>
                  <a:schemeClr val="bg1">
                    <a:alpha val="90000"/>
                  </a:schemeClr>
                </a:solidFill>
                <a:latin typeface="Consolas" pitchFamily="34" charset="0"/>
                <a:ea typeface="Consolas" pitchFamily="34" charset="-122"/>
                <a:cs typeface="Consolas" pitchFamily="34" charset="-120"/>
              </a:rPr>
              <a:t>private name</a:t>
            </a:r>
            <a:endParaRPr lang="en-IE" sz="1400" dirty="0"/>
          </a:p>
          <a:p>
            <a:pPr indent="0" marL="0">
              <a:lnSpc>
                <a:spcPts val="2200"/>
              </a:lnSpc>
              <a:buNone/>
            </a:pPr>
            <a:r>
              <a:rPr lang="en-IE" sz="1400" dirty="0">
                <a:solidFill>
                  <a:schemeClr val="bg1">
                    <a:alpha val="90000"/>
                  </a:schemeClr>
                </a:solidFill>
                <a:latin typeface="Consolas" pitchFamily="34" charset="0"/>
                <a:ea typeface="Consolas" pitchFamily="34" charset="-122"/>
                <a:cs typeface="Consolas" pitchFamily="34" charset="-120"/>
              </a:rPr>
              <a:t>private age</a:t>
            </a:r>
            <a:endParaRPr lang="en-IE" sz="1400" dirty="0"/>
          </a:p>
        </p:txBody>
      </p:sp>
      <p:sp>
        <p:nvSpPr>
          <p:cNvPr id="10" name="Public method"/>
          <p:cNvSpPr/>
          <p:nvPr/>
        </p:nvSpPr>
        <p:spPr>
          <a:xfrm>
            <a:off x="7178040" y="3703320"/>
            <a:ext cx="2377440" cy="475488"/>
          </a:xfrm>
          <a:prstGeom prst="roundRect">
            <a:avLst>
              <a:gd name="adj" fmla="val 19231"/>
            </a:avLst>
          </a:prstGeom>
          <a:solidFill>
            <a:schemeClr val="bg1"/>
          </a:solidFill>
          <a:ln/>
          <a:effectLst>
            <a:outerShdw sx="100000" sy="100000" kx="0" ky="0" algn="bl" rotWithShape="0" blurRad="114300" dist="31750" dir="5400000">
              <a:srgbClr val="1D2433">
                <a:alpha val="12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getName()</a:t>
            </a:r>
            <a:endParaRPr lang="en-IE" sz="1500" dirty="0"/>
          </a:p>
        </p:txBody>
      </p:sp>
      <p:sp>
        <p:nvSpPr>
          <p:cNvPr id="11" name="Public method"/>
          <p:cNvSpPr/>
          <p:nvPr/>
        </p:nvSpPr>
        <p:spPr>
          <a:xfrm>
            <a:off x="7178040" y="4325112"/>
            <a:ext cx="2377440" cy="475488"/>
          </a:xfrm>
          <a:prstGeom prst="roundRect">
            <a:avLst>
              <a:gd name="adj" fmla="val 19231"/>
            </a:avLst>
          </a:prstGeom>
          <a:solidFill>
            <a:schemeClr val="bg1"/>
          </a:solidFill>
          <a:ln/>
          <a:effectLst>
            <a:outerShdw sx="100000" sy="100000" kx="0" ky="0" algn="bl" rotWithShape="0" blurRad="114300" dist="31750" dir="5400000">
              <a:srgbClr val="1D2433">
                <a:alpha val="12000"/>
              </a:srgbClr>
            </a:outerShdw>
          </a:effectLst>
        </p:spPr>
        <p:txBody>
          <a:bodyPr wrap="square" lIns="0" tIns="0" rIns="0" bIns="0" rtlCol="0" anchor="ctr"/>
          <a:lstStyle/>
          <a:p>
            <a:pPr algn="ctr" indent="0" marL="0">
              <a:buNone/>
            </a:pPr>
            <a:r>
              <a:rPr lang="en-IE" sz="1500" b="1" dirty="0">
                <a:solidFill>
                  <a:schemeClr val="accent2"/>
                </a:solidFill>
                <a:latin typeface="Consolas" pitchFamily="34" charset="0"/>
                <a:ea typeface="Consolas" pitchFamily="34" charset="-122"/>
                <a:cs typeface="Consolas" pitchFamily="34" charset="-120"/>
              </a:rPr>
              <a:t>setName()</a:t>
            </a:r>
            <a:endParaRPr lang="en-IE" sz="1500" dirty="0"/>
          </a:p>
        </p:txBody>
      </p:sp>
      <p:sp>
        <p:nvSpPr>
          <p:cNvPr id="12" name="Text 9"/>
          <p:cNvSpPr txBox="1"/>
          <p:nvPr/>
        </p:nvSpPr>
        <p:spPr>
          <a:xfrm>
            <a:off x="6766560" y="5138928"/>
            <a:ext cx="3200400" cy="292608"/>
          </a:xfrm>
          <a:prstGeom prst="rect">
            <a:avLst/>
          </a:prstGeom>
          <a:noFill/>
          <a:ln/>
        </p:spPr>
        <p:txBody>
          <a:bodyPr wrap="square" lIns="0" tIns="0" rIns="0" bIns="0" rtlCol="0" anchor="t"/>
          <a:lstStyle/>
          <a:p>
            <a:pPr algn="ctr" indent="0" marL="0">
              <a:buNone/>
            </a:pPr>
            <a:r>
              <a:rPr lang="en-IE" sz="1300" i="1" dirty="0">
                <a:solidFill>
                  <a:schemeClr val="bg1">
                    <a:alpha val="70000"/>
                  </a:schemeClr>
                </a:solidFill>
              </a:rPr>
              <a:t>data hidden, methods public</a:t>
            </a:r>
            <a:endParaRPr lang="en-IE" sz="1300" dirty="0"/>
          </a:p>
        </p:txBody>
      </p:sp>
      <p:sp>
        <p:nvSpPr>
          <p:cNvPr id="13" name="Other class"/>
          <p:cNvSpPr/>
          <p:nvPr/>
        </p:nvSpPr>
        <p:spPr>
          <a:xfrm>
            <a:off x="10378440" y="3246120"/>
            <a:ext cx="1261872" cy="1143000"/>
          </a:xfrm>
          <a:prstGeom prst="roundRect">
            <a:avLst>
              <a:gd name="adj" fmla="val 9600"/>
            </a:avLst>
          </a:prstGeom>
          <a:solidFill>
            <a:schemeClr val="bg1"/>
          </a:solidFill>
          <a:ln/>
          <a:effectLst>
            <a:outerShdw sx="100000" sy="100000" kx="0" ky="0" algn="bl" rotWithShape="0" blurRad="114300" dist="31750" dir="5400000">
              <a:srgbClr val="1D2433">
                <a:alpha val="12000"/>
              </a:srgbClr>
            </a:outerShdw>
          </a:effectLst>
        </p:spPr>
      </p:sp>
      <p:pic>
        <p:nvPicPr>
          <p:cNvPr id="14" name="Other class icon" descr="Other class icon">    </p:cNvPr>
          <p:cNvPicPr>
            <a:picLocks noChangeAspect="1"/>
          </p:cNvPicPr>
          <p:nvPr/>
        </p:nvPicPr>
        <p:blipFill>
          <a:blip r:embed="rId2"/>
          <a:stretch>
            <a:fillRect/>
          </a:stretch>
        </p:blipFill>
        <p:spPr>
          <a:xfrm>
            <a:off x="10780776" y="3374136"/>
            <a:ext cx="457200" cy="457200"/>
          </a:xfrm>
          <a:prstGeom prst="rect">
            <a:avLst/>
          </a:prstGeom>
        </p:spPr>
      </p:pic>
      <p:sp>
        <p:nvSpPr>
          <p:cNvPr id="15" name="Text 11"/>
          <p:cNvSpPr txBox="1"/>
          <p:nvPr/>
        </p:nvSpPr>
        <p:spPr>
          <a:xfrm>
            <a:off x="10378440" y="3849624"/>
            <a:ext cx="1261872" cy="475488"/>
          </a:xfrm>
          <a:prstGeom prst="rect">
            <a:avLst/>
          </a:prstGeom>
          <a:noFill/>
          <a:ln/>
        </p:spPr>
        <p:txBody>
          <a:bodyPr wrap="square" lIns="0" tIns="0" rIns="0" bIns="0" rtlCol="0" anchor="t"/>
          <a:lstStyle/>
          <a:p>
            <a:pPr algn="ctr" indent="0" marL="0">
              <a:lnSpc>
                <a:spcPts val="1400"/>
              </a:lnSpc>
              <a:buNone/>
            </a:pPr>
            <a:r>
              <a:rPr lang="en-IE" sz="1200" b="1" dirty="0">
                <a:solidFill>
                  <a:schemeClr val="accent2"/>
                </a:solidFill>
              </a:rPr>
              <a:t>other</a:t>
            </a:r>
            <a:endParaRPr lang="en-IE" sz="1200" dirty="0"/>
          </a:p>
          <a:p>
            <a:pPr algn="ctr" indent="0" marL="0">
              <a:lnSpc>
                <a:spcPts val="1400"/>
              </a:lnSpc>
              <a:buNone/>
            </a:pPr>
            <a:r>
              <a:rPr lang="en-IE" sz="1200" b="1" dirty="0">
                <a:solidFill>
                  <a:schemeClr val="accent2"/>
                </a:solidFill>
              </a:rPr>
              <a:t>classes</a:t>
            </a:r>
            <a:endParaRPr lang="en-IE" sz="1200" dirty="0"/>
          </a:p>
        </p:txBody>
      </p:sp>
      <p:sp>
        <p:nvSpPr>
          <p:cNvPr id="16" name="Connector"/>
          <p:cNvSpPr/>
          <p:nvPr/>
        </p:nvSpPr>
        <p:spPr>
          <a:xfrm flipH="1">
            <a:off x="9610344" y="3566160"/>
            <a:ext cx="713232" cy="374904"/>
          </a:xfrm>
          <a:prstGeom prst="line">
            <a:avLst/>
          </a:prstGeom>
          <a:noFill/>
          <a:ln w="19050">
            <a:solidFill>
              <a:schemeClr val="bg1"/>
            </a:solidFill>
            <a:prstDash val="solid"/>
            <a:tailEnd type="triangle"/>
          </a:ln>
        </p:spPr>
      </p:sp>
      <p:sp>
        <p:nvSpPr>
          <p:cNvPr id="17" name="Connector"/>
          <p:cNvSpPr/>
          <p:nvPr/>
        </p:nvSpPr>
        <p:spPr>
          <a:xfrm flipH="1">
            <a:off x="9610344" y="4023360"/>
            <a:ext cx="713232" cy="539496"/>
          </a:xfrm>
          <a:prstGeom prst="line">
            <a:avLst/>
          </a:prstGeom>
          <a:noFill/>
          <a:ln w="19050">
            <a:solidFill>
              <a:schemeClr val="bg1"/>
            </a:solidFill>
            <a:prstDash val="solid"/>
            <a:tailEnd type="triangle"/>
          </a:ln>
        </p:spPr>
      </p:sp>
      <p:sp>
        <p:nvSpPr>
          <p:cNvPr id="18" name="Connector"/>
          <p:cNvSpPr/>
          <p:nvPr/>
        </p:nvSpPr>
        <p:spPr>
          <a:xfrm flipH="1" flipV="1">
            <a:off x="9884664" y="2834640"/>
            <a:ext cx="438912" cy="594360"/>
          </a:xfrm>
          <a:prstGeom prst="line">
            <a:avLst/>
          </a:prstGeom>
          <a:noFill/>
          <a:ln w="15875">
            <a:solidFill>
              <a:schemeClr val="bg1"/>
            </a:solidFill>
            <a:prstDash val="dash"/>
          </a:ln>
        </p:spPr>
      </p:sp>
      <p:pic>
        <p:nvPicPr>
          <p:cNvPr id="19" name="Blocked" descr="Blocked">    </p:cNvPr>
          <p:cNvPicPr>
            <a:picLocks noChangeAspect="1"/>
          </p:cNvPicPr>
          <p:nvPr/>
        </p:nvPicPr>
        <p:blipFill>
          <a:blip r:embed="rId3"/>
          <a:stretch>
            <a:fillRect/>
          </a:stretch>
        </p:blipFill>
        <p:spPr>
          <a:xfrm>
            <a:off x="9665208" y="265176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LECTURE 2</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What we cover today</a:t>
            </a:r>
            <a:endParaRPr lang="en-IE" sz="3400" dirty="0"/>
          </a:p>
        </p:txBody>
      </p:sp>
      <p:sp>
        <p:nvSpPr>
          <p:cNvPr id="5" name="Text 2"/>
          <p:cNvSpPr txBox="1"/>
          <p:nvPr/>
        </p:nvSpPr>
        <p:spPr>
          <a:xfrm>
            <a:off x="548640" y="1746504"/>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01</a:t>
            </a:r>
            <a:endParaRPr lang="en-IE" sz="3000" dirty="0"/>
          </a:p>
        </p:txBody>
      </p:sp>
      <p:sp>
        <p:nvSpPr>
          <p:cNvPr id="6" name="Text 3"/>
          <p:cNvSpPr txBox="1"/>
          <p:nvPr/>
        </p:nvSpPr>
        <p:spPr>
          <a:xfrm>
            <a:off x="1463040" y="1783080"/>
            <a:ext cx="5577840" cy="384048"/>
          </a:xfrm>
          <a:prstGeom prst="rect">
            <a:avLst/>
          </a:prstGeom>
          <a:noFill/>
          <a:ln/>
        </p:spPr>
        <p:txBody>
          <a:bodyPr wrap="square" lIns="0" tIns="0" rIns="0" bIns="0" rtlCol="0" anchor="t"/>
          <a:lstStyle/>
          <a:p>
            <a:pPr indent="0" marL="0">
              <a:buNone/>
            </a:pPr>
            <a:r>
              <a:rPr lang="en-IE" sz="2100" b="1" dirty="0">
                <a:solidFill>
                  <a:schemeClr val="tx1"/>
                </a:solidFill>
              </a:rPr>
              <a:t>Hiding the details</a:t>
            </a:r>
            <a:endParaRPr lang="en-IE" sz="2100" dirty="0"/>
          </a:p>
        </p:txBody>
      </p:sp>
      <p:sp>
        <p:nvSpPr>
          <p:cNvPr id="7" name="Text 4"/>
          <p:cNvSpPr txBox="1"/>
          <p:nvPr/>
        </p:nvSpPr>
        <p:spPr>
          <a:xfrm>
            <a:off x="1463040" y="2194560"/>
            <a:ext cx="5577840" cy="365760"/>
          </a:xfrm>
          <a:prstGeom prst="rect">
            <a:avLst/>
          </a:prstGeom>
          <a:noFill/>
          <a:ln/>
        </p:spPr>
        <p:txBody>
          <a:bodyPr wrap="square" lIns="0" tIns="0" rIns="0" bIns="0" rtlCol="0" anchor="t"/>
          <a:lstStyle/>
          <a:p>
            <a:pPr indent="0" marL="0">
              <a:buNone/>
            </a:pPr>
            <a:r>
              <a:rPr lang="en-IE" sz="1500" dirty="0">
                <a:solidFill>
                  <a:schemeClr val="tx2"/>
                </a:solidFill>
              </a:rPr>
              <a:t>Abstraction, encapsulation and access modifiers</a:t>
            </a:r>
            <a:endParaRPr lang="en-IE" sz="1500" dirty="0"/>
          </a:p>
        </p:txBody>
      </p:sp>
      <p:sp>
        <p:nvSpPr>
          <p:cNvPr id="8" name="Text 5"/>
          <p:cNvSpPr txBox="1"/>
          <p:nvPr/>
        </p:nvSpPr>
        <p:spPr>
          <a:xfrm>
            <a:off x="548640" y="2816352"/>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02</a:t>
            </a:r>
            <a:endParaRPr lang="en-IE" sz="3000" dirty="0"/>
          </a:p>
        </p:txBody>
      </p:sp>
      <p:sp>
        <p:nvSpPr>
          <p:cNvPr id="9" name="Text 6"/>
          <p:cNvSpPr txBox="1"/>
          <p:nvPr/>
        </p:nvSpPr>
        <p:spPr>
          <a:xfrm>
            <a:off x="1463040" y="2852928"/>
            <a:ext cx="5577840" cy="384048"/>
          </a:xfrm>
          <a:prstGeom prst="rect">
            <a:avLst/>
          </a:prstGeom>
          <a:noFill/>
          <a:ln/>
        </p:spPr>
        <p:txBody>
          <a:bodyPr wrap="square" lIns="0" tIns="0" rIns="0" bIns="0" rtlCol="0" anchor="t"/>
          <a:lstStyle/>
          <a:p>
            <a:pPr indent="0" marL="0">
              <a:buNone/>
            </a:pPr>
            <a:r>
              <a:rPr lang="en-IE" sz="2100" b="1" dirty="0">
                <a:solidFill>
                  <a:schemeClr val="tx1"/>
                </a:solidFill>
              </a:rPr>
              <a:t>Getters and setters</a:t>
            </a:r>
            <a:endParaRPr lang="en-IE" sz="2100" dirty="0"/>
          </a:p>
        </p:txBody>
      </p:sp>
      <p:sp>
        <p:nvSpPr>
          <p:cNvPr id="10" name="Text 7"/>
          <p:cNvSpPr txBox="1"/>
          <p:nvPr/>
        </p:nvSpPr>
        <p:spPr>
          <a:xfrm>
            <a:off x="1463040" y="3264408"/>
            <a:ext cx="5577840" cy="365760"/>
          </a:xfrm>
          <a:prstGeom prst="rect">
            <a:avLst/>
          </a:prstGeom>
          <a:noFill/>
          <a:ln/>
        </p:spPr>
        <p:txBody>
          <a:bodyPr wrap="square" lIns="0" tIns="0" rIns="0" bIns="0" rtlCol="0" anchor="t"/>
          <a:lstStyle/>
          <a:p>
            <a:pPr indent="0" marL="0">
              <a:buNone/>
            </a:pPr>
            <a:r>
              <a:rPr lang="en-IE" sz="1500" dirty="0">
                <a:solidFill>
                  <a:schemeClr val="tx2"/>
                </a:solidFill>
              </a:rPr>
              <a:t>Reading and changing private data safely</a:t>
            </a:r>
            <a:endParaRPr lang="en-IE" sz="1500" dirty="0"/>
          </a:p>
        </p:txBody>
      </p:sp>
      <p:sp>
        <p:nvSpPr>
          <p:cNvPr id="11" name="Text 8"/>
          <p:cNvSpPr txBox="1"/>
          <p:nvPr/>
        </p:nvSpPr>
        <p:spPr>
          <a:xfrm>
            <a:off x="548640" y="3886200"/>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03</a:t>
            </a:r>
            <a:endParaRPr lang="en-IE" sz="3000" dirty="0"/>
          </a:p>
        </p:txBody>
      </p:sp>
      <p:sp>
        <p:nvSpPr>
          <p:cNvPr id="12" name="Text 9"/>
          <p:cNvSpPr txBox="1"/>
          <p:nvPr/>
        </p:nvSpPr>
        <p:spPr>
          <a:xfrm>
            <a:off x="1463040" y="3922776"/>
            <a:ext cx="5577840" cy="384048"/>
          </a:xfrm>
          <a:prstGeom prst="rect">
            <a:avLst/>
          </a:prstGeom>
          <a:noFill/>
          <a:ln/>
        </p:spPr>
        <p:txBody>
          <a:bodyPr wrap="square" lIns="0" tIns="0" rIns="0" bIns="0" rtlCol="0" anchor="t"/>
          <a:lstStyle/>
          <a:p>
            <a:pPr indent="0" marL="0">
              <a:buNone/>
            </a:pPr>
            <a:r>
              <a:rPr lang="en-IE" sz="2100" b="1" dirty="0">
                <a:solidFill>
                  <a:schemeClr val="tx1"/>
                </a:solidFill>
              </a:rPr>
              <a:t>Instances and static</a:t>
            </a:r>
            <a:endParaRPr lang="en-IE" sz="2100" dirty="0"/>
          </a:p>
        </p:txBody>
      </p:sp>
      <p:sp>
        <p:nvSpPr>
          <p:cNvPr id="13" name="Text 10"/>
          <p:cNvSpPr txBox="1"/>
          <p:nvPr/>
        </p:nvSpPr>
        <p:spPr>
          <a:xfrm>
            <a:off x="1463040" y="4334256"/>
            <a:ext cx="5577840" cy="365760"/>
          </a:xfrm>
          <a:prstGeom prst="rect">
            <a:avLst/>
          </a:prstGeom>
          <a:noFill/>
          <a:ln/>
        </p:spPr>
        <p:txBody>
          <a:bodyPr wrap="square" lIns="0" tIns="0" rIns="0" bIns="0" rtlCol="0" anchor="t"/>
          <a:lstStyle/>
          <a:p>
            <a:pPr indent="0" marL="0">
              <a:buNone/>
            </a:pPr>
            <a:r>
              <a:rPr lang="en-IE" sz="1500" dirty="0">
                <a:solidFill>
                  <a:schemeClr val="tx2"/>
                </a:solidFill>
              </a:rPr>
              <a:t>Objects in memory, and things that belong to the class</a:t>
            </a:r>
            <a:endParaRPr lang="en-IE" sz="1500" dirty="0"/>
          </a:p>
        </p:txBody>
      </p:sp>
      <p:sp>
        <p:nvSpPr>
          <p:cNvPr id="14" name="Text 11"/>
          <p:cNvSpPr txBox="1"/>
          <p:nvPr/>
        </p:nvSpPr>
        <p:spPr>
          <a:xfrm>
            <a:off x="548640" y="4956048"/>
            <a:ext cx="868680" cy="548640"/>
          </a:xfrm>
          <a:prstGeom prst="rect">
            <a:avLst/>
          </a:prstGeom>
          <a:noFill/>
          <a:ln/>
        </p:spPr>
        <p:txBody>
          <a:bodyPr wrap="square" lIns="0" tIns="0" rIns="0" bIns="0" rtlCol="0" anchor="t"/>
          <a:lstStyle/>
          <a:p>
            <a:pPr indent="0" marL="0">
              <a:buNone/>
            </a:pPr>
            <a:r>
              <a:rPr lang="en-IE" sz="3000" b="1" dirty="0">
                <a:solidFill>
                  <a:schemeClr val="accent1"/>
                </a:solidFill>
              </a:rPr>
              <a:t>04</a:t>
            </a:r>
            <a:endParaRPr lang="en-IE" sz="3000" dirty="0"/>
          </a:p>
        </p:txBody>
      </p:sp>
      <p:sp>
        <p:nvSpPr>
          <p:cNvPr id="15" name="Text 12"/>
          <p:cNvSpPr txBox="1"/>
          <p:nvPr/>
        </p:nvSpPr>
        <p:spPr>
          <a:xfrm>
            <a:off x="1463040" y="4992624"/>
            <a:ext cx="5577840" cy="384048"/>
          </a:xfrm>
          <a:prstGeom prst="rect">
            <a:avLst/>
          </a:prstGeom>
          <a:noFill/>
          <a:ln/>
        </p:spPr>
        <p:txBody>
          <a:bodyPr wrap="square" lIns="0" tIns="0" rIns="0" bIns="0" rtlCol="0" anchor="t"/>
          <a:lstStyle/>
          <a:p>
            <a:pPr indent="0" marL="0">
              <a:buNone/>
            </a:pPr>
            <a:r>
              <a:rPr lang="en-IE" sz="2100" b="1" dirty="0">
                <a:solidFill>
                  <a:schemeClr val="tx1"/>
                </a:solidFill>
              </a:rPr>
              <a:t>Let Eclipse do the typing</a:t>
            </a:r>
            <a:endParaRPr lang="en-IE" sz="2100" dirty="0"/>
          </a:p>
        </p:txBody>
      </p:sp>
      <p:sp>
        <p:nvSpPr>
          <p:cNvPr id="16" name="Text 13"/>
          <p:cNvSpPr txBox="1"/>
          <p:nvPr/>
        </p:nvSpPr>
        <p:spPr>
          <a:xfrm>
            <a:off x="1463040" y="5404104"/>
            <a:ext cx="5577840" cy="365760"/>
          </a:xfrm>
          <a:prstGeom prst="rect">
            <a:avLst/>
          </a:prstGeom>
          <a:noFill/>
          <a:ln/>
        </p:spPr>
        <p:txBody>
          <a:bodyPr wrap="square" lIns="0" tIns="0" rIns="0" bIns="0" rtlCol="0" anchor="t"/>
          <a:lstStyle/>
          <a:p>
            <a:pPr indent="0" marL="0">
              <a:buNone/>
            </a:pPr>
            <a:r>
              <a:rPr lang="en-IE" sz="1500" dirty="0">
                <a:solidFill>
                  <a:schemeClr val="tx2"/>
                </a:solidFill>
              </a:rPr>
              <a:t>Generating getters and setters for us</a:t>
            </a:r>
            <a:endParaRPr lang="en-IE" sz="1500" dirty="0"/>
          </a:p>
        </p:txBody>
      </p:sp>
      <p:sp>
        <p:nvSpPr>
          <p:cNvPr id="17" name="How it works"/>
          <p:cNvSpPr/>
          <p:nvPr/>
        </p:nvSpPr>
        <p:spPr>
          <a:xfrm>
            <a:off x="7543800" y="1783080"/>
            <a:ext cx="4099255" cy="4160520"/>
          </a:xfrm>
          <a:prstGeom prst="roundRect">
            <a:avLst>
              <a:gd name="adj" fmla="val 2677"/>
            </a:avLst>
          </a:prstGeom>
          <a:solidFill>
            <a:schemeClr val="bg2"/>
          </a:solidFill>
          <a:ln/>
        </p:spPr>
      </p:sp>
      <p:sp>
        <p:nvSpPr>
          <p:cNvPr id="18" name="Text 15"/>
          <p:cNvSpPr txBox="1"/>
          <p:nvPr/>
        </p:nvSpPr>
        <p:spPr>
          <a:xfrm>
            <a:off x="7909560" y="2103120"/>
            <a:ext cx="3367735" cy="411480"/>
          </a:xfrm>
          <a:prstGeom prst="rect">
            <a:avLst/>
          </a:prstGeom>
          <a:noFill/>
          <a:ln/>
        </p:spPr>
        <p:txBody>
          <a:bodyPr wrap="square" lIns="0" tIns="0" rIns="0" bIns="0" rtlCol="0" anchor="t"/>
          <a:lstStyle/>
          <a:p>
            <a:pPr indent="0" marL="0">
              <a:buNone/>
            </a:pPr>
            <a:r>
              <a:rPr lang="en-IE" sz="1900" b="1" dirty="0">
                <a:solidFill>
                  <a:schemeClr val="tx1"/>
                </a:solidFill>
              </a:rPr>
              <a:t>How each topic works</a:t>
            </a:r>
            <a:endParaRPr lang="en-IE" sz="1900" dirty="0"/>
          </a:p>
        </p:txBody>
      </p:sp>
      <p:sp>
        <p:nvSpPr>
          <p:cNvPr id="19"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20" name="book open text icon"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1" name="Text 17"/>
          <p:cNvSpPr txBox="1"/>
          <p:nvPr/>
        </p:nvSpPr>
        <p:spPr>
          <a:xfrm>
            <a:off x="8732520" y="2752344"/>
            <a:ext cx="2590495" cy="676656"/>
          </a:xfrm>
          <a:prstGeom prst="rect">
            <a:avLst/>
          </a:prstGeom>
          <a:noFill/>
          <a:ln/>
        </p:spPr>
        <p:txBody>
          <a:bodyPr wrap="square" lIns="0" tIns="0" rIns="0" bIns="0" rtlCol="0" anchor="ctr"/>
          <a:lstStyle/>
          <a:p>
            <a:pPr indent="0" marL="0">
              <a:buNone/>
            </a:pPr>
            <a:r>
              <a:rPr lang="en-IE" sz="1600" dirty="0">
                <a:solidFill>
                  <a:schemeClr val="tx1"/>
                </a:solidFill>
              </a:rPr>
              <a:t>Read the idea and look at the example</a:t>
            </a:r>
            <a:endParaRPr lang="en-IE" sz="1600" dirty="0"/>
          </a:p>
        </p:txBody>
      </p:sp>
      <p:sp>
        <p:nvSpPr>
          <p:cNvPr id="22"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3" name="cursor click icon"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4" name="Text 19"/>
          <p:cNvSpPr txBox="1"/>
          <p:nvPr/>
        </p:nvSpPr>
        <p:spPr>
          <a:xfrm>
            <a:off x="8732520" y="3739896"/>
            <a:ext cx="2590495" cy="676656"/>
          </a:xfrm>
          <a:prstGeom prst="rect">
            <a:avLst/>
          </a:prstGeom>
          <a:noFill/>
          <a:ln/>
        </p:spPr>
        <p:txBody>
          <a:bodyPr wrap="square" lIns="0" tIns="0" rIns="0" bIns="0" rtlCol="0" anchor="ctr"/>
          <a:lstStyle/>
          <a:p>
            <a:pPr indent="0" marL="0">
              <a:buNone/>
            </a:pPr>
            <a:r>
              <a:rPr lang="en-IE" sz="1600" dirty="0">
                <a:solidFill>
                  <a:schemeClr val="tx1"/>
                </a:solidFill>
              </a:rPr>
              <a:t>Try the quick check: A, B, C or D?</a:t>
            </a:r>
            <a:endParaRPr lang="en-IE" sz="1600" dirty="0"/>
          </a:p>
        </p:txBody>
      </p:sp>
      <p:sp>
        <p:nvSpPr>
          <p:cNvPr id="25"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6" name="check circle icon"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7" name="Text 21"/>
          <p:cNvSpPr txBox="1"/>
          <p:nvPr/>
        </p:nvSpPr>
        <p:spPr>
          <a:xfrm>
            <a:off x="8732520" y="4727448"/>
            <a:ext cx="2590495" cy="676656"/>
          </a:xfrm>
          <a:prstGeom prst="rect">
            <a:avLst/>
          </a:prstGeom>
          <a:noFill/>
          <a:ln/>
        </p:spPr>
        <p:txBody>
          <a:bodyPr wrap="square" lIns="0" tIns="0" rIns="0" bIns="0" rtlCol="0" anchor="ctr"/>
          <a:lstStyle/>
          <a:p>
            <a:pPr indent="0" marL="0">
              <a:buNone/>
            </a:pPr>
            <a:r>
              <a:rPr lang="en-IE" sz="1600" dirty="0">
                <a:solidFill>
                  <a:schemeClr val="tx1"/>
                </a:solidFill>
              </a:rPr>
              <a:t>See the answer, and why, on the next slide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a:t>
            </a:fld>
            <a:endParaRPr lang="en-I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01</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Hiding the details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Abstraction, encapsulation and who can see what</a:t>
            </a:r>
            <a:endParaRPr lang="en-IE" sz="2000" dirty="0"/>
          </a:p>
        </p:txBody>
      </p:sp>
      <p:sp>
        <p:nvSpPr>
          <p:cNvPr id="5" name="Topic chip"/>
          <p:cNvSpPr/>
          <p:nvPr/>
        </p:nvSpPr>
        <p:spPr>
          <a:xfrm>
            <a:off x="8229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Abstraction</a:t>
            </a:r>
            <a:endParaRPr lang="en-IE" sz="1400" dirty="0"/>
          </a:p>
        </p:txBody>
      </p:sp>
      <p:sp>
        <p:nvSpPr>
          <p:cNvPr id="6" name="Topic chip"/>
          <p:cNvSpPr/>
          <p:nvPr/>
        </p:nvSpPr>
        <p:spPr>
          <a:xfrm>
            <a:off x="2388616" y="4846320"/>
            <a:ext cx="160426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Encapsulation</a:t>
            </a:r>
            <a:endParaRPr lang="en-IE" sz="1400" dirty="0"/>
          </a:p>
        </p:txBody>
      </p:sp>
      <p:sp>
        <p:nvSpPr>
          <p:cNvPr id="7" name="Topic chip"/>
          <p:cNvSpPr/>
          <p:nvPr/>
        </p:nvSpPr>
        <p:spPr>
          <a:xfrm>
            <a:off x="4139184" y="4846320"/>
            <a:ext cx="160426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Access levels</a:t>
            </a:r>
            <a:endParaRPr lang="en-IE" sz="1400" dirty="0"/>
          </a:p>
        </p:txBody>
      </p:sp>
      <p:sp>
        <p:nvSpPr>
          <p:cNvPr id="8" name="Topic chip"/>
          <p:cNvSpPr/>
          <p:nvPr/>
        </p:nvSpPr>
        <p:spPr>
          <a:xfrm>
            <a:off x="5889752"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private</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HIDING THE DETAILS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Abstraction: hide what we don’t need</a:t>
            </a:r>
            <a:endParaRPr lang="en-IE" sz="3400" dirty="0"/>
          </a:p>
        </p:txBody>
      </p:sp>
      <p:sp>
        <p:nvSpPr>
          <p:cNvPr id="5" name="Text 2"/>
          <p:cNvSpPr txBox="1"/>
          <p:nvPr/>
        </p:nvSpPr>
        <p:spPr>
          <a:xfrm>
            <a:off x="548640" y="1783080"/>
            <a:ext cx="5394960" cy="2194560"/>
          </a:xfrm>
          <a:prstGeom prst="rect">
            <a:avLst/>
          </a:prstGeom>
          <a:noFill/>
          <a:ln/>
        </p:spPr>
        <p:txBody>
          <a:bodyPr wrap="square" lIns="0" tIns="0" rIns="0" bIns="0" rtlCol="0" anchor="t"/>
          <a:lstStyle/>
          <a:p>
            <a:pPr marL="228600" indent="-228600">
              <a:spcAft>
                <a:spcPts val="1200"/>
              </a:spcAft>
              <a:buSzPct val="100000"/>
              <a:buChar char="•"/>
            </a:pPr>
            <a:r>
              <a:rPr lang="en-IE" sz="1800" dirty="0">
                <a:solidFill>
                  <a:schemeClr val="tx1"/>
                </a:solidFill>
              </a:rPr>
              <a:t>Abstraction means showing only what we need to use something, and hiding how it works inside.</a:t>
            </a:r>
            <a:endParaRPr lang="en-IE" sz="1800" dirty="0"/>
          </a:p>
          <a:p>
            <a:pPr marL="228600" indent="-228600">
              <a:spcAft>
                <a:spcPts val="1200"/>
              </a:spcAft>
              <a:buSzPct val="100000"/>
              <a:buChar char="•"/>
            </a:pPr>
            <a:r>
              <a:rPr lang="en-IE" sz="1800" dirty="0">
                <a:solidFill>
                  <a:schemeClr val="tx1"/>
                </a:solidFill>
              </a:rPr>
              <a:t>Code can get very complex, and the information we want gets lost in the details.</a:t>
            </a:r>
            <a:endParaRPr lang="en-IE" sz="1800" dirty="0"/>
          </a:p>
          <a:p>
            <a:pPr marL="228600" indent="-228600">
              <a:buSzPct val="100000"/>
              <a:buChar char="•"/>
            </a:pPr>
            <a:r>
              <a:rPr lang="en-IE" sz="1800" dirty="0">
                <a:solidFill>
                  <a:schemeClr val="tx1"/>
                </a:solidFill>
              </a:rPr>
              <a:t>So we hide the parts of the data we don’t need to see.</a:t>
            </a:r>
            <a:endParaRPr lang="en-IE" sz="1800" dirty="0"/>
          </a:p>
        </p:txBody>
      </p:sp>
      <p:sp>
        <p:nvSpPr>
          <p:cNvPr id="6" name="Icon tile"/>
          <p:cNvSpPr/>
          <p:nvPr/>
        </p:nvSpPr>
        <p:spPr>
          <a:xfrm>
            <a:off x="548640" y="4160520"/>
            <a:ext cx="621792" cy="621792"/>
          </a:xfrm>
          <a:prstGeom prst="roundRect">
            <a:avLst>
              <a:gd name="adj" fmla="val 24000"/>
            </a:avLst>
          </a:prstGeom>
          <a:solidFill>
            <a:schemeClr val="accent3">
              <a:alpha val="14000"/>
            </a:schemeClr>
          </a:solidFill>
          <a:ln/>
        </p:spPr>
      </p:sp>
      <p:pic>
        <p:nvPicPr>
          <p:cNvPr id="7" name="check circle icon" descr="check circle icon">    </p:cNvPr>
          <p:cNvPicPr>
            <a:picLocks noChangeAspect="1"/>
          </p:cNvPicPr>
          <p:nvPr/>
        </p:nvPicPr>
        <p:blipFill>
          <a:blip r:embed="rId1"/>
          <a:stretch>
            <a:fillRect/>
          </a:stretch>
        </p:blipFill>
        <p:spPr>
          <a:xfrm>
            <a:off x="679216" y="4291096"/>
            <a:ext cx="360639" cy="360639"/>
          </a:xfrm>
          <a:prstGeom prst="rect">
            <a:avLst/>
          </a:prstGeom>
        </p:spPr>
      </p:pic>
      <p:sp>
        <p:nvSpPr>
          <p:cNvPr id="8" name="Text 4"/>
          <p:cNvSpPr txBox="1"/>
          <p:nvPr/>
        </p:nvSpPr>
        <p:spPr>
          <a:xfrm>
            <a:off x="1371600" y="4123944"/>
            <a:ext cx="4572000" cy="329184"/>
          </a:xfrm>
          <a:prstGeom prst="rect">
            <a:avLst/>
          </a:prstGeom>
          <a:noFill/>
          <a:ln/>
        </p:spPr>
        <p:txBody>
          <a:bodyPr wrap="square" lIns="0" tIns="0" rIns="0" bIns="0" rtlCol="0" anchor="t"/>
          <a:lstStyle/>
          <a:p>
            <a:pPr indent="0" marL="0">
              <a:buNone/>
            </a:pPr>
            <a:r>
              <a:rPr lang="en-IE" sz="1800" b="1" dirty="0">
                <a:solidFill>
                  <a:schemeClr val="tx1"/>
                </a:solidFill>
              </a:rPr>
              <a:t>Simplicity</a:t>
            </a:r>
            <a:endParaRPr lang="en-IE" sz="1800" dirty="0"/>
          </a:p>
        </p:txBody>
      </p:sp>
      <p:sp>
        <p:nvSpPr>
          <p:cNvPr id="9" name="Text 5"/>
          <p:cNvSpPr txBox="1"/>
          <p:nvPr/>
        </p:nvSpPr>
        <p:spPr>
          <a:xfrm>
            <a:off x="1371600" y="4453128"/>
            <a:ext cx="4572000" cy="566928"/>
          </a:xfrm>
          <a:prstGeom prst="rect">
            <a:avLst/>
          </a:prstGeom>
          <a:noFill/>
          <a:ln/>
        </p:spPr>
        <p:txBody>
          <a:bodyPr wrap="square" lIns="0" tIns="0" rIns="0" bIns="0" rtlCol="0" anchor="t"/>
          <a:lstStyle/>
          <a:p>
            <a:pPr indent="0" marL="0">
              <a:buNone/>
            </a:pPr>
            <a:r>
              <a:rPr lang="en-IE" sz="1500" dirty="0">
                <a:solidFill>
                  <a:schemeClr val="tx2"/>
                </a:solidFill>
              </a:rPr>
              <a:t>It’s easier to code when we don’t have to worry about how something works inside.</a:t>
            </a:r>
            <a:endParaRPr lang="en-IE" sz="1500" dirty="0"/>
          </a:p>
        </p:txBody>
      </p:sp>
      <p:sp>
        <p:nvSpPr>
          <p:cNvPr id="10" name="Icon tile"/>
          <p:cNvSpPr/>
          <p:nvPr/>
        </p:nvSpPr>
        <p:spPr>
          <a:xfrm>
            <a:off x="548640" y="5148072"/>
            <a:ext cx="621792" cy="621792"/>
          </a:xfrm>
          <a:prstGeom prst="roundRect">
            <a:avLst>
              <a:gd name="adj" fmla="val 24000"/>
            </a:avLst>
          </a:prstGeom>
          <a:solidFill>
            <a:schemeClr val="accent2">
              <a:alpha val="14000"/>
            </a:schemeClr>
          </a:solidFill>
          <a:ln/>
        </p:spPr>
      </p:sp>
      <p:pic>
        <p:nvPicPr>
          <p:cNvPr id="11" name="shield check icon" descr="shield check icon">    </p:cNvPr>
          <p:cNvPicPr>
            <a:picLocks noChangeAspect="1"/>
          </p:cNvPicPr>
          <p:nvPr/>
        </p:nvPicPr>
        <p:blipFill>
          <a:blip r:embed="rId2"/>
          <a:stretch>
            <a:fillRect/>
          </a:stretch>
        </p:blipFill>
        <p:spPr>
          <a:xfrm>
            <a:off x="679216" y="5278648"/>
            <a:ext cx="360639" cy="360639"/>
          </a:xfrm>
          <a:prstGeom prst="rect">
            <a:avLst/>
          </a:prstGeom>
        </p:spPr>
      </p:pic>
      <p:sp>
        <p:nvSpPr>
          <p:cNvPr id="12" name="Text 7"/>
          <p:cNvSpPr txBox="1"/>
          <p:nvPr/>
        </p:nvSpPr>
        <p:spPr>
          <a:xfrm>
            <a:off x="1371600" y="5111496"/>
            <a:ext cx="4572000" cy="329184"/>
          </a:xfrm>
          <a:prstGeom prst="rect">
            <a:avLst/>
          </a:prstGeom>
          <a:noFill/>
          <a:ln/>
        </p:spPr>
        <p:txBody>
          <a:bodyPr wrap="square" lIns="0" tIns="0" rIns="0" bIns="0" rtlCol="0" anchor="t"/>
          <a:lstStyle/>
          <a:p>
            <a:pPr indent="0" marL="0">
              <a:buNone/>
            </a:pPr>
            <a:r>
              <a:rPr lang="en-IE" sz="1800" b="1" dirty="0">
                <a:solidFill>
                  <a:schemeClr val="tx1"/>
                </a:solidFill>
              </a:rPr>
              <a:t>Security</a:t>
            </a:r>
            <a:endParaRPr lang="en-IE" sz="1800" dirty="0"/>
          </a:p>
        </p:txBody>
      </p:sp>
      <p:sp>
        <p:nvSpPr>
          <p:cNvPr id="13" name="Text 8"/>
          <p:cNvSpPr txBox="1"/>
          <p:nvPr/>
        </p:nvSpPr>
        <p:spPr>
          <a:xfrm>
            <a:off x="1371600" y="5440680"/>
            <a:ext cx="4572000" cy="566928"/>
          </a:xfrm>
          <a:prstGeom prst="rect">
            <a:avLst/>
          </a:prstGeom>
          <a:noFill/>
          <a:ln/>
        </p:spPr>
        <p:txBody>
          <a:bodyPr wrap="square" lIns="0" tIns="0" rIns="0" bIns="0" rtlCol="0" anchor="t"/>
          <a:lstStyle/>
          <a:p>
            <a:pPr indent="0" marL="0">
              <a:buNone/>
            </a:pPr>
            <a:r>
              <a:rPr lang="en-IE" sz="1500" dirty="0">
                <a:solidFill>
                  <a:schemeClr val="tx2"/>
                </a:solidFill>
              </a:rPr>
              <a:t>We can’t break what we can’t access.</a:t>
            </a:r>
            <a:endParaRPr lang="en-IE" sz="1500" dirty="0"/>
          </a:p>
        </p:txBody>
      </p:sp>
      <p:sp>
        <p:nvSpPr>
          <p:cNvPr id="14" name="Car example"/>
          <p:cNvSpPr/>
          <p:nvPr/>
        </p:nvSpPr>
        <p:spPr>
          <a:xfrm>
            <a:off x="6355080" y="1783080"/>
            <a:ext cx="5287975" cy="4297680"/>
          </a:xfrm>
          <a:prstGeom prst="roundRect">
            <a:avLst>
              <a:gd name="adj" fmla="val 2553"/>
            </a:avLst>
          </a:prstGeom>
          <a:solidFill>
            <a:schemeClr val="bg2"/>
          </a:solidFill>
          <a:ln/>
        </p:spPr>
      </p:sp>
      <p:sp>
        <p:nvSpPr>
          <p:cNvPr id="15" name="Text 10"/>
          <p:cNvSpPr txBox="1"/>
          <p:nvPr/>
        </p:nvSpPr>
        <p:spPr>
          <a:xfrm>
            <a:off x="6675120" y="1984248"/>
            <a:ext cx="3657600" cy="274320"/>
          </a:xfrm>
          <a:prstGeom prst="rect">
            <a:avLst/>
          </a:prstGeom>
          <a:noFill/>
          <a:ln/>
        </p:spPr>
        <p:txBody>
          <a:bodyPr wrap="square" lIns="0" tIns="0" rIns="0" bIns="0" rtlCol="0" anchor="t"/>
          <a:lstStyle/>
          <a:p>
            <a:pPr indent="0" marL="0">
              <a:buNone/>
            </a:pPr>
            <a:r>
              <a:rPr lang="en-IE" sz="1200" b="1" spc="150" kern="0" dirty="0">
                <a:solidFill>
                  <a:schemeClr val="tx2"/>
                </a:solidFill>
              </a:rPr>
              <a:t>LIKE DRIVING A CAR</a:t>
            </a:r>
            <a:endParaRPr lang="en-IE" sz="1200" dirty="0"/>
          </a:p>
        </p:txBody>
      </p:sp>
      <p:sp>
        <p:nvSpPr>
          <p:cNvPr id="16" name="What the driver uses"/>
          <p:cNvSpPr/>
          <p:nvPr/>
        </p:nvSpPr>
        <p:spPr>
          <a:xfrm>
            <a:off x="6629400" y="2377440"/>
            <a:ext cx="4739335" cy="1645920"/>
          </a:xfrm>
          <a:prstGeom prst="roundRect">
            <a:avLst>
              <a:gd name="adj" fmla="val 6667"/>
            </a:avLst>
          </a:prstGeom>
          <a:solidFill>
            <a:schemeClr val="bg1"/>
          </a:solidFill>
          <a:ln/>
          <a:effectLst>
            <a:outerShdw sx="100000" sy="100000" kx="0" ky="0" algn="bl" rotWithShape="0" blurRad="76200" dist="19050" dir="5400000">
              <a:srgbClr val="1D2433">
                <a:alpha val="8000"/>
              </a:srgbClr>
            </a:outerShdw>
          </a:effectLst>
        </p:spPr>
      </p:sp>
      <p:sp>
        <p:nvSpPr>
          <p:cNvPr id="17" name="Text 12"/>
          <p:cNvSpPr txBox="1"/>
          <p:nvPr/>
        </p:nvSpPr>
        <p:spPr>
          <a:xfrm>
            <a:off x="6903720" y="2514600"/>
            <a:ext cx="3824935" cy="320040"/>
          </a:xfrm>
          <a:prstGeom prst="rect">
            <a:avLst/>
          </a:prstGeom>
          <a:noFill/>
          <a:ln/>
        </p:spPr>
        <p:txBody>
          <a:bodyPr wrap="square" lIns="0" tIns="0" rIns="0" bIns="0" rtlCol="0" anchor="t"/>
          <a:lstStyle/>
          <a:p>
            <a:pPr indent="0" marL="0">
              <a:buNone/>
            </a:pPr>
            <a:r>
              <a:rPr lang="en-IE" sz="1500" b="1" dirty="0">
                <a:solidFill>
                  <a:schemeClr val="tx1"/>
                </a:solidFill>
              </a:rPr>
              <a:t>What the driver uses</a:t>
            </a:r>
            <a:endParaRPr lang="en-IE" sz="1500" dirty="0"/>
          </a:p>
        </p:txBody>
      </p:sp>
      <p:pic>
        <p:nvPicPr>
          <p:cNvPr id="18" name="steering wheel icon" descr="steering wheel icon">    </p:cNvPr>
          <p:cNvPicPr>
            <a:picLocks noChangeAspect="1"/>
          </p:cNvPicPr>
          <p:nvPr/>
        </p:nvPicPr>
        <p:blipFill>
          <a:blip r:embed="rId3"/>
          <a:stretch>
            <a:fillRect/>
          </a:stretch>
        </p:blipFill>
        <p:spPr>
          <a:xfrm>
            <a:off x="7318705" y="2926080"/>
            <a:ext cx="566928" cy="566928"/>
          </a:xfrm>
          <a:prstGeom prst="rect">
            <a:avLst/>
          </a:prstGeom>
        </p:spPr>
      </p:pic>
      <p:sp>
        <p:nvSpPr>
          <p:cNvPr id="19" name="Text 13"/>
          <p:cNvSpPr txBox="1"/>
          <p:nvPr/>
        </p:nvSpPr>
        <p:spPr>
          <a:xfrm>
            <a:off x="6903720" y="3547872"/>
            <a:ext cx="1396898" cy="292608"/>
          </a:xfrm>
          <a:prstGeom prst="rect">
            <a:avLst/>
          </a:prstGeom>
          <a:noFill/>
          <a:ln/>
        </p:spPr>
        <p:txBody>
          <a:bodyPr wrap="square" lIns="0" tIns="0" rIns="0" bIns="0" rtlCol="0" anchor="t"/>
          <a:lstStyle/>
          <a:p>
            <a:pPr algn="ctr" indent="0" marL="0">
              <a:buNone/>
            </a:pPr>
            <a:r>
              <a:rPr lang="en-IE" sz="1400" dirty="0">
                <a:solidFill>
                  <a:schemeClr val="tx1"/>
                </a:solidFill>
              </a:rPr>
              <a:t>Wheel</a:t>
            </a:r>
            <a:endParaRPr lang="en-IE" sz="1400" dirty="0"/>
          </a:p>
        </p:txBody>
      </p:sp>
      <p:pic>
        <p:nvPicPr>
          <p:cNvPr id="20" name="hand palm icon" descr="hand palm icon">    </p:cNvPr>
          <p:cNvPicPr>
            <a:picLocks noChangeAspect="1"/>
          </p:cNvPicPr>
          <p:nvPr/>
        </p:nvPicPr>
        <p:blipFill>
          <a:blip r:embed="rId4"/>
          <a:stretch>
            <a:fillRect/>
          </a:stretch>
        </p:blipFill>
        <p:spPr>
          <a:xfrm>
            <a:off x="8715604" y="2926080"/>
            <a:ext cx="566928" cy="566928"/>
          </a:xfrm>
          <a:prstGeom prst="rect">
            <a:avLst/>
          </a:prstGeom>
        </p:spPr>
      </p:pic>
      <p:sp>
        <p:nvSpPr>
          <p:cNvPr id="21" name="Text 14"/>
          <p:cNvSpPr txBox="1"/>
          <p:nvPr/>
        </p:nvSpPr>
        <p:spPr>
          <a:xfrm>
            <a:off x="8300618" y="3547872"/>
            <a:ext cx="1396898" cy="292608"/>
          </a:xfrm>
          <a:prstGeom prst="rect">
            <a:avLst/>
          </a:prstGeom>
          <a:noFill/>
          <a:ln/>
        </p:spPr>
        <p:txBody>
          <a:bodyPr wrap="square" lIns="0" tIns="0" rIns="0" bIns="0" rtlCol="0" anchor="t"/>
          <a:lstStyle/>
          <a:p>
            <a:pPr algn="ctr" indent="0" marL="0">
              <a:buNone/>
            </a:pPr>
            <a:r>
              <a:rPr lang="en-IE" sz="1400" dirty="0">
                <a:solidFill>
                  <a:schemeClr val="tx1"/>
                </a:solidFill>
              </a:rPr>
              <a:t>Brake</a:t>
            </a:r>
            <a:endParaRPr lang="en-IE" sz="1400" dirty="0"/>
          </a:p>
        </p:txBody>
      </p:sp>
      <p:pic>
        <p:nvPicPr>
          <p:cNvPr id="22" name="gauge icon" descr="gauge icon">    </p:cNvPr>
          <p:cNvPicPr>
            <a:picLocks noChangeAspect="1"/>
          </p:cNvPicPr>
          <p:nvPr/>
        </p:nvPicPr>
        <p:blipFill>
          <a:blip r:embed="rId5"/>
          <a:stretch>
            <a:fillRect/>
          </a:stretch>
        </p:blipFill>
        <p:spPr>
          <a:xfrm>
            <a:off x="10112502" y="2926080"/>
            <a:ext cx="566928" cy="566928"/>
          </a:xfrm>
          <a:prstGeom prst="rect">
            <a:avLst/>
          </a:prstGeom>
        </p:spPr>
      </p:pic>
      <p:sp>
        <p:nvSpPr>
          <p:cNvPr id="23" name="Text 15"/>
          <p:cNvSpPr txBox="1"/>
          <p:nvPr/>
        </p:nvSpPr>
        <p:spPr>
          <a:xfrm>
            <a:off x="9697517" y="3547872"/>
            <a:ext cx="1396898" cy="292608"/>
          </a:xfrm>
          <a:prstGeom prst="rect">
            <a:avLst/>
          </a:prstGeom>
          <a:noFill/>
          <a:ln/>
        </p:spPr>
        <p:txBody>
          <a:bodyPr wrap="square" lIns="0" tIns="0" rIns="0" bIns="0" rtlCol="0" anchor="t"/>
          <a:lstStyle/>
          <a:p>
            <a:pPr algn="ctr" indent="0" marL="0">
              <a:buNone/>
            </a:pPr>
            <a:r>
              <a:rPr lang="en-IE" sz="1400" dirty="0">
                <a:solidFill>
                  <a:schemeClr val="tx1"/>
                </a:solidFill>
              </a:rPr>
              <a:t>Dashboard</a:t>
            </a:r>
            <a:endParaRPr lang="en-IE" sz="1400" dirty="0"/>
          </a:p>
        </p:txBody>
      </p:sp>
      <p:sp>
        <p:nvSpPr>
          <p:cNvPr id="24" name="What stays hidden"/>
          <p:cNvSpPr/>
          <p:nvPr/>
        </p:nvSpPr>
        <p:spPr>
          <a:xfrm>
            <a:off x="6629400" y="4160520"/>
            <a:ext cx="4739335" cy="1645920"/>
          </a:xfrm>
          <a:prstGeom prst="roundRect">
            <a:avLst>
              <a:gd name="adj" fmla="val 6667"/>
            </a:avLst>
          </a:prstGeom>
          <a:solidFill>
            <a:schemeClr val="bg1"/>
          </a:solidFill>
          <a:ln w="12700">
            <a:solidFill>
              <a:schemeClr val="tx2"/>
            </a:solidFill>
            <a:prstDash val="dash"/>
          </a:ln>
        </p:spPr>
      </p:sp>
      <p:sp>
        <p:nvSpPr>
          <p:cNvPr id="25" name="Text 17"/>
          <p:cNvSpPr txBox="1"/>
          <p:nvPr/>
        </p:nvSpPr>
        <p:spPr>
          <a:xfrm>
            <a:off x="6903720" y="4297680"/>
            <a:ext cx="3824935" cy="320040"/>
          </a:xfrm>
          <a:prstGeom prst="rect">
            <a:avLst/>
          </a:prstGeom>
          <a:noFill/>
          <a:ln/>
        </p:spPr>
        <p:txBody>
          <a:bodyPr wrap="square" lIns="0" tIns="0" rIns="0" bIns="0" rtlCol="0" anchor="t"/>
          <a:lstStyle/>
          <a:p>
            <a:pPr indent="0" marL="0">
              <a:buNone/>
            </a:pPr>
            <a:r>
              <a:rPr lang="en-IE" sz="1500" b="1" dirty="0">
                <a:solidFill>
                  <a:schemeClr val="tx2"/>
                </a:solidFill>
              </a:rPr>
              <a:t>What stays hidden</a:t>
            </a:r>
            <a:endParaRPr lang="en-IE" sz="1500" dirty="0"/>
          </a:p>
        </p:txBody>
      </p:sp>
      <p:pic>
        <p:nvPicPr>
          <p:cNvPr id="26" name="Hidden" descr="Hidden">    </p:cNvPr>
          <p:cNvPicPr>
            <a:picLocks noChangeAspect="1"/>
          </p:cNvPicPr>
          <p:nvPr/>
        </p:nvPicPr>
        <p:blipFill>
          <a:blip r:embed="rId6"/>
          <a:stretch>
            <a:fillRect/>
          </a:stretch>
        </p:blipFill>
        <p:spPr>
          <a:xfrm>
            <a:off x="10801807" y="4288536"/>
            <a:ext cx="347472" cy="347472"/>
          </a:xfrm>
          <a:prstGeom prst="rect">
            <a:avLst/>
          </a:prstGeom>
        </p:spPr>
      </p:pic>
      <p:pic>
        <p:nvPicPr>
          <p:cNvPr id="27" name="engine icon" descr="engine icon">    </p:cNvPr>
          <p:cNvPicPr>
            <a:picLocks noChangeAspect="1"/>
          </p:cNvPicPr>
          <p:nvPr/>
        </p:nvPicPr>
        <p:blipFill>
          <a:blip r:embed="rId7">
            <a:alphaModFix amt="55000"/>
          </a:blip>
          <a:stretch>
            <a:fillRect/>
          </a:stretch>
        </p:blipFill>
        <p:spPr>
          <a:xfrm>
            <a:off x="7318705" y="4709160"/>
            <a:ext cx="566928" cy="566928"/>
          </a:xfrm>
          <a:prstGeom prst="rect">
            <a:avLst/>
          </a:prstGeom>
        </p:spPr>
      </p:pic>
      <p:sp>
        <p:nvSpPr>
          <p:cNvPr id="28" name="Text 18"/>
          <p:cNvSpPr txBox="1"/>
          <p:nvPr/>
        </p:nvSpPr>
        <p:spPr>
          <a:xfrm>
            <a:off x="6903720" y="5330952"/>
            <a:ext cx="1396898" cy="292608"/>
          </a:xfrm>
          <a:prstGeom prst="rect">
            <a:avLst/>
          </a:prstGeom>
          <a:noFill/>
          <a:ln/>
        </p:spPr>
        <p:txBody>
          <a:bodyPr wrap="square" lIns="0" tIns="0" rIns="0" bIns="0" rtlCol="0" anchor="t"/>
          <a:lstStyle/>
          <a:p>
            <a:pPr algn="ctr" indent="0" marL="0">
              <a:buNone/>
            </a:pPr>
            <a:r>
              <a:rPr lang="en-IE" sz="1400" dirty="0">
                <a:solidFill>
                  <a:schemeClr val="tx2"/>
                </a:solidFill>
              </a:rPr>
              <a:t>Engine</a:t>
            </a:r>
            <a:endParaRPr lang="en-IE" sz="1400" dirty="0"/>
          </a:p>
        </p:txBody>
      </p:sp>
      <p:pic>
        <p:nvPicPr>
          <p:cNvPr id="29" name="gear six icon" descr="gear six icon">    </p:cNvPr>
          <p:cNvPicPr>
            <a:picLocks noChangeAspect="1"/>
          </p:cNvPicPr>
          <p:nvPr/>
        </p:nvPicPr>
        <p:blipFill>
          <a:blip r:embed="rId8">
            <a:alphaModFix amt="55000"/>
          </a:blip>
          <a:stretch>
            <a:fillRect/>
          </a:stretch>
        </p:blipFill>
        <p:spPr>
          <a:xfrm>
            <a:off x="8715604" y="4709160"/>
            <a:ext cx="566928" cy="566928"/>
          </a:xfrm>
          <a:prstGeom prst="rect">
            <a:avLst/>
          </a:prstGeom>
        </p:spPr>
      </p:pic>
      <p:sp>
        <p:nvSpPr>
          <p:cNvPr id="30" name="Text 19"/>
          <p:cNvSpPr txBox="1"/>
          <p:nvPr/>
        </p:nvSpPr>
        <p:spPr>
          <a:xfrm>
            <a:off x="8300618" y="5330952"/>
            <a:ext cx="1396898" cy="292608"/>
          </a:xfrm>
          <a:prstGeom prst="rect">
            <a:avLst/>
          </a:prstGeom>
          <a:noFill/>
          <a:ln/>
        </p:spPr>
        <p:txBody>
          <a:bodyPr wrap="square" lIns="0" tIns="0" rIns="0" bIns="0" rtlCol="0" anchor="t"/>
          <a:lstStyle/>
          <a:p>
            <a:pPr algn="ctr" indent="0" marL="0">
              <a:buNone/>
            </a:pPr>
            <a:r>
              <a:rPr lang="en-IE" sz="1400" dirty="0">
                <a:solidFill>
                  <a:schemeClr val="tx2"/>
                </a:solidFill>
              </a:rPr>
              <a:t>Gearbox</a:t>
            </a:r>
            <a:endParaRPr lang="en-IE" sz="1400" dirty="0"/>
          </a:p>
        </p:txBody>
      </p:sp>
      <p:pic>
        <p:nvPicPr>
          <p:cNvPr id="31" name="lightning icon" descr="lightning icon">    </p:cNvPr>
          <p:cNvPicPr>
            <a:picLocks noChangeAspect="1"/>
          </p:cNvPicPr>
          <p:nvPr/>
        </p:nvPicPr>
        <p:blipFill>
          <a:blip r:embed="rId9">
            <a:alphaModFix amt="55000"/>
          </a:blip>
          <a:stretch>
            <a:fillRect/>
          </a:stretch>
        </p:blipFill>
        <p:spPr>
          <a:xfrm>
            <a:off x="10112502" y="4709160"/>
            <a:ext cx="566928" cy="566928"/>
          </a:xfrm>
          <a:prstGeom prst="rect">
            <a:avLst/>
          </a:prstGeom>
        </p:spPr>
      </p:pic>
      <p:sp>
        <p:nvSpPr>
          <p:cNvPr id="32" name="Text 20"/>
          <p:cNvSpPr txBox="1"/>
          <p:nvPr/>
        </p:nvSpPr>
        <p:spPr>
          <a:xfrm>
            <a:off x="9697517" y="5330952"/>
            <a:ext cx="1396898" cy="292608"/>
          </a:xfrm>
          <a:prstGeom prst="rect">
            <a:avLst/>
          </a:prstGeom>
          <a:noFill/>
          <a:ln/>
        </p:spPr>
        <p:txBody>
          <a:bodyPr wrap="square" lIns="0" tIns="0" rIns="0" bIns="0" rtlCol="0" anchor="t"/>
          <a:lstStyle/>
          <a:p>
            <a:pPr algn="ctr" indent="0" marL="0">
              <a:buNone/>
            </a:pPr>
            <a:r>
              <a:rPr lang="en-IE" sz="1400" dirty="0">
                <a:solidFill>
                  <a:schemeClr val="tx2"/>
                </a:solidFill>
              </a:rPr>
              <a:t>Wiring</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a:t>
            </a:fld>
            <a:endParaRPr lang="en-I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the main idea of abstraction?</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Show only what we need and hide the rest</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 every attribute and method public</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 the program run faster</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Hide everything, even the methods other code needs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a:t>
            </a:fld>
            <a:endParaRPr lang="en-I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Abstraction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the main idea of abstraction?</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Show only what we need and hide the rest</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Make every attribute and method public</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Make the program run faster</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Hide everything, even the methods other code needs</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Abstraction hides the details we don’t need. Like driving a car: we use the wheel and the brake without seeing how the engine works. Hiding everything (D) would leave nothing to use, and speed (C) isn’t the point.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a:t>
            </a:fld>
            <a:endParaRPr lang="en-I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HIDING THE DETAILS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Encapsulation</a:t>
            </a:r>
            <a:endParaRPr lang="en-IE" sz="3400" dirty="0"/>
          </a:p>
        </p:txBody>
      </p:sp>
      <p:sp>
        <p:nvSpPr>
          <p:cNvPr id="5" name="Text 2"/>
          <p:cNvSpPr txBox="1"/>
          <p:nvPr/>
        </p:nvSpPr>
        <p:spPr>
          <a:xfrm>
            <a:off x="548640" y="1783080"/>
            <a:ext cx="548640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Encapsulation keeps a class’s data and the methods that use it together, and hides the details. It’s a core idea of object-oriented programming.</a:t>
            </a:r>
            <a:endParaRPr lang="en-IE" sz="1800" dirty="0"/>
          </a:p>
          <a:p>
            <a:pPr marL="228600" indent="-228600">
              <a:spcAft>
                <a:spcPts val="1400"/>
              </a:spcAft>
              <a:buSzPct val="100000"/>
              <a:buChar char="•"/>
            </a:pPr>
            <a:r>
              <a:rPr lang="en-IE" sz="1800" dirty="0">
                <a:solidFill>
                  <a:schemeClr val="tx1"/>
                </a:solidFill>
              </a:rPr>
              <a:t>A class keeps its details inside and only shows what is relevant.</a:t>
            </a:r>
            <a:endParaRPr lang="en-IE" sz="1800" dirty="0"/>
          </a:p>
          <a:p>
            <a:pPr marL="228600" indent="-228600">
              <a:spcAft>
                <a:spcPts val="1400"/>
              </a:spcAft>
              <a:buSzPct val="100000"/>
              <a:buChar char="•"/>
            </a:pPr>
            <a:r>
              <a:rPr lang="en-IE" sz="1800" dirty="0">
                <a:solidFill>
                  <a:schemeClr val="tx1"/>
                </a:solidFill>
              </a:rPr>
              <a:t>Users see the public method names, not the code inside them.</a:t>
            </a:r>
            <a:endParaRPr lang="en-IE" sz="1800" dirty="0"/>
          </a:p>
          <a:p>
            <a:pPr marL="228600" indent="-228600">
              <a:buSzPct val="100000"/>
              <a:buChar char="•"/>
            </a:pPr>
            <a:r>
              <a:rPr lang="en-IE" sz="1800" dirty="0">
                <a:solidFill>
                  <a:schemeClr val="tx1"/>
                </a:solidFill>
              </a:rPr>
              <a:t>Not every attribute or method should be open to everyone, so we split them into </a:t>
            </a:r>
            <a:r>
              <a:rPr lang="en-IE" sz="1800" b="1" dirty="0">
                <a:solidFill>
                  <a:schemeClr val="tx1"/>
                </a:solidFill>
              </a:rPr>
              <a:t>public</a:t>
            </a:r>
            <a:r>
              <a:rPr lang="en-IE" sz="1800" dirty="0">
                <a:solidFill>
                  <a:schemeClr val="tx1"/>
                </a:solidFill>
              </a:rPr>
              <a:t> and </a:t>
            </a:r>
            <a:r>
              <a:rPr lang="en-IE" sz="1800" b="1" dirty="0">
                <a:solidFill>
                  <a:schemeClr val="tx1"/>
                </a:solidFill>
              </a:rPr>
              <a:t>private</a:t>
            </a:r>
            <a:r>
              <a:rPr lang="en-IE" sz="1800" dirty="0">
                <a:solidFill>
                  <a:schemeClr val="tx1"/>
                </a:solidFill>
              </a:rPr>
              <a:t>.</a:t>
            </a:r>
            <a:endParaRPr lang="en-IE" sz="1800" dirty="0"/>
          </a:p>
        </p:txBody>
      </p:sp>
      <p:sp>
        <p:nvSpPr>
          <p:cNvPr id="6" name="Scanner box"/>
          <p:cNvSpPr/>
          <p:nvPr/>
        </p:nvSpPr>
        <p:spPr>
          <a:xfrm>
            <a:off x="8001000" y="1783080"/>
            <a:ext cx="3642055" cy="3749040"/>
          </a:xfrm>
          <a:prstGeom prst="roundRect">
            <a:avLst>
              <a:gd name="adj" fmla="val 3013"/>
            </a:avLst>
          </a:prstGeom>
          <a:solidFill>
            <a:schemeClr val="bg1"/>
          </a:solidFill>
          <a:ln w="19050">
            <a:solidFill>
              <a:schemeClr val="accent2"/>
            </a:solidFill>
            <a:prstDash val="solid"/>
          </a:ln>
          <a:effectLst>
            <a:outerShdw sx="100000" sy="100000" kx="0" ky="0" algn="bl" rotWithShape="0" blurRad="76200" dist="19050" dir="5400000">
              <a:srgbClr val="1D2433">
                <a:alpha val="8000"/>
              </a:srgbClr>
            </a:outerShdw>
          </a:effectLst>
        </p:spPr>
      </p:sp>
      <p:sp>
        <p:nvSpPr>
          <p:cNvPr id="7" name="Scanner header"/>
          <p:cNvSpPr/>
          <p:nvPr/>
        </p:nvSpPr>
        <p:spPr>
          <a:xfrm>
            <a:off x="8001000" y="1783080"/>
            <a:ext cx="3642055" cy="548640"/>
          </a:xfrm>
          <a:prstGeom prst="round2SameRect">
            <a:avLst>
              <a:gd name="adj" fmla="val 20000"/>
            </a:avLst>
          </a:prstGeom>
          <a:solidFill>
            <a:schemeClr val="accent2"/>
          </a:solidFill>
          <a:ln/>
        </p:spPr>
        <p:txBody>
          <a:bodyPr wrap="square" lIns="0" tIns="0" rIns="0" bIns="0" rtlCol="0" anchor="ctr"/>
          <a:lstStyle/>
          <a:p>
            <a:pPr algn="ctr" indent="0" marL="0">
              <a:buNone/>
            </a:pPr>
            <a:r>
              <a:rPr lang="en-IE" sz="1800" b="1" dirty="0">
                <a:solidFill>
                  <a:schemeClr val="bg1"/>
                </a:solidFill>
                <a:latin typeface="Consolas" pitchFamily="34" charset="0"/>
                <a:ea typeface="Consolas" pitchFamily="34" charset="-122"/>
                <a:cs typeface="Consolas" pitchFamily="34" charset="-120"/>
              </a:rPr>
              <a:t>Scanner</a:t>
            </a:r>
            <a:endParaRPr lang="en-IE" sz="1800" dirty="0"/>
          </a:p>
        </p:txBody>
      </p:sp>
      <p:sp>
        <p:nvSpPr>
          <p:cNvPr id="8" name="Text 5"/>
          <p:cNvSpPr txBox="1"/>
          <p:nvPr/>
        </p:nvSpPr>
        <p:spPr>
          <a:xfrm>
            <a:off x="8275320" y="2468880"/>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PUBLIC</a:t>
            </a:r>
            <a:endParaRPr lang="en-IE" sz="1100" dirty="0"/>
          </a:p>
        </p:txBody>
      </p:sp>
      <p:sp>
        <p:nvSpPr>
          <p:cNvPr id="9" name="Public method"/>
          <p:cNvSpPr/>
          <p:nvPr/>
        </p:nvSpPr>
        <p:spPr>
          <a:xfrm>
            <a:off x="8275320" y="2788920"/>
            <a:ext cx="3093415" cy="438912"/>
          </a:xfrm>
          <a:prstGeom prst="roundRect">
            <a:avLst>
              <a:gd name="adj" fmla="val 16667"/>
            </a:avLst>
          </a:prstGeom>
          <a:solidFill>
            <a:schemeClr val="accent4">
              <a:alpha val="12000"/>
            </a:schemeClr>
          </a:solidFill>
          <a:ln w="12700">
            <a:solidFill>
              <a:schemeClr val="accent4"/>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nextLine()</a:t>
            </a:r>
            <a:endParaRPr lang="en-IE" sz="1500" dirty="0"/>
          </a:p>
        </p:txBody>
      </p:sp>
      <p:sp>
        <p:nvSpPr>
          <p:cNvPr id="10" name="Public method"/>
          <p:cNvSpPr/>
          <p:nvPr/>
        </p:nvSpPr>
        <p:spPr>
          <a:xfrm>
            <a:off x="8275320" y="3355848"/>
            <a:ext cx="3093415" cy="438912"/>
          </a:xfrm>
          <a:prstGeom prst="roundRect">
            <a:avLst>
              <a:gd name="adj" fmla="val 16667"/>
            </a:avLst>
          </a:prstGeom>
          <a:solidFill>
            <a:schemeClr val="accent4">
              <a:alpha val="12000"/>
            </a:schemeClr>
          </a:solidFill>
          <a:ln w="12700">
            <a:solidFill>
              <a:schemeClr val="accent4"/>
            </a:solidFill>
          </a:ln>
        </p:spPr>
        <p:txBody>
          <a:bodyPr wrap="square" lIns="0" tIns="0" rIns="0" bIns="0" rtlCol="0" anchor="ctr"/>
          <a:lstStyle/>
          <a:p>
            <a:pPr algn="ctr" indent="0" marL="0">
              <a:buNone/>
            </a:pPr>
            <a:r>
              <a:rPr lang="en-IE" sz="1500" b="1" dirty="0">
                <a:solidFill>
                  <a:schemeClr val="tx1"/>
                </a:solidFill>
                <a:latin typeface="Consolas" pitchFamily="34" charset="0"/>
                <a:ea typeface="Consolas" pitchFamily="34" charset="-122"/>
                <a:cs typeface="Consolas" pitchFamily="34" charset="-120"/>
              </a:rPr>
              <a:t>nextInt()</a:t>
            </a:r>
            <a:endParaRPr lang="en-IE" sz="1500" dirty="0"/>
          </a:p>
        </p:txBody>
      </p:sp>
      <p:sp>
        <p:nvSpPr>
          <p:cNvPr id="11" name="Private area"/>
          <p:cNvSpPr/>
          <p:nvPr/>
        </p:nvSpPr>
        <p:spPr>
          <a:xfrm>
            <a:off x="8275320" y="4023360"/>
            <a:ext cx="3093415" cy="1325880"/>
          </a:xfrm>
          <a:prstGeom prst="roundRect">
            <a:avLst>
              <a:gd name="adj" fmla="val 5517"/>
            </a:avLst>
          </a:prstGeom>
          <a:solidFill>
            <a:schemeClr val="bg2"/>
          </a:solidFill>
          <a:ln/>
        </p:spPr>
      </p:sp>
      <p:sp>
        <p:nvSpPr>
          <p:cNvPr id="12" name="Text 9"/>
          <p:cNvSpPr txBox="1"/>
          <p:nvPr/>
        </p:nvSpPr>
        <p:spPr>
          <a:xfrm>
            <a:off x="8458200" y="4133088"/>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PRIVATE</a:t>
            </a:r>
            <a:endParaRPr lang="en-IE" sz="1100" dirty="0"/>
          </a:p>
        </p:txBody>
      </p:sp>
      <p:pic>
        <p:nvPicPr>
          <p:cNvPr id="13" name="Lock" descr="Lock">    </p:cNvPr>
          <p:cNvPicPr>
            <a:picLocks noChangeAspect="1"/>
          </p:cNvPicPr>
          <p:nvPr/>
        </p:nvPicPr>
        <p:blipFill>
          <a:blip r:embed="rId1"/>
          <a:stretch>
            <a:fillRect/>
          </a:stretch>
        </p:blipFill>
        <p:spPr>
          <a:xfrm>
            <a:off x="10893247" y="4114800"/>
            <a:ext cx="310896" cy="310896"/>
          </a:xfrm>
          <a:prstGeom prst="rect">
            <a:avLst/>
          </a:prstGeom>
        </p:spPr>
      </p:pic>
      <p:sp>
        <p:nvSpPr>
          <p:cNvPr id="14" name="Hidden code line"/>
          <p:cNvSpPr/>
          <p:nvPr/>
        </p:nvSpPr>
        <p:spPr>
          <a:xfrm>
            <a:off x="8458200" y="4498848"/>
            <a:ext cx="1577761" cy="82296"/>
          </a:xfrm>
          <a:prstGeom prst="roundRect">
            <a:avLst>
              <a:gd name="adj" fmla="val 44444"/>
            </a:avLst>
          </a:prstGeom>
          <a:solidFill>
            <a:schemeClr val="tx2">
              <a:alpha val="40000"/>
            </a:schemeClr>
          </a:solidFill>
          <a:ln/>
        </p:spPr>
      </p:sp>
      <p:sp>
        <p:nvSpPr>
          <p:cNvPr id="15" name="Hidden code line"/>
          <p:cNvSpPr/>
          <p:nvPr/>
        </p:nvSpPr>
        <p:spPr>
          <a:xfrm>
            <a:off x="8686800" y="4700016"/>
            <a:ext cx="1017910" cy="82296"/>
          </a:xfrm>
          <a:prstGeom prst="roundRect">
            <a:avLst>
              <a:gd name="adj" fmla="val 44444"/>
            </a:avLst>
          </a:prstGeom>
          <a:solidFill>
            <a:schemeClr val="tx2">
              <a:alpha val="40000"/>
            </a:schemeClr>
          </a:solidFill>
          <a:ln/>
        </p:spPr>
      </p:sp>
      <p:sp>
        <p:nvSpPr>
          <p:cNvPr id="16" name="Hidden code line"/>
          <p:cNvSpPr/>
          <p:nvPr/>
        </p:nvSpPr>
        <p:spPr>
          <a:xfrm>
            <a:off x="8458200" y="4901184"/>
            <a:ext cx="1399626" cy="82296"/>
          </a:xfrm>
          <a:prstGeom prst="roundRect">
            <a:avLst>
              <a:gd name="adj" fmla="val 44444"/>
            </a:avLst>
          </a:prstGeom>
          <a:solidFill>
            <a:schemeClr val="tx2">
              <a:alpha val="40000"/>
            </a:schemeClr>
          </a:solidFill>
          <a:ln/>
        </p:spPr>
      </p:sp>
      <p:sp>
        <p:nvSpPr>
          <p:cNvPr id="17" name="Hidden code line"/>
          <p:cNvSpPr/>
          <p:nvPr/>
        </p:nvSpPr>
        <p:spPr>
          <a:xfrm>
            <a:off x="8686800" y="5102352"/>
            <a:ext cx="763433" cy="82296"/>
          </a:xfrm>
          <a:prstGeom prst="roundRect">
            <a:avLst>
              <a:gd name="adj" fmla="val 44444"/>
            </a:avLst>
          </a:prstGeom>
          <a:solidFill>
            <a:schemeClr val="tx2">
              <a:alpha val="40000"/>
            </a:schemeClr>
          </a:solidFill>
          <a:ln/>
        </p:spPr>
      </p:sp>
      <p:pic>
        <p:nvPicPr>
          <p:cNvPr id="18" name="Programmer" descr="Programmer">    </p:cNvPr>
          <p:cNvPicPr>
            <a:picLocks noChangeAspect="1"/>
          </p:cNvPicPr>
          <p:nvPr/>
        </p:nvPicPr>
        <p:blipFill>
          <a:blip r:embed="rId2"/>
          <a:stretch>
            <a:fillRect/>
          </a:stretch>
        </p:blipFill>
        <p:spPr>
          <a:xfrm>
            <a:off x="6446520" y="2514600"/>
            <a:ext cx="777240" cy="777240"/>
          </a:xfrm>
          <a:prstGeom prst="rect">
            <a:avLst/>
          </a:prstGeom>
        </p:spPr>
      </p:pic>
      <p:sp>
        <p:nvSpPr>
          <p:cNvPr id="19" name="Text 14"/>
          <p:cNvSpPr txBox="1"/>
          <p:nvPr/>
        </p:nvSpPr>
        <p:spPr>
          <a:xfrm>
            <a:off x="6263640" y="3310128"/>
            <a:ext cx="1143000" cy="274320"/>
          </a:xfrm>
          <a:prstGeom prst="rect">
            <a:avLst/>
          </a:prstGeom>
          <a:noFill/>
          <a:ln/>
        </p:spPr>
        <p:txBody>
          <a:bodyPr wrap="square" lIns="0" tIns="0" rIns="0" bIns="0" rtlCol="0" anchor="t"/>
          <a:lstStyle/>
          <a:p>
            <a:pPr algn="ctr" indent="0" marL="0">
              <a:buNone/>
            </a:pPr>
            <a:r>
              <a:rPr lang="en-IE" sz="1400" b="1" dirty="0">
                <a:solidFill>
                  <a:schemeClr val="tx1"/>
                </a:solidFill>
              </a:rPr>
              <a:t>You</a:t>
            </a:r>
            <a:endParaRPr lang="en-IE" sz="1400" dirty="0"/>
          </a:p>
        </p:txBody>
      </p:sp>
      <p:sp>
        <p:nvSpPr>
          <p:cNvPr id="20" name="Connector"/>
          <p:cNvSpPr/>
          <p:nvPr/>
        </p:nvSpPr>
        <p:spPr>
          <a:xfrm>
            <a:off x="7269480" y="2926080"/>
            <a:ext cx="950976" cy="82296"/>
          </a:xfrm>
          <a:prstGeom prst="line">
            <a:avLst/>
          </a:prstGeom>
          <a:noFill/>
          <a:ln w="19050">
            <a:solidFill>
              <a:schemeClr val="tx2"/>
            </a:solidFill>
            <a:prstDash val="solid"/>
            <a:tailEnd type="triangle"/>
          </a:ln>
        </p:spPr>
      </p:sp>
      <p:sp>
        <p:nvSpPr>
          <p:cNvPr id="21" name="Connector"/>
          <p:cNvSpPr/>
          <p:nvPr/>
        </p:nvSpPr>
        <p:spPr>
          <a:xfrm>
            <a:off x="7269480" y="2926080"/>
            <a:ext cx="950976" cy="649224"/>
          </a:xfrm>
          <a:prstGeom prst="line">
            <a:avLst/>
          </a:prstGeom>
          <a:noFill/>
          <a:ln w="19050">
            <a:solidFill>
              <a:schemeClr val="tx2"/>
            </a:solidFill>
            <a:prstDash val="solid"/>
            <a:tailEnd type="triangle"/>
          </a:ln>
        </p:spPr>
      </p:sp>
      <p:sp>
        <p:nvSpPr>
          <p:cNvPr id="22" name="Text 17"/>
          <p:cNvSpPr txBox="1"/>
          <p:nvPr/>
        </p:nvSpPr>
        <p:spPr>
          <a:xfrm>
            <a:off x="6263640" y="5669280"/>
            <a:ext cx="5379415" cy="457200"/>
          </a:xfrm>
          <a:prstGeom prst="rect">
            <a:avLst/>
          </a:prstGeom>
          <a:noFill/>
          <a:ln/>
        </p:spPr>
        <p:txBody>
          <a:bodyPr wrap="square" lIns="0" tIns="0" rIns="0" bIns="0" rtlCol="0" anchor="t"/>
          <a:lstStyle/>
          <a:p>
            <a:pPr indent="0" marL="0">
              <a:buNone/>
            </a:pPr>
            <a:r>
              <a:rPr lang="en-IE" sz="1400" i="1" dirty="0">
                <a:solidFill>
                  <a:schemeClr val="tx2"/>
                </a:solidFill>
              </a:rPr>
              <a:t>We don’t need Scanner’s internal helper methods to use it, so Scanner keeps them private.</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a:t>
            </a:fld>
            <a:endParaRPr lang="en-I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Encapsulation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When we use a class like Scanner, what do we get to see?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Every line of code inside each of its methods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All of its private methods and private attributes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Its public method names, but not the code inside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Nothing at all, so we can’t use it in our code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8</a:t>
            </a:fld>
            <a:endParaRPr lang="en-I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Encapsulation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When we use a class like Scanner, what do we get to see?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Every line of code inside each of its methods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All of its private methods and private attributes</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Its public method names, but not the code inside</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Nothing at all, so we can’t use it in our code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Encapsulation hides how a class is built. We see the public methods we need, like </a:t>
            </a:r>
            <a:r>
              <a:rPr lang="en-IE" sz="1800" dirty="0">
                <a:solidFill>
                  <a:schemeClr val="accent2"/>
                </a:solidFill>
                <a:latin typeface="Consolas" pitchFamily="34" charset="0"/>
                <a:ea typeface="Consolas" pitchFamily="34" charset="-122"/>
                <a:cs typeface="Consolas" pitchFamily="34" charset="-120"/>
              </a:rPr>
              <a:t>nextLine()</a:t>
            </a:r>
            <a:r>
              <a:rPr lang="en-IE" sz="1800" dirty="0">
                <a:solidFill>
                  <a:schemeClr val="tx1"/>
                </a:solidFill>
              </a:rPr>
              <a:t>, but not the code inside them. Scanner keeps its internal helper methods private.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9</a:t>
            </a:fld>
            <a:endParaRPr lang="en-I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HIDING THE DETAILS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Four access levels in Java</a:t>
            </a:r>
            <a:endParaRPr lang="en-IE" sz="3400" dirty="0"/>
          </a:p>
        </p:txBody>
      </p:sp>
      <p:sp>
        <p:nvSpPr>
          <p:cNvPr id="5" name="Card"/>
          <p:cNvSpPr/>
          <p:nvPr/>
        </p:nvSpPr>
        <p:spPr>
          <a:xfrm>
            <a:off x="548640" y="178308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57400"/>
            <a:ext cx="676656" cy="676656"/>
          </a:xfrm>
          <a:prstGeom prst="roundRect">
            <a:avLst>
              <a:gd name="adj" fmla="val 24000"/>
            </a:avLst>
          </a:prstGeom>
          <a:solidFill>
            <a:schemeClr val="accent1">
              <a:alpha val="14000"/>
            </a:schemeClr>
          </a:solidFill>
          <a:ln/>
        </p:spPr>
      </p:sp>
      <p:pic>
        <p:nvPicPr>
          <p:cNvPr id="7" name="lock simple icon" descr="lock simple icon">    </p:cNvPr>
          <p:cNvPicPr>
            <a:picLocks noChangeAspect="1"/>
          </p:cNvPicPr>
          <p:nvPr/>
        </p:nvPicPr>
        <p:blipFill>
          <a:blip r:embed="rId1"/>
          <a:stretch>
            <a:fillRect/>
          </a:stretch>
        </p:blipFill>
        <p:spPr>
          <a:xfrm>
            <a:off x="965058" y="2199498"/>
            <a:ext cx="392460" cy="392460"/>
          </a:xfrm>
          <a:prstGeom prst="rect">
            <a:avLst/>
          </a:prstGeom>
        </p:spPr>
      </p:pic>
      <p:sp>
        <p:nvSpPr>
          <p:cNvPr id="8" name="Text 4"/>
          <p:cNvSpPr txBox="1"/>
          <p:nvPr/>
        </p:nvSpPr>
        <p:spPr>
          <a:xfrm>
            <a:off x="822960" y="2898648"/>
            <a:ext cx="212438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private</a:t>
            </a:r>
            <a:endParaRPr lang="en-IE" sz="2200" dirty="0"/>
          </a:p>
        </p:txBody>
      </p:sp>
      <p:sp>
        <p:nvSpPr>
          <p:cNvPr id="9" name="Text 5"/>
          <p:cNvSpPr txBox="1"/>
          <p:nvPr/>
        </p:nvSpPr>
        <p:spPr>
          <a:xfrm>
            <a:off x="822960" y="3657600"/>
            <a:ext cx="2078660" cy="1097280"/>
          </a:xfrm>
          <a:prstGeom prst="rect">
            <a:avLst/>
          </a:prstGeom>
          <a:noFill/>
          <a:ln/>
        </p:spPr>
        <p:txBody>
          <a:bodyPr wrap="square" lIns="0" tIns="0" rIns="0" bIns="0" rtlCol="0" anchor="t"/>
          <a:lstStyle/>
          <a:p>
            <a:pPr indent="0" marL="0">
              <a:buNone/>
            </a:pPr>
            <a:r>
              <a:rPr lang="en-IE" sz="1600" dirty="0">
                <a:solidFill>
                  <a:schemeClr val="tx1"/>
                </a:solidFill>
              </a:rPr>
              <a:t>Only inside its own class.</a:t>
            </a:r>
            <a:endParaRPr lang="en-IE" sz="1600" dirty="0"/>
          </a:p>
        </p:txBody>
      </p:sp>
      <p:sp>
        <p:nvSpPr>
          <p:cNvPr id="10" name="Card"/>
          <p:cNvSpPr/>
          <p:nvPr/>
        </p:nvSpPr>
        <p:spPr>
          <a:xfrm>
            <a:off x="3386252" y="178308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60572" y="2057400"/>
            <a:ext cx="676656" cy="676656"/>
          </a:xfrm>
          <a:prstGeom prst="roundRect">
            <a:avLst>
              <a:gd name="adj" fmla="val 24000"/>
            </a:avLst>
          </a:prstGeom>
          <a:solidFill>
            <a:schemeClr val="accent5">
              <a:alpha val="14000"/>
            </a:schemeClr>
          </a:solidFill>
          <a:ln/>
        </p:spPr>
      </p:sp>
      <p:pic>
        <p:nvPicPr>
          <p:cNvPr id="12" name="folder simple icon" descr="folder simple icon">    </p:cNvPr>
          <p:cNvPicPr>
            <a:picLocks noChangeAspect="1"/>
          </p:cNvPicPr>
          <p:nvPr/>
        </p:nvPicPr>
        <p:blipFill>
          <a:blip r:embed="rId2"/>
          <a:stretch>
            <a:fillRect/>
          </a:stretch>
        </p:blipFill>
        <p:spPr>
          <a:xfrm>
            <a:off x="3802670" y="2199498"/>
            <a:ext cx="392460" cy="392460"/>
          </a:xfrm>
          <a:prstGeom prst="rect">
            <a:avLst/>
          </a:prstGeom>
        </p:spPr>
      </p:pic>
      <p:sp>
        <p:nvSpPr>
          <p:cNvPr id="13" name="Text 8"/>
          <p:cNvSpPr txBox="1"/>
          <p:nvPr/>
        </p:nvSpPr>
        <p:spPr>
          <a:xfrm>
            <a:off x="3660572" y="2898648"/>
            <a:ext cx="212438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default</a:t>
            </a:r>
            <a:endParaRPr lang="en-IE" sz="2200" dirty="0"/>
          </a:p>
        </p:txBody>
      </p:sp>
      <p:sp>
        <p:nvSpPr>
          <p:cNvPr id="14" name="Text 9"/>
          <p:cNvSpPr txBox="1"/>
          <p:nvPr/>
        </p:nvSpPr>
        <p:spPr>
          <a:xfrm>
            <a:off x="3660572" y="3300984"/>
            <a:ext cx="2124380" cy="274320"/>
          </a:xfrm>
          <a:prstGeom prst="rect">
            <a:avLst/>
          </a:prstGeom>
          <a:noFill/>
          <a:ln/>
        </p:spPr>
        <p:txBody>
          <a:bodyPr wrap="square" lIns="0" tIns="0" rIns="0" bIns="0" rtlCol="0" anchor="t"/>
          <a:lstStyle/>
          <a:p>
            <a:pPr indent="0" marL="0">
              <a:buNone/>
            </a:pPr>
            <a:r>
              <a:rPr lang="en-IE" sz="1300" i="1" dirty="0">
                <a:solidFill>
                  <a:schemeClr val="tx2"/>
                </a:solidFill>
              </a:rPr>
              <a:t>(no keyword)</a:t>
            </a:r>
            <a:endParaRPr lang="en-IE" sz="1300" dirty="0"/>
          </a:p>
        </p:txBody>
      </p:sp>
      <p:sp>
        <p:nvSpPr>
          <p:cNvPr id="15" name="Text 10"/>
          <p:cNvSpPr txBox="1"/>
          <p:nvPr/>
        </p:nvSpPr>
        <p:spPr>
          <a:xfrm>
            <a:off x="3660572" y="3657600"/>
            <a:ext cx="2078660" cy="1097280"/>
          </a:xfrm>
          <a:prstGeom prst="rect">
            <a:avLst/>
          </a:prstGeom>
          <a:noFill/>
          <a:ln/>
        </p:spPr>
        <p:txBody>
          <a:bodyPr wrap="square" lIns="0" tIns="0" rIns="0" bIns="0" rtlCol="0" anchor="t"/>
          <a:lstStyle/>
          <a:p>
            <a:pPr indent="0" marL="0">
              <a:buNone/>
            </a:pPr>
            <a:r>
              <a:rPr lang="en-IE" sz="1600" dirty="0">
                <a:solidFill>
                  <a:schemeClr val="tx1"/>
                </a:solidFill>
              </a:rPr>
              <a:t>Classes in the same package.</a:t>
            </a:r>
            <a:endParaRPr lang="en-IE" sz="1600" dirty="0"/>
          </a:p>
        </p:txBody>
      </p:sp>
      <p:sp>
        <p:nvSpPr>
          <p:cNvPr id="16" name="Card"/>
          <p:cNvSpPr/>
          <p:nvPr/>
        </p:nvSpPr>
        <p:spPr>
          <a:xfrm>
            <a:off x="6223864" y="178308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6498184" y="2057400"/>
            <a:ext cx="676656" cy="676656"/>
          </a:xfrm>
          <a:prstGeom prst="roundRect">
            <a:avLst>
              <a:gd name="adj" fmla="val 24000"/>
            </a:avLst>
          </a:prstGeom>
          <a:solidFill>
            <a:schemeClr val="accent4">
              <a:alpha val="14000"/>
            </a:schemeClr>
          </a:solidFill>
          <a:ln/>
        </p:spPr>
      </p:sp>
      <p:pic>
        <p:nvPicPr>
          <p:cNvPr id="18" name="tree structure icon" descr="tree structure icon">    </p:cNvPr>
          <p:cNvPicPr>
            <a:picLocks noChangeAspect="1"/>
          </p:cNvPicPr>
          <p:nvPr/>
        </p:nvPicPr>
        <p:blipFill>
          <a:blip r:embed="rId3"/>
          <a:stretch>
            <a:fillRect/>
          </a:stretch>
        </p:blipFill>
        <p:spPr>
          <a:xfrm>
            <a:off x="6640281" y="2199498"/>
            <a:ext cx="392460" cy="392460"/>
          </a:xfrm>
          <a:prstGeom prst="rect">
            <a:avLst/>
          </a:prstGeom>
        </p:spPr>
      </p:pic>
      <p:sp>
        <p:nvSpPr>
          <p:cNvPr id="19" name="Text 13"/>
          <p:cNvSpPr txBox="1"/>
          <p:nvPr/>
        </p:nvSpPr>
        <p:spPr>
          <a:xfrm>
            <a:off x="6498184" y="2898648"/>
            <a:ext cx="212438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protected</a:t>
            </a:r>
            <a:endParaRPr lang="en-IE" sz="2200" dirty="0"/>
          </a:p>
        </p:txBody>
      </p:sp>
      <p:sp>
        <p:nvSpPr>
          <p:cNvPr id="20" name="Text 14"/>
          <p:cNvSpPr txBox="1"/>
          <p:nvPr/>
        </p:nvSpPr>
        <p:spPr>
          <a:xfrm>
            <a:off x="6498184" y="3657600"/>
            <a:ext cx="2078660" cy="1097280"/>
          </a:xfrm>
          <a:prstGeom prst="rect">
            <a:avLst/>
          </a:prstGeom>
          <a:noFill/>
          <a:ln/>
        </p:spPr>
        <p:txBody>
          <a:bodyPr wrap="square" lIns="0" tIns="0" rIns="0" bIns="0" rtlCol="0" anchor="t"/>
          <a:lstStyle/>
          <a:p>
            <a:pPr indent="0" marL="0">
              <a:buNone/>
            </a:pPr>
            <a:r>
              <a:rPr lang="en-IE" sz="1600" dirty="0">
                <a:solidFill>
                  <a:schemeClr val="tx1"/>
                </a:solidFill>
              </a:rPr>
              <a:t>Classes in the same package, and subclasses.</a:t>
            </a:r>
            <a:endParaRPr lang="en-IE" sz="1600" dirty="0"/>
          </a:p>
        </p:txBody>
      </p:sp>
      <p:sp>
        <p:nvSpPr>
          <p:cNvPr id="21" name="Card"/>
          <p:cNvSpPr/>
          <p:nvPr/>
        </p:nvSpPr>
        <p:spPr>
          <a:xfrm>
            <a:off x="9061475" y="1783080"/>
            <a:ext cx="2581580" cy="3154680"/>
          </a:xfrm>
          <a:prstGeom prst="roundRect">
            <a:avLst>
              <a:gd name="adj" fmla="val 4250"/>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9335795" y="2057400"/>
            <a:ext cx="676656" cy="676656"/>
          </a:xfrm>
          <a:prstGeom prst="roundRect">
            <a:avLst>
              <a:gd name="adj" fmla="val 24000"/>
            </a:avLst>
          </a:prstGeom>
          <a:solidFill>
            <a:schemeClr val="accent3">
              <a:alpha val="14000"/>
            </a:schemeClr>
          </a:solidFill>
          <a:ln/>
        </p:spPr>
      </p:sp>
      <p:pic>
        <p:nvPicPr>
          <p:cNvPr id="23" name="globe hemisphere west icon" descr="globe hemisphere west icon">    </p:cNvPr>
          <p:cNvPicPr>
            <a:picLocks noChangeAspect="1"/>
          </p:cNvPicPr>
          <p:nvPr/>
        </p:nvPicPr>
        <p:blipFill>
          <a:blip r:embed="rId4"/>
          <a:stretch>
            <a:fillRect/>
          </a:stretch>
        </p:blipFill>
        <p:spPr>
          <a:xfrm>
            <a:off x="9477893" y="2199498"/>
            <a:ext cx="392460" cy="392460"/>
          </a:xfrm>
          <a:prstGeom prst="rect">
            <a:avLst/>
          </a:prstGeom>
        </p:spPr>
      </p:pic>
      <p:sp>
        <p:nvSpPr>
          <p:cNvPr id="24" name="Text 17"/>
          <p:cNvSpPr txBox="1"/>
          <p:nvPr/>
        </p:nvSpPr>
        <p:spPr>
          <a:xfrm>
            <a:off x="9335795" y="2898648"/>
            <a:ext cx="2124380" cy="411480"/>
          </a:xfrm>
          <a:prstGeom prst="rect">
            <a:avLst/>
          </a:prstGeom>
          <a:noFill/>
          <a:ln/>
        </p:spPr>
        <p:txBody>
          <a:bodyPr wrap="square" lIns="0" tIns="0" rIns="0" bIns="0" rtlCol="0" anchor="t"/>
          <a:lstStyle/>
          <a:p>
            <a:pPr indent="0" marL="0">
              <a:buNone/>
            </a:pPr>
            <a:r>
              <a:rPr lang="en-IE" sz="2200" b="1" dirty="0">
                <a:solidFill>
                  <a:schemeClr val="accent2"/>
                </a:solidFill>
                <a:latin typeface="Consolas" pitchFamily="34" charset="0"/>
                <a:ea typeface="Consolas" pitchFamily="34" charset="-122"/>
                <a:cs typeface="Consolas" pitchFamily="34" charset="-120"/>
              </a:rPr>
              <a:t>public</a:t>
            </a:r>
            <a:endParaRPr lang="en-IE" sz="2200" dirty="0"/>
          </a:p>
        </p:txBody>
      </p:sp>
      <p:sp>
        <p:nvSpPr>
          <p:cNvPr id="25" name="Text 18"/>
          <p:cNvSpPr txBox="1"/>
          <p:nvPr/>
        </p:nvSpPr>
        <p:spPr>
          <a:xfrm>
            <a:off x="9335795" y="3657600"/>
            <a:ext cx="2078660" cy="1097280"/>
          </a:xfrm>
          <a:prstGeom prst="rect">
            <a:avLst/>
          </a:prstGeom>
          <a:noFill/>
          <a:ln/>
        </p:spPr>
        <p:txBody>
          <a:bodyPr wrap="square" lIns="0" tIns="0" rIns="0" bIns="0" rtlCol="0" anchor="t"/>
          <a:lstStyle/>
          <a:p>
            <a:pPr indent="0" marL="0">
              <a:buNone/>
            </a:pPr>
            <a:r>
              <a:rPr lang="en-IE" sz="1600" dirty="0">
                <a:solidFill>
                  <a:schemeClr val="tx1"/>
                </a:solidFill>
              </a:rPr>
              <a:t>Anywhere.</a:t>
            </a:r>
            <a:endParaRPr lang="en-IE" sz="1600" dirty="0"/>
          </a:p>
        </p:txBody>
      </p:sp>
      <p:sp>
        <p:nvSpPr>
          <p:cNvPr id="26" name="Connector"/>
          <p:cNvSpPr/>
          <p:nvPr/>
        </p:nvSpPr>
        <p:spPr>
          <a:xfrm>
            <a:off x="594360" y="5440680"/>
            <a:ext cx="11002975" cy="0"/>
          </a:xfrm>
          <a:prstGeom prst="line">
            <a:avLst/>
          </a:prstGeom>
          <a:noFill/>
          <a:ln w="25400">
            <a:solidFill>
              <a:schemeClr val="tx2"/>
            </a:solidFill>
            <a:prstDash val="solid"/>
            <a:headEnd type="triangle"/>
            <a:tailEnd type="triangle"/>
          </a:ln>
        </p:spPr>
      </p:sp>
      <p:sp>
        <p:nvSpPr>
          <p:cNvPr id="27" name="Text 20"/>
          <p:cNvSpPr txBox="1"/>
          <p:nvPr/>
        </p:nvSpPr>
        <p:spPr>
          <a:xfrm>
            <a:off x="548640" y="5550408"/>
            <a:ext cx="2743200" cy="320040"/>
          </a:xfrm>
          <a:prstGeom prst="rect">
            <a:avLst/>
          </a:prstGeom>
          <a:noFill/>
          <a:ln/>
        </p:spPr>
        <p:txBody>
          <a:bodyPr wrap="square" lIns="0" tIns="0" rIns="0" bIns="0" rtlCol="0" anchor="t"/>
          <a:lstStyle/>
          <a:p>
            <a:pPr indent="0" marL="0">
              <a:buNone/>
            </a:pPr>
            <a:r>
              <a:rPr lang="en-IE" sz="1400" b="1" dirty="0">
                <a:solidFill>
                  <a:schemeClr val="tx2"/>
                </a:solidFill>
              </a:rPr>
              <a:t>Most restrictive</a:t>
            </a:r>
            <a:endParaRPr lang="en-IE" sz="1400" dirty="0"/>
          </a:p>
        </p:txBody>
      </p:sp>
      <p:sp>
        <p:nvSpPr>
          <p:cNvPr id="28" name="Text 21"/>
          <p:cNvSpPr txBox="1"/>
          <p:nvPr/>
        </p:nvSpPr>
        <p:spPr>
          <a:xfrm>
            <a:off x="8899855" y="5550408"/>
            <a:ext cx="2743200" cy="320040"/>
          </a:xfrm>
          <a:prstGeom prst="rect">
            <a:avLst/>
          </a:prstGeom>
          <a:noFill/>
          <a:ln/>
        </p:spPr>
        <p:txBody>
          <a:bodyPr wrap="square" lIns="0" tIns="0" rIns="0" bIns="0" rtlCol="0" anchor="t"/>
          <a:lstStyle/>
          <a:p>
            <a:pPr algn="r" indent="0" marL="0">
              <a:buNone/>
            </a:pPr>
            <a:r>
              <a:rPr lang="en-IE" sz="1400" b="1" dirty="0">
                <a:solidFill>
                  <a:schemeClr val="tx2"/>
                </a:solidFill>
              </a:rPr>
              <a:t>Least restrictive</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10</a:t>
            </a:fld>
            <a:endParaRPr lang="en-I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3</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Access modifiers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access level means “can be used only inside its own class”?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public</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protected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default (no keyword)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private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11</a:t>
            </a:fld>
            <a:endParaRPr lang="en-I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3</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Access modifiers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access level means “can be used only inside its own class”?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protected</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default (no keyword)</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private</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private</a:t>
            </a:r>
            <a:r>
              <a:rPr lang="en-IE" sz="1800" dirty="0">
                <a:solidFill>
                  <a:schemeClr val="tx1"/>
                </a:solidFill>
              </a:rPr>
              <a:t> is the most restrictive level: only code inside the same class can use it. </a:t>
            </a:r>
            <a:r>
              <a:rPr lang="en-IE" sz="1800" dirty="0">
                <a:solidFill>
                  <a:schemeClr val="accent2"/>
                </a:solidFill>
                <a:latin typeface="Consolas" pitchFamily="34" charset="0"/>
                <a:ea typeface="Consolas" pitchFamily="34" charset="-122"/>
                <a:cs typeface="Consolas" pitchFamily="34" charset="-120"/>
              </a:rPr>
              <a:t>public</a:t>
            </a:r>
            <a:r>
              <a:rPr lang="en-IE" sz="1800" dirty="0">
                <a:solidFill>
                  <a:schemeClr val="tx1"/>
                </a:solidFill>
              </a:rPr>
              <a:t> is the least restrictive: it can be used from anywhere.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12</a:t>
            </a:fld>
            <a:endParaRPr lang="en-I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HIDING THE DETAILS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Who can see what</a:t>
            </a:r>
            <a:endParaRPr lang="en-IE" sz="3400" dirty="0"/>
          </a:p>
        </p:txBody>
      </p:sp>
      <p:graphicFrame>
        <p:nvGraphicFramePr>
          <p:cNvPr id="14" name="Acces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776472"/>
                <a:gridCol w="1829486"/>
                <a:gridCol w="1829486"/>
                <a:gridCol w="1829486"/>
                <a:gridCol w="1829486"/>
              </a:tblGrid>
              <a:tr h="566928">
                <a:tc>
                  <a:txBody>
                    <a:bodyPr/>
                    <a:lstStyle/>
                    <a:p>
                      <a:pPr algn="l" indent="0" marL="0">
                        <a:buNone/>
                      </a:pPr>
                      <a:r>
                        <a:rPr lang="en-IE" sz="1600" b="1" dirty="0">
                          <a:solidFill>
                            <a:schemeClr val="bg1"/>
                          </a:solidFill>
                        </a:rPr>
                        <a:t>Can it be used from…</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c>
                  <a:txBody>
                    <a:bodyPr/>
                    <a:lstStyle/>
                    <a:p>
                      <a:pPr algn="ctr" indent="0" marL="0">
                        <a:buNone/>
                      </a:pPr>
                      <a:r>
                        <a:rPr lang="en-IE" sz="1600" b="1" dirty="0">
                          <a:solidFill>
                            <a:schemeClr val="bg1"/>
                          </a:solidFill>
                          <a:latin typeface="Consolas" pitchFamily="34" charset="0"/>
                          <a:ea typeface="Consolas" pitchFamily="34" charset="-122"/>
                          <a:cs typeface="Consolas" pitchFamily="34" charset="-120"/>
                        </a:rPr>
                        <a:t>private</a:t>
                      </a:r>
                      <a:endParaRPr lang="en-IE" sz="1600" dirty="0">
                        <a:latin typeface="Consolas" charset="0"/>
                        <a:ea typeface="Consolas" charset="0"/>
                        <a:cs typeface="Consolas"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c>
                  <a:txBody>
                    <a:bodyPr/>
                    <a:lstStyle/>
                    <a:p>
                      <a:pPr algn="ctr" indent="0" marL="0">
                        <a:buNone/>
                      </a:pPr>
                      <a:r>
                        <a:rPr lang="en-IE" sz="1600" b="1" dirty="0">
                          <a:solidFill>
                            <a:schemeClr val="bg1"/>
                          </a:solidFill>
                        </a:rPr>
                        <a:t>default</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c>
                  <a:txBody>
                    <a:bodyPr/>
                    <a:lstStyle/>
                    <a:p>
                      <a:pPr algn="ctr" indent="0" marL="0">
                        <a:buNone/>
                      </a:pPr>
                      <a:r>
                        <a:rPr lang="en-IE" sz="1600" b="1" dirty="0">
                          <a:solidFill>
                            <a:schemeClr val="bg1"/>
                          </a:solidFill>
                          <a:latin typeface="Consolas" pitchFamily="34" charset="0"/>
                          <a:ea typeface="Consolas" pitchFamily="34" charset="-122"/>
                          <a:cs typeface="Consolas" pitchFamily="34" charset="-120"/>
                        </a:rPr>
                        <a:t>protected</a:t>
                      </a:r>
                      <a:endParaRPr lang="en-IE" sz="1600" dirty="0">
                        <a:latin typeface="Consolas" charset="0"/>
                        <a:ea typeface="Consolas" charset="0"/>
                        <a:cs typeface="Consolas"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c>
                  <a:txBody>
                    <a:bodyPr/>
                    <a:lstStyle/>
                    <a:p>
                      <a:pPr algn="ctr" indent="0" marL="0">
                        <a:buNone/>
                      </a:pPr>
                      <a:r>
                        <a:rPr lang="en-IE" sz="1600" b="1" dirty="0">
                          <a:solidFill>
                            <a:schemeClr val="bg1"/>
                          </a:solidFill>
                          <a:latin typeface="Consolas" pitchFamily="34" charset="0"/>
                          <a:ea typeface="Consolas" pitchFamily="34" charset="-122"/>
                          <a:cs typeface="Consolas" pitchFamily="34" charset="-120"/>
                        </a:rPr>
                        <a:t>public</a:t>
                      </a:r>
                      <a:endParaRPr lang="en-IE" sz="1600" dirty="0">
                        <a:latin typeface="Consolas" charset="0"/>
                        <a:ea typeface="Consolas" charset="0"/>
                        <a:cs typeface="Consolas"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F6B"/>
                    </a:solidFill>
                  </a:tcPr>
                </a:tc>
              </a:tr>
              <a:tr h="566928">
                <a:tc>
                  <a:txBody>
                    <a:bodyPr/>
                    <a:lstStyle/>
                    <a:p>
                      <a:pPr algn="l" indent="0" marL="0">
                        <a:buNone/>
                      </a:pPr>
                      <a:r>
                        <a:rPr lang="en-IE" sz="1600" dirty="0">
                          <a:solidFill>
                            <a:schemeClr val="tx1"/>
                          </a:solidFill>
                        </a:rPr>
                        <a:t>Inside the same class</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r>
              <a:tr h="566928">
                <a:tc>
                  <a:txBody>
                    <a:bodyPr/>
                    <a:lstStyle/>
                    <a:p>
                      <a:pPr algn="l" indent="0" marL="0">
                        <a:buNone/>
                      </a:pPr>
                      <a:r>
                        <a:rPr lang="en-IE" sz="1600" dirty="0">
                          <a:solidFill>
                            <a:schemeClr val="tx1"/>
                          </a:solidFill>
                        </a:rPr>
                        <a:t>A subclass, same package</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r>
              <a:tr h="566928">
                <a:tc>
                  <a:txBody>
                    <a:bodyPr/>
                    <a:lstStyle/>
                    <a:p>
                      <a:pPr algn="l" indent="0" marL="0">
                        <a:buNone/>
                      </a:pPr>
                      <a:r>
                        <a:rPr lang="en-IE" sz="1600" dirty="0">
                          <a:solidFill>
                            <a:schemeClr val="tx1"/>
                          </a:solidFill>
                        </a:rPr>
                        <a:t>Another class, same package</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r>
              <a:tr h="566928">
                <a:tc>
                  <a:txBody>
                    <a:bodyPr/>
                    <a:lstStyle/>
                    <a:p>
                      <a:pPr algn="l" indent="0" marL="0">
                        <a:buNone/>
                      </a:pPr>
                      <a:r>
                        <a:rPr lang="en-IE" sz="1600" dirty="0">
                          <a:solidFill>
                            <a:schemeClr val="tx1"/>
                          </a:solidFill>
                        </a:rPr>
                        <a:t>A subclass, other package</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r>
              <a:tr h="566928">
                <a:tc>
                  <a:txBody>
                    <a:bodyPr/>
                    <a:lstStyle/>
                    <a:p>
                      <a:pPr algn="l" indent="0" marL="0">
                        <a:buNone/>
                      </a:pPr>
                      <a:r>
                        <a:rPr lang="en-IE" sz="1600" dirty="0">
                          <a:solidFill>
                            <a:schemeClr val="tx1"/>
                          </a:solidFill>
                        </a:rPr>
                        <a:t>Another class, other package</a:t>
                      </a:r>
                      <a:endParaRPr lang="en-IE" sz="1600" dirty="0"/>
                    </a:p>
                  </a:txBody>
                  <a:tcPr marL="164592" marR="164592"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dirty="0">
                          <a:solidFill>
                            <a:schemeClr val="tx2"/>
                          </a:solidFill>
                        </a:rPr>
                        <a:t>No</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9"/>
                    </a:solidFill>
                  </a:tcPr>
                </a:tc>
                <a:tc>
                  <a:txBody>
                    <a:bodyPr/>
                    <a:lstStyle/>
                    <a:p>
                      <a:pPr algn="ctr" indent="0" marL="0">
                        <a:buNone/>
                      </a:pPr>
                      <a:r>
                        <a:rPr lang="en-IE" sz="1600" b="1" dirty="0">
                          <a:solidFill>
                            <a:schemeClr val="accent3"/>
                          </a:solidFill>
                        </a:rPr>
                        <a:t>Yes</a:t>
                      </a:r>
                      <a:endParaRPr lang="en-IE" sz="16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1E7"/>
                    </a:solidFill>
                  </a:tcPr>
                </a:tc>
              </a:tr>
            </a:tbl>
          </a:graphicData>
        </a:graphic>
      </p:graphicFrame>
      <p:sp>
        <p:nvSpPr>
          <p:cNvPr id="6" name="Note"/>
          <p:cNvSpPr/>
          <p:nvPr/>
        </p:nvSpPr>
        <p:spPr>
          <a:xfrm>
            <a:off x="548640" y="5486400"/>
            <a:ext cx="11094415" cy="777240"/>
          </a:xfrm>
          <a:prstGeom prst="roundRect">
            <a:avLst>
              <a:gd name="adj" fmla="val 14118"/>
            </a:avLst>
          </a:prstGeom>
          <a:solidFill>
            <a:schemeClr val="bg2"/>
          </a:solidFill>
          <a:ln/>
        </p:spPr>
      </p:sp>
      <p:sp>
        <p:nvSpPr>
          <p:cNvPr id="7" name="Icon tile"/>
          <p:cNvSpPr/>
          <p:nvPr/>
        </p:nvSpPr>
        <p:spPr>
          <a:xfrm>
            <a:off x="822960" y="5609844"/>
            <a:ext cx="530352" cy="530352"/>
          </a:xfrm>
          <a:prstGeom prst="roundRect">
            <a:avLst>
              <a:gd name="adj" fmla="val 24000"/>
            </a:avLst>
          </a:prstGeom>
          <a:solidFill>
            <a:schemeClr val="accent2">
              <a:alpha val="14000"/>
            </a:schemeClr>
          </a:solidFill>
          <a:ln/>
        </p:spPr>
      </p:sp>
      <p:pic>
        <p:nvPicPr>
          <p:cNvPr id="8" name="info icon" descr="info icon">    </p:cNvPr>
          <p:cNvPicPr>
            <a:picLocks noChangeAspect="1"/>
          </p:cNvPicPr>
          <p:nvPr/>
        </p:nvPicPr>
        <p:blipFill>
          <a:blip r:embed="rId1"/>
          <a:stretch>
            <a:fillRect/>
          </a:stretch>
        </p:blipFill>
        <p:spPr>
          <a:xfrm>
            <a:off x="934334" y="5721218"/>
            <a:ext cx="307604" cy="307604"/>
          </a:xfrm>
          <a:prstGeom prst="rect">
            <a:avLst/>
          </a:prstGeom>
        </p:spPr>
      </p:pic>
      <p:sp>
        <p:nvSpPr>
          <p:cNvPr id="9" name="Text 4"/>
          <p:cNvSpPr txBox="1"/>
          <p:nvPr/>
        </p:nvSpPr>
        <p:spPr>
          <a:xfrm>
            <a:off x="1572768" y="5486400"/>
            <a:ext cx="9814255" cy="777240"/>
          </a:xfrm>
          <a:prstGeom prst="rect">
            <a:avLst/>
          </a:prstGeom>
          <a:noFill/>
          <a:ln/>
        </p:spPr>
        <p:txBody>
          <a:bodyPr wrap="square" lIns="0" tIns="0" rIns="0" bIns="0" rtlCol="0" anchor="ctr"/>
          <a:lstStyle/>
          <a:p>
            <a:pPr indent="0" marL="0">
              <a:buNone/>
            </a:pPr>
            <a:r>
              <a:rPr lang="en-IE" sz="1600" dirty="0">
                <a:solidFill>
                  <a:schemeClr val="tx1"/>
                </a:solidFill>
              </a:rPr>
              <a:t>The further right, the more places can use it. Only </a:t>
            </a:r>
            <a:r>
              <a:rPr lang="en-IE" sz="1600" dirty="0">
                <a:solidFill>
                  <a:schemeClr val="accent2"/>
                </a:solidFill>
                <a:latin typeface="Consolas" pitchFamily="34" charset="0"/>
                <a:ea typeface="Consolas" pitchFamily="34" charset="-122"/>
                <a:cs typeface="Consolas" pitchFamily="34" charset="-120"/>
              </a:rPr>
              <a:t>public</a:t>
            </a:r>
            <a:r>
              <a:rPr lang="en-IE" sz="1600" dirty="0">
                <a:solidFill>
                  <a:schemeClr val="tx1"/>
                </a:solidFill>
              </a:rPr>
              <a:t> reaches a class in another package that isn’t a subclass.</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13</a:t>
            </a:fld>
            <a:endParaRPr lang="en-I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4</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Who can see what</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A class in another package, which is not a subclass, needs to call a method. Which access level must the method have?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protected</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default (no keyword)</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public</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private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14</a:t>
            </a:fld>
            <a:endParaRPr lang="en-I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4</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Who can see what</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A class in another package, which is not a subclass, needs to call a method. Which access level must the method have?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protected</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default (no keyword)</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private</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Only </a:t>
            </a:r>
            <a:r>
              <a:rPr lang="en-IE" sz="1800" dirty="0">
                <a:solidFill>
                  <a:schemeClr val="accent2"/>
                </a:solidFill>
                <a:latin typeface="Consolas" pitchFamily="34" charset="0"/>
                <a:ea typeface="Consolas" pitchFamily="34" charset="-122"/>
                <a:cs typeface="Consolas" pitchFamily="34" charset="-120"/>
              </a:rPr>
              <a:t>public</a:t>
            </a:r>
            <a:r>
              <a:rPr lang="en-IE" sz="1800" dirty="0">
                <a:solidFill>
                  <a:schemeClr val="tx1"/>
                </a:solidFill>
              </a:rPr>
              <a:t> reaches a class in another package that isn’t a subclass. </a:t>
            </a:r>
            <a:r>
              <a:rPr lang="en-IE" sz="1800" dirty="0">
                <a:solidFill>
                  <a:schemeClr val="accent2"/>
                </a:solidFill>
                <a:latin typeface="Consolas" pitchFamily="34" charset="0"/>
                <a:ea typeface="Consolas" pitchFamily="34" charset="-122"/>
                <a:cs typeface="Consolas" pitchFamily="34" charset="-120"/>
              </a:rPr>
              <a:t>protected</a:t>
            </a:r>
            <a:r>
              <a:rPr lang="en-IE" sz="1800" dirty="0">
                <a:solidFill>
                  <a:schemeClr val="tx1"/>
                </a:solidFill>
              </a:rPr>
              <a:t> stops at the same package and subclasses, even if the class creates an object first.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15</a:t>
            </a:fld>
            <a:endParaRPr lang="en-I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HIDING THE DETAILS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Make attributes private</a:t>
            </a:r>
            <a:endParaRPr lang="en-IE" sz="3400" dirty="0"/>
          </a:p>
        </p:txBody>
      </p:sp>
      <p:sp>
        <p:nvSpPr>
          <p:cNvPr id="5" name="Text 2"/>
          <p:cNvSpPr txBox="1"/>
          <p:nvPr/>
        </p:nvSpPr>
        <p:spPr>
          <a:xfrm>
            <a:off x="548640" y="1783080"/>
            <a:ext cx="5120640" cy="2560320"/>
          </a:xfrm>
          <a:prstGeom prst="rect">
            <a:avLst/>
          </a:prstGeom>
          <a:noFill/>
          <a:ln/>
        </p:spPr>
        <p:txBody>
          <a:bodyPr wrap="square" lIns="0" tIns="0" rIns="0" bIns="0" rtlCol="0" anchor="t"/>
          <a:lstStyle/>
          <a:p>
            <a:pPr marL="228600" indent="-228600">
              <a:spcAft>
                <a:spcPts val="1400"/>
              </a:spcAft>
              <a:buSzPct val="100000"/>
              <a:buChar char="•"/>
            </a:pPr>
            <a:r>
              <a:rPr lang="en-IE" sz="1900" dirty="0">
                <a:solidFill>
                  <a:schemeClr val="tx1"/>
                </a:solidFill>
              </a:rPr>
              <a:t>To encapsulate data, we make it </a:t>
            </a:r>
            <a:r>
              <a:rPr lang="en-IE" sz="1900" b="1" dirty="0">
                <a:solidFill>
                  <a:schemeClr val="tx1"/>
                </a:solidFill>
              </a:rPr>
              <a:t>private</a:t>
            </a:r>
            <a:r>
              <a:rPr lang="en-IE" sz="1900" dirty="0">
                <a:solidFill>
                  <a:schemeClr val="tx1"/>
                </a:solidFill>
              </a:rPr>
              <a:t>.</a:t>
            </a:r>
            <a:endParaRPr lang="en-IE" sz="1900" dirty="0"/>
          </a:p>
          <a:p>
            <a:pPr marL="228600" indent="-228600">
              <a:spcAft>
                <a:spcPts val="1400"/>
              </a:spcAft>
              <a:buSzPct val="100000"/>
              <a:buChar char="•"/>
            </a:pPr>
            <a:r>
              <a:rPr lang="en-IE" sz="1900" dirty="0">
                <a:solidFill>
                  <a:schemeClr val="tx1"/>
                </a:solidFill>
              </a:rPr>
              <a:t>Other classes can then no longer reach it directly.</a:t>
            </a:r>
            <a:endParaRPr lang="en-IE" sz="1900" dirty="0"/>
          </a:p>
          <a:p>
            <a:pPr marL="228600" indent="-228600">
              <a:buSzPct val="100000"/>
              <a:buChar char="•"/>
            </a:pPr>
            <a:r>
              <a:rPr lang="en-IE" sz="1900" dirty="0">
                <a:solidFill>
                  <a:schemeClr val="tx1"/>
                </a:solidFill>
              </a:rPr>
              <a:t>It’s standard practice not to let attributes be accessed directly from outside their class.</a:t>
            </a:r>
            <a:endParaRPr lang="en-IE" sz="1900" dirty="0"/>
          </a:p>
        </p:txBody>
      </p:sp>
      <p:sp>
        <p:nvSpPr>
          <p:cNvPr id="6" name="Question"/>
          <p:cNvSpPr/>
          <p:nvPr/>
        </p:nvSpPr>
        <p:spPr>
          <a:xfrm>
            <a:off x="548640" y="4572000"/>
            <a:ext cx="5120640" cy="1417320"/>
          </a:xfrm>
          <a:prstGeom prst="roundRect">
            <a:avLst>
              <a:gd name="adj" fmla="val 7742"/>
            </a:avLst>
          </a:prstGeom>
          <a:solidFill>
            <a:schemeClr val="accent1">
              <a:alpha val="12000"/>
            </a:schemeClr>
          </a:solidFill>
          <a:ln/>
        </p:spPr>
      </p:sp>
      <p:pic>
        <p:nvPicPr>
          <p:cNvPr id="7" name="Question icon" descr="Question icon">    </p:cNvPr>
          <p:cNvPicPr>
            <a:picLocks noChangeAspect="1"/>
          </p:cNvPicPr>
          <p:nvPr/>
        </p:nvPicPr>
        <p:blipFill>
          <a:blip r:embed="rId1"/>
          <a:stretch>
            <a:fillRect/>
          </a:stretch>
        </p:blipFill>
        <p:spPr>
          <a:xfrm>
            <a:off x="822960" y="4800600"/>
            <a:ext cx="548640" cy="548640"/>
          </a:xfrm>
          <a:prstGeom prst="rect">
            <a:avLst/>
          </a:prstGeom>
        </p:spPr>
      </p:pic>
      <p:sp>
        <p:nvSpPr>
          <p:cNvPr id="8" name="Text 4"/>
          <p:cNvSpPr txBox="1"/>
          <p:nvPr/>
        </p:nvSpPr>
        <p:spPr>
          <a:xfrm>
            <a:off x="1554480" y="4681728"/>
            <a:ext cx="3931920" cy="685800"/>
          </a:xfrm>
          <a:prstGeom prst="rect">
            <a:avLst/>
          </a:prstGeom>
          <a:noFill/>
          <a:ln/>
        </p:spPr>
        <p:txBody>
          <a:bodyPr wrap="square" lIns="0" tIns="0" rIns="0" bIns="0" rtlCol="0" anchor="ctr"/>
          <a:lstStyle/>
          <a:p>
            <a:pPr indent="0" marL="0">
              <a:buNone/>
            </a:pPr>
            <a:r>
              <a:rPr lang="en-IE" sz="1800" b="1" dirty="0">
                <a:solidFill>
                  <a:schemeClr val="tx1"/>
                </a:solidFill>
              </a:rPr>
              <a:t>But if it’s private, how can other classes use it?</a:t>
            </a:r>
            <a:endParaRPr lang="en-IE" sz="1800" dirty="0"/>
          </a:p>
        </p:txBody>
      </p:sp>
      <p:sp>
        <p:nvSpPr>
          <p:cNvPr id="9" name="Text 5"/>
          <p:cNvSpPr txBox="1"/>
          <p:nvPr/>
        </p:nvSpPr>
        <p:spPr>
          <a:xfrm>
            <a:off x="1554480" y="5349240"/>
            <a:ext cx="3931920" cy="365760"/>
          </a:xfrm>
          <a:prstGeom prst="rect">
            <a:avLst/>
          </a:prstGeom>
          <a:noFill/>
          <a:ln/>
        </p:spPr>
        <p:txBody>
          <a:bodyPr wrap="square" lIns="0" tIns="0" rIns="0" bIns="0" rtlCol="0" anchor="t"/>
          <a:lstStyle/>
          <a:p>
            <a:pPr indent="0" marL="0">
              <a:buNone/>
            </a:pPr>
            <a:r>
              <a:rPr lang="en-IE" sz="1500" dirty="0">
                <a:solidFill>
                  <a:schemeClr val="tx2"/>
                </a:solidFill>
              </a:rPr>
              <a:t>Next: getters and setters.</a:t>
            </a:r>
            <a:endParaRPr lang="en-IE" sz="1500" dirty="0"/>
          </a:p>
        </p:txBody>
      </p:sp>
      <p:sp>
        <p:nvSpPr>
          <p:cNvPr id="10" name="Student class card"/>
          <p:cNvSpPr/>
          <p:nvPr/>
        </p:nvSpPr>
        <p:spPr>
          <a:xfrm>
            <a:off x="6172200" y="1783080"/>
            <a:ext cx="5470855" cy="1821688"/>
          </a:xfrm>
          <a:prstGeom prst="roundRect">
            <a:avLst>
              <a:gd name="adj" fmla="val 6023"/>
            </a:avLst>
          </a:prstGeom>
          <a:solidFill>
            <a:schemeClr val="tx1"/>
          </a:solidFill>
          <a:ln/>
          <a:effectLst>
            <a:outerShdw sx="100000" sy="100000" kx="0" ky="0" algn="bl" rotWithShape="0" blurRad="114300" dist="31750" dir="5400000">
              <a:srgbClr val="1D2433">
                <a:alpha val="12000"/>
              </a:srgbClr>
            </a:outerShdw>
          </a:effectLst>
        </p:spPr>
      </p:sp>
      <p:sp>
        <p:nvSpPr>
          <p:cNvPr id="11" name="Student class language"/>
          <p:cNvSpPr txBox="1"/>
          <p:nvPr/>
        </p:nvSpPr>
        <p:spPr>
          <a:xfrm>
            <a:off x="6446520" y="1901952"/>
            <a:ext cx="492221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2" name="Student class text"/>
          <p:cNvSpPr txBox="1"/>
          <p:nvPr/>
        </p:nvSpPr>
        <p:spPr>
          <a:xfrm>
            <a:off x="6446520" y="2276856"/>
            <a:ext cx="4922215" cy="112674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class</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private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private</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age;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3" name="Text 9"/>
          <p:cNvSpPr txBox="1"/>
          <p:nvPr/>
        </p:nvSpPr>
        <p:spPr>
          <a:xfrm>
            <a:off x="6172200" y="3833368"/>
            <a:ext cx="3657600" cy="292608"/>
          </a:xfrm>
          <a:prstGeom prst="rect">
            <a:avLst/>
          </a:prstGeom>
          <a:noFill/>
          <a:ln/>
        </p:spPr>
        <p:txBody>
          <a:bodyPr wrap="square" lIns="0" tIns="0" rIns="0" bIns="0" rtlCol="0" anchor="t"/>
          <a:lstStyle/>
          <a:p>
            <a:pPr indent="0" marL="0">
              <a:buNone/>
            </a:pPr>
            <a:r>
              <a:rPr lang="en-IE" sz="1500" b="1" dirty="0">
                <a:solidFill>
                  <a:schemeClr val="tx2"/>
                </a:solidFill>
              </a:rPr>
              <a:t>In another class:</a:t>
            </a:r>
            <a:endParaRPr lang="en-IE" sz="1500" dirty="0"/>
          </a:p>
        </p:txBody>
      </p:sp>
      <p:sp>
        <p:nvSpPr>
          <p:cNvPr id="14" name="Direct access card"/>
          <p:cNvSpPr/>
          <p:nvPr/>
        </p:nvSpPr>
        <p:spPr>
          <a:xfrm>
            <a:off x="6172200" y="4199128"/>
            <a:ext cx="5470855" cy="993140"/>
          </a:xfrm>
          <a:prstGeom prst="roundRect">
            <a:avLst>
              <a:gd name="adj" fmla="val 11049"/>
            </a:avLst>
          </a:prstGeom>
          <a:solidFill>
            <a:schemeClr val="tx1"/>
          </a:solidFill>
          <a:ln/>
          <a:effectLst>
            <a:outerShdw sx="100000" sy="100000" kx="0" ky="0" algn="bl" rotWithShape="0" blurRad="114300" dist="31750" dir="5400000">
              <a:srgbClr val="1D2433">
                <a:alpha val="12000"/>
              </a:srgbClr>
            </a:outerShdw>
          </a:effectLst>
        </p:spPr>
      </p:sp>
      <p:sp>
        <p:nvSpPr>
          <p:cNvPr id="15" name="Direct access text"/>
          <p:cNvSpPr txBox="1"/>
          <p:nvPr/>
        </p:nvSpPr>
        <p:spPr>
          <a:xfrm>
            <a:off x="6446520" y="4400296"/>
            <a:ext cx="4922215" cy="590804"/>
          </a:xfrm>
          <a:prstGeom prst="rect">
            <a:avLst/>
          </a:prstGeom>
          <a:noFill/>
          <a:ln/>
        </p:spPr>
        <p:txBody>
          <a:bodyPr wrap="square" lIns="0" tIns="0" rIns="0" bIns="0" rtlCol="0" anchor="t"/>
          <a:lstStyle/>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student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student.name = </a:t>
            </a:r>
            <a:r>
              <a:rPr lang="en-IE" sz="1600" dirty="0">
                <a:solidFill>
                  <a:srgbClr val="A9DB8C"/>
                </a:solidFill>
                <a:latin typeface="Consolas" pitchFamily="34" charset="0"/>
                <a:ea typeface="Consolas" pitchFamily="34" charset="-122"/>
                <a:cs typeface="Consolas" pitchFamily="34" charset="-120"/>
              </a:rPr>
              <a:t>"bob"</a:t>
            </a: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6" name="Compiler error"/>
          <p:cNvSpPr/>
          <p:nvPr/>
        </p:nvSpPr>
        <p:spPr>
          <a:xfrm>
            <a:off x="6172200" y="5375148"/>
            <a:ext cx="5470855" cy="658368"/>
          </a:xfrm>
          <a:prstGeom prst="roundRect">
            <a:avLst>
              <a:gd name="adj" fmla="val 16667"/>
            </a:avLst>
          </a:prstGeom>
          <a:solidFill>
            <a:schemeClr val="bg2"/>
          </a:solidFill>
          <a:ln/>
        </p:spPr>
      </p:sp>
      <p:pic>
        <p:nvPicPr>
          <p:cNvPr id="17" name="Error icon" descr="Error icon">    </p:cNvPr>
          <p:cNvPicPr>
            <a:picLocks noChangeAspect="1"/>
          </p:cNvPicPr>
          <p:nvPr/>
        </p:nvPicPr>
        <p:blipFill>
          <a:blip r:embed="rId2"/>
          <a:stretch>
            <a:fillRect/>
          </a:stretch>
        </p:blipFill>
        <p:spPr>
          <a:xfrm>
            <a:off x="6400800" y="5521452"/>
            <a:ext cx="365760" cy="365760"/>
          </a:xfrm>
          <a:prstGeom prst="rect">
            <a:avLst/>
          </a:prstGeom>
        </p:spPr>
      </p:pic>
      <p:sp>
        <p:nvSpPr>
          <p:cNvPr id="18" name="Text 13"/>
          <p:cNvSpPr txBox="1"/>
          <p:nvPr/>
        </p:nvSpPr>
        <p:spPr>
          <a:xfrm>
            <a:off x="6903720" y="5375148"/>
            <a:ext cx="4572000" cy="658368"/>
          </a:xfrm>
          <a:prstGeom prst="rect">
            <a:avLst/>
          </a:prstGeom>
          <a:noFill/>
          <a:ln/>
        </p:spPr>
        <p:txBody>
          <a:bodyPr wrap="square" lIns="0" tIns="0" rIns="0" bIns="0" rtlCol="0" anchor="ctr"/>
          <a:lstStyle/>
          <a:p>
            <a:pPr indent="0" marL="0">
              <a:buNone/>
            </a:pPr>
            <a:r>
              <a:rPr lang="en-IE" sz="1500" b="1" dirty="0">
                <a:solidFill>
                  <a:schemeClr val="tx1"/>
                </a:solidFill>
              </a:rPr>
              <a:t>Error: </a:t>
            </a:r>
            <a:r>
              <a:rPr lang="en-IE" sz="1500" dirty="0">
                <a:solidFill>
                  <a:schemeClr val="tx1"/>
                </a:solidFill>
                <a:latin typeface="Consolas" pitchFamily="34" charset="0"/>
                <a:ea typeface="Consolas" pitchFamily="34" charset="-122"/>
                <a:cs typeface="Consolas" pitchFamily="34" charset="-120"/>
              </a:rPr>
              <a:t>name has private access in Student</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16</a:t>
            </a:fld>
            <a:endParaRPr lang="en-I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5</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Private attributes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is the standard practice for attributes in a class?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 them public so any class can change them</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 them static so all objects share them</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Leave out the access modifier completely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Make them private to block direct access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17</a:t>
            </a:fld>
            <a:endParaRPr lang="en-I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5</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Private attributes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is the standard practice for attributes in a class?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Make them public so any class can change them</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Make them static so all objects share them</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Leave out the access modifier completely</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Make them private to block direct access</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To encapsulate data we make it private. Other classes then can’t read or change it directly; they have to go through the methods we choose to provide.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18</a:t>
            </a:fld>
            <a:endParaRPr lang="en-I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02</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Getters and setters</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Reading and changing private data safely</a:t>
            </a:r>
            <a:endParaRPr lang="en-IE" sz="2000" dirty="0"/>
          </a:p>
        </p:txBody>
      </p:sp>
      <p:sp>
        <p:nvSpPr>
          <p:cNvPr id="5" name="Topic chip"/>
          <p:cNvSpPr/>
          <p:nvPr/>
        </p:nvSpPr>
        <p:spPr>
          <a:xfrm>
            <a:off x="822960"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Getters</a:t>
            </a:r>
            <a:endParaRPr lang="en-IE" sz="1400" dirty="0"/>
          </a:p>
        </p:txBody>
      </p:sp>
      <p:sp>
        <p:nvSpPr>
          <p:cNvPr id="6" name="Topic chip"/>
          <p:cNvSpPr/>
          <p:nvPr/>
        </p:nvSpPr>
        <p:spPr>
          <a:xfrm>
            <a:off x="2018792" y="4846320"/>
            <a:ext cx="104952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Setters</a:t>
            </a:r>
            <a:endParaRPr lang="en-IE" sz="1400" dirty="0"/>
          </a:p>
        </p:txBody>
      </p:sp>
      <p:sp>
        <p:nvSpPr>
          <p:cNvPr id="7" name="Topic chip"/>
          <p:cNvSpPr/>
          <p:nvPr/>
        </p:nvSpPr>
        <p:spPr>
          <a:xfrm>
            <a:off x="3214624" y="4846320"/>
            <a:ext cx="7721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this</a:t>
            </a:r>
            <a:endParaRPr lang="en-IE" sz="1400" dirty="0"/>
          </a:p>
        </p:txBody>
      </p:sp>
      <p:sp>
        <p:nvSpPr>
          <p:cNvPr id="8" name="Topic chip"/>
          <p:cNvSpPr/>
          <p:nvPr/>
        </p:nvSpPr>
        <p:spPr>
          <a:xfrm>
            <a:off x="4133088" y="4846320"/>
            <a:ext cx="11419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Benefits</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Getters and setters</a:t>
            </a:r>
            <a:endParaRPr lang="en-IE" sz="3400" dirty="0"/>
          </a:p>
        </p:txBody>
      </p:sp>
      <p:sp>
        <p:nvSpPr>
          <p:cNvPr id="5" name="Text 2"/>
          <p:cNvSpPr txBox="1"/>
          <p:nvPr/>
        </p:nvSpPr>
        <p:spPr>
          <a:xfrm>
            <a:off x="548640" y="1691640"/>
            <a:ext cx="11094415" cy="685800"/>
          </a:xfrm>
          <a:prstGeom prst="rect">
            <a:avLst/>
          </a:prstGeom>
          <a:noFill/>
          <a:ln/>
        </p:spPr>
        <p:txBody>
          <a:bodyPr wrap="square" lIns="0" tIns="0" rIns="0" bIns="0" rtlCol="0" anchor="t"/>
          <a:lstStyle/>
          <a:p>
            <a:pPr indent="0" marL="0">
              <a:buNone/>
            </a:pPr>
            <a:r>
              <a:rPr lang="en-IE" sz="1900" dirty="0">
                <a:solidFill>
                  <a:schemeClr val="tx1"/>
                </a:solidFill>
              </a:rPr>
              <a:t>Private data stays hidden, but we can still allow access when it’s needed, through two special methods:</a:t>
            </a:r>
            <a:endParaRPr lang="en-IE" sz="1900" dirty="0"/>
          </a:p>
        </p:txBody>
      </p:sp>
      <p:sp>
        <p:nvSpPr>
          <p:cNvPr id="6" name="Other class"/>
          <p:cNvSpPr/>
          <p:nvPr/>
        </p:nvSpPr>
        <p:spPr>
          <a:xfrm>
            <a:off x="548640" y="2651760"/>
            <a:ext cx="2468880" cy="2514600"/>
          </a:xfrm>
          <a:prstGeom prst="roundRect">
            <a:avLst>
              <a:gd name="adj" fmla="val 4444"/>
            </a:avLst>
          </a:prstGeom>
          <a:solidFill>
            <a:schemeClr val="bg1"/>
          </a:solidFill>
          <a:ln/>
          <a:effectLst>
            <a:outerShdw sx="100000" sy="100000" kx="0" ky="0" algn="bl" rotWithShape="0" blurRad="114300" dist="31750" dir="5400000">
              <a:srgbClr val="1D2433">
                <a:alpha val="12000"/>
              </a:srgbClr>
            </a:outerShdw>
          </a:effectLst>
        </p:spPr>
      </p:sp>
      <p:pic>
        <p:nvPicPr>
          <p:cNvPr id="7" name="Other class icon" descr="Other class icon">    </p:cNvPr>
          <p:cNvPicPr>
            <a:picLocks noChangeAspect="1"/>
          </p:cNvPicPr>
          <p:nvPr/>
        </p:nvPicPr>
        <p:blipFill>
          <a:blip r:embed="rId1"/>
          <a:stretch>
            <a:fillRect/>
          </a:stretch>
        </p:blipFill>
        <p:spPr>
          <a:xfrm>
            <a:off x="1371600" y="3154680"/>
            <a:ext cx="822960" cy="822960"/>
          </a:xfrm>
          <a:prstGeom prst="rect">
            <a:avLst/>
          </a:prstGeom>
        </p:spPr>
      </p:pic>
      <p:sp>
        <p:nvSpPr>
          <p:cNvPr id="8" name="Text 4"/>
          <p:cNvSpPr txBox="1"/>
          <p:nvPr/>
        </p:nvSpPr>
        <p:spPr>
          <a:xfrm>
            <a:off x="548640" y="4114800"/>
            <a:ext cx="2468880" cy="365760"/>
          </a:xfrm>
          <a:prstGeom prst="rect">
            <a:avLst/>
          </a:prstGeom>
          <a:noFill/>
          <a:ln/>
        </p:spPr>
        <p:txBody>
          <a:bodyPr wrap="square" lIns="0" tIns="0" rIns="0" bIns="0" rtlCol="0" anchor="t"/>
          <a:lstStyle/>
          <a:p>
            <a:pPr algn="ctr" indent="0" marL="0">
              <a:buNone/>
            </a:pPr>
            <a:r>
              <a:rPr lang="en-IE" sz="1700" b="1" dirty="0">
                <a:solidFill>
                  <a:schemeClr val="tx1"/>
                </a:solidFill>
              </a:rPr>
              <a:t>Another class</a:t>
            </a:r>
            <a:endParaRPr lang="en-IE" sz="1700" dirty="0"/>
          </a:p>
        </p:txBody>
      </p:sp>
      <p:sp>
        <p:nvSpPr>
          <p:cNvPr id="9" name="Student object"/>
          <p:cNvSpPr/>
          <p:nvPr/>
        </p:nvSpPr>
        <p:spPr>
          <a:xfrm>
            <a:off x="9052560" y="2651760"/>
            <a:ext cx="2590495" cy="2514600"/>
          </a:xfrm>
          <a:prstGeom prst="roundRect">
            <a:avLst>
              <a:gd name="adj" fmla="val 4364"/>
            </a:avLst>
          </a:prstGeom>
          <a:solidFill>
            <a:schemeClr val="bg1"/>
          </a:solidFill>
          <a:ln w="19050">
            <a:solidFill>
              <a:schemeClr val="accent2"/>
            </a:solidFill>
            <a:prstDash val="solid"/>
          </a:ln>
          <a:effectLst>
            <a:outerShdw sx="100000" sy="100000" kx="0" ky="0" algn="bl" rotWithShape="0" blurRad="114300" dist="31750" dir="5400000">
              <a:srgbClr val="1D2433">
                <a:alpha val="12000"/>
              </a:srgbClr>
            </a:outerShdw>
          </a:effectLst>
        </p:spPr>
      </p:sp>
      <p:sp>
        <p:nvSpPr>
          <p:cNvPr id="10" name="Text 6"/>
          <p:cNvSpPr txBox="1"/>
          <p:nvPr/>
        </p:nvSpPr>
        <p:spPr>
          <a:xfrm>
            <a:off x="9326880" y="2880360"/>
            <a:ext cx="2041855" cy="365760"/>
          </a:xfrm>
          <a:prstGeom prst="rect">
            <a:avLst/>
          </a:prstGeom>
          <a:noFill/>
          <a:ln/>
        </p:spPr>
        <p:txBody>
          <a:bodyPr wrap="square" lIns="0" tIns="0" rIns="0" bIns="0" rtlCol="0" anchor="t"/>
          <a:lstStyle/>
          <a:p>
            <a:pPr indent="0" marL="0">
              <a:buNone/>
            </a:pPr>
            <a:r>
              <a:rPr lang="en-IE" sz="1600" b="1" dirty="0">
                <a:solidFill>
                  <a:schemeClr val="accent2"/>
                </a:solidFill>
              </a:rPr>
              <a:t>A Student object</a:t>
            </a:r>
            <a:endParaRPr lang="en-IE" sz="1600" dirty="0"/>
          </a:p>
        </p:txBody>
      </p:sp>
      <p:sp>
        <p:nvSpPr>
          <p:cNvPr id="11" name="Private attribute"/>
          <p:cNvSpPr/>
          <p:nvPr/>
        </p:nvSpPr>
        <p:spPr>
          <a:xfrm>
            <a:off x="9326880" y="3611880"/>
            <a:ext cx="2041855" cy="548640"/>
          </a:xfrm>
          <a:prstGeom prst="roundRect">
            <a:avLst>
              <a:gd name="adj" fmla="val 13333"/>
            </a:avLst>
          </a:prstGeom>
          <a:solidFill>
            <a:schemeClr val="bg2"/>
          </a:solidFill>
          <a:ln/>
        </p:spPr>
        <p:txBody>
          <a:bodyPr wrap="square" lIns="0" tIns="0" rIns="0" bIns="0" rtlCol="0" anchor="ctr"/>
          <a:lstStyle/>
          <a:p>
            <a:pPr algn="ctr" indent="0" marL="0">
              <a:buNone/>
            </a:pPr>
            <a:r>
              <a:rPr lang="en-IE" sz="1700" dirty="0">
                <a:solidFill>
                  <a:schemeClr val="tx1"/>
                </a:solidFill>
                <a:latin typeface="Consolas" pitchFamily="34" charset="0"/>
                <a:ea typeface="Consolas" pitchFamily="34" charset="-122"/>
                <a:cs typeface="Consolas" pitchFamily="34" charset="-120"/>
              </a:rPr>
              <a:t>name = "jack"</a:t>
            </a:r>
            <a:endParaRPr lang="en-IE" sz="1700" dirty="0"/>
          </a:p>
        </p:txBody>
      </p:sp>
      <p:pic>
        <p:nvPicPr>
          <p:cNvPr id="12" name="Lock" descr="Lock">    </p:cNvPr>
          <p:cNvPicPr>
            <a:picLocks noChangeAspect="1"/>
          </p:cNvPicPr>
          <p:nvPr/>
        </p:nvPicPr>
        <p:blipFill>
          <a:blip r:embed="rId2"/>
          <a:stretch>
            <a:fillRect/>
          </a:stretch>
        </p:blipFill>
        <p:spPr>
          <a:xfrm>
            <a:off x="11076127" y="4315968"/>
            <a:ext cx="329184" cy="329184"/>
          </a:xfrm>
          <a:prstGeom prst="rect">
            <a:avLst/>
          </a:prstGeom>
        </p:spPr>
      </p:pic>
      <p:sp>
        <p:nvSpPr>
          <p:cNvPr id="13" name="Text 8"/>
          <p:cNvSpPr txBox="1"/>
          <p:nvPr/>
        </p:nvSpPr>
        <p:spPr>
          <a:xfrm>
            <a:off x="9326880" y="4334256"/>
            <a:ext cx="1828800" cy="292608"/>
          </a:xfrm>
          <a:prstGeom prst="rect">
            <a:avLst/>
          </a:prstGeom>
          <a:noFill/>
          <a:ln/>
        </p:spPr>
        <p:txBody>
          <a:bodyPr wrap="square" lIns="0" tIns="0" rIns="0" bIns="0" rtlCol="0" anchor="t"/>
          <a:lstStyle/>
          <a:p>
            <a:pPr indent="0" marL="0">
              <a:buNone/>
            </a:pPr>
            <a:r>
              <a:rPr lang="en-IE" sz="1300" i="1" dirty="0">
                <a:solidFill>
                  <a:schemeClr val="tx2"/>
                </a:solidFill>
              </a:rPr>
              <a:t>private</a:t>
            </a:r>
            <a:endParaRPr lang="en-IE" sz="1300" dirty="0"/>
          </a:p>
        </p:txBody>
      </p:sp>
      <p:sp>
        <p:nvSpPr>
          <p:cNvPr id="14" name="Connector"/>
          <p:cNvSpPr/>
          <p:nvPr/>
        </p:nvSpPr>
        <p:spPr>
          <a:xfrm>
            <a:off x="3108960" y="3383280"/>
            <a:ext cx="5852160" cy="0"/>
          </a:xfrm>
          <a:prstGeom prst="line">
            <a:avLst/>
          </a:prstGeom>
          <a:noFill/>
          <a:ln w="28575">
            <a:solidFill>
              <a:schemeClr val="accent1"/>
            </a:solidFill>
            <a:prstDash val="solid"/>
            <a:tailEnd type="triangle"/>
          </a:ln>
        </p:spPr>
      </p:sp>
      <p:sp>
        <p:nvSpPr>
          <p:cNvPr id="15" name="Code chip"/>
          <p:cNvSpPr/>
          <p:nvPr/>
        </p:nvSpPr>
        <p:spPr>
          <a:xfrm>
            <a:off x="4900994" y="2779776"/>
            <a:ext cx="2268093"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setName("jack")</a:t>
            </a:r>
            <a:endParaRPr lang="en-IE" sz="1700" dirty="0"/>
          </a:p>
        </p:txBody>
      </p:sp>
      <p:sp>
        <p:nvSpPr>
          <p:cNvPr id="16" name="Text 11"/>
          <p:cNvSpPr txBox="1"/>
          <p:nvPr/>
        </p:nvSpPr>
        <p:spPr>
          <a:xfrm>
            <a:off x="3200400" y="3474720"/>
            <a:ext cx="5669280" cy="320040"/>
          </a:xfrm>
          <a:prstGeom prst="rect">
            <a:avLst/>
          </a:prstGeom>
          <a:noFill/>
          <a:ln/>
        </p:spPr>
        <p:txBody>
          <a:bodyPr wrap="square" lIns="0" tIns="0" rIns="0" bIns="0" rtlCol="0" anchor="t"/>
          <a:lstStyle/>
          <a:p>
            <a:pPr algn="ctr" indent="0" marL="0">
              <a:buNone/>
            </a:pPr>
            <a:r>
              <a:rPr lang="en-IE" sz="1500" b="1" dirty="0">
                <a:solidFill>
                  <a:schemeClr val="tx1"/>
                </a:solidFill>
              </a:rPr>
              <a:t>Setter </a:t>
            </a:r>
            <a:r>
              <a:rPr lang="en-IE" sz="1500" dirty="0">
                <a:solidFill>
                  <a:schemeClr val="tx1"/>
                </a:solidFill>
              </a:rPr>
              <a:t>(mutator): sends in a new value</a:t>
            </a:r>
            <a:endParaRPr lang="en-IE" sz="1500" dirty="0"/>
          </a:p>
        </p:txBody>
      </p:sp>
      <p:sp>
        <p:nvSpPr>
          <p:cNvPr id="17" name="Connector"/>
          <p:cNvSpPr/>
          <p:nvPr/>
        </p:nvSpPr>
        <p:spPr>
          <a:xfrm flipH="1">
            <a:off x="3108960" y="4572000"/>
            <a:ext cx="5852160" cy="0"/>
          </a:xfrm>
          <a:prstGeom prst="line">
            <a:avLst/>
          </a:prstGeom>
          <a:noFill/>
          <a:ln w="28575">
            <a:solidFill>
              <a:schemeClr val="accent4"/>
            </a:solidFill>
            <a:prstDash val="solid"/>
            <a:tailEnd type="triangle"/>
          </a:ln>
        </p:spPr>
      </p:sp>
      <p:sp>
        <p:nvSpPr>
          <p:cNvPr id="18" name="Code chip"/>
          <p:cNvSpPr/>
          <p:nvPr/>
        </p:nvSpPr>
        <p:spPr>
          <a:xfrm>
            <a:off x="5296091" y="3968496"/>
            <a:ext cx="1477899"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getName()</a:t>
            </a:r>
            <a:endParaRPr lang="en-IE" sz="1700" dirty="0"/>
          </a:p>
        </p:txBody>
      </p:sp>
      <p:sp>
        <p:nvSpPr>
          <p:cNvPr id="19" name="Text 14"/>
          <p:cNvSpPr txBox="1"/>
          <p:nvPr/>
        </p:nvSpPr>
        <p:spPr>
          <a:xfrm>
            <a:off x="3200400" y="4663440"/>
            <a:ext cx="5669280" cy="320040"/>
          </a:xfrm>
          <a:prstGeom prst="rect">
            <a:avLst/>
          </a:prstGeom>
          <a:noFill/>
          <a:ln/>
        </p:spPr>
        <p:txBody>
          <a:bodyPr wrap="square" lIns="0" tIns="0" rIns="0" bIns="0" rtlCol="0" anchor="t"/>
          <a:lstStyle/>
          <a:p>
            <a:pPr algn="ctr" indent="0" marL="0">
              <a:buNone/>
            </a:pPr>
            <a:r>
              <a:rPr lang="en-IE" sz="1500" b="1" dirty="0">
                <a:solidFill>
                  <a:schemeClr val="tx1"/>
                </a:solidFill>
              </a:rPr>
              <a:t>Getter </a:t>
            </a:r>
            <a:r>
              <a:rPr lang="en-IE" sz="1500" dirty="0">
                <a:solidFill>
                  <a:schemeClr val="tx1"/>
                </a:solidFill>
              </a:rPr>
              <a:t>(accessor, observer): gives back the value</a:t>
            </a:r>
            <a:endParaRPr lang="en-IE" sz="1500" dirty="0"/>
          </a:p>
        </p:txBody>
      </p:sp>
      <p:sp>
        <p:nvSpPr>
          <p:cNvPr id="20" name="Note"/>
          <p:cNvSpPr/>
          <p:nvPr/>
        </p:nvSpPr>
        <p:spPr>
          <a:xfrm>
            <a:off x="548640" y="5440680"/>
            <a:ext cx="11094415" cy="731520"/>
          </a:xfrm>
          <a:prstGeom prst="roundRect">
            <a:avLst>
              <a:gd name="adj" fmla="val 15000"/>
            </a:avLst>
          </a:prstGeom>
          <a:solidFill>
            <a:schemeClr val="bg2"/>
          </a:solidFill>
          <a:ln/>
        </p:spPr>
      </p:sp>
      <p:sp>
        <p:nvSpPr>
          <p:cNvPr id="21" name="Icon tile"/>
          <p:cNvSpPr/>
          <p:nvPr/>
        </p:nvSpPr>
        <p:spPr>
          <a:xfrm>
            <a:off x="822960" y="5541264"/>
            <a:ext cx="530352" cy="530352"/>
          </a:xfrm>
          <a:prstGeom prst="roundRect">
            <a:avLst>
              <a:gd name="adj" fmla="val 24000"/>
            </a:avLst>
          </a:prstGeom>
          <a:solidFill>
            <a:schemeClr val="accent4">
              <a:alpha val="14000"/>
            </a:schemeClr>
          </a:solidFill>
          <a:ln/>
        </p:spPr>
      </p:sp>
      <p:pic>
        <p:nvPicPr>
          <p:cNvPr id="22" name="eye icon" descr="eye icon">    </p:cNvPr>
          <p:cNvPicPr>
            <a:picLocks noChangeAspect="1"/>
          </p:cNvPicPr>
          <p:nvPr/>
        </p:nvPicPr>
        <p:blipFill>
          <a:blip r:embed="rId3"/>
          <a:stretch>
            <a:fillRect/>
          </a:stretch>
        </p:blipFill>
        <p:spPr>
          <a:xfrm>
            <a:off x="934334" y="5652638"/>
            <a:ext cx="307604" cy="307604"/>
          </a:xfrm>
          <a:prstGeom prst="rect">
            <a:avLst/>
          </a:prstGeom>
        </p:spPr>
      </p:pic>
      <p:sp>
        <p:nvSpPr>
          <p:cNvPr id="23" name="Text 17"/>
          <p:cNvSpPr txBox="1"/>
          <p:nvPr/>
        </p:nvSpPr>
        <p:spPr>
          <a:xfrm>
            <a:off x="1572768" y="5440680"/>
            <a:ext cx="9814255" cy="731520"/>
          </a:xfrm>
          <a:prstGeom prst="rect">
            <a:avLst/>
          </a:prstGeom>
          <a:noFill/>
          <a:ln/>
        </p:spPr>
        <p:txBody>
          <a:bodyPr wrap="square" lIns="0" tIns="0" rIns="0" bIns="0" rtlCol="0" anchor="ctr"/>
          <a:lstStyle/>
          <a:p>
            <a:pPr indent="0" marL="0">
              <a:buNone/>
            </a:pPr>
            <a:r>
              <a:rPr lang="en-IE" sz="1700" dirty="0">
                <a:solidFill>
                  <a:schemeClr val="tx1"/>
                </a:solidFill>
              </a:rPr>
              <a:t>A getter lets us </a:t>
            </a:r>
            <a:r>
              <a:rPr lang="en-IE" sz="1700" b="1" dirty="0">
                <a:solidFill>
                  <a:schemeClr val="tx1"/>
                </a:solidFill>
              </a:rPr>
              <a:t>see</a:t>
            </a:r>
            <a:r>
              <a:rPr lang="en-IE" sz="1700" dirty="0">
                <a:solidFill>
                  <a:schemeClr val="tx1"/>
                </a:solidFill>
              </a:rPr>
              <a:t> a private attribute. A setter lets us </a:t>
            </a:r>
            <a:r>
              <a:rPr lang="en-IE" sz="1700" b="1" dirty="0">
                <a:solidFill>
                  <a:schemeClr val="tx1"/>
                </a:solidFill>
              </a:rPr>
              <a:t>update</a:t>
            </a:r>
            <a:r>
              <a:rPr lang="en-IE" sz="1700" dirty="0">
                <a:solidFill>
                  <a:schemeClr val="tx1"/>
                </a:solidFill>
              </a:rPr>
              <a:t> it.</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20</a:t>
            </a:fld>
            <a:endParaRPr lang="en-I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6</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 and setters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method lets another class update a private attribute?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getter (accessor)</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setter (mutator)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private method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main method</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21</a:t>
            </a:fld>
            <a:endParaRPr lang="en-I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6</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 and setters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method lets another class update a private attribute?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A getter (accessor)</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setter (mutator)</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private method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main method</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setter, also called a mutator, updates a private attribute with a new value. A getter (accessor) only lets us read the value.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22</a:t>
            </a:fld>
            <a:endParaRPr lang="en-I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Getters</a:t>
            </a:r>
            <a:endParaRPr lang="en-IE" sz="3400" dirty="0"/>
          </a:p>
        </p:txBody>
      </p:sp>
      <p:sp>
        <p:nvSpPr>
          <p:cNvPr id="5" name="Text 2"/>
          <p:cNvSpPr txBox="1"/>
          <p:nvPr/>
        </p:nvSpPr>
        <p:spPr>
          <a:xfrm>
            <a:off x="548640" y="1691640"/>
            <a:ext cx="11094415" cy="548640"/>
          </a:xfrm>
          <a:prstGeom prst="rect">
            <a:avLst/>
          </a:prstGeom>
          <a:noFill/>
          <a:ln/>
        </p:spPr>
        <p:txBody>
          <a:bodyPr wrap="square" lIns="0" tIns="0" rIns="0" bIns="0" rtlCol="0" anchor="t"/>
          <a:lstStyle/>
          <a:p>
            <a:pPr indent="0" marL="0">
              <a:buNone/>
            </a:pPr>
            <a:r>
              <a:rPr lang="en-IE" sz="1900" dirty="0">
                <a:solidFill>
                  <a:schemeClr val="tx1"/>
                </a:solidFill>
              </a:rPr>
              <a:t>A getter returns the value of an instance variable (an attribute) from an object.</a:t>
            </a:r>
            <a:endParaRPr lang="en-IE" sz="1900" dirty="0"/>
          </a:p>
        </p:txBody>
      </p:sp>
      <p:sp>
        <p:nvSpPr>
          <p:cNvPr id="6" name="Part: usually public"/>
          <p:cNvSpPr/>
          <p:nvPr/>
        </p:nvSpPr>
        <p:spPr>
          <a:xfrm>
            <a:off x="1400658" y="2560320"/>
            <a:ext cx="1478280" cy="822960"/>
          </a:xfrm>
          <a:prstGeom prst="roundRect">
            <a:avLst>
              <a:gd name="adj" fmla="val 13333"/>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public</a:t>
            </a:r>
            <a:endParaRPr lang="en-IE" sz="2000" dirty="0"/>
          </a:p>
        </p:txBody>
      </p:sp>
      <p:sp>
        <p:nvSpPr>
          <p:cNvPr id="7" name="Connector"/>
          <p:cNvSpPr/>
          <p:nvPr/>
        </p:nvSpPr>
        <p:spPr>
          <a:xfrm>
            <a:off x="2139798" y="3429000"/>
            <a:ext cx="0" cy="301752"/>
          </a:xfrm>
          <a:prstGeom prst="line">
            <a:avLst/>
          </a:prstGeom>
          <a:noFill/>
          <a:ln w="19050">
            <a:solidFill>
              <a:schemeClr val="accent3"/>
            </a:solidFill>
            <a:prstDash val="solid"/>
          </a:ln>
        </p:spPr>
      </p:sp>
      <p:sp>
        <p:nvSpPr>
          <p:cNvPr id="8" name="Text 5"/>
          <p:cNvSpPr txBox="1"/>
          <p:nvPr/>
        </p:nvSpPr>
        <p:spPr>
          <a:xfrm>
            <a:off x="1309218" y="3776472"/>
            <a:ext cx="1661160" cy="329184"/>
          </a:xfrm>
          <a:prstGeom prst="rect">
            <a:avLst/>
          </a:prstGeom>
          <a:noFill/>
          <a:ln/>
        </p:spPr>
        <p:txBody>
          <a:bodyPr wrap="square" lIns="0" tIns="0" rIns="0" bIns="0" rtlCol="0" anchor="t"/>
          <a:lstStyle/>
          <a:p>
            <a:pPr algn="ctr" indent="0" marL="0">
              <a:buNone/>
            </a:pPr>
            <a:r>
              <a:rPr lang="en-IE" sz="1600" b="1" dirty="0">
                <a:solidFill>
                  <a:schemeClr val="tx1"/>
                </a:solidFill>
              </a:rPr>
              <a:t>usually public</a:t>
            </a:r>
            <a:endParaRPr lang="en-IE" sz="1600" dirty="0"/>
          </a:p>
        </p:txBody>
      </p:sp>
      <p:sp>
        <p:nvSpPr>
          <p:cNvPr id="9" name="Text 6"/>
          <p:cNvSpPr txBox="1"/>
          <p:nvPr/>
        </p:nvSpPr>
        <p:spPr>
          <a:xfrm>
            <a:off x="1309218" y="4114800"/>
            <a:ext cx="1661160" cy="566928"/>
          </a:xfrm>
          <a:prstGeom prst="rect">
            <a:avLst/>
          </a:prstGeom>
          <a:noFill/>
          <a:ln/>
        </p:spPr>
        <p:txBody>
          <a:bodyPr wrap="square" lIns="0" tIns="0" rIns="0" bIns="0" rtlCol="0" anchor="t"/>
          <a:lstStyle/>
          <a:p>
            <a:pPr algn="ctr" indent="0" marL="0">
              <a:buNone/>
            </a:pPr>
            <a:r>
              <a:rPr lang="en-IE" sz="1300" dirty="0">
                <a:solidFill>
                  <a:schemeClr val="tx2"/>
                </a:solidFill>
              </a:rPr>
              <a:t>so others can call it</a:t>
            </a:r>
            <a:endParaRPr lang="en-IE" sz="1300" dirty="0"/>
          </a:p>
        </p:txBody>
      </p:sp>
      <p:sp>
        <p:nvSpPr>
          <p:cNvPr id="10" name="Part: return type"/>
          <p:cNvSpPr/>
          <p:nvPr/>
        </p:nvSpPr>
        <p:spPr>
          <a:xfrm>
            <a:off x="3107538" y="2560320"/>
            <a:ext cx="1478280" cy="822960"/>
          </a:xfrm>
          <a:prstGeom prst="roundRect">
            <a:avLst>
              <a:gd name="adj" fmla="val 13333"/>
            </a:avLst>
          </a:prstGeom>
          <a:solidFill>
            <a:schemeClr val="accent4">
              <a:alpha val="14000"/>
            </a:schemeClr>
          </a:solidFill>
          <a:ln w="19050">
            <a:solidFill>
              <a:schemeClr val="accent4"/>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String</a:t>
            </a:r>
            <a:endParaRPr lang="en-IE" sz="2000" dirty="0"/>
          </a:p>
        </p:txBody>
      </p:sp>
      <p:sp>
        <p:nvSpPr>
          <p:cNvPr id="11" name="Connector"/>
          <p:cNvSpPr/>
          <p:nvPr/>
        </p:nvSpPr>
        <p:spPr>
          <a:xfrm>
            <a:off x="3846678" y="3429000"/>
            <a:ext cx="0" cy="301752"/>
          </a:xfrm>
          <a:prstGeom prst="line">
            <a:avLst/>
          </a:prstGeom>
          <a:noFill/>
          <a:ln w="19050">
            <a:solidFill>
              <a:schemeClr val="accent4"/>
            </a:solidFill>
            <a:prstDash val="solid"/>
          </a:ln>
        </p:spPr>
      </p:sp>
      <p:sp>
        <p:nvSpPr>
          <p:cNvPr id="12" name="Text 9"/>
          <p:cNvSpPr txBox="1"/>
          <p:nvPr/>
        </p:nvSpPr>
        <p:spPr>
          <a:xfrm>
            <a:off x="3016098" y="3776472"/>
            <a:ext cx="1661160" cy="329184"/>
          </a:xfrm>
          <a:prstGeom prst="rect">
            <a:avLst/>
          </a:prstGeom>
          <a:noFill/>
          <a:ln/>
        </p:spPr>
        <p:txBody>
          <a:bodyPr wrap="square" lIns="0" tIns="0" rIns="0" bIns="0" rtlCol="0" anchor="t"/>
          <a:lstStyle/>
          <a:p>
            <a:pPr algn="ctr" indent="0" marL="0">
              <a:buNone/>
            </a:pPr>
            <a:r>
              <a:rPr lang="en-IE" sz="1600" b="1" dirty="0">
                <a:solidFill>
                  <a:schemeClr val="tx1"/>
                </a:solidFill>
              </a:rPr>
              <a:t>return type</a:t>
            </a:r>
            <a:endParaRPr lang="en-IE" sz="1600" dirty="0"/>
          </a:p>
        </p:txBody>
      </p:sp>
      <p:sp>
        <p:nvSpPr>
          <p:cNvPr id="13" name="Text 10"/>
          <p:cNvSpPr txBox="1"/>
          <p:nvPr/>
        </p:nvSpPr>
        <p:spPr>
          <a:xfrm>
            <a:off x="3016098" y="4114800"/>
            <a:ext cx="1661160" cy="566928"/>
          </a:xfrm>
          <a:prstGeom prst="rect">
            <a:avLst/>
          </a:prstGeom>
          <a:noFill/>
          <a:ln/>
        </p:spPr>
        <p:txBody>
          <a:bodyPr wrap="square" lIns="0" tIns="0" rIns="0" bIns="0" rtlCol="0" anchor="t"/>
          <a:lstStyle/>
          <a:p>
            <a:pPr algn="ctr" indent="0" marL="0">
              <a:buNone/>
            </a:pPr>
            <a:r>
              <a:rPr lang="en-IE" sz="1300" dirty="0">
                <a:solidFill>
                  <a:schemeClr val="tx2"/>
                </a:solidFill>
              </a:rPr>
              <a:t>matches the attribute</a:t>
            </a:r>
            <a:endParaRPr lang="en-IE" sz="1300" dirty="0"/>
          </a:p>
        </p:txBody>
      </p:sp>
      <p:sp>
        <p:nvSpPr>
          <p:cNvPr id="14" name="Part: get + Name"/>
          <p:cNvSpPr/>
          <p:nvPr/>
        </p:nvSpPr>
        <p:spPr>
          <a:xfrm>
            <a:off x="4814418" y="2560320"/>
            <a:ext cx="1633220" cy="822960"/>
          </a:xfrm>
          <a:prstGeom prst="roundRect">
            <a:avLst>
              <a:gd name="adj" fmla="val 13333"/>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getName</a:t>
            </a:r>
            <a:endParaRPr lang="en-IE" sz="2000" dirty="0"/>
          </a:p>
        </p:txBody>
      </p:sp>
      <p:sp>
        <p:nvSpPr>
          <p:cNvPr id="15" name="Connector"/>
          <p:cNvSpPr/>
          <p:nvPr/>
        </p:nvSpPr>
        <p:spPr>
          <a:xfrm>
            <a:off x="5631028" y="3429000"/>
            <a:ext cx="0" cy="301752"/>
          </a:xfrm>
          <a:prstGeom prst="line">
            <a:avLst/>
          </a:prstGeom>
          <a:noFill/>
          <a:ln w="19050">
            <a:solidFill>
              <a:schemeClr val="accent1"/>
            </a:solidFill>
            <a:prstDash val="solid"/>
          </a:ln>
        </p:spPr>
      </p:sp>
      <p:sp>
        <p:nvSpPr>
          <p:cNvPr id="16" name="Text 13"/>
          <p:cNvSpPr txBox="1"/>
          <p:nvPr/>
        </p:nvSpPr>
        <p:spPr>
          <a:xfrm>
            <a:off x="4722978" y="3776472"/>
            <a:ext cx="1816100" cy="329184"/>
          </a:xfrm>
          <a:prstGeom prst="rect">
            <a:avLst/>
          </a:prstGeom>
          <a:noFill/>
          <a:ln/>
        </p:spPr>
        <p:txBody>
          <a:bodyPr wrap="square" lIns="0" tIns="0" rIns="0" bIns="0" rtlCol="0" anchor="t"/>
          <a:lstStyle/>
          <a:p>
            <a:pPr algn="ctr" indent="0" marL="0">
              <a:buNone/>
            </a:pPr>
            <a:r>
              <a:rPr lang="en-IE" sz="1600" b="1" dirty="0">
                <a:solidFill>
                  <a:schemeClr val="tx1"/>
                </a:solidFill>
              </a:rPr>
              <a:t>get + Name</a:t>
            </a:r>
            <a:endParaRPr lang="en-IE" sz="1600" dirty="0"/>
          </a:p>
        </p:txBody>
      </p:sp>
      <p:sp>
        <p:nvSpPr>
          <p:cNvPr id="17" name="Text 14"/>
          <p:cNvSpPr txBox="1"/>
          <p:nvPr/>
        </p:nvSpPr>
        <p:spPr>
          <a:xfrm>
            <a:off x="4722978" y="4114800"/>
            <a:ext cx="1816100" cy="566928"/>
          </a:xfrm>
          <a:prstGeom prst="rect">
            <a:avLst/>
          </a:prstGeom>
          <a:noFill/>
          <a:ln/>
        </p:spPr>
        <p:txBody>
          <a:bodyPr wrap="square" lIns="0" tIns="0" rIns="0" bIns="0" rtlCol="0" anchor="t"/>
          <a:lstStyle/>
          <a:p>
            <a:pPr algn="ctr" indent="0" marL="0">
              <a:buNone/>
            </a:pPr>
            <a:r>
              <a:rPr lang="en-IE" sz="1300" dirty="0">
                <a:solidFill>
                  <a:schemeClr val="tx2"/>
                </a:solidFill>
              </a:rPr>
              <a:t>first letter capital</a:t>
            </a:r>
            <a:endParaRPr lang="en-IE" sz="1300" dirty="0"/>
          </a:p>
        </p:txBody>
      </p:sp>
      <p:sp>
        <p:nvSpPr>
          <p:cNvPr id="18" name="Part: no arguments"/>
          <p:cNvSpPr/>
          <p:nvPr/>
        </p:nvSpPr>
        <p:spPr>
          <a:xfrm>
            <a:off x="6676238" y="2560320"/>
            <a:ext cx="858520" cy="822960"/>
          </a:xfrm>
          <a:prstGeom prst="roundRect">
            <a:avLst>
              <a:gd name="adj" fmla="val 13333"/>
            </a:avLst>
          </a:prstGeom>
          <a:solidFill>
            <a:schemeClr val="accent5">
              <a:alpha val="14000"/>
            </a:schemeClr>
          </a:solidFill>
          <a:ln w="19050">
            <a:solidFill>
              <a:schemeClr val="accent5"/>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a:t>
            </a:r>
            <a:endParaRPr lang="en-IE" sz="2000" dirty="0"/>
          </a:p>
        </p:txBody>
      </p:sp>
      <p:sp>
        <p:nvSpPr>
          <p:cNvPr id="19" name="Connector"/>
          <p:cNvSpPr/>
          <p:nvPr/>
        </p:nvSpPr>
        <p:spPr>
          <a:xfrm>
            <a:off x="7105498" y="3429000"/>
            <a:ext cx="0" cy="301752"/>
          </a:xfrm>
          <a:prstGeom prst="line">
            <a:avLst/>
          </a:prstGeom>
          <a:noFill/>
          <a:ln w="19050">
            <a:solidFill>
              <a:schemeClr val="accent5"/>
            </a:solidFill>
            <a:prstDash val="solid"/>
          </a:ln>
        </p:spPr>
      </p:sp>
      <p:sp>
        <p:nvSpPr>
          <p:cNvPr id="20" name="Text 17"/>
          <p:cNvSpPr txBox="1"/>
          <p:nvPr/>
        </p:nvSpPr>
        <p:spPr>
          <a:xfrm>
            <a:off x="6305398" y="3776472"/>
            <a:ext cx="1600200" cy="329184"/>
          </a:xfrm>
          <a:prstGeom prst="rect">
            <a:avLst/>
          </a:prstGeom>
          <a:noFill/>
          <a:ln/>
        </p:spPr>
        <p:txBody>
          <a:bodyPr wrap="square" lIns="0" tIns="0" rIns="0" bIns="0" rtlCol="0" anchor="t"/>
          <a:lstStyle/>
          <a:p>
            <a:pPr algn="ctr" indent="0" marL="0">
              <a:buNone/>
            </a:pPr>
            <a:r>
              <a:rPr lang="en-IE" sz="1600" b="1" dirty="0">
                <a:solidFill>
                  <a:schemeClr val="tx1"/>
                </a:solidFill>
              </a:rPr>
              <a:t>no arguments</a:t>
            </a:r>
            <a:endParaRPr lang="en-IE" sz="1600" dirty="0"/>
          </a:p>
        </p:txBody>
      </p:sp>
      <p:sp>
        <p:nvSpPr>
          <p:cNvPr id="21" name="Text 18"/>
          <p:cNvSpPr txBox="1"/>
          <p:nvPr/>
        </p:nvSpPr>
        <p:spPr>
          <a:xfrm>
            <a:off x="6305398" y="4114800"/>
            <a:ext cx="1600200" cy="566928"/>
          </a:xfrm>
          <a:prstGeom prst="rect">
            <a:avLst/>
          </a:prstGeom>
          <a:noFill/>
          <a:ln/>
        </p:spPr>
        <p:txBody>
          <a:bodyPr wrap="square" lIns="0" tIns="0" rIns="0" bIns="0" rtlCol="0" anchor="t"/>
          <a:lstStyle/>
          <a:p>
            <a:pPr algn="ctr" indent="0" marL="0">
              <a:buNone/>
            </a:pPr>
            <a:r>
              <a:rPr lang="en-IE" sz="1300" dirty="0">
                <a:solidFill>
                  <a:schemeClr val="tx2"/>
                </a:solidFill>
              </a:rPr>
              <a:t>nothing is passed in</a:t>
            </a:r>
            <a:endParaRPr lang="en-IE" sz="1300" dirty="0"/>
          </a:p>
        </p:txBody>
      </p:sp>
      <p:sp>
        <p:nvSpPr>
          <p:cNvPr id="22" name="Part: returns it"/>
          <p:cNvSpPr/>
          <p:nvPr/>
        </p:nvSpPr>
        <p:spPr>
          <a:xfrm>
            <a:off x="7763358" y="2560320"/>
            <a:ext cx="3027680" cy="822960"/>
          </a:xfrm>
          <a:prstGeom prst="roundRect">
            <a:avLst>
              <a:gd name="adj" fmla="val 13333"/>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2000" b="1" dirty="0">
                <a:solidFill>
                  <a:schemeClr val="tx1"/>
                </a:solidFill>
                <a:latin typeface="Consolas" pitchFamily="34" charset="0"/>
                <a:ea typeface="Consolas" pitchFamily="34" charset="-122"/>
                <a:cs typeface="Consolas" pitchFamily="34" charset="-120"/>
              </a:rPr>
              <a:t>{ return name; }</a:t>
            </a:r>
            <a:endParaRPr lang="en-IE" sz="2000" dirty="0"/>
          </a:p>
        </p:txBody>
      </p:sp>
      <p:sp>
        <p:nvSpPr>
          <p:cNvPr id="23" name="Connector"/>
          <p:cNvSpPr/>
          <p:nvPr/>
        </p:nvSpPr>
        <p:spPr>
          <a:xfrm>
            <a:off x="9277198" y="3429000"/>
            <a:ext cx="0" cy="301752"/>
          </a:xfrm>
          <a:prstGeom prst="line">
            <a:avLst/>
          </a:prstGeom>
          <a:noFill/>
          <a:ln w="19050">
            <a:solidFill>
              <a:schemeClr val="accent2"/>
            </a:solidFill>
            <a:prstDash val="solid"/>
          </a:ln>
        </p:spPr>
      </p:sp>
      <p:sp>
        <p:nvSpPr>
          <p:cNvPr id="24" name="Text 21"/>
          <p:cNvSpPr txBox="1"/>
          <p:nvPr/>
        </p:nvSpPr>
        <p:spPr>
          <a:xfrm>
            <a:off x="7671918" y="3776472"/>
            <a:ext cx="3210560" cy="329184"/>
          </a:xfrm>
          <a:prstGeom prst="rect">
            <a:avLst/>
          </a:prstGeom>
          <a:noFill/>
          <a:ln/>
        </p:spPr>
        <p:txBody>
          <a:bodyPr wrap="square" lIns="0" tIns="0" rIns="0" bIns="0" rtlCol="0" anchor="t"/>
          <a:lstStyle/>
          <a:p>
            <a:pPr algn="ctr" indent="0" marL="0">
              <a:buNone/>
            </a:pPr>
            <a:r>
              <a:rPr lang="en-IE" sz="1600" b="1" dirty="0">
                <a:solidFill>
                  <a:schemeClr val="tx1"/>
                </a:solidFill>
              </a:rPr>
              <a:t>returns it</a:t>
            </a:r>
            <a:endParaRPr lang="en-IE" sz="1600" dirty="0"/>
          </a:p>
        </p:txBody>
      </p:sp>
      <p:sp>
        <p:nvSpPr>
          <p:cNvPr id="25" name="Text 22"/>
          <p:cNvSpPr txBox="1"/>
          <p:nvPr/>
        </p:nvSpPr>
        <p:spPr>
          <a:xfrm>
            <a:off x="7671918" y="4114800"/>
            <a:ext cx="3210560" cy="566928"/>
          </a:xfrm>
          <a:prstGeom prst="rect">
            <a:avLst/>
          </a:prstGeom>
          <a:noFill/>
          <a:ln/>
        </p:spPr>
        <p:txBody>
          <a:bodyPr wrap="square" lIns="0" tIns="0" rIns="0" bIns="0" rtlCol="0" anchor="t"/>
          <a:lstStyle/>
          <a:p>
            <a:pPr algn="ctr" indent="0" marL="0">
              <a:buNone/>
            </a:pPr>
            <a:r>
              <a:rPr lang="en-IE" sz="1300" dirty="0">
                <a:solidFill>
                  <a:schemeClr val="tx2"/>
                </a:solidFill>
              </a:rPr>
              <a:t>gives back the value</a:t>
            </a:r>
            <a:endParaRPr lang="en-IE" sz="1300" dirty="0"/>
          </a:p>
        </p:txBody>
      </p:sp>
      <p:sp>
        <p:nvSpPr>
          <p:cNvPr id="26" name="Note"/>
          <p:cNvSpPr/>
          <p:nvPr/>
        </p:nvSpPr>
        <p:spPr>
          <a:xfrm>
            <a:off x="548640" y="5212080"/>
            <a:ext cx="11094415" cy="822960"/>
          </a:xfrm>
          <a:prstGeom prst="roundRect">
            <a:avLst>
              <a:gd name="adj" fmla="val 13333"/>
            </a:avLst>
          </a:prstGeom>
          <a:solidFill>
            <a:schemeClr val="bg2"/>
          </a:solidFill>
          <a:ln/>
        </p:spPr>
      </p:sp>
      <p:sp>
        <p:nvSpPr>
          <p:cNvPr id="27" name="Icon tile"/>
          <p:cNvSpPr/>
          <p:nvPr/>
        </p:nvSpPr>
        <p:spPr>
          <a:xfrm>
            <a:off x="822960" y="5358384"/>
            <a:ext cx="530352" cy="530352"/>
          </a:xfrm>
          <a:prstGeom prst="roundRect">
            <a:avLst>
              <a:gd name="adj" fmla="val 24000"/>
            </a:avLst>
          </a:prstGeom>
          <a:solidFill>
            <a:schemeClr val="accent1">
              <a:alpha val="14000"/>
            </a:schemeClr>
          </a:solidFill>
          <a:ln/>
        </p:spPr>
      </p:sp>
      <p:pic>
        <p:nvPicPr>
          <p:cNvPr id="28" name="lightbulb icon" descr="lightbulb icon">    </p:cNvPr>
          <p:cNvPicPr>
            <a:picLocks noChangeAspect="1"/>
          </p:cNvPicPr>
          <p:nvPr/>
        </p:nvPicPr>
        <p:blipFill>
          <a:blip r:embed="rId1"/>
          <a:stretch>
            <a:fillRect/>
          </a:stretch>
        </p:blipFill>
        <p:spPr>
          <a:xfrm>
            <a:off x="934334" y="5469758"/>
            <a:ext cx="307604" cy="307604"/>
          </a:xfrm>
          <a:prstGeom prst="rect">
            <a:avLst/>
          </a:prstGeom>
        </p:spPr>
      </p:pic>
      <p:sp>
        <p:nvSpPr>
          <p:cNvPr id="29" name="Text 25"/>
          <p:cNvSpPr txBox="1"/>
          <p:nvPr/>
        </p:nvSpPr>
        <p:spPr>
          <a:xfrm>
            <a:off x="1572768" y="5212080"/>
            <a:ext cx="9814255" cy="822960"/>
          </a:xfrm>
          <a:prstGeom prst="rect">
            <a:avLst/>
          </a:prstGeom>
          <a:noFill/>
          <a:ln/>
        </p:spPr>
        <p:txBody>
          <a:bodyPr wrap="square" lIns="0" tIns="0" rIns="0" bIns="0" rtlCol="0" anchor="ctr"/>
          <a:lstStyle/>
          <a:p>
            <a:pPr indent="0" marL="0">
              <a:buNone/>
            </a:pPr>
            <a:r>
              <a:rPr lang="en-IE" sz="1800" dirty="0">
                <a:solidFill>
                  <a:schemeClr val="tx1"/>
                </a:solidFill>
              </a:rPr>
              <a:t>Another example: for </a:t>
            </a:r>
            <a:r>
              <a:rPr lang="en-IE" sz="1800" dirty="0">
                <a:solidFill>
                  <a:schemeClr val="accent2"/>
                </a:solidFill>
                <a:latin typeface="Consolas" pitchFamily="34" charset="0"/>
                <a:ea typeface="Consolas" pitchFamily="34" charset="-122"/>
                <a:cs typeface="Consolas" pitchFamily="34" charset="-120"/>
              </a:rPr>
              <a:t>private int age;</a:t>
            </a:r>
            <a:r>
              <a:rPr lang="en-IE" sz="1800" dirty="0">
                <a:solidFill>
                  <a:schemeClr val="tx1"/>
                </a:solidFill>
              </a:rPr>
              <a:t> the getter is </a:t>
            </a:r>
            <a:r>
              <a:rPr lang="en-IE" sz="1800" dirty="0">
                <a:solidFill>
                  <a:schemeClr val="accent2"/>
                </a:solidFill>
                <a:latin typeface="Consolas" pitchFamily="34" charset="0"/>
                <a:ea typeface="Consolas" pitchFamily="34" charset="-122"/>
                <a:cs typeface="Consolas" pitchFamily="34" charset="-120"/>
              </a:rPr>
              <a:t>public int getAge()</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23</a:t>
            </a:fld>
            <a:endParaRPr lang="en-I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Using a getter</a:t>
            </a:r>
            <a:endParaRPr lang="en-IE" sz="3400" dirty="0"/>
          </a:p>
        </p:txBody>
      </p:sp>
      <p:sp>
        <p:nvSpPr>
          <p:cNvPr id="5" name="Student class card"/>
          <p:cNvSpPr/>
          <p:nvPr/>
        </p:nvSpPr>
        <p:spPr>
          <a:xfrm>
            <a:off x="548640" y="1783080"/>
            <a:ext cx="5394960" cy="2394458"/>
          </a:xfrm>
          <a:prstGeom prst="roundRect">
            <a:avLst>
              <a:gd name="adj" fmla="val 4583"/>
            </a:avLst>
          </a:prstGeom>
          <a:solidFill>
            <a:schemeClr val="tx1"/>
          </a:solidFill>
          <a:ln/>
          <a:effectLst>
            <a:outerShdw sx="100000" sy="100000" kx="0" ky="0" algn="bl" rotWithShape="0" blurRad="114300" dist="31750" dir="5400000">
              <a:srgbClr val="1D2433">
                <a:alpha val="12000"/>
              </a:srgbClr>
            </a:outerShdw>
          </a:effectLst>
        </p:spPr>
      </p:sp>
      <p:sp>
        <p:nvSpPr>
          <p:cNvPr id="6" name="Student class language"/>
          <p:cNvSpPr txBox="1"/>
          <p:nvPr/>
        </p:nvSpPr>
        <p:spPr>
          <a:xfrm>
            <a:off x="822960" y="1901952"/>
            <a:ext cx="48463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Student.java</a:t>
            </a:r>
            <a:endParaRPr lang="en-IE" sz="1050" dirty="0"/>
          </a:p>
        </p:txBody>
      </p:sp>
      <p:sp>
        <p:nvSpPr>
          <p:cNvPr id="7" name="Student class text"/>
          <p:cNvSpPr txBox="1"/>
          <p:nvPr/>
        </p:nvSpPr>
        <p:spPr>
          <a:xfrm>
            <a:off x="822960" y="2276856"/>
            <a:ext cx="4846320" cy="16995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name = </a:t>
            </a:r>
            <a:r>
              <a:rPr lang="en-IE" sz="1400" dirty="0">
                <a:solidFill>
                  <a:srgbClr val="A9DB8C"/>
                </a:solidFill>
                <a:latin typeface="Consolas" pitchFamily="34" charset="0"/>
                <a:ea typeface="Consolas" pitchFamily="34" charset="-122"/>
                <a:cs typeface="Consolas" pitchFamily="34" charset="-120"/>
              </a:rPr>
              <a:t>"jack"</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name;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Text 5"/>
          <p:cNvSpPr txBox="1"/>
          <p:nvPr/>
        </p:nvSpPr>
        <p:spPr>
          <a:xfrm>
            <a:off x="548640" y="4360418"/>
            <a:ext cx="5394960" cy="365760"/>
          </a:xfrm>
          <a:prstGeom prst="rect">
            <a:avLst/>
          </a:prstGeom>
          <a:noFill/>
          <a:ln/>
        </p:spPr>
        <p:txBody>
          <a:bodyPr wrap="square" lIns="0" tIns="0" rIns="0" bIns="0" rtlCol="0" anchor="t"/>
          <a:lstStyle/>
          <a:p>
            <a:pPr indent="0" marL="0">
              <a:buNone/>
            </a:pPr>
            <a:r>
              <a:rPr lang="en-IE" sz="1500" i="1" dirty="0">
                <a:solidFill>
                  <a:schemeClr val="tx2"/>
                </a:solidFill>
              </a:rPr>
              <a:t>The attribute is private, but the getter is public.</a:t>
            </a:r>
            <a:endParaRPr lang="en-IE" sz="1500" dirty="0"/>
          </a:p>
        </p:txBody>
      </p:sp>
      <p:sp>
        <p:nvSpPr>
          <p:cNvPr id="9" name="Main method card"/>
          <p:cNvSpPr/>
          <p:nvPr/>
        </p:nvSpPr>
        <p:spPr>
          <a:xfrm>
            <a:off x="6245352" y="1783080"/>
            <a:ext cx="5397703" cy="1689608"/>
          </a:xfrm>
          <a:prstGeom prst="roundRect">
            <a:avLst>
              <a:gd name="adj" fmla="val 6494"/>
            </a:avLst>
          </a:prstGeom>
          <a:solidFill>
            <a:schemeClr val="tx1"/>
          </a:solidFill>
          <a:ln/>
          <a:effectLst>
            <a:outerShdw sx="100000" sy="100000" kx="0" ky="0" algn="bl" rotWithShape="0" blurRad="114300" dist="31750" dir="5400000">
              <a:srgbClr val="1D2433">
                <a:alpha val="12000"/>
              </a:srgbClr>
            </a:outerShdw>
          </a:effectLst>
        </p:spPr>
      </p:sp>
      <p:sp>
        <p:nvSpPr>
          <p:cNvPr id="10" name="Main method language"/>
          <p:cNvSpPr txBox="1"/>
          <p:nvPr/>
        </p:nvSpPr>
        <p:spPr>
          <a:xfrm>
            <a:off x="6519672" y="1901952"/>
            <a:ext cx="4849063"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Main.java</a:t>
            </a:r>
            <a:endParaRPr lang="en-IE" sz="1050" dirty="0"/>
          </a:p>
        </p:txBody>
      </p:sp>
      <p:sp>
        <p:nvSpPr>
          <p:cNvPr id="11" name="Main method text"/>
          <p:cNvSpPr txBox="1"/>
          <p:nvPr/>
        </p:nvSpPr>
        <p:spPr>
          <a:xfrm>
            <a:off x="6519672" y="2276856"/>
            <a:ext cx="4849063" cy="9946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main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args)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student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(student.</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12" name="Output card"/>
          <p:cNvSpPr/>
          <p:nvPr/>
        </p:nvSpPr>
        <p:spPr>
          <a:xfrm>
            <a:off x="6245352" y="3747008"/>
            <a:ext cx="5397703" cy="1143000"/>
          </a:xfrm>
          <a:prstGeom prst="roundRect">
            <a:avLst>
              <a:gd name="adj" fmla="val 9600"/>
            </a:avLst>
          </a:prstGeom>
          <a:solidFill>
            <a:schemeClr val="tx1"/>
          </a:solidFill>
          <a:ln/>
          <a:effectLst>
            <a:outerShdw sx="100000" sy="100000" kx="0" ky="0" algn="bl" rotWithShape="0" blurRad="114300" dist="31750" dir="5400000">
              <a:srgbClr val="1D2433">
                <a:alpha val="12000"/>
              </a:srgbClr>
            </a:outerShdw>
          </a:effectLst>
        </p:spPr>
      </p:sp>
      <p:sp>
        <p:nvSpPr>
          <p:cNvPr id="13" name="Text 10"/>
          <p:cNvSpPr txBox="1"/>
          <p:nvPr/>
        </p:nvSpPr>
        <p:spPr>
          <a:xfrm>
            <a:off x="6519672" y="3865880"/>
            <a:ext cx="4849063"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4" name="Output text"/>
          <p:cNvSpPr txBox="1"/>
          <p:nvPr/>
        </p:nvSpPr>
        <p:spPr>
          <a:xfrm>
            <a:off x="6519672" y="4204208"/>
            <a:ext cx="4849063" cy="502920"/>
          </a:xfrm>
          <a:prstGeom prst="rect">
            <a:avLst/>
          </a:prstGeom>
          <a:noFill/>
          <a:ln/>
        </p:spPr>
        <p:txBody>
          <a:bodyPr wrap="square" lIns="0" tIns="0" rIns="0" bIns="0" rtlCol="0" anchor="t"/>
          <a:lstStyle/>
          <a:p>
            <a:pPr indent="0" marL="0">
              <a:lnSpc>
                <a:spcPts val="2700"/>
              </a:lnSpc>
              <a:buNone/>
            </a:pPr>
            <a:r>
              <a:rPr lang="en-IE" sz="2000" dirty="0">
                <a:solidFill>
                  <a:srgbClr val="A9DB8C"/>
                </a:solidFill>
                <a:latin typeface="Consolas" pitchFamily="34" charset="0"/>
                <a:ea typeface="Consolas" pitchFamily="34" charset="-122"/>
                <a:cs typeface="Consolas" pitchFamily="34" charset="-120"/>
              </a:rPr>
              <a:t>jack</a:t>
            </a:r>
            <a:endParaRPr lang="en-IE" sz="2000" dirty="0"/>
          </a:p>
        </p:txBody>
      </p:sp>
      <p:sp>
        <p:nvSpPr>
          <p:cNvPr id="15" name="Note"/>
          <p:cNvSpPr/>
          <p:nvPr/>
        </p:nvSpPr>
        <p:spPr>
          <a:xfrm>
            <a:off x="548640" y="5349240"/>
            <a:ext cx="11094415" cy="731520"/>
          </a:xfrm>
          <a:prstGeom prst="roundRect">
            <a:avLst>
              <a:gd name="adj" fmla="val 15000"/>
            </a:avLst>
          </a:prstGeom>
          <a:solidFill>
            <a:schemeClr val="bg2"/>
          </a:solidFill>
          <a:ln/>
        </p:spPr>
      </p:sp>
      <p:sp>
        <p:nvSpPr>
          <p:cNvPr id="16" name="Icon tile"/>
          <p:cNvSpPr/>
          <p:nvPr/>
        </p:nvSpPr>
        <p:spPr>
          <a:xfrm>
            <a:off x="822960" y="5449824"/>
            <a:ext cx="530352" cy="530352"/>
          </a:xfrm>
          <a:prstGeom prst="roundRect">
            <a:avLst>
              <a:gd name="adj" fmla="val 24000"/>
            </a:avLst>
          </a:prstGeom>
          <a:solidFill>
            <a:schemeClr val="accent4">
              <a:alpha val="14000"/>
            </a:schemeClr>
          </a:solidFill>
          <a:ln/>
        </p:spPr>
      </p:sp>
      <p:pic>
        <p:nvPicPr>
          <p:cNvPr id="17" name="eye icon" descr="eye icon">    </p:cNvPr>
          <p:cNvPicPr>
            <a:picLocks noChangeAspect="1"/>
          </p:cNvPicPr>
          <p:nvPr/>
        </p:nvPicPr>
        <p:blipFill>
          <a:blip r:embed="rId1"/>
          <a:stretch>
            <a:fillRect/>
          </a:stretch>
        </p:blipFill>
        <p:spPr>
          <a:xfrm>
            <a:off x="934334" y="5561198"/>
            <a:ext cx="307604" cy="307604"/>
          </a:xfrm>
          <a:prstGeom prst="rect">
            <a:avLst/>
          </a:prstGeom>
        </p:spPr>
      </p:pic>
      <p:sp>
        <p:nvSpPr>
          <p:cNvPr id="18" name="Text 14"/>
          <p:cNvSpPr txBox="1"/>
          <p:nvPr/>
        </p:nvSpPr>
        <p:spPr>
          <a:xfrm>
            <a:off x="1572768" y="5349240"/>
            <a:ext cx="9814255" cy="731520"/>
          </a:xfrm>
          <a:prstGeom prst="rect">
            <a:avLst/>
          </a:prstGeom>
          <a:noFill/>
          <a:ln/>
        </p:spPr>
        <p:txBody>
          <a:bodyPr wrap="square" lIns="0" tIns="0" rIns="0" bIns="0" rtlCol="0" anchor="ctr"/>
          <a:lstStyle/>
          <a:p>
            <a:pPr indent="0" marL="0">
              <a:buNone/>
            </a:pPr>
            <a:r>
              <a:rPr lang="en-IE" sz="1700" dirty="0">
                <a:solidFill>
                  <a:schemeClr val="tx1"/>
                </a:solidFill>
              </a:rPr>
              <a:t>main is in another class, so it can only read name through the getter.</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24</a:t>
            </a:fld>
            <a:endParaRPr lang="en-I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7</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is a correct getter for </a:t>
            </a:r>
            <a:r>
              <a:rPr lang="en-IE" sz="2800" b="1" dirty="0">
                <a:solidFill>
                  <a:schemeClr val="accent2"/>
                </a:solidFill>
                <a:latin typeface="Consolas" pitchFamily="34" charset="0"/>
                <a:ea typeface="Consolas" pitchFamily="34" charset="-122"/>
                <a:cs typeface="Consolas" pitchFamily="34" charset="-120"/>
              </a:rPr>
              <a:t>private int age</a:t>
            </a:r>
            <a:r>
              <a:rPr lang="en-IE" sz="2800" b="1" dirty="0">
                <a:solidFill>
                  <a:schemeClr val="tx1"/>
                </a:solidFill>
              </a:rPr>
              <a: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void getAge() { return age;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int getAge(int age) { return age;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String getAge() { return age;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int getAge() { return age;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25</a:t>
            </a:fld>
            <a:endParaRPr lang="en-I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7</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is a correct getter for </a:t>
            </a:r>
            <a:r>
              <a:rPr lang="en-IE" sz="2000" b="1" dirty="0">
                <a:solidFill>
                  <a:schemeClr val="tx2"/>
                </a:solidFill>
                <a:latin typeface="Consolas" pitchFamily="34" charset="0"/>
                <a:ea typeface="Consolas" pitchFamily="34" charset="-122"/>
                <a:cs typeface="Consolas" pitchFamily="34" charset="-120"/>
              </a:rPr>
              <a:t>private int age</a:t>
            </a:r>
            <a:r>
              <a:rPr lang="en-IE" sz="2000" b="1" dirty="0">
                <a:solidFill>
                  <a:schemeClr val="tx2"/>
                </a:solidFill>
              </a:rPr>
              <a:t>?</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void getAge() { return age; }</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int getAge(int age) { return age; }</a:t>
            </a:r>
            <a:endParaRPr lang="en-IE"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String getAge() { return age; }</a:t>
            </a:r>
            <a:endParaRPr lang="en-IE"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3941064"/>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int getAge() { return age; }</a:t>
            </a:r>
            <a:endParaRPr lang="en-IE" sz="1700" dirty="0"/>
          </a:p>
        </p:txBody>
      </p:sp>
      <p:pic>
        <p:nvPicPr>
          <p:cNvPr id="17" name="Correct mark"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getter is usually public, returns the same type as the attribute (int), takes no arguments and returns the attribute. A can’t return a value from a void method, B returns the argument instead of the attribute, and C returns a String, but age is an int.</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26</a:t>
            </a:fld>
            <a:endParaRPr lang="en-I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A getter gives back a copy</a:t>
            </a:r>
            <a:endParaRPr lang="en-IE" sz="3400" dirty="0"/>
          </a:p>
        </p:txBody>
      </p:sp>
      <p:sp>
        <p:nvSpPr>
          <p:cNvPr id="5" name="Text 2"/>
          <p:cNvSpPr txBox="1"/>
          <p:nvPr/>
        </p:nvSpPr>
        <p:spPr>
          <a:xfrm>
            <a:off x="548640" y="1783080"/>
            <a:ext cx="5120640" cy="4206240"/>
          </a:xfrm>
          <a:prstGeom prst="rect">
            <a:avLst/>
          </a:prstGeom>
          <a:noFill/>
          <a:ln/>
        </p:spPr>
        <p:txBody>
          <a:bodyPr wrap="square" lIns="0" tIns="0" rIns="0" bIns="0" rtlCol="0" anchor="t"/>
          <a:lstStyle/>
          <a:p>
            <a:pPr marL="228600" indent="-228600">
              <a:spcAft>
                <a:spcPts val="1600"/>
              </a:spcAft>
              <a:buSzPct val="100000"/>
              <a:buChar char="•"/>
            </a:pPr>
            <a:r>
              <a:rPr lang="en-IE" sz="1900" dirty="0">
                <a:solidFill>
                  <a:schemeClr val="tx1"/>
                </a:solidFill>
              </a:rPr>
              <a:t>A getter returns a </a:t>
            </a:r>
            <a:r>
              <a:rPr lang="en-IE" sz="1900" b="1" dirty="0">
                <a:solidFill>
                  <a:schemeClr val="tx1"/>
                </a:solidFill>
              </a:rPr>
              <a:t>copy</a:t>
            </a:r>
            <a:r>
              <a:rPr lang="en-IE" sz="1900" dirty="0">
                <a:solidFill>
                  <a:schemeClr val="tx1"/>
                </a:solidFill>
              </a:rPr>
              <a:t> of the value, not the attribute itself.</a:t>
            </a:r>
            <a:endParaRPr lang="en-IE" sz="1900" dirty="0"/>
          </a:p>
          <a:p>
            <a:pPr marL="228600" indent="-228600">
              <a:spcAft>
                <a:spcPts val="1600"/>
              </a:spcAft>
              <a:buSzPct val="100000"/>
              <a:buChar char="•"/>
            </a:pPr>
            <a:r>
              <a:rPr lang="en-IE" sz="1900" dirty="0">
                <a:solidFill>
                  <a:schemeClr val="tx1"/>
                </a:solidFill>
              </a:rPr>
              <a:t>We can read the copy, but we can’t assign to it, because a method call gives a value, not a variable.</a:t>
            </a:r>
            <a:endParaRPr lang="en-IE" sz="1900" dirty="0"/>
          </a:p>
          <a:p>
            <a:pPr marL="228600" indent="-228600">
              <a:spcAft>
                <a:spcPts val="1600"/>
              </a:spcAft>
              <a:buSzPct val="100000"/>
              <a:buChar char="•"/>
            </a:pPr>
            <a:r>
              <a:rPr lang="en-IE" sz="1900" dirty="0">
                <a:solidFill>
                  <a:schemeClr val="tx1"/>
                </a:solidFill>
              </a:rPr>
              <a:t>So a getter on its own lets other classes </a:t>
            </a:r>
            <a:r>
              <a:rPr lang="en-IE" sz="1900" b="1" dirty="0">
                <a:solidFill>
                  <a:schemeClr val="tx1"/>
                </a:solidFill>
              </a:rPr>
              <a:t>read</a:t>
            </a:r>
            <a:r>
              <a:rPr lang="en-IE" sz="1900" dirty="0">
                <a:solidFill>
                  <a:schemeClr val="tx1"/>
                </a:solidFill>
              </a:rPr>
              <a:t> the attribute, never change it.</a:t>
            </a:r>
            <a:endParaRPr lang="en-IE" sz="1900" dirty="0"/>
          </a:p>
          <a:p>
            <a:pPr marL="228600" indent="-228600">
              <a:buSzPct val="100000"/>
              <a:buChar char="•"/>
            </a:pPr>
            <a:r>
              <a:rPr lang="en-IE" sz="1900" dirty="0">
                <a:solidFill>
                  <a:schemeClr val="tx1"/>
                </a:solidFill>
              </a:rPr>
              <a:t>To change the attribute, we use the setter.</a:t>
            </a:r>
            <a:endParaRPr lang="en-IE" sz="1900" dirty="0"/>
          </a:p>
        </p:txBody>
      </p:sp>
      <p:sp>
        <p:nvSpPr>
          <p:cNvPr id="6" name="Assigning to a getter card"/>
          <p:cNvSpPr/>
          <p:nvPr/>
        </p:nvSpPr>
        <p:spPr>
          <a:xfrm>
            <a:off x="6172200" y="1874520"/>
            <a:ext cx="5470855" cy="759460"/>
          </a:xfrm>
          <a:prstGeom prst="roundRect">
            <a:avLst>
              <a:gd name="adj" fmla="val 14448"/>
            </a:avLst>
          </a:prstGeom>
          <a:solidFill>
            <a:schemeClr val="tx1"/>
          </a:solidFill>
          <a:ln/>
          <a:effectLst>
            <a:outerShdw sx="100000" sy="100000" kx="0" ky="0" algn="bl" rotWithShape="0" blurRad="114300" dist="31750" dir="5400000">
              <a:srgbClr val="1D2433">
                <a:alpha val="12000"/>
              </a:srgbClr>
            </a:outerShdw>
          </a:effectLst>
        </p:spPr>
      </p:sp>
      <p:sp>
        <p:nvSpPr>
          <p:cNvPr id="7" name="Assigning to a getter text"/>
          <p:cNvSpPr txBox="1"/>
          <p:nvPr/>
        </p:nvSpPr>
        <p:spPr>
          <a:xfrm>
            <a:off x="6446520" y="2075688"/>
            <a:ext cx="4922215" cy="357124"/>
          </a:xfrm>
          <a:prstGeom prst="rect">
            <a:avLst/>
          </a:prstGeom>
          <a:noFill/>
          <a:ln/>
        </p:spPr>
        <p:txBody>
          <a:bodyPr wrap="square" lIns="0" tIns="0" rIns="0" bIns="0" rtlCol="0" anchor="t"/>
          <a:lstStyle/>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student.</a:t>
            </a:r>
            <a:r>
              <a:rPr lang="en-IE" sz="1800" dirty="0">
                <a:solidFill>
                  <a:srgbClr val="C9B0FF"/>
                </a:solidFill>
                <a:latin typeface="Consolas" pitchFamily="34" charset="0"/>
                <a:ea typeface="Consolas" pitchFamily="34" charset="-122"/>
                <a:cs typeface="Consolas" pitchFamily="34" charset="-120"/>
              </a:rPr>
              <a:t>getName</a:t>
            </a:r>
            <a:r>
              <a:rPr lang="en-IE" sz="1800" dirty="0">
                <a:solidFill>
                  <a:srgbClr val="E6EBF2"/>
                </a:solidFill>
                <a:latin typeface="Consolas" pitchFamily="34" charset="0"/>
                <a:ea typeface="Consolas" pitchFamily="34" charset="-122"/>
                <a:cs typeface="Consolas" pitchFamily="34" charset="-120"/>
              </a:rPr>
              <a:t>() = </a:t>
            </a:r>
            <a:r>
              <a:rPr lang="en-IE" sz="1800" dirty="0">
                <a:solidFill>
                  <a:srgbClr val="A9DB8C"/>
                </a:solidFill>
                <a:latin typeface="Consolas" pitchFamily="34" charset="0"/>
                <a:ea typeface="Consolas" pitchFamily="34" charset="-122"/>
                <a:cs typeface="Consolas" pitchFamily="34" charset="-120"/>
              </a:rPr>
              <a:t>"bob"</a:t>
            </a:r>
            <a:r>
              <a:rPr lang="en-IE" sz="1800" dirty="0">
                <a:solidFill>
                  <a:srgbClr val="E6EBF2"/>
                </a:solidFill>
                <a:latin typeface="Consolas" pitchFamily="34" charset="0"/>
                <a:ea typeface="Consolas" pitchFamily="34" charset="-122"/>
                <a:cs typeface="Consolas" pitchFamily="34" charset="-120"/>
              </a:rPr>
              <a:t>;</a:t>
            </a:r>
            <a:endParaRPr lang="en-IE" sz="1800" dirty="0"/>
          </a:p>
        </p:txBody>
      </p:sp>
      <p:pic>
        <p:nvPicPr>
          <p:cNvPr id="8" name="Does not compile" descr="Does not compile">    </p:cNvPr>
          <p:cNvPicPr>
            <a:picLocks noChangeAspect="1"/>
          </p:cNvPicPr>
          <p:nvPr/>
        </p:nvPicPr>
        <p:blipFill>
          <a:blip r:embed="rId1"/>
          <a:stretch>
            <a:fillRect/>
          </a:stretch>
        </p:blipFill>
        <p:spPr>
          <a:xfrm>
            <a:off x="6172200" y="2798572"/>
            <a:ext cx="384048" cy="384048"/>
          </a:xfrm>
          <a:prstGeom prst="rect">
            <a:avLst/>
          </a:prstGeom>
        </p:spPr>
      </p:pic>
      <p:sp>
        <p:nvSpPr>
          <p:cNvPr id="9" name="Text 5"/>
          <p:cNvSpPr txBox="1"/>
          <p:nvPr/>
        </p:nvSpPr>
        <p:spPr>
          <a:xfrm>
            <a:off x="6675120" y="2752852"/>
            <a:ext cx="4967935" cy="475488"/>
          </a:xfrm>
          <a:prstGeom prst="rect">
            <a:avLst/>
          </a:prstGeom>
          <a:noFill/>
          <a:ln/>
        </p:spPr>
        <p:txBody>
          <a:bodyPr wrap="square" lIns="0" tIns="0" rIns="0" bIns="0" rtlCol="0" anchor="ctr"/>
          <a:lstStyle/>
          <a:p>
            <a:pPr indent="0" marL="0">
              <a:buNone/>
            </a:pPr>
            <a:r>
              <a:rPr lang="en-IE" sz="1600" b="1" dirty="0">
                <a:solidFill>
                  <a:schemeClr val="tx1"/>
                </a:solidFill>
              </a:rPr>
              <a:t>Won’t compile: we can’t assign to a method call.</a:t>
            </a:r>
            <a:endParaRPr lang="en-IE" sz="1600" dirty="0"/>
          </a:p>
        </p:txBody>
      </p:sp>
      <p:sp>
        <p:nvSpPr>
          <p:cNvPr id="10" name="Setter call card"/>
          <p:cNvSpPr/>
          <p:nvPr/>
        </p:nvSpPr>
        <p:spPr>
          <a:xfrm>
            <a:off x="6172200" y="3931920"/>
            <a:ext cx="5470855" cy="759460"/>
          </a:xfrm>
          <a:prstGeom prst="roundRect">
            <a:avLst>
              <a:gd name="adj" fmla="val 14448"/>
            </a:avLst>
          </a:prstGeom>
          <a:solidFill>
            <a:schemeClr val="tx1"/>
          </a:solidFill>
          <a:ln/>
          <a:effectLst>
            <a:outerShdw sx="100000" sy="100000" kx="0" ky="0" algn="bl" rotWithShape="0" blurRad="114300" dist="31750" dir="5400000">
              <a:srgbClr val="1D2433">
                <a:alpha val="12000"/>
              </a:srgbClr>
            </a:outerShdw>
          </a:effectLst>
        </p:spPr>
      </p:sp>
      <p:sp>
        <p:nvSpPr>
          <p:cNvPr id="11" name="Setter call text"/>
          <p:cNvSpPr txBox="1"/>
          <p:nvPr/>
        </p:nvSpPr>
        <p:spPr>
          <a:xfrm>
            <a:off x="6446520" y="4133088"/>
            <a:ext cx="4922215" cy="357124"/>
          </a:xfrm>
          <a:prstGeom prst="rect">
            <a:avLst/>
          </a:prstGeom>
          <a:noFill/>
          <a:ln/>
        </p:spPr>
        <p:txBody>
          <a:bodyPr wrap="square" lIns="0" tIns="0" rIns="0" bIns="0" rtlCol="0" anchor="t"/>
          <a:lstStyle/>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student.</a:t>
            </a:r>
            <a:r>
              <a:rPr lang="en-IE" sz="1800" dirty="0">
                <a:solidFill>
                  <a:srgbClr val="C9B0FF"/>
                </a:solidFill>
                <a:latin typeface="Consolas" pitchFamily="34" charset="0"/>
                <a:ea typeface="Consolas" pitchFamily="34" charset="-122"/>
                <a:cs typeface="Consolas" pitchFamily="34" charset="-120"/>
              </a:rPr>
              <a:t>setName</a:t>
            </a:r>
            <a:r>
              <a:rPr lang="en-IE" sz="1800" dirty="0">
                <a:solidFill>
                  <a:srgbClr val="E6EBF2"/>
                </a:solidFill>
                <a:latin typeface="Consolas" pitchFamily="34" charset="0"/>
                <a:ea typeface="Consolas" pitchFamily="34" charset="-122"/>
                <a:cs typeface="Consolas" pitchFamily="34" charset="-120"/>
              </a:rPr>
              <a:t>(</a:t>
            </a:r>
            <a:r>
              <a:rPr lang="en-IE" sz="1800" dirty="0">
                <a:solidFill>
                  <a:srgbClr val="A9DB8C"/>
                </a:solidFill>
                <a:latin typeface="Consolas" pitchFamily="34" charset="0"/>
                <a:ea typeface="Consolas" pitchFamily="34" charset="-122"/>
                <a:cs typeface="Consolas" pitchFamily="34" charset="-120"/>
              </a:rPr>
              <a:t>"bob"</a:t>
            </a:r>
            <a:r>
              <a:rPr lang="en-IE" sz="1800" dirty="0">
                <a:solidFill>
                  <a:srgbClr val="E6EBF2"/>
                </a:solidFill>
                <a:latin typeface="Consolas" pitchFamily="34" charset="0"/>
                <a:ea typeface="Consolas" pitchFamily="34" charset="-122"/>
                <a:cs typeface="Consolas" pitchFamily="34" charset="-120"/>
              </a:rPr>
              <a:t>);</a:t>
            </a:r>
            <a:endParaRPr lang="en-IE" sz="1800" dirty="0"/>
          </a:p>
        </p:txBody>
      </p:sp>
      <p:pic>
        <p:nvPicPr>
          <p:cNvPr id="12" name="Works" descr="Works">    </p:cNvPr>
          <p:cNvPicPr>
            <a:picLocks noChangeAspect="1"/>
          </p:cNvPicPr>
          <p:nvPr/>
        </p:nvPicPr>
        <p:blipFill>
          <a:blip r:embed="rId2"/>
          <a:stretch>
            <a:fillRect/>
          </a:stretch>
        </p:blipFill>
        <p:spPr>
          <a:xfrm>
            <a:off x="6172200" y="4855972"/>
            <a:ext cx="384048" cy="384048"/>
          </a:xfrm>
          <a:prstGeom prst="rect">
            <a:avLst/>
          </a:prstGeom>
        </p:spPr>
      </p:pic>
      <p:sp>
        <p:nvSpPr>
          <p:cNvPr id="13" name="Text 8"/>
          <p:cNvSpPr txBox="1"/>
          <p:nvPr/>
        </p:nvSpPr>
        <p:spPr>
          <a:xfrm>
            <a:off x="6675120" y="4810252"/>
            <a:ext cx="4967935" cy="475488"/>
          </a:xfrm>
          <a:prstGeom prst="rect">
            <a:avLst/>
          </a:prstGeom>
          <a:noFill/>
          <a:ln/>
        </p:spPr>
        <p:txBody>
          <a:bodyPr wrap="square" lIns="0" tIns="0" rIns="0" bIns="0" rtlCol="0" anchor="ctr"/>
          <a:lstStyle/>
          <a:p>
            <a:pPr indent="0" marL="0">
              <a:buNone/>
            </a:pPr>
            <a:r>
              <a:rPr lang="en-IE" sz="1600" b="1" dirty="0">
                <a:solidFill>
                  <a:schemeClr val="accent3"/>
                </a:solidFill>
              </a:rPr>
              <a:t>Works: the setter changes the name.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27</a:t>
            </a:fld>
            <a:endParaRPr lang="en-I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8</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Why won’t </a:t>
            </a:r>
            <a:r>
              <a:rPr lang="en-IE" sz="2800" b="1" dirty="0">
                <a:solidFill>
                  <a:schemeClr val="accent2"/>
                </a:solidFill>
                <a:latin typeface="Consolas" pitchFamily="34" charset="0"/>
                <a:ea typeface="Consolas" pitchFamily="34" charset="-122"/>
                <a:cs typeface="Consolas" pitchFamily="34" charset="-120"/>
              </a:rPr>
              <a:t>student.getName() = "bob";</a:t>
            </a:r>
            <a:r>
              <a:rPr lang="en-IE" sz="2800" b="1" dirty="0">
                <a:solidFill>
                  <a:schemeClr val="tx1"/>
                </a:solidFill>
              </a:rPr>
              <a:t> work?</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Text must be written in single quotes, like </a:t>
            </a:r>
            <a:r>
              <a:rPr lang="en-IE" sz="2000" dirty="0">
                <a:solidFill>
                  <a:schemeClr val="accent2"/>
                </a:solidFill>
                <a:latin typeface="Consolas" pitchFamily="34" charset="0"/>
                <a:ea typeface="Consolas" pitchFamily="34" charset="-122"/>
                <a:cs typeface="Consolas" pitchFamily="34" charset="-120"/>
              </a:rPr>
              <a:t>'bob'</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method call gives back a value, not a variable</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Names can only be set inside the main method</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getName()</a:t>
            </a:r>
            <a:r>
              <a:rPr lang="en-IE" sz="2000" dirty="0">
                <a:solidFill>
                  <a:schemeClr val="tx1"/>
                </a:solidFill>
              </a:rPr>
              <a:t> is private, so </a:t>
            </a:r>
            <a:r>
              <a:rPr lang="en-IE" sz="2000" dirty="0">
                <a:solidFill>
                  <a:schemeClr val="accent2"/>
                </a:solidFill>
                <a:latin typeface="Consolas" pitchFamily="34" charset="0"/>
                <a:ea typeface="Consolas" pitchFamily="34" charset="-122"/>
                <a:cs typeface="Consolas" pitchFamily="34" charset="-120"/>
              </a:rPr>
              <a:t>main</a:t>
            </a:r>
            <a:r>
              <a:rPr lang="en-IE" sz="2000" dirty="0">
                <a:solidFill>
                  <a:schemeClr val="tx1"/>
                </a:solidFill>
              </a:rPr>
              <a:t> can’t call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28</a:t>
            </a:fld>
            <a:endParaRPr lang="en-I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8</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Getters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Why won’t </a:t>
            </a:r>
            <a:r>
              <a:rPr lang="en-IE" sz="2000" b="1" dirty="0">
                <a:solidFill>
                  <a:schemeClr val="tx2"/>
                </a:solidFill>
                <a:latin typeface="Consolas" pitchFamily="34" charset="0"/>
                <a:ea typeface="Consolas" pitchFamily="34" charset="-122"/>
                <a:cs typeface="Consolas" pitchFamily="34" charset="-120"/>
              </a:rPr>
              <a:t>student.getName() = "bob";</a:t>
            </a:r>
            <a:r>
              <a:rPr lang="en-IE" sz="2000" b="1" dirty="0">
                <a:solidFill>
                  <a:schemeClr val="tx2"/>
                </a:solidFill>
              </a:rPr>
              <a:t> work?</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Text must be written in single quotes, like </a:t>
            </a:r>
            <a:r>
              <a:rPr lang="en-IE" sz="1700" dirty="0">
                <a:solidFill>
                  <a:schemeClr val="tx2"/>
                </a:solidFill>
                <a:latin typeface="Consolas" pitchFamily="34" charset="0"/>
                <a:ea typeface="Consolas" pitchFamily="34" charset="-122"/>
                <a:cs typeface="Consolas" pitchFamily="34" charset="-120"/>
              </a:rPr>
              <a:t>'bob'</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method call gives back a value, not a variable</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Names can only be set inside the main method</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getName()</a:t>
            </a:r>
            <a:r>
              <a:rPr lang="en-IE" sz="1700" dirty="0">
                <a:solidFill>
                  <a:schemeClr val="tx2"/>
                </a:solidFill>
              </a:rPr>
              <a:t> is private, so </a:t>
            </a:r>
            <a:r>
              <a:rPr lang="en-IE" sz="1700" dirty="0">
                <a:solidFill>
                  <a:schemeClr val="tx2"/>
                </a:solidFill>
                <a:latin typeface="Consolas" pitchFamily="34" charset="0"/>
                <a:ea typeface="Consolas" pitchFamily="34" charset="-122"/>
                <a:cs typeface="Consolas" pitchFamily="34" charset="-120"/>
              </a:rPr>
              <a:t>main</a:t>
            </a:r>
            <a:r>
              <a:rPr lang="en-IE" sz="1700" dirty="0">
                <a:solidFill>
                  <a:schemeClr val="tx2"/>
                </a:solidFill>
              </a:rPr>
              <a:t> can’t call it</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The getter hands back a copy of the value. We can read it, but we can’t assign to it, because only a variable can go on the left of </a:t>
            </a:r>
            <a:r>
              <a:rPr lang="en-IE" sz="1800" dirty="0">
                <a:solidFill>
                  <a:schemeClr val="accent2"/>
                </a:solidFill>
                <a:latin typeface="Consolas" pitchFamily="34" charset="0"/>
                <a:ea typeface="Consolas" pitchFamily="34" charset="-122"/>
                <a:cs typeface="Consolas" pitchFamily="34" charset="-120"/>
              </a:rPr>
              <a:t>=</a:t>
            </a:r>
            <a:r>
              <a:rPr lang="en-IE" sz="1800" dirty="0">
                <a:solidFill>
                  <a:schemeClr val="tx1"/>
                </a:solidFill>
              </a:rPr>
              <a:t>. To change the name we call the setter: </a:t>
            </a:r>
            <a:r>
              <a:rPr lang="en-IE" sz="1800" dirty="0">
                <a:solidFill>
                  <a:schemeClr val="accent2"/>
                </a:solidFill>
                <a:latin typeface="Consolas" pitchFamily="34" charset="0"/>
                <a:ea typeface="Consolas" pitchFamily="34" charset="-122"/>
                <a:cs typeface="Consolas" pitchFamily="34" charset="-120"/>
              </a:rPr>
              <a:t>student.setName("bob");</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29</a:t>
            </a:fld>
            <a:endParaRPr lang="en-I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Setters</a:t>
            </a:r>
            <a:endParaRPr lang="en-IE" sz="3400" dirty="0"/>
          </a:p>
        </p:txBody>
      </p:sp>
      <p:sp>
        <p:nvSpPr>
          <p:cNvPr id="5" name="Text 2"/>
          <p:cNvSpPr txBox="1"/>
          <p:nvPr/>
        </p:nvSpPr>
        <p:spPr>
          <a:xfrm>
            <a:off x="548640" y="1691640"/>
            <a:ext cx="11094415" cy="548640"/>
          </a:xfrm>
          <a:prstGeom prst="rect">
            <a:avLst/>
          </a:prstGeom>
          <a:noFill/>
          <a:ln/>
        </p:spPr>
        <p:txBody>
          <a:bodyPr wrap="square" lIns="0" tIns="0" rIns="0" bIns="0" rtlCol="0" anchor="t"/>
          <a:lstStyle/>
          <a:p>
            <a:pPr indent="0" marL="0">
              <a:buNone/>
            </a:pPr>
            <a:r>
              <a:rPr lang="en-IE" sz="1900" dirty="0">
                <a:solidFill>
                  <a:schemeClr val="tx1"/>
                </a:solidFill>
              </a:rPr>
              <a:t>A setter updates (modifies) the value of a private attribute.</a:t>
            </a:r>
            <a:endParaRPr lang="en-IE" sz="1900" dirty="0"/>
          </a:p>
        </p:txBody>
      </p:sp>
      <p:sp>
        <p:nvSpPr>
          <p:cNvPr id="6" name="Part: usually public"/>
          <p:cNvSpPr/>
          <p:nvPr/>
        </p:nvSpPr>
        <p:spPr>
          <a:xfrm>
            <a:off x="732892" y="2560320"/>
            <a:ext cx="1385316" cy="822960"/>
          </a:xfrm>
          <a:prstGeom prst="roundRect">
            <a:avLst>
              <a:gd name="adj" fmla="val 13333"/>
            </a:avLst>
          </a:prstGeom>
          <a:solidFill>
            <a:schemeClr val="accent3">
              <a:alpha val="14000"/>
            </a:schemeClr>
          </a:solidFill>
          <a:ln w="19050">
            <a:solidFill>
              <a:schemeClr val="accent3"/>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public</a:t>
            </a:r>
            <a:endParaRPr lang="en-IE" sz="1800" dirty="0"/>
          </a:p>
        </p:txBody>
      </p:sp>
      <p:sp>
        <p:nvSpPr>
          <p:cNvPr id="7" name="Connector"/>
          <p:cNvSpPr/>
          <p:nvPr/>
        </p:nvSpPr>
        <p:spPr>
          <a:xfrm>
            <a:off x="1425550" y="3429000"/>
            <a:ext cx="0" cy="301752"/>
          </a:xfrm>
          <a:prstGeom prst="line">
            <a:avLst/>
          </a:prstGeom>
          <a:noFill/>
          <a:ln w="19050">
            <a:solidFill>
              <a:schemeClr val="accent3"/>
            </a:solidFill>
            <a:prstDash val="solid"/>
          </a:ln>
        </p:spPr>
      </p:sp>
      <p:sp>
        <p:nvSpPr>
          <p:cNvPr id="8" name="Text 5"/>
          <p:cNvSpPr txBox="1"/>
          <p:nvPr/>
        </p:nvSpPr>
        <p:spPr>
          <a:xfrm>
            <a:off x="641452" y="3776472"/>
            <a:ext cx="1568196" cy="329184"/>
          </a:xfrm>
          <a:prstGeom prst="rect">
            <a:avLst/>
          </a:prstGeom>
          <a:noFill/>
          <a:ln/>
        </p:spPr>
        <p:txBody>
          <a:bodyPr wrap="square" lIns="0" tIns="0" rIns="0" bIns="0" rtlCol="0" anchor="t"/>
          <a:lstStyle/>
          <a:p>
            <a:pPr algn="ctr" indent="0" marL="0">
              <a:buNone/>
            </a:pPr>
            <a:r>
              <a:rPr lang="en-IE" sz="1600" b="1" dirty="0">
                <a:solidFill>
                  <a:schemeClr val="tx1"/>
                </a:solidFill>
              </a:rPr>
              <a:t>usually public</a:t>
            </a:r>
            <a:endParaRPr lang="en-IE" sz="1600" dirty="0"/>
          </a:p>
        </p:txBody>
      </p:sp>
      <p:sp>
        <p:nvSpPr>
          <p:cNvPr id="9" name="Text 6"/>
          <p:cNvSpPr txBox="1"/>
          <p:nvPr/>
        </p:nvSpPr>
        <p:spPr>
          <a:xfrm>
            <a:off x="641452" y="4114800"/>
            <a:ext cx="1568196" cy="566928"/>
          </a:xfrm>
          <a:prstGeom prst="rect">
            <a:avLst/>
          </a:prstGeom>
          <a:noFill/>
          <a:ln/>
        </p:spPr>
        <p:txBody>
          <a:bodyPr wrap="square" lIns="0" tIns="0" rIns="0" bIns="0" rtlCol="0" anchor="t"/>
          <a:lstStyle/>
          <a:p>
            <a:pPr algn="ctr" indent="0" marL="0">
              <a:buNone/>
            </a:pPr>
            <a:r>
              <a:rPr lang="en-IE" sz="1300" dirty="0">
                <a:solidFill>
                  <a:schemeClr val="tx2"/>
                </a:solidFill>
              </a:rPr>
              <a:t>so others can call it</a:t>
            </a:r>
            <a:endParaRPr lang="en-IE" sz="1300" dirty="0"/>
          </a:p>
        </p:txBody>
      </p:sp>
      <p:sp>
        <p:nvSpPr>
          <p:cNvPr id="10" name="Part: void"/>
          <p:cNvSpPr/>
          <p:nvPr/>
        </p:nvSpPr>
        <p:spPr>
          <a:xfrm>
            <a:off x="2301088" y="2560320"/>
            <a:ext cx="1106424" cy="822960"/>
          </a:xfrm>
          <a:prstGeom prst="roundRect">
            <a:avLst>
              <a:gd name="adj" fmla="val 13333"/>
            </a:avLst>
          </a:prstGeom>
          <a:solidFill>
            <a:schemeClr val="accent4">
              <a:alpha val="14000"/>
            </a:schemeClr>
          </a:solidFill>
          <a:ln w="19050">
            <a:solidFill>
              <a:schemeClr val="accent4"/>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void</a:t>
            </a:r>
            <a:endParaRPr lang="en-IE" sz="1800" dirty="0"/>
          </a:p>
        </p:txBody>
      </p:sp>
      <p:sp>
        <p:nvSpPr>
          <p:cNvPr id="11" name="Connector"/>
          <p:cNvSpPr/>
          <p:nvPr/>
        </p:nvSpPr>
        <p:spPr>
          <a:xfrm>
            <a:off x="2854300" y="3429000"/>
            <a:ext cx="0" cy="301752"/>
          </a:xfrm>
          <a:prstGeom prst="line">
            <a:avLst/>
          </a:prstGeom>
          <a:noFill/>
          <a:ln w="19050">
            <a:solidFill>
              <a:schemeClr val="accent4"/>
            </a:solidFill>
            <a:prstDash val="solid"/>
          </a:ln>
        </p:spPr>
      </p:sp>
      <p:sp>
        <p:nvSpPr>
          <p:cNvPr id="12" name="Text 9"/>
          <p:cNvSpPr txBox="1"/>
          <p:nvPr/>
        </p:nvSpPr>
        <p:spPr>
          <a:xfrm>
            <a:off x="2122780" y="3776472"/>
            <a:ext cx="1463040" cy="329184"/>
          </a:xfrm>
          <a:prstGeom prst="rect">
            <a:avLst/>
          </a:prstGeom>
          <a:noFill/>
          <a:ln/>
        </p:spPr>
        <p:txBody>
          <a:bodyPr wrap="square" lIns="0" tIns="0" rIns="0" bIns="0" rtlCol="0" anchor="t"/>
          <a:lstStyle/>
          <a:p>
            <a:pPr algn="ctr" indent="0" marL="0">
              <a:buNone/>
            </a:pPr>
            <a:r>
              <a:rPr lang="en-IE" sz="1600" b="1" dirty="0">
                <a:solidFill>
                  <a:schemeClr val="tx1"/>
                </a:solidFill>
              </a:rPr>
              <a:t>void</a:t>
            </a:r>
            <a:endParaRPr lang="en-IE" sz="1600" dirty="0"/>
          </a:p>
        </p:txBody>
      </p:sp>
      <p:sp>
        <p:nvSpPr>
          <p:cNvPr id="13" name="Text 10"/>
          <p:cNvSpPr txBox="1"/>
          <p:nvPr/>
        </p:nvSpPr>
        <p:spPr>
          <a:xfrm>
            <a:off x="2122780" y="4114800"/>
            <a:ext cx="1463040" cy="566928"/>
          </a:xfrm>
          <a:prstGeom prst="rect">
            <a:avLst/>
          </a:prstGeom>
          <a:noFill/>
          <a:ln/>
        </p:spPr>
        <p:txBody>
          <a:bodyPr wrap="square" lIns="0" tIns="0" rIns="0" bIns="0" rtlCol="0" anchor="t"/>
          <a:lstStyle/>
          <a:p>
            <a:pPr algn="ctr" indent="0" marL="0">
              <a:buNone/>
            </a:pPr>
            <a:r>
              <a:rPr lang="en-IE" sz="1300" dirty="0">
                <a:solidFill>
                  <a:schemeClr val="tx2"/>
                </a:solidFill>
              </a:rPr>
              <a:t>returns nothing</a:t>
            </a:r>
            <a:endParaRPr lang="en-IE" sz="1300" dirty="0"/>
          </a:p>
        </p:txBody>
      </p:sp>
      <p:sp>
        <p:nvSpPr>
          <p:cNvPr id="14" name="Part: set + Name"/>
          <p:cNvSpPr/>
          <p:nvPr/>
        </p:nvSpPr>
        <p:spPr>
          <a:xfrm>
            <a:off x="3590392" y="2560320"/>
            <a:ext cx="1524762" cy="822960"/>
          </a:xfrm>
          <a:prstGeom prst="roundRect">
            <a:avLst>
              <a:gd name="adj" fmla="val 13333"/>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setName</a:t>
            </a:r>
            <a:endParaRPr lang="en-IE" sz="1800" dirty="0"/>
          </a:p>
        </p:txBody>
      </p:sp>
      <p:sp>
        <p:nvSpPr>
          <p:cNvPr id="15" name="Connector"/>
          <p:cNvSpPr/>
          <p:nvPr/>
        </p:nvSpPr>
        <p:spPr>
          <a:xfrm>
            <a:off x="4352773" y="3429000"/>
            <a:ext cx="0" cy="301752"/>
          </a:xfrm>
          <a:prstGeom prst="line">
            <a:avLst/>
          </a:prstGeom>
          <a:noFill/>
          <a:ln w="19050">
            <a:solidFill>
              <a:schemeClr val="accent1"/>
            </a:solidFill>
            <a:prstDash val="solid"/>
          </a:ln>
        </p:spPr>
      </p:sp>
      <p:sp>
        <p:nvSpPr>
          <p:cNvPr id="16" name="Text 13"/>
          <p:cNvSpPr txBox="1"/>
          <p:nvPr/>
        </p:nvSpPr>
        <p:spPr>
          <a:xfrm>
            <a:off x="3498952" y="3776472"/>
            <a:ext cx="1707642" cy="329184"/>
          </a:xfrm>
          <a:prstGeom prst="rect">
            <a:avLst/>
          </a:prstGeom>
          <a:noFill/>
          <a:ln/>
        </p:spPr>
        <p:txBody>
          <a:bodyPr wrap="square" lIns="0" tIns="0" rIns="0" bIns="0" rtlCol="0" anchor="t"/>
          <a:lstStyle/>
          <a:p>
            <a:pPr algn="ctr" indent="0" marL="0">
              <a:buNone/>
            </a:pPr>
            <a:r>
              <a:rPr lang="en-IE" sz="1600" b="1" dirty="0">
                <a:solidFill>
                  <a:schemeClr val="tx1"/>
                </a:solidFill>
              </a:rPr>
              <a:t>set + Name</a:t>
            </a:r>
            <a:endParaRPr lang="en-IE" sz="1600" dirty="0"/>
          </a:p>
        </p:txBody>
      </p:sp>
      <p:sp>
        <p:nvSpPr>
          <p:cNvPr id="17" name="Text 14"/>
          <p:cNvSpPr txBox="1"/>
          <p:nvPr/>
        </p:nvSpPr>
        <p:spPr>
          <a:xfrm>
            <a:off x="3498952" y="4114800"/>
            <a:ext cx="1707642" cy="566928"/>
          </a:xfrm>
          <a:prstGeom prst="rect">
            <a:avLst/>
          </a:prstGeom>
          <a:noFill/>
          <a:ln/>
        </p:spPr>
        <p:txBody>
          <a:bodyPr wrap="square" lIns="0" tIns="0" rIns="0" bIns="0" rtlCol="0" anchor="t"/>
          <a:lstStyle/>
          <a:p>
            <a:pPr algn="ctr" indent="0" marL="0">
              <a:buNone/>
            </a:pPr>
            <a:r>
              <a:rPr lang="en-IE" sz="1300" dirty="0">
                <a:solidFill>
                  <a:schemeClr val="tx2"/>
                </a:solidFill>
              </a:rPr>
              <a:t>first letter capital</a:t>
            </a:r>
            <a:endParaRPr lang="en-IE" sz="1300" dirty="0"/>
          </a:p>
        </p:txBody>
      </p:sp>
      <p:sp>
        <p:nvSpPr>
          <p:cNvPr id="18" name="Part: one parameter"/>
          <p:cNvSpPr/>
          <p:nvPr/>
        </p:nvSpPr>
        <p:spPr>
          <a:xfrm>
            <a:off x="5298034" y="2560320"/>
            <a:ext cx="2779776" cy="822960"/>
          </a:xfrm>
          <a:prstGeom prst="roundRect">
            <a:avLst>
              <a:gd name="adj" fmla="val 13333"/>
            </a:avLst>
          </a:prstGeom>
          <a:solidFill>
            <a:schemeClr val="accent5">
              <a:alpha val="14000"/>
            </a:schemeClr>
          </a:solidFill>
          <a:ln w="19050">
            <a:solidFill>
              <a:schemeClr val="accent5"/>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(String theName)</a:t>
            </a:r>
            <a:endParaRPr lang="en-IE" sz="1800" dirty="0"/>
          </a:p>
        </p:txBody>
      </p:sp>
      <p:sp>
        <p:nvSpPr>
          <p:cNvPr id="19" name="Connector"/>
          <p:cNvSpPr/>
          <p:nvPr/>
        </p:nvSpPr>
        <p:spPr>
          <a:xfrm>
            <a:off x="6687922" y="3429000"/>
            <a:ext cx="0" cy="301752"/>
          </a:xfrm>
          <a:prstGeom prst="line">
            <a:avLst/>
          </a:prstGeom>
          <a:noFill/>
          <a:ln w="19050">
            <a:solidFill>
              <a:schemeClr val="accent5"/>
            </a:solidFill>
            <a:prstDash val="solid"/>
          </a:ln>
        </p:spPr>
      </p:sp>
      <p:sp>
        <p:nvSpPr>
          <p:cNvPr id="20" name="Text 17"/>
          <p:cNvSpPr txBox="1"/>
          <p:nvPr/>
        </p:nvSpPr>
        <p:spPr>
          <a:xfrm>
            <a:off x="5206594" y="3776472"/>
            <a:ext cx="2962656" cy="329184"/>
          </a:xfrm>
          <a:prstGeom prst="rect">
            <a:avLst/>
          </a:prstGeom>
          <a:noFill/>
          <a:ln/>
        </p:spPr>
        <p:txBody>
          <a:bodyPr wrap="square" lIns="0" tIns="0" rIns="0" bIns="0" rtlCol="0" anchor="t"/>
          <a:lstStyle/>
          <a:p>
            <a:pPr algn="ctr" indent="0" marL="0">
              <a:buNone/>
            </a:pPr>
            <a:r>
              <a:rPr lang="en-IE" sz="1600" b="1" dirty="0">
                <a:solidFill>
                  <a:schemeClr val="tx1"/>
                </a:solidFill>
              </a:rPr>
              <a:t>one parameter</a:t>
            </a:r>
            <a:endParaRPr lang="en-IE" sz="1600" dirty="0"/>
          </a:p>
        </p:txBody>
      </p:sp>
      <p:sp>
        <p:nvSpPr>
          <p:cNvPr id="21" name="Text 18"/>
          <p:cNvSpPr txBox="1"/>
          <p:nvPr/>
        </p:nvSpPr>
        <p:spPr>
          <a:xfrm>
            <a:off x="5206594" y="4114800"/>
            <a:ext cx="2962656" cy="566928"/>
          </a:xfrm>
          <a:prstGeom prst="rect">
            <a:avLst/>
          </a:prstGeom>
          <a:noFill/>
          <a:ln/>
        </p:spPr>
        <p:txBody>
          <a:bodyPr wrap="square" lIns="0" tIns="0" rIns="0" bIns="0" rtlCol="0" anchor="t"/>
          <a:lstStyle/>
          <a:p>
            <a:pPr algn="ctr" indent="0" marL="0">
              <a:buNone/>
            </a:pPr>
            <a:r>
              <a:rPr lang="en-IE" sz="1300" dirty="0">
                <a:solidFill>
                  <a:schemeClr val="tx2"/>
                </a:solidFill>
              </a:rPr>
              <a:t>same type as the attribute</a:t>
            </a:r>
            <a:endParaRPr lang="en-IE" sz="1300" dirty="0"/>
          </a:p>
        </p:txBody>
      </p:sp>
      <p:sp>
        <p:nvSpPr>
          <p:cNvPr id="22" name="Part: stores it"/>
          <p:cNvSpPr/>
          <p:nvPr/>
        </p:nvSpPr>
        <p:spPr>
          <a:xfrm>
            <a:off x="8260690" y="2560320"/>
            <a:ext cx="3198114" cy="822960"/>
          </a:xfrm>
          <a:prstGeom prst="roundRect">
            <a:avLst>
              <a:gd name="adj" fmla="val 13333"/>
            </a:avLst>
          </a:prstGeom>
          <a:solidFill>
            <a:schemeClr val="accent2">
              <a:alpha val="14000"/>
            </a:schemeClr>
          </a:solidFill>
          <a:ln w="19050">
            <a:solidFill>
              <a:schemeClr val="accent2"/>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 name = theName; }</a:t>
            </a:r>
            <a:endParaRPr lang="en-IE" sz="1800" dirty="0"/>
          </a:p>
        </p:txBody>
      </p:sp>
      <p:sp>
        <p:nvSpPr>
          <p:cNvPr id="23" name="Connector"/>
          <p:cNvSpPr/>
          <p:nvPr/>
        </p:nvSpPr>
        <p:spPr>
          <a:xfrm>
            <a:off x="9859747" y="3429000"/>
            <a:ext cx="0" cy="301752"/>
          </a:xfrm>
          <a:prstGeom prst="line">
            <a:avLst/>
          </a:prstGeom>
          <a:noFill/>
          <a:ln w="19050">
            <a:solidFill>
              <a:schemeClr val="accent2"/>
            </a:solidFill>
            <a:prstDash val="solid"/>
          </a:ln>
        </p:spPr>
      </p:sp>
      <p:sp>
        <p:nvSpPr>
          <p:cNvPr id="24" name="Text 21"/>
          <p:cNvSpPr txBox="1"/>
          <p:nvPr/>
        </p:nvSpPr>
        <p:spPr>
          <a:xfrm>
            <a:off x="8169250" y="3776472"/>
            <a:ext cx="3380994" cy="329184"/>
          </a:xfrm>
          <a:prstGeom prst="rect">
            <a:avLst/>
          </a:prstGeom>
          <a:noFill/>
          <a:ln/>
        </p:spPr>
        <p:txBody>
          <a:bodyPr wrap="square" lIns="0" tIns="0" rIns="0" bIns="0" rtlCol="0" anchor="t"/>
          <a:lstStyle/>
          <a:p>
            <a:pPr algn="ctr" indent="0" marL="0">
              <a:buNone/>
            </a:pPr>
            <a:r>
              <a:rPr lang="en-IE" sz="1600" b="1" dirty="0">
                <a:solidFill>
                  <a:schemeClr val="tx1"/>
                </a:solidFill>
              </a:rPr>
              <a:t>stores it</a:t>
            </a:r>
            <a:endParaRPr lang="en-IE" sz="1600" dirty="0"/>
          </a:p>
        </p:txBody>
      </p:sp>
      <p:sp>
        <p:nvSpPr>
          <p:cNvPr id="25" name="Text 22"/>
          <p:cNvSpPr txBox="1"/>
          <p:nvPr/>
        </p:nvSpPr>
        <p:spPr>
          <a:xfrm>
            <a:off x="8169250" y="4114800"/>
            <a:ext cx="3380994" cy="566928"/>
          </a:xfrm>
          <a:prstGeom prst="rect">
            <a:avLst/>
          </a:prstGeom>
          <a:noFill/>
          <a:ln/>
        </p:spPr>
        <p:txBody>
          <a:bodyPr wrap="square" lIns="0" tIns="0" rIns="0" bIns="0" rtlCol="0" anchor="t"/>
          <a:lstStyle/>
          <a:p>
            <a:pPr algn="ctr" indent="0" marL="0">
              <a:buNone/>
            </a:pPr>
            <a:r>
              <a:rPr lang="en-IE" sz="1300" dirty="0">
                <a:solidFill>
                  <a:schemeClr val="tx2"/>
                </a:solidFill>
              </a:rPr>
              <a:t>saves the new value</a:t>
            </a:r>
            <a:endParaRPr lang="en-IE" sz="1300" dirty="0"/>
          </a:p>
        </p:txBody>
      </p:sp>
      <p:sp>
        <p:nvSpPr>
          <p:cNvPr id="26" name="Note"/>
          <p:cNvSpPr/>
          <p:nvPr/>
        </p:nvSpPr>
        <p:spPr>
          <a:xfrm>
            <a:off x="548640" y="5212080"/>
            <a:ext cx="11094415" cy="822960"/>
          </a:xfrm>
          <a:prstGeom prst="roundRect">
            <a:avLst>
              <a:gd name="adj" fmla="val 13333"/>
            </a:avLst>
          </a:prstGeom>
          <a:solidFill>
            <a:schemeClr val="bg2"/>
          </a:solidFill>
          <a:ln/>
        </p:spPr>
      </p:sp>
      <p:sp>
        <p:nvSpPr>
          <p:cNvPr id="27" name="Icon tile"/>
          <p:cNvSpPr/>
          <p:nvPr/>
        </p:nvSpPr>
        <p:spPr>
          <a:xfrm>
            <a:off x="822960" y="5358384"/>
            <a:ext cx="530352" cy="530352"/>
          </a:xfrm>
          <a:prstGeom prst="roundRect">
            <a:avLst>
              <a:gd name="adj" fmla="val 24000"/>
            </a:avLst>
          </a:prstGeom>
          <a:solidFill>
            <a:schemeClr val="accent2">
              <a:alpha val="14000"/>
            </a:schemeClr>
          </a:solidFill>
          <a:ln/>
        </p:spPr>
      </p:sp>
      <p:pic>
        <p:nvPicPr>
          <p:cNvPr id="28" name="info icon" descr="info icon">    </p:cNvPr>
          <p:cNvPicPr>
            <a:picLocks noChangeAspect="1"/>
          </p:cNvPicPr>
          <p:nvPr/>
        </p:nvPicPr>
        <p:blipFill>
          <a:blip r:embed="rId1"/>
          <a:stretch>
            <a:fillRect/>
          </a:stretch>
        </p:blipFill>
        <p:spPr>
          <a:xfrm>
            <a:off x="934334" y="5469758"/>
            <a:ext cx="307604" cy="307604"/>
          </a:xfrm>
          <a:prstGeom prst="rect">
            <a:avLst/>
          </a:prstGeom>
        </p:spPr>
      </p:pic>
      <p:sp>
        <p:nvSpPr>
          <p:cNvPr id="29" name="Text 25"/>
          <p:cNvSpPr txBox="1"/>
          <p:nvPr/>
        </p:nvSpPr>
        <p:spPr>
          <a:xfrm>
            <a:off x="1572768" y="5212080"/>
            <a:ext cx="9814255" cy="822960"/>
          </a:xfrm>
          <a:prstGeom prst="rect">
            <a:avLst/>
          </a:prstGeom>
          <a:noFill/>
          <a:ln/>
        </p:spPr>
        <p:txBody>
          <a:bodyPr wrap="square" lIns="0" tIns="0" rIns="0" bIns="0" rtlCol="0" anchor="ctr"/>
          <a:lstStyle/>
          <a:p>
            <a:pPr indent="0" marL="0">
              <a:buNone/>
            </a:pPr>
            <a:r>
              <a:rPr lang="en-IE" sz="1800" dirty="0">
                <a:solidFill>
                  <a:schemeClr val="tx1"/>
                </a:solidFill>
              </a:rPr>
              <a:t>A setter should only ever update one attribute at a time.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30</a:t>
            </a:fld>
            <a:endParaRPr lang="en-I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Using a setter</a:t>
            </a:r>
            <a:endParaRPr lang="en-IE" sz="3400" dirty="0"/>
          </a:p>
        </p:txBody>
      </p:sp>
      <p:sp>
        <p:nvSpPr>
          <p:cNvPr id="5" name="Student class card"/>
          <p:cNvSpPr/>
          <p:nvPr/>
        </p:nvSpPr>
        <p:spPr>
          <a:xfrm>
            <a:off x="548640" y="1783080"/>
            <a:ext cx="5394960" cy="2510028"/>
          </a:xfrm>
          <a:prstGeom prst="roundRect">
            <a:avLst>
              <a:gd name="adj" fmla="val 4372"/>
            </a:avLst>
          </a:prstGeom>
          <a:solidFill>
            <a:schemeClr val="tx1"/>
          </a:solidFill>
          <a:ln/>
          <a:effectLst>
            <a:outerShdw sx="100000" sy="100000" kx="0" ky="0" algn="bl" rotWithShape="0" blurRad="114300" dist="31750" dir="5400000">
              <a:srgbClr val="1D2433">
                <a:alpha val="12000"/>
              </a:srgbClr>
            </a:outerShdw>
          </a:effectLst>
        </p:spPr>
      </p:sp>
      <p:sp>
        <p:nvSpPr>
          <p:cNvPr id="6" name="Student class language"/>
          <p:cNvSpPr txBox="1"/>
          <p:nvPr/>
        </p:nvSpPr>
        <p:spPr>
          <a:xfrm>
            <a:off x="822960" y="1901952"/>
            <a:ext cx="484632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Student.java</a:t>
            </a:r>
            <a:endParaRPr lang="en-IE" sz="1050" dirty="0"/>
          </a:p>
        </p:txBody>
      </p:sp>
      <p:sp>
        <p:nvSpPr>
          <p:cNvPr id="7" name="Student class text"/>
          <p:cNvSpPr txBox="1"/>
          <p:nvPr/>
        </p:nvSpPr>
        <p:spPr>
          <a:xfrm>
            <a:off x="822960" y="2276856"/>
            <a:ext cx="4846320" cy="181508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private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name;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setName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theName)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name = theName;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8" name="Text 5"/>
          <p:cNvSpPr txBox="1"/>
          <p:nvPr/>
        </p:nvSpPr>
        <p:spPr>
          <a:xfrm>
            <a:off x="548640" y="4475988"/>
            <a:ext cx="5394960" cy="365760"/>
          </a:xfrm>
          <a:prstGeom prst="rect">
            <a:avLst/>
          </a:prstGeom>
          <a:noFill/>
          <a:ln/>
        </p:spPr>
        <p:txBody>
          <a:bodyPr wrap="square" lIns="0" tIns="0" rIns="0" bIns="0" rtlCol="0" anchor="t"/>
          <a:lstStyle/>
          <a:p>
            <a:pPr indent="0" marL="0">
              <a:buNone/>
            </a:pPr>
            <a:r>
              <a:rPr lang="en-IE" sz="1500" i="1" dirty="0">
                <a:solidFill>
                  <a:schemeClr val="tx2"/>
                </a:solidFill>
              </a:rPr>
              <a:t>theName is the new value passed in.</a:t>
            </a:r>
            <a:endParaRPr lang="en-IE" sz="1500" dirty="0"/>
          </a:p>
        </p:txBody>
      </p:sp>
      <p:sp>
        <p:nvSpPr>
          <p:cNvPr id="9" name="Main method card"/>
          <p:cNvSpPr/>
          <p:nvPr/>
        </p:nvSpPr>
        <p:spPr>
          <a:xfrm>
            <a:off x="6245352" y="1783080"/>
            <a:ext cx="5397703" cy="1755648"/>
          </a:xfrm>
          <a:prstGeom prst="roundRect">
            <a:avLst>
              <a:gd name="adj" fmla="val 6250"/>
            </a:avLst>
          </a:prstGeom>
          <a:solidFill>
            <a:schemeClr val="tx1"/>
          </a:solidFill>
          <a:ln/>
          <a:effectLst>
            <a:outerShdw sx="100000" sy="100000" kx="0" ky="0" algn="bl" rotWithShape="0" blurRad="114300" dist="31750" dir="5400000">
              <a:srgbClr val="1D2433">
                <a:alpha val="12000"/>
              </a:srgbClr>
            </a:outerShdw>
          </a:effectLst>
        </p:spPr>
      </p:sp>
      <p:sp>
        <p:nvSpPr>
          <p:cNvPr id="10" name="Main method language"/>
          <p:cNvSpPr txBox="1"/>
          <p:nvPr/>
        </p:nvSpPr>
        <p:spPr>
          <a:xfrm>
            <a:off x="6519672" y="1901952"/>
            <a:ext cx="4849063"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Main.java</a:t>
            </a:r>
            <a:endParaRPr lang="en-IE" sz="1050" dirty="0"/>
          </a:p>
        </p:txBody>
      </p:sp>
      <p:sp>
        <p:nvSpPr>
          <p:cNvPr id="11" name="Main method text"/>
          <p:cNvSpPr txBox="1"/>
          <p:nvPr/>
        </p:nvSpPr>
        <p:spPr>
          <a:xfrm>
            <a:off x="6519672" y="2276856"/>
            <a:ext cx="4849063" cy="106070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static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void</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main</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6CC4E8"/>
                </a:solidFill>
                <a:latin typeface="Consolas" pitchFamily="34" charset="0"/>
                <a:ea typeface="Consolas" pitchFamily="34" charset="-122"/>
                <a:cs typeface="Consolas" pitchFamily="34" charset="-120"/>
              </a:rPr>
              <a:t>String</a:t>
            </a:r>
            <a:r>
              <a:rPr lang="en-IE" sz="1500" dirty="0">
                <a:solidFill>
                  <a:srgbClr val="E6EBF2"/>
                </a:solidFill>
                <a:latin typeface="Consolas" pitchFamily="34" charset="0"/>
                <a:ea typeface="Consolas" pitchFamily="34" charset="-122"/>
                <a:cs typeface="Consolas" pitchFamily="34" charset="-120"/>
              </a:rPr>
              <a:t>[] args)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 student = </a:t>
            </a:r>
            <a:r>
              <a:rPr lang="en-IE" sz="1500" dirty="0">
                <a:solidFill>
                  <a:srgbClr val="FF9F5A"/>
                </a:solidFill>
                <a:latin typeface="Consolas" pitchFamily="34" charset="0"/>
                <a:ea typeface="Consolas" pitchFamily="34" charset="-122"/>
                <a:cs typeface="Consolas" pitchFamily="34" charset="-120"/>
              </a:rPr>
              <a:t>new</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student.</a:t>
            </a:r>
            <a:r>
              <a:rPr lang="en-IE" sz="1500" dirty="0">
                <a:solidFill>
                  <a:srgbClr val="C9B0FF"/>
                </a:solidFill>
                <a:latin typeface="Consolas" pitchFamily="34" charset="0"/>
                <a:ea typeface="Consolas" pitchFamily="34" charset="-122"/>
                <a:cs typeface="Consolas" pitchFamily="34" charset="-120"/>
              </a:rPr>
              <a:t>setName</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A9DB8C"/>
                </a:solidFill>
                <a:latin typeface="Consolas" pitchFamily="34" charset="0"/>
                <a:ea typeface="Consolas" pitchFamily="34" charset="-122"/>
                <a:cs typeface="Consolas" pitchFamily="34" charset="-120"/>
              </a:rPr>
              <a:t>"tom"</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12" name="Student object"/>
          <p:cNvSpPr/>
          <p:nvPr/>
        </p:nvSpPr>
        <p:spPr>
          <a:xfrm>
            <a:off x="6245352" y="3813048"/>
            <a:ext cx="5397703" cy="1234440"/>
          </a:xfrm>
          <a:prstGeom prst="roundRect">
            <a:avLst>
              <a:gd name="adj" fmla="val 8889"/>
            </a:avLst>
          </a:prstGeom>
          <a:solidFill>
            <a:schemeClr val="bg1"/>
          </a:solidFill>
          <a:ln/>
          <a:effectLst>
            <a:outerShdw sx="100000" sy="100000" kx="0" ky="0" algn="bl" rotWithShape="0" blurRad="114300" dist="31750" dir="5400000">
              <a:srgbClr val="1D2433">
                <a:alpha val="12000"/>
              </a:srgbClr>
            </a:outerShdw>
          </a:effectLst>
        </p:spPr>
      </p:sp>
      <p:sp>
        <p:nvSpPr>
          <p:cNvPr id="13" name="Text 10"/>
          <p:cNvSpPr txBox="1"/>
          <p:nvPr/>
        </p:nvSpPr>
        <p:spPr>
          <a:xfrm>
            <a:off x="6519672" y="3950208"/>
            <a:ext cx="4572000" cy="320040"/>
          </a:xfrm>
          <a:prstGeom prst="rect">
            <a:avLst/>
          </a:prstGeom>
          <a:noFill/>
          <a:ln/>
        </p:spPr>
        <p:txBody>
          <a:bodyPr wrap="square" lIns="0" tIns="0" rIns="0" bIns="0" rtlCol="0" anchor="t"/>
          <a:lstStyle/>
          <a:p>
            <a:pPr indent="0" marL="0">
              <a:buNone/>
            </a:pPr>
            <a:r>
              <a:rPr lang="en-IE" sz="1400" b="1" dirty="0">
                <a:solidFill>
                  <a:schemeClr val="tx2"/>
                </a:solidFill>
              </a:rPr>
              <a:t>The student object afterwards</a:t>
            </a:r>
            <a:endParaRPr lang="en-IE" sz="1400" dirty="0"/>
          </a:p>
        </p:txBody>
      </p:sp>
      <p:sp>
        <p:nvSpPr>
          <p:cNvPr id="14" name="Code chip"/>
          <p:cNvSpPr/>
          <p:nvPr/>
        </p:nvSpPr>
        <p:spPr>
          <a:xfrm>
            <a:off x="6519672" y="4379976"/>
            <a:ext cx="1872996" cy="457200"/>
          </a:xfrm>
          <a:prstGeom prst="roundRect">
            <a:avLst>
              <a:gd name="adj" fmla="val 16000"/>
            </a:avLst>
          </a:prstGeom>
          <a:solidFill>
            <a:schemeClr val="bg2"/>
          </a:solidFill>
          <a:ln/>
        </p:spPr>
        <p:txBody>
          <a:bodyPr wrap="square" lIns="0" tIns="0" rIns="0" bIns="0" rtlCol="0" anchor="ctr"/>
          <a:lstStyle/>
          <a:p>
            <a:pPr algn="ctr" indent="0" marL="0">
              <a:buNone/>
            </a:pPr>
            <a:r>
              <a:rPr lang="en-IE" sz="1700" dirty="0">
                <a:solidFill>
                  <a:schemeClr val="accent2"/>
                </a:solidFill>
                <a:latin typeface="Consolas" pitchFamily="34" charset="0"/>
                <a:ea typeface="Consolas" pitchFamily="34" charset="-122"/>
                <a:cs typeface="Consolas" pitchFamily="34" charset="-120"/>
              </a:rPr>
              <a:t>name = "tom"</a:t>
            </a:r>
            <a:endParaRPr lang="en-IE" sz="1700" dirty="0"/>
          </a:p>
        </p:txBody>
      </p:sp>
      <p:sp>
        <p:nvSpPr>
          <p:cNvPr id="15" name="Note"/>
          <p:cNvSpPr/>
          <p:nvPr/>
        </p:nvSpPr>
        <p:spPr>
          <a:xfrm>
            <a:off x="548640" y="5349240"/>
            <a:ext cx="11094415" cy="731520"/>
          </a:xfrm>
          <a:prstGeom prst="roundRect">
            <a:avLst>
              <a:gd name="adj" fmla="val 15000"/>
            </a:avLst>
          </a:prstGeom>
          <a:solidFill>
            <a:schemeClr val="bg2"/>
          </a:solidFill>
          <a:ln/>
        </p:spPr>
      </p:sp>
      <p:sp>
        <p:nvSpPr>
          <p:cNvPr id="16" name="Icon tile"/>
          <p:cNvSpPr/>
          <p:nvPr/>
        </p:nvSpPr>
        <p:spPr>
          <a:xfrm>
            <a:off x="822960" y="5449824"/>
            <a:ext cx="530352" cy="530352"/>
          </a:xfrm>
          <a:prstGeom prst="roundRect">
            <a:avLst>
              <a:gd name="adj" fmla="val 24000"/>
            </a:avLst>
          </a:prstGeom>
          <a:solidFill>
            <a:schemeClr val="accent1">
              <a:alpha val="14000"/>
            </a:schemeClr>
          </a:solidFill>
          <a:ln/>
        </p:spPr>
      </p:sp>
      <p:pic>
        <p:nvPicPr>
          <p:cNvPr id="17" name="pencil simple icon" descr="pencil simple icon">    </p:cNvPr>
          <p:cNvPicPr>
            <a:picLocks noChangeAspect="1"/>
          </p:cNvPicPr>
          <p:nvPr/>
        </p:nvPicPr>
        <p:blipFill>
          <a:blip r:embed="rId1"/>
          <a:stretch>
            <a:fillRect/>
          </a:stretch>
        </p:blipFill>
        <p:spPr>
          <a:xfrm>
            <a:off x="934334" y="5561198"/>
            <a:ext cx="307604" cy="307604"/>
          </a:xfrm>
          <a:prstGeom prst="rect">
            <a:avLst/>
          </a:prstGeom>
        </p:spPr>
      </p:pic>
      <p:sp>
        <p:nvSpPr>
          <p:cNvPr id="18" name="Text 14"/>
          <p:cNvSpPr txBox="1"/>
          <p:nvPr/>
        </p:nvSpPr>
        <p:spPr>
          <a:xfrm>
            <a:off x="1572768" y="5349240"/>
            <a:ext cx="9814255" cy="731520"/>
          </a:xfrm>
          <a:prstGeom prst="rect">
            <a:avLst/>
          </a:prstGeom>
          <a:noFill/>
          <a:ln/>
        </p:spPr>
        <p:txBody>
          <a:bodyPr wrap="square" lIns="0" tIns="0" rIns="0" bIns="0" rtlCol="0" anchor="ctr"/>
          <a:lstStyle/>
          <a:p>
            <a:pPr indent="0" marL="0">
              <a:buNone/>
            </a:pPr>
            <a:r>
              <a:rPr lang="en-IE" sz="1700" dirty="0">
                <a:solidFill>
                  <a:schemeClr val="tx1"/>
                </a:solidFill>
              </a:rPr>
              <a:t>main is in another class, so it can only change name through the setter.</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31</a:t>
            </a:fld>
            <a:endParaRPr lang="en-I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Label"/>
          <p:cNvSpPr/>
          <p:nvPr/>
        </p:nvSpPr>
        <p:spPr>
          <a:xfrm>
            <a:off x="548640" y="384048"/>
            <a:ext cx="203708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9</a:t>
            </a:r>
            <a:endParaRPr lang="en-IE" sz="1400" dirty="0"/>
          </a:p>
        </p:txBody>
      </p:sp>
      <p:sp>
        <p:nvSpPr>
          <p:cNvPr id="3" name="Topic"/>
          <p:cNvSpPr txBox="1"/>
          <p:nvPr/>
        </p:nvSpPr>
        <p:spPr>
          <a:xfrm>
            <a:off x="27686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Setters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is a correct setter for </a:t>
            </a:r>
            <a:r>
              <a:rPr lang="en-IE" sz="2800" b="1" dirty="0">
                <a:solidFill>
                  <a:schemeClr val="accent2"/>
                </a:solidFill>
                <a:latin typeface="Consolas" pitchFamily="34" charset="0"/>
                <a:ea typeface="Consolas" pitchFamily="34" charset="-122"/>
                <a:cs typeface="Consolas" pitchFamily="34" charset="-120"/>
              </a:rPr>
              <a:t>private String name</a:t>
            </a:r>
            <a:r>
              <a:rPr lang="en-IE" sz="2800" b="1" dirty="0">
                <a:solidFill>
                  <a:schemeClr val="tx1"/>
                </a:solidFill>
              </a:rPr>
              <a:t>?</a:t>
            </a:r>
            <a:endParaRPr lang="en-IE"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String setName(String theName) { name = theName; }</a:t>
            </a:r>
            <a:endParaRPr lang="en-IE"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void setName() { name = theName; }</a:t>
            </a:r>
            <a:endParaRPr lang="en-IE"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void setName(String theName) { name = theName; }</a:t>
            </a:r>
            <a:endParaRPr lang="en-IE"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IE" sz="1900" dirty="0">
                <a:solidFill>
                  <a:schemeClr val="tx1"/>
                </a:solidFill>
                <a:latin typeface="Consolas" pitchFamily="34" charset="0"/>
                <a:ea typeface="Consolas" pitchFamily="34" charset="-122"/>
                <a:cs typeface="Consolas" pitchFamily="34" charset="-120"/>
              </a:rPr>
              <a:t>public void setName(int theName) { name = theName; }</a:t>
            </a:r>
            <a:endParaRPr lang="en-IE"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32</a:t>
            </a:fld>
            <a:endParaRPr lang="en-I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9</a:t>
            </a:r>
            <a:endParaRPr lang="en-IE" sz="1400" dirty="0"/>
          </a:p>
        </p:txBody>
      </p:sp>
      <p:sp>
        <p:nvSpPr>
          <p:cNvPr id="3" name="Topic"/>
          <p:cNvSpPr txBox="1"/>
          <p:nvPr/>
        </p:nvSpPr>
        <p:spPr>
          <a:xfrm>
            <a:off x="217170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Setters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is a correct setter for </a:t>
            </a:r>
            <a:r>
              <a:rPr lang="en-IE" sz="2000" b="1" dirty="0">
                <a:solidFill>
                  <a:schemeClr val="tx2"/>
                </a:solidFill>
                <a:latin typeface="Consolas" pitchFamily="34" charset="0"/>
                <a:ea typeface="Consolas" pitchFamily="34" charset="-122"/>
                <a:cs typeface="Consolas" pitchFamily="34" charset="-120"/>
              </a:rPr>
              <a:t>private String name</a:t>
            </a:r>
            <a:r>
              <a:rPr lang="en-IE" sz="2000" b="1" dirty="0">
                <a:solidFill>
                  <a:schemeClr val="tx2"/>
                </a:solidFill>
              </a:rPr>
              <a:t>?</a:t>
            </a:r>
            <a:endParaRPr lang="en-IE"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String setName(String theName) { name = theName; }</a:t>
            </a:r>
            <a:endParaRPr lang="en-IE"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void setName() { name = theName; }</a:t>
            </a:r>
            <a:endParaRPr lang="en-IE"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236976"/>
            <a:ext cx="9613087" cy="585216"/>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public void setName(String theName) { name = theName; }</a:t>
            </a:r>
            <a:endParaRPr lang="en-IE" sz="1700" dirty="0"/>
          </a:p>
        </p:txBody>
      </p:sp>
      <p:pic>
        <p:nvPicPr>
          <p:cNvPr id="14" name="Correct mark"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public void setName(int theName) { name = theName; }</a:t>
            </a:r>
            <a:endParaRPr lang="en-IE"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indent="0" marL="0">
              <a:buNone/>
            </a:pPr>
            <a:r>
              <a:rPr lang="en-IE" sz="1600" dirty="0">
                <a:solidFill>
                  <a:schemeClr val="tx1"/>
                </a:solidFill>
              </a:rPr>
              <a:t>A setter is usually public, returns void, and takes one parameter of the same type as the attribute (String). A has a return type but no return, B has no parameter, and D takes an int instead of a String.</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33</a:t>
            </a:fld>
            <a:endParaRPr lang="en-I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When to use getters and setters</a:t>
            </a:r>
            <a:endParaRPr lang="en-IE" sz="3400" dirty="0"/>
          </a:p>
        </p:txBody>
      </p:sp>
      <p:sp>
        <p:nvSpPr>
          <p:cNvPr id="5" name="Text 2"/>
          <p:cNvSpPr txBox="1"/>
          <p:nvPr/>
        </p:nvSpPr>
        <p:spPr>
          <a:xfrm>
            <a:off x="548640" y="1691640"/>
            <a:ext cx="11094415" cy="731520"/>
          </a:xfrm>
          <a:prstGeom prst="rect">
            <a:avLst/>
          </a:prstGeom>
          <a:noFill/>
          <a:ln/>
        </p:spPr>
        <p:txBody>
          <a:bodyPr wrap="square" lIns="0" tIns="0" rIns="0" bIns="0" rtlCol="0" anchor="t"/>
          <a:lstStyle/>
          <a:p>
            <a:pPr indent="0" marL="0">
              <a:buNone/>
            </a:pPr>
            <a:r>
              <a:rPr lang="en-IE" sz="1800" dirty="0">
                <a:solidFill>
                  <a:schemeClr val="tx1"/>
                </a:solidFill>
              </a:rPr>
              <a:t>Not every attribute has to be private. It depends on the system you’re building. Getters and setters are worth it when we want to:</a:t>
            </a:r>
            <a:endParaRPr lang="en-IE" sz="1800" dirty="0"/>
          </a:p>
        </p:txBody>
      </p:sp>
      <p:sp>
        <p:nvSpPr>
          <p:cNvPr id="6" name="Card"/>
          <p:cNvSpPr/>
          <p:nvPr/>
        </p:nvSpPr>
        <p:spPr>
          <a:xfrm>
            <a:off x="548640" y="2606040"/>
            <a:ext cx="5410048" cy="16002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822960" y="2880360"/>
            <a:ext cx="640080" cy="640080"/>
          </a:xfrm>
          <a:prstGeom prst="roundRect">
            <a:avLst>
              <a:gd name="adj" fmla="val 24000"/>
            </a:avLst>
          </a:prstGeom>
          <a:solidFill>
            <a:schemeClr val="accent4">
              <a:alpha val="14000"/>
            </a:schemeClr>
          </a:solidFill>
          <a:ln/>
        </p:spPr>
      </p:sp>
      <p:pic>
        <p:nvPicPr>
          <p:cNvPr id="8" name="eye icon" descr="eye icon">    </p:cNvPr>
          <p:cNvPicPr>
            <a:picLocks noChangeAspect="1"/>
          </p:cNvPicPr>
          <p:nvPr/>
        </p:nvPicPr>
        <p:blipFill>
          <a:blip r:embed="rId1"/>
          <a:stretch>
            <a:fillRect/>
          </a:stretch>
        </p:blipFill>
        <p:spPr>
          <a:xfrm>
            <a:off x="957377" y="3014777"/>
            <a:ext cx="371246" cy="371246"/>
          </a:xfrm>
          <a:prstGeom prst="rect">
            <a:avLst/>
          </a:prstGeom>
        </p:spPr>
      </p:pic>
      <p:sp>
        <p:nvSpPr>
          <p:cNvPr id="9" name="Text 5"/>
          <p:cNvSpPr txBox="1"/>
          <p:nvPr/>
        </p:nvSpPr>
        <p:spPr>
          <a:xfrm>
            <a:off x="1691640" y="2880360"/>
            <a:ext cx="4038448" cy="384048"/>
          </a:xfrm>
          <a:prstGeom prst="rect">
            <a:avLst/>
          </a:prstGeom>
          <a:noFill/>
          <a:ln/>
        </p:spPr>
        <p:txBody>
          <a:bodyPr wrap="square" lIns="0" tIns="0" rIns="0" bIns="0" rtlCol="0" anchor="t"/>
          <a:lstStyle/>
          <a:p>
            <a:pPr indent="0" marL="0">
              <a:buNone/>
            </a:pPr>
            <a:r>
              <a:rPr lang="en-IE" sz="1900" b="1" dirty="0">
                <a:solidFill>
                  <a:schemeClr val="tx1"/>
                </a:solidFill>
              </a:rPr>
              <a:t>Read, but not change</a:t>
            </a:r>
            <a:endParaRPr lang="en-IE" sz="1900" dirty="0"/>
          </a:p>
        </p:txBody>
      </p:sp>
      <p:sp>
        <p:nvSpPr>
          <p:cNvPr id="10" name="Text 6"/>
          <p:cNvSpPr txBox="1"/>
          <p:nvPr/>
        </p:nvSpPr>
        <p:spPr>
          <a:xfrm>
            <a:off x="1691640" y="3319272"/>
            <a:ext cx="4038448" cy="685800"/>
          </a:xfrm>
          <a:prstGeom prst="rect">
            <a:avLst/>
          </a:prstGeom>
          <a:noFill/>
          <a:ln/>
        </p:spPr>
        <p:txBody>
          <a:bodyPr wrap="square" lIns="0" tIns="0" rIns="0" bIns="0" rtlCol="0" anchor="t"/>
          <a:lstStyle/>
          <a:p>
            <a:pPr indent="0" marL="0">
              <a:buNone/>
            </a:pPr>
            <a:r>
              <a:rPr lang="en-IE" sz="1600" dirty="0">
                <a:solidFill>
                  <a:schemeClr val="tx2"/>
                </a:solidFill>
              </a:rPr>
              <a:t>Give the class a getter only.</a:t>
            </a:r>
            <a:endParaRPr lang="en-IE" sz="1600" dirty="0"/>
          </a:p>
        </p:txBody>
      </p:sp>
      <p:sp>
        <p:nvSpPr>
          <p:cNvPr id="11" name="Card"/>
          <p:cNvSpPr/>
          <p:nvPr/>
        </p:nvSpPr>
        <p:spPr>
          <a:xfrm>
            <a:off x="6233008" y="2606040"/>
            <a:ext cx="5410048" cy="16002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6507328" y="2880360"/>
            <a:ext cx="640080" cy="640080"/>
          </a:xfrm>
          <a:prstGeom prst="roundRect">
            <a:avLst>
              <a:gd name="adj" fmla="val 24000"/>
            </a:avLst>
          </a:prstGeom>
          <a:solidFill>
            <a:schemeClr val="accent1">
              <a:alpha val="14000"/>
            </a:schemeClr>
          </a:solidFill>
          <a:ln/>
        </p:spPr>
      </p:sp>
      <p:pic>
        <p:nvPicPr>
          <p:cNvPr id="13" name="pencil simple icon" descr="pencil simple icon">    </p:cNvPr>
          <p:cNvPicPr>
            <a:picLocks noChangeAspect="1"/>
          </p:cNvPicPr>
          <p:nvPr/>
        </p:nvPicPr>
        <p:blipFill>
          <a:blip r:embed="rId2"/>
          <a:stretch>
            <a:fillRect/>
          </a:stretch>
        </p:blipFill>
        <p:spPr>
          <a:xfrm>
            <a:off x="6641744" y="3014777"/>
            <a:ext cx="371246" cy="371246"/>
          </a:xfrm>
          <a:prstGeom prst="rect">
            <a:avLst/>
          </a:prstGeom>
        </p:spPr>
      </p:pic>
      <p:sp>
        <p:nvSpPr>
          <p:cNvPr id="14" name="Text 9"/>
          <p:cNvSpPr txBox="1"/>
          <p:nvPr/>
        </p:nvSpPr>
        <p:spPr>
          <a:xfrm>
            <a:off x="7376008" y="2880360"/>
            <a:ext cx="4038448" cy="384048"/>
          </a:xfrm>
          <a:prstGeom prst="rect">
            <a:avLst/>
          </a:prstGeom>
          <a:noFill/>
          <a:ln/>
        </p:spPr>
        <p:txBody>
          <a:bodyPr wrap="square" lIns="0" tIns="0" rIns="0" bIns="0" rtlCol="0" anchor="t"/>
          <a:lstStyle/>
          <a:p>
            <a:pPr indent="0" marL="0">
              <a:buNone/>
            </a:pPr>
            <a:r>
              <a:rPr lang="en-IE" sz="1900" b="1" dirty="0">
                <a:solidFill>
                  <a:schemeClr val="tx1"/>
                </a:solidFill>
              </a:rPr>
              <a:t>Change, but not read</a:t>
            </a:r>
            <a:endParaRPr lang="en-IE" sz="1900" dirty="0"/>
          </a:p>
        </p:txBody>
      </p:sp>
      <p:sp>
        <p:nvSpPr>
          <p:cNvPr id="15" name="Text 10"/>
          <p:cNvSpPr txBox="1"/>
          <p:nvPr/>
        </p:nvSpPr>
        <p:spPr>
          <a:xfrm>
            <a:off x="7376008" y="3319272"/>
            <a:ext cx="4038448" cy="685800"/>
          </a:xfrm>
          <a:prstGeom prst="rect">
            <a:avLst/>
          </a:prstGeom>
          <a:noFill/>
          <a:ln/>
        </p:spPr>
        <p:txBody>
          <a:bodyPr wrap="square" lIns="0" tIns="0" rIns="0" bIns="0" rtlCol="0" anchor="t"/>
          <a:lstStyle/>
          <a:p>
            <a:pPr indent="0" marL="0">
              <a:buNone/>
            </a:pPr>
            <a:r>
              <a:rPr lang="en-IE" sz="1600" dirty="0">
                <a:solidFill>
                  <a:schemeClr val="tx2"/>
                </a:solidFill>
              </a:rPr>
              <a:t>Give the class a setter only.</a:t>
            </a:r>
            <a:endParaRPr lang="en-IE" sz="1600" dirty="0"/>
          </a:p>
        </p:txBody>
      </p:sp>
      <p:sp>
        <p:nvSpPr>
          <p:cNvPr id="16" name="Card"/>
          <p:cNvSpPr/>
          <p:nvPr/>
        </p:nvSpPr>
        <p:spPr>
          <a:xfrm>
            <a:off x="548640" y="4407408"/>
            <a:ext cx="5410048" cy="16002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822960" y="4681728"/>
            <a:ext cx="640080" cy="640080"/>
          </a:xfrm>
          <a:prstGeom prst="roundRect">
            <a:avLst>
              <a:gd name="adj" fmla="val 24000"/>
            </a:avLst>
          </a:prstGeom>
          <a:solidFill>
            <a:schemeClr val="accent3">
              <a:alpha val="14000"/>
            </a:schemeClr>
          </a:solidFill>
          <a:ln/>
        </p:spPr>
      </p:sp>
      <p:pic>
        <p:nvPicPr>
          <p:cNvPr id="18" name="shield check icon" descr="shield check icon">    </p:cNvPr>
          <p:cNvPicPr>
            <a:picLocks noChangeAspect="1"/>
          </p:cNvPicPr>
          <p:nvPr/>
        </p:nvPicPr>
        <p:blipFill>
          <a:blip r:embed="rId3"/>
          <a:stretch>
            <a:fillRect/>
          </a:stretch>
        </p:blipFill>
        <p:spPr>
          <a:xfrm>
            <a:off x="957377" y="4816145"/>
            <a:ext cx="371246" cy="371246"/>
          </a:xfrm>
          <a:prstGeom prst="rect">
            <a:avLst/>
          </a:prstGeom>
        </p:spPr>
      </p:pic>
      <p:sp>
        <p:nvSpPr>
          <p:cNvPr id="19" name="Text 13"/>
          <p:cNvSpPr txBox="1"/>
          <p:nvPr/>
        </p:nvSpPr>
        <p:spPr>
          <a:xfrm>
            <a:off x="1691640" y="4681728"/>
            <a:ext cx="4038448" cy="384048"/>
          </a:xfrm>
          <a:prstGeom prst="rect">
            <a:avLst/>
          </a:prstGeom>
          <a:noFill/>
          <a:ln/>
        </p:spPr>
        <p:txBody>
          <a:bodyPr wrap="square" lIns="0" tIns="0" rIns="0" bIns="0" rtlCol="0" anchor="t"/>
          <a:lstStyle/>
          <a:p>
            <a:pPr indent="0" marL="0">
              <a:buNone/>
            </a:pPr>
            <a:r>
              <a:rPr lang="en-IE" sz="1900" b="1" dirty="0">
                <a:solidFill>
                  <a:schemeClr val="tx1"/>
                </a:solidFill>
              </a:rPr>
              <a:t>Check values first</a:t>
            </a:r>
            <a:endParaRPr lang="en-IE" sz="1900" dirty="0"/>
          </a:p>
        </p:txBody>
      </p:sp>
      <p:sp>
        <p:nvSpPr>
          <p:cNvPr id="20" name="Text 14"/>
          <p:cNvSpPr txBox="1"/>
          <p:nvPr/>
        </p:nvSpPr>
        <p:spPr>
          <a:xfrm>
            <a:off x="1691640" y="5120640"/>
            <a:ext cx="4038448" cy="685800"/>
          </a:xfrm>
          <a:prstGeom prst="rect">
            <a:avLst/>
          </a:prstGeom>
          <a:noFill/>
          <a:ln/>
        </p:spPr>
        <p:txBody>
          <a:bodyPr wrap="square" lIns="0" tIns="0" rIns="0" bIns="0" rtlCol="0" anchor="t"/>
          <a:lstStyle/>
          <a:p>
            <a:pPr indent="0" marL="0">
              <a:buNone/>
            </a:pPr>
            <a:r>
              <a:rPr lang="en-IE" sz="1600" dirty="0">
                <a:solidFill>
                  <a:schemeClr val="tx2"/>
                </a:solidFill>
              </a:rPr>
              <a:t>A setter can check that a number is in range before saving it.</a:t>
            </a:r>
            <a:endParaRPr lang="en-IE" sz="1600" dirty="0"/>
          </a:p>
        </p:txBody>
      </p:sp>
      <p:sp>
        <p:nvSpPr>
          <p:cNvPr id="21" name="Card"/>
          <p:cNvSpPr/>
          <p:nvPr/>
        </p:nvSpPr>
        <p:spPr>
          <a:xfrm>
            <a:off x="6233008" y="4407408"/>
            <a:ext cx="5410048" cy="1600200"/>
          </a:xfrm>
          <a:prstGeom prst="roundRect">
            <a:avLst>
              <a:gd name="adj" fmla="val 6857"/>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6507328" y="4681728"/>
            <a:ext cx="640080" cy="640080"/>
          </a:xfrm>
          <a:prstGeom prst="roundRect">
            <a:avLst>
              <a:gd name="adj" fmla="val 24000"/>
            </a:avLst>
          </a:prstGeom>
          <a:solidFill>
            <a:schemeClr val="accent5">
              <a:alpha val="14000"/>
            </a:schemeClr>
          </a:solidFill>
          <a:ln/>
        </p:spPr>
      </p:sp>
      <p:pic>
        <p:nvPicPr>
          <p:cNvPr id="23" name="copy icon" descr="copy icon">    </p:cNvPr>
          <p:cNvPicPr>
            <a:picLocks noChangeAspect="1"/>
          </p:cNvPicPr>
          <p:nvPr/>
        </p:nvPicPr>
        <p:blipFill>
          <a:blip r:embed="rId4"/>
          <a:stretch>
            <a:fillRect/>
          </a:stretch>
        </p:blipFill>
        <p:spPr>
          <a:xfrm>
            <a:off x="6641744" y="4816145"/>
            <a:ext cx="371246" cy="371246"/>
          </a:xfrm>
          <a:prstGeom prst="rect">
            <a:avLst/>
          </a:prstGeom>
        </p:spPr>
      </p:pic>
      <p:sp>
        <p:nvSpPr>
          <p:cNvPr id="24" name="Text 17"/>
          <p:cNvSpPr txBox="1"/>
          <p:nvPr/>
        </p:nvSpPr>
        <p:spPr>
          <a:xfrm>
            <a:off x="7376008" y="4681728"/>
            <a:ext cx="4038448" cy="384048"/>
          </a:xfrm>
          <a:prstGeom prst="rect">
            <a:avLst/>
          </a:prstGeom>
          <a:noFill/>
          <a:ln/>
        </p:spPr>
        <p:txBody>
          <a:bodyPr wrap="square" lIns="0" tIns="0" rIns="0" bIns="0" rtlCol="0" anchor="t"/>
          <a:lstStyle/>
          <a:p>
            <a:pPr indent="0" marL="0">
              <a:buNone/>
            </a:pPr>
            <a:r>
              <a:rPr lang="en-IE" sz="1900" b="1" dirty="0">
                <a:solidFill>
                  <a:schemeClr val="tx1"/>
                </a:solidFill>
              </a:rPr>
              <a:t>Hand out a copy only</a:t>
            </a:r>
            <a:endParaRPr lang="en-IE" sz="1900" dirty="0"/>
          </a:p>
        </p:txBody>
      </p:sp>
      <p:sp>
        <p:nvSpPr>
          <p:cNvPr id="25" name="Text 18"/>
          <p:cNvSpPr txBox="1"/>
          <p:nvPr/>
        </p:nvSpPr>
        <p:spPr>
          <a:xfrm>
            <a:off x="7376008" y="5120640"/>
            <a:ext cx="4038448" cy="685800"/>
          </a:xfrm>
          <a:prstGeom prst="rect">
            <a:avLst/>
          </a:prstGeom>
          <a:noFill/>
          <a:ln/>
        </p:spPr>
        <p:txBody>
          <a:bodyPr wrap="square" lIns="0" tIns="0" rIns="0" bIns="0" rtlCol="0" anchor="t"/>
          <a:lstStyle/>
          <a:p>
            <a:pPr indent="0" marL="0">
              <a:buNone/>
            </a:pPr>
            <a:r>
              <a:rPr lang="en-IE" sz="1600" dirty="0">
                <a:solidFill>
                  <a:schemeClr val="tx2"/>
                </a:solidFill>
              </a:rPr>
              <a:t>A getter can hand out a copy, so the original value stays safe.</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34</a:t>
            </a:fld>
            <a:endParaRPr lang="en-I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When to encapsulate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Other classes should be able to read a value, but never change it. What should the class provide?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getter, but no setter</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setter, but no getter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A public attribute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Both a getter and a setter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35</a:t>
            </a:fld>
            <a:endParaRPr lang="en-I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When to encapsulate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Other classes should be able to read a value, but never change it. What should the class provide?</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A getter, but no setter</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A setter, but no getter</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A public attribute</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Both a getter and a setter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With only a getter, other classes can read the value but have no way to change it. A setter on its own (B) gives the opposite: they could change it but not read it.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36</a:t>
            </a:fld>
            <a:endParaRPr lang="en-I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a:t>
            </a:r>
            <a:r>
              <a:rPr lang="en-IE" sz="3400" b="1" dirty="0">
                <a:solidFill>
                  <a:schemeClr val="accent2"/>
                </a:solidFill>
                <a:latin typeface="Consolas" pitchFamily="34" charset="0"/>
                <a:ea typeface="Consolas" pitchFamily="34" charset="-122"/>
                <a:cs typeface="Consolas" pitchFamily="34" charset="-120"/>
              </a:rPr>
              <a:t>this</a:t>
            </a:r>
            <a:r>
              <a:rPr lang="en-IE" sz="3400" b="1" dirty="0">
                <a:solidFill>
                  <a:schemeClr val="tx1"/>
                </a:solidFill>
              </a:rPr>
              <a:t> keyword</a:t>
            </a:r>
            <a:endParaRPr lang="en-IE" sz="3400" dirty="0"/>
          </a:p>
        </p:txBody>
      </p:sp>
      <p:sp>
        <p:nvSpPr>
          <p:cNvPr id="5" name="Text 2"/>
          <p:cNvSpPr txBox="1"/>
          <p:nvPr/>
        </p:nvSpPr>
        <p:spPr>
          <a:xfrm>
            <a:off x="548640" y="1783080"/>
            <a:ext cx="539496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accent2"/>
                </a:solidFill>
                <a:latin typeface="Consolas" pitchFamily="34" charset="0"/>
                <a:ea typeface="Consolas" pitchFamily="34" charset="-122"/>
                <a:cs typeface="Consolas" pitchFamily="34" charset="-120"/>
              </a:rPr>
              <a:t>this</a:t>
            </a:r>
            <a:r>
              <a:rPr lang="en-IE" sz="1800" dirty="0">
                <a:solidFill>
                  <a:schemeClr val="tx1"/>
                </a:solidFill>
              </a:rPr>
              <a:t> lets an object refer to its own attributes and methods.</a:t>
            </a:r>
            <a:endParaRPr lang="en-IE" sz="1800" dirty="0"/>
          </a:p>
          <a:p>
            <a:pPr marL="228600" indent="-228600">
              <a:spcAft>
                <a:spcPts val="1400"/>
              </a:spcAft>
              <a:buSzPct val="100000"/>
              <a:buChar char="•"/>
            </a:pPr>
            <a:r>
              <a:rPr lang="en-IE" sz="1800" dirty="0">
                <a:solidFill>
                  <a:schemeClr val="accent2"/>
                </a:solidFill>
                <a:latin typeface="Consolas" pitchFamily="34" charset="0"/>
                <a:ea typeface="Consolas" pitchFamily="34" charset="-122"/>
                <a:cs typeface="Consolas" pitchFamily="34" charset="-120"/>
              </a:rPr>
              <a:t>this</a:t>
            </a:r>
            <a:r>
              <a:rPr lang="en-IE" sz="1800" dirty="0">
                <a:solidFill>
                  <a:schemeClr val="tx1"/>
                </a:solidFill>
              </a:rPr>
              <a:t> means the current instance.</a:t>
            </a:r>
            <a:endParaRPr lang="en-IE" sz="1800" dirty="0"/>
          </a:p>
          <a:p>
            <a:pPr marL="228600" indent="-228600">
              <a:spcAft>
                <a:spcPts val="1400"/>
              </a:spcAft>
              <a:buSzPct val="100000"/>
              <a:buChar char="•"/>
            </a:pPr>
            <a:r>
              <a:rPr lang="en-IE" sz="1800" dirty="0">
                <a:solidFill>
                  <a:schemeClr val="tx1"/>
                </a:solidFill>
              </a:rPr>
              <a:t>We can only use it inside the class. Outside the class, we use the object’s variable name.</a:t>
            </a:r>
            <a:endParaRPr lang="en-IE" sz="1800" dirty="0"/>
          </a:p>
          <a:p>
            <a:pPr marL="228600" indent="-228600">
              <a:buSzPct val="100000"/>
              <a:buChar char="•"/>
            </a:pPr>
            <a:r>
              <a:rPr lang="en-IE" sz="1800" dirty="0">
                <a:solidFill>
                  <a:schemeClr val="tx1"/>
                </a:solidFill>
              </a:rPr>
              <a:t>It lets a parameter have the same name as an attribute and still be told apart.</a:t>
            </a:r>
            <a:endParaRPr lang="en-IE" sz="1800" dirty="0"/>
          </a:p>
        </p:txBody>
      </p:sp>
      <p:sp>
        <p:nvSpPr>
          <p:cNvPr id="6" name="Student class card"/>
          <p:cNvSpPr/>
          <p:nvPr/>
        </p:nvSpPr>
        <p:spPr>
          <a:xfrm>
            <a:off x="6263640" y="1783080"/>
            <a:ext cx="5379415" cy="3012948"/>
          </a:xfrm>
          <a:prstGeom prst="roundRect">
            <a:avLst>
              <a:gd name="adj" fmla="val 3642"/>
            </a:avLst>
          </a:prstGeom>
          <a:solidFill>
            <a:schemeClr val="tx1"/>
          </a:solidFill>
          <a:ln/>
          <a:effectLst>
            <a:outerShdw sx="100000" sy="100000" kx="0" ky="0" algn="bl" rotWithShape="0" blurRad="114300" dist="31750" dir="5400000">
              <a:srgbClr val="1D2433">
                <a:alpha val="12000"/>
              </a:srgbClr>
            </a:outerShdw>
          </a:effectLst>
        </p:spPr>
      </p:sp>
      <p:sp>
        <p:nvSpPr>
          <p:cNvPr id="7" name="Student class language"/>
          <p:cNvSpPr txBox="1"/>
          <p:nvPr/>
        </p:nvSpPr>
        <p:spPr>
          <a:xfrm>
            <a:off x="6537960" y="1901952"/>
            <a:ext cx="483077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8" name="Student class text"/>
          <p:cNvSpPr txBox="1"/>
          <p:nvPr/>
        </p:nvSpPr>
        <p:spPr>
          <a:xfrm>
            <a:off x="6537960" y="2276856"/>
            <a:ext cx="4830775" cy="2318004"/>
          </a:xfrm>
          <a:prstGeom prst="rect">
            <a:avLst/>
          </a:prstGeom>
          <a:noFill/>
          <a:ln/>
        </p:spPr>
        <p:txBody>
          <a:bodyPr wrap="square" lIns="0" tIns="0" rIns="0" bIns="0" rtlCol="0" anchor="t"/>
          <a:lstStyle/>
          <a:p>
            <a:pPr indent="0" marL="0">
              <a:lnSpc>
                <a:spcPts val="1980"/>
              </a:lnSpc>
              <a:buNone/>
            </a:pPr>
            <a:r>
              <a:rPr lang="en-IE" sz="1500" dirty="0">
                <a:solidFill>
                  <a:srgbClr val="FF9F5A"/>
                </a:solidFill>
                <a:latin typeface="Consolas" pitchFamily="34" charset="0"/>
                <a:ea typeface="Consolas" pitchFamily="34" charset="-122"/>
                <a:cs typeface="Consolas" pitchFamily="34" charset="-120"/>
              </a:rPr>
              <a:t>class</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6CC4E8"/>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private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id = </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private</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age = </a:t>
            </a:r>
            <a:r>
              <a:rPr lang="en-IE" sz="1500" dirty="0">
                <a:solidFill>
                  <a:srgbClr val="F2C14E"/>
                </a:solidFill>
                <a:latin typeface="Consolas" pitchFamily="34" charset="0"/>
                <a:ea typeface="Consolas" pitchFamily="34" charset="-122"/>
                <a:cs typeface="Consolas" pitchFamily="34" charset="-120"/>
              </a:rPr>
              <a:t>0</a:t>
            </a:r>
            <a:r>
              <a:rPr lang="en-IE" sz="1500" dirty="0">
                <a:solidFill>
                  <a:srgbClr val="E6EBF2"/>
                </a:solidFill>
                <a:latin typeface="Consolas" pitchFamily="34" charset="0"/>
                <a:ea typeface="Consolas" pitchFamily="34" charset="-122"/>
                <a:cs typeface="Consolas" pitchFamily="34" charset="-120"/>
              </a:rPr>
              <a:t>;</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public</a:t>
            </a: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C9B0FF"/>
                </a:solidFill>
                <a:latin typeface="Consolas" pitchFamily="34" charset="0"/>
                <a:ea typeface="Consolas" pitchFamily="34" charset="-122"/>
                <a:cs typeface="Consolas" pitchFamily="34" charset="-120"/>
              </a:rPr>
              <a:t>Student</a:t>
            </a:r>
            <a:r>
              <a:rPr lang="en-IE" sz="1500" dirty="0">
                <a:solidFill>
                  <a:srgbClr val="E6EBF2"/>
                </a:solidFill>
                <a:latin typeface="Consolas" pitchFamily="34" charset="0"/>
                <a:ea typeface="Consolas" pitchFamily="34" charset="-122"/>
                <a:cs typeface="Consolas" pitchFamily="34" charset="-120"/>
              </a:rPr>
              <a:t>(</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id, </a:t>
            </a:r>
            <a:r>
              <a:rPr lang="en-IE" sz="1500" dirty="0">
                <a:solidFill>
                  <a:srgbClr val="FF9F5A"/>
                </a:solidFill>
                <a:latin typeface="Consolas" pitchFamily="34" charset="0"/>
                <a:ea typeface="Consolas" pitchFamily="34" charset="-122"/>
                <a:cs typeface="Consolas" pitchFamily="34" charset="-120"/>
              </a:rPr>
              <a:t>int</a:t>
            </a:r>
            <a:r>
              <a:rPr lang="en-IE" sz="1500" dirty="0">
                <a:solidFill>
                  <a:srgbClr val="E6EBF2"/>
                </a:solidFill>
                <a:latin typeface="Consolas" pitchFamily="34" charset="0"/>
                <a:ea typeface="Consolas" pitchFamily="34" charset="-122"/>
                <a:cs typeface="Consolas" pitchFamily="34" charset="-120"/>
              </a:rPr>
              <a:t> age)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.id = id;</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r>
              <a:rPr lang="en-IE" sz="1500" dirty="0">
                <a:solidFill>
                  <a:srgbClr val="FF9F5A"/>
                </a:solidFill>
                <a:latin typeface="Consolas" pitchFamily="34" charset="0"/>
                <a:ea typeface="Consolas" pitchFamily="34" charset="-122"/>
                <a:cs typeface="Consolas" pitchFamily="34" charset="-120"/>
              </a:rPr>
              <a:t>this</a:t>
            </a:r>
            <a:r>
              <a:rPr lang="en-IE" sz="1500" dirty="0">
                <a:solidFill>
                  <a:srgbClr val="E6EBF2"/>
                </a:solidFill>
                <a:latin typeface="Consolas" pitchFamily="34" charset="0"/>
                <a:ea typeface="Consolas" pitchFamily="34" charset="-122"/>
                <a:cs typeface="Consolas" pitchFamily="34" charset="-120"/>
              </a:rPr>
              <a:t>.age = age;</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    }</a:t>
            </a:r>
            <a:endParaRPr lang="en-IE" sz="1500" dirty="0"/>
          </a:p>
          <a:p>
            <a:pPr indent="0" marL="0">
              <a:lnSpc>
                <a:spcPts val="1980"/>
              </a:lnSpc>
              <a:buNone/>
            </a:pPr>
            <a:r>
              <a:rPr lang="en-IE" sz="1500" dirty="0">
                <a:solidFill>
                  <a:srgbClr val="E6EBF2"/>
                </a:solidFill>
                <a:latin typeface="Consolas" pitchFamily="34" charset="0"/>
                <a:ea typeface="Consolas" pitchFamily="34" charset="-122"/>
                <a:cs typeface="Consolas" pitchFamily="34" charset="-120"/>
              </a:rPr>
              <a:t>}</a:t>
            </a:r>
            <a:endParaRPr lang="en-IE" sz="1500" dirty="0"/>
          </a:p>
        </p:txBody>
      </p:sp>
      <p:sp>
        <p:nvSpPr>
          <p:cNvPr id="9" name="Part this.id"/>
          <p:cNvSpPr/>
          <p:nvPr/>
        </p:nvSpPr>
        <p:spPr>
          <a:xfrm>
            <a:off x="6263640" y="5070348"/>
            <a:ext cx="2468880" cy="502920"/>
          </a:xfrm>
          <a:prstGeom prst="roundRect">
            <a:avLst>
              <a:gd name="adj" fmla="val 18182"/>
            </a:avLst>
          </a:prstGeom>
          <a:solidFill>
            <a:schemeClr val="accent4">
              <a:alpha val="14000"/>
            </a:schemeClr>
          </a:solidFill>
          <a:ln w="19050">
            <a:solidFill>
              <a:schemeClr val="accent4"/>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this.id</a:t>
            </a:r>
            <a:endParaRPr lang="en-IE" sz="1800" dirty="0"/>
          </a:p>
        </p:txBody>
      </p:sp>
      <p:sp>
        <p:nvSpPr>
          <p:cNvPr id="10" name="Text 7"/>
          <p:cNvSpPr txBox="1"/>
          <p:nvPr/>
        </p:nvSpPr>
        <p:spPr>
          <a:xfrm>
            <a:off x="6263640" y="5637276"/>
            <a:ext cx="2468880" cy="320040"/>
          </a:xfrm>
          <a:prstGeom prst="rect">
            <a:avLst/>
          </a:prstGeom>
          <a:noFill/>
          <a:ln/>
        </p:spPr>
        <p:txBody>
          <a:bodyPr wrap="square" lIns="0" tIns="0" rIns="0" bIns="0" rtlCol="0" anchor="t"/>
          <a:lstStyle/>
          <a:p>
            <a:pPr algn="ctr" indent="0" marL="0">
              <a:buNone/>
            </a:pPr>
            <a:r>
              <a:rPr lang="en-IE" sz="1400" dirty="0">
                <a:solidFill>
                  <a:schemeClr val="tx2"/>
                </a:solidFill>
              </a:rPr>
              <a:t>the object’s own attribute</a:t>
            </a:r>
            <a:endParaRPr lang="en-IE" sz="1400" dirty="0"/>
          </a:p>
        </p:txBody>
      </p:sp>
      <p:sp>
        <p:nvSpPr>
          <p:cNvPr id="11" name="Part id"/>
          <p:cNvSpPr/>
          <p:nvPr/>
        </p:nvSpPr>
        <p:spPr>
          <a:xfrm>
            <a:off x="8961120" y="5070348"/>
            <a:ext cx="2468880" cy="502920"/>
          </a:xfrm>
          <a:prstGeom prst="roundRect">
            <a:avLst>
              <a:gd name="adj" fmla="val 18182"/>
            </a:avLst>
          </a:prstGeom>
          <a:solidFill>
            <a:schemeClr val="accent1">
              <a:alpha val="14000"/>
            </a:schemeClr>
          </a:solidFill>
          <a:ln w="19050">
            <a:solidFill>
              <a:schemeClr val="accent1"/>
            </a:solidFill>
          </a:ln>
        </p:spPr>
        <p:txBody>
          <a:bodyPr wrap="square" lIns="0" tIns="0" rIns="0" bIns="0" rtlCol="0" anchor="ctr"/>
          <a:lstStyle/>
          <a:p>
            <a:pPr algn="ctr" indent="0" marL="0">
              <a:buNone/>
            </a:pPr>
            <a:r>
              <a:rPr lang="en-IE" sz="1800" b="1" dirty="0">
                <a:solidFill>
                  <a:schemeClr val="tx1"/>
                </a:solidFill>
                <a:latin typeface="Consolas" pitchFamily="34" charset="0"/>
                <a:ea typeface="Consolas" pitchFamily="34" charset="-122"/>
                <a:cs typeface="Consolas" pitchFamily="34" charset="-120"/>
              </a:rPr>
              <a:t>id</a:t>
            </a:r>
            <a:endParaRPr lang="en-IE" sz="1800" dirty="0"/>
          </a:p>
        </p:txBody>
      </p:sp>
      <p:sp>
        <p:nvSpPr>
          <p:cNvPr id="12" name="Text 9"/>
          <p:cNvSpPr txBox="1"/>
          <p:nvPr/>
        </p:nvSpPr>
        <p:spPr>
          <a:xfrm>
            <a:off x="8961120" y="5637276"/>
            <a:ext cx="2468880" cy="320040"/>
          </a:xfrm>
          <a:prstGeom prst="rect">
            <a:avLst/>
          </a:prstGeom>
          <a:noFill/>
          <a:ln/>
        </p:spPr>
        <p:txBody>
          <a:bodyPr wrap="square" lIns="0" tIns="0" rIns="0" bIns="0" rtlCol="0" anchor="t"/>
          <a:lstStyle/>
          <a:p>
            <a:pPr algn="ctr" indent="0" marL="0">
              <a:buNone/>
            </a:pPr>
            <a:r>
              <a:rPr lang="en-IE" sz="1400" dirty="0">
                <a:solidFill>
                  <a:schemeClr val="tx2"/>
                </a:solidFill>
              </a:rPr>
              <a:t>the parameter passed in</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37</a:t>
            </a:fld>
            <a:endParaRPr lang="en-I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11</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this keyword</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this constructor, what does </a:t>
            </a:r>
            <a:r>
              <a:rPr lang="en-IE" sz="2800" b="1" dirty="0">
                <a:solidFill>
                  <a:schemeClr val="accent2"/>
                </a:solidFill>
                <a:latin typeface="Consolas" pitchFamily="34" charset="0"/>
                <a:ea typeface="Consolas" pitchFamily="34" charset="-122"/>
                <a:cs typeface="Consolas" pitchFamily="34" charset="-120"/>
              </a:rPr>
              <a:t>this.age</a:t>
            </a:r>
            <a:r>
              <a:rPr lang="en-IE" sz="2800" b="1" dirty="0">
                <a:solidFill>
                  <a:schemeClr val="tx1"/>
                </a:solidFill>
              </a:rPr>
              <a:t> refer to?</a:t>
            </a:r>
            <a:endParaRPr lang="en-IE" sz="2800" dirty="0"/>
          </a:p>
        </p:txBody>
      </p:sp>
      <p:sp>
        <p:nvSpPr>
          <p:cNvPr id="5" name="Question code card"/>
          <p:cNvSpPr/>
          <p:nvPr/>
        </p:nvSpPr>
        <p:spPr>
          <a:xfrm>
            <a:off x="548640" y="1965960"/>
            <a:ext cx="11094415" cy="1463040"/>
          </a:xfrm>
          <a:prstGeom prst="roundRect">
            <a:avLst>
              <a:gd name="adj" fmla="val 750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1060704"/>
          </a:xfrm>
          <a:prstGeom prst="rect">
            <a:avLst/>
          </a:prstGeom>
          <a:noFill/>
          <a:ln/>
        </p:spPr>
        <p:txBody>
          <a:bodyPr wrap="square" lIns="0" tIns="0" rIns="0" bIns="0" rtlCol="0" anchor="t"/>
          <a:lstStyle/>
          <a:p>
            <a:pPr indent="0" marL="0">
              <a:lnSpc>
                <a:spcPts val="2640"/>
              </a:lnSpc>
              <a:buNone/>
            </a:pPr>
            <a:r>
              <a:rPr lang="en-IE" sz="2000" dirty="0">
                <a:solidFill>
                  <a:srgbClr val="FF9F5A"/>
                </a:solidFill>
                <a:latin typeface="Consolas" pitchFamily="34" charset="0"/>
                <a:ea typeface="Consolas" pitchFamily="34" charset="-122"/>
                <a:cs typeface="Consolas" pitchFamily="34" charset="-120"/>
              </a:rPr>
              <a:t>public</a:t>
            </a: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C9B0FF"/>
                </a:solidFill>
                <a:latin typeface="Consolas" pitchFamily="34" charset="0"/>
                <a:ea typeface="Consolas" pitchFamily="34" charset="-122"/>
                <a:cs typeface="Consolas" pitchFamily="34" charset="-120"/>
              </a:rPr>
              <a:t>Student</a:t>
            </a:r>
            <a:r>
              <a:rPr lang="en-IE" sz="2000" dirty="0">
                <a:solidFill>
                  <a:srgbClr val="E6EBF2"/>
                </a:solidFill>
                <a:latin typeface="Consolas" pitchFamily="34" charset="0"/>
                <a:ea typeface="Consolas" pitchFamily="34" charset="-122"/>
                <a:cs typeface="Consolas" pitchFamily="34" charset="-120"/>
              </a:rPr>
              <a:t>(</a:t>
            </a:r>
            <a:r>
              <a:rPr lang="en-IE" sz="2000" dirty="0">
                <a:solidFill>
                  <a:srgbClr val="FF9F5A"/>
                </a:solidFill>
                <a:latin typeface="Consolas" pitchFamily="34" charset="0"/>
                <a:ea typeface="Consolas" pitchFamily="34" charset="-122"/>
                <a:cs typeface="Consolas" pitchFamily="34" charset="-120"/>
              </a:rPr>
              <a:t>int</a:t>
            </a:r>
            <a:r>
              <a:rPr lang="en-IE" sz="2000" dirty="0">
                <a:solidFill>
                  <a:srgbClr val="E6EBF2"/>
                </a:solidFill>
                <a:latin typeface="Consolas" pitchFamily="34" charset="0"/>
                <a:ea typeface="Consolas" pitchFamily="34" charset="-122"/>
                <a:cs typeface="Consolas" pitchFamily="34" charset="-120"/>
              </a:rPr>
              <a:t> age) {</a:t>
            </a:r>
            <a:endParaRPr lang="en-IE" sz="2000" dirty="0"/>
          </a:p>
          <a:p>
            <a:pPr indent="0" marL="0">
              <a:lnSpc>
                <a:spcPts val="2640"/>
              </a:lnSpc>
              <a:buNone/>
            </a:pPr>
            <a:r>
              <a:rPr lang="en-IE" sz="2000" dirty="0">
                <a:solidFill>
                  <a:srgbClr val="E6EBF2"/>
                </a:solidFill>
                <a:latin typeface="Consolas" pitchFamily="34" charset="0"/>
                <a:ea typeface="Consolas" pitchFamily="34" charset="-122"/>
                <a:cs typeface="Consolas" pitchFamily="34" charset="-120"/>
              </a:rPr>
              <a:t>    </a:t>
            </a:r>
            <a:r>
              <a:rPr lang="en-IE" sz="2000" dirty="0">
                <a:solidFill>
                  <a:srgbClr val="FF9F5A"/>
                </a:solidFill>
                <a:latin typeface="Consolas" pitchFamily="34" charset="0"/>
                <a:ea typeface="Consolas" pitchFamily="34" charset="-122"/>
                <a:cs typeface="Consolas" pitchFamily="34" charset="-120"/>
              </a:rPr>
              <a:t>this</a:t>
            </a:r>
            <a:r>
              <a:rPr lang="en-IE" sz="2000" dirty="0">
                <a:solidFill>
                  <a:srgbClr val="E6EBF2"/>
                </a:solidFill>
                <a:latin typeface="Consolas" pitchFamily="34" charset="0"/>
                <a:ea typeface="Consolas" pitchFamily="34" charset="-122"/>
                <a:cs typeface="Consolas" pitchFamily="34" charset="-120"/>
              </a:rPr>
              <a:t>.age = age;</a:t>
            </a:r>
            <a:endParaRPr lang="en-IE" sz="2000" dirty="0"/>
          </a:p>
          <a:p>
            <a:pPr indent="0" marL="0">
              <a:lnSpc>
                <a:spcPts val="2640"/>
              </a:lnSpc>
              <a:buNone/>
            </a:pPr>
            <a:r>
              <a:rPr lang="en-IE" sz="2000" dirty="0">
                <a:solidFill>
                  <a:srgbClr val="E6EBF2"/>
                </a:solidFill>
                <a:latin typeface="Consolas" pitchFamily="34" charset="0"/>
                <a:ea typeface="Consolas" pitchFamily="34" charset="-122"/>
                <a:cs typeface="Consolas" pitchFamily="34" charset="-120"/>
              </a:rPr>
              <a:t>}</a:t>
            </a:r>
            <a:endParaRPr lang="en-IE" sz="2000" dirty="0"/>
          </a:p>
        </p:txBody>
      </p:sp>
      <p:sp>
        <p:nvSpPr>
          <p:cNvPr id="7" name="Option A"/>
          <p:cNvSpPr/>
          <p:nvPr/>
        </p:nvSpPr>
        <p:spPr>
          <a:xfrm>
            <a:off x="548640" y="37490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9456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9" name="Option A text"/>
          <p:cNvSpPr txBox="1"/>
          <p:nvPr/>
        </p:nvSpPr>
        <p:spPr>
          <a:xfrm>
            <a:off x="1645920" y="379476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age parameter that was passed in</a:t>
            </a:r>
            <a:endParaRPr lang="en-IE" sz="2000" dirty="0"/>
          </a:p>
        </p:txBody>
      </p:sp>
      <p:sp>
        <p:nvSpPr>
          <p:cNvPr id="10" name="Option B"/>
          <p:cNvSpPr/>
          <p:nvPr/>
        </p:nvSpPr>
        <p:spPr>
          <a:xfrm>
            <a:off x="6233008" y="374904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328" y="39456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2" name="Option B text"/>
          <p:cNvSpPr txBox="1"/>
          <p:nvPr/>
        </p:nvSpPr>
        <p:spPr>
          <a:xfrm>
            <a:off x="7330288" y="379476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current object’s own age attribute</a:t>
            </a:r>
            <a:endParaRPr lang="en-IE" sz="2000" dirty="0"/>
          </a:p>
        </p:txBody>
      </p:sp>
      <p:sp>
        <p:nvSpPr>
          <p:cNvPr id="13" name="Option C"/>
          <p:cNvSpPr/>
          <p:nvPr/>
        </p:nvSpPr>
        <p:spPr>
          <a:xfrm>
            <a:off x="548640" y="4937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134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5" name="Option C text"/>
          <p:cNvSpPr txBox="1"/>
          <p:nvPr/>
        </p:nvSpPr>
        <p:spPr>
          <a:xfrm>
            <a:off x="1645920" y="4983480"/>
            <a:ext cx="4038448" cy="868680"/>
          </a:xfrm>
          <a:prstGeom prst="rect">
            <a:avLst/>
          </a:prstGeom>
          <a:noFill/>
          <a:ln/>
        </p:spPr>
        <p:txBody>
          <a:bodyPr wrap="square" lIns="0" tIns="0" rIns="0" bIns="0" rtlCol="0" anchor="ctr"/>
          <a:lstStyle/>
          <a:p>
            <a:pPr indent="0" marL="0">
              <a:buNone/>
            </a:pPr>
            <a:r>
              <a:rPr lang="en-IE" sz="2000" dirty="0">
                <a:solidFill>
                  <a:schemeClr val="tx1"/>
                </a:solidFill>
              </a:rPr>
              <a:t>A static age that is shared by every object</a:t>
            </a:r>
            <a:endParaRPr lang="en-IE" sz="2000" dirty="0"/>
          </a:p>
        </p:txBody>
      </p:sp>
      <p:sp>
        <p:nvSpPr>
          <p:cNvPr id="16" name="Option D"/>
          <p:cNvSpPr/>
          <p:nvPr/>
        </p:nvSpPr>
        <p:spPr>
          <a:xfrm>
            <a:off x="6233008" y="4937760"/>
            <a:ext cx="5410048"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328" y="513435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8" name="Option D text"/>
          <p:cNvSpPr txBox="1"/>
          <p:nvPr/>
        </p:nvSpPr>
        <p:spPr>
          <a:xfrm>
            <a:off x="7330288" y="4983480"/>
            <a:ext cx="4038448" cy="868680"/>
          </a:xfrm>
          <a:prstGeom prst="rect">
            <a:avLst/>
          </a:prstGeom>
          <a:noFill/>
          <a:ln/>
        </p:spPr>
        <p:txBody>
          <a:bodyPr wrap="square" lIns="0" tIns="0" rIns="0" bIns="0" rtlCol="0" anchor="ctr"/>
          <a:lstStyle/>
          <a:p>
            <a:pPr indent="0" marL="0">
              <a:buNone/>
            </a:pPr>
            <a:r>
              <a:rPr lang="en-IE" sz="2000" dirty="0">
                <a:solidFill>
                  <a:schemeClr val="tx1"/>
                </a:solidFill>
              </a:rPr>
              <a:t>The age of the object that was made before it</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38</a:t>
            </a:fld>
            <a:endParaRPr lang="en-I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11</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The this keyword</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this constructor, what does </a:t>
            </a:r>
            <a:r>
              <a:rPr lang="en-IE" sz="2000" b="1" dirty="0">
                <a:solidFill>
                  <a:schemeClr val="tx2"/>
                </a:solidFill>
                <a:latin typeface="Consolas" pitchFamily="34" charset="0"/>
                <a:ea typeface="Consolas" pitchFamily="34" charset="-122"/>
                <a:cs typeface="Consolas" pitchFamily="34" charset="-120"/>
              </a:rPr>
              <a:t>this.age</a:t>
            </a:r>
            <a:r>
              <a:rPr lang="en-IE" sz="2000" b="1" dirty="0">
                <a:solidFill>
                  <a:schemeClr val="tx2"/>
                </a:solidFill>
              </a:rPr>
              <a:t> refer to?</a:t>
            </a:r>
            <a:endParaRPr lang="en-IE" sz="2000" dirty="0"/>
          </a:p>
        </p:txBody>
      </p:sp>
      <p:sp>
        <p:nvSpPr>
          <p:cNvPr id="5" name="Answer code card"/>
          <p:cNvSpPr/>
          <p:nvPr/>
        </p:nvSpPr>
        <p:spPr>
          <a:xfrm>
            <a:off x="548640" y="1874520"/>
            <a:ext cx="5623560" cy="1162050"/>
          </a:xfrm>
          <a:prstGeom prst="roundRect">
            <a:avLst>
              <a:gd name="adj" fmla="val 944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597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age)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this</a:t>
            </a:r>
            <a:r>
              <a:rPr lang="en-IE" sz="1400" dirty="0">
                <a:solidFill>
                  <a:srgbClr val="E6EBF2"/>
                </a:solidFill>
                <a:latin typeface="Consolas" pitchFamily="34" charset="0"/>
                <a:ea typeface="Consolas" pitchFamily="34" charset="-122"/>
                <a:cs typeface="Consolas" pitchFamily="34" charset="-120"/>
              </a:rPr>
              <a:t>.age = age;</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7" name="Option A"/>
          <p:cNvSpPr/>
          <p:nvPr/>
        </p:nvSpPr>
        <p:spPr>
          <a:xfrm>
            <a:off x="548640" y="3265170"/>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5194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9" name="Option A text"/>
          <p:cNvSpPr txBox="1"/>
          <p:nvPr/>
        </p:nvSpPr>
        <p:spPr>
          <a:xfrm>
            <a:off x="1371600" y="3265170"/>
            <a:ext cx="4572000" cy="594170"/>
          </a:xfrm>
          <a:prstGeom prst="rect">
            <a:avLst/>
          </a:prstGeom>
          <a:noFill/>
          <a:ln/>
        </p:spPr>
        <p:txBody>
          <a:bodyPr wrap="square" lIns="0" tIns="0" rIns="0" bIns="0" rtlCol="0" anchor="ctr"/>
          <a:lstStyle/>
          <a:p>
            <a:pPr indent="0" marL="0">
              <a:buNone/>
            </a:pPr>
            <a:r>
              <a:rPr lang="en-IE" sz="1700" dirty="0">
                <a:solidFill>
                  <a:schemeClr val="tx2"/>
                </a:solidFill>
              </a:rPr>
              <a:t>The age parameter that was passed in</a:t>
            </a:r>
            <a:endParaRPr lang="en-IE" sz="1700" dirty="0"/>
          </a:p>
        </p:txBody>
      </p:sp>
      <p:sp>
        <p:nvSpPr>
          <p:cNvPr id="10" name="Option B (correct)"/>
          <p:cNvSpPr/>
          <p:nvPr/>
        </p:nvSpPr>
        <p:spPr>
          <a:xfrm>
            <a:off x="548640" y="4005644"/>
            <a:ext cx="5623560" cy="594170"/>
          </a:xfrm>
          <a:prstGeom prst="roundRect">
            <a:avLst>
              <a:gd name="adj" fmla="val 18467"/>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0924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2" name="Option B text"/>
          <p:cNvSpPr txBox="1"/>
          <p:nvPr/>
        </p:nvSpPr>
        <p:spPr>
          <a:xfrm>
            <a:off x="1371600" y="4005644"/>
            <a:ext cx="4142232" cy="594170"/>
          </a:xfrm>
          <a:prstGeom prst="rect">
            <a:avLst/>
          </a:prstGeom>
          <a:noFill/>
          <a:ln/>
        </p:spPr>
        <p:txBody>
          <a:bodyPr wrap="square" lIns="0" tIns="0" rIns="0" bIns="0" rtlCol="0" anchor="ctr"/>
          <a:lstStyle/>
          <a:p>
            <a:pPr indent="0" marL="0">
              <a:buNone/>
            </a:pPr>
            <a:r>
              <a:rPr lang="en-IE" sz="1700" b="1" dirty="0">
                <a:solidFill>
                  <a:schemeClr val="bg1"/>
                </a:solidFill>
              </a:rPr>
              <a:t>The current object’s own age attribute</a:t>
            </a:r>
            <a:endParaRPr lang="en-IE" sz="1700" dirty="0"/>
          </a:p>
        </p:txBody>
      </p:sp>
      <p:pic>
        <p:nvPicPr>
          <p:cNvPr id="13" name="Correct mark" descr="Correct mark">    </p:cNvPr>
          <p:cNvPicPr>
            <a:picLocks noChangeAspect="1"/>
          </p:cNvPicPr>
          <p:nvPr/>
        </p:nvPicPr>
        <p:blipFill>
          <a:blip r:embed="rId1"/>
          <a:stretch>
            <a:fillRect/>
          </a:stretch>
        </p:blipFill>
        <p:spPr>
          <a:xfrm>
            <a:off x="5623560" y="4119848"/>
            <a:ext cx="365760" cy="365760"/>
          </a:xfrm>
          <a:prstGeom prst="rect">
            <a:avLst/>
          </a:prstGeom>
        </p:spPr>
      </p:pic>
      <p:sp>
        <p:nvSpPr>
          <p:cNvPr id="14" name="Option C"/>
          <p:cNvSpPr/>
          <p:nvPr/>
        </p:nvSpPr>
        <p:spPr>
          <a:xfrm>
            <a:off x="548640" y="4746117"/>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3289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746117"/>
            <a:ext cx="4572000" cy="594170"/>
          </a:xfrm>
          <a:prstGeom prst="rect">
            <a:avLst/>
          </a:prstGeom>
          <a:noFill/>
          <a:ln/>
        </p:spPr>
        <p:txBody>
          <a:bodyPr wrap="square" lIns="0" tIns="0" rIns="0" bIns="0" rtlCol="0" anchor="ctr"/>
          <a:lstStyle/>
          <a:p>
            <a:pPr indent="0" marL="0">
              <a:buNone/>
            </a:pPr>
            <a:r>
              <a:rPr lang="en-IE" sz="1700" dirty="0">
                <a:solidFill>
                  <a:schemeClr val="tx2"/>
                </a:solidFill>
              </a:rPr>
              <a:t>A static age that is shared by every object</a:t>
            </a:r>
            <a:endParaRPr lang="en-IE" sz="1700" dirty="0"/>
          </a:p>
        </p:txBody>
      </p:sp>
      <p:sp>
        <p:nvSpPr>
          <p:cNvPr id="17" name="Option D"/>
          <p:cNvSpPr/>
          <p:nvPr/>
        </p:nvSpPr>
        <p:spPr>
          <a:xfrm>
            <a:off x="548640" y="5486591"/>
            <a:ext cx="5623560" cy="594170"/>
          </a:xfrm>
          <a:prstGeom prst="roundRect">
            <a:avLst>
              <a:gd name="adj" fmla="val 18467"/>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3363"/>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86591"/>
            <a:ext cx="4572000" cy="594170"/>
          </a:xfrm>
          <a:prstGeom prst="rect">
            <a:avLst/>
          </a:prstGeom>
          <a:noFill/>
          <a:ln/>
        </p:spPr>
        <p:txBody>
          <a:bodyPr wrap="square" lIns="0" tIns="0" rIns="0" bIns="0" rtlCol="0" anchor="ctr"/>
          <a:lstStyle/>
          <a:p>
            <a:pPr indent="0" marL="0">
              <a:buNone/>
            </a:pPr>
            <a:r>
              <a:rPr lang="en-IE" sz="1700" dirty="0">
                <a:solidFill>
                  <a:schemeClr val="tx2"/>
                </a:solidFill>
              </a:rPr>
              <a:t>The age of the object that was made before it</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this</a:t>
            </a:r>
            <a:r>
              <a:rPr lang="en-IE" sz="1800" dirty="0">
                <a:solidFill>
                  <a:schemeClr val="tx1"/>
                </a:solidFill>
              </a:rPr>
              <a:t> means the current object. So </a:t>
            </a:r>
            <a:r>
              <a:rPr lang="en-IE" sz="1800" dirty="0">
                <a:solidFill>
                  <a:schemeClr val="accent2"/>
                </a:solidFill>
                <a:latin typeface="Consolas" pitchFamily="34" charset="0"/>
                <a:ea typeface="Consolas" pitchFamily="34" charset="-122"/>
                <a:cs typeface="Consolas" pitchFamily="34" charset="-120"/>
              </a:rPr>
              <a:t>this.age</a:t>
            </a:r>
            <a:r>
              <a:rPr lang="en-IE" sz="1800" dirty="0">
                <a:solidFill>
                  <a:schemeClr val="tx1"/>
                </a:solidFill>
              </a:rPr>
              <a:t> is the object’s own attribute, and </a:t>
            </a:r>
            <a:r>
              <a:rPr lang="en-IE" sz="1800" dirty="0">
                <a:solidFill>
                  <a:schemeClr val="accent2"/>
                </a:solidFill>
                <a:latin typeface="Consolas" pitchFamily="34" charset="0"/>
                <a:ea typeface="Consolas" pitchFamily="34" charset="-122"/>
                <a:cs typeface="Consolas" pitchFamily="34" charset="-120"/>
              </a:rPr>
              <a:t>age</a:t>
            </a:r>
            <a:r>
              <a:rPr lang="en-IE" sz="1800" dirty="0">
                <a:solidFill>
                  <a:schemeClr val="tx1"/>
                </a:solidFill>
              </a:rPr>
              <a:t> on its own is the parameter. The line copies the parameter into the attribute.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39</a:t>
            </a:fld>
            <a:endParaRPr lang="en-I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GETTERS AND SETTERS</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Why encapsulate?</a:t>
            </a:r>
            <a:endParaRPr lang="en-IE" sz="3400" dirty="0"/>
          </a:p>
        </p:txBody>
      </p:sp>
      <p:sp>
        <p:nvSpPr>
          <p:cNvPr id="5" name="Card"/>
          <p:cNvSpPr/>
          <p:nvPr/>
        </p:nvSpPr>
        <p:spPr>
          <a:xfrm>
            <a:off x="548640" y="1783080"/>
            <a:ext cx="3515258" cy="2971800"/>
          </a:xfrm>
          <a:prstGeom prst="roundRect">
            <a:avLst>
              <a:gd name="adj" fmla="val 369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75688"/>
            <a:ext cx="713232" cy="713232"/>
          </a:xfrm>
          <a:prstGeom prst="roundRect">
            <a:avLst>
              <a:gd name="adj" fmla="val 24000"/>
            </a:avLst>
          </a:prstGeom>
          <a:solidFill>
            <a:schemeClr val="accent1">
              <a:alpha val="14000"/>
            </a:schemeClr>
          </a:solidFill>
          <a:ln/>
        </p:spPr>
      </p:sp>
      <p:pic>
        <p:nvPicPr>
          <p:cNvPr id="7" name="wrench icon" descr="wrench icon">    </p:cNvPr>
          <p:cNvPicPr>
            <a:picLocks noChangeAspect="1"/>
          </p:cNvPicPr>
          <p:nvPr/>
        </p:nvPicPr>
        <p:blipFill>
          <a:blip r:embed="rId1"/>
          <a:stretch>
            <a:fillRect/>
          </a:stretch>
        </p:blipFill>
        <p:spPr>
          <a:xfrm>
            <a:off x="972739" y="2225467"/>
            <a:ext cx="413675" cy="413675"/>
          </a:xfrm>
          <a:prstGeom prst="rect">
            <a:avLst/>
          </a:prstGeom>
        </p:spPr>
      </p:pic>
      <p:sp>
        <p:nvSpPr>
          <p:cNvPr id="8" name="Text 4"/>
          <p:cNvSpPr txBox="1"/>
          <p:nvPr/>
        </p:nvSpPr>
        <p:spPr>
          <a:xfrm>
            <a:off x="822960" y="2971800"/>
            <a:ext cx="2966618" cy="411480"/>
          </a:xfrm>
          <a:prstGeom prst="rect">
            <a:avLst/>
          </a:prstGeom>
          <a:noFill/>
          <a:ln/>
        </p:spPr>
        <p:txBody>
          <a:bodyPr wrap="square" lIns="0" tIns="0" rIns="0" bIns="0" rtlCol="0" anchor="t"/>
          <a:lstStyle/>
          <a:p>
            <a:pPr indent="0" marL="0">
              <a:buNone/>
            </a:pPr>
            <a:r>
              <a:rPr lang="en-IE" sz="2100" b="1" dirty="0">
                <a:solidFill>
                  <a:schemeClr val="tx1"/>
                </a:solidFill>
              </a:rPr>
              <a:t>Easier to maintain</a:t>
            </a:r>
            <a:endParaRPr lang="en-IE" sz="2100" dirty="0"/>
          </a:p>
        </p:txBody>
      </p:sp>
      <p:sp>
        <p:nvSpPr>
          <p:cNvPr id="9" name="Text 5"/>
          <p:cNvSpPr txBox="1"/>
          <p:nvPr/>
        </p:nvSpPr>
        <p:spPr>
          <a:xfrm>
            <a:off x="822960" y="3474720"/>
            <a:ext cx="2966618" cy="1143000"/>
          </a:xfrm>
          <a:prstGeom prst="rect">
            <a:avLst/>
          </a:prstGeom>
          <a:noFill/>
          <a:ln/>
        </p:spPr>
        <p:txBody>
          <a:bodyPr wrap="square" lIns="0" tIns="0" rIns="0" bIns="0" rtlCol="0" anchor="t"/>
          <a:lstStyle/>
          <a:p>
            <a:pPr indent="0" marL="0">
              <a:buNone/>
            </a:pPr>
            <a:r>
              <a:rPr lang="en-IE" sz="1600" dirty="0">
                <a:solidFill>
                  <a:schemeClr val="tx2"/>
                </a:solidFill>
              </a:rPr>
              <a:t>We can change how the code works inside without affecting anyone using it, as long as the inputs and outputs stay the same.</a:t>
            </a:r>
            <a:endParaRPr lang="en-IE" sz="1600" dirty="0"/>
          </a:p>
        </p:txBody>
      </p:sp>
      <p:sp>
        <p:nvSpPr>
          <p:cNvPr id="10" name="Card"/>
          <p:cNvSpPr/>
          <p:nvPr/>
        </p:nvSpPr>
        <p:spPr>
          <a:xfrm>
            <a:off x="4338218" y="1783080"/>
            <a:ext cx="3515258" cy="2971800"/>
          </a:xfrm>
          <a:prstGeom prst="roundRect">
            <a:avLst>
              <a:gd name="adj" fmla="val 3692"/>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4612538" y="2075688"/>
            <a:ext cx="713232" cy="713232"/>
          </a:xfrm>
          <a:prstGeom prst="roundRect">
            <a:avLst>
              <a:gd name="adj" fmla="val 24000"/>
            </a:avLst>
          </a:prstGeom>
          <a:solidFill>
            <a:schemeClr val="accent3">
              <a:alpha val="14000"/>
            </a:schemeClr>
          </a:solidFill>
          <a:ln/>
        </p:spPr>
      </p:sp>
      <p:pic>
        <p:nvPicPr>
          <p:cNvPr id="12" name="shield check icon" descr="shield check icon">    </p:cNvPr>
          <p:cNvPicPr>
            <a:picLocks noChangeAspect="1"/>
          </p:cNvPicPr>
          <p:nvPr/>
        </p:nvPicPr>
        <p:blipFill>
          <a:blip r:embed="rId2"/>
          <a:stretch>
            <a:fillRect/>
          </a:stretch>
        </p:blipFill>
        <p:spPr>
          <a:xfrm>
            <a:off x="4762317" y="2225467"/>
            <a:ext cx="413675" cy="413675"/>
          </a:xfrm>
          <a:prstGeom prst="rect">
            <a:avLst/>
          </a:prstGeom>
        </p:spPr>
      </p:pic>
      <p:sp>
        <p:nvSpPr>
          <p:cNvPr id="13" name="Text 8"/>
          <p:cNvSpPr txBox="1"/>
          <p:nvPr/>
        </p:nvSpPr>
        <p:spPr>
          <a:xfrm>
            <a:off x="4612538" y="2971800"/>
            <a:ext cx="2966618" cy="411480"/>
          </a:xfrm>
          <a:prstGeom prst="rect">
            <a:avLst/>
          </a:prstGeom>
          <a:noFill/>
          <a:ln/>
        </p:spPr>
        <p:txBody>
          <a:bodyPr wrap="square" lIns="0" tIns="0" rIns="0" bIns="0" rtlCol="0" anchor="t"/>
          <a:lstStyle/>
          <a:p>
            <a:pPr indent="0" marL="0">
              <a:buNone/>
            </a:pPr>
            <a:r>
              <a:rPr lang="en-IE" sz="2100" b="1" dirty="0">
                <a:solidFill>
                  <a:schemeClr val="tx1"/>
                </a:solidFill>
              </a:rPr>
              <a:t>Data integrity</a:t>
            </a:r>
            <a:endParaRPr lang="en-IE" sz="2100" dirty="0"/>
          </a:p>
        </p:txBody>
      </p:sp>
      <p:sp>
        <p:nvSpPr>
          <p:cNvPr id="14" name="Text 9"/>
          <p:cNvSpPr txBox="1"/>
          <p:nvPr/>
        </p:nvSpPr>
        <p:spPr>
          <a:xfrm>
            <a:off x="4612538" y="3474720"/>
            <a:ext cx="2966618" cy="1143000"/>
          </a:xfrm>
          <a:prstGeom prst="rect">
            <a:avLst/>
          </a:prstGeom>
          <a:noFill/>
          <a:ln/>
        </p:spPr>
        <p:txBody>
          <a:bodyPr wrap="square" lIns="0" tIns="0" rIns="0" bIns="0" rtlCol="0" anchor="t"/>
          <a:lstStyle/>
          <a:p>
            <a:pPr indent="0" marL="0">
              <a:buNone/>
            </a:pPr>
            <a:r>
              <a:rPr lang="en-IE" sz="1600" dirty="0">
                <a:solidFill>
                  <a:schemeClr val="tx2"/>
                </a:solidFill>
              </a:rPr>
              <a:t>The data can only be changed through the methods we accept.</a:t>
            </a:r>
            <a:endParaRPr lang="en-IE" sz="1600" dirty="0"/>
          </a:p>
        </p:txBody>
      </p:sp>
      <p:sp>
        <p:nvSpPr>
          <p:cNvPr id="15" name="Card"/>
          <p:cNvSpPr/>
          <p:nvPr/>
        </p:nvSpPr>
        <p:spPr>
          <a:xfrm>
            <a:off x="8127797" y="1783080"/>
            <a:ext cx="3515258" cy="2971800"/>
          </a:xfrm>
          <a:prstGeom prst="roundRect">
            <a:avLst>
              <a:gd name="adj" fmla="val 3692"/>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8402117" y="2075688"/>
            <a:ext cx="713232" cy="713232"/>
          </a:xfrm>
          <a:prstGeom prst="roundRect">
            <a:avLst>
              <a:gd name="adj" fmla="val 24000"/>
            </a:avLst>
          </a:prstGeom>
          <a:solidFill>
            <a:schemeClr val="accent2">
              <a:alpha val="14000"/>
            </a:schemeClr>
          </a:solidFill>
          <a:ln/>
        </p:spPr>
      </p:sp>
      <p:pic>
        <p:nvPicPr>
          <p:cNvPr id="17" name="lock simple icon" descr="lock simple icon">    </p:cNvPr>
          <p:cNvPicPr>
            <a:picLocks noChangeAspect="1"/>
          </p:cNvPicPr>
          <p:nvPr/>
        </p:nvPicPr>
        <p:blipFill>
          <a:blip r:embed="rId3"/>
          <a:stretch>
            <a:fillRect/>
          </a:stretch>
        </p:blipFill>
        <p:spPr>
          <a:xfrm>
            <a:off x="8551896" y="2225467"/>
            <a:ext cx="413675" cy="413675"/>
          </a:xfrm>
          <a:prstGeom prst="rect">
            <a:avLst/>
          </a:prstGeom>
        </p:spPr>
      </p:pic>
      <p:sp>
        <p:nvSpPr>
          <p:cNvPr id="18" name="Text 12"/>
          <p:cNvSpPr txBox="1"/>
          <p:nvPr/>
        </p:nvSpPr>
        <p:spPr>
          <a:xfrm>
            <a:off x="8402117" y="2971800"/>
            <a:ext cx="2966618" cy="411480"/>
          </a:xfrm>
          <a:prstGeom prst="rect">
            <a:avLst/>
          </a:prstGeom>
          <a:noFill/>
          <a:ln/>
        </p:spPr>
        <p:txBody>
          <a:bodyPr wrap="square" lIns="0" tIns="0" rIns="0" bIns="0" rtlCol="0" anchor="t"/>
          <a:lstStyle/>
          <a:p>
            <a:pPr indent="0" marL="0">
              <a:buNone/>
            </a:pPr>
            <a:r>
              <a:rPr lang="en-IE" sz="2100" b="1" dirty="0">
                <a:solidFill>
                  <a:schemeClr val="tx1"/>
                </a:solidFill>
              </a:rPr>
              <a:t>Security</a:t>
            </a:r>
            <a:endParaRPr lang="en-IE" sz="2100" dirty="0"/>
          </a:p>
        </p:txBody>
      </p:sp>
      <p:sp>
        <p:nvSpPr>
          <p:cNvPr id="19" name="Text 13"/>
          <p:cNvSpPr txBox="1"/>
          <p:nvPr/>
        </p:nvSpPr>
        <p:spPr>
          <a:xfrm>
            <a:off x="8402117" y="3474720"/>
            <a:ext cx="2966618" cy="1143000"/>
          </a:xfrm>
          <a:prstGeom prst="rect">
            <a:avLst/>
          </a:prstGeom>
          <a:noFill/>
          <a:ln/>
        </p:spPr>
        <p:txBody>
          <a:bodyPr wrap="square" lIns="0" tIns="0" rIns="0" bIns="0" rtlCol="0" anchor="t"/>
          <a:lstStyle/>
          <a:p>
            <a:pPr indent="0" marL="0">
              <a:buNone/>
            </a:pPr>
            <a:r>
              <a:rPr lang="en-IE" sz="1600" dirty="0">
                <a:solidFill>
                  <a:schemeClr val="tx2"/>
                </a:solidFill>
              </a:rPr>
              <a:t>Some information is better kept hidden from casual users.</a:t>
            </a:r>
            <a:endParaRPr lang="en-IE" sz="1600" dirty="0"/>
          </a:p>
        </p:txBody>
      </p:sp>
      <p:sp>
        <p:nvSpPr>
          <p:cNvPr id="20" name="inputs"/>
          <p:cNvSpPr/>
          <p:nvPr/>
        </p:nvSpPr>
        <p:spPr>
          <a:xfrm>
            <a:off x="548640" y="5074920"/>
            <a:ext cx="2377440" cy="960120"/>
          </a:xfrm>
          <a:prstGeom prst="roundRect">
            <a:avLst>
              <a:gd name="adj" fmla="val 11429"/>
            </a:avLst>
          </a:prstGeom>
          <a:solidFill>
            <a:schemeClr val="bg2"/>
          </a:solidFill>
          <a:ln/>
        </p:spPr>
        <p:txBody>
          <a:bodyPr wrap="square" lIns="0" tIns="0" rIns="0" bIns="0" rtlCol="0" anchor="ctr"/>
          <a:lstStyle/>
          <a:p>
            <a:pPr algn="ctr" indent="0" marL="0">
              <a:buNone/>
            </a:pPr>
            <a:r>
              <a:rPr lang="en-IE" sz="1800" b="1" dirty="0">
                <a:solidFill>
                  <a:schemeClr val="tx1"/>
                </a:solidFill>
              </a:rPr>
              <a:t>inputs</a:t>
            </a:r>
            <a:endParaRPr lang="en-IE" sz="1800" dirty="0"/>
          </a:p>
        </p:txBody>
      </p:sp>
      <p:sp>
        <p:nvSpPr>
          <p:cNvPr id="21" name="the method"/>
          <p:cNvSpPr/>
          <p:nvPr/>
        </p:nvSpPr>
        <p:spPr>
          <a:xfrm>
            <a:off x="4160520" y="5074920"/>
            <a:ext cx="3840480" cy="960120"/>
          </a:xfrm>
          <a:prstGeom prst="roundRect">
            <a:avLst>
              <a:gd name="adj" fmla="val 11429"/>
            </a:avLst>
          </a:prstGeom>
          <a:solidFill>
            <a:schemeClr val="accent2"/>
          </a:solidFill>
          <a:ln/>
        </p:spPr>
        <p:txBody>
          <a:bodyPr wrap="square" lIns="0" tIns="114300" rIns="0" bIns="0" rtlCol="0" anchor="t"/>
          <a:lstStyle/>
          <a:p>
            <a:pPr algn="ctr" indent="0" marL="0">
              <a:buNone/>
            </a:pPr>
            <a:r>
              <a:rPr lang="en-IE" sz="1800" b="1" dirty="0">
                <a:solidFill>
                  <a:schemeClr val="bg1"/>
                </a:solidFill>
              </a:rPr>
              <a:t>the method</a:t>
            </a:r>
            <a:endParaRPr lang="en-IE" sz="1800" dirty="0"/>
          </a:p>
        </p:txBody>
      </p:sp>
      <p:sp>
        <p:nvSpPr>
          <p:cNvPr id="22" name="outputs"/>
          <p:cNvSpPr/>
          <p:nvPr/>
        </p:nvSpPr>
        <p:spPr>
          <a:xfrm>
            <a:off x="9262872" y="5074920"/>
            <a:ext cx="2377440" cy="960120"/>
          </a:xfrm>
          <a:prstGeom prst="roundRect">
            <a:avLst>
              <a:gd name="adj" fmla="val 11429"/>
            </a:avLst>
          </a:prstGeom>
          <a:solidFill>
            <a:schemeClr val="bg2"/>
          </a:solidFill>
          <a:ln/>
        </p:spPr>
        <p:txBody>
          <a:bodyPr wrap="square" lIns="0" tIns="0" rIns="0" bIns="0" rtlCol="0" anchor="ctr"/>
          <a:lstStyle/>
          <a:p>
            <a:pPr algn="ctr" indent="0" marL="0">
              <a:buNone/>
            </a:pPr>
            <a:r>
              <a:rPr lang="en-IE" sz="1800" b="1" dirty="0">
                <a:solidFill>
                  <a:schemeClr val="tx1"/>
                </a:solidFill>
              </a:rPr>
              <a:t>outputs</a:t>
            </a:r>
            <a:endParaRPr lang="en-IE" sz="1800" dirty="0"/>
          </a:p>
        </p:txBody>
      </p:sp>
      <p:sp>
        <p:nvSpPr>
          <p:cNvPr id="23" name="Text 17"/>
          <p:cNvSpPr txBox="1"/>
          <p:nvPr/>
        </p:nvSpPr>
        <p:spPr>
          <a:xfrm>
            <a:off x="4160520" y="5550408"/>
            <a:ext cx="3840480" cy="320040"/>
          </a:xfrm>
          <a:prstGeom prst="rect">
            <a:avLst/>
          </a:prstGeom>
          <a:noFill/>
          <a:ln/>
        </p:spPr>
        <p:txBody>
          <a:bodyPr wrap="square" lIns="0" tIns="0" rIns="0" bIns="0" rtlCol="0" anchor="t"/>
          <a:lstStyle/>
          <a:p>
            <a:pPr algn="ctr" indent="0" marL="0">
              <a:buNone/>
            </a:pPr>
            <a:r>
              <a:rPr lang="en-IE" sz="1400" i="1" dirty="0">
                <a:solidFill>
                  <a:schemeClr val="bg1">
                    <a:alpha val="80000"/>
                  </a:schemeClr>
                </a:solidFill>
              </a:rPr>
              <a:t>the inside can change</a:t>
            </a:r>
            <a:endParaRPr lang="en-IE" sz="1400" dirty="0"/>
          </a:p>
        </p:txBody>
      </p:sp>
      <p:sp>
        <p:nvSpPr>
          <p:cNvPr id="24" name="Connector"/>
          <p:cNvSpPr/>
          <p:nvPr/>
        </p:nvSpPr>
        <p:spPr>
          <a:xfrm>
            <a:off x="2971800" y="5554980"/>
            <a:ext cx="1143000" cy="0"/>
          </a:xfrm>
          <a:prstGeom prst="line">
            <a:avLst/>
          </a:prstGeom>
          <a:noFill/>
          <a:ln w="25400">
            <a:solidFill>
              <a:schemeClr val="tx2"/>
            </a:solidFill>
            <a:prstDash val="solid"/>
            <a:tailEnd type="triangle"/>
          </a:ln>
        </p:spPr>
      </p:sp>
      <p:sp>
        <p:nvSpPr>
          <p:cNvPr id="25" name="Connector"/>
          <p:cNvSpPr/>
          <p:nvPr/>
        </p:nvSpPr>
        <p:spPr>
          <a:xfrm>
            <a:off x="8046720" y="5554980"/>
            <a:ext cx="1170432" cy="0"/>
          </a:xfrm>
          <a:prstGeom prst="line">
            <a:avLst/>
          </a:prstGeom>
          <a:noFill/>
          <a:ln w="25400">
            <a:solidFill>
              <a:schemeClr val="tx2"/>
            </a:solidFill>
            <a:prstDash val="solid"/>
            <a:tailEnd type="triangle"/>
          </a:ln>
        </p:spPr>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40</a:t>
            </a:fld>
            <a:endParaRPr lang="en-IE"/>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12</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Benefits of encapsulation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We rewrite the code inside a method, but its inputs and outputs stay the same, so the code that uses it keeps working. Which benefit is this?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Security</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Data integrity</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Faster-running code</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Easier to maintain</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41</a:t>
            </a:fld>
            <a:endParaRPr lang="en-I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12</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Benefits of encapsulation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We rewrite the code inside a method, but its inputs and outputs stay the same, so the code that uses it keeps working. Which benefit is this?</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Security</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Data integrity</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Faster-running code</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Easier to maintain</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People using the method only rely on its inputs and outputs, so we can change how it works inside without affecting them. That makes the code easier to maintain.</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42</a:t>
            </a:fld>
            <a:endParaRPr lang="en-I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03</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Instances and static</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Objects in memory, and things that belong to the class</a:t>
            </a:r>
            <a:endParaRPr lang="en-IE" sz="2000" dirty="0"/>
          </a:p>
        </p:txBody>
      </p:sp>
      <p:sp>
        <p:nvSpPr>
          <p:cNvPr id="5" name="Topic chip"/>
          <p:cNvSpPr/>
          <p:nvPr/>
        </p:nvSpPr>
        <p:spPr>
          <a:xfrm>
            <a:off x="822960"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Instances</a:t>
            </a:r>
            <a:endParaRPr lang="en-IE" sz="1400" dirty="0"/>
          </a:p>
        </p:txBody>
      </p:sp>
      <p:sp>
        <p:nvSpPr>
          <p:cNvPr id="6" name="Topic chip"/>
          <p:cNvSpPr/>
          <p:nvPr/>
        </p:nvSpPr>
        <p:spPr>
          <a:xfrm>
            <a:off x="2203704" y="4846320"/>
            <a:ext cx="188163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Shared instances</a:t>
            </a:r>
            <a:endParaRPr lang="en-IE" sz="1400" dirty="0"/>
          </a:p>
        </p:txBody>
      </p:sp>
      <p:sp>
        <p:nvSpPr>
          <p:cNvPr id="7" name="Topic chip"/>
          <p:cNvSpPr/>
          <p:nvPr/>
        </p:nvSpPr>
        <p:spPr>
          <a:xfrm>
            <a:off x="4231640" y="4846320"/>
            <a:ext cx="95707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static</a:t>
            </a:r>
            <a:endParaRPr lang="en-IE" sz="1400" dirty="0"/>
          </a:p>
        </p:txBody>
      </p:sp>
      <p:sp>
        <p:nvSpPr>
          <p:cNvPr id="8" name="Topic chip"/>
          <p:cNvSpPr/>
          <p:nvPr/>
        </p:nvSpPr>
        <p:spPr>
          <a:xfrm>
            <a:off x="5335016" y="4846320"/>
            <a:ext cx="7721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Math</a:t>
            </a:r>
            <a:endParaRPr lang="en-IE" sz="1400" dirty="0"/>
          </a:p>
        </p:txBody>
      </p:sp>
      <p:pic>
        <p:nvPicPr>
          <p:cNvPr id="9"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Instances in memory</a:t>
            </a:r>
            <a:endParaRPr lang="en-IE" sz="3400" dirty="0"/>
          </a:p>
        </p:txBody>
      </p:sp>
      <p:sp>
        <p:nvSpPr>
          <p:cNvPr id="5" name="Text 2"/>
          <p:cNvSpPr txBox="1"/>
          <p:nvPr/>
        </p:nvSpPr>
        <p:spPr>
          <a:xfrm>
            <a:off x="548640" y="1783080"/>
            <a:ext cx="5029200" cy="292608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Each </a:t>
            </a:r>
            <a:r>
              <a:rPr lang="en-IE" sz="1800" dirty="0">
                <a:solidFill>
                  <a:schemeClr val="accent2"/>
                </a:solidFill>
                <a:latin typeface="Consolas" pitchFamily="34" charset="0"/>
                <a:ea typeface="Consolas" pitchFamily="34" charset="-122"/>
                <a:cs typeface="Consolas" pitchFamily="34" charset="-120"/>
              </a:rPr>
              <a:t>new Student()</a:t>
            </a:r>
            <a:r>
              <a:rPr lang="en-IE" sz="1800" dirty="0">
                <a:solidFill>
                  <a:schemeClr val="tx1"/>
                </a:solidFill>
              </a:rPr>
              <a:t> creates a separate </a:t>
            </a:r>
            <a:r>
              <a:rPr lang="en-IE" sz="1800" b="1" dirty="0">
                <a:solidFill>
                  <a:schemeClr val="tx1"/>
                </a:solidFill>
              </a:rPr>
              <a:t>instance</a:t>
            </a:r>
            <a:r>
              <a:rPr lang="en-IE" sz="1800" dirty="0">
                <a:solidFill>
                  <a:schemeClr val="tx1"/>
                </a:solidFill>
              </a:rPr>
              <a:t> (object) in memory.</a:t>
            </a:r>
            <a:endParaRPr lang="en-IE" sz="1800" dirty="0"/>
          </a:p>
          <a:p>
            <a:pPr marL="228600" indent="-228600">
              <a:spcAft>
                <a:spcPts val="1400"/>
              </a:spcAft>
              <a:buSzPct val="100000"/>
              <a:buChar char="•"/>
            </a:pPr>
            <a:r>
              <a:rPr lang="en-IE" sz="1800" dirty="0">
                <a:solidFill>
                  <a:schemeClr val="tx1"/>
                </a:solidFill>
              </a:rPr>
              <a:t>The variable (studentOne) isn’t the object. It holds a reference that points to the object.</a:t>
            </a:r>
            <a:endParaRPr lang="en-IE" sz="1800" dirty="0"/>
          </a:p>
          <a:p>
            <a:pPr marL="228600" indent="-228600">
              <a:buSzPct val="100000"/>
              <a:buChar char="•"/>
            </a:pPr>
            <a:r>
              <a:rPr lang="en-IE" sz="1800" dirty="0">
                <a:solidFill>
                  <a:schemeClr val="tx1"/>
                </a:solidFill>
              </a:rPr>
              <a:t>Each instance has its own attributes, so changing studentOne’s name doesn’t change studentTwo’s.</a:t>
            </a:r>
            <a:endParaRPr lang="en-IE" sz="1800" dirty="0"/>
          </a:p>
        </p:txBody>
      </p:sp>
      <p:sp>
        <p:nvSpPr>
          <p:cNvPr id="6" name="Careful"/>
          <p:cNvSpPr/>
          <p:nvPr/>
        </p:nvSpPr>
        <p:spPr>
          <a:xfrm>
            <a:off x="548640" y="4754880"/>
            <a:ext cx="5029200" cy="1325880"/>
          </a:xfrm>
          <a:prstGeom prst="roundRect">
            <a:avLst>
              <a:gd name="adj" fmla="val 8276"/>
            </a:avLst>
          </a:prstGeom>
          <a:solidFill>
            <a:schemeClr val="accent1">
              <a:alpha val="12000"/>
            </a:schemeClr>
          </a:solidFill>
          <a:ln/>
        </p:spPr>
      </p:sp>
      <p:pic>
        <p:nvPicPr>
          <p:cNvPr id="7" name="Careful icon" descr="Careful icon">    </p:cNvPr>
          <p:cNvPicPr>
            <a:picLocks noChangeAspect="1"/>
          </p:cNvPicPr>
          <p:nvPr/>
        </p:nvPicPr>
        <p:blipFill>
          <a:blip r:embed="rId1"/>
          <a:stretch>
            <a:fillRect/>
          </a:stretch>
        </p:blipFill>
        <p:spPr>
          <a:xfrm>
            <a:off x="777240" y="4956048"/>
            <a:ext cx="457200" cy="457200"/>
          </a:xfrm>
          <a:prstGeom prst="rect">
            <a:avLst/>
          </a:prstGeom>
        </p:spPr>
      </p:pic>
      <p:sp>
        <p:nvSpPr>
          <p:cNvPr id="8" name="Text 4"/>
          <p:cNvSpPr txBox="1"/>
          <p:nvPr/>
        </p:nvSpPr>
        <p:spPr>
          <a:xfrm>
            <a:off x="1417320" y="4828032"/>
            <a:ext cx="4023360" cy="1188720"/>
          </a:xfrm>
          <a:prstGeom prst="rect">
            <a:avLst/>
          </a:prstGeom>
          <a:noFill/>
          <a:ln/>
        </p:spPr>
        <p:txBody>
          <a:bodyPr wrap="square" lIns="0" tIns="0" rIns="0" bIns="0" rtlCol="0" anchor="ctr"/>
          <a:lstStyle/>
          <a:p>
            <a:pPr indent="0" marL="0">
              <a:buNone/>
            </a:pPr>
            <a:r>
              <a:rPr lang="en-IE" sz="1500" dirty="0">
                <a:solidFill>
                  <a:schemeClr val="tx1"/>
                </a:solidFill>
              </a:rPr>
              <a:t>Writing </a:t>
            </a:r>
            <a:r>
              <a:rPr lang="en-IE" sz="1500" dirty="0">
                <a:solidFill>
                  <a:schemeClr val="accent2"/>
                </a:solidFill>
                <a:latin typeface="Consolas" pitchFamily="34" charset="0"/>
                <a:ea typeface="Consolas" pitchFamily="34" charset="-122"/>
                <a:cs typeface="Consolas" pitchFamily="34" charset="-120"/>
              </a:rPr>
              <a:t>studentOne = new Student();</a:t>
            </a:r>
            <a:r>
              <a:rPr lang="en-IE" sz="1500" dirty="0">
                <a:solidFill>
                  <a:schemeClr val="tx1"/>
                </a:solidFill>
              </a:rPr>
              <a:t> again points studentOne at a brand-new instance. The old one can no longer be reached through studentOne.</a:t>
            </a:r>
            <a:endParaRPr lang="en-IE" sz="1500" dirty="0"/>
          </a:p>
        </p:txBody>
      </p:sp>
      <p:sp>
        <p:nvSpPr>
          <p:cNvPr id="9" name="Two instances card"/>
          <p:cNvSpPr/>
          <p:nvPr/>
        </p:nvSpPr>
        <p:spPr>
          <a:xfrm>
            <a:off x="5897880" y="1783080"/>
            <a:ext cx="5745175" cy="1529080"/>
          </a:xfrm>
          <a:prstGeom prst="roundRect">
            <a:avLst>
              <a:gd name="adj" fmla="val 7176"/>
            </a:avLst>
          </a:prstGeom>
          <a:solidFill>
            <a:schemeClr val="tx1"/>
          </a:solidFill>
          <a:ln/>
          <a:effectLst>
            <a:outerShdw sx="100000" sy="100000" kx="0" ky="0" algn="bl" rotWithShape="0" blurRad="114300" dist="31750" dir="5400000">
              <a:srgbClr val="1D2433">
                <a:alpha val="12000"/>
              </a:srgbClr>
            </a:outerShdw>
          </a:effectLst>
        </p:spPr>
      </p:sp>
      <p:sp>
        <p:nvSpPr>
          <p:cNvPr id="10" name="Two instances text"/>
          <p:cNvSpPr txBox="1"/>
          <p:nvPr/>
        </p:nvSpPr>
        <p:spPr>
          <a:xfrm>
            <a:off x="6172200" y="1984248"/>
            <a:ext cx="5196535" cy="1126744"/>
          </a:xfrm>
          <a:prstGeom prst="rect">
            <a:avLst/>
          </a:prstGeom>
          <a:noFill/>
          <a:ln/>
        </p:spPr>
        <p:txBody>
          <a:bodyPr wrap="square" lIns="0" tIns="0" rIns="0" bIns="0" rtlCol="0" anchor="t"/>
          <a:lstStyle/>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studentOne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6CC4E8"/>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 studentTwo = </a:t>
            </a:r>
            <a:r>
              <a:rPr lang="en-IE" sz="1600" dirty="0">
                <a:solidFill>
                  <a:srgbClr val="FF9F5A"/>
                </a:solidFill>
                <a:latin typeface="Consolas" pitchFamily="34" charset="0"/>
                <a:ea typeface="Consolas" pitchFamily="34" charset="-122"/>
                <a:cs typeface="Consolas" pitchFamily="34" charset="-120"/>
              </a:rPr>
              <a:t>new</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studentOne.</a:t>
            </a:r>
            <a:r>
              <a:rPr lang="en-IE" sz="1600" dirty="0">
                <a:solidFill>
                  <a:srgbClr val="C9B0FF"/>
                </a:solidFill>
                <a:latin typeface="Consolas" pitchFamily="34" charset="0"/>
                <a:ea typeface="Consolas" pitchFamily="34" charset="-122"/>
                <a:cs typeface="Consolas" pitchFamily="34" charset="-120"/>
              </a:rPr>
              <a:t>setName</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A9DB8C"/>
                </a:solidFill>
                <a:latin typeface="Consolas" pitchFamily="34" charset="0"/>
                <a:ea typeface="Consolas" pitchFamily="34" charset="-122"/>
                <a:cs typeface="Consolas" pitchFamily="34" charset="-120"/>
              </a:rPr>
              <a:t>"Ann"</a:t>
            </a:r>
            <a:r>
              <a:rPr lang="en-IE" sz="1600" dirty="0">
                <a:solidFill>
                  <a:srgbClr val="E6EBF2"/>
                </a:solidFill>
                <a:latin typeface="Consolas" pitchFamily="34" charset="0"/>
                <a:ea typeface="Consolas" pitchFamily="34" charset="-122"/>
                <a:cs typeface="Consolas" pitchFamily="34" charset="-120"/>
              </a:rPr>
              <a:t>);</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studentTwo.</a:t>
            </a:r>
            <a:r>
              <a:rPr lang="en-IE" sz="1600" dirty="0">
                <a:solidFill>
                  <a:srgbClr val="C9B0FF"/>
                </a:solidFill>
                <a:latin typeface="Consolas" pitchFamily="34" charset="0"/>
                <a:ea typeface="Consolas" pitchFamily="34" charset="-122"/>
                <a:cs typeface="Consolas" pitchFamily="34" charset="-120"/>
              </a:rPr>
              <a:t>setName</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A9DB8C"/>
                </a:solidFill>
                <a:latin typeface="Consolas" pitchFamily="34" charset="0"/>
                <a:ea typeface="Consolas" pitchFamily="34" charset="-122"/>
                <a:cs typeface="Consolas" pitchFamily="34" charset="-120"/>
              </a:rPr>
              <a:t>"Ben"</a:t>
            </a: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1" name="Memory"/>
          <p:cNvSpPr/>
          <p:nvPr/>
        </p:nvSpPr>
        <p:spPr>
          <a:xfrm>
            <a:off x="8641080" y="3540760"/>
            <a:ext cx="3001975" cy="2585720"/>
          </a:xfrm>
          <a:prstGeom prst="roundRect">
            <a:avLst>
              <a:gd name="adj" fmla="val 5305"/>
            </a:avLst>
          </a:prstGeom>
          <a:solidFill>
            <a:schemeClr val="bg2"/>
          </a:solidFill>
          <a:ln w="12700">
            <a:solidFill>
              <a:schemeClr val="tx2"/>
            </a:solidFill>
            <a:prstDash val="dash"/>
          </a:ln>
        </p:spPr>
      </p:sp>
      <p:sp>
        <p:nvSpPr>
          <p:cNvPr id="12" name="Text 8"/>
          <p:cNvSpPr txBox="1"/>
          <p:nvPr/>
        </p:nvSpPr>
        <p:spPr>
          <a:xfrm>
            <a:off x="8823960" y="3632200"/>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MEMORY</a:t>
            </a:r>
            <a:endParaRPr lang="en-IE" sz="1100" dirty="0"/>
          </a:p>
        </p:txBody>
      </p:sp>
      <p:sp>
        <p:nvSpPr>
          <p:cNvPr id="13" name="Variable studentOne"/>
          <p:cNvSpPr/>
          <p:nvPr/>
        </p:nvSpPr>
        <p:spPr>
          <a:xfrm>
            <a:off x="5897880" y="4125976"/>
            <a:ext cx="1828800" cy="566928"/>
          </a:xfrm>
          <a:prstGeom prst="roundRect">
            <a:avLst>
              <a:gd name="adj" fmla="val 16129"/>
            </a:avLst>
          </a:prstGeom>
          <a:solidFill>
            <a:schemeClr val="bg1"/>
          </a:solidFill>
          <a:ln w="19050">
            <a:solidFill>
              <a:schemeClr val="accent2"/>
            </a:solidFill>
          </a:ln>
        </p:spPr>
        <p:txBody>
          <a:bodyPr wrap="square" lIns="0" tIns="0" rIns="0" bIns="0" rtlCol="0" anchor="ctr"/>
          <a:lstStyle/>
          <a:p>
            <a:pPr algn="ctr" indent="0" marL="0">
              <a:buNone/>
            </a:pPr>
            <a:r>
              <a:rPr lang="en-IE" sz="1600" b="1" dirty="0">
                <a:solidFill>
                  <a:schemeClr val="accent2"/>
                </a:solidFill>
                <a:latin typeface="Consolas" pitchFamily="34" charset="0"/>
                <a:ea typeface="Consolas" pitchFamily="34" charset="-122"/>
                <a:cs typeface="Consolas" pitchFamily="34" charset="-120"/>
              </a:rPr>
              <a:t>studentOne</a:t>
            </a:r>
            <a:endParaRPr lang="en-IE" sz="1600" dirty="0"/>
          </a:p>
        </p:txBody>
      </p:sp>
      <p:sp>
        <p:nvSpPr>
          <p:cNvPr id="14" name="Connector"/>
          <p:cNvSpPr/>
          <p:nvPr/>
        </p:nvSpPr>
        <p:spPr>
          <a:xfrm>
            <a:off x="7772400" y="4409440"/>
            <a:ext cx="1078992" cy="0"/>
          </a:xfrm>
          <a:prstGeom prst="line">
            <a:avLst/>
          </a:prstGeom>
          <a:noFill/>
          <a:ln w="25400">
            <a:solidFill>
              <a:schemeClr val="accent1"/>
            </a:solidFill>
            <a:prstDash val="solid"/>
            <a:tailEnd type="triangle"/>
          </a:ln>
        </p:spPr>
      </p:sp>
      <p:sp>
        <p:nvSpPr>
          <p:cNvPr id="15" name="Student instance"/>
          <p:cNvSpPr/>
          <p:nvPr/>
        </p:nvSpPr>
        <p:spPr>
          <a:xfrm>
            <a:off x="8915400" y="3979672"/>
            <a:ext cx="2514600" cy="868680"/>
          </a:xfrm>
          <a:prstGeom prst="roundRect">
            <a:avLst>
              <a:gd name="adj" fmla="val 10526"/>
            </a:avLst>
          </a:prstGeom>
          <a:solidFill>
            <a:schemeClr val="bg1"/>
          </a:solidFill>
          <a:ln/>
          <a:effectLst>
            <a:outerShdw sx="100000" sy="100000" kx="0" ky="0" algn="bl" rotWithShape="0" blurRad="76200" dist="19050" dir="5400000">
              <a:srgbClr val="1D2433">
                <a:alpha val="8000"/>
              </a:srgbClr>
            </a:outerShdw>
          </a:effectLst>
        </p:spPr>
      </p:sp>
      <p:sp>
        <p:nvSpPr>
          <p:cNvPr id="16" name="Text 12"/>
          <p:cNvSpPr txBox="1"/>
          <p:nvPr/>
        </p:nvSpPr>
        <p:spPr>
          <a:xfrm>
            <a:off x="9116568" y="4071112"/>
            <a:ext cx="2194560" cy="292608"/>
          </a:xfrm>
          <a:prstGeom prst="rect">
            <a:avLst/>
          </a:prstGeom>
          <a:noFill/>
          <a:ln/>
        </p:spPr>
        <p:txBody>
          <a:bodyPr wrap="square" lIns="0" tIns="0" rIns="0" bIns="0" rtlCol="0" anchor="t"/>
          <a:lstStyle/>
          <a:p>
            <a:pPr indent="0" marL="0">
              <a:buNone/>
            </a:pPr>
            <a:r>
              <a:rPr lang="en-IE" sz="1300" b="1" dirty="0">
                <a:solidFill>
                  <a:schemeClr val="accent2"/>
                </a:solidFill>
              </a:rPr>
              <a:t>Student instance</a:t>
            </a:r>
            <a:endParaRPr lang="en-IE" sz="1300" dirty="0"/>
          </a:p>
        </p:txBody>
      </p:sp>
      <p:sp>
        <p:nvSpPr>
          <p:cNvPr id="17" name="Text 13"/>
          <p:cNvSpPr txBox="1"/>
          <p:nvPr/>
        </p:nvSpPr>
        <p:spPr>
          <a:xfrm>
            <a:off x="9116568" y="4391152"/>
            <a:ext cx="2194560" cy="347472"/>
          </a:xfrm>
          <a:prstGeom prst="rect">
            <a:avLst/>
          </a:prstGeom>
          <a:noFill/>
          <a:ln/>
        </p:spPr>
        <p:txBody>
          <a:bodyPr wrap="square" lIns="0" tIns="0" rIns="0" bIns="0" rtlCol="0" anchor="t"/>
          <a:lstStyle/>
          <a:p>
            <a:pPr indent="0" marL="0">
              <a:buNone/>
            </a:pPr>
            <a:r>
              <a:rPr lang="en-IE" sz="1600" dirty="0">
                <a:solidFill>
                  <a:schemeClr val="tx1"/>
                </a:solidFill>
                <a:latin typeface="Consolas" pitchFamily="34" charset="0"/>
                <a:ea typeface="Consolas" pitchFamily="34" charset="-122"/>
                <a:cs typeface="Consolas" pitchFamily="34" charset="-120"/>
              </a:rPr>
              <a:t>name = "Ann"</a:t>
            </a:r>
            <a:endParaRPr lang="en-IE" sz="1600" dirty="0"/>
          </a:p>
        </p:txBody>
      </p:sp>
      <p:sp>
        <p:nvSpPr>
          <p:cNvPr id="18" name="Variable studentTwo"/>
          <p:cNvSpPr/>
          <p:nvPr/>
        </p:nvSpPr>
        <p:spPr>
          <a:xfrm>
            <a:off x="5897880" y="5168392"/>
            <a:ext cx="1828800" cy="566928"/>
          </a:xfrm>
          <a:prstGeom prst="roundRect">
            <a:avLst>
              <a:gd name="adj" fmla="val 16129"/>
            </a:avLst>
          </a:prstGeom>
          <a:solidFill>
            <a:schemeClr val="bg1"/>
          </a:solidFill>
          <a:ln w="19050">
            <a:solidFill>
              <a:schemeClr val="accent2"/>
            </a:solidFill>
          </a:ln>
        </p:spPr>
        <p:txBody>
          <a:bodyPr wrap="square" lIns="0" tIns="0" rIns="0" bIns="0" rtlCol="0" anchor="ctr"/>
          <a:lstStyle/>
          <a:p>
            <a:pPr algn="ctr" indent="0" marL="0">
              <a:buNone/>
            </a:pPr>
            <a:r>
              <a:rPr lang="en-IE" sz="1600" b="1" dirty="0">
                <a:solidFill>
                  <a:schemeClr val="accent2"/>
                </a:solidFill>
                <a:latin typeface="Consolas" pitchFamily="34" charset="0"/>
                <a:ea typeface="Consolas" pitchFamily="34" charset="-122"/>
                <a:cs typeface="Consolas" pitchFamily="34" charset="-120"/>
              </a:rPr>
              <a:t>studentTwo</a:t>
            </a:r>
            <a:endParaRPr lang="en-IE" sz="1600" dirty="0"/>
          </a:p>
        </p:txBody>
      </p:sp>
      <p:sp>
        <p:nvSpPr>
          <p:cNvPr id="19" name="Connector"/>
          <p:cNvSpPr/>
          <p:nvPr/>
        </p:nvSpPr>
        <p:spPr>
          <a:xfrm>
            <a:off x="7772400" y="5451856"/>
            <a:ext cx="1078992" cy="0"/>
          </a:xfrm>
          <a:prstGeom prst="line">
            <a:avLst/>
          </a:prstGeom>
          <a:noFill/>
          <a:ln w="25400">
            <a:solidFill>
              <a:schemeClr val="accent1"/>
            </a:solidFill>
            <a:prstDash val="solid"/>
            <a:tailEnd type="triangle"/>
          </a:ln>
        </p:spPr>
      </p:sp>
      <p:sp>
        <p:nvSpPr>
          <p:cNvPr id="20" name="Student instance"/>
          <p:cNvSpPr/>
          <p:nvPr/>
        </p:nvSpPr>
        <p:spPr>
          <a:xfrm>
            <a:off x="8915400" y="5022088"/>
            <a:ext cx="2514600" cy="868680"/>
          </a:xfrm>
          <a:prstGeom prst="roundRect">
            <a:avLst>
              <a:gd name="adj" fmla="val 10526"/>
            </a:avLst>
          </a:prstGeom>
          <a:solidFill>
            <a:schemeClr val="bg1"/>
          </a:solidFill>
          <a:ln/>
          <a:effectLst>
            <a:outerShdw sx="100000" sy="100000" kx="0" ky="0" algn="bl" rotWithShape="0" blurRad="76200" dist="19050" dir="5400000">
              <a:srgbClr val="1D2433">
                <a:alpha val="8000"/>
              </a:srgbClr>
            </a:outerShdw>
          </a:effectLst>
        </p:spPr>
      </p:sp>
      <p:sp>
        <p:nvSpPr>
          <p:cNvPr id="21" name="Text 17"/>
          <p:cNvSpPr txBox="1"/>
          <p:nvPr/>
        </p:nvSpPr>
        <p:spPr>
          <a:xfrm>
            <a:off x="9116568" y="5113528"/>
            <a:ext cx="2194560" cy="292608"/>
          </a:xfrm>
          <a:prstGeom prst="rect">
            <a:avLst/>
          </a:prstGeom>
          <a:noFill/>
          <a:ln/>
        </p:spPr>
        <p:txBody>
          <a:bodyPr wrap="square" lIns="0" tIns="0" rIns="0" bIns="0" rtlCol="0" anchor="t"/>
          <a:lstStyle/>
          <a:p>
            <a:pPr indent="0" marL="0">
              <a:buNone/>
            </a:pPr>
            <a:r>
              <a:rPr lang="en-IE" sz="1300" b="1" dirty="0">
                <a:solidFill>
                  <a:schemeClr val="accent2"/>
                </a:solidFill>
              </a:rPr>
              <a:t>Student instance</a:t>
            </a:r>
            <a:endParaRPr lang="en-IE" sz="1300" dirty="0"/>
          </a:p>
        </p:txBody>
      </p:sp>
      <p:sp>
        <p:nvSpPr>
          <p:cNvPr id="22" name="Text 18"/>
          <p:cNvSpPr txBox="1"/>
          <p:nvPr/>
        </p:nvSpPr>
        <p:spPr>
          <a:xfrm>
            <a:off x="9116568" y="5433568"/>
            <a:ext cx="2194560" cy="347472"/>
          </a:xfrm>
          <a:prstGeom prst="rect">
            <a:avLst/>
          </a:prstGeom>
          <a:noFill/>
          <a:ln/>
        </p:spPr>
        <p:txBody>
          <a:bodyPr wrap="square" lIns="0" tIns="0" rIns="0" bIns="0" rtlCol="0" anchor="t"/>
          <a:lstStyle/>
          <a:p>
            <a:pPr indent="0" marL="0">
              <a:buNone/>
            </a:pPr>
            <a:r>
              <a:rPr lang="en-IE" sz="1600" dirty="0">
                <a:solidFill>
                  <a:schemeClr val="tx1"/>
                </a:solidFill>
                <a:latin typeface="Consolas" pitchFamily="34" charset="0"/>
                <a:ea typeface="Consolas" pitchFamily="34" charset="-122"/>
                <a:cs typeface="Consolas" pitchFamily="34" charset="-120"/>
              </a:rPr>
              <a:t>name = "Ben"</a:t>
            </a:r>
            <a:endParaRPr lang="en-IE"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44</a:t>
            </a:fld>
            <a:endParaRPr lang="en-I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13</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Instances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Two students are each made with </a:t>
            </a:r>
            <a:r>
              <a:rPr lang="en-IE" sz="2800" b="1" dirty="0">
                <a:solidFill>
                  <a:schemeClr val="accent2"/>
                </a:solidFill>
                <a:latin typeface="Consolas" pitchFamily="34" charset="0"/>
                <a:ea typeface="Consolas" pitchFamily="34" charset="-122"/>
                <a:cs typeface="Consolas" pitchFamily="34" charset="-120"/>
              </a:rPr>
              <a:t>new Student()</a:t>
            </a:r>
            <a:r>
              <a:rPr lang="en-IE" sz="2800" b="1" dirty="0">
                <a:solidFill>
                  <a:schemeClr val="tx1"/>
                </a:solidFill>
              </a:rPr>
              <a:t>. We change the first one’s name. What happens to the second one’s name?</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changes to the same new name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Nothing, because they are separate instances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 is reset to the default value, null</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The program stops with an error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13</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Instances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Two students are each made with </a:t>
            </a:r>
            <a:r>
              <a:rPr lang="en-IE" sz="2000" b="1" dirty="0">
                <a:solidFill>
                  <a:schemeClr val="tx2"/>
                </a:solidFill>
                <a:latin typeface="Consolas" pitchFamily="34" charset="0"/>
                <a:ea typeface="Consolas" pitchFamily="34" charset="-122"/>
                <a:cs typeface="Consolas" pitchFamily="34" charset="-120"/>
              </a:rPr>
              <a:t>new Student()</a:t>
            </a:r>
            <a:r>
              <a:rPr lang="en-IE" sz="2000" b="1" dirty="0">
                <a:solidFill>
                  <a:schemeClr val="tx2"/>
                </a:solidFill>
              </a:rPr>
              <a:t>. We change the first one’s name. What happens to the second one’s name?</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changes to the same new name</a:t>
            </a:r>
            <a:endParaRPr lang="en-IE"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B</a:t>
            </a:r>
            <a:endParaRPr lang="en-IE" sz="1600" dirty="0"/>
          </a:p>
        </p:txBody>
      </p:sp>
      <p:sp>
        <p:nvSpPr>
          <p:cNvPr id="10" name="Option B text"/>
          <p:cNvSpPr txBox="1"/>
          <p:nvPr/>
        </p:nvSpPr>
        <p:spPr>
          <a:xfrm>
            <a:off x="1371600" y="2798064"/>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Nothing, because they are separate instances</a:t>
            </a:r>
            <a:endParaRPr lang="en-IE" sz="1700" dirty="0"/>
          </a:p>
        </p:txBody>
      </p:sp>
      <p:pic>
        <p:nvPicPr>
          <p:cNvPr id="11" name="Correct mark"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It is reset to the default value, null</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The program stops with an error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Each </a:t>
            </a:r>
            <a:r>
              <a:rPr lang="en-IE" sz="1800" dirty="0">
                <a:solidFill>
                  <a:schemeClr val="accent2"/>
                </a:solidFill>
                <a:latin typeface="Consolas" pitchFamily="34" charset="0"/>
                <a:ea typeface="Consolas" pitchFamily="34" charset="-122"/>
                <a:cs typeface="Consolas" pitchFamily="34" charset="-120"/>
              </a:rPr>
              <a:t>new Student()</a:t>
            </a:r>
            <a:r>
              <a:rPr lang="en-IE" sz="1800" dirty="0">
                <a:solidFill>
                  <a:schemeClr val="tx1"/>
                </a:solidFill>
              </a:rPr>
              <a:t> creates a separate instance with its own attributes. Changing one does not affect the other.</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46</a:t>
            </a:fld>
            <a:endParaRPr lang="en-I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Two variables, one instance</a:t>
            </a:r>
            <a:endParaRPr lang="en-IE" sz="3400" dirty="0"/>
          </a:p>
        </p:txBody>
      </p:sp>
      <p:sp>
        <p:nvSpPr>
          <p:cNvPr id="5" name="Text 2"/>
          <p:cNvSpPr txBox="1"/>
          <p:nvPr/>
        </p:nvSpPr>
        <p:spPr>
          <a:xfrm>
            <a:off x="548640" y="1783080"/>
            <a:ext cx="5029200" cy="420624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accent2"/>
                </a:solidFill>
                <a:latin typeface="Consolas" pitchFamily="34" charset="0"/>
                <a:ea typeface="Consolas" pitchFamily="34" charset="-122"/>
                <a:cs typeface="Consolas" pitchFamily="34" charset="-120"/>
              </a:rPr>
              <a:t>studentOne = studentTwo;</a:t>
            </a:r>
            <a:r>
              <a:rPr lang="en-IE" sz="1800" dirty="0">
                <a:solidFill>
                  <a:schemeClr val="tx1"/>
                </a:solidFill>
              </a:rPr>
              <a:t> copies the reference, not the object.</a:t>
            </a:r>
            <a:endParaRPr lang="en-IE" sz="1800" dirty="0"/>
          </a:p>
          <a:p>
            <a:pPr marL="228600" indent="-228600">
              <a:spcAft>
                <a:spcPts val="1400"/>
              </a:spcAft>
              <a:buSzPct val="100000"/>
              <a:buChar char="•"/>
            </a:pPr>
            <a:r>
              <a:rPr lang="en-IE" sz="1800" dirty="0">
                <a:solidFill>
                  <a:schemeClr val="tx1"/>
                </a:solidFill>
              </a:rPr>
              <a:t>Now both variables point to the same instance.</a:t>
            </a:r>
            <a:endParaRPr lang="en-IE" sz="1800" dirty="0"/>
          </a:p>
          <a:p>
            <a:pPr marL="228600" indent="-228600">
              <a:spcAft>
                <a:spcPts val="1400"/>
              </a:spcAft>
              <a:buSzPct val="100000"/>
              <a:buChar char="•"/>
            </a:pPr>
            <a:r>
              <a:rPr lang="en-IE" sz="1800" dirty="0">
                <a:solidFill>
                  <a:schemeClr val="tx1"/>
                </a:solidFill>
              </a:rPr>
              <a:t>Change the name through studentOne, and studentTwo sees the change too.</a:t>
            </a:r>
            <a:endParaRPr lang="en-IE" sz="1800" dirty="0"/>
          </a:p>
          <a:p>
            <a:pPr marL="228600" indent="-228600">
              <a:buSzPct val="100000"/>
              <a:buChar char="•"/>
            </a:pPr>
            <a:r>
              <a:rPr lang="en-IE" sz="1800" dirty="0">
                <a:solidFill>
                  <a:schemeClr val="tx1"/>
                </a:solidFill>
              </a:rPr>
              <a:t>Be careful: only share an instance like this when you mean to.</a:t>
            </a:r>
            <a:endParaRPr lang="en-IE" sz="1800" dirty="0"/>
          </a:p>
        </p:txBody>
      </p:sp>
      <p:sp>
        <p:nvSpPr>
          <p:cNvPr id="6" name="Assignment card"/>
          <p:cNvSpPr/>
          <p:nvPr/>
        </p:nvSpPr>
        <p:spPr>
          <a:xfrm>
            <a:off x="5897880" y="1783080"/>
            <a:ext cx="5745175" cy="759460"/>
          </a:xfrm>
          <a:prstGeom prst="roundRect">
            <a:avLst>
              <a:gd name="adj" fmla="val 14448"/>
            </a:avLst>
          </a:prstGeom>
          <a:solidFill>
            <a:schemeClr val="tx1"/>
          </a:solidFill>
          <a:ln/>
          <a:effectLst>
            <a:outerShdw sx="100000" sy="100000" kx="0" ky="0" algn="bl" rotWithShape="0" blurRad="114300" dist="31750" dir="5400000">
              <a:srgbClr val="1D2433">
                <a:alpha val="12000"/>
              </a:srgbClr>
            </a:outerShdw>
          </a:effectLst>
        </p:spPr>
      </p:sp>
      <p:sp>
        <p:nvSpPr>
          <p:cNvPr id="7" name="Assignment text"/>
          <p:cNvSpPr txBox="1"/>
          <p:nvPr/>
        </p:nvSpPr>
        <p:spPr>
          <a:xfrm>
            <a:off x="6172200" y="1984248"/>
            <a:ext cx="5196535" cy="357124"/>
          </a:xfrm>
          <a:prstGeom prst="rect">
            <a:avLst/>
          </a:prstGeom>
          <a:noFill/>
          <a:ln/>
        </p:spPr>
        <p:txBody>
          <a:bodyPr wrap="square" lIns="0" tIns="0" rIns="0" bIns="0" rtlCol="0" anchor="t"/>
          <a:lstStyle/>
          <a:p>
            <a:pPr indent="0" marL="0">
              <a:lnSpc>
                <a:spcPts val="2380"/>
              </a:lnSpc>
              <a:buNone/>
            </a:pPr>
            <a:r>
              <a:rPr lang="en-IE" sz="1800" dirty="0">
                <a:solidFill>
                  <a:srgbClr val="E6EBF2"/>
                </a:solidFill>
                <a:latin typeface="Consolas" pitchFamily="34" charset="0"/>
                <a:ea typeface="Consolas" pitchFamily="34" charset="-122"/>
                <a:cs typeface="Consolas" pitchFamily="34" charset="-120"/>
              </a:rPr>
              <a:t>studentOne = studentTwo;</a:t>
            </a:r>
            <a:endParaRPr lang="en-IE" sz="1800" dirty="0"/>
          </a:p>
        </p:txBody>
      </p:sp>
      <p:sp>
        <p:nvSpPr>
          <p:cNvPr id="8" name="Memory"/>
          <p:cNvSpPr/>
          <p:nvPr/>
        </p:nvSpPr>
        <p:spPr>
          <a:xfrm>
            <a:off x="8641080" y="2816860"/>
            <a:ext cx="3001975" cy="3263900"/>
          </a:xfrm>
          <a:prstGeom prst="roundRect">
            <a:avLst>
              <a:gd name="adj" fmla="val 4569"/>
            </a:avLst>
          </a:prstGeom>
          <a:solidFill>
            <a:schemeClr val="bg2"/>
          </a:solidFill>
          <a:ln w="12700">
            <a:solidFill>
              <a:schemeClr val="tx2"/>
            </a:solidFill>
            <a:prstDash val="dash"/>
          </a:ln>
        </p:spPr>
      </p:sp>
      <p:sp>
        <p:nvSpPr>
          <p:cNvPr id="9" name="Text 6"/>
          <p:cNvSpPr txBox="1"/>
          <p:nvPr/>
        </p:nvSpPr>
        <p:spPr>
          <a:xfrm>
            <a:off x="8823960" y="2908300"/>
            <a:ext cx="1828800" cy="256032"/>
          </a:xfrm>
          <a:prstGeom prst="rect">
            <a:avLst/>
          </a:prstGeom>
          <a:noFill/>
          <a:ln/>
        </p:spPr>
        <p:txBody>
          <a:bodyPr wrap="square" lIns="0" tIns="0" rIns="0" bIns="0" rtlCol="0" anchor="t"/>
          <a:lstStyle/>
          <a:p>
            <a:pPr indent="0" marL="0">
              <a:buNone/>
            </a:pPr>
            <a:r>
              <a:rPr lang="en-IE" sz="1100" b="1" spc="150" kern="0" dirty="0">
                <a:solidFill>
                  <a:schemeClr val="tx2"/>
                </a:solidFill>
              </a:rPr>
              <a:t>MEMORY</a:t>
            </a:r>
            <a:endParaRPr lang="en-IE" sz="1100" dirty="0"/>
          </a:p>
        </p:txBody>
      </p:sp>
      <p:sp>
        <p:nvSpPr>
          <p:cNvPr id="10" name="Student instance"/>
          <p:cNvSpPr/>
          <p:nvPr/>
        </p:nvSpPr>
        <p:spPr>
          <a:xfrm>
            <a:off x="8915400" y="3319780"/>
            <a:ext cx="2514600" cy="868680"/>
          </a:xfrm>
          <a:prstGeom prst="roundRect">
            <a:avLst>
              <a:gd name="adj" fmla="val 10526"/>
            </a:avLst>
          </a:prstGeom>
          <a:solidFill>
            <a:schemeClr val="bg1"/>
          </a:solidFill>
          <a:ln w="12700">
            <a:solidFill>
              <a:schemeClr val="tx2"/>
            </a:solidFill>
            <a:prstDash val="dash"/>
          </a:ln>
        </p:spPr>
      </p:sp>
      <p:sp>
        <p:nvSpPr>
          <p:cNvPr id="11" name="Text 8"/>
          <p:cNvSpPr txBox="1"/>
          <p:nvPr/>
        </p:nvSpPr>
        <p:spPr>
          <a:xfrm>
            <a:off x="9116568" y="3411220"/>
            <a:ext cx="2194560" cy="292608"/>
          </a:xfrm>
          <a:prstGeom prst="rect">
            <a:avLst/>
          </a:prstGeom>
          <a:noFill/>
          <a:ln/>
        </p:spPr>
        <p:txBody>
          <a:bodyPr wrap="square" lIns="0" tIns="0" rIns="0" bIns="0" rtlCol="0" anchor="t"/>
          <a:lstStyle/>
          <a:p>
            <a:pPr indent="0" marL="0">
              <a:buNone/>
            </a:pPr>
            <a:r>
              <a:rPr lang="en-IE" sz="1300" b="1" dirty="0">
                <a:solidFill>
                  <a:schemeClr val="tx2"/>
                </a:solidFill>
              </a:rPr>
              <a:t>Student instance</a:t>
            </a:r>
            <a:endParaRPr lang="en-IE" sz="1300" dirty="0"/>
          </a:p>
        </p:txBody>
      </p:sp>
      <p:sp>
        <p:nvSpPr>
          <p:cNvPr id="12" name="Text 9"/>
          <p:cNvSpPr txBox="1"/>
          <p:nvPr/>
        </p:nvSpPr>
        <p:spPr>
          <a:xfrm>
            <a:off x="9116568" y="3731260"/>
            <a:ext cx="2194560" cy="347472"/>
          </a:xfrm>
          <a:prstGeom prst="rect">
            <a:avLst/>
          </a:prstGeom>
          <a:noFill/>
          <a:ln/>
        </p:spPr>
        <p:txBody>
          <a:bodyPr wrap="square" lIns="0" tIns="0" rIns="0" bIns="0" rtlCol="0" anchor="t"/>
          <a:lstStyle/>
          <a:p>
            <a:pPr indent="0" marL="0">
              <a:buNone/>
            </a:pPr>
            <a:r>
              <a:rPr lang="en-IE" sz="1600" dirty="0">
                <a:solidFill>
                  <a:schemeClr val="tx2"/>
                </a:solidFill>
                <a:latin typeface="Consolas" pitchFamily="34" charset="0"/>
                <a:ea typeface="Consolas" pitchFamily="34" charset="-122"/>
                <a:cs typeface="Consolas" pitchFamily="34" charset="-120"/>
              </a:rPr>
              <a:t>name = "Ann"</a:t>
            </a:r>
            <a:endParaRPr lang="en-IE" sz="1600" dirty="0"/>
          </a:p>
        </p:txBody>
      </p:sp>
      <p:sp>
        <p:nvSpPr>
          <p:cNvPr id="13" name="Text 10"/>
          <p:cNvSpPr txBox="1"/>
          <p:nvPr/>
        </p:nvSpPr>
        <p:spPr>
          <a:xfrm>
            <a:off x="8915400" y="4234180"/>
            <a:ext cx="2514600" cy="274320"/>
          </a:xfrm>
          <a:prstGeom prst="rect">
            <a:avLst/>
          </a:prstGeom>
          <a:noFill/>
          <a:ln/>
        </p:spPr>
        <p:txBody>
          <a:bodyPr wrap="square" lIns="0" tIns="0" rIns="0" bIns="0" rtlCol="0" anchor="t"/>
          <a:lstStyle/>
          <a:p>
            <a:pPr algn="ctr" indent="0" marL="0">
              <a:buNone/>
            </a:pPr>
            <a:r>
              <a:rPr lang="en-IE" sz="1200" i="1" dirty="0">
                <a:solidFill>
                  <a:schemeClr val="tx2"/>
                </a:solidFill>
              </a:rPr>
              <a:t>no longer used</a:t>
            </a:r>
            <a:endParaRPr lang="en-IE" sz="1200" dirty="0"/>
          </a:p>
        </p:txBody>
      </p:sp>
      <p:sp>
        <p:nvSpPr>
          <p:cNvPr id="14" name="Student instance"/>
          <p:cNvSpPr/>
          <p:nvPr/>
        </p:nvSpPr>
        <p:spPr>
          <a:xfrm>
            <a:off x="8915400" y="4645660"/>
            <a:ext cx="2514600" cy="868680"/>
          </a:xfrm>
          <a:prstGeom prst="roundRect">
            <a:avLst>
              <a:gd name="adj" fmla="val 10526"/>
            </a:avLst>
          </a:prstGeom>
          <a:solidFill>
            <a:schemeClr val="bg1"/>
          </a:solidFill>
          <a:ln/>
          <a:effectLst>
            <a:outerShdw sx="100000" sy="100000" kx="0" ky="0" algn="bl" rotWithShape="0" blurRad="76200" dist="19050" dir="5400000">
              <a:srgbClr val="1D2433">
                <a:alpha val="8000"/>
              </a:srgbClr>
            </a:outerShdw>
          </a:effectLst>
        </p:spPr>
      </p:sp>
      <p:sp>
        <p:nvSpPr>
          <p:cNvPr id="15" name="Text 12"/>
          <p:cNvSpPr txBox="1"/>
          <p:nvPr/>
        </p:nvSpPr>
        <p:spPr>
          <a:xfrm>
            <a:off x="9116568" y="4737100"/>
            <a:ext cx="2194560" cy="292608"/>
          </a:xfrm>
          <a:prstGeom prst="rect">
            <a:avLst/>
          </a:prstGeom>
          <a:noFill/>
          <a:ln/>
        </p:spPr>
        <p:txBody>
          <a:bodyPr wrap="square" lIns="0" tIns="0" rIns="0" bIns="0" rtlCol="0" anchor="t"/>
          <a:lstStyle/>
          <a:p>
            <a:pPr indent="0" marL="0">
              <a:buNone/>
            </a:pPr>
            <a:r>
              <a:rPr lang="en-IE" sz="1300" b="1" dirty="0">
                <a:solidFill>
                  <a:schemeClr val="accent2"/>
                </a:solidFill>
              </a:rPr>
              <a:t>Student instance</a:t>
            </a:r>
            <a:endParaRPr lang="en-IE" sz="1300" dirty="0"/>
          </a:p>
        </p:txBody>
      </p:sp>
      <p:sp>
        <p:nvSpPr>
          <p:cNvPr id="16" name="Text 13"/>
          <p:cNvSpPr txBox="1"/>
          <p:nvPr/>
        </p:nvSpPr>
        <p:spPr>
          <a:xfrm>
            <a:off x="9116568" y="5057140"/>
            <a:ext cx="2194560" cy="347472"/>
          </a:xfrm>
          <a:prstGeom prst="rect">
            <a:avLst/>
          </a:prstGeom>
          <a:noFill/>
          <a:ln/>
        </p:spPr>
        <p:txBody>
          <a:bodyPr wrap="square" lIns="0" tIns="0" rIns="0" bIns="0" rtlCol="0" anchor="t"/>
          <a:lstStyle/>
          <a:p>
            <a:pPr indent="0" marL="0">
              <a:buNone/>
            </a:pPr>
            <a:r>
              <a:rPr lang="en-IE" sz="1600" dirty="0">
                <a:solidFill>
                  <a:schemeClr val="tx1"/>
                </a:solidFill>
                <a:latin typeface="Consolas" pitchFamily="34" charset="0"/>
                <a:ea typeface="Consolas" pitchFamily="34" charset="-122"/>
                <a:cs typeface="Consolas" pitchFamily="34" charset="-120"/>
              </a:rPr>
              <a:t>name = "Ben"</a:t>
            </a:r>
            <a:endParaRPr lang="en-IE" sz="1600" dirty="0"/>
          </a:p>
        </p:txBody>
      </p:sp>
      <p:sp>
        <p:nvSpPr>
          <p:cNvPr id="17" name="Variable studentOne"/>
          <p:cNvSpPr/>
          <p:nvPr/>
        </p:nvSpPr>
        <p:spPr>
          <a:xfrm>
            <a:off x="5897880" y="3466084"/>
            <a:ext cx="1828800" cy="566928"/>
          </a:xfrm>
          <a:prstGeom prst="roundRect">
            <a:avLst>
              <a:gd name="adj" fmla="val 16129"/>
            </a:avLst>
          </a:prstGeom>
          <a:solidFill>
            <a:schemeClr val="bg1"/>
          </a:solidFill>
          <a:ln w="19050">
            <a:solidFill>
              <a:schemeClr val="accent2"/>
            </a:solidFill>
          </a:ln>
        </p:spPr>
        <p:txBody>
          <a:bodyPr wrap="square" lIns="0" tIns="0" rIns="0" bIns="0" rtlCol="0" anchor="ctr"/>
          <a:lstStyle/>
          <a:p>
            <a:pPr algn="ctr" indent="0" marL="0">
              <a:buNone/>
            </a:pPr>
            <a:r>
              <a:rPr lang="en-IE" sz="1600" b="1" dirty="0">
                <a:solidFill>
                  <a:schemeClr val="accent2"/>
                </a:solidFill>
                <a:latin typeface="Consolas" pitchFamily="34" charset="0"/>
                <a:ea typeface="Consolas" pitchFamily="34" charset="-122"/>
                <a:cs typeface="Consolas" pitchFamily="34" charset="-120"/>
              </a:rPr>
              <a:t>studentOne</a:t>
            </a:r>
            <a:endParaRPr lang="en-IE" sz="1600" dirty="0"/>
          </a:p>
        </p:txBody>
      </p:sp>
      <p:sp>
        <p:nvSpPr>
          <p:cNvPr id="18" name="Variable studentTwo"/>
          <p:cNvSpPr/>
          <p:nvPr/>
        </p:nvSpPr>
        <p:spPr>
          <a:xfrm>
            <a:off x="5897880" y="4791964"/>
            <a:ext cx="1828800" cy="566928"/>
          </a:xfrm>
          <a:prstGeom prst="roundRect">
            <a:avLst>
              <a:gd name="adj" fmla="val 16129"/>
            </a:avLst>
          </a:prstGeom>
          <a:solidFill>
            <a:schemeClr val="bg1"/>
          </a:solidFill>
          <a:ln w="19050">
            <a:solidFill>
              <a:schemeClr val="accent2"/>
            </a:solidFill>
          </a:ln>
        </p:spPr>
        <p:txBody>
          <a:bodyPr wrap="square" lIns="0" tIns="0" rIns="0" bIns="0" rtlCol="0" anchor="ctr"/>
          <a:lstStyle/>
          <a:p>
            <a:pPr algn="ctr" indent="0" marL="0">
              <a:buNone/>
            </a:pPr>
            <a:r>
              <a:rPr lang="en-IE" sz="1600" b="1" dirty="0">
                <a:solidFill>
                  <a:schemeClr val="accent2"/>
                </a:solidFill>
                <a:latin typeface="Consolas" pitchFamily="34" charset="0"/>
                <a:ea typeface="Consolas" pitchFamily="34" charset="-122"/>
                <a:cs typeface="Consolas" pitchFamily="34" charset="-120"/>
              </a:rPr>
              <a:t>studentTwo</a:t>
            </a:r>
            <a:endParaRPr lang="en-IE" sz="1600" dirty="0"/>
          </a:p>
        </p:txBody>
      </p:sp>
      <p:sp>
        <p:nvSpPr>
          <p:cNvPr id="19" name="Connector"/>
          <p:cNvSpPr/>
          <p:nvPr/>
        </p:nvSpPr>
        <p:spPr>
          <a:xfrm>
            <a:off x="7772400" y="3749548"/>
            <a:ext cx="1078992" cy="1170432"/>
          </a:xfrm>
          <a:prstGeom prst="line">
            <a:avLst/>
          </a:prstGeom>
          <a:noFill/>
          <a:ln w="25400">
            <a:solidFill>
              <a:schemeClr val="accent1"/>
            </a:solidFill>
            <a:prstDash val="solid"/>
            <a:tailEnd type="triangle"/>
          </a:ln>
        </p:spPr>
      </p:sp>
      <p:sp>
        <p:nvSpPr>
          <p:cNvPr id="20" name="Connector"/>
          <p:cNvSpPr/>
          <p:nvPr/>
        </p:nvSpPr>
        <p:spPr>
          <a:xfrm>
            <a:off x="7772400" y="5075428"/>
            <a:ext cx="1078992" cy="73152"/>
          </a:xfrm>
          <a:prstGeom prst="line">
            <a:avLst/>
          </a:prstGeom>
          <a:noFill/>
          <a:ln w="25400">
            <a:solidFill>
              <a:schemeClr val="accent1"/>
            </a:solidFill>
            <a:prstDash val="solid"/>
            <a:tailEnd type="triangle"/>
          </a:ln>
        </p:spPr>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47</a:t>
            </a:fld>
            <a:endParaRPr lang="en-I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14</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Two variables, one instance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this code print?</a:t>
            </a:r>
            <a:endParaRPr lang="en-IE" sz="2800" dirty="0"/>
          </a:p>
        </p:txBody>
      </p:sp>
      <p:sp>
        <p:nvSpPr>
          <p:cNvPr id="5" name="Question code card"/>
          <p:cNvSpPr/>
          <p:nvPr/>
        </p:nvSpPr>
        <p:spPr>
          <a:xfrm>
            <a:off x="548640" y="2497836"/>
            <a:ext cx="6035040" cy="2456688"/>
          </a:xfrm>
          <a:prstGeom prst="roundRect">
            <a:avLst>
              <a:gd name="adj" fmla="val 4467"/>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61670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2991612"/>
            <a:ext cx="5486400" cy="1761744"/>
          </a:xfrm>
          <a:prstGeom prst="rect">
            <a:avLst/>
          </a:prstGeom>
          <a:noFill/>
          <a:ln/>
        </p:spPr>
        <p:txBody>
          <a:bodyPr wrap="square" lIns="0" tIns="0" rIns="0" bIns="0" rtlCol="0" anchor="t"/>
          <a:lstStyle/>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Student</a:t>
            </a:r>
            <a:r>
              <a:rPr lang="en-IE" sz="1700" dirty="0">
                <a:solidFill>
                  <a:srgbClr val="E6EBF2"/>
                </a:solidFill>
                <a:latin typeface="Consolas" pitchFamily="34" charset="0"/>
                <a:ea typeface="Consolas" pitchFamily="34" charset="-122"/>
                <a:cs typeface="Consolas" pitchFamily="34" charset="-120"/>
              </a:rPr>
              <a:t> studentOne = </a:t>
            </a:r>
            <a:r>
              <a:rPr lang="en-IE" sz="1700" dirty="0">
                <a:solidFill>
                  <a:srgbClr val="FF9F5A"/>
                </a:solidFill>
                <a:latin typeface="Consolas" pitchFamily="34" charset="0"/>
                <a:ea typeface="Consolas" pitchFamily="34" charset="-122"/>
                <a:cs typeface="Consolas" pitchFamily="34" charset="-120"/>
              </a:rPr>
              <a:t>new</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Student</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Student</a:t>
            </a:r>
            <a:r>
              <a:rPr lang="en-IE" sz="1700" dirty="0">
                <a:solidFill>
                  <a:srgbClr val="E6EBF2"/>
                </a:solidFill>
                <a:latin typeface="Consolas" pitchFamily="34" charset="0"/>
                <a:ea typeface="Consolas" pitchFamily="34" charset="-122"/>
                <a:cs typeface="Consolas" pitchFamily="34" charset="-120"/>
              </a:rPr>
              <a:t> studentTwo = </a:t>
            </a:r>
            <a:r>
              <a:rPr lang="en-IE" sz="1700" dirty="0">
                <a:solidFill>
                  <a:srgbClr val="FF9F5A"/>
                </a:solidFill>
                <a:latin typeface="Consolas" pitchFamily="34" charset="0"/>
                <a:ea typeface="Consolas" pitchFamily="34" charset="-122"/>
                <a:cs typeface="Consolas" pitchFamily="34" charset="-120"/>
              </a:rPr>
              <a:t>new</a:t>
            </a:r>
            <a:r>
              <a:rPr lang="en-IE" sz="1700" dirty="0">
                <a:solidFill>
                  <a:srgbClr val="E6EBF2"/>
                </a:solidFill>
                <a:latin typeface="Consolas" pitchFamily="34" charset="0"/>
                <a:ea typeface="Consolas" pitchFamily="34" charset="-122"/>
                <a:cs typeface="Consolas" pitchFamily="34" charset="-120"/>
              </a:rPr>
              <a:t> </a:t>
            </a:r>
            <a:r>
              <a:rPr lang="en-IE" sz="1700" dirty="0">
                <a:solidFill>
                  <a:srgbClr val="C9B0FF"/>
                </a:solidFill>
                <a:latin typeface="Consolas" pitchFamily="34" charset="0"/>
                <a:ea typeface="Consolas" pitchFamily="34" charset="-122"/>
                <a:cs typeface="Consolas" pitchFamily="34" charset="-120"/>
              </a:rPr>
              <a:t>Student</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studentTwo.</a:t>
            </a:r>
            <a:r>
              <a:rPr lang="en-IE" sz="1700" dirty="0">
                <a:solidFill>
                  <a:srgbClr val="C9B0FF"/>
                </a:solidFill>
                <a:latin typeface="Consolas" pitchFamily="34" charset="0"/>
                <a:ea typeface="Consolas" pitchFamily="34" charset="-122"/>
                <a:cs typeface="Consolas" pitchFamily="34" charset="-120"/>
              </a:rPr>
              <a:t>setName</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"Ben"</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studentOne = studentTwo;</a:t>
            </a:r>
            <a:endParaRPr lang="en-IE" sz="1700" dirty="0"/>
          </a:p>
          <a:p>
            <a:pPr indent="0" marL="0">
              <a:lnSpc>
                <a:spcPts val="2240"/>
              </a:lnSpc>
              <a:buNone/>
            </a:pPr>
            <a:r>
              <a:rPr lang="en-IE" sz="1700" dirty="0">
                <a:solidFill>
                  <a:srgbClr val="E6EBF2"/>
                </a:solidFill>
                <a:latin typeface="Consolas" pitchFamily="34" charset="0"/>
                <a:ea typeface="Consolas" pitchFamily="34" charset="-122"/>
                <a:cs typeface="Consolas" pitchFamily="34" charset="-120"/>
              </a:rPr>
              <a:t>studentOne.</a:t>
            </a:r>
            <a:r>
              <a:rPr lang="en-IE" sz="1700" dirty="0">
                <a:solidFill>
                  <a:srgbClr val="C9B0FF"/>
                </a:solidFill>
                <a:latin typeface="Consolas" pitchFamily="34" charset="0"/>
                <a:ea typeface="Consolas" pitchFamily="34" charset="-122"/>
                <a:cs typeface="Consolas" pitchFamily="34" charset="-120"/>
              </a:rPr>
              <a:t>setName</a:t>
            </a:r>
            <a:r>
              <a:rPr lang="en-IE" sz="1700" dirty="0">
                <a:solidFill>
                  <a:srgbClr val="E6EBF2"/>
                </a:solidFill>
                <a:latin typeface="Consolas" pitchFamily="34" charset="0"/>
                <a:ea typeface="Consolas" pitchFamily="34" charset="-122"/>
                <a:cs typeface="Consolas" pitchFamily="34" charset="-120"/>
              </a:rPr>
              <a:t>(</a:t>
            </a:r>
            <a:r>
              <a:rPr lang="en-IE" sz="1700" dirty="0">
                <a:solidFill>
                  <a:srgbClr val="A9DB8C"/>
                </a:solidFill>
                <a:latin typeface="Consolas" pitchFamily="34" charset="0"/>
                <a:ea typeface="Consolas" pitchFamily="34" charset="-122"/>
                <a:cs typeface="Consolas" pitchFamily="34" charset="-120"/>
              </a:rPr>
              <a:t>"Ann"</a:t>
            </a:r>
            <a:r>
              <a:rPr lang="en-IE" sz="1700" dirty="0">
                <a:solidFill>
                  <a:srgbClr val="E6EBF2"/>
                </a:solidFill>
                <a:latin typeface="Consolas" pitchFamily="34" charset="0"/>
                <a:ea typeface="Consolas" pitchFamily="34" charset="-122"/>
                <a:cs typeface="Consolas" pitchFamily="34" charset="-120"/>
              </a:rPr>
              <a:t>);</a:t>
            </a:r>
            <a:endParaRPr lang="en-IE" sz="1700" dirty="0"/>
          </a:p>
          <a:p>
            <a:pPr indent="0" marL="0">
              <a:lnSpc>
                <a:spcPts val="2240"/>
              </a:lnSpc>
              <a:buNone/>
            </a:pPr>
            <a:r>
              <a:rPr lang="en-IE" sz="1700" dirty="0">
                <a:solidFill>
                  <a:srgbClr val="6CC4E8"/>
                </a:solidFill>
                <a:latin typeface="Consolas" pitchFamily="34" charset="0"/>
                <a:ea typeface="Consolas" pitchFamily="34" charset="-122"/>
                <a:cs typeface="Consolas" pitchFamily="34" charset="-120"/>
              </a:rPr>
              <a:t>System</a:t>
            </a:r>
            <a:r>
              <a:rPr lang="en-IE" sz="1700" dirty="0">
                <a:solidFill>
                  <a:srgbClr val="E6EBF2"/>
                </a:solidFill>
                <a:latin typeface="Consolas" pitchFamily="34" charset="0"/>
                <a:ea typeface="Consolas" pitchFamily="34" charset="-122"/>
                <a:cs typeface="Consolas" pitchFamily="34" charset="-120"/>
              </a:rPr>
              <a:t>.out.</a:t>
            </a:r>
            <a:r>
              <a:rPr lang="en-IE" sz="1700" dirty="0">
                <a:solidFill>
                  <a:srgbClr val="C9B0FF"/>
                </a:solidFill>
                <a:latin typeface="Consolas" pitchFamily="34" charset="0"/>
                <a:ea typeface="Consolas" pitchFamily="34" charset="-122"/>
                <a:cs typeface="Consolas" pitchFamily="34" charset="-120"/>
              </a:rPr>
              <a:t>println</a:t>
            </a:r>
            <a:r>
              <a:rPr lang="en-IE" sz="1700" dirty="0">
                <a:solidFill>
                  <a:srgbClr val="E6EBF2"/>
                </a:solidFill>
                <a:latin typeface="Consolas" pitchFamily="34" charset="0"/>
                <a:ea typeface="Consolas" pitchFamily="34" charset="-122"/>
                <a:cs typeface="Consolas" pitchFamily="34" charset="-120"/>
              </a:rPr>
              <a:t>(studentTwo.</a:t>
            </a:r>
            <a:r>
              <a:rPr lang="en-IE" sz="1700" dirty="0">
                <a:solidFill>
                  <a:srgbClr val="C9B0FF"/>
                </a:solidFill>
                <a:latin typeface="Consolas" pitchFamily="34" charset="0"/>
                <a:ea typeface="Consolas" pitchFamily="34" charset="-122"/>
                <a:cs typeface="Consolas" pitchFamily="34" charset="-120"/>
              </a:rPr>
              <a:t>getName</a:t>
            </a:r>
            <a:r>
              <a:rPr lang="en-IE" sz="1700" dirty="0">
                <a:solidFill>
                  <a:srgbClr val="E6EBF2"/>
                </a:solidFill>
                <a:latin typeface="Consolas" pitchFamily="34" charset="0"/>
                <a:ea typeface="Consolas" pitchFamily="34" charset="-122"/>
                <a:cs typeface="Consolas" pitchFamily="34" charset="-120"/>
              </a:rPr>
              <a:t>());</a:t>
            </a:r>
            <a:endParaRPr lang="en-IE" sz="1700" dirty="0"/>
          </a:p>
        </p:txBody>
      </p:sp>
      <p:sp>
        <p:nvSpPr>
          <p:cNvPr id="8" name="Code note"/>
          <p:cNvSpPr txBox="1"/>
          <p:nvPr/>
        </p:nvSpPr>
        <p:spPr>
          <a:xfrm>
            <a:off x="548640" y="5091684"/>
            <a:ext cx="6035040" cy="365760"/>
          </a:xfrm>
          <a:prstGeom prst="rect">
            <a:avLst/>
          </a:prstGeom>
          <a:noFill/>
          <a:ln/>
        </p:spPr>
        <p:txBody>
          <a:bodyPr wrap="square" lIns="0" tIns="0" rIns="0" bIns="0" rtlCol="0" anchor="t"/>
          <a:lstStyle/>
          <a:p>
            <a:pPr indent="0" marL="0">
              <a:buNone/>
            </a:pPr>
            <a:r>
              <a:rPr lang="en-IE" sz="1500" i="1" dirty="0">
                <a:solidFill>
                  <a:schemeClr val="tx2"/>
                </a:solidFill>
              </a:rPr>
              <a:t>Student has a no-arg constructor, getName() and setName().</a:t>
            </a:r>
            <a:endParaRPr lang="en-IE" sz="1500" dirty="0"/>
          </a:p>
        </p:txBody>
      </p:sp>
      <p:sp>
        <p:nvSpPr>
          <p:cNvPr id="9"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0"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1"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null</a:t>
            </a:r>
            <a:endParaRPr lang="en-IE" sz="2000" dirty="0"/>
          </a:p>
        </p:txBody>
      </p:sp>
      <p:sp>
        <p:nvSpPr>
          <p:cNvPr id="12"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3"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4"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Ben</a:t>
            </a:r>
            <a:endParaRPr lang="en-IE" sz="2000" dirty="0"/>
          </a:p>
        </p:txBody>
      </p:sp>
      <p:sp>
        <p:nvSpPr>
          <p:cNvPr id="15"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6"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7"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Ann</a:t>
            </a:r>
            <a:endParaRPr lang="en-IE" sz="2000" dirty="0"/>
          </a:p>
        </p:txBody>
      </p:sp>
      <p:sp>
        <p:nvSpPr>
          <p:cNvPr id="18"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9"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20"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rPr>
              <a:t>Nothing: it won’t compile</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48</a:t>
            </a:fld>
            <a:endParaRPr lang="en-I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14</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Two variables, one instance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this code print?</a:t>
            </a:r>
            <a:endParaRPr lang="en-IE" sz="2000" dirty="0"/>
          </a:p>
        </p:txBody>
      </p:sp>
      <p:sp>
        <p:nvSpPr>
          <p:cNvPr id="5" name="Answer code card"/>
          <p:cNvSpPr/>
          <p:nvPr/>
        </p:nvSpPr>
        <p:spPr>
          <a:xfrm>
            <a:off x="548640" y="1874520"/>
            <a:ext cx="5623560" cy="1866900"/>
          </a:xfrm>
          <a:prstGeom prst="roundRect">
            <a:avLst>
              <a:gd name="adj" fmla="val 5878"/>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464564"/>
          </a:xfrm>
          <a:prstGeom prst="rect">
            <a:avLst/>
          </a:prstGeom>
          <a:noFill/>
          <a:ln/>
        </p:spPr>
        <p:txBody>
          <a:bodyPr wrap="square" lIns="0" tIns="0" rIns="0" bIns="0" rtlCol="0" anchor="t"/>
          <a:lstStyle/>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studentOne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 studentTwo = </a:t>
            </a:r>
            <a:r>
              <a:rPr lang="en-IE" sz="1400" dirty="0">
                <a:solidFill>
                  <a:srgbClr val="FF9F5A"/>
                </a:solidFill>
                <a:latin typeface="Consolas" pitchFamily="34" charset="0"/>
                <a:ea typeface="Consolas" pitchFamily="34" charset="-122"/>
                <a:cs typeface="Consolas" pitchFamily="34" charset="-120"/>
              </a:rPr>
              <a:t>new</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Student</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studentTwo.</a:t>
            </a:r>
            <a:r>
              <a:rPr lang="en-IE" sz="1400" dirty="0">
                <a:solidFill>
                  <a:srgbClr val="C9B0FF"/>
                </a:solidFill>
                <a:latin typeface="Consolas" pitchFamily="34" charset="0"/>
                <a:ea typeface="Consolas" pitchFamily="34" charset="-122"/>
                <a:cs typeface="Consolas" pitchFamily="34" charset="-120"/>
              </a:rPr>
              <a:t>setName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"Ben"</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studentOne = studentTwo;</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studentOne.</a:t>
            </a:r>
            <a:r>
              <a:rPr lang="en-IE" sz="1400" dirty="0">
                <a:solidFill>
                  <a:srgbClr val="C9B0FF"/>
                </a:solidFill>
                <a:latin typeface="Consolas" pitchFamily="34" charset="0"/>
                <a:ea typeface="Consolas" pitchFamily="34" charset="-122"/>
                <a:cs typeface="Consolas" pitchFamily="34" charset="-120"/>
              </a:rPr>
              <a:t>setName</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A9DB8C"/>
                </a:solidFill>
                <a:latin typeface="Consolas" pitchFamily="34" charset="0"/>
                <a:ea typeface="Consolas" pitchFamily="34" charset="-122"/>
                <a:cs typeface="Consolas" pitchFamily="34" charset="-120"/>
              </a:rPr>
              <a:t>"Ann"</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(studentTwo.</a:t>
            </a:r>
            <a:r>
              <a:rPr lang="en-IE" sz="1400" dirty="0">
                <a:solidFill>
                  <a:srgbClr val="C9B0FF"/>
                </a:solidFill>
                <a:latin typeface="Consolas" pitchFamily="34" charset="0"/>
                <a:ea typeface="Consolas" pitchFamily="34" charset="-122"/>
                <a:cs typeface="Consolas" pitchFamily="34" charset="-120"/>
              </a:rPr>
              <a:t>getName</a:t>
            </a: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7" name="Option A"/>
          <p:cNvSpPr/>
          <p:nvPr/>
        </p:nvSpPr>
        <p:spPr>
          <a:xfrm>
            <a:off x="548640" y="3970020"/>
            <a:ext cx="5623560" cy="417957"/>
          </a:xfrm>
          <a:prstGeom prst="roundRect">
            <a:avLst>
              <a:gd name="adj" fmla="val 26253"/>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4034028"/>
            <a:ext cx="289941" cy="2899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A</a:t>
            </a:r>
            <a:endParaRPr lang="en-IE" sz="1400" dirty="0"/>
          </a:p>
        </p:txBody>
      </p:sp>
      <p:sp>
        <p:nvSpPr>
          <p:cNvPr id="9" name="Option A text"/>
          <p:cNvSpPr txBox="1"/>
          <p:nvPr/>
        </p:nvSpPr>
        <p:spPr>
          <a:xfrm>
            <a:off x="1240917" y="3970020"/>
            <a:ext cx="4702683" cy="417957"/>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null</a:t>
            </a:r>
            <a:endParaRPr lang="en-IE" sz="1500" dirty="0"/>
          </a:p>
        </p:txBody>
      </p:sp>
      <p:sp>
        <p:nvSpPr>
          <p:cNvPr id="10" name="Option B"/>
          <p:cNvSpPr/>
          <p:nvPr/>
        </p:nvSpPr>
        <p:spPr>
          <a:xfrm>
            <a:off x="548640" y="4534281"/>
            <a:ext cx="5623560" cy="417957"/>
          </a:xfrm>
          <a:prstGeom prst="roundRect">
            <a:avLst>
              <a:gd name="adj" fmla="val 26253"/>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598289"/>
            <a:ext cx="289941" cy="2899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B</a:t>
            </a:r>
            <a:endParaRPr lang="en-IE" sz="1400" dirty="0"/>
          </a:p>
        </p:txBody>
      </p:sp>
      <p:sp>
        <p:nvSpPr>
          <p:cNvPr id="12" name="Option B text"/>
          <p:cNvSpPr txBox="1"/>
          <p:nvPr/>
        </p:nvSpPr>
        <p:spPr>
          <a:xfrm>
            <a:off x="1240917" y="4534281"/>
            <a:ext cx="4702683" cy="417957"/>
          </a:xfrm>
          <a:prstGeom prst="rect">
            <a:avLst/>
          </a:prstGeom>
          <a:noFill/>
          <a:ln/>
        </p:spPr>
        <p:txBody>
          <a:bodyPr wrap="square" lIns="0" tIns="0" rIns="0" bIns="0" rtlCol="0" anchor="ctr"/>
          <a:lstStyle/>
          <a:p>
            <a:pPr indent="0" marL="0">
              <a:buNone/>
            </a:pPr>
            <a:r>
              <a:rPr lang="en-IE" sz="1500" dirty="0">
                <a:solidFill>
                  <a:schemeClr val="tx2"/>
                </a:solidFill>
                <a:latin typeface="Consolas" pitchFamily="34" charset="0"/>
                <a:ea typeface="Consolas" pitchFamily="34" charset="-122"/>
                <a:cs typeface="Consolas" pitchFamily="34" charset="-120"/>
              </a:rPr>
              <a:t>Ben</a:t>
            </a:r>
            <a:endParaRPr lang="en-IE" sz="1500" dirty="0"/>
          </a:p>
        </p:txBody>
      </p:sp>
      <p:sp>
        <p:nvSpPr>
          <p:cNvPr id="13" name="Option C (correct)"/>
          <p:cNvSpPr/>
          <p:nvPr/>
        </p:nvSpPr>
        <p:spPr>
          <a:xfrm>
            <a:off x="548640" y="5098542"/>
            <a:ext cx="5623560" cy="417957"/>
          </a:xfrm>
          <a:prstGeom prst="roundRect">
            <a:avLst>
              <a:gd name="adj" fmla="val 26253"/>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5162550"/>
            <a:ext cx="289941" cy="289941"/>
          </a:xfrm>
          <a:prstGeom prst="ellipse">
            <a:avLst/>
          </a:prstGeom>
          <a:solidFill>
            <a:schemeClr val="bg1"/>
          </a:solidFill>
          <a:ln/>
        </p:spPr>
        <p:txBody>
          <a:bodyPr wrap="square" lIns="0" tIns="0" rIns="0" bIns="0" rtlCol="0" anchor="ctr"/>
          <a:lstStyle/>
          <a:p>
            <a:pPr algn="ctr" indent="0" marL="0">
              <a:buNone/>
            </a:pPr>
            <a:r>
              <a:rPr lang="en-IE" sz="1400" b="1" dirty="0">
                <a:solidFill>
                  <a:schemeClr val="accent3"/>
                </a:solidFill>
              </a:rPr>
              <a:t>C</a:t>
            </a:r>
            <a:endParaRPr lang="en-IE" sz="1400" dirty="0"/>
          </a:p>
        </p:txBody>
      </p:sp>
      <p:sp>
        <p:nvSpPr>
          <p:cNvPr id="15" name="Option C text"/>
          <p:cNvSpPr txBox="1"/>
          <p:nvPr/>
        </p:nvSpPr>
        <p:spPr>
          <a:xfrm>
            <a:off x="1240917" y="5098542"/>
            <a:ext cx="4272915" cy="417957"/>
          </a:xfrm>
          <a:prstGeom prst="rect">
            <a:avLst/>
          </a:prstGeom>
          <a:noFill/>
          <a:ln/>
        </p:spPr>
        <p:txBody>
          <a:bodyPr wrap="square" lIns="0" tIns="0" rIns="0" bIns="0" rtlCol="0" anchor="ctr"/>
          <a:lstStyle/>
          <a:p>
            <a:pPr indent="0" marL="0">
              <a:buNone/>
            </a:pPr>
            <a:r>
              <a:rPr lang="en-IE" sz="1500" b="1" dirty="0">
                <a:solidFill>
                  <a:schemeClr val="bg1"/>
                </a:solidFill>
                <a:latin typeface="Consolas" pitchFamily="34" charset="0"/>
                <a:ea typeface="Consolas" pitchFamily="34" charset="-122"/>
                <a:cs typeface="Consolas" pitchFamily="34" charset="-120"/>
              </a:rPr>
              <a:t>Ann</a:t>
            </a:r>
            <a:endParaRPr lang="en-IE" sz="1500" dirty="0"/>
          </a:p>
        </p:txBody>
      </p:sp>
      <p:pic>
        <p:nvPicPr>
          <p:cNvPr id="16" name="Correct mark" descr="Correct mark">    </p:cNvPr>
          <p:cNvPicPr>
            <a:picLocks noChangeAspect="1"/>
          </p:cNvPicPr>
          <p:nvPr/>
        </p:nvPicPr>
        <p:blipFill>
          <a:blip r:embed="rId1"/>
          <a:stretch>
            <a:fillRect/>
          </a:stretch>
        </p:blipFill>
        <p:spPr>
          <a:xfrm>
            <a:off x="5623560" y="5124641"/>
            <a:ext cx="365760" cy="365760"/>
          </a:xfrm>
          <a:prstGeom prst="rect">
            <a:avLst/>
          </a:prstGeom>
        </p:spPr>
      </p:pic>
      <p:sp>
        <p:nvSpPr>
          <p:cNvPr id="17" name="Option D"/>
          <p:cNvSpPr/>
          <p:nvPr/>
        </p:nvSpPr>
        <p:spPr>
          <a:xfrm>
            <a:off x="548640" y="5662803"/>
            <a:ext cx="5623560" cy="417957"/>
          </a:xfrm>
          <a:prstGeom prst="roundRect">
            <a:avLst>
              <a:gd name="adj" fmla="val 26253"/>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726811"/>
            <a:ext cx="289941" cy="289941"/>
          </a:xfrm>
          <a:prstGeom prst="ellipse">
            <a:avLst/>
          </a:prstGeom>
          <a:solidFill>
            <a:schemeClr val="bg2"/>
          </a:solidFill>
          <a:ln/>
        </p:spPr>
        <p:txBody>
          <a:bodyPr wrap="square" lIns="0" tIns="0" rIns="0" bIns="0" rtlCol="0" anchor="ctr"/>
          <a:lstStyle/>
          <a:p>
            <a:pPr algn="ctr" indent="0" marL="0">
              <a:buNone/>
            </a:pPr>
            <a:r>
              <a:rPr lang="en-IE" sz="1400" b="1" dirty="0">
                <a:solidFill>
                  <a:schemeClr val="tx2"/>
                </a:solidFill>
              </a:rPr>
              <a:t>D</a:t>
            </a:r>
            <a:endParaRPr lang="en-IE" sz="1400" dirty="0"/>
          </a:p>
        </p:txBody>
      </p:sp>
      <p:sp>
        <p:nvSpPr>
          <p:cNvPr id="19" name="Option D text"/>
          <p:cNvSpPr txBox="1"/>
          <p:nvPr/>
        </p:nvSpPr>
        <p:spPr>
          <a:xfrm>
            <a:off x="1240917" y="5662803"/>
            <a:ext cx="4702683" cy="417957"/>
          </a:xfrm>
          <a:prstGeom prst="rect">
            <a:avLst/>
          </a:prstGeom>
          <a:noFill/>
          <a:ln/>
        </p:spPr>
        <p:txBody>
          <a:bodyPr wrap="square" lIns="0" tIns="0" rIns="0" bIns="0" rtlCol="0" anchor="ctr"/>
          <a:lstStyle/>
          <a:p>
            <a:pPr indent="0" marL="0">
              <a:buNone/>
            </a:pPr>
            <a:r>
              <a:rPr lang="en-IE" sz="1500" dirty="0">
                <a:solidFill>
                  <a:schemeClr val="tx2"/>
                </a:solidFill>
              </a:rPr>
              <a:t>Nothing: it won’t compile</a:t>
            </a:r>
            <a:endParaRPr lang="en-IE"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studentOne = studentTwo;</a:t>
            </a:r>
            <a:r>
              <a:rPr lang="en-IE" sz="1800" dirty="0">
                <a:solidFill>
                  <a:schemeClr val="tx1"/>
                </a:solidFill>
              </a:rPr>
              <a:t> makes both variables point to Ben’s instance. Setting the name through studentOne changes that one shared object, so studentTwo shows “Ann” too.</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49</a:t>
            </a:fld>
            <a:endParaRPr lang="en-I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Static: it belongs to the class</a:t>
            </a:r>
            <a:endParaRPr lang="en-IE" sz="3400" dirty="0"/>
          </a:p>
        </p:txBody>
      </p:sp>
      <p:sp>
        <p:nvSpPr>
          <p:cNvPr id="5" name="Text 2"/>
          <p:cNvSpPr txBox="1"/>
          <p:nvPr/>
        </p:nvSpPr>
        <p:spPr>
          <a:xfrm>
            <a:off x="548640" y="1783080"/>
            <a:ext cx="5486400" cy="3200400"/>
          </a:xfrm>
          <a:prstGeom prst="rect">
            <a:avLst/>
          </a:prstGeom>
          <a:noFill/>
          <a:ln/>
        </p:spPr>
        <p:txBody>
          <a:bodyPr wrap="square" lIns="0" tIns="0" rIns="0" bIns="0" rtlCol="0" anchor="t"/>
          <a:lstStyle/>
          <a:p>
            <a:pPr marL="228600" indent="-228600">
              <a:spcAft>
                <a:spcPts val="1400"/>
              </a:spcAft>
              <a:buSzPct val="100000"/>
              <a:buChar char="•"/>
            </a:pPr>
            <a:r>
              <a:rPr lang="en-IE" sz="1800" dirty="0">
                <a:solidFill>
                  <a:schemeClr val="tx1"/>
                </a:solidFill>
              </a:rPr>
              <a:t>Something marked </a:t>
            </a:r>
            <a:r>
              <a:rPr lang="en-IE" sz="1800" b="1" dirty="0">
                <a:solidFill>
                  <a:schemeClr val="tx1"/>
                </a:solidFill>
              </a:rPr>
              <a:t>static</a:t>
            </a:r>
            <a:r>
              <a:rPr lang="en-IE" sz="1800" dirty="0">
                <a:solidFill>
                  <a:schemeClr val="tx1"/>
                </a:solidFill>
              </a:rPr>
              <a:t> belongs to the class itself, not to one object.</a:t>
            </a:r>
            <a:endParaRPr lang="en-IE" sz="1800" dirty="0"/>
          </a:p>
          <a:p>
            <a:pPr marL="228600" indent="-228600">
              <a:spcAft>
                <a:spcPts val="1400"/>
              </a:spcAft>
              <a:buSzPct val="100000"/>
              <a:buChar char="•"/>
            </a:pPr>
            <a:r>
              <a:rPr lang="en-IE" sz="1800" dirty="0">
                <a:solidFill>
                  <a:schemeClr val="tx1"/>
                </a:solidFill>
              </a:rPr>
              <a:t>A class made of static parts, like Math, is used without creating any objects. We just write the class name.</a:t>
            </a:r>
            <a:endParaRPr lang="en-IE" sz="1800" dirty="0"/>
          </a:p>
          <a:p>
            <a:pPr marL="228600" indent="-228600">
              <a:spcAft>
                <a:spcPts val="1400"/>
              </a:spcAft>
              <a:buSzPct val="100000"/>
              <a:buChar char="•"/>
            </a:pPr>
            <a:r>
              <a:rPr lang="en-IE" sz="1800" dirty="0">
                <a:solidFill>
                  <a:schemeClr val="tx1"/>
                </a:solidFill>
              </a:rPr>
              <a:t>A static attribute has only one copy, so it’s the same value wherever we use it.</a:t>
            </a:r>
            <a:endParaRPr lang="en-IE" sz="1800" dirty="0"/>
          </a:p>
          <a:p>
            <a:pPr marL="228600" indent="-228600">
              <a:buSzPct val="100000"/>
              <a:buChar char="•"/>
            </a:pPr>
            <a:r>
              <a:rPr lang="en-IE" sz="1800" dirty="0">
                <a:solidFill>
                  <a:schemeClr val="tx1"/>
                </a:solidFill>
              </a:rPr>
              <a:t>Use static for values that don’t need to be different for each object, like </a:t>
            </a:r>
            <a:r>
              <a:rPr lang="en-IE" sz="1800" dirty="0">
                <a:solidFill>
                  <a:schemeClr val="accent2"/>
                </a:solidFill>
                <a:latin typeface="Consolas" pitchFamily="34" charset="0"/>
                <a:ea typeface="Consolas" pitchFamily="34" charset="-122"/>
                <a:cs typeface="Consolas" pitchFamily="34" charset="-120"/>
              </a:rPr>
              <a:t>Math.PI</a:t>
            </a:r>
            <a:r>
              <a:rPr lang="en-IE" sz="1800" dirty="0">
                <a:solidFill>
                  <a:schemeClr val="tx1"/>
                </a:solidFill>
              </a:rPr>
              <a:t>.</a:t>
            </a:r>
            <a:endParaRPr lang="en-IE" sz="1800" dirty="0"/>
          </a:p>
        </p:txBody>
      </p:sp>
      <p:sp>
        <p:nvSpPr>
          <p:cNvPr id="6" name="Text 3"/>
          <p:cNvSpPr txBox="1"/>
          <p:nvPr/>
        </p:nvSpPr>
        <p:spPr>
          <a:xfrm>
            <a:off x="548640" y="5120640"/>
            <a:ext cx="5486400" cy="731520"/>
          </a:xfrm>
          <a:prstGeom prst="rect">
            <a:avLst/>
          </a:prstGeom>
          <a:noFill/>
          <a:ln/>
        </p:spPr>
        <p:txBody>
          <a:bodyPr wrap="square" lIns="0" tIns="0" rIns="0" bIns="0" rtlCol="0" anchor="t"/>
          <a:lstStyle/>
          <a:p>
            <a:pPr indent="0" marL="0">
              <a:buNone/>
            </a:pPr>
            <a:r>
              <a:rPr lang="en-IE" sz="1400" i="1" dirty="0">
                <a:solidFill>
                  <a:schemeClr val="tx2"/>
                </a:solidFill>
              </a:rPr>
              <a:t>Math is sometimes called a ‘static class’. Java won’t accept static on a top-level class, so this just means every member of Math is static.</a:t>
            </a:r>
            <a:endParaRPr lang="en-IE" sz="1400" dirty="0"/>
          </a:p>
        </p:txBody>
      </p:sp>
      <p:sp>
        <p:nvSpPr>
          <p:cNvPr id="7" name="Math class"/>
          <p:cNvSpPr/>
          <p:nvPr/>
        </p:nvSpPr>
        <p:spPr>
          <a:xfrm>
            <a:off x="6446520" y="1783080"/>
            <a:ext cx="5196535" cy="1965960"/>
          </a:xfrm>
          <a:prstGeom prst="roundRect">
            <a:avLst>
              <a:gd name="adj" fmla="val 5581"/>
            </a:avLst>
          </a:prstGeom>
          <a:solidFill>
            <a:schemeClr val="bg1"/>
          </a:solidFill>
          <a:ln w="19050">
            <a:solidFill>
              <a:schemeClr val="accent2"/>
            </a:solidFill>
            <a:prstDash val="solid"/>
          </a:ln>
          <a:effectLst>
            <a:outerShdw sx="100000" sy="100000" kx="0" ky="0" algn="bl" rotWithShape="0" blurRad="114300" dist="31750" dir="5400000">
              <a:srgbClr val="1D2433">
                <a:alpha val="12000"/>
              </a:srgbClr>
            </a:outerShdw>
          </a:effectLst>
        </p:spPr>
      </p:sp>
      <p:sp>
        <p:nvSpPr>
          <p:cNvPr id="8" name="Math header"/>
          <p:cNvSpPr/>
          <p:nvPr/>
        </p:nvSpPr>
        <p:spPr>
          <a:xfrm>
            <a:off x="6446520" y="1783080"/>
            <a:ext cx="5196535" cy="502920"/>
          </a:xfrm>
          <a:prstGeom prst="round2SameRect">
            <a:avLst>
              <a:gd name="adj" fmla="val 21818"/>
            </a:avLst>
          </a:prstGeom>
          <a:solidFill>
            <a:schemeClr val="accent2"/>
          </a:solidFill>
          <a:ln/>
        </p:spPr>
        <p:txBody>
          <a:bodyPr wrap="square" lIns="0" tIns="0" rIns="0" bIns="0" rtlCol="0" anchor="ctr"/>
          <a:lstStyle/>
          <a:p>
            <a:pPr algn="ctr" indent="0" marL="0">
              <a:buNone/>
            </a:pPr>
            <a:r>
              <a:rPr lang="en-IE" sz="1800" b="1" dirty="0">
                <a:solidFill>
                  <a:schemeClr val="bg1"/>
                </a:solidFill>
                <a:latin typeface="Consolas" pitchFamily="34" charset="0"/>
                <a:ea typeface="Consolas" pitchFamily="34" charset="-122"/>
                <a:cs typeface="Consolas" pitchFamily="34" charset="-120"/>
              </a:rPr>
              <a:t>Math</a:t>
            </a:r>
            <a:endParaRPr lang="en-IE" sz="1800" dirty="0"/>
          </a:p>
        </p:txBody>
      </p:sp>
      <p:sp>
        <p:nvSpPr>
          <p:cNvPr id="9" name="Text 6"/>
          <p:cNvSpPr txBox="1"/>
          <p:nvPr/>
        </p:nvSpPr>
        <p:spPr>
          <a:xfrm>
            <a:off x="6766560" y="2450592"/>
            <a:ext cx="4556455" cy="457200"/>
          </a:xfrm>
          <a:prstGeom prst="rect">
            <a:avLst/>
          </a:prstGeom>
          <a:noFill/>
          <a:ln/>
        </p:spPr>
        <p:txBody>
          <a:bodyPr wrap="square" lIns="0" tIns="0" rIns="0" bIns="0" rtlCol="0" anchor="ctr"/>
          <a:lstStyle/>
          <a:p>
            <a:pPr indent="0" marL="0">
              <a:buNone/>
            </a:pPr>
            <a:r>
              <a:rPr lang="en-IE" sz="1700" b="1" dirty="0">
                <a:solidFill>
                  <a:schemeClr val="accent1"/>
                </a:solidFill>
                <a:latin typeface="Consolas" pitchFamily="34" charset="0"/>
                <a:ea typeface="Consolas" pitchFamily="34" charset="-122"/>
                <a:cs typeface="Consolas" pitchFamily="34" charset="-120"/>
              </a:rPr>
              <a:t>static </a:t>
            </a:r>
            <a:r>
              <a:rPr lang="en-IE" sz="1700" b="1" dirty="0">
                <a:solidFill>
                  <a:schemeClr val="tx1"/>
                </a:solidFill>
                <a:latin typeface="Consolas" pitchFamily="34" charset="0"/>
                <a:ea typeface="Consolas" pitchFamily="34" charset="-122"/>
                <a:cs typeface="Consolas" pitchFamily="34" charset="-120"/>
              </a:rPr>
              <a:t>PI</a:t>
            </a:r>
            <a:endParaRPr lang="en-IE" sz="1700" dirty="0"/>
          </a:p>
        </p:txBody>
      </p:sp>
      <p:sp>
        <p:nvSpPr>
          <p:cNvPr id="10" name="Text 7"/>
          <p:cNvSpPr txBox="1"/>
          <p:nvPr/>
        </p:nvSpPr>
        <p:spPr>
          <a:xfrm>
            <a:off x="6766560" y="3054096"/>
            <a:ext cx="4556455" cy="457200"/>
          </a:xfrm>
          <a:prstGeom prst="rect">
            <a:avLst/>
          </a:prstGeom>
          <a:noFill/>
          <a:ln/>
        </p:spPr>
        <p:txBody>
          <a:bodyPr wrap="square" lIns="0" tIns="0" rIns="0" bIns="0" rtlCol="0" anchor="ctr"/>
          <a:lstStyle/>
          <a:p>
            <a:pPr indent="0" marL="0">
              <a:buNone/>
            </a:pPr>
            <a:r>
              <a:rPr lang="en-IE" sz="1700" b="1" dirty="0">
                <a:solidFill>
                  <a:schemeClr val="accent1"/>
                </a:solidFill>
                <a:latin typeface="Consolas" pitchFamily="34" charset="0"/>
                <a:ea typeface="Consolas" pitchFamily="34" charset="-122"/>
                <a:cs typeface="Consolas" pitchFamily="34" charset="-120"/>
              </a:rPr>
              <a:t>static </a:t>
            </a:r>
            <a:r>
              <a:rPr lang="en-IE" sz="1700" b="1" dirty="0">
                <a:solidFill>
                  <a:schemeClr val="tx1"/>
                </a:solidFill>
                <a:latin typeface="Consolas" pitchFamily="34" charset="0"/>
                <a:ea typeface="Consolas" pitchFamily="34" charset="-122"/>
                <a:cs typeface="Consolas" pitchFamily="34" charset="-120"/>
              </a:rPr>
              <a:t>round()</a:t>
            </a:r>
            <a:endParaRPr lang="en-IE" sz="1700" dirty="0"/>
          </a:p>
        </p:txBody>
      </p:sp>
      <p:sp>
        <p:nvSpPr>
          <p:cNvPr id="11" name="Using Math card"/>
          <p:cNvSpPr/>
          <p:nvPr/>
        </p:nvSpPr>
        <p:spPr>
          <a:xfrm>
            <a:off x="6446520" y="3977640"/>
            <a:ext cx="5196535" cy="1219708"/>
          </a:xfrm>
          <a:prstGeom prst="roundRect">
            <a:avLst>
              <a:gd name="adj" fmla="val 8996"/>
            </a:avLst>
          </a:prstGeom>
          <a:solidFill>
            <a:schemeClr val="tx1"/>
          </a:solidFill>
          <a:ln/>
          <a:effectLst>
            <a:outerShdw sx="100000" sy="100000" kx="0" ky="0" algn="bl" rotWithShape="0" blurRad="114300" dist="31750" dir="5400000">
              <a:srgbClr val="1D2433">
                <a:alpha val="12000"/>
              </a:srgbClr>
            </a:outerShdw>
          </a:effectLst>
        </p:spPr>
      </p:sp>
      <p:sp>
        <p:nvSpPr>
          <p:cNvPr id="12" name="Using Math language"/>
          <p:cNvSpPr txBox="1"/>
          <p:nvPr/>
        </p:nvSpPr>
        <p:spPr>
          <a:xfrm>
            <a:off x="6720840" y="4096512"/>
            <a:ext cx="46478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3" name="Using Math text"/>
          <p:cNvSpPr txBox="1"/>
          <p:nvPr/>
        </p:nvSpPr>
        <p:spPr>
          <a:xfrm>
            <a:off x="6720840" y="4471416"/>
            <a:ext cx="4647895" cy="5247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long</a:t>
            </a:r>
            <a:r>
              <a:rPr lang="en-IE" sz="1400" dirty="0">
                <a:solidFill>
                  <a:srgbClr val="E6EBF2"/>
                </a:solidFill>
                <a:latin typeface="Consolas" pitchFamily="34" charset="0"/>
                <a:ea typeface="Consolas" pitchFamily="34" charset="-122"/>
                <a:cs typeface="Consolas" pitchFamily="34" charset="-120"/>
              </a:rPr>
              <a:t> r = </a:t>
            </a:r>
            <a:r>
              <a:rPr lang="en-IE" sz="1400" dirty="0">
                <a:solidFill>
                  <a:srgbClr val="6CC4E8"/>
                </a:solidFill>
                <a:latin typeface="Consolas" pitchFamily="34" charset="0"/>
                <a:ea typeface="Consolas" pitchFamily="34" charset="-122"/>
                <a:cs typeface="Consolas" pitchFamily="34" charset="-120"/>
              </a:rPr>
              <a:t>Math</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round</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2C14E"/>
                </a:solidFill>
                <a:latin typeface="Consolas" pitchFamily="34" charset="0"/>
                <a:ea typeface="Consolas" pitchFamily="34" charset="-122"/>
                <a:cs typeface="Consolas" pitchFamily="34" charset="-120"/>
              </a:rPr>
              <a:t>2.6</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3</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p = </a:t>
            </a:r>
            <a:r>
              <a:rPr lang="en-IE" sz="1400" dirty="0">
                <a:solidFill>
                  <a:srgbClr val="6CC4E8"/>
                </a:solidFill>
                <a:latin typeface="Consolas" pitchFamily="34" charset="0"/>
                <a:ea typeface="Consolas" pitchFamily="34" charset="-122"/>
                <a:cs typeface="Consolas" pitchFamily="34" charset="-120"/>
              </a:rPr>
              <a:t>Math</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PI</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3.14159...</a:t>
            </a:r>
            <a:endParaRPr lang="en-IE" sz="1400" dirty="0"/>
          </a:p>
        </p:txBody>
      </p:sp>
      <p:sp>
        <p:nvSpPr>
          <p:cNvPr id="14" name="Label"/>
          <p:cNvSpPr/>
          <p:nvPr/>
        </p:nvSpPr>
        <p:spPr>
          <a:xfrm>
            <a:off x="6446520" y="5380228"/>
            <a:ext cx="2214880" cy="384048"/>
          </a:xfrm>
          <a:prstGeom prst="roundRect">
            <a:avLst>
              <a:gd name="adj" fmla="val 50000"/>
            </a:avLst>
          </a:prstGeom>
          <a:solidFill>
            <a:schemeClr val="bg2"/>
          </a:solidFill>
          <a:ln/>
        </p:spPr>
        <p:txBody>
          <a:bodyPr wrap="square" lIns="0" tIns="0" rIns="0" bIns="0" rtlCol="0" anchor="ctr"/>
          <a:lstStyle/>
          <a:p>
            <a:pPr algn="ctr" indent="0" marL="0">
              <a:buNone/>
            </a:pPr>
            <a:r>
              <a:rPr lang="en-IE" sz="1400" dirty="0">
                <a:solidFill>
                  <a:schemeClr val="tx2"/>
                </a:solidFill>
              </a:rPr>
              <a:t>no new Math() needed</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50</a:t>
            </a:fld>
            <a:endParaRPr lang="en-I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15</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When should we make an attribute static?</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each object needs its own, different value</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it is a private attribute with a getter</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one value can be shared by all objects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its value is passed in to the constructor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51</a:t>
            </a:fld>
            <a:endParaRPr lang="en-IE"/>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15</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When should we make an attribute static?</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each object needs its own, different value</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it is a private attribute with a getter</a:t>
            </a:r>
            <a:endParaRPr lang="en-IE"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C</a:t>
            </a:r>
            <a:endParaRPr lang="en-IE" sz="1600" dirty="0"/>
          </a:p>
        </p:txBody>
      </p:sp>
      <p:sp>
        <p:nvSpPr>
          <p:cNvPr id="13" name="Option C text"/>
          <p:cNvSpPr txBox="1"/>
          <p:nvPr/>
        </p:nvSpPr>
        <p:spPr>
          <a:xfrm>
            <a:off x="1371600" y="3721608"/>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When one value can be shared by all objects</a:t>
            </a:r>
            <a:endParaRPr lang="en-IE" sz="1700" dirty="0"/>
          </a:p>
        </p:txBody>
      </p:sp>
      <p:pic>
        <p:nvPicPr>
          <p:cNvPr id="14" name="Correct mark"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its value is passed in to the constructor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static attribute belongs to the class, so there is only one copy, shared by every object. That suits values that don’t need to be different for each object, like </a:t>
            </a:r>
            <a:r>
              <a:rPr lang="en-IE" sz="1800" dirty="0">
                <a:solidFill>
                  <a:schemeClr val="accent2"/>
                </a:solidFill>
                <a:latin typeface="Consolas" pitchFamily="34" charset="0"/>
                <a:ea typeface="Consolas" pitchFamily="34" charset="-122"/>
                <a:cs typeface="Consolas" pitchFamily="34" charset="-120"/>
              </a:rPr>
              <a:t>Math.PI</a:t>
            </a:r>
            <a:r>
              <a:rPr lang="en-IE" sz="1800" dirty="0">
                <a:solidFill>
                  <a:schemeClr val="tx1"/>
                </a:solidFill>
              </a:rPr>
              <a:t>.</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52</a:t>
            </a:fld>
            <a:endParaRPr lang="en-IE"/>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Static and instance: who can use what</a:t>
            </a:r>
            <a:endParaRPr lang="en-IE" sz="3400" dirty="0"/>
          </a:p>
        </p:txBody>
      </p:sp>
      <p:sp>
        <p:nvSpPr>
          <p:cNvPr id="5" name="Rule"/>
          <p:cNvSpPr/>
          <p:nvPr/>
        </p:nvSpPr>
        <p:spPr>
          <a:xfrm>
            <a:off x="548640" y="1783080"/>
            <a:ext cx="6035040" cy="1143000"/>
          </a:xfrm>
          <a:prstGeom prst="roundRect">
            <a:avLst>
              <a:gd name="adj" fmla="val 9600"/>
            </a:avLst>
          </a:prstGeom>
          <a:solidFill>
            <a:schemeClr val="bg1"/>
          </a:solidFill>
          <a:ln/>
          <a:effectLst>
            <a:outerShdw sx="100000" sy="100000" kx="0" ky="0" algn="bl" rotWithShape="0" blurRad="114300" dist="31750" dir="5400000">
              <a:srgbClr val="1D2433">
                <a:alpha val="12000"/>
              </a:srgbClr>
            </a:outerShdw>
          </a:effectLst>
        </p:spPr>
      </p:sp>
      <p:sp>
        <p:nvSpPr>
          <p:cNvPr id="6" name="Who"/>
          <p:cNvSpPr/>
          <p:nvPr/>
        </p:nvSpPr>
        <p:spPr>
          <a:xfrm>
            <a:off x="777240" y="2075688"/>
            <a:ext cx="2057400" cy="548640"/>
          </a:xfrm>
          <a:prstGeom prst="roundRect">
            <a:avLst>
              <a:gd name="adj" fmla="val 16667"/>
            </a:avLst>
          </a:prstGeom>
          <a:solidFill>
            <a:schemeClr val="accent1">
              <a:alpha val="14000"/>
            </a:schemeClr>
          </a:solidFill>
          <a:ln w="15875">
            <a:solidFill>
              <a:schemeClr val="accent1"/>
            </a:solidFill>
          </a:ln>
        </p:spPr>
        <p:txBody>
          <a:bodyPr wrap="square" lIns="0" tIns="0" rIns="0" bIns="0" rtlCol="0" anchor="ctr"/>
          <a:lstStyle/>
          <a:p>
            <a:pPr algn="ctr" indent="0" marL="0">
              <a:buNone/>
            </a:pPr>
            <a:r>
              <a:rPr lang="en-IE" sz="1500" b="1" dirty="0">
                <a:solidFill>
                  <a:schemeClr val="tx1"/>
                </a:solidFill>
              </a:rPr>
              <a:t>static method</a:t>
            </a:r>
            <a:endParaRPr lang="en-IE" sz="1500" dirty="0"/>
          </a:p>
        </p:txBody>
      </p:sp>
      <p:sp>
        <p:nvSpPr>
          <p:cNvPr id="7" name="Text 4"/>
          <p:cNvSpPr txBox="1"/>
          <p:nvPr/>
        </p:nvSpPr>
        <p:spPr>
          <a:xfrm>
            <a:off x="2834640" y="2075688"/>
            <a:ext cx="685800" cy="548640"/>
          </a:xfrm>
          <a:prstGeom prst="rect">
            <a:avLst/>
          </a:prstGeom>
          <a:noFill/>
          <a:ln/>
        </p:spPr>
        <p:txBody>
          <a:bodyPr wrap="square" lIns="0" tIns="0" rIns="0" bIns="0" rtlCol="0" anchor="ctr"/>
          <a:lstStyle/>
          <a:p>
            <a:pPr algn="ctr" indent="0" marL="0">
              <a:buNone/>
            </a:pPr>
            <a:r>
              <a:rPr lang="en-IE" sz="1400" i="1" dirty="0">
                <a:solidFill>
                  <a:schemeClr val="tx2"/>
                </a:solidFill>
              </a:rPr>
              <a:t>uses</a:t>
            </a:r>
            <a:endParaRPr lang="en-IE" sz="1400" dirty="0"/>
          </a:p>
        </p:txBody>
      </p:sp>
      <p:sp>
        <p:nvSpPr>
          <p:cNvPr id="8" name="What"/>
          <p:cNvSpPr/>
          <p:nvPr/>
        </p:nvSpPr>
        <p:spPr>
          <a:xfrm>
            <a:off x="3520440" y="2075688"/>
            <a:ext cx="2057400" cy="548640"/>
          </a:xfrm>
          <a:prstGeom prst="roundRect">
            <a:avLst>
              <a:gd name="adj" fmla="val 16667"/>
            </a:avLst>
          </a:prstGeom>
          <a:solidFill>
            <a:schemeClr val="accent1">
              <a:alpha val="14000"/>
            </a:schemeClr>
          </a:solidFill>
          <a:ln w="15875">
            <a:solidFill>
              <a:schemeClr val="accent1"/>
            </a:solidFill>
          </a:ln>
        </p:spPr>
        <p:txBody>
          <a:bodyPr wrap="square" lIns="0" tIns="0" rIns="0" bIns="0" rtlCol="0" anchor="ctr"/>
          <a:lstStyle/>
          <a:p>
            <a:pPr algn="ctr" indent="0" marL="0">
              <a:buNone/>
            </a:pPr>
            <a:r>
              <a:rPr lang="en-IE" sz="1500" b="1" dirty="0">
                <a:solidFill>
                  <a:schemeClr val="tx1"/>
                </a:solidFill>
              </a:rPr>
              <a:t>static attribute</a:t>
            </a:r>
            <a:endParaRPr lang="en-IE" sz="1500" dirty="0"/>
          </a:p>
        </p:txBody>
      </p:sp>
      <p:pic>
        <p:nvPicPr>
          <p:cNvPr id="9" name="Allowed" descr="Allowed">    </p:cNvPr>
          <p:cNvPicPr>
            <a:picLocks noChangeAspect="1"/>
          </p:cNvPicPr>
          <p:nvPr/>
        </p:nvPicPr>
        <p:blipFill>
          <a:blip r:embed="rId1"/>
          <a:stretch>
            <a:fillRect/>
          </a:stretch>
        </p:blipFill>
        <p:spPr>
          <a:xfrm>
            <a:off x="5733288" y="2130552"/>
            <a:ext cx="438912" cy="438912"/>
          </a:xfrm>
          <a:prstGeom prst="rect">
            <a:avLst/>
          </a:prstGeom>
        </p:spPr>
      </p:pic>
      <p:sp>
        <p:nvSpPr>
          <p:cNvPr id="10" name="Text 6"/>
          <p:cNvSpPr txBox="1"/>
          <p:nvPr/>
        </p:nvSpPr>
        <p:spPr>
          <a:xfrm>
            <a:off x="6035040" y="2075688"/>
            <a:ext cx="502920" cy="548640"/>
          </a:xfrm>
          <a:prstGeom prst="rect">
            <a:avLst/>
          </a:prstGeom>
          <a:noFill/>
          <a:ln/>
        </p:spPr>
        <p:txBody>
          <a:bodyPr wrap="square" lIns="0" tIns="0" rIns="0" bIns="0" rtlCol="0" anchor="ctr"/>
          <a:lstStyle/>
          <a:p>
            <a:pPr algn="r" indent="0" marL="0">
              <a:buNone/>
            </a:pPr>
            <a:r>
              <a:rPr lang="en-IE" sz="1500" b="1" dirty="0">
                <a:solidFill>
                  <a:schemeClr val="accent3"/>
                </a:solidFill>
              </a:rPr>
              <a:t>Yes</a:t>
            </a:r>
            <a:endParaRPr lang="en-IE" sz="1500" dirty="0"/>
          </a:p>
        </p:txBody>
      </p:sp>
      <p:sp>
        <p:nvSpPr>
          <p:cNvPr id="11" name="Rule"/>
          <p:cNvSpPr/>
          <p:nvPr/>
        </p:nvSpPr>
        <p:spPr>
          <a:xfrm>
            <a:off x="548640" y="3154680"/>
            <a:ext cx="6035040" cy="1143000"/>
          </a:xfrm>
          <a:prstGeom prst="roundRect">
            <a:avLst>
              <a:gd name="adj" fmla="val 9600"/>
            </a:avLst>
          </a:prstGeom>
          <a:solidFill>
            <a:schemeClr val="bg1"/>
          </a:solidFill>
          <a:ln/>
          <a:effectLst>
            <a:outerShdw sx="100000" sy="100000" kx="0" ky="0" algn="bl" rotWithShape="0" blurRad="114300" dist="31750" dir="5400000">
              <a:srgbClr val="1D2433">
                <a:alpha val="12000"/>
              </a:srgbClr>
            </a:outerShdw>
          </a:effectLst>
        </p:spPr>
      </p:sp>
      <p:sp>
        <p:nvSpPr>
          <p:cNvPr id="12" name="Who"/>
          <p:cNvSpPr/>
          <p:nvPr/>
        </p:nvSpPr>
        <p:spPr>
          <a:xfrm>
            <a:off x="777240" y="3447288"/>
            <a:ext cx="2057400" cy="548640"/>
          </a:xfrm>
          <a:prstGeom prst="roundRect">
            <a:avLst>
              <a:gd name="adj" fmla="val 16667"/>
            </a:avLst>
          </a:prstGeom>
          <a:solidFill>
            <a:schemeClr val="accent1">
              <a:alpha val="14000"/>
            </a:schemeClr>
          </a:solidFill>
          <a:ln w="15875">
            <a:solidFill>
              <a:schemeClr val="accent1"/>
            </a:solidFill>
          </a:ln>
        </p:spPr>
        <p:txBody>
          <a:bodyPr wrap="square" lIns="0" tIns="0" rIns="0" bIns="0" rtlCol="0" anchor="ctr"/>
          <a:lstStyle/>
          <a:p>
            <a:pPr algn="ctr" indent="0" marL="0">
              <a:buNone/>
            </a:pPr>
            <a:r>
              <a:rPr lang="en-IE" sz="1500" b="1" dirty="0">
                <a:solidFill>
                  <a:schemeClr val="tx1"/>
                </a:solidFill>
              </a:rPr>
              <a:t>static method</a:t>
            </a:r>
            <a:endParaRPr lang="en-IE" sz="1500" dirty="0"/>
          </a:p>
        </p:txBody>
      </p:sp>
      <p:sp>
        <p:nvSpPr>
          <p:cNvPr id="13" name="Text 9"/>
          <p:cNvSpPr txBox="1"/>
          <p:nvPr/>
        </p:nvSpPr>
        <p:spPr>
          <a:xfrm>
            <a:off x="2834640" y="3447288"/>
            <a:ext cx="685800" cy="548640"/>
          </a:xfrm>
          <a:prstGeom prst="rect">
            <a:avLst/>
          </a:prstGeom>
          <a:noFill/>
          <a:ln/>
        </p:spPr>
        <p:txBody>
          <a:bodyPr wrap="square" lIns="0" tIns="0" rIns="0" bIns="0" rtlCol="0" anchor="ctr"/>
          <a:lstStyle/>
          <a:p>
            <a:pPr algn="ctr" indent="0" marL="0">
              <a:buNone/>
            </a:pPr>
            <a:r>
              <a:rPr lang="en-IE" sz="1400" i="1" dirty="0">
                <a:solidFill>
                  <a:schemeClr val="tx2"/>
                </a:solidFill>
              </a:rPr>
              <a:t>uses</a:t>
            </a:r>
            <a:endParaRPr lang="en-IE" sz="1400" dirty="0"/>
          </a:p>
        </p:txBody>
      </p:sp>
      <p:sp>
        <p:nvSpPr>
          <p:cNvPr id="14" name="What"/>
          <p:cNvSpPr/>
          <p:nvPr/>
        </p:nvSpPr>
        <p:spPr>
          <a:xfrm>
            <a:off x="3520440" y="3447288"/>
            <a:ext cx="2057400" cy="548640"/>
          </a:xfrm>
          <a:prstGeom prst="roundRect">
            <a:avLst>
              <a:gd name="adj" fmla="val 16667"/>
            </a:avLst>
          </a:prstGeom>
          <a:solidFill>
            <a:schemeClr val="accent4">
              <a:alpha val="14000"/>
            </a:schemeClr>
          </a:solidFill>
          <a:ln w="15875">
            <a:solidFill>
              <a:schemeClr val="accent4"/>
            </a:solidFill>
          </a:ln>
        </p:spPr>
        <p:txBody>
          <a:bodyPr wrap="square" lIns="0" tIns="0" rIns="0" bIns="0" rtlCol="0" anchor="ctr"/>
          <a:lstStyle/>
          <a:p>
            <a:pPr algn="ctr" indent="0" marL="0">
              <a:buNone/>
            </a:pPr>
            <a:r>
              <a:rPr lang="en-IE" sz="1500" b="1" dirty="0">
                <a:solidFill>
                  <a:schemeClr val="tx1"/>
                </a:solidFill>
              </a:rPr>
              <a:t>instance attribute</a:t>
            </a:r>
            <a:endParaRPr lang="en-IE" sz="1500" dirty="0"/>
          </a:p>
        </p:txBody>
      </p:sp>
      <p:pic>
        <p:nvPicPr>
          <p:cNvPr id="15" name="Not allowed" descr="Not allowed">    </p:cNvPr>
          <p:cNvPicPr>
            <a:picLocks noChangeAspect="1"/>
          </p:cNvPicPr>
          <p:nvPr/>
        </p:nvPicPr>
        <p:blipFill>
          <a:blip r:embed="rId2"/>
          <a:stretch>
            <a:fillRect/>
          </a:stretch>
        </p:blipFill>
        <p:spPr>
          <a:xfrm>
            <a:off x="5733288" y="3502152"/>
            <a:ext cx="438912" cy="438912"/>
          </a:xfrm>
          <a:prstGeom prst="rect">
            <a:avLst/>
          </a:prstGeom>
        </p:spPr>
      </p:pic>
      <p:sp>
        <p:nvSpPr>
          <p:cNvPr id="16" name="Text 11"/>
          <p:cNvSpPr txBox="1"/>
          <p:nvPr/>
        </p:nvSpPr>
        <p:spPr>
          <a:xfrm>
            <a:off x="6035040" y="3447288"/>
            <a:ext cx="502920" cy="548640"/>
          </a:xfrm>
          <a:prstGeom prst="rect">
            <a:avLst/>
          </a:prstGeom>
          <a:noFill/>
          <a:ln/>
        </p:spPr>
        <p:txBody>
          <a:bodyPr wrap="square" lIns="0" tIns="0" rIns="0" bIns="0" rtlCol="0" anchor="ctr"/>
          <a:lstStyle/>
          <a:p>
            <a:pPr algn="r" indent="0" marL="0">
              <a:buNone/>
            </a:pPr>
            <a:r>
              <a:rPr lang="en-IE" sz="1500" b="1" dirty="0">
                <a:solidFill>
                  <a:srgbClr val="C0392B"/>
                </a:solidFill>
              </a:rPr>
              <a:t>No</a:t>
            </a:r>
            <a:endParaRPr lang="en-IE" sz="1500" dirty="0"/>
          </a:p>
        </p:txBody>
      </p:sp>
      <p:sp>
        <p:nvSpPr>
          <p:cNvPr id="17" name="Rule"/>
          <p:cNvSpPr/>
          <p:nvPr/>
        </p:nvSpPr>
        <p:spPr>
          <a:xfrm>
            <a:off x="548640" y="4526280"/>
            <a:ext cx="6035040" cy="1143000"/>
          </a:xfrm>
          <a:prstGeom prst="roundRect">
            <a:avLst>
              <a:gd name="adj" fmla="val 9600"/>
            </a:avLst>
          </a:prstGeom>
          <a:solidFill>
            <a:schemeClr val="bg1"/>
          </a:solidFill>
          <a:ln/>
          <a:effectLst>
            <a:outerShdw sx="100000" sy="100000" kx="0" ky="0" algn="bl" rotWithShape="0" blurRad="114300" dist="31750" dir="5400000">
              <a:srgbClr val="1D2433">
                <a:alpha val="12000"/>
              </a:srgbClr>
            </a:outerShdw>
          </a:effectLst>
        </p:spPr>
      </p:sp>
      <p:sp>
        <p:nvSpPr>
          <p:cNvPr id="18" name="Who"/>
          <p:cNvSpPr/>
          <p:nvPr/>
        </p:nvSpPr>
        <p:spPr>
          <a:xfrm>
            <a:off x="777240" y="4818888"/>
            <a:ext cx="2057400" cy="548640"/>
          </a:xfrm>
          <a:prstGeom prst="roundRect">
            <a:avLst>
              <a:gd name="adj" fmla="val 16667"/>
            </a:avLst>
          </a:prstGeom>
          <a:solidFill>
            <a:schemeClr val="accent4">
              <a:alpha val="14000"/>
            </a:schemeClr>
          </a:solidFill>
          <a:ln w="15875">
            <a:solidFill>
              <a:schemeClr val="accent4"/>
            </a:solidFill>
          </a:ln>
        </p:spPr>
        <p:txBody>
          <a:bodyPr wrap="square" lIns="0" tIns="0" rIns="0" bIns="0" rtlCol="0" anchor="ctr"/>
          <a:lstStyle/>
          <a:p>
            <a:pPr algn="ctr" indent="0" marL="0">
              <a:buNone/>
            </a:pPr>
            <a:r>
              <a:rPr lang="en-IE" sz="1500" b="1" dirty="0">
                <a:solidFill>
                  <a:schemeClr val="tx1"/>
                </a:solidFill>
              </a:rPr>
              <a:t>instance method</a:t>
            </a:r>
            <a:endParaRPr lang="en-IE" sz="1500" dirty="0"/>
          </a:p>
        </p:txBody>
      </p:sp>
      <p:sp>
        <p:nvSpPr>
          <p:cNvPr id="19" name="Text 14"/>
          <p:cNvSpPr txBox="1"/>
          <p:nvPr/>
        </p:nvSpPr>
        <p:spPr>
          <a:xfrm>
            <a:off x="2834640" y="4818888"/>
            <a:ext cx="685800" cy="548640"/>
          </a:xfrm>
          <a:prstGeom prst="rect">
            <a:avLst/>
          </a:prstGeom>
          <a:noFill/>
          <a:ln/>
        </p:spPr>
        <p:txBody>
          <a:bodyPr wrap="square" lIns="0" tIns="0" rIns="0" bIns="0" rtlCol="0" anchor="ctr"/>
          <a:lstStyle/>
          <a:p>
            <a:pPr algn="ctr" indent="0" marL="0">
              <a:buNone/>
            </a:pPr>
            <a:r>
              <a:rPr lang="en-IE" sz="1400" i="1" dirty="0">
                <a:solidFill>
                  <a:schemeClr val="tx2"/>
                </a:solidFill>
              </a:rPr>
              <a:t>uses</a:t>
            </a:r>
            <a:endParaRPr lang="en-IE" sz="1400" dirty="0"/>
          </a:p>
        </p:txBody>
      </p:sp>
      <p:sp>
        <p:nvSpPr>
          <p:cNvPr id="20" name="What"/>
          <p:cNvSpPr/>
          <p:nvPr/>
        </p:nvSpPr>
        <p:spPr>
          <a:xfrm>
            <a:off x="3520440" y="4818888"/>
            <a:ext cx="2057400" cy="548640"/>
          </a:xfrm>
          <a:prstGeom prst="roundRect">
            <a:avLst>
              <a:gd name="adj" fmla="val 16667"/>
            </a:avLst>
          </a:prstGeom>
          <a:solidFill>
            <a:schemeClr val="accent1">
              <a:alpha val="14000"/>
            </a:schemeClr>
          </a:solidFill>
          <a:ln w="15875">
            <a:solidFill>
              <a:schemeClr val="accent1"/>
            </a:solidFill>
          </a:ln>
        </p:spPr>
        <p:txBody>
          <a:bodyPr wrap="square" lIns="0" tIns="0" rIns="0" bIns="0" rtlCol="0" anchor="ctr"/>
          <a:lstStyle/>
          <a:p>
            <a:pPr algn="ctr" indent="0" marL="0">
              <a:buNone/>
            </a:pPr>
            <a:r>
              <a:rPr lang="en-IE" sz="1500" b="1" dirty="0">
                <a:solidFill>
                  <a:schemeClr val="tx1"/>
                </a:solidFill>
              </a:rPr>
              <a:t>static attribute</a:t>
            </a:r>
            <a:endParaRPr lang="en-IE" sz="1500" dirty="0"/>
          </a:p>
        </p:txBody>
      </p:sp>
      <p:pic>
        <p:nvPicPr>
          <p:cNvPr id="21" name="Allowed" descr="Allowed">    </p:cNvPr>
          <p:cNvPicPr>
            <a:picLocks noChangeAspect="1"/>
          </p:cNvPicPr>
          <p:nvPr/>
        </p:nvPicPr>
        <p:blipFill>
          <a:blip r:embed="rId3"/>
          <a:stretch>
            <a:fillRect/>
          </a:stretch>
        </p:blipFill>
        <p:spPr>
          <a:xfrm>
            <a:off x="5733288" y="4873752"/>
            <a:ext cx="438912" cy="438912"/>
          </a:xfrm>
          <a:prstGeom prst="rect">
            <a:avLst/>
          </a:prstGeom>
        </p:spPr>
      </p:pic>
      <p:sp>
        <p:nvSpPr>
          <p:cNvPr id="22" name="Text 16"/>
          <p:cNvSpPr txBox="1"/>
          <p:nvPr/>
        </p:nvSpPr>
        <p:spPr>
          <a:xfrm>
            <a:off x="6035040" y="4818888"/>
            <a:ext cx="502920" cy="548640"/>
          </a:xfrm>
          <a:prstGeom prst="rect">
            <a:avLst/>
          </a:prstGeom>
          <a:noFill/>
          <a:ln/>
        </p:spPr>
        <p:txBody>
          <a:bodyPr wrap="square" lIns="0" tIns="0" rIns="0" bIns="0" rtlCol="0" anchor="ctr"/>
          <a:lstStyle/>
          <a:p>
            <a:pPr algn="r" indent="0" marL="0">
              <a:buNone/>
            </a:pPr>
            <a:r>
              <a:rPr lang="en-IE" sz="1500" b="1" dirty="0">
                <a:solidFill>
                  <a:schemeClr val="accent3"/>
                </a:solidFill>
              </a:rPr>
              <a:t>Yes</a:t>
            </a:r>
            <a:endParaRPr lang="en-IE" sz="1500" dirty="0"/>
          </a:p>
        </p:txBody>
      </p:sp>
      <p:sp>
        <p:nvSpPr>
          <p:cNvPr id="23" name="Text 17"/>
          <p:cNvSpPr txBox="1"/>
          <p:nvPr/>
        </p:nvSpPr>
        <p:spPr>
          <a:xfrm>
            <a:off x="6903720" y="1783080"/>
            <a:ext cx="4739335" cy="365760"/>
          </a:xfrm>
          <a:prstGeom prst="rect">
            <a:avLst/>
          </a:prstGeom>
          <a:noFill/>
          <a:ln/>
        </p:spPr>
        <p:txBody>
          <a:bodyPr wrap="square" lIns="0" tIns="0" rIns="0" bIns="0" rtlCol="0" anchor="t"/>
          <a:lstStyle/>
          <a:p>
            <a:pPr indent="0" marL="0">
              <a:buNone/>
            </a:pPr>
            <a:r>
              <a:rPr lang="en-IE" sz="1900" b="1" dirty="0">
                <a:solidFill>
                  <a:schemeClr val="tx1"/>
                </a:solidFill>
              </a:rPr>
              <a:t>Why not?</a:t>
            </a:r>
            <a:endParaRPr lang="en-IE" sz="1900" dirty="0"/>
          </a:p>
        </p:txBody>
      </p:sp>
      <p:sp>
        <p:nvSpPr>
          <p:cNvPr id="24" name="Text 18"/>
          <p:cNvSpPr txBox="1"/>
          <p:nvPr/>
        </p:nvSpPr>
        <p:spPr>
          <a:xfrm>
            <a:off x="6903720" y="2194560"/>
            <a:ext cx="4739335" cy="1188720"/>
          </a:xfrm>
          <a:prstGeom prst="rect">
            <a:avLst/>
          </a:prstGeom>
          <a:noFill/>
          <a:ln/>
        </p:spPr>
        <p:txBody>
          <a:bodyPr wrap="square" lIns="0" tIns="0" rIns="0" bIns="0" rtlCol="0" anchor="t"/>
          <a:lstStyle/>
          <a:p>
            <a:pPr indent="0" marL="0">
              <a:buNone/>
            </a:pPr>
            <a:r>
              <a:rPr lang="en-IE" sz="1600" dirty="0">
                <a:solidFill>
                  <a:schemeClr val="tx2"/>
                </a:solidFill>
              </a:rPr>
              <a:t>A static method belongs to the class, so it has no current object (no </a:t>
            </a:r>
            <a:r>
              <a:rPr lang="en-IE" sz="1600" dirty="0">
                <a:solidFill>
                  <a:schemeClr val="tx2"/>
                </a:solidFill>
                <a:latin typeface="Consolas" pitchFamily="34" charset="0"/>
                <a:ea typeface="Consolas" pitchFamily="34" charset="-122"/>
                <a:cs typeface="Consolas" pitchFamily="34" charset="-120"/>
              </a:rPr>
              <a:t>this</a:t>
            </a:r>
            <a:r>
              <a:rPr lang="en-IE" sz="1600" dirty="0">
                <a:solidFill>
                  <a:schemeClr val="tx2"/>
                </a:solidFill>
              </a:rPr>
              <a:t>). It can’t use instance attributes directly: it needs an object first, as </a:t>
            </a:r>
            <a:r>
              <a:rPr lang="en-IE" sz="1600" dirty="0">
                <a:solidFill>
                  <a:schemeClr val="tx2"/>
                </a:solidFill>
                <a:latin typeface="Consolas" pitchFamily="34" charset="0"/>
                <a:ea typeface="Consolas" pitchFamily="34" charset="-122"/>
                <a:cs typeface="Consolas" pitchFamily="34" charset="-120"/>
              </a:rPr>
              <a:t>main</a:t>
            </a:r>
            <a:r>
              <a:rPr lang="en-IE" sz="1600" dirty="0">
                <a:solidFill>
                  <a:schemeClr val="tx2"/>
                </a:solidFill>
              </a:rPr>
              <a:t> does.</a:t>
            </a:r>
            <a:endParaRPr lang="en-IE" sz="1600" dirty="0"/>
          </a:p>
        </p:txBody>
      </p:sp>
      <p:sp>
        <p:nvSpPr>
          <p:cNvPr id="25" name="Static error card"/>
          <p:cNvSpPr/>
          <p:nvPr/>
        </p:nvSpPr>
        <p:spPr>
          <a:xfrm>
            <a:off x="6903720" y="3474720"/>
            <a:ext cx="4739335" cy="1924558"/>
          </a:xfrm>
          <a:prstGeom prst="roundRect">
            <a:avLst>
              <a:gd name="adj" fmla="val 5701"/>
            </a:avLst>
          </a:prstGeom>
          <a:solidFill>
            <a:schemeClr val="tx1"/>
          </a:solidFill>
          <a:ln/>
          <a:effectLst>
            <a:outerShdw sx="100000" sy="100000" kx="0" ky="0" algn="bl" rotWithShape="0" blurRad="114300" dist="31750" dir="5400000">
              <a:srgbClr val="1D2433">
                <a:alpha val="12000"/>
              </a:srgbClr>
            </a:outerShdw>
          </a:effectLst>
        </p:spPr>
      </p:sp>
      <p:sp>
        <p:nvSpPr>
          <p:cNvPr id="26" name="Static error language"/>
          <p:cNvSpPr txBox="1"/>
          <p:nvPr/>
        </p:nvSpPr>
        <p:spPr>
          <a:xfrm>
            <a:off x="7178040" y="3593592"/>
            <a:ext cx="419069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27" name="Static error text"/>
          <p:cNvSpPr txBox="1"/>
          <p:nvPr/>
        </p:nvSpPr>
        <p:spPr>
          <a:xfrm>
            <a:off x="7178040" y="3968496"/>
            <a:ext cx="4190695" cy="12296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private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int</a:t>
            </a:r>
            <a:r>
              <a:rPr lang="en-IE" sz="1400" dirty="0">
                <a:solidFill>
                  <a:srgbClr val="E6EBF2"/>
                </a:solidFill>
                <a:latin typeface="Consolas" pitchFamily="34" charset="0"/>
                <a:ea typeface="Consolas" pitchFamily="34" charset="-122"/>
                <a:cs typeface="Consolas" pitchFamily="34" charset="-120"/>
              </a:rPr>
              <a:t> count = </a:t>
            </a:r>
            <a:r>
              <a:rPr lang="en-IE" sz="1400" dirty="0">
                <a:solidFill>
                  <a:srgbClr val="F2C14E"/>
                </a:solidFill>
                <a:latin typeface="Consolas" pitchFamily="34" charset="0"/>
                <a:ea typeface="Consolas" pitchFamily="34" charset="-122"/>
                <a:cs typeface="Consolas" pitchFamily="34" charset="-120"/>
              </a:rPr>
              <a:t>0</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show</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(count);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pic>
        <p:nvPicPr>
          <p:cNvPr id="28" name="Error icon" descr="Error icon">    </p:cNvPr>
          <p:cNvPicPr>
            <a:picLocks noChangeAspect="1"/>
          </p:cNvPicPr>
          <p:nvPr/>
        </p:nvPicPr>
        <p:blipFill>
          <a:blip r:embed="rId4"/>
          <a:stretch>
            <a:fillRect/>
          </a:stretch>
        </p:blipFill>
        <p:spPr>
          <a:xfrm>
            <a:off x="6903720" y="5554726"/>
            <a:ext cx="347472" cy="347472"/>
          </a:xfrm>
          <a:prstGeom prst="rect">
            <a:avLst/>
          </a:prstGeom>
        </p:spPr>
      </p:pic>
      <p:sp>
        <p:nvSpPr>
          <p:cNvPr id="29" name="Text 22"/>
          <p:cNvSpPr txBox="1"/>
          <p:nvPr/>
        </p:nvSpPr>
        <p:spPr>
          <a:xfrm>
            <a:off x="7360920" y="5490718"/>
            <a:ext cx="4282135" cy="640080"/>
          </a:xfrm>
          <a:prstGeom prst="rect">
            <a:avLst/>
          </a:prstGeom>
          <a:noFill/>
          <a:ln/>
        </p:spPr>
        <p:txBody>
          <a:bodyPr wrap="square" lIns="0" tIns="0" rIns="0" bIns="0" rtlCol="0" anchor="t"/>
          <a:lstStyle/>
          <a:p>
            <a:pPr indent="0" marL="0">
              <a:buNone/>
            </a:pPr>
            <a:r>
              <a:rPr lang="en-IE" sz="1250" dirty="0">
                <a:solidFill>
                  <a:schemeClr val="tx1"/>
                </a:solidFill>
                <a:latin typeface="Consolas" pitchFamily="34" charset="0"/>
                <a:ea typeface="Consolas" pitchFamily="34" charset="-122"/>
                <a:cs typeface="Consolas" pitchFamily="34" charset="-120"/>
              </a:rPr>
              <a:t>non-static variable count cannot be referenced from a static context</a:t>
            </a:r>
            <a:endParaRPr lang="en-IE"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53</a:t>
            </a:fld>
            <a:endParaRPr lang="en-IE"/>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16</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methods</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of these can a static method NOT use directly?</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Static attributes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Its own parameters</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Other static methods</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Instance attributes</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54</a:t>
            </a:fld>
            <a:endParaRPr lang="en-IE"/>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16</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methods</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of these can a static method NOT use directly?</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rPr>
              <a:t>Static attributes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Its own parameters</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Other static methods</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Instance attributes</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A static method belongs to the class, not to any one object, so it has no instance attributes of its own to use directly. It can use static attributes, its parameters and other static methods.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55</a:t>
            </a:fld>
            <a:endParaRPr lang="en-IE"/>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Example: the Currency class</a:t>
            </a:r>
            <a:endParaRPr lang="en-IE" sz="3400" dirty="0"/>
          </a:p>
        </p:txBody>
      </p:sp>
      <p:sp>
        <p:nvSpPr>
          <p:cNvPr id="5" name="Currency class card"/>
          <p:cNvSpPr/>
          <p:nvPr/>
        </p:nvSpPr>
        <p:spPr>
          <a:xfrm>
            <a:off x="548640" y="1691640"/>
            <a:ext cx="6812280" cy="3804158"/>
          </a:xfrm>
          <a:prstGeom prst="roundRect">
            <a:avLst>
              <a:gd name="adj" fmla="val 2884"/>
            </a:avLst>
          </a:prstGeom>
          <a:solidFill>
            <a:schemeClr val="tx1"/>
          </a:solidFill>
          <a:ln/>
          <a:effectLst>
            <a:outerShdw sx="100000" sy="100000" kx="0" ky="0" algn="bl" rotWithShape="0" blurRad="114300" dist="31750" dir="5400000">
              <a:srgbClr val="1D2433">
                <a:alpha val="12000"/>
              </a:srgbClr>
            </a:outerShdw>
          </a:effectLst>
        </p:spPr>
      </p:sp>
      <p:sp>
        <p:nvSpPr>
          <p:cNvPr id="6" name="Currency class language"/>
          <p:cNvSpPr txBox="1"/>
          <p:nvPr/>
        </p:nvSpPr>
        <p:spPr>
          <a:xfrm>
            <a:off x="822960" y="1810512"/>
            <a:ext cx="62636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Currency class text"/>
          <p:cNvSpPr txBox="1"/>
          <p:nvPr/>
        </p:nvSpPr>
        <p:spPr>
          <a:xfrm>
            <a:off x="822960" y="2185416"/>
            <a:ext cx="6263640" cy="310921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class</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Currency</a:t>
            </a: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exchangeRateYuanEuro = </a:t>
            </a:r>
            <a:r>
              <a:rPr lang="en-IE" sz="1400" dirty="0">
                <a:solidFill>
                  <a:srgbClr val="F2C14E"/>
                </a:solidFill>
                <a:latin typeface="Consolas" pitchFamily="34" charset="0"/>
                <a:ea typeface="Consolas" pitchFamily="34" charset="-122"/>
                <a:cs typeface="Consolas" pitchFamily="34" charset="-120"/>
              </a:rPr>
              <a:t>0.13</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exchangeRateEuroYuan = </a:t>
            </a:r>
            <a:r>
              <a:rPr lang="en-IE" sz="1400" dirty="0">
                <a:solidFill>
                  <a:srgbClr val="F2C14E"/>
                </a:solidFill>
                <a:latin typeface="Consolas" pitchFamily="34" charset="0"/>
                <a:ea typeface="Consolas" pitchFamily="34" charset="-122"/>
                <a:cs typeface="Consolas" pitchFamily="34" charset="-120"/>
              </a:rPr>
              <a:t>7.97</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exchangeEuro</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amount)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amount * exchangeRateEuroYuan;</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exchangeYuan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amount)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amount * exchangeRateYuanEuro;</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Note"/>
          <p:cNvSpPr/>
          <p:nvPr/>
        </p:nvSpPr>
        <p:spPr>
          <a:xfrm>
            <a:off x="7680960" y="1691640"/>
            <a:ext cx="3962095" cy="1280160"/>
          </a:xfrm>
          <a:prstGeom prst="roundRect">
            <a:avLst>
              <a:gd name="adj" fmla="val 8571"/>
            </a:avLst>
          </a:prstGeom>
          <a:solidFill>
            <a:schemeClr val="bg1"/>
          </a:solidFill>
          <a:ln/>
          <a:effectLst>
            <a:outerShdw sx="100000" sy="100000" kx="0" ky="0" algn="bl" rotWithShape="0" blurRad="114300" dist="31750" dir="5400000">
              <a:srgbClr val="1D2433">
                <a:alpha val="12000"/>
              </a:srgbClr>
            </a:outerShdw>
          </a:effectLst>
        </p:spPr>
      </p:sp>
      <p:sp>
        <p:nvSpPr>
          <p:cNvPr id="9" name="Icon tile"/>
          <p:cNvSpPr/>
          <p:nvPr/>
        </p:nvSpPr>
        <p:spPr>
          <a:xfrm>
            <a:off x="7909560" y="1965960"/>
            <a:ext cx="548640" cy="548640"/>
          </a:xfrm>
          <a:prstGeom prst="roundRect">
            <a:avLst>
              <a:gd name="adj" fmla="val 24000"/>
            </a:avLst>
          </a:prstGeom>
          <a:solidFill>
            <a:schemeClr val="accent1">
              <a:alpha val="14000"/>
            </a:schemeClr>
          </a:solidFill>
          <a:ln/>
        </p:spPr>
      </p:sp>
      <p:pic>
        <p:nvPicPr>
          <p:cNvPr id="10" name="currency eur icon" descr="currency eur icon">    </p:cNvPr>
          <p:cNvPicPr>
            <a:picLocks noChangeAspect="1"/>
          </p:cNvPicPr>
          <p:nvPr/>
        </p:nvPicPr>
        <p:blipFill>
          <a:blip r:embed="rId1"/>
          <a:stretch>
            <a:fillRect/>
          </a:stretch>
        </p:blipFill>
        <p:spPr>
          <a:xfrm>
            <a:off x="8024774" y="2081174"/>
            <a:ext cx="318211" cy="318211"/>
          </a:xfrm>
          <a:prstGeom prst="rect">
            <a:avLst/>
          </a:prstGeom>
        </p:spPr>
      </p:pic>
      <p:sp>
        <p:nvSpPr>
          <p:cNvPr id="11" name="Text 7"/>
          <p:cNvSpPr txBox="1"/>
          <p:nvPr/>
        </p:nvSpPr>
        <p:spPr>
          <a:xfrm>
            <a:off x="8641080" y="1874520"/>
            <a:ext cx="2819095" cy="347472"/>
          </a:xfrm>
          <a:prstGeom prst="rect">
            <a:avLst/>
          </a:prstGeom>
          <a:noFill/>
          <a:ln/>
        </p:spPr>
        <p:txBody>
          <a:bodyPr wrap="square" lIns="0" tIns="0" rIns="0" bIns="0" rtlCol="0" anchor="t"/>
          <a:lstStyle/>
          <a:p>
            <a:pPr indent="0" marL="0">
              <a:buNone/>
            </a:pPr>
            <a:r>
              <a:rPr lang="en-IE" sz="1700" b="1" dirty="0">
                <a:solidFill>
                  <a:schemeClr val="tx1"/>
                </a:solidFill>
              </a:rPr>
              <a:t>Two static attributes</a:t>
            </a:r>
            <a:endParaRPr lang="en-IE" sz="1700" dirty="0"/>
          </a:p>
        </p:txBody>
      </p:sp>
      <p:sp>
        <p:nvSpPr>
          <p:cNvPr id="12" name="Text 8"/>
          <p:cNvSpPr txBox="1"/>
          <p:nvPr/>
        </p:nvSpPr>
        <p:spPr>
          <a:xfrm>
            <a:off x="8641080" y="2240280"/>
            <a:ext cx="2819095" cy="640080"/>
          </a:xfrm>
          <a:prstGeom prst="rect">
            <a:avLst/>
          </a:prstGeom>
          <a:noFill/>
          <a:ln/>
        </p:spPr>
        <p:txBody>
          <a:bodyPr wrap="square" lIns="0" tIns="0" rIns="0" bIns="0" rtlCol="0" anchor="t"/>
          <a:lstStyle/>
          <a:p>
            <a:pPr indent="0" marL="0">
              <a:buNone/>
            </a:pPr>
            <a:r>
              <a:rPr lang="en-IE" sz="1400" dirty="0">
                <a:solidFill>
                  <a:schemeClr val="tx2"/>
                </a:solidFill>
              </a:rPr>
              <a:t>The exchange rates. One copy, shared by everyone.</a:t>
            </a:r>
            <a:endParaRPr lang="en-IE" sz="1400" dirty="0"/>
          </a:p>
        </p:txBody>
      </p:sp>
      <p:sp>
        <p:nvSpPr>
          <p:cNvPr id="13" name="Note"/>
          <p:cNvSpPr/>
          <p:nvPr/>
        </p:nvSpPr>
        <p:spPr>
          <a:xfrm>
            <a:off x="7680960" y="3154680"/>
            <a:ext cx="3962095" cy="1280160"/>
          </a:xfrm>
          <a:prstGeom prst="roundRect">
            <a:avLst>
              <a:gd name="adj" fmla="val 8571"/>
            </a:avLst>
          </a:prstGeom>
          <a:solidFill>
            <a:schemeClr val="bg1"/>
          </a:solidFill>
          <a:ln/>
          <a:effectLst>
            <a:outerShdw sx="100000" sy="100000" kx="0" ky="0" algn="bl" rotWithShape="0" blurRad="114300" dist="31750" dir="5400000">
              <a:srgbClr val="1D2433">
                <a:alpha val="12000"/>
              </a:srgbClr>
            </a:outerShdw>
          </a:effectLst>
        </p:spPr>
      </p:sp>
      <p:sp>
        <p:nvSpPr>
          <p:cNvPr id="14" name="Icon tile"/>
          <p:cNvSpPr/>
          <p:nvPr/>
        </p:nvSpPr>
        <p:spPr>
          <a:xfrm>
            <a:off x="7909560" y="3429000"/>
            <a:ext cx="548640" cy="548640"/>
          </a:xfrm>
          <a:prstGeom prst="roundRect">
            <a:avLst>
              <a:gd name="adj" fmla="val 24000"/>
            </a:avLst>
          </a:prstGeom>
          <a:solidFill>
            <a:schemeClr val="accent4">
              <a:alpha val="14000"/>
            </a:schemeClr>
          </a:solidFill>
          <a:ln/>
        </p:spPr>
      </p:sp>
      <p:pic>
        <p:nvPicPr>
          <p:cNvPr id="15" name="function icon" descr="function icon">    </p:cNvPr>
          <p:cNvPicPr>
            <a:picLocks noChangeAspect="1"/>
          </p:cNvPicPr>
          <p:nvPr/>
        </p:nvPicPr>
        <p:blipFill>
          <a:blip r:embed="rId2"/>
          <a:stretch>
            <a:fillRect/>
          </a:stretch>
        </p:blipFill>
        <p:spPr>
          <a:xfrm>
            <a:off x="8024774" y="3544214"/>
            <a:ext cx="318211" cy="318211"/>
          </a:xfrm>
          <a:prstGeom prst="rect">
            <a:avLst/>
          </a:prstGeom>
        </p:spPr>
      </p:pic>
      <p:sp>
        <p:nvSpPr>
          <p:cNvPr id="16" name="Text 11"/>
          <p:cNvSpPr txBox="1"/>
          <p:nvPr/>
        </p:nvSpPr>
        <p:spPr>
          <a:xfrm>
            <a:off x="8641080" y="3337560"/>
            <a:ext cx="2819095" cy="347472"/>
          </a:xfrm>
          <a:prstGeom prst="rect">
            <a:avLst/>
          </a:prstGeom>
          <a:noFill/>
          <a:ln/>
        </p:spPr>
        <p:txBody>
          <a:bodyPr wrap="square" lIns="0" tIns="0" rIns="0" bIns="0" rtlCol="0" anchor="t"/>
          <a:lstStyle/>
          <a:p>
            <a:pPr indent="0" marL="0">
              <a:buNone/>
            </a:pPr>
            <a:r>
              <a:rPr lang="en-IE" sz="1700" b="1" dirty="0">
                <a:solidFill>
                  <a:schemeClr val="tx1"/>
                </a:solidFill>
              </a:rPr>
              <a:t>Two static methods</a:t>
            </a:r>
            <a:endParaRPr lang="en-IE" sz="1700" dirty="0"/>
          </a:p>
        </p:txBody>
      </p:sp>
      <p:sp>
        <p:nvSpPr>
          <p:cNvPr id="17" name="Text 12"/>
          <p:cNvSpPr txBox="1"/>
          <p:nvPr/>
        </p:nvSpPr>
        <p:spPr>
          <a:xfrm>
            <a:off x="8641080" y="3703320"/>
            <a:ext cx="2819095" cy="640080"/>
          </a:xfrm>
          <a:prstGeom prst="rect">
            <a:avLst/>
          </a:prstGeom>
          <a:noFill/>
          <a:ln/>
        </p:spPr>
        <p:txBody>
          <a:bodyPr wrap="square" lIns="0" tIns="0" rIns="0" bIns="0" rtlCol="0" anchor="t"/>
          <a:lstStyle/>
          <a:p>
            <a:pPr indent="0" marL="0">
              <a:buNone/>
            </a:pPr>
            <a:r>
              <a:rPr lang="en-IE" sz="1400" dirty="0">
                <a:solidFill>
                  <a:schemeClr val="tx2"/>
                </a:solidFill>
              </a:rPr>
              <a:t>They use the static rates to convert an amount.</a:t>
            </a:r>
            <a:endParaRPr lang="en-IE" sz="1400" dirty="0"/>
          </a:p>
        </p:txBody>
      </p:sp>
      <p:sp>
        <p:nvSpPr>
          <p:cNvPr id="18" name="Note"/>
          <p:cNvSpPr/>
          <p:nvPr/>
        </p:nvSpPr>
        <p:spPr>
          <a:xfrm>
            <a:off x="7680960" y="4617720"/>
            <a:ext cx="3962095" cy="1280160"/>
          </a:xfrm>
          <a:prstGeom prst="roundRect">
            <a:avLst>
              <a:gd name="adj" fmla="val 8571"/>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7909560" y="4892040"/>
            <a:ext cx="548640" cy="548640"/>
          </a:xfrm>
          <a:prstGeom prst="roundRect">
            <a:avLst>
              <a:gd name="adj" fmla="val 24000"/>
            </a:avLst>
          </a:prstGeom>
          <a:solidFill>
            <a:schemeClr val="accent3">
              <a:alpha val="14000"/>
            </a:schemeClr>
          </a:solidFill>
          <a:ln/>
        </p:spPr>
      </p:sp>
      <p:pic>
        <p:nvPicPr>
          <p:cNvPr id="20" name="cube icon" descr="cube icon">    </p:cNvPr>
          <p:cNvPicPr>
            <a:picLocks noChangeAspect="1"/>
          </p:cNvPicPr>
          <p:nvPr/>
        </p:nvPicPr>
        <p:blipFill>
          <a:blip r:embed="rId3"/>
          <a:stretch>
            <a:fillRect/>
          </a:stretch>
        </p:blipFill>
        <p:spPr>
          <a:xfrm>
            <a:off x="8024774" y="5007254"/>
            <a:ext cx="318211" cy="318211"/>
          </a:xfrm>
          <a:prstGeom prst="rect">
            <a:avLst/>
          </a:prstGeom>
        </p:spPr>
      </p:pic>
      <p:sp>
        <p:nvSpPr>
          <p:cNvPr id="21" name="Text 15"/>
          <p:cNvSpPr txBox="1"/>
          <p:nvPr/>
        </p:nvSpPr>
        <p:spPr>
          <a:xfrm>
            <a:off x="8641080" y="4800600"/>
            <a:ext cx="2819095" cy="347472"/>
          </a:xfrm>
          <a:prstGeom prst="rect">
            <a:avLst/>
          </a:prstGeom>
          <a:noFill/>
          <a:ln/>
        </p:spPr>
        <p:txBody>
          <a:bodyPr wrap="square" lIns="0" tIns="0" rIns="0" bIns="0" rtlCol="0" anchor="t"/>
          <a:lstStyle/>
          <a:p>
            <a:pPr indent="0" marL="0">
              <a:buNone/>
            </a:pPr>
            <a:r>
              <a:rPr lang="en-IE" sz="1700" b="1" dirty="0">
                <a:solidFill>
                  <a:schemeClr val="tx1"/>
                </a:solidFill>
              </a:rPr>
              <a:t>No object needed</a:t>
            </a:r>
            <a:endParaRPr lang="en-IE" sz="1700" dirty="0"/>
          </a:p>
        </p:txBody>
      </p:sp>
      <p:sp>
        <p:nvSpPr>
          <p:cNvPr id="22" name="Text 16"/>
          <p:cNvSpPr txBox="1"/>
          <p:nvPr/>
        </p:nvSpPr>
        <p:spPr>
          <a:xfrm>
            <a:off x="8641080" y="5166360"/>
            <a:ext cx="2819095" cy="640080"/>
          </a:xfrm>
          <a:prstGeom prst="rect">
            <a:avLst/>
          </a:prstGeom>
          <a:noFill/>
          <a:ln/>
        </p:spPr>
        <p:txBody>
          <a:bodyPr wrap="square" lIns="0" tIns="0" rIns="0" bIns="0" rtlCol="0" anchor="t"/>
          <a:lstStyle/>
          <a:p>
            <a:pPr indent="0" marL="0">
              <a:buNone/>
            </a:pPr>
            <a:r>
              <a:rPr lang="en-IE" sz="1400" dirty="0">
                <a:solidFill>
                  <a:schemeClr val="tx2"/>
                </a:solidFill>
              </a:rPr>
              <a:t>Other classes write </a:t>
            </a:r>
            <a:r>
              <a:rPr lang="en-IE" sz="1400" dirty="0">
                <a:solidFill>
                  <a:schemeClr val="accent2"/>
                </a:solidFill>
                <a:latin typeface="Consolas" pitchFamily="34" charset="0"/>
                <a:ea typeface="Consolas" pitchFamily="34" charset="-122"/>
                <a:cs typeface="Consolas" pitchFamily="34" charset="-120"/>
              </a:rPr>
              <a:t>Currency.exchangeYuan(…)</a:t>
            </a:r>
            <a:r>
              <a:rPr lang="en-IE" sz="1400" dirty="0">
                <a:solidFill>
                  <a:schemeClr val="tx2"/>
                </a:solidFill>
              </a:rPr>
              <a:t>.</a:t>
            </a:r>
            <a:endParaRPr lang="en-IE"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56</a:t>
            </a:fld>
            <a:endParaRPr lang="en-IE"/>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INSTANCES AND STATIC</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Using the Currency class</a:t>
            </a:r>
            <a:endParaRPr lang="en-IE" sz="3400" dirty="0"/>
          </a:p>
        </p:txBody>
      </p:sp>
      <p:sp>
        <p:nvSpPr>
          <p:cNvPr id="5" name="Main method card"/>
          <p:cNvSpPr/>
          <p:nvPr/>
        </p:nvSpPr>
        <p:spPr>
          <a:xfrm>
            <a:off x="548640" y="1783080"/>
            <a:ext cx="6812280" cy="2159508"/>
          </a:xfrm>
          <a:prstGeom prst="roundRect">
            <a:avLst>
              <a:gd name="adj" fmla="val 5081"/>
            </a:avLst>
          </a:prstGeom>
          <a:solidFill>
            <a:schemeClr val="tx1"/>
          </a:solidFill>
          <a:ln/>
          <a:effectLst>
            <a:outerShdw sx="100000" sy="100000" kx="0" ky="0" algn="bl" rotWithShape="0" blurRad="114300" dist="31750" dir="5400000">
              <a:srgbClr val="1D2433">
                <a:alpha val="12000"/>
              </a:srgbClr>
            </a:outerShdw>
          </a:effectLst>
        </p:spPr>
      </p:sp>
      <p:sp>
        <p:nvSpPr>
          <p:cNvPr id="6" name="Main method language"/>
          <p:cNvSpPr txBox="1"/>
          <p:nvPr/>
        </p:nvSpPr>
        <p:spPr>
          <a:xfrm>
            <a:off x="822960" y="1901952"/>
            <a:ext cx="626364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Main method text"/>
          <p:cNvSpPr txBox="1"/>
          <p:nvPr/>
        </p:nvSpPr>
        <p:spPr>
          <a:xfrm>
            <a:off x="822960" y="2276856"/>
            <a:ext cx="6263640" cy="1464564"/>
          </a:xfrm>
          <a:prstGeom prst="rect">
            <a:avLst/>
          </a:prstGeom>
          <a:noFill/>
          <a:ln/>
        </p:spPr>
        <p:txBody>
          <a:bodyPr wrap="square" lIns="0" tIns="0" rIns="0" bIns="0" rtlCol="0" anchor="t"/>
          <a:lstStyle/>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public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static</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void</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C9B0FF"/>
                </a:solidFill>
                <a:latin typeface="Consolas" pitchFamily="34" charset="0"/>
                <a:ea typeface="Consolas" pitchFamily="34" charset="-122"/>
                <a:cs typeface="Consolas" pitchFamily="34" charset="-120"/>
              </a:rPr>
              <a:t>main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String</a:t>
            </a:r>
            <a:r>
              <a:rPr lang="en-IE" sz="1400" dirty="0">
                <a:solidFill>
                  <a:srgbClr val="E6EBF2"/>
                </a:solidFill>
                <a:latin typeface="Consolas" pitchFamily="34" charset="0"/>
                <a:ea typeface="Consolas" pitchFamily="34" charset="-122"/>
                <a:cs typeface="Consolas" pitchFamily="34" charset="-120"/>
              </a:rPr>
              <a:t>[] args) {</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6CC4E8"/>
                </a:solidFill>
                <a:latin typeface="Consolas" pitchFamily="34" charset="0"/>
                <a:ea typeface="Consolas" pitchFamily="34" charset="-122"/>
                <a:cs typeface="Consolas" pitchFamily="34" charset="-120"/>
              </a:rPr>
              <a:t>Currency</a:t>
            </a:r>
            <a:r>
              <a:rPr lang="en-IE" sz="1400" dirty="0">
                <a:solidFill>
                  <a:srgbClr val="E6EBF2"/>
                </a:solidFill>
                <a:latin typeface="Consolas" pitchFamily="34" charset="0"/>
                <a:ea typeface="Consolas" pitchFamily="34" charset="-122"/>
                <a:cs typeface="Consolas" pitchFamily="34" charset="-120"/>
              </a:rPr>
              <a:t>.exchangeRateEuroYuan);</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yuan = </a:t>
            </a:r>
            <a:r>
              <a:rPr lang="en-IE" sz="1400" dirty="0">
                <a:solidFill>
                  <a:srgbClr val="F2C14E"/>
                </a:solidFill>
                <a:latin typeface="Consolas" pitchFamily="34" charset="0"/>
                <a:ea typeface="Consolas" pitchFamily="34" charset="-122"/>
                <a:cs typeface="Consolas" pitchFamily="34" charset="-120"/>
              </a:rPr>
              <a:t>500</a:t>
            </a:r>
            <a:r>
              <a:rPr lang="en-IE" sz="1400" dirty="0">
                <a:solidFill>
                  <a:srgbClr val="E6EBF2"/>
                </a:solidFill>
                <a:latin typeface="Consolas" pitchFamily="34" charset="0"/>
                <a:ea typeface="Consolas" pitchFamily="34" charset="-122"/>
                <a:cs typeface="Consolas" pitchFamily="34" charset="-120"/>
              </a:rPr>
              <a:t>;</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F9F5A"/>
                </a:solidFill>
                <a:latin typeface="Consolas" pitchFamily="34" charset="0"/>
                <a:ea typeface="Consolas" pitchFamily="34" charset="-122"/>
                <a:cs typeface="Consolas" pitchFamily="34" charset="-120"/>
              </a:rPr>
              <a:t>double</a:t>
            </a:r>
            <a:r>
              <a:rPr lang="en-IE" sz="1400" dirty="0">
                <a:solidFill>
                  <a:srgbClr val="E6EBF2"/>
                </a:solidFill>
                <a:latin typeface="Consolas" pitchFamily="34" charset="0"/>
                <a:ea typeface="Consolas" pitchFamily="34" charset="-122"/>
                <a:cs typeface="Consolas" pitchFamily="34" charset="-120"/>
              </a:rPr>
              <a:t> euros = </a:t>
            </a:r>
            <a:r>
              <a:rPr lang="en-IE" sz="1400" dirty="0">
                <a:solidFill>
                  <a:srgbClr val="6CC4E8"/>
                </a:solidFill>
                <a:latin typeface="Consolas" pitchFamily="34" charset="0"/>
                <a:ea typeface="Consolas" pitchFamily="34" charset="-122"/>
                <a:cs typeface="Consolas" pitchFamily="34" charset="-120"/>
              </a:rPr>
              <a:t>Currency</a:t>
            </a:r>
            <a:r>
              <a:rPr lang="en-IE" sz="1400" dirty="0">
                <a:solidFill>
                  <a:srgbClr val="E6EBF2"/>
                </a:solidFill>
                <a:latin typeface="Consolas" pitchFamily="34" charset="0"/>
                <a:ea typeface="Consolas" pitchFamily="34" charset="-122"/>
                <a:cs typeface="Consolas" pitchFamily="34" charset="-120"/>
              </a:rPr>
              <a:t>.</a:t>
            </a:r>
            <a:r>
              <a:rPr lang="en-IE" sz="1400" dirty="0">
                <a:solidFill>
                  <a:srgbClr val="C9B0FF"/>
                </a:solidFill>
                <a:latin typeface="Consolas" pitchFamily="34" charset="0"/>
                <a:ea typeface="Consolas" pitchFamily="34" charset="-122"/>
                <a:cs typeface="Consolas" pitchFamily="34" charset="-120"/>
              </a:rPr>
              <a:t>exchangeYuan</a:t>
            </a:r>
            <a:r>
              <a:rPr lang="en-IE" sz="1400" dirty="0">
                <a:solidFill>
                  <a:srgbClr val="E6EBF2"/>
                </a:solidFill>
                <a:latin typeface="Consolas" pitchFamily="34" charset="0"/>
                <a:ea typeface="Consolas" pitchFamily="34" charset="-122"/>
                <a:cs typeface="Consolas" pitchFamily="34" charset="-120"/>
              </a:rPr>
              <a:t>(yuan);</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6CC4E8"/>
                </a:solidFill>
                <a:latin typeface="Consolas" pitchFamily="34" charset="0"/>
                <a:ea typeface="Consolas" pitchFamily="34" charset="-122"/>
                <a:cs typeface="Consolas" pitchFamily="34" charset="-120"/>
              </a:rPr>
              <a:t>System</a:t>
            </a:r>
            <a:r>
              <a:rPr lang="en-IE" sz="1400" dirty="0">
                <a:solidFill>
                  <a:srgbClr val="E6EBF2"/>
                </a:solidFill>
                <a:latin typeface="Consolas" pitchFamily="34" charset="0"/>
                <a:ea typeface="Consolas" pitchFamily="34" charset="-122"/>
                <a:cs typeface="Consolas" pitchFamily="34" charset="-120"/>
              </a:rPr>
              <a:t>.out.</a:t>
            </a:r>
            <a:r>
              <a:rPr lang="en-IE" sz="1400" dirty="0">
                <a:solidFill>
                  <a:srgbClr val="C9B0FF"/>
                </a:solidFill>
                <a:latin typeface="Consolas" pitchFamily="34" charset="0"/>
                <a:ea typeface="Consolas" pitchFamily="34" charset="-122"/>
                <a:cs typeface="Consolas" pitchFamily="34" charset="-120"/>
              </a:rPr>
              <a:t>println</a:t>
            </a:r>
            <a:r>
              <a:rPr lang="en-IE" sz="1400" dirty="0">
                <a:solidFill>
                  <a:srgbClr val="E6EBF2"/>
                </a:solidFill>
                <a:latin typeface="Consolas" pitchFamily="34" charset="0"/>
                <a:ea typeface="Consolas" pitchFamily="34" charset="-122"/>
                <a:cs typeface="Consolas" pitchFamily="34" charset="-120"/>
              </a:rPr>
              <a:t>(euros);</a:t>
            </a:r>
            <a:endParaRPr lang="en-IE" sz="1400" dirty="0"/>
          </a:p>
          <a:p>
            <a:pPr indent="0" marL="0">
              <a:lnSpc>
                <a:spcPts val="1850"/>
              </a:lnSpc>
              <a:buNone/>
            </a:pPr>
            <a:r>
              <a:rPr lang="en-IE" sz="1400" dirty="0">
                <a:solidFill>
                  <a:srgbClr val="E6EBF2"/>
                </a:solidFill>
                <a:latin typeface="Consolas" pitchFamily="34" charset="0"/>
                <a:ea typeface="Consolas" pitchFamily="34" charset="-122"/>
                <a:cs typeface="Consolas" pitchFamily="34" charset="-120"/>
              </a:rPr>
              <a:t>}</a:t>
            </a:r>
            <a:endParaRPr lang="en-IE" sz="1400" dirty="0"/>
          </a:p>
        </p:txBody>
      </p:sp>
      <p:sp>
        <p:nvSpPr>
          <p:cNvPr id="8" name="Output card"/>
          <p:cNvSpPr/>
          <p:nvPr/>
        </p:nvSpPr>
        <p:spPr>
          <a:xfrm>
            <a:off x="7680960" y="1783080"/>
            <a:ext cx="3962095" cy="2159508"/>
          </a:xfrm>
          <a:prstGeom prst="roundRect">
            <a:avLst>
              <a:gd name="adj" fmla="val 5081"/>
            </a:avLst>
          </a:prstGeom>
          <a:solidFill>
            <a:schemeClr val="tx1"/>
          </a:solidFill>
          <a:ln/>
          <a:effectLst>
            <a:outerShdw sx="100000" sy="100000" kx="0" ky="0" algn="bl" rotWithShape="0" blurRad="114300" dist="31750" dir="5400000">
              <a:srgbClr val="1D2433">
                <a:alpha val="12000"/>
              </a:srgbClr>
            </a:outerShdw>
          </a:effectLst>
        </p:spPr>
      </p:sp>
      <p:sp>
        <p:nvSpPr>
          <p:cNvPr id="9" name="Text 6"/>
          <p:cNvSpPr txBox="1"/>
          <p:nvPr/>
        </p:nvSpPr>
        <p:spPr>
          <a:xfrm>
            <a:off x="7955280" y="1901952"/>
            <a:ext cx="3413455"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Output</a:t>
            </a:r>
            <a:endParaRPr lang="en-IE" sz="1050" dirty="0"/>
          </a:p>
        </p:txBody>
      </p:sp>
      <p:sp>
        <p:nvSpPr>
          <p:cNvPr id="10" name="Output text"/>
          <p:cNvSpPr txBox="1"/>
          <p:nvPr/>
        </p:nvSpPr>
        <p:spPr>
          <a:xfrm>
            <a:off x="7955280" y="2240280"/>
            <a:ext cx="3413455" cy="1519428"/>
          </a:xfrm>
          <a:prstGeom prst="rect">
            <a:avLst/>
          </a:prstGeom>
          <a:noFill/>
          <a:ln/>
        </p:spPr>
        <p:txBody>
          <a:bodyPr wrap="square" lIns="0" tIns="0" rIns="0" bIns="0" rtlCol="0" anchor="t"/>
          <a:lstStyle/>
          <a:p>
            <a:pPr indent="0" marL="0">
              <a:lnSpc>
                <a:spcPts val="2970"/>
              </a:lnSpc>
              <a:buNone/>
            </a:pPr>
            <a:r>
              <a:rPr lang="en-IE" sz="2200" dirty="0">
                <a:solidFill>
                  <a:srgbClr val="A9DB8C"/>
                </a:solidFill>
                <a:latin typeface="Consolas" pitchFamily="34" charset="0"/>
                <a:ea typeface="Consolas" pitchFamily="34" charset="-122"/>
                <a:cs typeface="Consolas" pitchFamily="34" charset="-120"/>
              </a:rPr>
              <a:t>7.97</a:t>
            </a:r>
            <a:endParaRPr lang="en-IE" sz="2200" dirty="0"/>
          </a:p>
          <a:p>
            <a:pPr indent="0" marL="0">
              <a:lnSpc>
                <a:spcPts val="2970"/>
              </a:lnSpc>
              <a:buNone/>
            </a:pPr>
            <a:r>
              <a:rPr lang="en-IE" sz="2200" dirty="0">
                <a:solidFill>
                  <a:srgbClr val="A9DB8C"/>
                </a:solidFill>
                <a:latin typeface="Consolas" pitchFamily="34" charset="0"/>
                <a:ea typeface="Consolas" pitchFamily="34" charset="-122"/>
                <a:cs typeface="Consolas" pitchFamily="34" charset="-120"/>
              </a:rPr>
              <a:t>65.0</a:t>
            </a:r>
            <a:endParaRPr lang="en-IE" sz="2200" dirty="0"/>
          </a:p>
        </p:txBody>
      </p:sp>
      <p:sp>
        <p:nvSpPr>
          <p:cNvPr id="11" name="Code chip"/>
          <p:cNvSpPr/>
          <p:nvPr/>
        </p:nvSpPr>
        <p:spPr>
          <a:xfrm>
            <a:off x="548640" y="4262628"/>
            <a:ext cx="914400" cy="420624"/>
          </a:xfrm>
          <a:prstGeom prst="roundRect">
            <a:avLst>
              <a:gd name="adj" fmla="val 17391"/>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7.97</a:t>
            </a:r>
            <a:endParaRPr lang="en-IE" sz="1600" dirty="0"/>
          </a:p>
        </p:txBody>
      </p:sp>
      <p:sp>
        <p:nvSpPr>
          <p:cNvPr id="12" name="Text 9"/>
          <p:cNvSpPr txBox="1"/>
          <p:nvPr/>
        </p:nvSpPr>
        <p:spPr>
          <a:xfrm>
            <a:off x="1645920" y="4262628"/>
            <a:ext cx="9997135" cy="420624"/>
          </a:xfrm>
          <a:prstGeom prst="rect">
            <a:avLst/>
          </a:prstGeom>
          <a:noFill/>
          <a:ln/>
        </p:spPr>
        <p:txBody>
          <a:bodyPr wrap="square" lIns="0" tIns="0" rIns="0" bIns="0" rtlCol="0" anchor="ctr"/>
          <a:lstStyle/>
          <a:p>
            <a:pPr indent="0" marL="0">
              <a:buNone/>
            </a:pPr>
            <a:r>
              <a:rPr lang="en-IE" sz="1600" dirty="0">
                <a:solidFill>
                  <a:schemeClr val="tx2"/>
                </a:solidFill>
              </a:rPr>
              <a:t>the static rate, read through the class name</a:t>
            </a:r>
            <a:endParaRPr lang="en-IE" sz="1600" dirty="0"/>
          </a:p>
        </p:txBody>
      </p:sp>
      <p:sp>
        <p:nvSpPr>
          <p:cNvPr id="13" name="Code chip"/>
          <p:cNvSpPr/>
          <p:nvPr/>
        </p:nvSpPr>
        <p:spPr>
          <a:xfrm>
            <a:off x="548640" y="4811268"/>
            <a:ext cx="914400" cy="420624"/>
          </a:xfrm>
          <a:prstGeom prst="roundRect">
            <a:avLst>
              <a:gd name="adj" fmla="val 17391"/>
            </a:avLst>
          </a:prstGeom>
          <a:solidFill>
            <a:schemeClr val="bg2"/>
          </a:solidFill>
          <a:ln/>
        </p:spPr>
        <p:txBody>
          <a:bodyPr wrap="square" lIns="0" tIns="0" rIns="0" bIns="0" rtlCol="0" anchor="ctr"/>
          <a:lstStyle/>
          <a:p>
            <a:pPr algn="ctr" indent="0" marL="0">
              <a:buNone/>
            </a:pPr>
            <a:r>
              <a:rPr lang="en-IE" sz="1600" dirty="0">
                <a:solidFill>
                  <a:schemeClr val="accent2"/>
                </a:solidFill>
                <a:latin typeface="Consolas" pitchFamily="34" charset="0"/>
                <a:ea typeface="Consolas" pitchFamily="34" charset="-122"/>
                <a:cs typeface="Consolas" pitchFamily="34" charset="-120"/>
              </a:rPr>
              <a:t>65.0</a:t>
            </a:r>
            <a:endParaRPr lang="en-IE" sz="1600" dirty="0"/>
          </a:p>
        </p:txBody>
      </p:sp>
      <p:sp>
        <p:nvSpPr>
          <p:cNvPr id="14" name="Text 11"/>
          <p:cNvSpPr txBox="1"/>
          <p:nvPr/>
        </p:nvSpPr>
        <p:spPr>
          <a:xfrm>
            <a:off x="1645920" y="4811268"/>
            <a:ext cx="9997135" cy="420624"/>
          </a:xfrm>
          <a:prstGeom prst="rect">
            <a:avLst/>
          </a:prstGeom>
          <a:noFill/>
          <a:ln/>
        </p:spPr>
        <p:txBody>
          <a:bodyPr wrap="square" lIns="0" tIns="0" rIns="0" bIns="0" rtlCol="0" anchor="ctr"/>
          <a:lstStyle/>
          <a:p>
            <a:pPr indent="0" marL="0">
              <a:buNone/>
            </a:pPr>
            <a:r>
              <a:rPr lang="en-IE" sz="1600" dirty="0">
                <a:solidFill>
                  <a:schemeClr val="tx2"/>
                </a:solidFill>
              </a:rPr>
              <a:t>500 × 0.13, worked out by the static method</a:t>
            </a:r>
            <a:endParaRPr lang="en-IE" sz="1600" dirty="0"/>
          </a:p>
        </p:txBody>
      </p:sp>
      <p:sp>
        <p:nvSpPr>
          <p:cNvPr id="15" name="Note"/>
          <p:cNvSpPr/>
          <p:nvPr/>
        </p:nvSpPr>
        <p:spPr>
          <a:xfrm>
            <a:off x="548640" y="5394960"/>
            <a:ext cx="11094415" cy="777240"/>
          </a:xfrm>
          <a:prstGeom prst="roundRect">
            <a:avLst>
              <a:gd name="adj" fmla="val 14118"/>
            </a:avLst>
          </a:prstGeom>
          <a:solidFill>
            <a:schemeClr val="bg2"/>
          </a:solidFill>
          <a:ln/>
        </p:spPr>
      </p:sp>
      <p:sp>
        <p:nvSpPr>
          <p:cNvPr id="16" name="Icon tile"/>
          <p:cNvSpPr/>
          <p:nvPr/>
        </p:nvSpPr>
        <p:spPr>
          <a:xfrm>
            <a:off x="822960" y="5518404"/>
            <a:ext cx="530352" cy="530352"/>
          </a:xfrm>
          <a:prstGeom prst="roundRect">
            <a:avLst>
              <a:gd name="adj" fmla="val 24000"/>
            </a:avLst>
          </a:prstGeom>
          <a:solidFill>
            <a:schemeClr val="accent2">
              <a:alpha val="14000"/>
            </a:schemeClr>
          </a:solidFill>
          <a:ln/>
        </p:spPr>
      </p:sp>
      <p:pic>
        <p:nvPicPr>
          <p:cNvPr id="17" name="info icon" descr="info icon">    </p:cNvPr>
          <p:cNvPicPr>
            <a:picLocks noChangeAspect="1"/>
          </p:cNvPicPr>
          <p:nvPr/>
        </p:nvPicPr>
        <p:blipFill>
          <a:blip r:embed="rId1"/>
          <a:stretch>
            <a:fillRect/>
          </a:stretch>
        </p:blipFill>
        <p:spPr>
          <a:xfrm>
            <a:off x="934334" y="5629778"/>
            <a:ext cx="307604" cy="307604"/>
          </a:xfrm>
          <a:prstGeom prst="rect">
            <a:avLst/>
          </a:prstGeom>
        </p:spPr>
      </p:pic>
      <p:sp>
        <p:nvSpPr>
          <p:cNvPr id="18" name="Text 14"/>
          <p:cNvSpPr txBox="1"/>
          <p:nvPr/>
        </p:nvSpPr>
        <p:spPr>
          <a:xfrm>
            <a:off x="1572768" y="5394960"/>
            <a:ext cx="9814255" cy="777240"/>
          </a:xfrm>
          <a:prstGeom prst="rect">
            <a:avLst/>
          </a:prstGeom>
          <a:noFill/>
          <a:ln/>
        </p:spPr>
        <p:txBody>
          <a:bodyPr wrap="square" lIns="0" tIns="0" rIns="0" bIns="0" rtlCol="0" anchor="ctr"/>
          <a:lstStyle/>
          <a:p>
            <a:pPr indent="0" marL="0">
              <a:buNone/>
            </a:pPr>
            <a:r>
              <a:rPr lang="en-IE" sz="1800" dirty="0">
                <a:solidFill>
                  <a:schemeClr val="tx1"/>
                </a:solidFill>
              </a:rPr>
              <a:t>There is no </a:t>
            </a:r>
            <a:r>
              <a:rPr lang="en-IE" sz="1800" dirty="0">
                <a:solidFill>
                  <a:schemeClr val="accent2"/>
                </a:solidFill>
                <a:latin typeface="Consolas" pitchFamily="34" charset="0"/>
                <a:ea typeface="Consolas" pitchFamily="34" charset="-122"/>
                <a:cs typeface="Consolas" pitchFamily="34" charset="-120"/>
              </a:rPr>
              <a:t>new Currency()</a:t>
            </a:r>
            <a:r>
              <a:rPr lang="en-IE" sz="1800" dirty="0">
                <a:solidFill>
                  <a:schemeClr val="tx1"/>
                </a:solidFill>
              </a:rPr>
              <a:t> anywhere. Everything is used through the class name.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57</a:t>
            </a:fld>
            <a:endParaRPr lang="en-IE"/>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17</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example</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What does </a:t>
            </a:r>
            <a:r>
              <a:rPr lang="en-IE" sz="2800" b="1" dirty="0">
                <a:solidFill>
                  <a:schemeClr val="accent2"/>
                </a:solidFill>
                <a:latin typeface="Consolas" pitchFamily="34" charset="0"/>
                <a:ea typeface="Consolas" pitchFamily="34" charset="-122"/>
                <a:cs typeface="Consolas" pitchFamily="34" charset="-120"/>
              </a:rPr>
              <a:t>Currency.exchangeYuan(200)</a:t>
            </a:r>
            <a:r>
              <a:rPr lang="en-IE" sz="2800" b="1" dirty="0">
                <a:solidFill>
                  <a:schemeClr val="tx1"/>
                </a:solidFill>
              </a:rPr>
              <a:t> return?</a:t>
            </a:r>
            <a:endParaRPr lang="en-IE" sz="2800" dirty="0"/>
          </a:p>
        </p:txBody>
      </p:sp>
      <p:sp>
        <p:nvSpPr>
          <p:cNvPr id="5" name="Question code card"/>
          <p:cNvSpPr/>
          <p:nvPr/>
        </p:nvSpPr>
        <p:spPr>
          <a:xfrm>
            <a:off x="548640" y="2728976"/>
            <a:ext cx="6035040" cy="2497328"/>
          </a:xfrm>
          <a:prstGeom prst="roundRect">
            <a:avLst>
              <a:gd name="adj" fmla="val 4394"/>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nguage"/>
          <p:cNvSpPr txBox="1"/>
          <p:nvPr/>
        </p:nvSpPr>
        <p:spPr>
          <a:xfrm>
            <a:off x="822960" y="2847848"/>
            <a:ext cx="5486400"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7" name="Question code text"/>
          <p:cNvSpPr txBox="1"/>
          <p:nvPr/>
        </p:nvSpPr>
        <p:spPr>
          <a:xfrm>
            <a:off x="822960" y="3222752"/>
            <a:ext cx="5486400" cy="1802384"/>
          </a:xfrm>
          <a:prstGeom prst="rect">
            <a:avLst/>
          </a:prstGeom>
          <a:noFill/>
          <a:ln/>
        </p:spPr>
        <p:txBody>
          <a:bodyPr wrap="square" lIns="0" tIns="0" rIns="0" bIns="0" rtlCol="0" anchor="t"/>
          <a:lstStyle/>
          <a:p>
            <a:pPr indent="0" marL="0">
              <a:lnSpc>
                <a:spcPts val="1720"/>
              </a:lnSpc>
              <a:buNone/>
            </a:pP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class</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6CC4E8"/>
                </a:solidFill>
                <a:latin typeface="Consolas" pitchFamily="34" charset="0"/>
                <a:ea typeface="Consolas" pitchFamily="34" charset="-122"/>
                <a:cs typeface="Consolas" pitchFamily="34" charset="-120"/>
              </a:rPr>
              <a:t>Currency</a:t>
            </a: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exchangeRateYuanEuro = </a:t>
            </a:r>
            <a:r>
              <a:rPr lang="en-IE" sz="1300" dirty="0">
                <a:solidFill>
                  <a:srgbClr val="F2C14E"/>
                </a:solidFill>
                <a:latin typeface="Consolas" pitchFamily="34" charset="0"/>
                <a:ea typeface="Consolas" pitchFamily="34" charset="-122"/>
                <a:cs typeface="Consolas" pitchFamily="34" charset="-120"/>
              </a:rPr>
              <a:t>0.13</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exchangeRateEuroYuan = </a:t>
            </a:r>
            <a:r>
              <a:rPr lang="en-IE" sz="1300" dirty="0">
                <a:solidFill>
                  <a:srgbClr val="F2C14E"/>
                </a:solidFill>
                <a:latin typeface="Consolas" pitchFamily="34" charset="0"/>
                <a:ea typeface="Consolas" pitchFamily="34" charset="-122"/>
                <a:cs typeface="Consolas" pitchFamily="34" charset="-120"/>
              </a:rPr>
              <a:t>7.97</a:t>
            </a:r>
            <a:r>
              <a:rPr lang="en-IE" sz="1300" dirty="0">
                <a:solidFill>
                  <a:srgbClr val="E6EBF2"/>
                </a:solidFill>
                <a:latin typeface="Consolas" pitchFamily="34" charset="0"/>
                <a:ea typeface="Consolas" pitchFamily="34" charset="-122"/>
                <a:cs typeface="Consolas" pitchFamily="34" charset="-120"/>
              </a:rPr>
              <a:t>;</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public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static</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C9B0FF"/>
                </a:solidFill>
                <a:latin typeface="Consolas" pitchFamily="34" charset="0"/>
                <a:ea typeface="Consolas" pitchFamily="34" charset="-122"/>
                <a:cs typeface="Consolas" pitchFamily="34" charset="-120"/>
              </a:rPr>
              <a:t>exchangeYuan</a:t>
            </a:r>
            <a:r>
              <a:rPr lang="en-IE" sz="1300" dirty="0">
                <a:solidFill>
                  <a:srgbClr val="E6EBF2"/>
                </a:solidFill>
                <a:latin typeface="Consolas" pitchFamily="34" charset="0"/>
                <a:ea typeface="Consolas" pitchFamily="34" charset="-122"/>
                <a:cs typeface="Consolas" pitchFamily="34" charset="-120"/>
              </a:rPr>
              <a:t>(</a:t>
            </a:r>
            <a:r>
              <a:rPr lang="en-IE" sz="1300" dirty="0">
                <a:solidFill>
                  <a:srgbClr val="FF9F5A"/>
                </a:solidFill>
                <a:latin typeface="Consolas" pitchFamily="34" charset="0"/>
                <a:ea typeface="Consolas" pitchFamily="34" charset="-122"/>
                <a:cs typeface="Consolas" pitchFamily="34" charset="-120"/>
              </a:rPr>
              <a:t>double</a:t>
            </a:r>
            <a:r>
              <a:rPr lang="en-IE" sz="1300" dirty="0">
                <a:solidFill>
                  <a:srgbClr val="E6EBF2"/>
                </a:solidFill>
                <a:latin typeface="Consolas" pitchFamily="34" charset="0"/>
                <a:ea typeface="Consolas" pitchFamily="34" charset="-122"/>
                <a:cs typeface="Consolas" pitchFamily="34" charset="-120"/>
              </a:rPr>
              <a:t> amount)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r>
              <a:rPr lang="en-IE" sz="1300" dirty="0">
                <a:solidFill>
                  <a:srgbClr val="FF9F5A"/>
                </a:solidFill>
                <a:latin typeface="Consolas" pitchFamily="34" charset="0"/>
                <a:ea typeface="Consolas" pitchFamily="34" charset="-122"/>
                <a:cs typeface="Consolas" pitchFamily="34" charset="-120"/>
              </a:rPr>
              <a:t>return</a:t>
            </a:r>
            <a:r>
              <a:rPr lang="en-IE" sz="1300" dirty="0">
                <a:solidFill>
                  <a:srgbClr val="E6EBF2"/>
                </a:solidFill>
                <a:latin typeface="Consolas" pitchFamily="34" charset="0"/>
                <a:ea typeface="Consolas" pitchFamily="34" charset="-122"/>
                <a:cs typeface="Consolas" pitchFamily="34" charset="-120"/>
              </a:rPr>
              <a:t> amount * exchangeRateYuanEuro;</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    }</a:t>
            </a:r>
            <a:endParaRPr lang="en-IE" sz="1300" dirty="0"/>
          </a:p>
          <a:p>
            <a:pPr indent="0" marL="0">
              <a:lnSpc>
                <a:spcPts val="1720"/>
              </a:lnSpc>
              <a:buNone/>
            </a:pPr>
            <a:r>
              <a:rPr lang="en-IE" sz="1300" dirty="0">
                <a:solidFill>
                  <a:srgbClr val="E6EBF2"/>
                </a:solidFill>
                <a:latin typeface="Consolas" pitchFamily="34" charset="0"/>
                <a:ea typeface="Consolas" pitchFamily="34" charset="-122"/>
                <a:cs typeface="Consolas" pitchFamily="34" charset="-120"/>
              </a:rPr>
              <a:t>}</a:t>
            </a:r>
            <a:endParaRPr lang="en-IE" sz="13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A</a:t>
            </a:r>
            <a:endParaRPr lang="en-IE"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26.0</a:t>
            </a:r>
            <a:endParaRPr lang="en-IE"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B</a:t>
            </a:r>
            <a:endParaRPr lang="en-IE"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1594.0</a:t>
            </a:r>
            <a:endParaRPr lang="en-IE"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C</a:t>
            </a:r>
            <a:endParaRPr lang="en-IE"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200.0</a:t>
            </a:r>
            <a:endParaRPr lang="en-IE"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IE" sz="1800" b="1" dirty="0">
                <a:solidFill>
                  <a:schemeClr val="bg1"/>
                </a:solidFill>
              </a:rPr>
              <a:t>D</a:t>
            </a:r>
            <a:endParaRPr lang="en-IE"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IE" sz="2000" dirty="0">
                <a:solidFill>
                  <a:schemeClr val="tx1"/>
                </a:solidFill>
                <a:latin typeface="Consolas" pitchFamily="34" charset="0"/>
                <a:ea typeface="Consolas" pitchFamily="34" charset="-122"/>
                <a:cs typeface="Consolas" pitchFamily="34" charset="-120"/>
              </a:rPr>
              <a:t>0.13</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58</a:t>
            </a:fld>
            <a:endParaRPr lang="en-IE"/>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17</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Static example</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What does </a:t>
            </a:r>
            <a:r>
              <a:rPr lang="en-IE" sz="2000" b="1" dirty="0">
                <a:solidFill>
                  <a:schemeClr val="tx2"/>
                </a:solidFill>
                <a:latin typeface="Consolas" pitchFamily="34" charset="0"/>
                <a:ea typeface="Consolas" pitchFamily="34" charset="-122"/>
                <a:cs typeface="Consolas" pitchFamily="34" charset="-120"/>
              </a:rPr>
              <a:t>Currency.exchangeYuan(200)</a:t>
            </a:r>
            <a:r>
              <a:rPr lang="en-IE" sz="2000" b="1" dirty="0">
                <a:solidFill>
                  <a:schemeClr val="tx2"/>
                </a:solidFill>
              </a:rPr>
              <a:t> return?</a:t>
            </a:r>
            <a:endParaRPr lang="en-IE" sz="2000" dirty="0"/>
          </a:p>
        </p:txBody>
      </p:sp>
      <p:sp>
        <p:nvSpPr>
          <p:cNvPr id="5" name="Answer code card"/>
          <p:cNvSpPr/>
          <p:nvPr/>
        </p:nvSpPr>
        <p:spPr>
          <a:xfrm>
            <a:off x="548640" y="1874520"/>
            <a:ext cx="5623560" cy="927100"/>
          </a:xfrm>
          <a:prstGeom prst="roundRect">
            <a:avLst>
              <a:gd name="adj" fmla="val 11836"/>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24764"/>
          </a:xfrm>
          <a:prstGeom prst="rect">
            <a:avLst/>
          </a:prstGeom>
          <a:noFill/>
          <a:ln/>
        </p:spPr>
        <p:txBody>
          <a:bodyPr wrap="square" lIns="0" tIns="0" rIns="0" bIns="0" rtlCol="0" anchor="t"/>
          <a:lstStyle/>
          <a:p>
            <a:pPr indent="0" marL="0">
              <a:lnSpc>
                <a:spcPts val="1850"/>
              </a:lnSpc>
              <a:buNone/>
            </a:pPr>
            <a:r>
              <a:rPr lang="en-IE" sz="1400" i="1" dirty="0">
                <a:solidFill>
                  <a:srgbClr val="A3AEC2"/>
                </a:solidFill>
                <a:latin typeface="Consolas" pitchFamily="34" charset="0"/>
                <a:ea typeface="Consolas" pitchFamily="34" charset="-122"/>
                <a:cs typeface="Consolas" pitchFamily="34" charset="-120"/>
              </a:rPr>
              <a:t>// Currency.exchangeYuan(200)</a:t>
            </a:r>
            <a:endParaRPr lang="en-IE" sz="1400" dirty="0"/>
          </a:p>
          <a:p>
            <a:pPr indent="0" marL="0">
              <a:lnSpc>
                <a:spcPts val="1850"/>
              </a:lnSpc>
              <a:buNone/>
            </a:pPr>
            <a:r>
              <a:rPr lang="en-IE" sz="1400" dirty="0">
                <a:solidFill>
                  <a:srgbClr val="FF9F5A"/>
                </a:solidFill>
                <a:latin typeface="Consolas" pitchFamily="34" charset="0"/>
                <a:ea typeface="Consolas" pitchFamily="34" charset="-122"/>
                <a:cs typeface="Consolas" pitchFamily="34" charset="-120"/>
              </a:rPr>
              <a:t>return</a:t>
            </a:r>
            <a:r>
              <a:rPr lang="en-IE" sz="1400" dirty="0">
                <a:solidFill>
                  <a:srgbClr val="E6EBF2"/>
                </a:solidFill>
                <a:latin typeface="Consolas" pitchFamily="34" charset="0"/>
                <a:ea typeface="Consolas" pitchFamily="34" charset="-122"/>
                <a:cs typeface="Consolas" pitchFamily="34" charset="-120"/>
              </a:rPr>
              <a:t> </a:t>
            </a:r>
            <a:r>
              <a:rPr lang="en-IE" sz="1400" dirty="0">
                <a:solidFill>
                  <a:srgbClr val="F2C14E"/>
                </a:solidFill>
                <a:latin typeface="Consolas" pitchFamily="34" charset="0"/>
                <a:ea typeface="Consolas" pitchFamily="34" charset="-122"/>
                <a:cs typeface="Consolas" pitchFamily="34" charset="-120"/>
              </a:rPr>
              <a:t>200</a:t>
            </a:r>
            <a:r>
              <a:rPr lang="en-IE" sz="1400" dirty="0">
                <a:solidFill>
                  <a:srgbClr val="E6EBF2"/>
                </a:solidFill>
                <a:latin typeface="Consolas" pitchFamily="34" charset="0"/>
                <a:ea typeface="Consolas" pitchFamily="34" charset="-122"/>
                <a:cs typeface="Consolas" pitchFamily="34" charset="-120"/>
              </a:rPr>
              <a:t> * </a:t>
            </a:r>
            <a:r>
              <a:rPr lang="en-IE" sz="1400" dirty="0">
                <a:solidFill>
                  <a:srgbClr val="F2C14E"/>
                </a:solidFill>
                <a:latin typeface="Consolas" pitchFamily="34" charset="0"/>
                <a:ea typeface="Consolas" pitchFamily="34" charset="-122"/>
                <a:cs typeface="Consolas" pitchFamily="34" charset="-120"/>
              </a:rPr>
              <a:t>0.13</a:t>
            </a:r>
            <a:r>
              <a:rPr lang="en-IE" sz="1400" dirty="0">
                <a:solidFill>
                  <a:srgbClr val="E6EBF2"/>
                </a:solidFill>
                <a:latin typeface="Consolas" pitchFamily="34" charset="0"/>
                <a:ea typeface="Consolas" pitchFamily="34" charset="-122"/>
                <a:cs typeface="Consolas" pitchFamily="34" charset="-120"/>
              </a:rPr>
              <a:t>;   </a:t>
            </a:r>
            <a:r>
              <a:rPr lang="en-IE" sz="1400" i="1" dirty="0">
                <a:solidFill>
                  <a:srgbClr val="A3AEC2"/>
                </a:solidFill>
                <a:latin typeface="Consolas" pitchFamily="34" charset="0"/>
                <a:ea typeface="Consolas" pitchFamily="34" charset="-122"/>
                <a:cs typeface="Consolas" pitchFamily="34" charset="-120"/>
              </a:rPr>
              <a:t>// 26.0</a:t>
            </a:r>
            <a:endParaRPr lang="en-IE" sz="1400" dirty="0"/>
          </a:p>
        </p:txBody>
      </p:sp>
      <p:sp>
        <p:nvSpPr>
          <p:cNvPr id="7" name="Option A (correct)"/>
          <p:cNvSpPr/>
          <p:nvPr/>
        </p:nvSpPr>
        <p:spPr>
          <a:xfrm>
            <a:off x="548640" y="3030220"/>
            <a:ext cx="5623560" cy="652907"/>
          </a:xfrm>
          <a:prstGeom prst="roundRect">
            <a:avLst>
              <a:gd name="adj" fmla="val 16806"/>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146362"/>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9" name="Option A text"/>
          <p:cNvSpPr txBox="1"/>
          <p:nvPr/>
        </p:nvSpPr>
        <p:spPr>
          <a:xfrm>
            <a:off x="1371600" y="3030220"/>
            <a:ext cx="4142232" cy="652907"/>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26.0</a:t>
            </a:r>
            <a:endParaRPr lang="en-IE" sz="1700" dirty="0"/>
          </a:p>
        </p:txBody>
      </p:sp>
      <p:pic>
        <p:nvPicPr>
          <p:cNvPr id="10" name="Correct mark" descr="Correct mark">    </p:cNvPr>
          <p:cNvPicPr>
            <a:picLocks noChangeAspect="1"/>
          </p:cNvPicPr>
          <p:nvPr/>
        </p:nvPicPr>
        <p:blipFill>
          <a:blip r:embed="rId1"/>
          <a:stretch>
            <a:fillRect/>
          </a:stretch>
        </p:blipFill>
        <p:spPr>
          <a:xfrm>
            <a:off x="5623560" y="3173793"/>
            <a:ext cx="365760" cy="365760"/>
          </a:xfrm>
          <a:prstGeom prst="rect">
            <a:avLst/>
          </a:prstGeom>
        </p:spPr>
      </p:pic>
      <p:sp>
        <p:nvSpPr>
          <p:cNvPr id="11" name="Option B"/>
          <p:cNvSpPr/>
          <p:nvPr/>
        </p:nvSpPr>
        <p:spPr>
          <a:xfrm>
            <a:off x="548640" y="3829431"/>
            <a:ext cx="5623560" cy="652907"/>
          </a:xfrm>
          <a:prstGeom prst="roundRect">
            <a:avLst>
              <a:gd name="adj" fmla="val 16806"/>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39455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3" name="Option B text"/>
          <p:cNvSpPr txBox="1"/>
          <p:nvPr/>
        </p:nvSpPr>
        <p:spPr>
          <a:xfrm>
            <a:off x="1371600" y="3829431"/>
            <a:ext cx="4572000" cy="65290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1594.0</a:t>
            </a:r>
            <a:endParaRPr lang="en-IE" sz="1700" dirty="0"/>
          </a:p>
        </p:txBody>
      </p:sp>
      <p:sp>
        <p:nvSpPr>
          <p:cNvPr id="14" name="Option C"/>
          <p:cNvSpPr/>
          <p:nvPr/>
        </p:nvSpPr>
        <p:spPr>
          <a:xfrm>
            <a:off x="548640" y="4628642"/>
            <a:ext cx="5623560" cy="652907"/>
          </a:xfrm>
          <a:prstGeom prst="roundRect">
            <a:avLst>
              <a:gd name="adj" fmla="val 16806"/>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744784"/>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6" name="Option C text"/>
          <p:cNvSpPr txBox="1"/>
          <p:nvPr/>
        </p:nvSpPr>
        <p:spPr>
          <a:xfrm>
            <a:off x="1371600" y="4628642"/>
            <a:ext cx="4572000" cy="65290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200.0</a:t>
            </a:r>
            <a:endParaRPr lang="en-IE" sz="1700" dirty="0"/>
          </a:p>
        </p:txBody>
      </p:sp>
      <p:sp>
        <p:nvSpPr>
          <p:cNvPr id="17" name="Option D"/>
          <p:cNvSpPr/>
          <p:nvPr/>
        </p:nvSpPr>
        <p:spPr>
          <a:xfrm>
            <a:off x="548640" y="5427853"/>
            <a:ext cx="5623560" cy="652907"/>
          </a:xfrm>
          <a:prstGeom prst="roundRect">
            <a:avLst>
              <a:gd name="adj" fmla="val 16806"/>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43995"/>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9" name="Option D text"/>
          <p:cNvSpPr txBox="1"/>
          <p:nvPr/>
        </p:nvSpPr>
        <p:spPr>
          <a:xfrm>
            <a:off x="1371600" y="5427853"/>
            <a:ext cx="4572000" cy="652907"/>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0.13</a:t>
            </a:r>
            <a:endParaRPr lang="en-IE"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indent="0" marL="0">
              <a:buNone/>
            </a:pPr>
            <a:r>
              <a:rPr lang="en-IE" sz="1800" dirty="0">
                <a:solidFill>
                  <a:schemeClr val="accent2"/>
                </a:solidFill>
                <a:latin typeface="Consolas" pitchFamily="34" charset="0"/>
                <a:ea typeface="Consolas" pitchFamily="34" charset="-122"/>
                <a:cs typeface="Consolas" pitchFamily="34" charset="-120"/>
              </a:rPr>
              <a:t>exchangeYuan</a:t>
            </a:r>
            <a:r>
              <a:rPr lang="en-IE" sz="1800" dirty="0">
                <a:solidFill>
                  <a:schemeClr val="tx1"/>
                </a:solidFill>
              </a:rPr>
              <a:t> multiplies the amount by </a:t>
            </a:r>
            <a:r>
              <a:rPr lang="en-IE" sz="1800" dirty="0">
                <a:solidFill>
                  <a:schemeClr val="accent2"/>
                </a:solidFill>
                <a:latin typeface="Consolas" pitchFamily="34" charset="0"/>
                <a:ea typeface="Consolas" pitchFamily="34" charset="-122"/>
                <a:cs typeface="Consolas" pitchFamily="34" charset="-120"/>
              </a:rPr>
              <a:t>exchangeRateYuanEuro</a:t>
            </a:r>
            <a:r>
              <a:rPr lang="en-IE" sz="1800" dirty="0">
                <a:solidFill>
                  <a:schemeClr val="tx1"/>
                </a:solidFill>
              </a:rPr>
              <a:t> (0.13), so 200 × 0.13 = 26.0. We call it with the class name because it is static: no Currency object is needed.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59</a:t>
            </a:fld>
            <a:endParaRPr lang="en-IE"/>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IE" sz="9600" b="1" dirty="0">
                <a:solidFill>
                  <a:schemeClr val="accent1"/>
                </a:solidFill>
              </a:rPr>
              <a:t>04</a:t>
            </a:r>
            <a:endParaRPr lang="en-IE"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IE" sz="4400" b="1" dirty="0">
                <a:solidFill>
                  <a:schemeClr val="bg1"/>
                </a:solidFill>
              </a:rPr>
              <a:t>Let Eclipse do the typing</a:t>
            </a:r>
            <a:endParaRPr lang="en-IE"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IE" sz="2000" dirty="0">
                <a:solidFill>
                  <a:schemeClr val="bg2"/>
                </a:solidFill>
              </a:rPr>
              <a:t>Generating getters and setters for us</a:t>
            </a:r>
            <a:endParaRPr lang="en-IE" sz="2000" dirty="0"/>
          </a:p>
        </p:txBody>
      </p:sp>
      <p:sp>
        <p:nvSpPr>
          <p:cNvPr id="5" name="Topic chip"/>
          <p:cNvSpPr/>
          <p:nvPr/>
        </p:nvSpPr>
        <p:spPr>
          <a:xfrm>
            <a:off x="822960" y="4846320"/>
            <a:ext cx="14193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Source menu</a:t>
            </a:r>
            <a:endParaRPr lang="en-IE" sz="1400" dirty="0"/>
          </a:p>
        </p:txBody>
      </p:sp>
      <p:sp>
        <p:nvSpPr>
          <p:cNvPr id="6" name="Topic chip"/>
          <p:cNvSpPr/>
          <p:nvPr/>
        </p:nvSpPr>
        <p:spPr>
          <a:xfrm>
            <a:off x="2388616" y="4846320"/>
            <a:ext cx="123444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Quick Fix</a:t>
            </a:r>
            <a:endParaRPr lang="en-IE" sz="1400" dirty="0"/>
          </a:p>
        </p:txBody>
      </p:sp>
      <p:sp>
        <p:nvSpPr>
          <p:cNvPr id="7" name="Topic chip"/>
          <p:cNvSpPr/>
          <p:nvPr/>
        </p:nvSpPr>
        <p:spPr>
          <a:xfrm>
            <a:off x="3769360" y="4846320"/>
            <a:ext cx="178917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IE" sz="1400" dirty="0">
                <a:solidFill>
                  <a:schemeClr val="bg1"/>
                </a:solidFill>
              </a:rPr>
              <a:t>Field reference</a:t>
            </a:r>
            <a:endParaRPr lang="en-IE" sz="1400" dirty="0"/>
          </a:p>
        </p:txBody>
      </p:sp>
      <p:pic>
        <p:nvPicPr>
          <p:cNvPr id="8" name="Section icon"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LET ECLIPSE DO THE TYPING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Generate code from the Source menu</a:t>
            </a:r>
            <a:endParaRPr lang="en-IE" sz="3400" dirty="0"/>
          </a:p>
        </p:txBody>
      </p:sp>
      <p:sp>
        <p:nvSpPr>
          <p:cNvPr id="5" name="Text 2"/>
          <p:cNvSpPr txBox="1"/>
          <p:nvPr/>
        </p:nvSpPr>
        <p:spPr>
          <a:xfrm>
            <a:off x="548640" y="1737360"/>
            <a:ext cx="5394960" cy="1188720"/>
          </a:xfrm>
          <a:prstGeom prst="rect">
            <a:avLst/>
          </a:prstGeom>
          <a:noFill/>
          <a:ln/>
        </p:spPr>
        <p:txBody>
          <a:bodyPr wrap="square" lIns="0" tIns="0" rIns="0" bIns="0" rtlCol="0" anchor="t"/>
          <a:lstStyle/>
          <a:p>
            <a:pPr indent="0" marL="0">
              <a:buNone/>
            </a:pPr>
            <a:r>
              <a:rPr lang="en-IE" sz="1700" dirty="0">
                <a:solidFill>
                  <a:schemeClr val="tx1"/>
                </a:solidFill>
              </a:rPr>
              <a:t>One advantage of OOP is faster development. Classes follow a set layout, so Eclipse (and other IDEs) can generate a lot of the code for us.</a:t>
            </a:r>
            <a:endParaRPr lang="en-IE" sz="1700" dirty="0"/>
          </a:p>
        </p:txBody>
      </p:sp>
      <p:sp>
        <p:nvSpPr>
          <p:cNvPr id="6" name="Step 1"/>
          <p:cNvSpPr/>
          <p:nvPr/>
        </p:nvSpPr>
        <p:spPr>
          <a:xfrm>
            <a:off x="548640" y="3154680"/>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1</a:t>
            </a:r>
            <a:endParaRPr lang="en-IE" sz="1500" dirty="0"/>
          </a:p>
        </p:txBody>
      </p:sp>
      <p:sp>
        <p:nvSpPr>
          <p:cNvPr id="7" name="Text 4"/>
          <p:cNvSpPr txBox="1"/>
          <p:nvPr/>
        </p:nvSpPr>
        <p:spPr>
          <a:xfrm>
            <a:off x="1170432" y="3090672"/>
            <a:ext cx="4773168" cy="566928"/>
          </a:xfrm>
          <a:prstGeom prst="rect">
            <a:avLst/>
          </a:prstGeom>
          <a:noFill/>
          <a:ln/>
        </p:spPr>
        <p:txBody>
          <a:bodyPr wrap="square" lIns="0" tIns="0" rIns="0" bIns="0" rtlCol="0" anchor="ctr"/>
          <a:lstStyle/>
          <a:p>
            <a:pPr indent="0" marL="0">
              <a:buNone/>
            </a:pPr>
            <a:r>
              <a:rPr lang="en-IE" sz="1700" dirty="0">
                <a:solidFill>
                  <a:schemeClr val="tx1"/>
                </a:solidFill>
              </a:rPr>
              <a:t>Open your class in Eclipse.</a:t>
            </a:r>
            <a:endParaRPr lang="en-IE" sz="1700" dirty="0"/>
          </a:p>
        </p:txBody>
      </p:sp>
      <p:sp>
        <p:nvSpPr>
          <p:cNvPr id="8" name="Step 2"/>
          <p:cNvSpPr/>
          <p:nvPr/>
        </p:nvSpPr>
        <p:spPr>
          <a:xfrm>
            <a:off x="548640" y="3867912"/>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2</a:t>
            </a:r>
            <a:endParaRPr lang="en-IE" sz="1500" dirty="0"/>
          </a:p>
        </p:txBody>
      </p:sp>
      <p:sp>
        <p:nvSpPr>
          <p:cNvPr id="9" name="Text 6"/>
          <p:cNvSpPr txBox="1"/>
          <p:nvPr/>
        </p:nvSpPr>
        <p:spPr>
          <a:xfrm>
            <a:off x="1170432" y="3803904"/>
            <a:ext cx="4773168" cy="566928"/>
          </a:xfrm>
          <a:prstGeom prst="rect">
            <a:avLst/>
          </a:prstGeom>
          <a:noFill/>
          <a:ln/>
        </p:spPr>
        <p:txBody>
          <a:bodyPr wrap="square" lIns="0" tIns="0" rIns="0" bIns="0" rtlCol="0" anchor="ctr"/>
          <a:lstStyle/>
          <a:p>
            <a:pPr indent="0" marL="0">
              <a:buNone/>
            </a:pPr>
            <a:r>
              <a:rPr lang="en-IE" sz="1700" dirty="0">
                <a:solidFill>
                  <a:schemeClr val="tx1"/>
                </a:solidFill>
              </a:rPr>
              <a:t>Click </a:t>
            </a:r>
            <a:r>
              <a:rPr lang="en-IE" sz="1700" b="1" dirty="0">
                <a:solidFill>
                  <a:schemeClr val="tx1"/>
                </a:solidFill>
              </a:rPr>
              <a:t>Source</a:t>
            </a:r>
            <a:r>
              <a:rPr lang="en-IE" sz="1700" dirty="0">
                <a:solidFill>
                  <a:schemeClr val="tx1"/>
                </a:solidFill>
              </a:rPr>
              <a:t> on the top menu bar.</a:t>
            </a:r>
            <a:endParaRPr lang="en-IE" sz="1700" dirty="0"/>
          </a:p>
        </p:txBody>
      </p:sp>
      <p:sp>
        <p:nvSpPr>
          <p:cNvPr id="10" name="Step 3"/>
          <p:cNvSpPr/>
          <p:nvPr/>
        </p:nvSpPr>
        <p:spPr>
          <a:xfrm>
            <a:off x="548640" y="4581144"/>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3</a:t>
            </a:r>
            <a:endParaRPr lang="en-IE" sz="1500" dirty="0"/>
          </a:p>
        </p:txBody>
      </p:sp>
      <p:sp>
        <p:nvSpPr>
          <p:cNvPr id="11" name="Text 8"/>
          <p:cNvSpPr txBox="1"/>
          <p:nvPr/>
        </p:nvSpPr>
        <p:spPr>
          <a:xfrm>
            <a:off x="1170432" y="4517136"/>
            <a:ext cx="4773168" cy="566928"/>
          </a:xfrm>
          <a:prstGeom prst="rect">
            <a:avLst/>
          </a:prstGeom>
          <a:noFill/>
          <a:ln/>
        </p:spPr>
        <p:txBody>
          <a:bodyPr wrap="square" lIns="0" tIns="0" rIns="0" bIns="0" rtlCol="0" anchor="ctr"/>
          <a:lstStyle/>
          <a:p>
            <a:pPr indent="0" marL="0">
              <a:buNone/>
            </a:pPr>
            <a:r>
              <a:rPr lang="en-IE" sz="1700" dirty="0">
                <a:solidFill>
                  <a:schemeClr val="tx1"/>
                </a:solidFill>
              </a:rPr>
              <a:t>Near the bottom, choose </a:t>
            </a:r>
            <a:r>
              <a:rPr lang="en-IE" sz="1700" b="1" dirty="0">
                <a:solidFill>
                  <a:schemeClr val="tx1"/>
                </a:solidFill>
              </a:rPr>
              <a:t>Generate Getters and Setters…</a:t>
            </a:r>
            <a:endParaRPr lang="en-IE" sz="1700" dirty="0"/>
          </a:p>
        </p:txBody>
      </p:sp>
      <p:sp>
        <p:nvSpPr>
          <p:cNvPr id="12" name="Step 4"/>
          <p:cNvSpPr/>
          <p:nvPr/>
        </p:nvSpPr>
        <p:spPr>
          <a:xfrm>
            <a:off x="548640" y="5294376"/>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4</a:t>
            </a:r>
            <a:endParaRPr lang="en-IE" sz="1500" dirty="0"/>
          </a:p>
        </p:txBody>
      </p:sp>
      <p:sp>
        <p:nvSpPr>
          <p:cNvPr id="13" name="Text 10"/>
          <p:cNvSpPr txBox="1"/>
          <p:nvPr/>
        </p:nvSpPr>
        <p:spPr>
          <a:xfrm>
            <a:off x="1170432" y="5230368"/>
            <a:ext cx="4773168" cy="566928"/>
          </a:xfrm>
          <a:prstGeom prst="rect">
            <a:avLst/>
          </a:prstGeom>
          <a:noFill/>
          <a:ln/>
        </p:spPr>
        <p:txBody>
          <a:bodyPr wrap="square" lIns="0" tIns="0" rIns="0" bIns="0" rtlCol="0" anchor="ctr"/>
          <a:lstStyle/>
          <a:p>
            <a:pPr indent="0" marL="0">
              <a:buNone/>
            </a:pPr>
            <a:r>
              <a:rPr lang="en-IE" sz="1700" dirty="0">
                <a:solidFill>
                  <a:schemeClr val="tx1"/>
                </a:solidFill>
              </a:rPr>
              <a:t>Tick the ones you want, then click </a:t>
            </a:r>
            <a:r>
              <a:rPr lang="en-IE" sz="1700" b="1" dirty="0">
                <a:solidFill>
                  <a:schemeClr val="tx1"/>
                </a:solidFill>
              </a:rPr>
              <a:t>Generate</a:t>
            </a:r>
            <a:r>
              <a:rPr lang="en-IE" sz="1700" dirty="0">
                <a:solidFill>
                  <a:schemeClr val="tx1"/>
                </a:solidFill>
              </a:rPr>
              <a:t>.</a:t>
            </a:r>
            <a:endParaRPr lang="en-IE" sz="1700" dirty="0"/>
          </a:p>
        </p:txBody>
      </p:sp>
      <p:sp>
        <p:nvSpPr>
          <p:cNvPr id="14" name="Eclipse menu bar frame"/>
          <p:cNvSpPr/>
          <p:nvPr/>
        </p:nvSpPr>
        <p:spPr>
          <a:xfrm>
            <a:off x="6355080" y="1783080"/>
            <a:ext cx="5287975" cy="660197"/>
          </a:xfrm>
          <a:prstGeom prst="roundRect">
            <a:avLst>
              <a:gd name="adj" fmla="val 11080"/>
            </a:avLst>
          </a:prstGeom>
          <a:solidFill>
            <a:schemeClr val="bg1"/>
          </a:solidFill>
          <a:ln/>
          <a:effectLst>
            <a:outerShdw sx="100000" sy="100000" kx="0" ky="0" algn="bl" rotWithShape="0" blurRad="114300" dist="31750" dir="5400000">
              <a:srgbClr val="1D2433">
                <a:alpha val="12000"/>
              </a:srgbClr>
            </a:outerShdw>
          </a:effectLst>
        </p:spPr>
      </p:sp>
      <p:pic>
        <p:nvPicPr>
          <p:cNvPr id="15" name="Eclipse menu bar" descr="Eclipse menu bar">    </p:cNvPr>
          <p:cNvPicPr>
            <a:picLocks noChangeAspect="1"/>
          </p:cNvPicPr>
          <p:nvPr/>
        </p:nvPicPr>
        <p:blipFill>
          <a:blip r:embed="rId1"/>
          <a:stretch>
            <a:fillRect/>
          </a:stretch>
        </p:blipFill>
        <p:spPr>
          <a:xfrm>
            <a:off x="6464808" y="1892808"/>
            <a:ext cx="5068519" cy="440741"/>
          </a:xfrm>
          <a:prstGeom prst="rect">
            <a:avLst/>
          </a:prstGeom>
        </p:spPr>
      </p:pic>
      <p:sp>
        <p:nvSpPr>
          <p:cNvPr id="16" name="Highlight"/>
          <p:cNvSpPr/>
          <p:nvPr/>
        </p:nvSpPr>
        <p:spPr>
          <a:xfrm>
            <a:off x="7198647" y="2062322"/>
            <a:ext cx="539456" cy="289996"/>
          </a:xfrm>
          <a:prstGeom prst="roundRect">
            <a:avLst>
              <a:gd name="adj" fmla="val 15766"/>
            </a:avLst>
          </a:prstGeom>
          <a:ln w="28575">
            <a:solidFill>
              <a:schemeClr val="accent1"/>
            </a:solidFill>
            <a:prstDash val="solid"/>
          </a:ln>
        </p:spPr>
      </p:sp>
      <p:sp>
        <p:nvSpPr>
          <p:cNvPr id="17" name="Source menu options frame"/>
          <p:cNvSpPr/>
          <p:nvPr/>
        </p:nvSpPr>
        <p:spPr>
          <a:xfrm>
            <a:off x="6355080" y="2717597"/>
            <a:ext cx="5287975" cy="2473768"/>
          </a:xfrm>
          <a:prstGeom prst="roundRect">
            <a:avLst>
              <a:gd name="adj" fmla="val 2957"/>
            </a:avLst>
          </a:prstGeom>
          <a:solidFill>
            <a:schemeClr val="bg1"/>
          </a:solidFill>
          <a:ln/>
          <a:effectLst>
            <a:outerShdw sx="100000" sy="100000" kx="0" ky="0" algn="bl" rotWithShape="0" blurRad="114300" dist="31750" dir="5400000">
              <a:srgbClr val="1D2433">
                <a:alpha val="12000"/>
              </a:srgbClr>
            </a:outerShdw>
          </a:effectLst>
        </p:spPr>
      </p:sp>
      <p:pic>
        <p:nvPicPr>
          <p:cNvPr id="18" name="Source menu options" descr="Source menu options">    </p:cNvPr>
          <p:cNvPicPr>
            <a:picLocks noChangeAspect="1"/>
          </p:cNvPicPr>
          <p:nvPr/>
        </p:nvPicPr>
        <p:blipFill>
          <a:blip r:embed="rId2"/>
          <a:stretch>
            <a:fillRect/>
          </a:stretch>
        </p:blipFill>
        <p:spPr>
          <a:xfrm>
            <a:off x="6464808" y="2827325"/>
            <a:ext cx="5068519" cy="2254312"/>
          </a:xfrm>
          <a:prstGeom prst="rect">
            <a:avLst/>
          </a:prstGeom>
        </p:spPr>
      </p:pic>
      <p:sp>
        <p:nvSpPr>
          <p:cNvPr id="19" name="Highlight"/>
          <p:cNvSpPr/>
          <p:nvPr/>
        </p:nvSpPr>
        <p:spPr>
          <a:xfrm>
            <a:off x="6630973" y="3162710"/>
            <a:ext cx="2607412" cy="354941"/>
          </a:xfrm>
          <a:prstGeom prst="roundRect">
            <a:avLst>
              <a:gd name="adj" fmla="val 12881"/>
            </a:avLst>
          </a:prstGeom>
          <a:ln w="28575">
            <a:solidFill>
              <a:schemeClr val="accent1"/>
            </a:solidFill>
            <a:prstDash val="solid"/>
          </a:ln>
        </p:spPr>
      </p:sp>
      <p:sp>
        <p:nvSpPr>
          <p:cNvPr id="20" name="Text 15"/>
          <p:cNvSpPr txBox="1"/>
          <p:nvPr/>
        </p:nvSpPr>
        <p:spPr>
          <a:xfrm>
            <a:off x="6355080" y="5301093"/>
            <a:ext cx="5287975" cy="320040"/>
          </a:xfrm>
          <a:prstGeom prst="rect">
            <a:avLst/>
          </a:prstGeom>
          <a:noFill/>
          <a:ln/>
        </p:spPr>
        <p:txBody>
          <a:bodyPr wrap="square" lIns="0" tIns="0" rIns="0" bIns="0" rtlCol="0" anchor="t"/>
          <a:lstStyle/>
          <a:p>
            <a:pPr indent="0" marL="0">
              <a:buNone/>
            </a:pPr>
            <a:r>
              <a:rPr lang="en-IE" sz="1300" i="1" dirty="0">
                <a:solidFill>
                  <a:schemeClr val="tx2"/>
                </a:solidFill>
              </a:rPr>
              <a:t>The generate options at the bottom of the Source menu.</a:t>
            </a:r>
            <a:endParaRPr lang="en-IE"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61</a:t>
            </a:fld>
            <a:endParaRPr lang="en-IE"/>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LET ECLIPSE DO THE TYPING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The Generate Getters and Setters window</a:t>
            </a:r>
            <a:endParaRPr lang="en-IE" sz="3400" dirty="0"/>
          </a:p>
        </p:txBody>
      </p:sp>
      <p:sp>
        <p:nvSpPr>
          <p:cNvPr id="5" name="Generate Getters and Setters window frame"/>
          <p:cNvSpPr/>
          <p:nvPr/>
        </p:nvSpPr>
        <p:spPr>
          <a:xfrm>
            <a:off x="548640" y="1737360"/>
            <a:ext cx="4743074" cy="4434840"/>
          </a:xfrm>
          <a:prstGeom prst="roundRect">
            <a:avLst>
              <a:gd name="adj" fmla="val 1649"/>
            </a:avLst>
          </a:prstGeom>
          <a:solidFill>
            <a:schemeClr val="bg1"/>
          </a:solidFill>
          <a:ln/>
          <a:effectLst>
            <a:outerShdw sx="100000" sy="100000" kx="0" ky="0" algn="bl" rotWithShape="0" blurRad="114300" dist="31750" dir="5400000">
              <a:srgbClr val="1D2433">
                <a:alpha val="12000"/>
              </a:srgbClr>
            </a:outerShdw>
          </a:effectLst>
        </p:spPr>
      </p:sp>
      <p:pic>
        <p:nvPicPr>
          <p:cNvPr id="6" name="Generate Getters and Setters window" descr="Generate Getters and Setters window">    </p:cNvPr>
          <p:cNvPicPr>
            <a:picLocks noChangeAspect="1"/>
          </p:cNvPicPr>
          <p:nvPr/>
        </p:nvPicPr>
        <p:blipFill>
          <a:blip r:embed="rId1"/>
          <a:stretch>
            <a:fillRect/>
          </a:stretch>
        </p:blipFill>
        <p:spPr>
          <a:xfrm>
            <a:off x="658368" y="1847088"/>
            <a:ext cx="4523618" cy="4215384"/>
          </a:xfrm>
          <a:prstGeom prst="rect">
            <a:avLst/>
          </a:prstGeom>
        </p:spPr>
      </p:pic>
      <p:sp>
        <p:nvSpPr>
          <p:cNvPr id="7" name="Marker 1"/>
          <p:cNvSpPr/>
          <p:nvPr/>
        </p:nvSpPr>
        <p:spPr>
          <a:xfrm>
            <a:off x="2284935" y="2507285"/>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IE" sz="1400" b="1" dirty="0">
                <a:solidFill>
                  <a:schemeClr val="bg1"/>
                </a:solidFill>
              </a:rPr>
              <a:t>1</a:t>
            </a:r>
            <a:endParaRPr lang="en-IE" sz="1400" dirty="0"/>
          </a:p>
        </p:txBody>
      </p:sp>
      <p:sp>
        <p:nvSpPr>
          <p:cNvPr id="8" name="Marker 2"/>
          <p:cNvSpPr/>
          <p:nvPr/>
        </p:nvSpPr>
        <p:spPr>
          <a:xfrm>
            <a:off x="384048" y="4513808"/>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IE" sz="1400" b="1" dirty="0">
                <a:solidFill>
                  <a:schemeClr val="bg1"/>
                </a:solidFill>
              </a:rPr>
              <a:t>2</a:t>
            </a:r>
            <a:endParaRPr lang="en-IE" sz="1400" dirty="0"/>
          </a:p>
        </p:txBody>
      </p:sp>
      <p:sp>
        <p:nvSpPr>
          <p:cNvPr id="9" name="Marker 3"/>
          <p:cNvSpPr/>
          <p:nvPr/>
        </p:nvSpPr>
        <p:spPr>
          <a:xfrm>
            <a:off x="3008714" y="5761561"/>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IE" sz="1400" b="1" dirty="0">
                <a:solidFill>
                  <a:schemeClr val="bg1"/>
                </a:solidFill>
              </a:rPr>
              <a:t>3</a:t>
            </a:r>
            <a:endParaRPr lang="en-IE" sz="1400" dirty="0"/>
          </a:p>
        </p:txBody>
      </p:sp>
      <p:sp>
        <p:nvSpPr>
          <p:cNvPr id="10" name="Callout 1"/>
          <p:cNvSpPr/>
          <p:nvPr/>
        </p:nvSpPr>
        <p:spPr>
          <a:xfrm>
            <a:off x="5748914" y="1828800"/>
            <a:ext cx="420624" cy="420624"/>
          </a:xfrm>
          <a:prstGeom prst="ellipse">
            <a:avLst/>
          </a:prstGeom>
          <a:solidFill>
            <a:schemeClr val="accent1"/>
          </a:solidFill>
          <a:ln/>
        </p:spPr>
        <p:txBody>
          <a:bodyPr wrap="square" lIns="0" tIns="0" rIns="0" bIns="0" rtlCol="0" anchor="ctr"/>
          <a:lstStyle/>
          <a:p>
            <a:pPr algn="ctr" indent="0" marL="0">
              <a:buNone/>
            </a:pPr>
            <a:r>
              <a:rPr lang="en-IE" sz="1500" b="1" dirty="0">
                <a:solidFill>
                  <a:schemeClr val="bg1"/>
                </a:solidFill>
              </a:rPr>
              <a:t>1</a:t>
            </a:r>
            <a:endParaRPr lang="en-IE" sz="1500" dirty="0"/>
          </a:p>
        </p:txBody>
      </p:sp>
      <p:sp>
        <p:nvSpPr>
          <p:cNvPr id="11" name="Text 7"/>
          <p:cNvSpPr txBox="1"/>
          <p:nvPr/>
        </p:nvSpPr>
        <p:spPr>
          <a:xfrm>
            <a:off x="6343274" y="1810512"/>
            <a:ext cx="5299781" cy="384048"/>
          </a:xfrm>
          <a:prstGeom prst="rect">
            <a:avLst/>
          </a:prstGeom>
          <a:noFill/>
          <a:ln/>
        </p:spPr>
        <p:txBody>
          <a:bodyPr wrap="square" lIns="0" tIns="0" rIns="0" bIns="0" rtlCol="0" anchor="ctr"/>
          <a:lstStyle/>
          <a:p>
            <a:pPr indent="0" marL="0">
              <a:buNone/>
            </a:pPr>
            <a:r>
              <a:rPr lang="en-IE" sz="1800" b="1" dirty="0">
                <a:solidFill>
                  <a:schemeClr val="tx1"/>
                </a:solidFill>
              </a:rPr>
              <a:t>Pick what to create</a:t>
            </a:r>
            <a:endParaRPr lang="en-IE" sz="1800" dirty="0"/>
          </a:p>
        </p:txBody>
      </p:sp>
      <p:sp>
        <p:nvSpPr>
          <p:cNvPr id="12" name="Text 8"/>
          <p:cNvSpPr txBox="1"/>
          <p:nvPr/>
        </p:nvSpPr>
        <p:spPr>
          <a:xfrm>
            <a:off x="6343274" y="2240280"/>
            <a:ext cx="5299781" cy="777240"/>
          </a:xfrm>
          <a:prstGeom prst="rect">
            <a:avLst/>
          </a:prstGeom>
          <a:noFill/>
          <a:ln/>
        </p:spPr>
        <p:txBody>
          <a:bodyPr wrap="square" lIns="0" tIns="0" rIns="0" bIns="0" rtlCol="0" anchor="t"/>
          <a:lstStyle/>
          <a:p>
            <a:pPr indent="0" marL="0">
              <a:buNone/>
            </a:pPr>
            <a:r>
              <a:rPr lang="en-IE" sz="1500" dirty="0">
                <a:solidFill>
                  <a:schemeClr val="tx2"/>
                </a:solidFill>
              </a:rPr>
              <a:t>Tick the getters and setters you want. Here: getId(), getName() and setName(String).</a:t>
            </a:r>
            <a:endParaRPr lang="en-IE" sz="1500" dirty="0"/>
          </a:p>
        </p:txBody>
      </p:sp>
      <p:sp>
        <p:nvSpPr>
          <p:cNvPr id="13" name="Callout 2"/>
          <p:cNvSpPr/>
          <p:nvPr/>
        </p:nvSpPr>
        <p:spPr>
          <a:xfrm>
            <a:off x="5748914" y="3200400"/>
            <a:ext cx="420624" cy="420624"/>
          </a:xfrm>
          <a:prstGeom prst="ellipse">
            <a:avLst/>
          </a:prstGeom>
          <a:solidFill>
            <a:schemeClr val="accent1"/>
          </a:solidFill>
          <a:ln/>
        </p:spPr>
        <p:txBody>
          <a:bodyPr wrap="square" lIns="0" tIns="0" rIns="0" bIns="0" rtlCol="0" anchor="ctr"/>
          <a:lstStyle/>
          <a:p>
            <a:pPr algn="ctr" indent="0" marL="0">
              <a:buNone/>
            </a:pPr>
            <a:r>
              <a:rPr lang="en-IE" sz="1500" b="1" dirty="0">
                <a:solidFill>
                  <a:schemeClr val="bg1"/>
                </a:solidFill>
              </a:rPr>
              <a:t>2</a:t>
            </a:r>
            <a:endParaRPr lang="en-IE" sz="1500" dirty="0"/>
          </a:p>
        </p:txBody>
      </p:sp>
      <p:sp>
        <p:nvSpPr>
          <p:cNvPr id="14" name="Text 10"/>
          <p:cNvSpPr txBox="1"/>
          <p:nvPr/>
        </p:nvSpPr>
        <p:spPr>
          <a:xfrm>
            <a:off x="6343274" y="3182112"/>
            <a:ext cx="5299781" cy="384048"/>
          </a:xfrm>
          <a:prstGeom prst="rect">
            <a:avLst/>
          </a:prstGeom>
          <a:noFill/>
          <a:ln/>
        </p:spPr>
        <p:txBody>
          <a:bodyPr wrap="square" lIns="0" tIns="0" rIns="0" bIns="0" rtlCol="0" anchor="ctr"/>
          <a:lstStyle/>
          <a:p>
            <a:pPr indent="0" marL="0">
              <a:buNone/>
            </a:pPr>
            <a:r>
              <a:rPr lang="en-IE" sz="1800" b="1" dirty="0">
                <a:solidFill>
                  <a:schemeClr val="tx1"/>
                </a:solidFill>
              </a:rPr>
              <a:t>Choose the access modifier</a:t>
            </a:r>
            <a:endParaRPr lang="en-IE" sz="1800" dirty="0"/>
          </a:p>
        </p:txBody>
      </p:sp>
      <p:sp>
        <p:nvSpPr>
          <p:cNvPr id="15" name="Text 11"/>
          <p:cNvSpPr txBox="1"/>
          <p:nvPr/>
        </p:nvSpPr>
        <p:spPr>
          <a:xfrm>
            <a:off x="6343274" y="3611880"/>
            <a:ext cx="5299781" cy="777240"/>
          </a:xfrm>
          <a:prstGeom prst="rect">
            <a:avLst/>
          </a:prstGeom>
          <a:noFill/>
          <a:ln/>
        </p:spPr>
        <p:txBody>
          <a:bodyPr wrap="square" lIns="0" tIns="0" rIns="0" bIns="0" rtlCol="0" anchor="t"/>
          <a:lstStyle/>
          <a:p>
            <a:pPr indent="0" marL="0">
              <a:buNone/>
            </a:pPr>
            <a:r>
              <a:rPr lang="en-IE" sz="1500" dirty="0">
                <a:solidFill>
                  <a:schemeClr val="tx2"/>
                </a:solidFill>
              </a:rPr>
              <a:t>Leave it on public, so other classes can call the new methods. Eclipse’s package option means default access.</a:t>
            </a:r>
            <a:endParaRPr lang="en-IE" sz="1500" dirty="0"/>
          </a:p>
        </p:txBody>
      </p:sp>
      <p:sp>
        <p:nvSpPr>
          <p:cNvPr id="16" name="Callout 3"/>
          <p:cNvSpPr/>
          <p:nvPr/>
        </p:nvSpPr>
        <p:spPr>
          <a:xfrm>
            <a:off x="5748914" y="4572000"/>
            <a:ext cx="420624" cy="420624"/>
          </a:xfrm>
          <a:prstGeom prst="ellipse">
            <a:avLst/>
          </a:prstGeom>
          <a:solidFill>
            <a:schemeClr val="accent1"/>
          </a:solidFill>
          <a:ln/>
        </p:spPr>
        <p:txBody>
          <a:bodyPr wrap="square" lIns="0" tIns="0" rIns="0" bIns="0" rtlCol="0" anchor="ctr"/>
          <a:lstStyle/>
          <a:p>
            <a:pPr algn="ctr" indent="0" marL="0">
              <a:buNone/>
            </a:pPr>
            <a:r>
              <a:rPr lang="en-IE" sz="1500" b="1" dirty="0">
                <a:solidFill>
                  <a:schemeClr val="bg1"/>
                </a:solidFill>
              </a:rPr>
              <a:t>3</a:t>
            </a:r>
            <a:endParaRPr lang="en-IE" sz="1500" dirty="0"/>
          </a:p>
        </p:txBody>
      </p:sp>
      <p:sp>
        <p:nvSpPr>
          <p:cNvPr id="17" name="Text 13"/>
          <p:cNvSpPr txBox="1"/>
          <p:nvPr/>
        </p:nvSpPr>
        <p:spPr>
          <a:xfrm>
            <a:off x="6343274" y="4553712"/>
            <a:ext cx="5299781" cy="384048"/>
          </a:xfrm>
          <a:prstGeom prst="rect">
            <a:avLst/>
          </a:prstGeom>
          <a:noFill/>
          <a:ln/>
        </p:spPr>
        <p:txBody>
          <a:bodyPr wrap="square" lIns="0" tIns="0" rIns="0" bIns="0" rtlCol="0" anchor="ctr"/>
          <a:lstStyle/>
          <a:p>
            <a:pPr indent="0" marL="0">
              <a:buNone/>
            </a:pPr>
            <a:r>
              <a:rPr lang="en-IE" sz="1800" b="1" dirty="0">
                <a:solidFill>
                  <a:schemeClr val="tx1"/>
                </a:solidFill>
              </a:rPr>
              <a:t>Click Generate</a:t>
            </a:r>
            <a:endParaRPr lang="en-IE" sz="1800" dirty="0"/>
          </a:p>
        </p:txBody>
      </p:sp>
      <p:sp>
        <p:nvSpPr>
          <p:cNvPr id="18" name="Text 14"/>
          <p:cNvSpPr txBox="1"/>
          <p:nvPr/>
        </p:nvSpPr>
        <p:spPr>
          <a:xfrm>
            <a:off x="6343274" y="4983480"/>
            <a:ext cx="5299781" cy="777240"/>
          </a:xfrm>
          <a:prstGeom prst="rect">
            <a:avLst/>
          </a:prstGeom>
          <a:noFill/>
          <a:ln/>
        </p:spPr>
        <p:txBody>
          <a:bodyPr wrap="square" lIns="0" tIns="0" rIns="0" bIns="0" rtlCol="0" anchor="t"/>
          <a:lstStyle/>
          <a:p>
            <a:pPr indent="0" marL="0">
              <a:buNone/>
            </a:pPr>
            <a:r>
              <a:rPr lang="en-IE" sz="1500" dirty="0">
                <a:solidFill>
                  <a:schemeClr val="tx2"/>
                </a:solidFill>
              </a:rPr>
              <a:t>Eclipse writes the methods into your class.</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62</a:t>
            </a:fld>
            <a:endParaRPr lang="en-IE"/>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18</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In Eclipse, where do we find “Generate Getters and Setters…”?</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the Source menu</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the Run menu</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the Window menu</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In the Search menu</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63</a:t>
            </a:fld>
            <a:endParaRPr lang="en-IE"/>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18</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In Eclipse, where do we find “Generate Getters and Setters…”?</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In the Source menu</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the Run menu</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the Window menu</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In the Search menu</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Open the class, click Source on the top bar, and the generate options are near the bottom of that menu, including Generate Getters and Setters… and Generate Constructor using Fields…</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64</a:t>
            </a:fld>
            <a:endParaRPr lang="en-I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LET ECLIPSE DO THE TYPING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Quick Fix: Ctrl+1</a:t>
            </a:r>
            <a:endParaRPr lang="en-IE" sz="3400" dirty="0"/>
          </a:p>
        </p:txBody>
      </p:sp>
      <p:sp>
        <p:nvSpPr>
          <p:cNvPr id="5" name="Step 1"/>
          <p:cNvSpPr/>
          <p:nvPr/>
        </p:nvSpPr>
        <p:spPr>
          <a:xfrm>
            <a:off x="548640" y="1828800"/>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1</a:t>
            </a:r>
            <a:endParaRPr lang="en-IE" sz="1500" dirty="0"/>
          </a:p>
        </p:txBody>
      </p:sp>
      <p:sp>
        <p:nvSpPr>
          <p:cNvPr id="6" name="Text 3"/>
          <p:cNvSpPr txBox="1"/>
          <p:nvPr/>
        </p:nvSpPr>
        <p:spPr>
          <a:xfrm>
            <a:off x="1170432" y="1764792"/>
            <a:ext cx="4590288" cy="566928"/>
          </a:xfrm>
          <a:prstGeom prst="rect">
            <a:avLst/>
          </a:prstGeom>
          <a:noFill/>
          <a:ln/>
        </p:spPr>
        <p:txBody>
          <a:bodyPr wrap="square" lIns="0" tIns="0" rIns="0" bIns="0" rtlCol="0" anchor="ctr"/>
          <a:lstStyle/>
          <a:p>
            <a:pPr indent="0" marL="0">
              <a:buNone/>
            </a:pPr>
            <a:r>
              <a:rPr lang="en-IE" sz="1800" dirty="0">
                <a:solidFill>
                  <a:schemeClr val="tx1"/>
                </a:solidFill>
              </a:rPr>
              <a:t>Click on an attribute in your code.</a:t>
            </a:r>
            <a:endParaRPr lang="en-IE" sz="1800" dirty="0"/>
          </a:p>
        </p:txBody>
      </p:sp>
      <p:sp>
        <p:nvSpPr>
          <p:cNvPr id="7" name="Step 2"/>
          <p:cNvSpPr/>
          <p:nvPr/>
        </p:nvSpPr>
        <p:spPr>
          <a:xfrm>
            <a:off x="548640" y="2743200"/>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2</a:t>
            </a:r>
            <a:endParaRPr lang="en-IE" sz="1500" dirty="0"/>
          </a:p>
        </p:txBody>
      </p:sp>
      <p:sp>
        <p:nvSpPr>
          <p:cNvPr id="8" name="Text 5"/>
          <p:cNvSpPr txBox="1"/>
          <p:nvPr/>
        </p:nvSpPr>
        <p:spPr>
          <a:xfrm>
            <a:off x="1170432" y="2679192"/>
            <a:ext cx="4590288" cy="566928"/>
          </a:xfrm>
          <a:prstGeom prst="rect">
            <a:avLst/>
          </a:prstGeom>
          <a:noFill/>
          <a:ln/>
        </p:spPr>
        <p:txBody>
          <a:bodyPr wrap="square" lIns="0" tIns="0" rIns="0" bIns="0" rtlCol="0" anchor="ctr"/>
          <a:lstStyle/>
          <a:p>
            <a:pPr indent="0" marL="0">
              <a:buNone/>
            </a:pPr>
            <a:r>
              <a:rPr lang="en-IE" sz="1800" dirty="0">
                <a:solidFill>
                  <a:schemeClr val="tx1"/>
                </a:solidFill>
              </a:rPr>
              <a:t>Press </a:t>
            </a:r>
            <a:r>
              <a:rPr lang="en-IE" sz="1800" b="1" dirty="0">
                <a:solidFill>
                  <a:schemeClr val="tx1"/>
                </a:solidFill>
              </a:rPr>
              <a:t>Ctrl+1</a:t>
            </a:r>
            <a:r>
              <a:rPr lang="en-IE" sz="1800" dirty="0">
                <a:solidFill>
                  <a:schemeClr val="tx1"/>
                </a:solidFill>
              </a:rPr>
              <a:t> to open Quick Fix.</a:t>
            </a:r>
            <a:endParaRPr lang="en-IE" sz="1800" dirty="0"/>
          </a:p>
        </p:txBody>
      </p:sp>
      <p:sp>
        <p:nvSpPr>
          <p:cNvPr id="9" name="Step 3"/>
          <p:cNvSpPr/>
          <p:nvPr/>
        </p:nvSpPr>
        <p:spPr>
          <a:xfrm>
            <a:off x="548640" y="3657600"/>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3</a:t>
            </a:r>
            <a:endParaRPr lang="en-IE" sz="1500" dirty="0"/>
          </a:p>
        </p:txBody>
      </p:sp>
      <p:sp>
        <p:nvSpPr>
          <p:cNvPr id="10" name="Text 7"/>
          <p:cNvSpPr txBox="1"/>
          <p:nvPr/>
        </p:nvSpPr>
        <p:spPr>
          <a:xfrm>
            <a:off x="1170432" y="3593592"/>
            <a:ext cx="4590288" cy="566928"/>
          </a:xfrm>
          <a:prstGeom prst="rect">
            <a:avLst/>
          </a:prstGeom>
          <a:noFill/>
          <a:ln/>
        </p:spPr>
        <p:txBody>
          <a:bodyPr wrap="square" lIns="0" tIns="0" rIns="0" bIns="0" rtlCol="0" anchor="ctr"/>
          <a:lstStyle/>
          <a:p>
            <a:pPr indent="0" marL="0">
              <a:buNone/>
            </a:pPr>
            <a:r>
              <a:rPr lang="en-IE" sz="1800" dirty="0">
                <a:solidFill>
                  <a:schemeClr val="tx1"/>
                </a:solidFill>
              </a:rPr>
              <a:t>Choose </a:t>
            </a:r>
            <a:r>
              <a:rPr lang="en-IE" sz="1800" b="1" dirty="0">
                <a:solidFill>
                  <a:schemeClr val="tx1"/>
                </a:solidFill>
              </a:rPr>
              <a:t>Create getter and setter for ‘name’…</a:t>
            </a:r>
            <a:endParaRPr lang="en-IE" sz="1800" dirty="0"/>
          </a:p>
        </p:txBody>
      </p:sp>
      <p:sp>
        <p:nvSpPr>
          <p:cNvPr id="11" name="Step 4"/>
          <p:cNvSpPr/>
          <p:nvPr/>
        </p:nvSpPr>
        <p:spPr>
          <a:xfrm>
            <a:off x="548640" y="4572000"/>
            <a:ext cx="420624" cy="420624"/>
          </a:xfrm>
          <a:prstGeom prst="ellipse">
            <a:avLst/>
          </a:prstGeom>
          <a:solidFill>
            <a:schemeClr val="accent2"/>
          </a:solidFill>
          <a:ln/>
        </p:spPr>
        <p:txBody>
          <a:bodyPr wrap="square" lIns="0" tIns="0" rIns="0" bIns="0" rtlCol="0" anchor="ctr"/>
          <a:lstStyle/>
          <a:p>
            <a:pPr algn="ctr" indent="0" marL="0">
              <a:buNone/>
            </a:pPr>
            <a:r>
              <a:rPr lang="en-IE" sz="1500" b="1" dirty="0">
                <a:solidFill>
                  <a:schemeClr val="bg1"/>
                </a:solidFill>
              </a:rPr>
              <a:t>4</a:t>
            </a:r>
            <a:endParaRPr lang="en-IE" sz="1500" dirty="0"/>
          </a:p>
        </p:txBody>
      </p:sp>
      <p:sp>
        <p:nvSpPr>
          <p:cNvPr id="12" name="Text 9"/>
          <p:cNvSpPr txBox="1"/>
          <p:nvPr/>
        </p:nvSpPr>
        <p:spPr>
          <a:xfrm>
            <a:off x="1170432" y="4507992"/>
            <a:ext cx="4590288" cy="566928"/>
          </a:xfrm>
          <a:prstGeom prst="rect">
            <a:avLst/>
          </a:prstGeom>
          <a:noFill/>
          <a:ln/>
        </p:spPr>
        <p:txBody>
          <a:bodyPr wrap="square" lIns="0" tIns="0" rIns="0" bIns="0" rtlCol="0" anchor="ctr"/>
          <a:lstStyle/>
          <a:p>
            <a:pPr indent="0" marL="0">
              <a:buNone/>
            </a:pPr>
            <a:r>
              <a:rPr lang="en-IE" sz="1800" dirty="0">
                <a:solidFill>
                  <a:schemeClr val="tx1"/>
                </a:solidFill>
              </a:rPr>
              <a:t>Check the names in the Encapsulate Fields window, then click </a:t>
            </a:r>
            <a:r>
              <a:rPr lang="en-IE" sz="1800" b="1" dirty="0">
                <a:solidFill>
                  <a:schemeClr val="tx1"/>
                </a:solidFill>
              </a:rPr>
              <a:t>OK</a:t>
            </a:r>
            <a:r>
              <a:rPr lang="en-IE" sz="1800" dirty="0">
                <a:solidFill>
                  <a:schemeClr val="tx1"/>
                </a:solidFill>
              </a:rPr>
              <a:t>.</a:t>
            </a:r>
            <a:endParaRPr lang="en-IE" sz="1800" dirty="0"/>
          </a:p>
        </p:txBody>
      </p:sp>
      <p:sp>
        <p:nvSpPr>
          <p:cNvPr id="13" name="Quick Fix menu frame"/>
          <p:cNvSpPr/>
          <p:nvPr/>
        </p:nvSpPr>
        <p:spPr>
          <a:xfrm>
            <a:off x="6347308" y="1691640"/>
            <a:ext cx="5120640" cy="1527780"/>
          </a:xfrm>
          <a:prstGeom prst="roundRect">
            <a:avLst>
              <a:gd name="adj" fmla="val 4788"/>
            </a:avLst>
          </a:prstGeom>
          <a:solidFill>
            <a:schemeClr val="bg1"/>
          </a:solidFill>
          <a:ln/>
          <a:effectLst>
            <a:outerShdw sx="100000" sy="100000" kx="0" ky="0" algn="bl" rotWithShape="0" blurRad="114300" dist="31750" dir="5400000">
              <a:srgbClr val="1D2433">
                <a:alpha val="12000"/>
              </a:srgbClr>
            </a:outerShdw>
          </a:effectLst>
        </p:spPr>
      </p:sp>
      <p:pic>
        <p:nvPicPr>
          <p:cNvPr id="14" name="Quick Fix menu" descr="Quick Fix menu">    </p:cNvPr>
          <p:cNvPicPr>
            <a:picLocks noChangeAspect="1"/>
          </p:cNvPicPr>
          <p:nvPr/>
        </p:nvPicPr>
        <p:blipFill>
          <a:blip r:embed="rId1"/>
          <a:stretch>
            <a:fillRect/>
          </a:stretch>
        </p:blipFill>
        <p:spPr>
          <a:xfrm>
            <a:off x="6457036" y="1801368"/>
            <a:ext cx="4901184" cy="1308324"/>
          </a:xfrm>
          <a:prstGeom prst="rect">
            <a:avLst/>
          </a:prstGeom>
        </p:spPr>
      </p:pic>
      <p:sp>
        <p:nvSpPr>
          <p:cNvPr id="15" name="Highlight"/>
          <p:cNvSpPr/>
          <p:nvPr/>
        </p:nvSpPr>
        <p:spPr>
          <a:xfrm>
            <a:off x="8552475" y="2617819"/>
            <a:ext cx="1543507" cy="125485"/>
          </a:xfrm>
          <a:prstGeom prst="roundRect">
            <a:avLst>
              <a:gd name="adj" fmla="val 36435"/>
            </a:avLst>
          </a:prstGeom>
          <a:ln w="28575">
            <a:solidFill>
              <a:schemeClr val="accent1"/>
            </a:solidFill>
            <a:prstDash val="solid"/>
          </a:ln>
        </p:spPr>
      </p:sp>
      <p:sp>
        <p:nvSpPr>
          <p:cNvPr id="16" name="Encapsulate Fields window frame"/>
          <p:cNvSpPr/>
          <p:nvPr/>
        </p:nvSpPr>
        <p:spPr>
          <a:xfrm>
            <a:off x="6621628" y="3448020"/>
            <a:ext cx="4572000" cy="2592338"/>
          </a:xfrm>
          <a:prstGeom prst="roundRect">
            <a:avLst>
              <a:gd name="adj" fmla="val 2822"/>
            </a:avLst>
          </a:prstGeom>
          <a:solidFill>
            <a:schemeClr val="bg1"/>
          </a:solidFill>
          <a:ln/>
          <a:effectLst>
            <a:outerShdw sx="100000" sy="100000" kx="0" ky="0" algn="bl" rotWithShape="0" blurRad="114300" dist="31750" dir="5400000">
              <a:srgbClr val="1D2433">
                <a:alpha val="12000"/>
              </a:srgbClr>
            </a:outerShdw>
          </a:effectLst>
        </p:spPr>
      </p:sp>
      <p:pic>
        <p:nvPicPr>
          <p:cNvPr id="17" name="Encapsulate Fields window" descr="Encapsulate Fields window">    </p:cNvPr>
          <p:cNvPicPr>
            <a:picLocks noChangeAspect="1"/>
          </p:cNvPicPr>
          <p:nvPr/>
        </p:nvPicPr>
        <p:blipFill>
          <a:blip r:embed="rId2"/>
          <a:stretch>
            <a:fillRect/>
          </a:stretch>
        </p:blipFill>
        <p:spPr>
          <a:xfrm>
            <a:off x="6731356" y="3557748"/>
            <a:ext cx="4352544" cy="2372882"/>
          </a:xfrm>
          <a:prstGeom prst="rect">
            <a:avLst/>
          </a:prstGeom>
        </p:spPr>
      </p:pic>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65</a:t>
            </a:fld>
            <a:endParaRPr lang="en-I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19</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Which shortcut opens Quick Fix on an attribute, with an option to create its getter and setter?</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Ctrl+S</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Ctrl+Z</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Ctrl+Shift+F</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accent2"/>
                </a:solidFill>
                <a:latin typeface="Consolas" pitchFamily="34" charset="0"/>
                <a:ea typeface="Consolas" pitchFamily="34" charset="-122"/>
                <a:cs typeface="Consolas" pitchFamily="34" charset="-120"/>
              </a:rPr>
              <a:t>Ctrl+1</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66</a:t>
            </a:fld>
            <a:endParaRPr lang="en-I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19</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Which shortcut opens Quick Fix on an attribute, with an option to create its getter and setter?</a:t>
            </a:r>
            <a:endParaRPr lang="en-IE"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A</a:t>
            </a:r>
            <a:endParaRPr lang="en-IE"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Ctrl+S</a:t>
            </a:r>
            <a:endParaRPr lang="en-IE"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Ctrl+Z</a:t>
            </a:r>
            <a:endParaRPr lang="en-IE"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latin typeface="Consolas" pitchFamily="34" charset="0"/>
                <a:ea typeface="Consolas" pitchFamily="34" charset="-122"/>
                <a:cs typeface="Consolas" pitchFamily="34" charset="-120"/>
              </a:rPr>
              <a:t>Ctrl+Shift+F</a:t>
            </a:r>
            <a:endParaRPr lang="en-IE"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D</a:t>
            </a:r>
            <a:endParaRPr lang="en-IE" sz="1600" dirty="0"/>
          </a:p>
        </p:txBody>
      </p:sp>
      <p:sp>
        <p:nvSpPr>
          <p:cNvPr id="16" name="Option D text"/>
          <p:cNvSpPr txBox="1"/>
          <p:nvPr/>
        </p:nvSpPr>
        <p:spPr>
          <a:xfrm>
            <a:off x="1371600" y="4645152"/>
            <a:ext cx="4142232" cy="777240"/>
          </a:xfrm>
          <a:prstGeom prst="rect">
            <a:avLst/>
          </a:prstGeom>
          <a:noFill/>
          <a:ln/>
        </p:spPr>
        <p:txBody>
          <a:bodyPr wrap="square" lIns="0" tIns="0" rIns="0" bIns="0" rtlCol="0" anchor="ctr"/>
          <a:lstStyle/>
          <a:p>
            <a:pPr indent="0" marL="0">
              <a:buNone/>
            </a:pPr>
            <a:r>
              <a:rPr lang="en-IE" sz="1700" b="1" dirty="0">
                <a:solidFill>
                  <a:schemeClr val="bg1"/>
                </a:solidFill>
                <a:latin typeface="Consolas" pitchFamily="34" charset="0"/>
                <a:ea typeface="Consolas" pitchFamily="34" charset="-122"/>
                <a:cs typeface="Consolas" pitchFamily="34" charset="-120"/>
              </a:rPr>
              <a:t>Ctrl+1</a:t>
            </a:r>
            <a:endParaRPr lang="en-IE" sz="1700" dirty="0"/>
          </a:p>
        </p:txBody>
      </p:sp>
      <p:pic>
        <p:nvPicPr>
          <p:cNvPr id="17" name="Correct mark"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Click on the attribute and press Ctrl+1. Quick Fix suggests some options, including “Create getter and setter for ‘name’…”.</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67</a:t>
            </a:fld>
            <a:endParaRPr lang="en-IE"/>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LET ECLIPSE DO THE TYPING</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Field reference or setters?</a:t>
            </a:r>
            <a:endParaRPr lang="en-IE" sz="3400" dirty="0"/>
          </a:p>
        </p:txBody>
      </p:sp>
      <p:sp>
        <p:nvSpPr>
          <p:cNvPr id="5" name="Text 2"/>
          <p:cNvSpPr txBox="1"/>
          <p:nvPr/>
        </p:nvSpPr>
        <p:spPr>
          <a:xfrm>
            <a:off x="548640" y="1691640"/>
            <a:ext cx="11094415" cy="731520"/>
          </a:xfrm>
          <a:prstGeom prst="rect">
            <a:avLst/>
          </a:prstGeom>
          <a:noFill/>
          <a:ln/>
        </p:spPr>
        <p:txBody>
          <a:bodyPr wrap="square" lIns="0" tIns="0" rIns="0" bIns="0" rtlCol="0" anchor="t"/>
          <a:lstStyle/>
          <a:p>
            <a:pPr indent="0" marL="0">
              <a:buNone/>
            </a:pPr>
            <a:r>
              <a:rPr lang="en-IE" sz="1900" dirty="0">
                <a:solidFill>
                  <a:schemeClr val="tx1"/>
                </a:solidFill>
              </a:rPr>
              <a:t>In the Encapsulate Fields window, </a:t>
            </a:r>
            <a:r>
              <a:rPr lang="en-IE" sz="1900" b="1" dirty="0">
                <a:solidFill>
                  <a:schemeClr val="tx1"/>
                </a:solidFill>
              </a:rPr>
              <a:t>Field access in declaring type</a:t>
            </a:r>
            <a:r>
              <a:rPr lang="en-IE" sz="1900" dirty="0">
                <a:solidFill>
                  <a:schemeClr val="tx1"/>
                </a:solidFill>
              </a:rPr>
              <a:t> decides how the class’s own code, such as the constructor, uses the field (Eclipse’s word for an attribute):</a:t>
            </a:r>
            <a:endParaRPr lang="en-IE" sz="1900" dirty="0"/>
          </a:p>
        </p:txBody>
      </p:sp>
      <p:sp>
        <p:nvSpPr>
          <p:cNvPr id="6" name="Text 3"/>
          <p:cNvSpPr txBox="1"/>
          <p:nvPr/>
        </p:nvSpPr>
        <p:spPr>
          <a:xfrm>
            <a:off x="548640" y="2606040"/>
            <a:ext cx="5387188" cy="365760"/>
          </a:xfrm>
          <a:prstGeom prst="rect">
            <a:avLst/>
          </a:prstGeom>
          <a:noFill/>
          <a:ln/>
        </p:spPr>
        <p:txBody>
          <a:bodyPr wrap="square" lIns="0" tIns="0" rIns="0" bIns="0" rtlCol="0" anchor="t"/>
          <a:lstStyle/>
          <a:p>
            <a:pPr indent="0" marL="0">
              <a:buNone/>
            </a:pPr>
            <a:r>
              <a:rPr lang="en-IE" sz="1800" b="1" dirty="0">
                <a:solidFill>
                  <a:schemeClr val="accent2"/>
                </a:solidFill>
              </a:rPr>
              <a:t>keep field reference</a:t>
            </a:r>
            <a:endParaRPr lang="en-IE" sz="1800" dirty="0"/>
          </a:p>
        </p:txBody>
      </p:sp>
      <p:sp>
        <p:nvSpPr>
          <p:cNvPr id="7" name="keep field reference card"/>
          <p:cNvSpPr/>
          <p:nvPr/>
        </p:nvSpPr>
        <p:spPr>
          <a:xfrm>
            <a:off x="548640" y="3035808"/>
            <a:ext cx="5387188" cy="1821688"/>
          </a:xfrm>
          <a:prstGeom prst="roundRect">
            <a:avLst>
              <a:gd name="adj" fmla="val 6023"/>
            </a:avLst>
          </a:prstGeom>
          <a:solidFill>
            <a:schemeClr val="tx1"/>
          </a:solidFill>
          <a:ln/>
          <a:effectLst>
            <a:outerShdw sx="100000" sy="100000" kx="0" ky="0" algn="bl" rotWithShape="0" blurRad="114300" dist="31750" dir="5400000">
              <a:srgbClr val="1D2433">
                <a:alpha val="12000"/>
              </a:srgbClr>
            </a:outerShdw>
          </a:effectLst>
        </p:spPr>
      </p:sp>
      <p:sp>
        <p:nvSpPr>
          <p:cNvPr id="8" name="keep field reference language"/>
          <p:cNvSpPr txBox="1"/>
          <p:nvPr/>
        </p:nvSpPr>
        <p:spPr>
          <a:xfrm>
            <a:off x="822960" y="3154680"/>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9" name="keep field reference text"/>
          <p:cNvSpPr txBox="1"/>
          <p:nvPr/>
        </p:nvSpPr>
        <p:spPr>
          <a:xfrm>
            <a:off x="822960" y="3529584"/>
            <a:ext cx="4838548" cy="112674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id, </a:t>
            </a: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.id = id;</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.name = name;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0" name="Text 7"/>
          <p:cNvSpPr txBox="1"/>
          <p:nvPr/>
        </p:nvSpPr>
        <p:spPr>
          <a:xfrm>
            <a:off x="6255868" y="2606040"/>
            <a:ext cx="5387188" cy="365760"/>
          </a:xfrm>
          <a:prstGeom prst="rect">
            <a:avLst/>
          </a:prstGeom>
          <a:noFill/>
          <a:ln/>
        </p:spPr>
        <p:txBody>
          <a:bodyPr wrap="square" lIns="0" tIns="0" rIns="0" bIns="0" rtlCol="0" anchor="t"/>
          <a:lstStyle/>
          <a:p>
            <a:pPr indent="0" marL="0">
              <a:buNone/>
            </a:pPr>
            <a:r>
              <a:rPr lang="en-IE" sz="1800" b="1" dirty="0">
                <a:solidFill>
                  <a:schemeClr val="accent3"/>
                </a:solidFill>
              </a:rPr>
              <a:t>use setter and getter</a:t>
            </a:r>
            <a:endParaRPr lang="en-IE" sz="1800" dirty="0"/>
          </a:p>
        </p:txBody>
      </p:sp>
      <p:sp>
        <p:nvSpPr>
          <p:cNvPr id="11" name="use setter and getter card"/>
          <p:cNvSpPr/>
          <p:nvPr/>
        </p:nvSpPr>
        <p:spPr>
          <a:xfrm>
            <a:off x="6255868" y="3035808"/>
            <a:ext cx="5387188" cy="1821688"/>
          </a:xfrm>
          <a:prstGeom prst="roundRect">
            <a:avLst>
              <a:gd name="adj" fmla="val 6023"/>
            </a:avLst>
          </a:prstGeom>
          <a:solidFill>
            <a:schemeClr val="tx1"/>
          </a:solidFill>
          <a:ln/>
          <a:effectLst>
            <a:outerShdw sx="100000" sy="100000" kx="0" ky="0" algn="bl" rotWithShape="0" blurRad="114300" dist="31750" dir="5400000">
              <a:srgbClr val="1D2433">
                <a:alpha val="12000"/>
              </a:srgbClr>
            </a:outerShdw>
          </a:effectLst>
        </p:spPr>
      </p:sp>
      <p:sp>
        <p:nvSpPr>
          <p:cNvPr id="12" name="use setter and getter language"/>
          <p:cNvSpPr txBox="1"/>
          <p:nvPr/>
        </p:nvSpPr>
        <p:spPr>
          <a:xfrm>
            <a:off x="6530188" y="3154680"/>
            <a:ext cx="4838548" cy="219456"/>
          </a:xfrm>
          <a:prstGeom prst="rect">
            <a:avLst/>
          </a:prstGeom>
          <a:noFill/>
          <a:ln/>
        </p:spPr>
        <p:txBody>
          <a:bodyPr wrap="square" lIns="0" tIns="0" rIns="0" bIns="0" rtlCol="0" anchor="ctr"/>
          <a:lstStyle/>
          <a:p>
            <a:pPr algn="r" indent="0" marL="0">
              <a:buNone/>
            </a:pPr>
            <a:r>
              <a:rPr lang="en-IE" sz="1050" b="1" dirty="0">
                <a:solidFill>
                  <a:schemeClr val="bg1">
                    <a:alpha val="55000"/>
                  </a:schemeClr>
                </a:solidFill>
              </a:rPr>
              <a:t>Java</a:t>
            </a:r>
            <a:endParaRPr lang="en-IE" sz="1050" dirty="0"/>
          </a:p>
        </p:txBody>
      </p:sp>
      <p:sp>
        <p:nvSpPr>
          <p:cNvPr id="13" name="use setter and getter text"/>
          <p:cNvSpPr txBox="1"/>
          <p:nvPr/>
        </p:nvSpPr>
        <p:spPr>
          <a:xfrm>
            <a:off x="6530188" y="3529584"/>
            <a:ext cx="4838548" cy="1126744"/>
          </a:xfrm>
          <a:prstGeom prst="rect">
            <a:avLst/>
          </a:prstGeom>
          <a:noFill/>
          <a:ln/>
        </p:spPr>
        <p:txBody>
          <a:bodyPr wrap="square" lIns="0" tIns="0" rIns="0" bIns="0" rtlCol="0" anchor="t"/>
          <a:lstStyle/>
          <a:p>
            <a:pPr indent="0" marL="0">
              <a:lnSpc>
                <a:spcPts val="2110"/>
              </a:lnSpc>
              <a:buNone/>
            </a:pPr>
            <a:r>
              <a:rPr lang="en-IE" sz="1600" dirty="0">
                <a:solidFill>
                  <a:srgbClr val="FF9F5A"/>
                </a:solidFill>
                <a:latin typeface="Consolas" pitchFamily="34" charset="0"/>
                <a:ea typeface="Consolas" pitchFamily="34" charset="-122"/>
                <a:cs typeface="Consolas" pitchFamily="34" charset="-120"/>
              </a:rPr>
              <a:t>public</a:t>
            </a: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C9B0FF"/>
                </a:solidFill>
                <a:latin typeface="Consolas" pitchFamily="34" charset="0"/>
                <a:ea typeface="Consolas" pitchFamily="34" charset="-122"/>
                <a:cs typeface="Consolas" pitchFamily="34" charset="-120"/>
              </a:rPr>
              <a:t>Student</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FF9F5A"/>
                </a:solidFill>
                <a:latin typeface="Consolas" pitchFamily="34" charset="0"/>
                <a:ea typeface="Consolas" pitchFamily="34" charset="-122"/>
                <a:cs typeface="Consolas" pitchFamily="34" charset="-120"/>
              </a:rPr>
              <a:t>int</a:t>
            </a:r>
            <a:r>
              <a:rPr lang="en-IE" sz="1600" dirty="0">
                <a:solidFill>
                  <a:srgbClr val="E6EBF2"/>
                </a:solidFill>
                <a:latin typeface="Consolas" pitchFamily="34" charset="0"/>
                <a:ea typeface="Consolas" pitchFamily="34" charset="-122"/>
                <a:cs typeface="Consolas" pitchFamily="34" charset="-120"/>
              </a:rPr>
              <a:t> id, </a:t>
            </a:r>
            <a:r>
              <a:rPr lang="en-IE" sz="1600" dirty="0">
                <a:solidFill>
                  <a:srgbClr val="6CC4E8"/>
                </a:solidFill>
                <a:latin typeface="Consolas" pitchFamily="34" charset="0"/>
                <a:ea typeface="Consolas" pitchFamily="34" charset="-122"/>
                <a:cs typeface="Consolas" pitchFamily="34" charset="-120"/>
              </a:rPr>
              <a:t>String</a:t>
            </a:r>
            <a:r>
              <a:rPr lang="en-IE" sz="1600" dirty="0">
                <a:solidFill>
                  <a:srgbClr val="E6EBF2"/>
                </a:solidFill>
                <a:latin typeface="Consolas" pitchFamily="34" charset="0"/>
                <a:ea typeface="Consolas" pitchFamily="34" charset="-122"/>
                <a:cs typeface="Consolas" pitchFamily="34" charset="-120"/>
              </a:rPr>
              <a:t> name) {</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C9B0FF"/>
                </a:solidFill>
                <a:latin typeface="Consolas" pitchFamily="34" charset="0"/>
                <a:ea typeface="Consolas" pitchFamily="34" charset="-122"/>
                <a:cs typeface="Consolas" pitchFamily="34" charset="-120"/>
              </a:rPr>
              <a:t>setId</a:t>
            </a:r>
            <a:r>
              <a:rPr lang="en-IE" sz="1600" dirty="0">
                <a:solidFill>
                  <a:srgbClr val="E6EBF2"/>
                </a:solidFill>
                <a:latin typeface="Consolas" pitchFamily="34" charset="0"/>
                <a:ea typeface="Consolas" pitchFamily="34" charset="-122"/>
                <a:cs typeface="Consolas" pitchFamily="34" charset="-120"/>
              </a:rPr>
              <a:t>(id);</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    </a:t>
            </a:r>
            <a:r>
              <a:rPr lang="en-IE" sz="1600" dirty="0">
                <a:solidFill>
                  <a:srgbClr val="FF9F5A"/>
                </a:solidFill>
                <a:latin typeface="Consolas" pitchFamily="34" charset="0"/>
                <a:ea typeface="Consolas" pitchFamily="34" charset="-122"/>
                <a:cs typeface="Consolas" pitchFamily="34" charset="-120"/>
              </a:rPr>
              <a:t>this</a:t>
            </a:r>
            <a:r>
              <a:rPr lang="en-IE" sz="1600" dirty="0">
                <a:solidFill>
                  <a:srgbClr val="E6EBF2"/>
                </a:solidFill>
                <a:latin typeface="Consolas" pitchFamily="34" charset="0"/>
                <a:ea typeface="Consolas" pitchFamily="34" charset="-122"/>
                <a:cs typeface="Consolas" pitchFamily="34" charset="-120"/>
              </a:rPr>
              <a:t>.</a:t>
            </a:r>
            <a:r>
              <a:rPr lang="en-IE" sz="1600" dirty="0">
                <a:solidFill>
                  <a:srgbClr val="C9B0FF"/>
                </a:solidFill>
                <a:latin typeface="Consolas" pitchFamily="34" charset="0"/>
                <a:ea typeface="Consolas" pitchFamily="34" charset="-122"/>
                <a:cs typeface="Consolas" pitchFamily="34" charset="-120"/>
              </a:rPr>
              <a:t>setName</a:t>
            </a:r>
            <a:r>
              <a:rPr lang="en-IE" sz="1600" dirty="0">
                <a:solidFill>
                  <a:srgbClr val="E6EBF2"/>
                </a:solidFill>
                <a:latin typeface="Consolas" pitchFamily="34" charset="0"/>
                <a:ea typeface="Consolas" pitchFamily="34" charset="-122"/>
                <a:cs typeface="Consolas" pitchFamily="34" charset="-120"/>
              </a:rPr>
              <a:t>(name);</a:t>
            </a:r>
            <a:endParaRPr lang="en-IE" sz="1600" dirty="0"/>
          </a:p>
          <a:p>
            <a:pPr indent="0" marL="0">
              <a:lnSpc>
                <a:spcPts val="2110"/>
              </a:lnSpc>
              <a:buNone/>
            </a:pPr>
            <a:r>
              <a:rPr lang="en-IE" sz="1600" dirty="0">
                <a:solidFill>
                  <a:srgbClr val="E6EBF2"/>
                </a:solidFill>
                <a:latin typeface="Consolas" pitchFamily="34" charset="0"/>
                <a:ea typeface="Consolas" pitchFamily="34" charset="-122"/>
                <a:cs typeface="Consolas" pitchFamily="34" charset="-120"/>
              </a:rPr>
              <a:t>}</a:t>
            </a:r>
            <a:endParaRPr lang="en-IE" sz="1600" dirty="0"/>
          </a:p>
        </p:txBody>
      </p:sp>
      <p:sp>
        <p:nvSpPr>
          <p:cNvPr id="14" name="Note"/>
          <p:cNvSpPr/>
          <p:nvPr/>
        </p:nvSpPr>
        <p:spPr>
          <a:xfrm>
            <a:off x="548640" y="5120640"/>
            <a:ext cx="11094415" cy="914400"/>
          </a:xfrm>
          <a:prstGeom prst="roundRect">
            <a:avLst>
              <a:gd name="adj" fmla="val 12000"/>
            </a:avLst>
          </a:prstGeom>
          <a:solidFill>
            <a:schemeClr val="bg2"/>
          </a:solidFill>
          <a:ln/>
        </p:spPr>
      </p:sp>
      <p:sp>
        <p:nvSpPr>
          <p:cNvPr id="15" name="Icon tile"/>
          <p:cNvSpPr/>
          <p:nvPr/>
        </p:nvSpPr>
        <p:spPr>
          <a:xfrm>
            <a:off x="822960" y="5312664"/>
            <a:ext cx="530352" cy="530352"/>
          </a:xfrm>
          <a:prstGeom prst="roundRect">
            <a:avLst>
              <a:gd name="adj" fmla="val 24000"/>
            </a:avLst>
          </a:prstGeom>
          <a:solidFill>
            <a:schemeClr val="accent3">
              <a:alpha val="14000"/>
            </a:schemeClr>
          </a:solidFill>
          <a:ln/>
        </p:spPr>
      </p:sp>
      <p:pic>
        <p:nvPicPr>
          <p:cNvPr id="16" name="shield check icon" descr="shield check icon">    </p:cNvPr>
          <p:cNvPicPr>
            <a:picLocks noChangeAspect="1"/>
          </p:cNvPicPr>
          <p:nvPr/>
        </p:nvPicPr>
        <p:blipFill>
          <a:blip r:embed="rId1"/>
          <a:stretch>
            <a:fillRect/>
          </a:stretch>
        </p:blipFill>
        <p:spPr>
          <a:xfrm>
            <a:off x="934334" y="5424038"/>
            <a:ext cx="307604" cy="307604"/>
          </a:xfrm>
          <a:prstGeom prst="rect">
            <a:avLst/>
          </a:prstGeom>
        </p:spPr>
      </p:pic>
      <p:sp>
        <p:nvSpPr>
          <p:cNvPr id="17" name="Text 13"/>
          <p:cNvSpPr txBox="1"/>
          <p:nvPr/>
        </p:nvSpPr>
        <p:spPr>
          <a:xfrm>
            <a:off x="1572768" y="5120640"/>
            <a:ext cx="9814255" cy="914400"/>
          </a:xfrm>
          <a:prstGeom prst="rect">
            <a:avLst/>
          </a:prstGeom>
          <a:noFill/>
          <a:ln/>
        </p:spPr>
        <p:txBody>
          <a:bodyPr wrap="square" lIns="0" tIns="0" rIns="0" bIns="0" rtlCol="0" anchor="ctr"/>
          <a:lstStyle/>
          <a:p>
            <a:pPr indent="0" marL="0">
              <a:buNone/>
            </a:pPr>
            <a:r>
              <a:rPr lang="en-IE" sz="1700" dirty="0">
                <a:solidFill>
                  <a:schemeClr val="tx1"/>
                </a:solidFill>
              </a:rPr>
              <a:t>Assigning by setters is useful when the setter does validation checks: the checks also run when the object is created.</a:t>
            </a:r>
            <a:endParaRPr lang="en-IE"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68</a:t>
            </a:fld>
            <a:endParaRPr lang="en-IE"/>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Label"/>
          <p:cNvSpPr/>
          <p:nvPr/>
        </p:nvSpPr>
        <p:spPr>
          <a:xfrm>
            <a:off x="548640" y="384048"/>
            <a:ext cx="215646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IE" sz="1400" b="1" spc="100" kern="0" dirty="0">
                <a:solidFill>
                  <a:schemeClr val="bg1"/>
                </a:solidFill>
              </a:rPr>
              <a:t>QUICK CHECK  20</a:t>
            </a:r>
            <a:endParaRPr lang="en-IE" sz="1400" dirty="0"/>
          </a:p>
        </p:txBody>
      </p:sp>
      <p:sp>
        <p:nvSpPr>
          <p:cNvPr id="3" name="Topic"/>
          <p:cNvSpPr txBox="1"/>
          <p:nvPr/>
        </p:nvSpPr>
        <p:spPr>
          <a:xfrm>
            <a:off x="28879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IE" sz="2800" b="1" dirty="0">
                <a:solidFill>
                  <a:schemeClr val="tx1"/>
                </a:solidFill>
              </a:rPr>
              <a:t>When is it useful for a constructor to assign values through setters, like </a:t>
            </a:r>
            <a:r>
              <a:rPr lang="en-IE" sz="2800" b="1" dirty="0">
                <a:solidFill>
                  <a:schemeClr val="accent2"/>
                </a:solidFill>
                <a:latin typeface="Consolas" pitchFamily="34" charset="0"/>
                <a:ea typeface="Consolas" pitchFamily="34" charset="-122"/>
                <a:cs typeface="Consolas" pitchFamily="34" charset="-120"/>
              </a:rPr>
              <a:t>this.setId(id)</a:t>
            </a:r>
            <a:r>
              <a:rPr lang="en-IE" sz="2800" b="1" dirty="0">
                <a:solidFill>
                  <a:schemeClr val="tx1"/>
                </a:solidFill>
              </a:rPr>
              <a:t>?</a:t>
            </a:r>
            <a:endParaRPr lang="en-IE" sz="2800" dirty="0"/>
          </a:p>
        </p:txBody>
      </p:sp>
      <p:sp>
        <p:nvSpPr>
          <p:cNvPr id="5" name="Option A"/>
          <p:cNvSpPr/>
          <p:nvPr/>
        </p:nvSpPr>
        <p:spPr>
          <a:xfrm>
            <a:off x="548640"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A</a:t>
            </a:r>
            <a:endParaRPr lang="en-IE" sz="2000" dirty="0"/>
          </a:p>
        </p:txBody>
      </p:sp>
      <p:sp>
        <p:nvSpPr>
          <p:cNvPr id="7" name="Option A text"/>
          <p:cNvSpPr txBox="1"/>
          <p:nvPr/>
        </p:nvSpPr>
        <p:spPr>
          <a:xfrm>
            <a:off x="1645920"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the setter checks the values it is given</a:t>
            </a:r>
            <a:endParaRPr lang="en-IE" sz="2000" dirty="0"/>
          </a:p>
        </p:txBody>
      </p:sp>
      <p:sp>
        <p:nvSpPr>
          <p:cNvPr id="8" name="Option B"/>
          <p:cNvSpPr/>
          <p:nvPr/>
        </p:nvSpPr>
        <p:spPr>
          <a:xfrm>
            <a:off x="6233008" y="233172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328" y="277977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B</a:t>
            </a:r>
            <a:endParaRPr lang="en-IE" sz="2000" dirty="0"/>
          </a:p>
        </p:txBody>
      </p:sp>
      <p:sp>
        <p:nvSpPr>
          <p:cNvPr id="10" name="Option B text"/>
          <p:cNvSpPr txBox="1"/>
          <p:nvPr/>
        </p:nvSpPr>
        <p:spPr>
          <a:xfrm>
            <a:off x="7330288" y="237744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the class doesn’t have any attributes at all</a:t>
            </a:r>
            <a:endParaRPr lang="en-IE" sz="2000" dirty="0"/>
          </a:p>
        </p:txBody>
      </p:sp>
      <p:sp>
        <p:nvSpPr>
          <p:cNvPr id="11" name="Option C"/>
          <p:cNvSpPr/>
          <p:nvPr/>
        </p:nvSpPr>
        <p:spPr>
          <a:xfrm>
            <a:off x="548640"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C</a:t>
            </a:r>
            <a:endParaRPr lang="en-IE" sz="2000" dirty="0"/>
          </a:p>
        </p:txBody>
      </p:sp>
      <p:sp>
        <p:nvSpPr>
          <p:cNvPr id="13" name="Option C text"/>
          <p:cNvSpPr txBox="1"/>
          <p:nvPr/>
        </p:nvSpPr>
        <p:spPr>
          <a:xfrm>
            <a:off x="1645920"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all of the attributes are public anyway</a:t>
            </a:r>
            <a:endParaRPr lang="en-IE" sz="2000" dirty="0"/>
          </a:p>
        </p:txBody>
      </p:sp>
      <p:sp>
        <p:nvSpPr>
          <p:cNvPr id="14" name="Option D"/>
          <p:cNvSpPr/>
          <p:nvPr/>
        </p:nvSpPr>
        <p:spPr>
          <a:xfrm>
            <a:off x="6233008" y="4069080"/>
            <a:ext cx="5410048"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328" y="4517136"/>
            <a:ext cx="566928" cy="566928"/>
          </a:xfrm>
          <a:prstGeom prst="ellipse">
            <a:avLst/>
          </a:prstGeom>
          <a:solidFill>
            <a:schemeClr val="accent2"/>
          </a:solidFill>
          <a:ln/>
        </p:spPr>
        <p:txBody>
          <a:bodyPr wrap="square" lIns="0" tIns="0" rIns="0" bIns="0" rtlCol="0" anchor="ctr"/>
          <a:lstStyle/>
          <a:p>
            <a:pPr algn="ctr" indent="0" marL="0">
              <a:buNone/>
            </a:pPr>
            <a:r>
              <a:rPr lang="en-IE" sz="2000" b="1" dirty="0">
                <a:solidFill>
                  <a:schemeClr val="bg1"/>
                </a:solidFill>
              </a:rPr>
              <a:t>D</a:t>
            </a:r>
            <a:endParaRPr lang="en-IE" sz="2000" dirty="0"/>
          </a:p>
        </p:txBody>
      </p:sp>
      <p:sp>
        <p:nvSpPr>
          <p:cNvPr id="16" name="Option D text"/>
          <p:cNvSpPr txBox="1"/>
          <p:nvPr/>
        </p:nvSpPr>
        <p:spPr>
          <a:xfrm>
            <a:off x="7330288" y="4114800"/>
            <a:ext cx="4038448" cy="1371600"/>
          </a:xfrm>
          <a:prstGeom prst="rect">
            <a:avLst/>
          </a:prstGeom>
          <a:noFill/>
          <a:ln/>
        </p:spPr>
        <p:txBody>
          <a:bodyPr wrap="square" lIns="0" tIns="0" rIns="0" bIns="0" rtlCol="0" anchor="ctr"/>
          <a:lstStyle/>
          <a:p>
            <a:pPr indent="0" marL="0">
              <a:buNone/>
            </a:pPr>
            <a:r>
              <a:rPr lang="en-IE" sz="2000" dirty="0">
                <a:solidFill>
                  <a:schemeClr val="tx1"/>
                </a:solidFill>
              </a:rPr>
              <a:t>When we never want the values to change later</a:t>
            </a:r>
            <a:endParaRPr lang="en-IE"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69</a:t>
            </a:fld>
            <a:endParaRPr lang="en-I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155956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IE" sz="1400" b="1" spc="100" kern="0" dirty="0">
                <a:solidFill>
                  <a:schemeClr val="bg1"/>
                </a:solidFill>
              </a:rPr>
              <a:t>ANSWER  20</a:t>
            </a:r>
            <a:endParaRPr lang="en-IE" sz="1400" dirty="0"/>
          </a:p>
        </p:txBody>
      </p:sp>
      <p:sp>
        <p:nvSpPr>
          <p:cNvPr id="3" name="Topic"/>
          <p:cNvSpPr txBox="1"/>
          <p:nvPr/>
        </p:nvSpPr>
        <p:spPr>
          <a:xfrm>
            <a:off x="2291080" y="384048"/>
            <a:ext cx="6400800" cy="365760"/>
          </a:xfrm>
          <a:prstGeom prst="rect">
            <a:avLst/>
          </a:prstGeom>
          <a:noFill/>
          <a:ln/>
        </p:spPr>
        <p:txBody>
          <a:bodyPr wrap="square" lIns="0" tIns="0" rIns="0" bIns="0" rtlCol="0" anchor="ctr"/>
          <a:lstStyle/>
          <a:p>
            <a:pPr indent="0" marL="0">
              <a:buNone/>
            </a:pPr>
            <a:r>
              <a:rPr lang="en-IE" sz="1400" dirty="0">
                <a:solidFill>
                  <a:schemeClr val="tx2"/>
                </a:solidFill>
              </a:rPr>
              <a:t>Eclipse auto-generation</a:t>
            </a:r>
            <a:endParaRPr lang="en-IE"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IE" sz="2000" b="1" dirty="0">
                <a:solidFill>
                  <a:schemeClr val="tx2"/>
                </a:solidFill>
              </a:rPr>
              <a:t>When is it useful for a constructor to assign values through setters, like </a:t>
            </a:r>
            <a:r>
              <a:rPr lang="en-IE" sz="2000" b="1" dirty="0">
                <a:solidFill>
                  <a:schemeClr val="tx2"/>
                </a:solidFill>
                <a:latin typeface="Consolas" pitchFamily="34" charset="0"/>
                <a:ea typeface="Consolas" pitchFamily="34" charset="-122"/>
                <a:cs typeface="Consolas" pitchFamily="34" charset="-120"/>
              </a:rPr>
              <a:t>this.setId(id)</a:t>
            </a:r>
            <a:r>
              <a:rPr lang="en-IE" sz="2000" b="1" dirty="0">
                <a:solidFill>
                  <a:schemeClr val="tx2"/>
                </a:solidFill>
              </a:rPr>
              <a:t>?</a:t>
            </a:r>
            <a:endParaRPr lang="en-IE"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IE" sz="1600" b="1" dirty="0">
                <a:solidFill>
                  <a:schemeClr val="accent3"/>
                </a:solidFill>
              </a:rPr>
              <a:t>A</a:t>
            </a:r>
            <a:endParaRPr lang="en-IE" sz="1600" dirty="0"/>
          </a:p>
        </p:txBody>
      </p:sp>
      <p:sp>
        <p:nvSpPr>
          <p:cNvPr id="7" name="Option A text"/>
          <p:cNvSpPr txBox="1"/>
          <p:nvPr/>
        </p:nvSpPr>
        <p:spPr>
          <a:xfrm>
            <a:off x="1371600" y="1874520"/>
            <a:ext cx="4142232" cy="777240"/>
          </a:xfrm>
          <a:prstGeom prst="rect">
            <a:avLst/>
          </a:prstGeom>
          <a:noFill/>
          <a:ln/>
        </p:spPr>
        <p:txBody>
          <a:bodyPr wrap="square" lIns="0" tIns="0" rIns="0" bIns="0" rtlCol="0" anchor="ctr"/>
          <a:lstStyle/>
          <a:p>
            <a:pPr indent="0" marL="0">
              <a:buNone/>
            </a:pPr>
            <a:r>
              <a:rPr lang="en-IE" sz="1700" b="1" dirty="0">
                <a:solidFill>
                  <a:schemeClr val="bg1"/>
                </a:solidFill>
              </a:rPr>
              <a:t>When the setter checks the values it is given</a:t>
            </a:r>
            <a:endParaRPr lang="en-IE" sz="1700" dirty="0"/>
          </a:p>
        </p:txBody>
      </p:sp>
      <p:pic>
        <p:nvPicPr>
          <p:cNvPr id="8" name="Correct mark"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B</a:t>
            </a:r>
            <a:endParaRPr lang="en-IE"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the class doesn’t have any attributes at all</a:t>
            </a:r>
            <a:endParaRPr lang="en-IE"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C</a:t>
            </a:r>
            <a:endParaRPr lang="en-IE"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all of the attributes are public anyway</a:t>
            </a:r>
            <a:endParaRPr lang="en-IE"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IE" sz="1600" b="1" dirty="0">
                <a:solidFill>
                  <a:schemeClr val="tx2"/>
                </a:solidFill>
              </a:rPr>
              <a:t>D</a:t>
            </a:r>
            <a:endParaRPr lang="en-IE"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IE" sz="1700" dirty="0">
                <a:solidFill>
                  <a:schemeClr val="tx2"/>
                </a:solidFill>
              </a:rPr>
              <a:t>When we never want the values to change later</a:t>
            </a:r>
            <a:endParaRPr lang="en-IE"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lightbulb icon"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indent="0" marL="0">
              <a:buNone/>
            </a:pPr>
            <a:r>
              <a:rPr lang="en-IE" sz="2200" b="1" dirty="0">
                <a:solidFill>
                  <a:schemeClr val="tx1"/>
                </a:solidFill>
              </a:rPr>
              <a:t>Why?</a:t>
            </a:r>
            <a:endParaRPr lang="en-IE"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indent="0" marL="0">
              <a:buNone/>
            </a:pPr>
            <a:r>
              <a:rPr lang="en-IE" sz="1800" dirty="0">
                <a:solidFill>
                  <a:schemeClr val="tx1"/>
                </a:solidFill>
              </a:rPr>
              <a:t>If the setter checks the value (for example, that a number is in range), calling it from the constructor means those checks also run when the object is first created.</a:t>
            </a:r>
            <a:endParaRPr lang="en-IE"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70</a:t>
            </a:fld>
            <a:endParaRPr lang="en-IE"/>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IE" sz="1200" b="1" spc="150" kern="0" dirty="0">
                <a:solidFill>
                  <a:schemeClr val="tx2"/>
                </a:solidFill>
              </a:rPr>
              <a:t>WRAP-UP</a:t>
            </a:r>
            <a:endParaRPr lang="en-IE"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IE" sz="3400" b="1" dirty="0">
                <a:solidFill>
                  <a:schemeClr val="tx1"/>
                </a:solidFill>
              </a:rPr>
              <a:t>Lecture 2 at a glance</a:t>
            </a:r>
            <a:endParaRPr lang="en-IE" sz="3400" dirty="0"/>
          </a:p>
        </p:txBody>
      </p:sp>
      <p:sp>
        <p:nvSpPr>
          <p:cNvPr id="5" name="Card"/>
          <p:cNvSpPr/>
          <p:nvPr/>
        </p:nvSpPr>
        <p:spPr>
          <a:xfrm>
            <a:off x="548640"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04672" y="2039112"/>
            <a:ext cx="548640" cy="548640"/>
          </a:xfrm>
          <a:prstGeom prst="roundRect">
            <a:avLst>
              <a:gd name="adj" fmla="val 24000"/>
            </a:avLst>
          </a:prstGeom>
          <a:solidFill>
            <a:schemeClr val="accent5">
              <a:alpha val="14000"/>
            </a:schemeClr>
          </a:solidFill>
          <a:ln/>
        </p:spPr>
      </p:sp>
      <p:pic>
        <p:nvPicPr>
          <p:cNvPr id="7" name="eye slash icon" descr="eye slash icon">    </p:cNvPr>
          <p:cNvPicPr>
            <a:picLocks noChangeAspect="1"/>
          </p:cNvPicPr>
          <p:nvPr/>
        </p:nvPicPr>
        <p:blipFill>
          <a:blip r:embed="rId1"/>
          <a:stretch>
            <a:fillRect/>
          </a:stretch>
        </p:blipFill>
        <p:spPr>
          <a:xfrm>
            <a:off x="919886" y="2154326"/>
            <a:ext cx="318211" cy="318211"/>
          </a:xfrm>
          <a:prstGeom prst="rect">
            <a:avLst/>
          </a:prstGeom>
        </p:spPr>
      </p:pic>
      <p:sp>
        <p:nvSpPr>
          <p:cNvPr id="8" name="Text 4"/>
          <p:cNvSpPr txBox="1"/>
          <p:nvPr/>
        </p:nvSpPr>
        <p:spPr>
          <a:xfrm>
            <a:off x="1481328"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Abstraction</a:t>
            </a:r>
            <a:endParaRPr lang="en-IE" sz="1900" dirty="0"/>
          </a:p>
        </p:txBody>
      </p:sp>
      <p:sp>
        <p:nvSpPr>
          <p:cNvPr id="9" name="Text 5"/>
          <p:cNvSpPr txBox="1"/>
          <p:nvPr/>
        </p:nvSpPr>
        <p:spPr>
          <a:xfrm>
            <a:off x="804672"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Hide the details we don’t need to see.</a:t>
            </a:r>
            <a:endParaRPr lang="en-IE" sz="1500" dirty="0"/>
          </a:p>
        </p:txBody>
      </p:sp>
      <p:sp>
        <p:nvSpPr>
          <p:cNvPr id="10" name="Card"/>
          <p:cNvSpPr/>
          <p:nvPr/>
        </p:nvSpPr>
        <p:spPr>
          <a:xfrm>
            <a:off x="3379394"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3635426" y="2039112"/>
            <a:ext cx="548640" cy="548640"/>
          </a:xfrm>
          <a:prstGeom prst="roundRect">
            <a:avLst>
              <a:gd name="adj" fmla="val 24000"/>
            </a:avLst>
          </a:prstGeom>
          <a:solidFill>
            <a:schemeClr val="accent1">
              <a:alpha val="14000"/>
            </a:schemeClr>
          </a:solidFill>
          <a:ln/>
        </p:spPr>
      </p:sp>
      <p:pic>
        <p:nvPicPr>
          <p:cNvPr id="12" name="package icon" descr="package icon">    </p:cNvPr>
          <p:cNvPicPr>
            <a:picLocks noChangeAspect="1"/>
          </p:cNvPicPr>
          <p:nvPr/>
        </p:nvPicPr>
        <p:blipFill>
          <a:blip r:embed="rId2"/>
          <a:stretch>
            <a:fillRect/>
          </a:stretch>
        </p:blipFill>
        <p:spPr>
          <a:xfrm>
            <a:off x="3750640" y="2154326"/>
            <a:ext cx="318211" cy="318211"/>
          </a:xfrm>
          <a:prstGeom prst="rect">
            <a:avLst/>
          </a:prstGeom>
        </p:spPr>
      </p:pic>
      <p:sp>
        <p:nvSpPr>
          <p:cNvPr id="13" name="Text 8"/>
          <p:cNvSpPr txBox="1"/>
          <p:nvPr/>
        </p:nvSpPr>
        <p:spPr>
          <a:xfrm>
            <a:off x="4312082"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Encapsulation</a:t>
            </a:r>
            <a:endParaRPr lang="en-IE" sz="1900" dirty="0"/>
          </a:p>
        </p:txBody>
      </p:sp>
      <p:sp>
        <p:nvSpPr>
          <p:cNvPr id="14" name="Text 9"/>
          <p:cNvSpPr txBox="1"/>
          <p:nvPr/>
        </p:nvSpPr>
        <p:spPr>
          <a:xfrm>
            <a:off x="3635426"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Keep the details inside the class and show only what’s relevant.</a:t>
            </a:r>
            <a:endParaRPr lang="en-IE" sz="1500" dirty="0"/>
          </a:p>
        </p:txBody>
      </p:sp>
      <p:sp>
        <p:nvSpPr>
          <p:cNvPr id="15" name="Card"/>
          <p:cNvSpPr/>
          <p:nvPr/>
        </p:nvSpPr>
        <p:spPr>
          <a:xfrm>
            <a:off x="6210148"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6" name="Icon tile"/>
          <p:cNvSpPr/>
          <p:nvPr/>
        </p:nvSpPr>
        <p:spPr>
          <a:xfrm>
            <a:off x="6466180" y="2039112"/>
            <a:ext cx="548640" cy="548640"/>
          </a:xfrm>
          <a:prstGeom prst="roundRect">
            <a:avLst>
              <a:gd name="adj" fmla="val 24000"/>
            </a:avLst>
          </a:prstGeom>
          <a:solidFill>
            <a:schemeClr val="accent2">
              <a:alpha val="14000"/>
            </a:schemeClr>
          </a:solidFill>
          <a:ln/>
        </p:spPr>
      </p:sp>
      <p:pic>
        <p:nvPicPr>
          <p:cNvPr id="17" name="lock simple icon" descr="lock simple icon">    </p:cNvPr>
          <p:cNvPicPr>
            <a:picLocks noChangeAspect="1"/>
          </p:cNvPicPr>
          <p:nvPr/>
        </p:nvPicPr>
        <p:blipFill>
          <a:blip r:embed="rId3"/>
          <a:stretch>
            <a:fillRect/>
          </a:stretch>
        </p:blipFill>
        <p:spPr>
          <a:xfrm>
            <a:off x="6581394" y="2154326"/>
            <a:ext cx="318211" cy="318211"/>
          </a:xfrm>
          <a:prstGeom prst="rect">
            <a:avLst/>
          </a:prstGeom>
        </p:spPr>
      </p:pic>
      <p:sp>
        <p:nvSpPr>
          <p:cNvPr id="18" name="Text 12"/>
          <p:cNvSpPr txBox="1"/>
          <p:nvPr/>
        </p:nvSpPr>
        <p:spPr>
          <a:xfrm>
            <a:off x="7142836"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Access levels</a:t>
            </a:r>
            <a:endParaRPr lang="en-IE" sz="1900" dirty="0"/>
          </a:p>
        </p:txBody>
      </p:sp>
      <p:sp>
        <p:nvSpPr>
          <p:cNvPr id="19" name="Text 13"/>
          <p:cNvSpPr txBox="1"/>
          <p:nvPr/>
        </p:nvSpPr>
        <p:spPr>
          <a:xfrm>
            <a:off x="6466180" y="2743200"/>
            <a:ext cx="2144954" cy="914400"/>
          </a:xfrm>
          <a:prstGeom prst="rect">
            <a:avLst/>
          </a:prstGeom>
          <a:noFill/>
          <a:ln/>
        </p:spPr>
        <p:txBody>
          <a:bodyPr wrap="square" lIns="0" tIns="0" rIns="0" bIns="0" rtlCol="0" anchor="t"/>
          <a:lstStyle/>
          <a:p>
            <a:pPr indent="0" marL="0">
              <a:buNone/>
            </a:pPr>
            <a:r>
              <a:rPr lang="en-IE" sz="1500" dirty="0">
                <a:solidFill>
                  <a:schemeClr val="accent2"/>
                </a:solidFill>
                <a:latin typeface="Consolas" pitchFamily="34" charset="0"/>
                <a:ea typeface="Consolas" pitchFamily="34" charset="-122"/>
                <a:cs typeface="Consolas" pitchFamily="34" charset="-120"/>
              </a:rPr>
              <a:t>private</a:t>
            </a:r>
            <a:r>
              <a:rPr lang="en-IE" sz="1500" dirty="0">
                <a:solidFill>
                  <a:schemeClr val="tx2"/>
                </a:solidFill>
              </a:rPr>
              <a:t>, default, </a:t>
            </a:r>
            <a:r>
              <a:rPr lang="en-IE" sz="1500" dirty="0">
                <a:solidFill>
                  <a:schemeClr val="accent2"/>
                </a:solidFill>
                <a:latin typeface="Consolas" pitchFamily="34" charset="0"/>
                <a:ea typeface="Consolas" pitchFamily="34" charset="-122"/>
                <a:cs typeface="Consolas" pitchFamily="34" charset="-120"/>
              </a:rPr>
              <a:t>protected</a:t>
            </a:r>
            <a:r>
              <a:rPr lang="en-IE" sz="1500" dirty="0">
                <a:solidFill>
                  <a:schemeClr val="tx2"/>
                </a:solidFill>
              </a:rPr>
              <a:t> and </a:t>
            </a:r>
            <a:r>
              <a:rPr lang="en-IE" sz="1500" dirty="0">
                <a:solidFill>
                  <a:schemeClr val="accent2"/>
                </a:solidFill>
                <a:latin typeface="Consolas" pitchFamily="34" charset="0"/>
                <a:ea typeface="Consolas" pitchFamily="34" charset="-122"/>
                <a:cs typeface="Consolas" pitchFamily="34" charset="-120"/>
              </a:rPr>
              <a:t>public</a:t>
            </a:r>
            <a:r>
              <a:rPr lang="en-IE" sz="1500" dirty="0">
                <a:solidFill>
                  <a:schemeClr val="tx2"/>
                </a:solidFill>
              </a:rPr>
              <a:t>.</a:t>
            </a:r>
            <a:endParaRPr lang="en-IE" sz="1500" dirty="0"/>
          </a:p>
        </p:txBody>
      </p:sp>
      <p:sp>
        <p:nvSpPr>
          <p:cNvPr id="20" name="Card"/>
          <p:cNvSpPr/>
          <p:nvPr/>
        </p:nvSpPr>
        <p:spPr>
          <a:xfrm>
            <a:off x="9040901" y="178308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9296933" y="2039112"/>
            <a:ext cx="548640" cy="548640"/>
          </a:xfrm>
          <a:prstGeom prst="roundRect">
            <a:avLst>
              <a:gd name="adj" fmla="val 24000"/>
            </a:avLst>
          </a:prstGeom>
          <a:solidFill>
            <a:schemeClr val="accent4">
              <a:alpha val="14000"/>
            </a:schemeClr>
          </a:solidFill>
          <a:ln/>
        </p:spPr>
      </p:sp>
      <p:pic>
        <p:nvPicPr>
          <p:cNvPr id="22" name="eye icon" descr="eye icon">    </p:cNvPr>
          <p:cNvPicPr>
            <a:picLocks noChangeAspect="1"/>
          </p:cNvPicPr>
          <p:nvPr/>
        </p:nvPicPr>
        <p:blipFill>
          <a:blip r:embed="rId4"/>
          <a:stretch>
            <a:fillRect/>
          </a:stretch>
        </p:blipFill>
        <p:spPr>
          <a:xfrm>
            <a:off x="9412148" y="2154326"/>
            <a:ext cx="318211" cy="318211"/>
          </a:xfrm>
          <a:prstGeom prst="rect">
            <a:avLst/>
          </a:prstGeom>
        </p:spPr>
      </p:pic>
      <p:sp>
        <p:nvSpPr>
          <p:cNvPr id="23" name="Text 16"/>
          <p:cNvSpPr txBox="1"/>
          <p:nvPr/>
        </p:nvSpPr>
        <p:spPr>
          <a:xfrm>
            <a:off x="9973589" y="203911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Getter</a:t>
            </a:r>
            <a:endParaRPr lang="en-IE" sz="1900" dirty="0"/>
          </a:p>
        </p:txBody>
      </p:sp>
      <p:sp>
        <p:nvSpPr>
          <p:cNvPr id="24" name="Text 17"/>
          <p:cNvSpPr txBox="1"/>
          <p:nvPr/>
        </p:nvSpPr>
        <p:spPr>
          <a:xfrm>
            <a:off x="9296933" y="2743200"/>
            <a:ext cx="2144954" cy="914400"/>
          </a:xfrm>
          <a:prstGeom prst="rect">
            <a:avLst/>
          </a:prstGeom>
          <a:noFill/>
          <a:ln/>
        </p:spPr>
        <p:txBody>
          <a:bodyPr wrap="square" lIns="0" tIns="0" rIns="0" bIns="0" rtlCol="0" anchor="t"/>
          <a:lstStyle/>
          <a:p>
            <a:pPr indent="0" marL="0">
              <a:buNone/>
            </a:pPr>
            <a:r>
              <a:rPr lang="en-IE" sz="1500" dirty="0">
                <a:solidFill>
                  <a:schemeClr val="tx2"/>
                </a:solidFill>
              </a:rPr>
              <a:t>Returns the value of a private attribute.</a:t>
            </a:r>
            <a:endParaRPr lang="en-IE" sz="1500" dirty="0"/>
          </a:p>
        </p:txBody>
      </p:sp>
      <p:sp>
        <p:nvSpPr>
          <p:cNvPr id="25" name="Card"/>
          <p:cNvSpPr/>
          <p:nvPr/>
        </p:nvSpPr>
        <p:spPr>
          <a:xfrm>
            <a:off x="548640"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6" name="Icon tile"/>
          <p:cNvSpPr/>
          <p:nvPr/>
        </p:nvSpPr>
        <p:spPr>
          <a:xfrm>
            <a:off x="804672" y="4279392"/>
            <a:ext cx="548640" cy="548640"/>
          </a:xfrm>
          <a:prstGeom prst="roundRect">
            <a:avLst>
              <a:gd name="adj" fmla="val 24000"/>
            </a:avLst>
          </a:prstGeom>
          <a:solidFill>
            <a:schemeClr val="accent1">
              <a:alpha val="14000"/>
            </a:schemeClr>
          </a:solidFill>
          <a:ln/>
        </p:spPr>
      </p:sp>
      <p:pic>
        <p:nvPicPr>
          <p:cNvPr id="27" name="pencil simple icon" descr="pencil simple icon">    </p:cNvPr>
          <p:cNvPicPr>
            <a:picLocks noChangeAspect="1"/>
          </p:cNvPicPr>
          <p:nvPr/>
        </p:nvPicPr>
        <p:blipFill>
          <a:blip r:embed="rId5"/>
          <a:stretch>
            <a:fillRect/>
          </a:stretch>
        </p:blipFill>
        <p:spPr>
          <a:xfrm>
            <a:off x="919886" y="4394606"/>
            <a:ext cx="318211" cy="318211"/>
          </a:xfrm>
          <a:prstGeom prst="rect">
            <a:avLst/>
          </a:prstGeom>
        </p:spPr>
      </p:pic>
      <p:sp>
        <p:nvSpPr>
          <p:cNvPr id="28" name="Text 20"/>
          <p:cNvSpPr txBox="1"/>
          <p:nvPr/>
        </p:nvSpPr>
        <p:spPr>
          <a:xfrm>
            <a:off x="1481328"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Setter</a:t>
            </a:r>
            <a:endParaRPr lang="en-IE" sz="1900" dirty="0"/>
          </a:p>
        </p:txBody>
      </p:sp>
      <p:sp>
        <p:nvSpPr>
          <p:cNvPr id="29" name="Text 21"/>
          <p:cNvSpPr txBox="1"/>
          <p:nvPr/>
        </p:nvSpPr>
        <p:spPr>
          <a:xfrm>
            <a:off x="804672"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Updates a private attribute with a new value.</a:t>
            </a:r>
            <a:endParaRPr lang="en-IE" sz="1500" dirty="0"/>
          </a:p>
        </p:txBody>
      </p:sp>
      <p:sp>
        <p:nvSpPr>
          <p:cNvPr id="30" name="Card"/>
          <p:cNvSpPr/>
          <p:nvPr/>
        </p:nvSpPr>
        <p:spPr>
          <a:xfrm>
            <a:off x="3379394"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1" name="Icon tile"/>
          <p:cNvSpPr/>
          <p:nvPr/>
        </p:nvSpPr>
        <p:spPr>
          <a:xfrm>
            <a:off x="3635426" y="4279392"/>
            <a:ext cx="548640" cy="548640"/>
          </a:xfrm>
          <a:prstGeom prst="roundRect">
            <a:avLst>
              <a:gd name="adj" fmla="val 24000"/>
            </a:avLst>
          </a:prstGeom>
          <a:solidFill>
            <a:schemeClr val="accent3">
              <a:alpha val="14000"/>
            </a:schemeClr>
          </a:solidFill>
          <a:ln/>
        </p:spPr>
      </p:sp>
      <p:pic>
        <p:nvPicPr>
          <p:cNvPr id="32" name="hand pointing icon" descr="hand pointing icon">    </p:cNvPr>
          <p:cNvPicPr>
            <a:picLocks noChangeAspect="1"/>
          </p:cNvPicPr>
          <p:nvPr/>
        </p:nvPicPr>
        <p:blipFill>
          <a:blip r:embed="rId6"/>
          <a:stretch>
            <a:fillRect/>
          </a:stretch>
        </p:blipFill>
        <p:spPr>
          <a:xfrm>
            <a:off x="3750640" y="4394606"/>
            <a:ext cx="318211" cy="318211"/>
          </a:xfrm>
          <a:prstGeom prst="rect">
            <a:avLst/>
          </a:prstGeom>
        </p:spPr>
      </p:pic>
      <p:sp>
        <p:nvSpPr>
          <p:cNvPr id="33" name="Text 24"/>
          <p:cNvSpPr txBox="1"/>
          <p:nvPr/>
        </p:nvSpPr>
        <p:spPr>
          <a:xfrm>
            <a:off x="4312082"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this</a:t>
            </a:r>
            <a:endParaRPr lang="en-IE" sz="1900" dirty="0"/>
          </a:p>
        </p:txBody>
      </p:sp>
      <p:sp>
        <p:nvSpPr>
          <p:cNvPr id="34" name="Text 25"/>
          <p:cNvSpPr txBox="1"/>
          <p:nvPr/>
        </p:nvSpPr>
        <p:spPr>
          <a:xfrm>
            <a:off x="3635426"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The current instance, used inside the class.</a:t>
            </a:r>
            <a:endParaRPr lang="en-IE" sz="1500" dirty="0"/>
          </a:p>
        </p:txBody>
      </p:sp>
      <p:sp>
        <p:nvSpPr>
          <p:cNvPr id="35" name="Card"/>
          <p:cNvSpPr/>
          <p:nvPr/>
        </p:nvSpPr>
        <p:spPr>
          <a:xfrm>
            <a:off x="6210148"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6" name="Icon tile"/>
          <p:cNvSpPr/>
          <p:nvPr/>
        </p:nvSpPr>
        <p:spPr>
          <a:xfrm>
            <a:off x="6466180" y="4279392"/>
            <a:ext cx="548640" cy="548640"/>
          </a:xfrm>
          <a:prstGeom prst="roundRect">
            <a:avLst>
              <a:gd name="adj" fmla="val 24000"/>
            </a:avLst>
          </a:prstGeom>
          <a:solidFill>
            <a:schemeClr val="accent5">
              <a:alpha val="14000"/>
            </a:schemeClr>
          </a:solidFill>
          <a:ln/>
        </p:spPr>
      </p:sp>
      <p:pic>
        <p:nvPicPr>
          <p:cNvPr id="37" name="copy icon" descr="copy icon">    </p:cNvPr>
          <p:cNvPicPr>
            <a:picLocks noChangeAspect="1"/>
          </p:cNvPicPr>
          <p:nvPr/>
        </p:nvPicPr>
        <p:blipFill>
          <a:blip r:embed="rId7"/>
          <a:stretch>
            <a:fillRect/>
          </a:stretch>
        </p:blipFill>
        <p:spPr>
          <a:xfrm>
            <a:off x="6581394" y="4394606"/>
            <a:ext cx="318211" cy="318211"/>
          </a:xfrm>
          <a:prstGeom prst="rect">
            <a:avLst/>
          </a:prstGeom>
        </p:spPr>
      </p:pic>
      <p:sp>
        <p:nvSpPr>
          <p:cNvPr id="38" name="Text 28"/>
          <p:cNvSpPr txBox="1"/>
          <p:nvPr/>
        </p:nvSpPr>
        <p:spPr>
          <a:xfrm>
            <a:off x="7142836"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rPr>
              <a:t>Instance</a:t>
            </a:r>
            <a:endParaRPr lang="en-IE" sz="1900" dirty="0"/>
          </a:p>
        </p:txBody>
      </p:sp>
      <p:sp>
        <p:nvSpPr>
          <p:cNvPr id="39" name="Text 29"/>
          <p:cNvSpPr txBox="1"/>
          <p:nvPr/>
        </p:nvSpPr>
        <p:spPr>
          <a:xfrm>
            <a:off x="6466180"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One object in memory, with its own attributes.</a:t>
            </a:r>
            <a:endParaRPr lang="en-IE" sz="1500" dirty="0"/>
          </a:p>
        </p:txBody>
      </p:sp>
      <p:sp>
        <p:nvSpPr>
          <p:cNvPr id="40" name="Card"/>
          <p:cNvSpPr/>
          <p:nvPr/>
        </p:nvSpPr>
        <p:spPr>
          <a:xfrm>
            <a:off x="9040901" y="4023360"/>
            <a:ext cx="2602154"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1" name="Icon tile"/>
          <p:cNvSpPr/>
          <p:nvPr/>
        </p:nvSpPr>
        <p:spPr>
          <a:xfrm>
            <a:off x="9296933" y="4279392"/>
            <a:ext cx="548640" cy="548640"/>
          </a:xfrm>
          <a:prstGeom prst="roundRect">
            <a:avLst>
              <a:gd name="adj" fmla="val 24000"/>
            </a:avLst>
          </a:prstGeom>
          <a:solidFill>
            <a:schemeClr val="accent2">
              <a:alpha val="14000"/>
            </a:schemeClr>
          </a:solidFill>
          <a:ln/>
        </p:spPr>
      </p:sp>
      <p:pic>
        <p:nvPicPr>
          <p:cNvPr id="42" name="stack icon" descr="stack icon">    </p:cNvPr>
          <p:cNvPicPr>
            <a:picLocks noChangeAspect="1"/>
          </p:cNvPicPr>
          <p:nvPr/>
        </p:nvPicPr>
        <p:blipFill>
          <a:blip r:embed="rId8"/>
          <a:stretch>
            <a:fillRect/>
          </a:stretch>
        </p:blipFill>
        <p:spPr>
          <a:xfrm>
            <a:off x="9412148" y="4394606"/>
            <a:ext cx="318211" cy="318211"/>
          </a:xfrm>
          <a:prstGeom prst="rect">
            <a:avLst/>
          </a:prstGeom>
        </p:spPr>
      </p:pic>
      <p:sp>
        <p:nvSpPr>
          <p:cNvPr id="43" name="Text 32"/>
          <p:cNvSpPr txBox="1"/>
          <p:nvPr/>
        </p:nvSpPr>
        <p:spPr>
          <a:xfrm>
            <a:off x="9973589" y="4279392"/>
            <a:ext cx="1550594" cy="548640"/>
          </a:xfrm>
          <a:prstGeom prst="rect">
            <a:avLst/>
          </a:prstGeom>
          <a:noFill/>
          <a:ln/>
        </p:spPr>
        <p:txBody>
          <a:bodyPr wrap="square" lIns="0" tIns="0" rIns="0" bIns="0" rtlCol="0" anchor="ctr"/>
          <a:lstStyle/>
          <a:p>
            <a:pPr indent="0" marL="0">
              <a:buNone/>
            </a:pPr>
            <a:r>
              <a:rPr lang="en-IE" sz="1900" b="1" dirty="0">
                <a:solidFill>
                  <a:schemeClr val="tx1"/>
                </a:solidFill>
                <a:latin typeface="Consolas" pitchFamily="34" charset="0"/>
                <a:ea typeface="Consolas" pitchFamily="34" charset="-122"/>
                <a:cs typeface="Consolas" pitchFamily="34" charset="-120"/>
              </a:rPr>
              <a:t>static</a:t>
            </a:r>
            <a:endParaRPr lang="en-IE" sz="1900" dirty="0"/>
          </a:p>
        </p:txBody>
      </p:sp>
      <p:sp>
        <p:nvSpPr>
          <p:cNvPr id="44" name="Text 33"/>
          <p:cNvSpPr txBox="1"/>
          <p:nvPr/>
        </p:nvSpPr>
        <p:spPr>
          <a:xfrm>
            <a:off x="9296933" y="4983480"/>
            <a:ext cx="2144954" cy="914400"/>
          </a:xfrm>
          <a:prstGeom prst="rect">
            <a:avLst/>
          </a:prstGeom>
          <a:noFill/>
          <a:ln/>
        </p:spPr>
        <p:txBody>
          <a:bodyPr wrap="square" lIns="0" tIns="0" rIns="0" bIns="0" rtlCol="0" anchor="t"/>
          <a:lstStyle/>
          <a:p>
            <a:pPr indent="0" marL="0">
              <a:buNone/>
            </a:pPr>
            <a:r>
              <a:rPr lang="en-IE" sz="1500" dirty="0">
                <a:solidFill>
                  <a:schemeClr val="tx2"/>
                </a:solidFill>
              </a:rPr>
              <a:t>Belongs to the class. One shared copy, used through the class name.</a:t>
            </a:r>
            <a:endParaRPr lang="en-IE"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IE"/>
              <a:t>71</a:t>
            </a:fld>
            <a:endParaRPr lang="en-IE"/>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IE" sz="6400" b="1" dirty="0">
                <a:solidFill>
                  <a:schemeClr val="bg1"/>
                </a:solidFill>
              </a:rPr>
              <a:t>Questions?</a:t>
            </a:r>
            <a:endParaRPr lang="en-IE"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IE" sz="2200" dirty="0">
                <a:solidFill>
                  <a:schemeClr val="bg2"/>
                </a:solidFill>
              </a:rPr>
              <a:t>Object-Oriented Programming  ·  Lecture 2</a:t>
            </a:r>
            <a:endParaRPr lang="en-IE" sz="2200" dirty="0"/>
          </a:p>
        </p:txBody>
      </p:sp>
      <p:pic>
        <p:nvPicPr>
          <p:cNvPr id="4" name="Questions icon"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4490</Words>
  <Application>Microsoft Office PowerPoint</Application>
  <PresentationFormat>On-screen Show (16:9)</PresentationFormat>
  <Paragraphs>1039</Paragraphs>
  <Slides>72</Slides>
  <Notes>72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Arial</vt:lpstr>
      <vt:lpstr>Calibri</vt:lpstr>
      <vt:lpstr>Consolas</vt:lpstr>
      <vt:lpstr>Blueprint</vt:lpstr>
      <vt:lpstr>Encapsulation</vt:lpstr>
      <vt:lpstr>What we cover today</vt:lpstr>
      <vt:lpstr>Hiding the details</vt:lpstr>
      <vt:lpstr>Abstraction: hide what we don’t need</vt:lpstr>
      <vt:lpstr>What is the main idea of abstraction?</vt:lpstr>
      <vt:lpstr>What is the main idea of abstraction?</vt:lpstr>
      <vt:lpstr>Encapsulation</vt:lpstr>
      <vt:lpstr>When we use a class like Scanner, what do we get to see?</vt:lpstr>
      <vt:lpstr>When we use a class like Scanner, what do we get to see?</vt:lpstr>
      <vt:lpstr>Four access levels in Java</vt:lpstr>
      <vt:lpstr>Which access level means “can be used only inside its own class”?</vt:lpstr>
      <vt:lpstr>Which access level means “can be used only inside its own class”?</vt:lpstr>
      <vt:lpstr>Who can see what</vt:lpstr>
      <vt:lpstr>A class in another package, which is not a subclass, needs to call a method. Which access level must the method have?</vt:lpstr>
      <vt:lpstr>A class in another package, which is not a subclass, needs to call a method. Which access level must the method have?</vt:lpstr>
      <vt:lpstr>Make attributes private</vt:lpstr>
      <vt:lpstr>What is the standard practice for attributes in a class?</vt:lpstr>
      <vt:lpstr>What is the standard practice for attributes in a class?</vt:lpstr>
      <vt:lpstr>Getters and setters</vt:lpstr>
      <vt:lpstr>Getters and setters</vt:lpstr>
      <vt:lpstr>Which method lets another class update a private attribute?</vt:lpstr>
      <vt:lpstr>Which method lets another class update a private attribute?</vt:lpstr>
      <vt:lpstr>Getters</vt:lpstr>
      <vt:lpstr>Using a getter</vt:lpstr>
      <vt:lpstr>Which is a correct getter for private int age ?</vt:lpstr>
      <vt:lpstr>Which is a correct getter for private int age ?</vt:lpstr>
      <vt:lpstr>A getter gives back a copy</vt:lpstr>
      <vt:lpstr>Why won’t student.getName() = "bob"; work?</vt:lpstr>
      <vt:lpstr>Why won’t student.getName() = "bob"; work?</vt:lpstr>
      <vt:lpstr>Setters</vt:lpstr>
      <vt:lpstr>Using a setter</vt:lpstr>
      <vt:lpstr>Which is a correct setter for private String name ?</vt:lpstr>
      <vt:lpstr>Which is a correct setter for private String name ?</vt:lpstr>
      <vt:lpstr>When to use getters and setters</vt:lpstr>
      <vt:lpstr>Other classes should be able to read a value, but never change it. What should the class provide?</vt:lpstr>
      <vt:lpstr>Other classes should be able to read a value, but never change it. What should the class provide?</vt:lpstr>
      <vt:lpstr>The this keyword</vt:lpstr>
      <vt:lpstr>In this constructor, what does this.age refer to?</vt:lpstr>
      <vt:lpstr>In this constructor, what does this.age refer to?</vt:lpstr>
      <vt:lpstr>Why encapsulate?</vt:lpstr>
      <vt:lpstr>We rewrite the code inside a method, but its inputs and outputs stay the same, so the code that uses it keeps...</vt:lpstr>
      <vt:lpstr>We rewrite the code inside a method, but its inputs and outputs stay the same, so the code that uses it keeps...</vt:lpstr>
      <vt:lpstr>Instances and static</vt:lpstr>
      <vt:lpstr>Instances in memory</vt:lpstr>
      <vt:lpstr>Two students are each made with new Student() . We change the first one’s name. What happens to the second one’s name?</vt:lpstr>
      <vt:lpstr>Two students are each made with new Student() . We change the first one’s name. What happens to the second one’s name?</vt:lpstr>
      <vt:lpstr>Two variables, one instance</vt:lpstr>
      <vt:lpstr>What does this code print?</vt:lpstr>
      <vt:lpstr>What does this code print?</vt:lpstr>
      <vt:lpstr>Static: it belongs to the class</vt:lpstr>
      <vt:lpstr>When should we make an attribute static?</vt:lpstr>
      <vt:lpstr>When should we make an attribute static?</vt:lpstr>
      <vt:lpstr>Static and instance: who can use what</vt:lpstr>
      <vt:lpstr>Which of these can a static method NOT use directly?</vt:lpstr>
      <vt:lpstr>Which of these can a static method NOT use directly?</vt:lpstr>
      <vt:lpstr>Example: the Currency class</vt:lpstr>
      <vt:lpstr>Using the Currency class</vt:lpstr>
      <vt:lpstr>What does Currency.exchangeYuan(200) return?</vt:lpstr>
      <vt:lpstr>What does Currency.exchangeYuan(200) return?</vt:lpstr>
      <vt:lpstr>Let Eclipse do the typing</vt:lpstr>
      <vt:lpstr>Generate code from the Source menu</vt:lpstr>
      <vt:lpstr>The Generate Getters and Setters window</vt:lpstr>
      <vt:lpstr>In Eclipse, where do we find “Generate Getters and Setters…”?</vt:lpstr>
      <vt:lpstr>In Eclipse, where do we find “Generate Getters and Setters…”?</vt:lpstr>
      <vt:lpstr>Quick Fix: Ctrl+1</vt:lpstr>
      <vt:lpstr>Which shortcut opens Quick Fix on an attribute, with an option to create its getter and setter?</vt:lpstr>
      <vt:lpstr>Which shortcut opens Quick Fix on an attribute, with an option to create its getter and setter?</vt:lpstr>
      <vt:lpstr>Field reference or setters?</vt:lpstr>
      <vt:lpstr>When is it useful for a constructor to assign values through setters, like this.setId(id) ?</vt:lpstr>
      <vt:lpstr>When is it useful for a constructor to assign values through setters, like this.setId(id) ?</vt:lpstr>
      <vt:lpstr>Lecture 2 at a glance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2, Encapsulation</dc:title>
  <dc:subject>Lecture 2 ideas in plain words, with quick checks</dc:subject>
  <dc:creator>Saeid Rezaei</dc:creator>
  <cp:lastModifiedBy>Saeid Rezaei</cp:lastModifiedBy>
  <cp:revision>1</cp:revision>
  <dcterms:created xsi:type="dcterms:W3CDTF">2026-10-11T10:28:04Z</dcterms:created>
  <dcterms:modified xsi:type="dcterms:W3CDTF">2026-10-11T10:28:04Z</dcterms:modified>
</cp:coreProperties>
</file>
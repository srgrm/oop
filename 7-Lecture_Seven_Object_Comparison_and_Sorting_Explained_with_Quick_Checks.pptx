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notesMasterIdLst>
    <p:notesMasterId r:id="rId8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66bfb7f-29ab-833a-7eae-292ca7d646f7}">
          <p14:sldIdLst>
            <p14:sldId id="256"/>
            <p14:sldId id="257"/>
          </p14:sldIdLst>
        </p14:section>
        <p14:section name="1. equals and ==" id="{0542bf06-1ac4-0695-87e2-df3f41e0d369}">
          <p14:sldIdLst>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Lst>
        </p14:section>
        <p14:section name="2. Hash codes" id="{196629c9-4e9f-c42a-1d61-5c5157320ec2}">
          <p14:sldIdLst>
            <p14:sldId id="280"/>
            <p14:sldId id="281"/>
            <p14:sldId id="282"/>
            <p14:sldId id="283"/>
            <p14:sldId id="284"/>
            <p14:sldId id="285"/>
            <p14:sldId id="286"/>
            <p14:sldId id="287"/>
            <p14:sldId id="288"/>
            <p14:sldId id="289"/>
            <p14:sldId id="290"/>
            <p14:sldId id="291"/>
            <p14:sldId id="292"/>
          </p14:sldIdLst>
        </p14:section>
        <p14:section name="3. Copying objects" id="{62229cf1-d73a-2da9-7cba-ecdb280a1f01}">
          <p14:sldIdLst>
            <p14:sldId id="293"/>
            <p14:sldId id="294"/>
            <p14:sldId id="295"/>
            <p14:sldId id="296"/>
            <p14:sldId id="297"/>
            <p14:sldId id="298"/>
            <p14:sldId id="299"/>
            <p14:sldId id="300"/>
            <p14:sldId id="301"/>
            <p14:sldId id="302"/>
            <p14:sldId id="303"/>
            <p14:sldId id="304"/>
            <p14:sldId id="305"/>
            <p14:sldId id="306"/>
            <p14:sldId id="307"/>
            <p14:sldId id="308"/>
            <p14:sldId id="309"/>
            <p14:sldId id="310"/>
          </p14:sldIdLst>
        </p14:section>
        <p14:section name="4. Sorting objects" id="{4233ae53-30b9-7172-a6e9-821433fac7de}">
          <p14:sldIdLst>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Lst>
        </p14:section>
        <p14:section name="Wrap-up" id="{8dec5b93-299a-692c-a15a-3be52fe5a450}">
          <p14:sldIdLst>
            <p14:sldId id="337"/>
            <p14:sldId id="33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Lecture 7 is about comparing objects, copying them and sorting them. The picture on the right is where we finish: a list of students in any order, put in order by id with one call to Collections.sort, once Student says how two students compare.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Four parts today. After each idea there's a quick check with four options. Give everyone about 30 seconds, take a show of hands for A, B, C and D, then go to the answer slide.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1: what every class gets from Object, and the difference between equals and ==.</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Every class is a subclass of Object, so every object has these methods, whether we write them or not. toString came up in Lecture 4. Today is about the three highlighted ones: equals, hashCode and clone. wait, notify and notifyAll are used with threads, which we won't need here, and finalize is deprecated in current Java, so we don't use it.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“equals()”.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“equals()”.
equals() compares one object with another and returns true or false. hashCode() gives a number for the object, toString() describes it as text, and getClass() tells us which class it belongs to.</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Two separate objects can hold exactly the same text. == only asks whether two variables point at the same object, so it says false here; equals asks whether the content is the same, so it says true. The lecture slide shows the same idea with new Integer(12). That constructor is deprecated in current Java and Eclipse shows a warning for it, so Integer.valueOf(12) is the way to write it now. equals behaves the same either way.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“false, because city is a different object”.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“false, because city is a different object”.
Scanner builds a new String from what the user types. It holds the same text as "Cork", but it's a different object, so == gives false. city.equals("Cork") compares the text and gives true.
Ask the class how they would fix it: city.equals("Cork"), or equalsIgnoreCase if the user might type cork.</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Java keeps String literals, text written in quotes, in the String pool, and two literals with the same text share one String. That's why == often seems to work with Strings. Two corrections to the lecture slides. The pool is part of the heap, not the stack; the variables only hold references to it. And the slides say an instance attribute always has its own reference, so two students called Tom would have different references. That's only true when the names are built while the program runs. If both names come from the literal "Tom", they share the pooled String and == gives true (I tested this). The safe rule doesn't change: compare Strings with equals.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“true, false, true”.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“true, false, true”.
Literals with the same text share one String from the pool, so a == b is true. new String(...) always makes a separate object, so a == c is false, even though equals finds the same text.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If a class doesn't override equals, it inherits Object's version, and that version does the same as ==. ann and sameAnn are two names for one object, so they're equal. otherAnn holds exactly the same name, but it's a second object, so Object's equals says false. To compare by name, Student has to override equals, which is next.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“sameAnn.equals(ann)”.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“sameAnn.equals(ann)”.
Object's equals() only checks whether two variables refer to the same object, just like ==. sameAnn refers to the same object as ann, so D is true. otherAnn is a separate object, even though it holds the same name.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To compare students by name, Student overrides equals. The trap is the parameter type. The first version on the lecture slide takes a Student. It compiles, and ann.equals(otherAnn) even gives true, but it's a new method that overloads equals rather than overriding it. Anything that only knows it has an Object, such as ArrayList's contains, still calls Object's version. I tested it: contains gives false with the Student version and true with the Object version. @Override catches the mistake at compile time.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“public boolean equals(Object other)”.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“public boolean equals(Object other)”.
Object's equals() takes an Object, so the override must too. A is a new method that overloads equals, C has the wrong return type and won't compile, and D has a different name. With @Override, A and D won't compile either.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Because the parameter is an Object, anything could be passed in: another Student, a String, or null. So we check with instanceof first. instanceof is false for any other type and for null, and then the answer is simply false. Once we know it's a Student, we cast it and compare the names. The numbers next to the code match the steps.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“false”.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“false”.
"ann" is a String, not a Student, so the instanceof check fails and equals() returns false straight away. Without that check, the cast on the next line would throw a ClassCastException (B).</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Any equals method should keep these five rules, and Java's own classes, such as ArrayList, rely on them. A small fix to the lecture slide: it describes reflexive as two objects with the same attribute. Reflexive actually means that an object is equal to itself, a.equals(a). Symmetric means the order doesn't matter, transitive means equality carries over through a third object, consistent means the answer doesn't change on its own, and comparing with null always gives false.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“b.equals(a)”.</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“b.equals(a)”.
This is the symmetric rule: if a equals b, then b must equal a. a == b can still be false, because a and b can be two separate objects with the same content, and equals(null) must always be false.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2: hash codes, how Java works them out, and why they have to agree with equals.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hashCode returns an int for the object. Object's version gives each object its own number. In the example, tom and bob hold the same name but are different objects, so they get different numbers; jack is just another name for bob's object, so it gets bob's number. The numbers change from run to run. Correction to the lecture slide: it says this is how equals compares two objects. Object's equals doesn't look at hash codes at all; it uses ==. Hash codes are used by classes like HashMap and HashSet to find objects quickly.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“They're always equal, as it's one object”.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“They're always equal, as it's one object”.
jack and bob refer to the same object, so they get the same hash code, as the example's output shows. tom holds the same name but is a different object, so Object's hashCode() gives it a different number.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For the wrapper classes the hash code is easy: an Integer's is its value, and a char's is its character code, 97 for a. For a String, Java combines every character with its position: each character is multiplied by 31 once for every character after it. So ab gives 97 times 31 plus 98, which is 3105, the number the lecture slide prints. Because position counts, ba gives a different number.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“3135”.</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“3135”.
The first character is multiplied by 31 once for each character after it. So "ba" gives 98 × 31 + 97 = 3135, while "ab" gives 3105. Position matters, which is why the plain total, 195, isn't used.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rule that links the two methods: objects that are equal must have the same hash code. Object's hashCode gives every object its own number, so as soon as we override equals, two equal Students would get different hash codes. So we override hashCode too, using the same attributes as equals. Note that on the lecture slides, Student's equals compares only the name but its hashCode uses the age too, so two students with the same name and different ages would be equal but have different hash codes. Here both methods use name and age. ((Integer) age).hashCode() is simply age; Objects.hash(name, age) does the whole job in one call, and Eclipse can write both methods for you.</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“So that equal objects also get equal hash codes”.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“So that equal objects also get equal hash codes”.
Java's rule is that objects that are equal must have the same hash code. Object's version gives every object its own number, so two equal Students would get different ones. equals() doesn't call hashCode() (B), but classes like HashMap and HashSet rely on the two agreeing.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rule only works in one direction. Equal objects must have equal hash codes, but two objects with the same hash code aren't necessarily equal. There are only about four billion int values and no limit to the objects we can make, so some must share a number. Aa and BB both give 2112. Correction to the lecture slide, which says we can check whether two objects are equal by comparing their hash codes. A matching hash code is a quick first check; equals makes the final decision.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“They might be equal, so check equals()”.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“They might be equal, so check equals()”.
"Aa" and "BB" share the hash code 2112, but they aren't equal. Equal objects must have equal hash codes, but the reverse isn't true, so a matching hash code is only a first check. equals() makes the final decision.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3: the difference between copying a reference and copying an object, and two ways to do the second.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employeeTwo = employeeOne doesn't copy anything except the reference: afterwards both variables point at one object, and a change made through one shows up through the other. For a second object with the same values we need a real copy. Java gives us two ways: clone, and copy constructors.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“A second object with the same attribute values”.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“A second object with the same attribute values”.
employeeTwo = employeeOne; only copies the reference, so both variables point at one object (B). clone() makes a second object and copies the attribute values into it, so the two can then change separately.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clone gives us a second object with the same attribute values, but it takes three steps. Employee implements Cloneable, overrides clone, and whoever calls clone has to deal with CloneNotSupportedException. Cloneable has no methods at all; it's a marker that tells Object's clone that copying is allowed. Without it, the code still compiles, but clone throws the exception when it runs.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lecture's example: employeeTwo is a clone of employeeOne. The two objects have different hash codes in the output, so they really are two objects, both holding the name bob. Two things to know. clone is protected here, which works because Main and Employee are in the same package, griffith; from another package the compiler says clone() has protected access. Many people make it public and return Employee, and then no cast is needed. And clone copies attributes that are objects by reference only, so the original and the clone would share them. A copy constructor makes it easy to copy those too.</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“It throws CloneNotSupportedException”.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“It throws CloneNotSupportedException”.
The code compiles, because every class inherits clone() from Object. When it runs, Object's clone() checks for Cloneable, doesn't find it and throws CloneNotSupportedException. Cloneable has no methods; it only marks the class as allowed to be cloned.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 copy constructor is just a constructor whose parameter is another object of the same class. It copies each attribute across. Notice jb.title works even though title is private: we're inside the Job class, and private means private to the class, not to one object. No interface, no exception and no cast are needed.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“false, because it's a new object”.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“false, because it's a new object”.
new always creates a new object. The copy constructor only fills its attributes with the original's values, so copy and original are two objects with the same values, and == is false.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An Employee has a Job, and a Job is an object. If the copy constructor only copied the reference, this.job = emp.job, the two employees would share one Job, and changing the job of one would change the other. So the lecture's copy constructor makes a new Job with Job's own copy constructor. That's why the slide says an attribute that is an object needs a copy constructor too.</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lecture's example. emp2 is made from emp1 with the copy constructor, so at first they print the same. Then emp1's name changes. emp2 still has the old name, because it's a separate object. Employee's toString prints the name, the gender and then the Job, using Job's toString.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“St. James”.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“St. James”.
The copy constructor gives second its own Job with new Job(emp.job), so changing second's Job leaves first's alone. If it had copied the reference (this.job = emp.job), both would share one Job and this would print Mercy.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Both make a real copy. The copy constructor is usually the simpler choice: no interface, no exception, no cast, and we decide exactly what gets copied. A small fix to the lecture slide, which says clone doesn't allow us to copy final values. super.clone does copy final attributes, but inside clone we can't give a final attribute a new value, a fresh copy of an object for example, because final attributes can only be set in a constructor. A copy constructor is a constructor, so it can.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“No cast and no CloneNotSupportedException to handle”.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“No cast and no CloneNotSupportedException to handle”.
A copy constructor is a normal constructor: it returns the right type, so there's no cast, and there's no exception to catch. clone() copies private attributes too (B), and neither does a deep copy unless we write it ourselves (C).</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4: sorting lists, how compareTo decides the order, and the two ways to sort our own objects.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Collections.sort puts a list in order. Numbers go from smallest to largest. Strings are compared character by character using each character's Unicode value, and every capital letter comes before every small letter, so Zoe comes before anne. Collections.shuffle puts the list in a random order. Two small fixes to the lecture slide: Collections.sort works on a list, such as an ArrayList, not an array (for arrays there's Arrays.sort), and shuffle doesn't sort; it mixes the list up.</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“[Apple, Cherry, banana, pear]”.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“[Apple, Cherry, banana, pear]”.
Strings are sorted by the Unicode values of their characters, and every capital letter comes before every small letter. So the words with capitals come first: Apple, Cherry, then banana, pear.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Sorting works by comparing two items at a time with compareTo. Only the sign of the answer matters: negative means this one goes first, zero means equal, positive means it goes after. For Strings, Java compares character by character, and the first character that differs decides; the number returned is the difference between those two characters, or the difference in length when one String is the start of the other. A fix to the lecture slide, which talks about the combined Unicode values of the Strings: nothing is added up. cat and act have the same letters, yet cat comes after act.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“A positive number”.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“A positive number”.
compareTo goes through the characters one by one and stops at the first difference: c (99) against a (97). c comes later, so the result is positive (99 − 97 = 2) and "cat" sorts after "act". Adding up the letters would give 0, but that's not how it works.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Collections.sort knows how to order Strings and numbers, but not Students. We tell it by implementing the Comparable interface in Student. It has one method, compareTo, which works just like String's: negative, zero or positive. Here, students are ordered by id: this.id minus other.id is negative when this student has the lower id. Comparable is in java.lang, so there's nothing to import.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Now Collections.sort can order the list, calling compareTo whenever it needs to compare two students. The lecture's example adds bob with id 2 and then anne with id 3, which is already in order, so sorting doesn't change anything you can see; here the students go in out of order. this.id minus other.id is fine for ids like these. For any ints, Integer.compare(this.id, other.id) is the safe choice, because subtracting two very large numbers can overflow.</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“4, and y comes first”.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“4, and y comes first”.
7 − 3 = 4, a positive number, which means x belongs after y. So Collections.sort puts the lower id first: y (3), then x (7).</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compareTo decides the order, so changing it changes how the list sorts. For names we hand the job to String's compareTo. For id then name, we compare ids first and only look at the names when the ids are the same. A class has only one compareTo, so it has one natural order. If we need several different orders, that's what a Comparator is for, next.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“return other.id - this.id;”.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“return other.id - this.id;”.
Swapping the two ids flips every result, so the higher id now counts as the smaller one and comes first. A sorts lowest first, B doesn't say which is smaller, and D returns a boolean, so it won't compile.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 Comparator is a separate object that knows how to compare two Students, so Student itself doesn't change. Comparator.comparing is a static method that builds one for us from a getter, and we pass it to Collections.sort as the second argument. The double colon is a method reference: it names the method to call, getName in the Student class, without calling it yet. The comparator can only use what other classes can see, so the value has to come from a public getter or a public attribute. Comparator is in java.util.</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“Private attributes are hidden from it”.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“Private attributes are hidden from it”.
A Comparator is a separate object, not part of Student. Like any other class outside Student, it can't read private attributes, so it calls a public method such as getName(). If getName() were private, the compiler would say it has private access in Student.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comparing works with values that are objects, like Strings. For int values we use comparingInt. reversed gives a new comparator with the opposite order, so the highest id comes first. Two small slips on the lecture slide: the reversed line starts with a capital C, Comp = comp.reversed(), which won't compile, as Java names are case sensitive. And the getter is called getID there; Eclipse would generate getId for an attribute called id. Either works if it matches the class.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“Collections.sort(list, byId.reversed());”.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“Collections.sort(list, byId.reversed());”.
reversed() gives a comparator with the opposite order, and we pass it to Collections.sort together with the list. A sorts lowest first, and B and C don't compile, because neither passes the list.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thenComparing adds a second order that is only used to break ties. Here the list is sorted by name, and the two Amys and the two Toms are then put in id order. thenComparingInt does the same for an int value. We can keep chaining, for a third or fourth order if we need one.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“Comparator.comparing(Student::getCourse).thenComparing(Student::getName)”.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“Comparator.comparing(Student::getCourse).thenComparing(Student::getName)”.
The first comparing() decides the main order, and thenComparing() only breaks ties. D sorts by course, and students on the same course by name. A does it the other way round, B only sorts by course, backwards, and C doesn't compile.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table sums up the differences. Comparable gives a class its one natural order, written inside the class. Comparators can be as many as we like, live outside the class, and work even for classes we can't change. Use Comparable for the order a class should normally have, and Comparators for every other order.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“A Comparator, as Book doesn't change”.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80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“A Comparator, as Book doesn't change”.
A Comparator lives outside the class, so it works even when we can't edit Book, for example with comparingDouble(Book::getPrice). Comparable means adding compareTo to Book itself, which isn't possible here.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81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key words from today on one slide. A good one to leave up while taking questions.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82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Open the floor for questions. The summary slide before this one is a good one to go back to.</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83</a:t>
            </a:fld>
            <a:endParaRPr lang="en-IE"/>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Slid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Header-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Closing-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600200"/>
            <a:ext cx="5486400" cy="365760"/>
          </a:xfrm>
          <a:prstGeom prst="rect">
            <a:avLst/>
          </a:prstGeom>
          <a:noFill/>
          <a:ln/>
        </p:spPr>
        <p:txBody>
          <a:bodyPr wrap="square" rtlCol="0"/>
          <a:lstStyle>
            <a:lvl1pPr indent="0" marL="0">
              <a:buNone/>
              <a:defRPr lang="en-IE" sz="1400" b="1" spc="300" kern="0" dirty="0">
                <a:solidFill>
                  <a:schemeClr val="accent6"/>
                </a:solidFill>
              </a:defRPr>
            </a:lvl1pPr>
          </a:lstStyle>
          <a:p>
            <a:pPr indent="0" marL="0">
              <a:buNone/>
            </a:pPr>
            <a:endParaRPr lang="en-IE" sz="1400" dirty="0"/>
          </a:p>
        </p:txBody>
      </p:sp>
      <p:sp>
        <p:nvSpPr>
          <p:cNvPr id="3" name="Text 0"/>
          <p:cNvSpPr/>
          <p:nvPr>
            <p:ph idx="101" type="title" hasCustomPrompt="1"/>
          </p:nvPr>
        </p:nvSpPr>
        <p:spPr>
          <a:xfrm>
            <a:off x="822960" y="2011680"/>
            <a:ext cx="6035040" cy="1783080"/>
          </a:xfrm>
          <a:prstGeom prst="rect">
            <a:avLst/>
          </a:prstGeom>
          <a:noFill/>
          <a:ln/>
        </p:spPr>
        <p:txBody>
          <a:bodyPr wrap="square" rtlCol="0"/>
          <a:lstStyle>
            <a:lvl1pPr algn="l" indent="0" marL="0">
              <a:buNone/>
              <a:defRPr lang="en-IE" sz="5200" b="1" dirty="0">
                <a:solidFill>
                  <a:schemeClr val="bg1"/>
                </a:solidFill>
              </a:defRPr>
            </a:lvl1pPr>
          </a:lstStyle>
          <a:p>
            <a:pPr algn="l" indent="0" marL="0">
              <a:buNone/>
            </a:pPr>
            <a:endParaRPr lang="en-IE" sz="5200" dirty="0"/>
          </a:p>
        </p:txBody>
      </p:sp>
      <p:sp>
        <p:nvSpPr>
          <p:cNvPr id="4" name="Text 0"/>
          <p:cNvSpPr/>
          <p:nvPr>
            <p:ph idx="102" type="body" hasCustomPrompt="1"/>
          </p:nvPr>
        </p:nvSpPr>
        <p:spPr>
          <a:xfrm>
            <a:off x="822960" y="3794760"/>
            <a:ext cx="5669280" cy="914400"/>
          </a:xfrm>
          <a:prstGeom prst="rect">
            <a:avLst/>
          </a:prstGeom>
          <a:noFill/>
          <a:ln/>
        </p:spPr>
        <p:txBody>
          <a:bodyPr wrap="square" rtlCol="0"/>
          <a:lstStyle>
            <a:lvl1pPr indent="0" marL="0">
              <a:buNone/>
              <a:defRPr lang="en-IE" sz="2000" dirty="0">
                <a:solidFill>
                  <a:schemeClr val="bg2"/>
                </a:solidFill>
              </a:defRPr>
            </a:lvl1pPr>
          </a:lstStyle>
          <a:p>
            <a:pPr indent="0" marL="0">
              <a:buNone/>
            </a:pPr>
            <a:endParaRPr lang="en-IE"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rtlCol="0"/>
          <a:lstStyle>
            <a:lvl1pPr indent="0" marL="0">
              <a:buNone/>
              <a:defRPr lang="en-IE" sz="9600" b="1" dirty="0">
                <a:solidFill>
                  <a:schemeClr val="accent1"/>
                </a:solidFill>
              </a:defRPr>
            </a:lvl1pPr>
          </a:lstStyle>
          <a:p>
            <a:pPr indent="0" marL="0">
              <a:buNone/>
            </a:pP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rtlCol="0"/>
          <a:lstStyle>
            <a:lvl1pPr algn="l" indent="0" marL="0">
              <a:buNone/>
              <a:defRPr lang="en-IE" sz="4400" b="1" dirty="0">
                <a:solidFill>
                  <a:schemeClr val="bg1"/>
                </a:solidFill>
              </a:defRPr>
            </a:lvl1pPr>
          </a:lstStyle>
          <a:p>
            <a:pPr algn="l" indent="0" marL="0">
              <a:buNone/>
            </a:pP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rtlCol="0"/>
          <a:lstStyle>
            <a:lvl1pPr indent="0" marL="0">
              <a:buNone/>
              <a:defRPr lang="en-IE" sz="2000" dirty="0">
                <a:solidFill>
                  <a:schemeClr val="bg2"/>
                </a:solidFill>
              </a:defRPr>
            </a:lvl1pPr>
          </a:lstStyle>
          <a:p>
            <a:pPr indent="0" marL="0">
              <a:buNone/>
            </a:pPr>
            <a:endParaRPr lang="en-IE"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rtlCol="0"/>
          <a:lstStyle>
            <a:lvl1pPr indent="0" marL="0">
              <a:buNone/>
              <a:defRPr lang="en-IE" sz="1200" b="1" spc="150" kern="0" dirty="0">
                <a:solidFill>
                  <a:schemeClr val="tx2"/>
                </a:solidFill>
              </a:defRPr>
            </a:lvl1pPr>
          </a:lstStyle>
          <a:p>
            <a:pPr indent="0" marL="0">
              <a:buNone/>
            </a:pP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rtlCol="0"/>
          <a:lstStyle>
            <a:lvl1pPr algn="l" indent="0" marL="0">
              <a:buNone/>
              <a:defRPr lang="en-IE" sz="3400" b="1" dirty="0">
                <a:solidFill>
                  <a:schemeClr val="tx1"/>
                </a:solidFill>
              </a:defRPr>
            </a:lvl1pPr>
          </a:lstStyle>
          <a:p>
            <a:pPr algn="l" indent="0" marL="0">
              <a:buNone/>
            </a:pPr>
            <a:endParaRPr lang="en-IE" sz="3400" dirty="0"/>
          </a:p>
        </p:txBody>
      </p:sp>
      <p:sp>
        <p:nvSpPr>
          <p:cNvPr id="4"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IE" sz="1000" dirty="0">
                <a:solidFill>
                  <a:schemeClr val="tx2"/>
                </a:solidFill>
              </a:rPr>
              <a:t>Object-Oriented Programming  ·  Lecture 7</a:t>
            </a:r>
            <a:endParaRPr lang="en-IE"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1004</a:t>
            </a:fld>
            <a:endParaRPr lang="en-I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Quick Check">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11091672" cy="1143000"/>
          </a:xfrm>
          <a:prstGeom prst="rect">
            <a:avLst/>
          </a:prstGeom>
          <a:noFill/>
          <a:ln/>
        </p:spPr>
        <p:txBody>
          <a:bodyPr wrap="square" rtlCol="0"/>
          <a:lstStyle>
            <a:lvl1pPr algn="l" indent="0" marL="0">
              <a:buNone/>
              <a:defRPr lang="en-IE" sz="2800" b="1" dirty="0">
                <a:solidFill>
                  <a:schemeClr val="tx1"/>
                </a:solidFill>
              </a:defRPr>
            </a:lvl1pPr>
          </a:lstStyle>
          <a:p>
            <a:pPr algn="l" indent="0" marL="0">
              <a:buNone/>
            </a:pPr>
            <a:endParaRPr lang="en-IE" sz="2800" dirty="0"/>
          </a:p>
        </p:txBody>
      </p:sp>
      <p:sp>
        <p:nvSpPr>
          <p:cNvPr id="3"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IE" sz="1000" dirty="0">
                <a:solidFill>
                  <a:schemeClr val="tx2"/>
                </a:solidFill>
              </a:rPr>
              <a:t>Object-Oriented Programming  ·  Lecture 7</a:t>
            </a:r>
            <a:endParaRPr lang="en-IE"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1005</a:t>
            </a:fld>
            <a:endParaRPr lang="en-I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nswer">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96112"/>
            <a:ext cx="11091672" cy="777240"/>
          </a:xfrm>
          <a:prstGeom prst="rect">
            <a:avLst/>
          </a:prstGeom>
          <a:noFill/>
          <a:ln/>
        </p:spPr>
        <p:txBody>
          <a:bodyPr wrap="square" rtlCol="0"/>
          <a:lstStyle>
            <a:lvl1pPr algn="l" indent="0" marL="0">
              <a:buNone/>
              <a:defRPr lang="en-IE" sz="2000" b="1" dirty="0">
                <a:solidFill>
                  <a:schemeClr val="tx2"/>
                </a:solidFill>
              </a:defRPr>
            </a:lvl1pPr>
          </a:lstStyle>
          <a:p>
            <a:pPr algn="l" indent="0" marL="0">
              <a:buNone/>
            </a:pPr>
            <a:endParaRPr lang="en-IE" sz="2000" dirty="0"/>
          </a:p>
        </p:txBody>
      </p:sp>
      <p:sp>
        <p:nvSpPr>
          <p:cNvPr id="3"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IE" sz="1000" dirty="0">
                <a:solidFill>
                  <a:schemeClr val="tx2"/>
                </a:solidFill>
              </a:rPr>
              <a:t>Object-Oriented Programming  ·  Lecture 7</a:t>
            </a:r>
            <a:endParaRPr lang="en-IE"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1006</a:t>
            </a:fld>
            <a:endParaRPr lang="en-I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6949440" cy="1234440"/>
          </a:xfrm>
          <a:prstGeom prst="rect">
            <a:avLst/>
          </a:prstGeom>
          <a:noFill/>
          <a:ln/>
        </p:spPr>
        <p:txBody>
          <a:bodyPr wrap="square" rtlCol="0"/>
          <a:lstStyle>
            <a:lvl1pPr algn="l" indent="0" marL="0">
              <a:buNone/>
              <a:defRPr lang="en-IE" sz="6400" b="1" dirty="0">
                <a:solidFill>
                  <a:schemeClr val="bg1"/>
                </a:solidFill>
              </a:defRPr>
            </a:lvl1pPr>
          </a:lstStyle>
          <a:p>
            <a:pPr algn="l" indent="0" marL="0">
              <a:buNone/>
            </a:pPr>
            <a:endParaRPr lang="en-IE" sz="6400" dirty="0"/>
          </a:p>
        </p:txBody>
      </p:sp>
      <p:sp>
        <p:nvSpPr>
          <p:cNvPr id="3" name="Text 0"/>
          <p:cNvSpPr/>
          <p:nvPr>
            <p:ph idx="101" type="body" hasCustomPrompt="1"/>
          </p:nvPr>
        </p:nvSpPr>
        <p:spPr>
          <a:xfrm>
            <a:off x="822960" y="3611880"/>
            <a:ext cx="6766560" cy="822960"/>
          </a:xfrm>
          <a:prstGeom prst="rect">
            <a:avLst/>
          </a:prstGeom>
          <a:noFill/>
          <a:ln/>
        </p:spPr>
        <p:txBody>
          <a:bodyPr wrap="square" rtlCol="0"/>
          <a:lstStyle>
            <a:lvl1pPr indent="0" marL="0">
              <a:buNone/>
              <a:defRPr lang="en-IE" sz="2200" dirty="0">
                <a:solidFill>
                  <a:schemeClr val="bg2"/>
                </a:solidFill>
              </a:defRPr>
            </a:lvl1pPr>
          </a:lstStyle>
          <a:p>
            <a:pPr indent="0" marL="0">
              <a:buNone/>
            </a:pPr>
            <a:endParaRPr lang="en-IE"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null</a:t>
            </a:fld>
            <a:endParaRPr lang="en-I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I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6.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6.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6.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6.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6.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6.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4.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6.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6.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4.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6.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4.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6.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6.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4.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6.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4.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4.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6.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6.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4.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4.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6.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4.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6.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6.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4.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6.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4.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6.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slideLayout" Target="../slideLayouts/slideLayout6.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slideLayout" Target="../slideLayouts/slideLayout6.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slideLayout" Target="../slideLayouts/slideLayout6.xm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4.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slideLayout" Target="../slideLayouts/slideLayout6.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4.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slideLayout" Target="../slideLayouts/slideLayout6.xml"/><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image" Target="../media/image-82-3.png"/><Relationship Id="rId4" Type="http://schemas.openxmlformats.org/officeDocument/2006/relationships/image" Target="../media/image-82-4.png"/><Relationship Id="rId5" Type="http://schemas.openxmlformats.org/officeDocument/2006/relationships/image" Target="../media/image-82-5.png"/><Relationship Id="rId6" Type="http://schemas.openxmlformats.org/officeDocument/2006/relationships/image" Target="../media/image-82-6.png"/><Relationship Id="rId7" Type="http://schemas.openxmlformats.org/officeDocument/2006/relationships/image" Target="../media/image-82-7.png"/><Relationship Id="rId8" Type="http://schemas.openxmlformats.org/officeDocument/2006/relationships/image" Target="../media/image-82-8.png"/><Relationship Id="rId9" Type="http://schemas.openxmlformats.org/officeDocument/2006/relationships/slideLayout" Target="../slideLayouts/slideLayout4.xml"/><Relationship Id="rId10"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7.xml"/><Relationship Id="rId3"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600200"/>
            <a:ext cx="5486400" cy="365760"/>
          </a:xfrm>
          <a:prstGeom prst="rect">
            <a:avLst/>
          </a:prstGeom>
          <a:noFill/>
          <a:ln/>
        </p:spPr>
        <p:txBody>
          <a:bodyPr wrap="square" lIns="0" tIns="0" rIns="0" bIns="0" rtlCol="0" anchor="ctr"/>
          <a:lstStyle/>
          <a:p>
            <a:pPr indent="0" marL="0">
              <a:buNone/>
            </a:pPr>
            <a:r>
              <a:rPr lang="en-IE" sz="1400" b="1" spc="300" kern="0" dirty="0">
                <a:solidFill>
                  <a:schemeClr val="accent6"/>
                </a:solidFill>
              </a:rPr>
              <a:t>LECTURE 7</a:t>
            </a:r>
            <a:endParaRPr lang="en-IE" sz="1400" dirty="0"/>
          </a:p>
        </p:txBody>
      </p:sp>
      <p:sp>
        <p:nvSpPr>
          <p:cNvPr id="3" name="Text 0"/>
          <p:cNvSpPr/>
          <p:nvPr>
            <p:ph idx="101" type="title" hasCustomPrompt="1"/>
          </p:nvPr>
        </p:nvSpPr>
        <p:spPr>
          <a:xfrm>
            <a:off x="822960" y="2011680"/>
            <a:ext cx="6035040" cy="1783080"/>
          </a:xfrm>
          <a:prstGeom prst="rect">
            <a:avLst/>
          </a:prstGeom>
          <a:noFill/>
          <a:ln/>
        </p:spPr>
        <p:txBody>
          <a:bodyPr wrap="square" lIns="0" tIns="0" rIns="0" bIns="0" rtlCol="0" anchor="t"/>
          <a:lstStyle/>
          <a:p>
            <a:pPr algn="l" indent="0" marL="0">
              <a:buNone/>
            </a:pPr>
            <a:r>
              <a:rPr lang="en-IE" sz="5200" b="1" dirty="0">
                <a:solidFill>
                  <a:schemeClr val="bg1"/>
                </a:solidFill>
              </a:rPr>
              <a:t>Object Comparison and Sorting</a:t>
            </a:r>
            <a:endParaRPr lang="en-IE" sz="5200" dirty="0"/>
          </a:p>
        </p:txBody>
      </p:sp>
      <p:sp>
        <p:nvSpPr>
          <p:cNvPr id="4" name="Text 0"/>
          <p:cNvSpPr/>
          <p:nvPr>
            <p:ph idx="102" type="body" hasCustomPrompt="1"/>
          </p:nvPr>
        </p:nvSpPr>
        <p:spPr>
          <a:xfrm>
            <a:off x="822960" y="3794760"/>
            <a:ext cx="5669280" cy="914400"/>
          </a:xfrm>
          <a:prstGeom prst="rect">
            <a:avLst/>
          </a:prstGeom>
          <a:noFill/>
          <a:ln/>
        </p:spPr>
        <p:txBody>
          <a:bodyPr wrap="square" lIns="0" tIns="0" rIns="0" bIns="0" rtlCol="0" anchor="t"/>
          <a:lstStyle/>
          <a:p>
            <a:pPr indent="0" marL="0">
              <a:buNone/>
            </a:pPr>
            <a:r>
              <a:rPr lang="en-IE" sz="2000" dirty="0">
                <a:solidFill>
                  <a:schemeClr val="bg2"/>
                </a:solidFill>
              </a:rPr>
              <a:t>equals and hash codes, copying objects, Comparable and Comparator</a:t>
            </a:r>
            <a:endParaRPr lang="en-IE" sz="2000" dirty="0"/>
          </a:p>
        </p:txBody>
      </p:sp>
      <p:sp>
        <p:nvSpPr>
          <p:cNvPr id="5" name="Text 3"/>
          <p:cNvSpPr txBox="1"/>
          <p:nvPr/>
        </p:nvSpPr>
        <p:spPr>
          <a:xfrm>
            <a:off x="6903720" y="1298448"/>
            <a:ext cx="3200400" cy="292608"/>
          </a:xfrm>
          <a:prstGeom prst="rect">
            <a:avLst/>
          </a:prstGeom>
          <a:noFill/>
          <a:ln/>
        </p:spPr>
        <p:txBody>
          <a:bodyPr wrap="square" lIns="0" tIns="0" rIns="0" bIns="0" rtlCol="0" anchor="t"/>
          <a:lstStyle/>
          <a:p>
            <a:pPr indent="0" marL="0">
              <a:buNone/>
            </a:pPr>
            <a:r>
              <a:rPr lang="en-IE" sz="1300" i="1" dirty="0">
                <a:solidFill>
                  <a:schemeClr val="bg2"/>
                </a:solidFill>
              </a:rPr>
              <a:t>in any order</a:t>
            </a:r>
            <a:endParaRPr lang="en-IE" sz="1300" dirty="0"/>
          </a:p>
        </p:txBody>
      </p:sp>
      <p:sp>
        <p:nvSpPr>
          <p:cNvPr id="6" name="Box 3 Cara"/>
          <p:cNvSpPr/>
          <p:nvPr/>
        </p:nvSpPr>
        <p:spPr>
          <a:xfrm>
            <a:off x="6903720" y="1645920"/>
            <a:ext cx="1097280" cy="566928"/>
          </a:xfrm>
          <a:prstGeom prst="roundRect">
            <a:avLst>
              <a:gd name="adj" fmla="val 12903"/>
            </a:avLst>
          </a:prstGeom>
          <a:solidFill>
            <a:schemeClr val="bg1">
              <a:alpha val="12000"/>
            </a:schemeClr>
          </a:solidFill>
          <a:ln w="19050">
            <a:solidFill>
              <a:schemeClr val="bg1"/>
            </a:solidFill>
            <a:prstDash val="solid"/>
          </a:ln>
        </p:spPr>
      </p:sp>
      <p:sp>
        <p:nvSpPr>
          <p:cNvPr id="7" name="Text 5"/>
          <p:cNvSpPr txBox="1"/>
          <p:nvPr/>
        </p:nvSpPr>
        <p:spPr>
          <a:xfrm>
            <a:off x="6903720" y="1645920"/>
            <a:ext cx="1097280" cy="566928"/>
          </a:xfrm>
          <a:prstGeom prst="rect">
            <a:avLst/>
          </a:prstGeom>
          <a:noFill/>
          <a:ln/>
        </p:spPr>
        <p:txBody>
          <a:bodyPr wrap="square" lIns="0" tIns="0" rIns="0" bIns="0" rtlCol="0" anchor="ctr"/>
          <a:lstStyle/>
          <a:p>
            <a:pPr algn="ctr" indent="0" marL="0">
              <a:buNone/>
            </a:pPr>
            <a:r>
              <a:rPr lang="en-IE" sz="1500" b="1" dirty="0">
                <a:solidFill>
                  <a:schemeClr val="bg1"/>
                </a:solidFill>
                <a:latin typeface="Consolas" pitchFamily="34" charset="0"/>
                <a:ea typeface="Consolas" pitchFamily="34" charset="-122"/>
                <a:cs typeface="Consolas" pitchFamily="34" charset="-120"/>
              </a:rPr>
              <a:t>3 Cara</a:t>
            </a:r>
            <a:endParaRPr lang="en-IE" sz="1500" dirty="0"/>
          </a:p>
        </p:txBody>
      </p:sp>
      <p:sp>
        <p:nvSpPr>
          <p:cNvPr id="8" name="Box 1 Dan"/>
          <p:cNvSpPr/>
          <p:nvPr/>
        </p:nvSpPr>
        <p:spPr>
          <a:xfrm>
            <a:off x="8110728" y="1645920"/>
            <a:ext cx="1097280" cy="566928"/>
          </a:xfrm>
          <a:prstGeom prst="roundRect">
            <a:avLst>
              <a:gd name="adj" fmla="val 12903"/>
            </a:avLst>
          </a:prstGeom>
          <a:solidFill>
            <a:schemeClr val="bg1">
              <a:alpha val="12000"/>
            </a:schemeClr>
          </a:solidFill>
          <a:ln w="19050">
            <a:solidFill>
              <a:schemeClr val="bg1"/>
            </a:solidFill>
            <a:prstDash val="solid"/>
          </a:ln>
        </p:spPr>
      </p:sp>
      <p:sp>
        <p:nvSpPr>
          <p:cNvPr id="9" name="Text 7"/>
          <p:cNvSpPr txBox="1"/>
          <p:nvPr/>
        </p:nvSpPr>
        <p:spPr>
          <a:xfrm>
            <a:off x="8110728" y="1645920"/>
            <a:ext cx="1097280" cy="566928"/>
          </a:xfrm>
          <a:prstGeom prst="rect">
            <a:avLst/>
          </a:prstGeom>
          <a:noFill/>
          <a:ln/>
        </p:spPr>
        <p:txBody>
          <a:bodyPr wrap="square" lIns="0" tIns="0" rIns="0" bIns="0" rtlCol="0" anchor="ctr"/>
          <a:lstStyle/>
          <a:p>
            <a:pPr algn="ctr" indent="0" marL="0">
              <a:buNone/>
            </a:pPr>
            <a:r>
              <a:rPr lang="en-IE" sz="1500" b="1" dirty="0">
                <a:solidFill>
                  <a:schemeClr val="bg1"/>
                </a:solidFill>
                <a:latin typeface="Consolas" pitchFamily="34" charset="0"/>
                <a:ea typeface="Consolas" pitchFamily="34" charset="-122"/>
                <a:cs typeface="Consolas" pitchFamily="34" charset="-120"/>
              </a:rPr>
              <a:t>1 Dan</a:t>
            </a:r>
            <a:endParaRPr lang="en-IE" sz="1500" dirty="0"/>
          </a:p>
        </p:txBody>
      </p:sp>
      <p:sp>
        <p:nvSpPr>
          <p:cNvPr id="10" name="Box 5 Anne"/>
          <p:cNvSpPr/>
          <p:nvPr/>
        </p:nvSpPr>
        <p:spPr>
          <a:xfrm>
            <a:off x="9317736" y="1645920"/>
            <a:ext cx="1097280" cy="566928"/>
          </a:xfrm>
          <a:prstGeom prst="roundRect">
            <a:avLst>
              <a:gd name="adj" fmla="val 12903"/>
            </a:avLst>
          </a:prstGeom>
          <a:solidFill>
            <a:schemeClr val="bg1">
              <a:alpha val="12000"/>
            </a:schemeClr>
          </a:solidFill>
          <a:ln w="19050">
            <a:solidFill>
              <a:schemeClr val="bg1"/>
            </a:solidFill>
            <a:prstDash val="solid"/>
          </a:ln>
        </p:spPr>
      </p:sp>
      <p:sp>
        <p:nvSpPr>
          <p:cNvPr id="11" name="Text 9"/>
          <p:cNvSpPr txBox="1"/>
          <p:nvPr/>
        </p:nvSpPr>
        <p:spPr>
          <a:xfrm>
            <a:off x="9317736" y="1645920"/>
            <a:ext cx="1097280" cy="566928"/>
          </a:xfrm>
          <a:prstGeom prst="rect">
            <a:avLst/>
          </a:prstGeom>
          <a:noFill/>
          <a:ln/>
        </p:spPr>
        <p:txBody>
          <a:bodyPr wrap="square" lIns="0" tIns="0" rIns="0" bIns="0" rtlCol="0" anchor="ctr"/>
          <a:lstStyle/>
          <a:p>
            <a:pPr algn="ctr" indent="0" marL="0">
              <a:buNone/>
            </a:pPr>
            <a:r>
              <a:rPr lang="en-IE" sz="1500" b="1" dirty="0">
                <a:solidFill>
                  <a:schemeClr val="bg1"/>
                </a:solidFill>
                <a:latin typeface="Consolas" pitchFamily="34" charset="0"/>
                <a:ea typeface="Consolas" pitchFamily="34" charset="-122"/>
                <a:cs typeface="Consolas" pitchFamily="34" charset="-120"/>
              </a:rPr>
              <a:t>5 Anne</a:t>
            </a:r>
            <a:endParaRPr lang="en-IE" sz="1500" dirty="0"/>
          </a:p>
        </p:txBody>
      </p:sp>
      <p:sp>
        <p:nvSpPr>
          <p:cNvPr id="12" name="Box 2 Bob"/>
          <p:cNvSpPr/>
          <p:nvPr/>
        </p:nvSpPr>
        <p:spPr>
          <a:xfrm>
            <a:off x="10524744" y="1645920"/>
            <a:ext cx="1097280" cy="566928"/>
          </a:xfrm>
          <a:prstGeom prst="roundRect">
            <a:avLst>
              <a:gd name="adj" fmla="val 12903"/>
            </a:avLst>
          </a:prstGeom>
          <a:solidFill>
            <a:schemeClr val="bg1">
              <a:alpha val="12000"/>
            </a:schemeClr>
          </a:solidFill>
          <a:ln w="19050">
            <a:solidFill>
              <a:schemeClr val="bg1"/>
            </a:solidFill>
            <a:prstDash val="solid"/>
          </a:ln>
        </p:spPr>
      </p:sp>
      <p:sp>
        <p:nvSpPr>
          <p:cNvPr id="13" name="Text 11"/>
          <p:cNvSpPr txBox="1"/>
          <p:nvPr/>
        </p:nvSpPr>
        <p:spPr>
          <a:xfrm>
            <a:off x="10524744" y="1645920"/>
            <a:ext cx="1097280" cy="566928"/>
          </a:xfrm>
          <a:prstGeom prst="rect">
            <a:avLst/>
          </a:prstGeom>
          <a:noFill/>
          <a:ln/>
        </p:spPr>
        <p:txBody>
          <a:bodyPr wrap="square" lIns="0" tIns="0" rIns="0" bIns="0" rtlCol="0" anchor="ctr"/>
          <a:lstStyle/>
          <a:p>
            <a:pPr algn="ctr" indent="0" marL="0">
              <a:buNone/>
            </a:pPr>
            <a:r>
              <a:rPr lang="en-IE" sz="1500" b="1" dirty="0">
                <a:solidFill>
                  <a:schemeClr val="bg1"/>
                </a:solidFill>
                <a:latin typeface="Consolas" pitchFamily="34" charset="0"/>
                <a:ea typeface="Consolas" pitchFamily="34" charset="-122"/>
                <a:cs typeface="Consolas" pitchFamily="34" charset="-120"/>
              </a:rPr>
              <a:t>2 Bob</a:t>
            </a:r>
            <a:endParaRPr lang="en-IE" sz="1500" dirty="0"/>
          </a:p>
        </p:txBody>
      </p:sp>
      <p:sp>
        <p:nvSpPr>
          <p:cNvPr id="14" name="Connector"/>
          <p:cNvSpPr/>
          <p:nvPr/>
        </p:nvSpPr>
        <p:spPr>
          <a:xfrm>
            <a:off x="9262872" y="2286000"/>
            <a:ext cx="0" cy="1325880"/>
          </a:xfrm>
          <a:prstGeom prst="line">
            <a:avLst/>
          </a:prstGeom>
          <a:noFill/>
          <a:ln w="22225">
            <a:solidFill>
              <a:schemeClr val="bg1"/>
            </a:solidFill>
            <a:prstDash val="solid"/>
            <a:tailEnd type="triangle"/>
          </a:ln>
        </p:spPr>
      </p:sp>
      <p:sp>
        <p:nvSpPr>
          <p:cNvPr id="15" name="Sort call"/>
          <p:cNvSpPr/>
          <p:nvPr/>
        </p:nvSpPr>
        <p:spPr>
          <a:xfrm>
            <a:off x="7708392" y="2724912"/>
            <a:ext cx="3108960" cy="438912"/>
          </a:xfrm>
          <a:prstGeom prst="roundRect">
            <a:avLst>
              <a:gd name="adj" fmla="val 16667"/>
            </a:avLst>
          </a:prstGeom>
          <a:solidFill>
            <a:schemeClr val="accent1"/>
          </a:solidFill>
          <a:ln/>
        </p:spPr>
        <p:txBody>
          <a:bodyPr wrap="square" lIns="0" tIns="0" rIns="0" bIns="0" rtlCol="0" anchor="ctr"/>
          <a:lstStyle/>
          <a:p>
            <a:pPr algn="ctr" indent="0" marL="0">
              <a:buNone/>
            </a:pPr>
            <a:r>
              <a:rPr lang="en-IE" sz="1400" b="1" dirty="0">
                <a:solidFill>
                  <a:schemeClr val="bg1"/>
                </a:solidFill>
                <a:latin typeface="Consolas" pitchFamily="34" charset="0"/>
                <a:ea typeface="Consolas" pitchFamily="34" charset="-122"/>
                <a:cs typeface="Consolas" pitchFamily="34" charset="-120"/>
              </a:rPr>
              <a:t>Collections.sort(students)</a:t>
            </a:r>
            <a:endParaRPr lang="en-IE" sz="1400" dirty="0"/>
          </a:p>
        </p:txBody>
      </p:sp>
      <p:sp>
        <p:nvSpPr>
          <p:cNvPr id="16" name="Sorted 0"/>
          <p:cNvSpPr/>
          <p:nvPr/>
        </p:nvSpPr>
        <p:spPr>
          <a:xfrm>
            <a:off x="6903720" y="3703320"/>
            <a:ext cx="1097280" cy="566928"/>
          </a:xfrm>
          <a:prstGeom prst="roundRect">
            <a:avLst>
              <a:gd name="adj" fmla="val 12903"/>
            </a:avLst>
          </a:prstGeom>
          <a:solidFill>
            <a:schemeClr val="accent6"/>
          </a:solidFill>
          <a:ln/>
        </p:spPr>
        <p:txBody>
          <a:bodyPr wrap="square" lIns="0" tIns="0" rIns="0" bIns="0" rtlCol="0" anchor="ctr"/>
          <a:lstStyle/>
          <a:p>
            <a:pPr algn="ctr" indent="0" marL="0">
              <a:buNone/>
            </a:pPr>
            <a:r>
              <a:rPr lang="en-IE" sz="1500" b="1" dirty="0">
                <a:solidFill>
                  <a:schemeClr val="tx1"/>
                </a:solidFill>
                <a:latin typeface="Consolas" pitchFamily="34" charset="0"/>
                <a:ea typeface="Consolas" pitchFamily="34" charset="-122"/>
                <a:cs typeface="Consolas" pitchFamily="34" charset="-120"/>
              </a:rPr>
              <a:t>1 Dan</a:t>
            </a:r>
            <a:endParaRPr lang="en-IE" sz="1500" dirty="0"/>
          </a:p>
        </p:txBody>
      </p:sp>
      <p:sp>
        <p:nvSpPr>
          <p:cNvPr id="17" name="Sorted 1"/>
          <p:cNvSpPr/>
          <p:nvPr/>
        </p:nvSpPr>
        <p:spPr>
          <a:xfrm>
            <a:off x="8110728" y="3703320"/>
            <a:ext cx="1097280" cy="566928"/>
          </a:xfrm>
          <a:prstGeom prst="roundRect">
            <a:avLst>
              <a:gd name="adj" fmla="val 12903"/>
            </a:avLst>
          </a:prstGeom>
          <a:solidFill>
            <a:schemeClr val="accent6"/>
          </a:solidFill>
          <a:ln/>
        </p:spPr>
        <p:txBody>
          <a:bodyPr wrap="square" lIns="0" tIns="0" rIns="0" bIns="0" rtlCol="0" anchor="ctr"/>
          <a:lstStyle/>
          <a:p>
            <a:pPr algn="ctr" indent="0" marL="0">
              <a:buNone/>
            </a:pPr>
            <a:r>
              <a:rPr lang="en-IE" sz="1500" b="1" dirty="0">
                <a:solidFill>
                  <a:schemeClr val="tx1"/>
                </a:solidFill>
                <a:latin typeface="Consolas" pitchFamily="34" charset="0"/>
                <a:ea typeface="Consolas" pitchFamily="34" charset="-122"/>
                <a:cs typeface="Consolas" pitchFamily="34" charset="-120"/>
              </a:rPr>
              <a:t>2 Bob</a:t>
            </a:r>
            <a:endParaRPr lang="en-IE" sz="1500" dirty="0"/>
          </a:p>
        </p:txBody>
      </p:sp>
      <p:sp>
        <p:nvSpPr>
          <p:cNvPr id="18" name="Sorted 2"/>
          <p:cNvSpPr/>
          <p:nvPr/>
        </p:nvSpPr>
        <p:spPr>
          <a:xfrm>
            <a:off x="9317736" y="3703320"/>
            <a:ext cx="1097280" cy="566928"/>
          </a:xfrm>
          <a:prstGeom prst="roundRect">
            <a:avLst>
              <a:gd name="adj" fmla="val 12903"/>
            </a:avLst>
          </a:prstGeom>
          <a:solidFill>
            <a:schemeClr val="accent6"/>
          </a:solidFill>
          <a:ln/>
        </p:spPr>
        <p:txBody>
          <a:bodyPr wrap="square" lIns="0" tIns="0" rIns="0" bIns="0" rtlCol="0" anchor="ctr"/>
          <a:lstStyle/>
          <a:p>
            <a:pPr algn="ctr" indent="0" marL="0">
              <a:buNone/>
            </a:pPr>
            <a:r>
              <a:rPr lang="en-IE" sz="1500" b="1" dirty="0">
                <a:solidFill>
                  <a:schemeClr val="tx1"/>
                </a:solidFill>
                <a:latin typeface="Consolas" pitchFamily="34" charset="0"/>
                <a:ea typeface="Consolas" pitchFamily="34" charset="-122"/>
                <a:cs typeface="Consolas" pitchFamily="34" charset="-120"/>
              </a:rPr>
              <a:t>3 Cara</a:t>
            </a:r>
            <a:endParaRPr lang="en-IE" sz="1500" dirty="0"/>
          </a:p>
        </p:txBody>
      </p:sp>
      <p:sp>
        <p:nvSpPr>
          <p:cNvPr id="19" name="Sorted 3"/>
          <p:cNvSpPr/>
          <p:nvPr/>
        </p:nvSpPr>
        <p:spPr>
          <a:xfrm>
            <a:off x="10524744" y="3703320"/>
            <a:ext cx="1097280" cy="566928"/>
          </a:xfrm>
          <a:prstGeom prst="roundRect">
            <a:avLst>
              <a:gd name="adj" fmla="val 12903"/>
            </a:avLst>
          </a:prstGeom>
          <a:solidFill>
            <a:schemeClr val="accent6"/>
          </a:solidFill>
          <a:ln/>
        </p:spPr>
        <p:txBody>
          <a:bodyPr wrap="square" lIns="0" tIns="0" rIns="0" bIns="0" rtlCol="0" anchor="ctr"/>
          <a:lstStyle/>
          <a:p>
            <a:pPr algn="ctr" indent="0" marL="0">
              <a:buNone/>
            </a:pPr>
            <a:r>
              <a:rPr lang="en-IE" sz="1500" b="1" dirty="0">
                <a:solidFill>
                  <a:schemeClr val="tx1"/>
                </a:solidFill>
                <a:latin typeface="Consolas" pitchFamily="34" charset="0"/>
                <a:ea typeface="Consolas" pitchFamily="34" charset="-122"/>
                <a:cs typeface="Consolas" pitchFamily="34" charset="-120"/>
              </a:rPr>
              <a:t>5 Anne</a:t>
            </a:r>
            <a:endParaRPr lang="en-IE" sz="1500" dirty="0"/>
          </a:p>
        </p:txBody>
      </p:sp>
      <p:sp>
        <p:nvSpPr>
          <p:cNvPr id="20" name="Text 18"/>
          <p:cNvSpPr txBox="1"/>
          <p:nvPr/>
        </p:nvSpPr>
        <p:spPr>
          <a:xfrm>
            <a:off x="6903720" y="4370832"/>
            <a:ext cx="4480560" cy="292608"/>
          </a:xfrm>
          <a:prstGeom prst="rect">
            <a:avLst/>
          </a:prstGeom>
          <a:noFill/>
          <a:ln/>
        </p:spPr>
        <p:txBody>
          <a:bodyPr wrap="square" lIns="0" tIns="0" rIns="0" bIns="0" rtlCol="0" anchor="t"/>
          <a:lstStyle/>
          <a:p>
            <a:pPr algn="ctr" indent="0" marL="0">
              <a:buNone/>
            </a:pPr>
            <a:r>
              <a:rPr lang="en-IE" sz="1300" i="1" dirty="0">
                <a:solidFill>
                  <a:schemeClr val="bg2"/>
                </a:solidFill>
              </a:rPr>
              <a:t>in order of id, lowest first</a:t>
            </a:r>
            <a:endParaRPr lang="en-IE"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LECTURE 7</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What we cover today</a:t>
            </a:r>
            <a:endParaRPr lang="en-IE" sz="3400" dirty="0"/>
          </a:p>
        </p:txBody>
      </p:sp>
      <p:sp>
        <p:nvSpPr>
          <p:cNvPr id="5" name="Text 2"/>
          <p:cNvSpPr txBox="1"/>
          <p:nvPr/>
        </p:nvSpPr>
        <p:spPr>
          <a:xfrm>
            <a:off x="548640" y="1746504"/>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01</a:t>
            </a:r>
            <a:endParaRPr lang="en-IE" sz="3000" dirty="0"/>
          </a:p>
        </p:txBody>
      </p:sp>
      <p:sp>
        <p:nvSpPr>
          <p:cNvPr id="6" name="Text 3"/>
          <p:cNvSpPr txBox="1"/>
          <p:nvPr/>
        </p:nvSpPr>
        <p:spPr>
          <a:xfrm>
            <a:off x="1463040" y="1783080"/>
            <a:ext cx="5577840" cy="384048"/>
          </a:xfrm>
          <a:prstGeom prst="rect">
            <a:avLst/>
          </a:prstGeom>
          <a:noFill/>
          <a:ln/>
        </p:spPr>
        <p:txBody>
          <a:bodyPr wrap="square" lIns="0" tIns="0" rIns="0" bIns="0" rtlCol="0" anchor="t"/>
          <a:lstStyle/>
          <a:p>
            <a:pPr indent="0" marL="0">
              <a:buNone/>
            </a:pPr>
            <a:r>
              <a:rPr lang="en-IE" sz="2100" b="1" dirty="0">
                <a:solidFill>
                  <a:schemeClr val="tx1"/>
                </a:solidFill>
              </a:rPr>
              <a:t>equals and ==</a:t>
            </a:r>
            <a:endParaRPr lang="en-IE" sz="2100" dirty="0"/>
          </a:p>
        </p:txBody>
      </p:sp>
      <p:sp>
        <p:nvSpPr>
          <p:cNvPr id="7" name="Text 4"/>
          <p:cNvSpPr txBox="1"/>
          <p:nvPr/>
        </p:nvSpPr>
        <p:spPr>
          <a:xfrm>
            <a:off x="1463040" y="2194560"/>
            <a:ext cx="5577840" cy="365760"/>
          </a:xfrm>
          <a:prstGeom prst="rect">
            <a:avLst/>
          </a:prstGeom>
          <a:noFill/>
          <a:ln/>
        </p:spPr>
        <p:txBody>
          <a:bodyPr wrap="square" lIns="0" tIns="0" rIns="0" bIns="0" rtlCol="0" anchor="t"/>
          <a:lstStyle/>
          <a:p>
            <a:pPr indent="0" marL="0">
              <a:buNone/>
            </a:pPr>
            <a:r>
              <a:rPr lang="en-IE" sz="1500" dirty="0">
                <a:solidFill>
                  <a:schemeClr val="tx2"/>
                </a:solidFill>
              </a:rPr>
              <a:t>Comparing content, not just references</a:t>
            </a:r>
            <a:endParaRPr lang="en-IE" sz="1500" dirty="0"/>
          </a:p>
        </p:txBody>
      </p:sp>
      <p:sp>
        <p:nvSpPr>
          <p:cNvPr id="8" name="Text 5"/>
          <p:cNvSpPr txBox="1"/>
          <p:nvPr/>
        </p:nvSpPr>
        <p:spPr>
          <a:xfrm>
            <a:off x="548640" y="2816352"/>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02</a:t>
            </a:r>
            <a:endParaRPr lang="en-IE" sz="3000" dirty="0"/>
          </a:p>
        </p:txBody>
      </p:sp>
      <p:sp>
        <p:nvSpPr>
          <p:cNvPr id="9" name="Text 6"/>
          <p:cNvSpPr txBox="1"/>
          <p:nvPr/>
        </p:nvSpPr>
        <p:spPr>
          <a:xfrm>
            <a:off x="1463040" y="2852928"/>
            <a:ext cx="5577840" cy="384048"/>
          </a:xfrm>
          <a:prstGeom prst="rect">
            <a:avLst/>
          </a:prstGeom>
          <a:noFill/>
          <a:ln/>
        </p:spPr>
        <p:txBody>
          <a:bodyPr wrap="square" lIns="0" tIns="0" rIns="0" bIns="0" rtlCol="0" anchor="t"/>
          <a:lstStyle/>
          <a:p>
            <a:pPr indent="0" marL="0">
              <a:buNone/>
            </a:pPr>
            <a:r>
              <a:rPr lang="en-IE" sz="2100" b="1" dirty="0">
                <a:solidFill>
                  <a:schemeClr val="tx1"/>
                </a:solidFill>
              </a:rPr>
              <a:t>Hash codes</a:t>
            </a:r>
            <a:endParaRPr lang="en-IE" sz="2100" dirty="0"/>
          </a:p>
        </p:txBody>
      </p:sp>
      <p:sp>
        <p:nvSpPr>
          <p:cNvPr id="10" name="Text 7"/>
          <p:cNvSpPr txBox="1"/>
          <p:nvPr/>
        </p:nvSpPr>
        <p:spPr>
          <a:xfrm>
            <a:off x="1463040" y="3264408"/>
            <a:ext cx="5577840" cy="365760"/>
          </a:xfrm>
          <a:prstGeom prst="rect">
            <a:avLst/>
          </a:prstGeom>
          <a:noFill/>
          <a:ln/>
        </p:spPr>
        <p:txBody>
          <a:bodyPr wrap="square" lIns="0" tIns="0" rIns="0" bIns="0" rtlCol="0" anchor="t"/>
          <a:lstStyle/>
          <a:p>
            <a:pPr indent="0" marL="0">
              <a:buNone/>
            </a:pPr>
            <a:r>
              <a:rPr lang="en-IE" sz="1500" dirty="0">
                <a:solidFill>
                  <a:schemeClr val="tx2"/>
                </a:solidFill>
              </a:rPr>
              <a:t>One number per object, and how it ties in with equals</a:t>
            </a:r>
            <a:endParaRPr lang="en-IE" sz="1500" dirty="0"/>
          </a:p>
        </p:txBody>
      </p:sp>
      <p:sp>
        <p:nvSpPr>
          <p:cNvPr id="11" name="Text 8"/>
          <p:cNvSpPr txBox="1"/>
          <p:nvPr/>
        </p:nvSpPr>
        <p:spPr>
          <a:xfrm>
            <a:off x="548640" y="3886200"/>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03</a:t>
            </a:r>
            <a:endParaRPr lang="en-IE" sz="3000" dirty="0"/>
          </a:p>
        </p:txBody>
      </p:sp>
      <p:sp>
        <p:nvSpPr>
          <p:cNvPr id="12" name="Text 9"/>
          <p:cNvSpPr txBox="1"/>
          <p:nvPr/>
        </p:nvSpPr>
        <p:spPr>
          <a:xfrm>
            <a:off x="1463040" y="3922776"/>
            <a:ext cx="5577840" cy="384048"/>
          </a:xfrm>
          <a:prstGeom prst="rect">
            <a:avLst/>
          </a:prstGeom>
          <a:noFill/>
          <a:ln/>
        </p:spPr>
        <p:txBody>
          <a:bodyPr wrap="square" lIns="0" tIns="0" rIns="0" bIns="0" rtlCol="0" anchor="t"/>
          <a:lstStyle/>
          <a:p>
            <a:pPr indent="0" marL="0">
              <a:buNone/>
            </a:pPr>
            <a:r>
              <a:rPr lang="en-IE" sz="2100" b="1" dirty="0">
                <a:solidFill>
                  <a:schemeClr val="tx1"/>
                </a:solidFill>
              </a:rPr>
              <a:t>Copying objects</a:t>
            </a:r>
            <a:endParaRPr lang="en-IE" sz="2100" dirty="0"/>
          </a:p>
        </p:txBody>
      </p:sp>
      <p:sp>
        <p:nvSpPr>
          <p:cNvPr id="13" name="Text 10"/>
          <p:cNvSpPr txBox="1"/>
          <p:nvPr/>
        </p:nvSpPr>
        <p:spPr>
          <a:xfrm>
            <a:off x="1463040" y="4334256"/>
            <a:ext cx="5577840" cy="365760"/>
          </a:xfrm>
          <a:prstGeom prst="rect">
            <a:avLst/>
          </a:prstGeom>
          <a:noFill/>
          <a:ln/>
        </p:spPr>
        <p:txBody>
          <a:bodyPr wrap="square" lIns="0" tIns="0" rIns="0" bIns="0" rtlCol="0" anchor="t"/>
          <a:lstStyle/>
          <a:p>
            <a:pPr indent="0" marL="0">
              <a:buNone/>
            </a:pPr>
            <a:r>
              <a:rPr lang="en-IE" sz="1500" dirty="0">
                <a:solidFill>
                  <a:schemeClr val="tx2"/>
                </a:solidFill>
              </a:rPr>
              <a:t>Real copies with clone() and copy constructors</a:t>
            </a:r>
            <a:endParaRPr lang="en-IE" sz="1500" dirty="0"/>
          </a:p>
        </p:txBody>
      </p:sp>
      <p:sp>
        <p:nvSpPr>
          <p:cNvPr id="14" name="Text 11"/>
          <p:cNvSpPr txBox="1"/>
          <p:nvPr/>
        </p:nvSpPr>
        <p:spPr>
          <a:xfrm>
            <a:off x="548640" y="4956048"/>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04</a:t>
            </a:r>
            <a:endParaRPr lang="en-IE" sz="3000" dirty="0"/>
          </a:p>
        </p:txBody>
      </p:sp>
      <p:sp>
        <p:nvSpPr>
          <p:cNvPr id="15" name="Text 12"/>
          <p:cNvSpPr txBox="1"/>
          <p:nvPr/>
        </p:nvSpPr>
        <p:spPr>
          <a:xfrm>
            <a:off x="1463040" y="4992624"/>
            <a:ext cx="5577840" cy="384048"/>
          </a:xfrm>
          <a:prstGeom prst="rect">
            <a:avLst/>
          </a:prstGeom>
          <a:noFill/>
          <a:ln/>
        </p:spPr>
        <p:txBody>
          <a:bodyPr wrap="square" lIns="0" tIns="0" rIns="0" bIns="0" rtlCol="0" anchor="t"/>
          <a:lstStyle/>
          <a:p>
            <a:pPr indent="0" marL="0">
              <a:buNone/>
            </a:pPr>
            <a:r>
              <a:rPr lang="en-IE" sz="2100" b="1" dirty="0">
                <a:solidFill>
                  <a:schemeClr val="tx1"/>
                </a:solidFill>
              </a:rPr>
              <a:t>Sorting objects</a:t>
            </a:r>
            <a:endParaRPr lang="en-IE" sz="2100" dirty="0"/>
          </a:p>
        </p:txBody>
      </p:sp>
      <p:sp>
        <p:nvSpPr>
          <p:cNvPr id="16" name="Text 13"/>
          <p:cNvSpPr txBox="1"/>
          <p:nvPr/>
        </p:nvSpPr>
        <p:spPr>
          <a:xfrm>
            <a:off x="1463040" y="5404104"/>
            <a:ext cx="5577840" cy="365760"/>
          </a:xfrm>
          <a:prstGeom prst="rect">
            <a:avLst/>
          </a:prstGeom>
          <a:noFill/>
          <a:ln/>
        </p:spPr>
        <p:txBody>
          <a:bodyPr wrap="square" lIns="0" tIns="0" rIns="0" bIns="0" rtlCol="0" anchor="t"/>
          <a:lstStyle/>
          <a:p>
            <a:pPr indent="0" marL="0">
              <a:buNone/>
            </a:pPr>
            <a:r>
              <a:rPr lang="en-IE" sz="1500" dirty="0">
                <a:solidFill>
                  <a:schemeClr val="tx2"/>
                </a:solidFill>
              </a:rPr>
              <a:t>compareTo, Comparable and Comparator</a:t>
            </a:r>
            <a:endParaRPr lang="en-IE" sz="1500" dirty="0"/>
          </a:p>
        </p:txBody>
      </p:sp>
      <p:sp>
        <p:nvSpPr>
          <p:cNvPr id="17" name="How it works"/>
          <p:cNvSpPr/>
          <p:nvPr/>
        </p:nvSpPr>
        <p:spPr>
          <a:xfrm>
            <a:off x="7543800" y="1783080"/>
            <a:ext cx="4099255" cy="4160520"/>
          </a:xfrm>
          <a:prstGeom prst="roundRect">
            <a:avLst>
              <a:gd name="adj" fmla="val 2677"/>
            </a:avLst>
          </a:prstGeom>
          <a:solidFill>
            <a:schemeClr val="bg2"/>
          </a:solidFill>
          <a:ln/>
        </p:spPr>
      </p:sp>
      <p:sp>
        <p:nvSpPr>
          <p:cNvPr id="18" name="Text 15"/>
          <p:cNvSpPr txBox="1"/>
          <p:nvPr/>
        </p:nvSpPr>
        <p:spPr>
          <a:xfrm>
            <a:off x="7909560" y="2103120"/>
            <a:ext cx="3367735" cy="411480"/>
          </a:xfrm>
          <a:prstGeom prst="rect">
            <a:avLst/>
          </a:prstGeom>
          <a:noFill/>
          <a:ln/>
        </p:spPr>
        <p:txBody>
          <a:bodyPr wrap="square" lIns="0" tIns="0" rIns="0" bIns="0" rtlCol="0" anchor="t"/>
          <a:lstStyle/>
          <a:p>
            <a:pPr indent="0" marL="0">
              <a:buNone/>
            </a:pPr>
            <a:r>
              <a:rPr lang="en-IE" sz="1900" b="1" dirty="0">
                <a:solidFill>
                  <a:schemeClr val="tx1"/>
                </a:solidFill>
              </a:rPr>
              <a:t>How each topic works</a:t>
            </a:r>
            <a:endParaRPr lang="en-IE" sz="1900" dirty="0"/>
          </a:p>
        </p:txBody>
      </p:sp>
      <p:sp>
        <p:nvSpPr>
          <p:cNvPr id="19" name="Icon tile"/>
          <p:cNvSpPr/>
          <p:nvPr/>
        </p:nvSpPr>
        <p:spPr>
          <a:xfrm>
            <a:off x="7909560" y="2788920"/>
            <a:ext cx="603504" cy="603504"/>
          </a:xfrm>
          <a:prstGeom prst="roundRect">
            <a:avLst>
              <a:gd name="adj" fmla="val 24000"/>
            </a:avLst>
          </a:prstGeom>
          <a:solidFill>
            <a:schemeClr val="accent2">
              <a:alpha val="14000"/>
            </a:schemeClr>
          </a:solidFill>
          <a:ln/>
        </p:spPr>
      </p:sp>
      <p:pic>
        <p:nvPicPr>
          <p:cNvPr id="20" name="book open text icon" descr="book open text icon">    </p:cNvPr>
          <p:cNvPicPr>
            <a:picLocks noChangeAspect="1"/>
          </p:cNvPicPr>
          <p:nvPr/>
        </p:nvPicPr>
        <p:blipFill>
          <a:blip r:embed="rId1"/>
          <a:stretch>
            <a:fillRect/>
          </a:stretch>
        </p:blipFill>
        <p:spPr>
          <a:xfrm>
            <a:off x="8036296" y="2915656"/>
            <a:ext cx="350032" cy="350032"/>
          </a:xfrm>
          <a:prstGeom prst="rect">
            <a:avLst/>
          </a:prstGeom>
        </p:spPr>
      </p:pic>
      <p:sp>
        <p:nvSpPr>
          <p:cNvPr id="21" name="Text 17"/>
          <p:cNvSpPr txBox="1"/>
          <p:nvPr/>
        </p:nvSpPr>
        <p:spPr>
          <a:xfrm>
            <a:off x="8732520" y="2752344"/>
            <a:ext cx="2590495" cy="676656"/>
          </a:xfrm>
          <a:prstGeom prst="rect">
            <a:avLst/>
          </a:prstGeom>
          <a:noFill/>
          <a:ln/>
        </p:spPr>
        <p:txBody>
          <a:bodyPr wrap="square" lIns="0" tIns="0" rIns="0" bIns="0" rtlCol="0" anchor="ctr"/>
          <a:lstStyle/>
          <a:p>
            <a:pPr indent="0" marL="0">
              <a:buNone/>
            </a:pPr>
            <a:r>
              <a:rPr lang="en-IE" sz="1600" dirty="0">
                <a:solidFill>
                  <a:schemeClr val="tx1"/>
                </a:solidFill>
              </a:rPr>
              <a:t>Read the idea and look at the example</a:t>
            </a:r>
            <a:endParaRPr lang="en-IE" sz="1600" dirty="0"/>
          </a:p>
        </p:txBody>
      </p:sp>
      <p:sp>
        <p:nvSpPr>
          <p:cNvPr id="22" name="Icon tile"/>
          <p:cNvSpPr/>
          <p:nvPr/>
        </p:nvSpPr>
        <p:spPr>
          <a:xfrm>
            <a:off x="7909560" y="3776472"/>
            <a:ext cx="603504" cy="603504"/>
          </a:xfrm>
          <a:prstGeom prst="roundRect">
            <a:avLst>
              <a:gd name="adj" fmla="val 24000"/>
            </a:avLst>
          </a:prstGeom>
          <a:solidFill>
            <a:schemeClr val="accent2">
              <a:alpha val="14000"/>
            </a:schemeClr>
          </a:solidFill>
          <a:ln/>
        </p:spPr>
      </p:sp>
      <p:pic>
        <p:nvPicPr>
          <p:cNvPr id="23" name="cursor click icon" descr="cursor click icon">    </p:cNvPr>
          <p:cNvPicPr>
            <a:picLocks noChangeAspect="1"/>
          </p:cNvPicPr>
          <p:nvPr/>
        </p:nvPicPr>
        <p:blipFill>
          <a:blip r:embed="rId2"/>
          <a:stretch>
            <a:fillRect/>
          </a:stretch>
        </p:blipFill>
        <p:spPr>
          <a:xfrm>
            <a:off x="8036296" y="3903208"/>
            <a:ext cx="350032" cy="350032"/>
          </a:xfrm>
          <a:prstGeom prst="rect">
            <a:avLst/>
          </a:prstGeom>
        </p:spPr>
      </p:pic>
      <p:sp>
        <p:nvSpPr>
          <p:cNvPr id="24" name="Text 19"/>
          <p:cNvSpPr txBox="1"/>
          <p:nvPr/>
        </p:nvSpPr>
        <p:spPr>
          <a:xfrm>
            <a:off x="8732520" y="3739896"/>
            <a:ext cx="2590495" cy="676656"/>
          </a:xfrm>
          <a:prstGeom prst="rect">
            <a:avLst/>
          </a:prstGeom>
          <a:noFill/>
          <a:ln/>
        </p:spPr>
        <p:txBody>
          <a:bodyPr wrap="square" lIns="0" tIns="0" rIns="0" bIns="0" rtlCol="0" anchor="ctr"/>
          <a:lstStyle/>
          <a:p>
            <a:pPr indent="0" marL="0">
              <a:buNone/>
            </a:pPr>
            <a:r>
              <a:rPr lang="en-IE" sz="1600" dirty="0">
                <a:solidFill>
                  <a:schemeClr val="tx1"/>
                </a:solidFill>
              </a:rPr>
              <a:t>Try the quick check: A, B, C or D?</a:t>
            </a:r>
            <a:endParaRPr lang="en-IE" sz="1600" dirty="0"/>
          </a:p>
        </p:txBody>
      </p:sp>
      <p:sp>
        <p:nvSpPr>
          <p:cNvPr id="25" name="Icon tile"/>
          <p:cNvSpPr/>
          <p:nvPr/>
        </p:nvSpPr>
        <p:spPr>
          <a:xfrm>
            <a:off x="7909560" y="4764024"/>
            <a:ext cx="603504" cy="603504"/>
          </a:xfrm>
          <a:prstGeom prst="roundRect">
            <a:avLst>
              <a:gd name="adj" fmla="val 24000"/>
            </a:avLst>
          </a:prstGeom>
          <a:solidFill>
            <a:schemeClr val="accent2">
              <a:alpha val="14000"/>
            </a:schemeClr>
          </a:solidFill>
          <a:ln/>
        </p:spPr>
      </p:sp>
      <p:pic>
        <p:nvPicPr>
          <p:cNvPr id="26" name="check circle icon" descr="check circle icon">    </p:cNvPr>
          <p:cNvPicPr>
            <a:picLocks noChangeAspect="1"/>
          </p:cNvPicPr>
          <p:nvPr/>
        </p:nvPicPr>
        <p:blipFill>
          <a:blip r:embed="rId3"/>
          <a:stretch>
            <a:fillRect/>
          </a:stretch>
        </p:blipFill>
        <p:spPr>
          <a:xfrm>
            <a:off x="8036296" y="4890760"/>
            <a:ext cx="350032" cy="350032"/>
          </a:xfrm>
          <a:prstGeom prst="rect">
            <a:avLst/>
          </a:prstGeom>
        </p:spPr>
      </p:pic>
      <p:sp>
        <p:nvSpPr>
          <p:cNvPr id="27" name="Text 21"/>
          <p:cNvSpPr txBox="1"/>
          <p:nvPr/>
        </p:nvSpPr>
        <p:spPr>
          <a:xfrm>
            <a:off x="8732520" y="4727448"/>
            <a:ext cx="2590495" cy="676656"/>
          </a:xfrm>
          <a:prstGeom prst="rect">
            <a:avLst/>
          </a:prstGeom>
          <a:noFill/>
          <a:ln/>
        </p:spPr>
        <p:txBody>
          <a:bodyPr wrap="square" lIns="0" tIns="0" rIns="0" bIns="0" rtlCol="0" anchor="ctr"/>
          <a:lstStyle/>
          <a:p>
            <a:pPr indent="0" marL="0">
              <a:buNone/>
            </a:pPr>
            <a:r>
              <a:rPr lang="en-IE" sz="1600" dirty="0">
                <a:solidFill>
                  <a:schemeClr val="tx1"/>
                </a:solidFill>
              </a:rPr>
              <a:t>See the answer, and why, on the next slide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a:t>
            </a:fld>
            <a:endParaRPr lang="en-I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01</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equals and ==</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Comparing content, not just references</a:t>
            </a:r>
            <a:endParaRPr lang="en-IE" sz="2000" dirty="0"/>
          </a:p>
        </p:txBody>
      </p:sp>
      <p:sp>
        <p:nvSpPr>
          <p:cNvPr id="5" name="Topic chip"/>
          <p:cNvSpPr/>
          <p:nvPr/>
        </p:nvSpPr>
        <p:spPr>
          <a:xfrm>
            <a:off x="822960" y="4846320"/>
            <a:ext cx="169672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Object methods</a:t>
            </a:r>
            <a:endParaRPr lang="en-IE" sz="1400" dirty="0"/>
          </a:p>
        </p:txBody>
      </p:sp>
      <p:sp>
        <p:nvSpPr>
          <p:cNvPr id="6" name="Topic chip"/>
          <p:cNvSpPr/>
          <p:nvPr/>
        </p:nvSpPr>
        <p:spPr>
          <a:xfrm>
            <a:off x="2665984" y="4846320"/>
            <a:ext cx="1141984"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equals()</a:t>
            </a:r>
            <a:endParaRPr lang="en-IE" sz="1400" dirty="0"/>
          </a:p>
        </p:txBody>
      </p:sp>
      <p:sp>
        <p:nvSpPr>
          <p:cNvPr id="7" name="Topic chip"/>
          <p:cNvSpPr/>
          <p:nvPr/>
        </p:nvSpPr>
        <p:spPr>
          <a:xfrm>
            <a:off x="3954272" y="4846320"/>
            <a:ext cx="58724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a:t>
            </a:r>
            <a:endParaRPr lang="en-IE" sz="1400" dirty="0"/>
          </a:p>
        </p:txBody>
      </p:sp>
      <p:sp>
        <p:nvSpPr>
          <p:cNvPr id="8" name="Topic chip"/>
          <p:cNvSpPr/>
          <p:nvPr/>
        </p:nvSpPr>
        <p:spPr>
          <a:xfrm>
            <a:off x="4687824" y="4846320"/>
            <a:ext cx="141935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String pool</a:t>
            </a:r>
            <a:endParaRPr lang="en-IE" sz="1400" dirty="0"/>
          </a:p>
        </p:txBody>
      </p:sp>
      <p:pic>
        <p:nvPicPr>
          <p:cNvPr id="9"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EQUALS AND ==</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Methods every class gets from Object</a:t>
            </a:r>
            <a:endParaRPr lang="en-IE" sz="3400" dirty="0"/>
          </a:p>
        </p:txBody>
      </p:sp>
      <p:graphicFrame>
        <p:nvGraphicFramePr>
          <p:cNvPr id="5" name="Object methods"/>
          <p:cNvGraphicFramePr>
            <a:graphicFrameLocks noGrp="1"/>
          </p:cNvGraphicFramePr>
          <p:nvPr>
            <p:extLst>
              <p:ext uri="{D42A27DB-BD31-4B8C-83A1-F6EECF244321}">
                <p14:modId xmlns:p14="http://schemas.microsoft.com/office/powerpoint/2010/main" val="1579011935"/>
              </p:ext>
            </p:extLst>
          </p:nvPr>
        </p:nvGraphicFramePr>
        <p:xfrm>
          <a:off x="548640" y="1737360"/>
          <a:ext cx="7040880" cy="914400"/>
        </p:xfrm>
        <a:graphic>
          <a:graphicData uri="http://schemas.openxmlformats.org/drawingml/2006/table">
            <a:tbl>
              <a:tblPr/>
              <a:tblGrid>
                <a:gridCol w="2971800"/>
                <a:gridCol w="4069080"/>
              </a:tblGrid>
              <a:tr h="512064">
                <a:tc>
                  <a:txBody>
                    <a:bodyPr/>
                    <a:lstStyle/>
                    <a:p>
                      <a:pPr algn="l" indent="0" marL="0">
                        <a:buNone/>
                      </a:pPr>
                      <a:r>
                        <a:rPr lang="en-IE" sz="1500" b="1" dirty="0">
                          <a:solidFill>
                            <a:srgbClr val="FFFFFF"/>
                          </a:solidFill>
                        </a:rPr>
                        <a:t>Method</a:t>
                      </a:r>
                      <a:endParaRPr lang="en-IE"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1F3F6B"/>
                    </a:solidFill>
                  </a:tcPr>
                </a:tc>
                <a:tc>
                  <a:txBody>
                    <a:bodyPr/>
                    <a:lstStyle/>
                    <a:p>
                      <a:pPr algn="l" indent="0" marL="0">
                        <a:buNone/>
                      </a:pPr>
                      <a:r>
                        <a:rPr lang="en-IE" sz="1500" b="1" dirty="0">
                          <a:solidFill>
                            <a:srgbClr val="FFFFFF"/>
                          </a:solidFill>
                        </a:rPr>
                        <a:t>What it does</a:t>
                      </a:r>
                      <a:endParaRPr lang="en-IE"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1F3F6B"/>
                    </a:solidFill>
                  </a:tcPr>
                </a:tc>
              </a:tr>
              <a:tr h="512064">
                <a:tc>
                  <a:txBody>
                    <a:bodyPr/>
                    <a:lstStyle/>
                    <a:p>
                      <a:pPr algn="l" indent="0" marL="0">
                        <a:buNone/>
                      </a:pPr>
                      <a:r>
                        <a:rPr lang="en-IE" sz="1500" b="1" dirty="0">
                          <a:solidFill>
                            <a:srgbClr val="1D2433"/>
                          </a:solidFill>
                          <a:latin typeface="Consolas" pitchFamily="34" charset="0"/>
                          <a:ea typeface="Consolas" pitchFamily="34" charset="-122"/>
                          <a:cs typeface="Consolas" pitchFamily="34" charset="-120"/>
                        </a:rPr>
                        <a:t>equals(Object obj)</a:t>
                      </a:r>
                      <a:endParaRPr lang="en-IE"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algn="l" indent="0" marL="0">
                        <a:buNone/>
                      </a:pPr>
                      <a:r>
                        <a:rPr lang="en-IE" sz="1500" dirty="0">
                          <a:solidFill>
                            <a:srgbClr val="1D2433"/>
                          </a:solidFill>
                        </a:rPr>
                        <a:t>Checks whether another object is equal to this one</a:t>
                      </a:r>
                      <a:endParaRPr lang="en-IE"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r>
              <a:tr h="512064">
                <a:tc>
                  <a:txBody>
                    <a:bodyPr/>
                    <a:lstStyle/>
                    <a:p>
                      <a:pPr algn="l" indent="0" marL="0">
                        <a:buNone/>
                      </a:pPr>
                      <a:r>
                        <a:rPr lang="en-IE" sz="1500" b="1" dirty="0">
                          <a:solidFill>
                            <a:srgbClr val="1D2433"/>
                          </a:solidFill>
                          <a:latin typeface="Consolas" pitchFamily="34" charset="0"/>
                          <a:ea typeface="Consolas" pitchFamily="34" charset="-122"/>
                          <a:cs typeface="Consolas" pitchFamily="34" charset="-120"/>
                        </a:rPr>
                        <a:t>hashCode()</a:t>
                      </a:r>
                      <a:endParaRPr lang="en-IE"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algn="l" indent="0" marL="0">
                        <a:buNone/>
                      </a:pPr>
                      <a:r>
                        <a:rPr lang="en-IE" sz="1500" dirty="0">
                          <a:solidFill>
                            <a:srgbClr val="1D2433"/>
                          </a:solidFill>
                        </a:rPr>
                        <a:t>Returns a number for the object, its hash code</a:t>
                      </a:r>
                      <a:endParaRPr lang="en-IE"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r>
              <a:tr h="512064">
                <a:tc>
                  <a:txBody>
                    <a:bodyPr/>
                    <a:lstStyle/>
                    <a:p>
                      <a:pPr algn="l" indent="0" marL="0">
                        <a:buNone/>
                      </a:pPr>
                      <a:r>
                        <a:rPr lang="en-IE" sz="1500" b="1" dirty="0">
                          <a:solidFill>
                            <a:srgbClr val="1D2433"/>
                          </a:solidFill>
                          <a:latin typeface="Consolas" pitchFamily="34" charset="0"/>
                          <a:ea typeface="Consolas" pitchFamily="34" charset="-122"/>
                          <a:cs typeface="Consolas" pitchFamily="34" charset="-120"/>
                        </a:rPr>
                        <a:t>clone()</a:t>
                      </a:r>
                      <a:endParaRPr lang="en-IE"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algn="l" indent="0" marL="0">
                        <a:buNone/>
                      </a:pPr>
                      <a:r>
                        <a:rPr lang="en-IE" sz="1500" dirty="0">
                          <a:solidFill>
                            <a:srgbClr val="1D2433"/>
                          </a:solidFill>
                        </a:rPr>
                        <a:t>Makes a new object that is a copy of this one</a:t>
                      </a:r>
                      <a:endParaRPr lang="en-IE"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r>
              <a:tr h="512064">
                <a:tc>
                  <a:txBody>
                    <a:bodyPr/>
                    <a:lstStyle/>
                    <a:p>
                      <a:pPr algn="l" indent="0" marL="0">
                        <a:buNone/>
                      </a:pPr>
                      <a:r>
                        <a:rPr lang="en-IE" sz="1500" dirty="0">
                          <a:solidFill>
                            <a:srgbClr val="1D2433"/>
                          </a:solidFill>
                          <a:latin typeface="Consolas" pitchFamily="34" charset="0"/>
                          <a:ea typeface="Consolas" pitchFamily="34" charset="-122"/>
                          <a:cs typeface="Consolas" pitchFamily="34" charset="-120"/>
                        </a:rPr>
                        <a:t>toString()</a:t>
                      </a:r>
                      <a:endParaRPr lang="en-IE"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algn="l" indent="0" marL="0">
                        <a:buNone/>
                      </a:pPr>
                      <a:r>
                        <a:rPr lang="en-IE" sz="1500" dirty="0">
                          <a:solidFill>
                            <a:srgbClr val="1D2433"/>
                          </a:solidFill>
                        </a:rPr>
                        <a:t>Returns a String that describes the object</a:t>
                      </a:r>
                      <a:endParaRPr lang="en-IE"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512064">
                <a:tc>
                  <a:txBody>
                    <a:bodyPr/>
                    <a:lstStyle/>
                    <a:p>
                      <a:pPr algn="l" indent="0" marL="0">
                        <a:buNone/>
                      </a:pPr>
                      <a:r>
                        <a:rPr lang="en-IE" sz="1500" dirty="0">
                          <a:solidFill>
                            <a:srgbClr val="1D2433"/>
                          </a:solidFill>
                          <a:latin typeface="Consolas" pitchFamily="34" charset="0"/>
                          <a:ea typeface="Consolas" pitchFamily="34" charset="-122"/>
                          <a:cs typeface="Consolas" pitchFamily="34" charset="-120"/>
                        </a:rPr>
                        <a:t>getClass()</a:t>
                      </a:r>
                      <a:endParaRPr lang="en-IE"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algn="l" indent="0" marL="0">
                        <a:buNone/>
                      </a:pPr>
                      <a:r>
                        <a:rPr lang="en-IE" sz="1500" dirty="0">
                          <a:solidFill>
                            <a:srgbClr val="1D2433"/>
                          </a:solidFill>
                        </a:rPr>
                        <a:t>Tells us the object’s class while the program runs</a:t>
                      </a:r>
                      <a:endParaRPr lang="en-IE"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512064">
                <a:tc>
                  <a:txBody>
                    <a:bodyPr/>
                    <a:lstStyle/>
                    <a:p>
                      <a:pPr algn="l" indent="0" marL="0">
                        <a:buNone/>
                      </a:pPr>
                      <a:r>
                        <a:rPr lang="en-IE" sz="1500" dirty="0">
                          <a:solidFill>
                            <a:srgbClr val="1D2433"/>
                          </a:solidFill>
                          <a:latin typeface="Consolas" pitchFamily="34" charset="0"/>
                          <a:ea typeface="Consolas" pitchFamily="34" charset="-122"/>
                          <a:cs typeface="Consolas" pitchFamily="34" charset="-120"/>
                        </a:rPr>
                        <a:t>wait(), notify(), notifyAll()</a:t>
                      </a:r>
                      <a:endParaRPr lang="en-IE"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algn="l" indent="0" marL="0">
                        <a:buNone/>
                      </a:pPr>
                      <a:r>
                        <a:rPr lang="en-IE" sz="1500" dirty="0">
                          <a:solidFill>
                            <a:srgbClr val="1D2433"/>
                          </a:solidFill>
                        </a:rPr>
                        <a:t>Used with threads</a:t>
                      </a:r>
                      <a:endParaRPr lang="en-IE"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512064">
                <a:tc>
                  <a:txBody>
                    <a:bodyPr/>
                    <a:lstStyle/>
                    <a:p>
                      <a:pPr algn="l" indent="0" marL="0">
                        <a:buNone/>
                      </a:pPr>
                      <a:r>
                        <a:rPr lang="en-IE" sz="1500" dirty="0">
                          <a:solidFill>
                            <a:srgbClr val="1D2433"/>
                          </a:solidFill>
                          <a:latin typeface="Consolas" pitchFamily="34" charset="0"/>
                          <a:ea typeface="Consolas" pitchFamily="34" charset="-122"/>
                          <a:cs typeface="Consolas" pitchFamily="34" charset="-120"/>
                        </a:rPr>
                        <a:t>finalize()</a:t>
                      </a:r>
                      <a:endParaRPr lang="en-IE"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algn="l" indent="0" marL="0">
                        <a:buNone/>
                      </a:pPr>
                      <a:r>
                        <a:rPr lang="en-IE" sz="1500" dirty="0">
                          <a:solidFill>
                            <a:srgbClr val="1D2433"/>
                          </a:solidFill>
                        </a:rPr>
                        <a:t>Old clean-up method, now deprecated</a:t>
                      </a:r>
                      <a:endParaRPr lang="en-IE"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8001000" y="1737360"/>
            <a:ext cx="3657600" cy="365760"/>
          </a:xfrm>
          <a:prstGeom prst="rect">
            <a:avLst/>
          </a:prstGeom>
          <a:noFill/>
          <a:ln/>
        </p:spPr>
        <p:txBody>
          <a:bodyPr wrap="square" lIns="0" tIns="0" rIns="0" bIns="0" rtlCol="0" anchor="t"/>
          <a:lstStyle/>
          <a:p>
            <a:pPr indent="0" marL="0">
              <a:buNone/>
            </a:pPr>
            <a:r>
              <a:rPr lang="en-IE" sz="1700" b="1" dirty="0">
                <a:solidFill>
                  <a:schemeClr val="tx1"/>
                </a:solidFill>
              </a:rPr>
              <a:t>Today: three of them up close</a:t>
            </a:r>
            <a:endParaRPr lang="en-IE" sz="1700" dirty="0"/>
          </a:p>
        </p:txBody>
      </p:sp>
      <p:sp>
        <p:nvSpPr>
          <p:cNvPr id="7" name="equals()"/>
          <p:cNvSpPr/>
          <p:nvPr/>
        </p:nvSpPr>
        <p:spPr>
          <a:xfrm>
            <a:off x="8001000" y="2286000"/>
            <a:ext cx="3642055" cy="1005840"/>
          </a:xfrm>
          <a:prstGeom prst="roundRect">
            <a:avLst>
              <a:gd name="adj" fmla="val 10909"/>
            </a:avLst>
          </a:prstGeom>
          <a:solidFill>
            <a:schemeClr val="bg1"/>
          </a:solidFill>
          <a:ln/>
          <a:effectLst>
            <a:outerShdw sx="100000" sy="100000" kx="0" ky="0" algn="bl" rotWithShape="0" blurRad="114300" dist="31750" dir="5400000">
              <a:srgbClr val="1D2433">
                <a:alpha val="12000"/>
              </a:srgbClr>
            </a:outerShdw>
          </a:effectLst>
        </p:spPr>
      </p:sp>
      <p:sp>
        <p:nvSpPr>
          <p:cNvPr id="8" name="Icon tile"/>
          <p:cNvSpPr/>
          <p:nvPr/>
        </p:nvSpPr>
        <p:spPr>
          <a:xfrm>
            <a:off x="8211312" y="2487168"/>
            <a:ext cx="603504" cy="603504"/>
          </a:xfrm>
          <a:prstGeom prst="roundRect">
            <a:avLst>
              <a:gd name="adj" fmla="val 24000"/>
            </a:avLst>
          </a:prstGeom>
          <a:solidFill>
            <a:schemeClr val="accent2">
              <a:alpha val="14000"/>
            </a:schemeClr>
          </a:solidFill>
          <a:ln/>
        </p:spPr>
      </p:sp>
      <p:pic>
        <p:nvPicPr>
          <p:cNvPr id="9" name="equals icon" descr="equals icon">    </p:cNvPr>
          <p:cNvPicPr>
            <a:picLocks noChangeAspect="1"/>
          </p:cNvPicPr>
          <p:nvPr/>
        </p:nvPicPr>
        <p:blipFill>
          <a:blip r:embed="rId1"/>
          <a:stretch>
            <a:fillRect/>
          </a:stretch>
        </p:blipFill>
        <p:spPr>
          <a:xfrm>
            <a:off x="8338048" y="2613904"/>
            <a:ext cx="350032" cy="350032"/>
          </a:xfrm>
          <a:prstGeom prst="rect">
            <a:avLst/>
          </a:prstGeom>
        </p:spPr>
      </p:pic>
      <p:sp>
        <p:nvSpPr>
          <p:cNvPr id="10" name="Text 5"/>
          <p:cNvSpPr txBox="1"/>
          <p:nvPr/>
        </p:nvSpPr>
        <p:spPr>
          <a:xfrm>
            <a:off x="9006840" y="2414016"/>
            <a:ext cx="2560320" cy="384048"/>
          </a:xfrm>
          <a:prstGeom prst="rect">
            <a:avLst/>
          </a:prstGeom>
          <a:noFill/>
          <a:ln/>
        </p:spPr>
        <p:txBody>
          <a:bodyPr wrap="square" lIns="0" tIns="0" rIns="0" bIns="0" rtlCol="0" anchor="t"/>
          <a:lstStyle/>
          <a:p>
            <a:pPr indent="0" marL="0">
              <a:buNone/>
            </a:pPr>
            <a:r>
              <a:rPr lang="en-IE" sz="1800" b="1" dirty="0">
                <a:solidFill>
                  <a:schemeClr val="tx1"/>
                </a:solidFill>
                <a:latin typeface="Consolas" pitchFamily="34" charset="0"/>
                <a:ea typeface="Consolas" pitchFamily="34" charset="-122"/>
                <a:cs typeface="Consolas" pitchFamily="34" charset="-120"/>
              </a:rPr>
              <a:t>equals()</a:t>
            </a:r>
            <a:endParaRPr lang="en-IE" sz="1800" dirty="0"/>
          </a:p>
        </p:txBody>
      </p:sp>
      <p:sp>
        <p:nvSpPr>
          <p:cNvPr id="11" name="Text 6"/>
          <p:cNvSpPr txBox="1"/>
          <p:nvPr/>
        </p:nvSpPr>
        <p:spPr>
          <a:xfrm>
            <a:off x="9006840" y="2798064"/>
            <a:ext cx="2560320" cy="347472"/>
          </a:xfrm>
          <a:prstGeom prst="rect">
            <a:avLst/>
          </a:prstGeom>
          <a:noFill/>
          <a:ln/>
        </p:spPr>
        <p:txBody>
          <a:bodyPr wrap="square" lIns="0" tIns="0" rIns="0" bIns="0" rtlCol="0" anchor="t"/>
          <a:lstStyle/>
          <a:p>
            <a:pPr indent="0" marL="0">
              <a:buNone/>
            </a:pPr>
            <a:r>
              <a:rPr lang="en-IE" sz="1450" dirty="0">
                <a:solidFill>
                  <a:schemeClr val="tx2"/>
                </a:solidFill>
              </a:rPr>
              <a:t>Is it the same content?</a:t>
            </a:r>
            <a:endParaRPr lang="en-IE" sz="1450" dirty="0"/>
          </a:p>
        </p:txBody>
      </p:sp>
      <p:sp>
        <p:nvSpPr>
          <p:cNvPr id="12" name="hashCode()"/>
          <p:cNvSpPr/>
          <p:nvPr/>
        </p:nvSpPr>
        <p:spPr>
          <a:xfrm>
            <a:off x="8001000" y="3456432"/>
            <a:ext cx="3642055" cy="1005840"/>
          </a:xfrm>
          <a:prstGeom prst="roundRect">
            <a:avLst>
              <a:gd name="adj" fmla="val 10909"/>
            </a:avLst>
          </a:prstGeom>
          <a:solidFill>
            <a:schemeClr val="bg1"/>
          </a:solidFill>
          <a:ln/>
          <a:effectLst>
            <a:outerShdw sx="100000" sy="100000" kx="0" ky="0" algn="bl" rotWithShape="0" blurRad="114300" dist="31750" dir="5400000">
              <a:srgbClr val="1D2433">
                <a:alpha val="12000"/>
              </a:srgbClr>
            </a:outerShdw>
          </a:effectLst>
        </p:spPr>
      </p:sp>
      <p:sp>
        <p:nvSpPr>
          <p:cNvPr id="13" name="Icon tile"/>
          <p:cNvSpPr/>
          <p:nvPr/>
        </p:nvSpPr>
        <p:spPr>
          <a:xfrm>
            <a:off x="8211312" y="3657600"/>
            <a:ext cx="603504" cy="603504"/>
          </a:xfrm>
          <a:prstGeom prst="roundRect">
            <a:avLst>
              <a:gd name="adj" fmla="val 24000"/>
            </a:avLst>
          </a:prstGeom>
          <a:solidFill>
            <a:schemeClr val="accent5">
              <a:alpha val="14000"/>
            </a:schemeClr>
          </a:solidFill>
          <a:ln/>
        </p:spPr>
      </p:sp>
      <p:pic>
        <p:nvPicPr>
          <p:cNvPr id="14" name="hash icon" descr="hash icon">    </p:cNvPr>
          <p:cNvPicPr>
            <a:picLocks noChangeAspect="1"/>
          </p:cNvPicPr>
          <p:nvPr/>
        </p:nvPicPr>
        <p:blipFill>
          <a:blip r:embed="rId2"/>
          <a:stretch>
            <a:fillRect/>
          </a:stretch>
        </p:blipFill>
        <p:spPr>
          <a:xfrm>
            <a:off x="8338048" y="3784336"/>
            <a:ext cx="350032" cy="350032"/>
          </a:xfrm>
          <a:prstGeom prst="rect">
            <a:avLst/>
          </a:prstGeom>
        </p:spPr>
      </p:pic>
      <p:sp>
        <p:nvSpPr>
          <p:cNvPr id="15" name="Text 9"/>
          <p:cNvSpPr txBox="1"/>
          <p:nvPr/>
        </p:nvSpPr>
        <p:spPr>
          <a:xfrm>
            <a:off x="9006840" y="3584448"/>
            <a:ext cx="2560320" cy="384048"/>
          </a:xfrm>
          <a:prstGeom prst="rect">
            <a:avLst/>
          </a:prstGeom>
          <a:noFill/>
          <a:ln/>
        </p:spPr>
        <p:txBody>
          <a:bodyPr wrap="square" lIns="0" tIns="0" rIns="0" bIns="0" rtlCol="0" anchor="t"/>
          <a:lstStyle/>
          <a:p>
            <a:pPr indent="0" marL="0">
              <a:buNone/>
            </a:pPr>
            <a:r>
              <a:rPr lang="en-IE" sz="1800" b="1" dirty="0">
                <a:solidFill>
                  <a:schemeClr val="tx1"/>
                </a:solidFill>
                <a:latin typeface="Consolas" pitchFamily="34" charset="0"/>
                <a:ea typeface="Consolas" pitchFamily="34" charset="-122"/>
                <a:cs typeface="Consolas" pitchFamily="34" charset="-120"/>
              </a:rPr>
              <a:t>hashCode()</a:t>
            </a:r>
            <a:endParaRPr lang="en-IE" sz="1800" dirty="0"/>
          </a:p>
        </p:txBody>
      </p:sp>
      <p:sp>
        <p:nvSpPr>
          <p:cNvPr id="16" name="Text 10"/>
          <p:cNvSpPr txBox="1"/>
          <p:nvPr/>
        </p:nvSpPr>
        <p:spPr>
          <a:xfrm>
            <a:off x="9006840" y="3968496"/>
            <a:ext cx="2560320" cy="347472"/>
          </a:xfrm>
          <a:prstGeom prst="rect">
            <a:avLst/>
          </a:prstGeom>
          <a:noFill/>
          <a:ln/>
        </p:spPr>
        <p:txBody>
          <a:bodyPr wrap="square" lIns="0" tIns="0" rIns="0" bIns="0" rtlCol="0" anchor="t"/>
          <a:lstStyle/>
          <a:p>
            <a:pPr indent="0" marL="0">
              <a:buNone/>
            </a:pPr>
            <a:r>
              <a:rPr lang="en-IE" sz="1450" dirty="0">
                <a:solidFill>
                  <a:schemeClr val="tx2"/>
                </a:solidFill>
              </a:rPr>
              <a:t>A number for each object</a:t>
            </a:r>
            <a:endParaRPr lang="en-IE" sz="1450" dirty="0"/>
          </a:p>
        </p:txBody>
      </p:sp>
      <p:sp>
        <p:nvSpPr>
          <p:cNvPr id="17" name="clone()"/>
          <p:cNvSpPr/>
          <p:nvPr/>
        </p:nvSpPr>
        <p:spPr>
          <a:xfrm>
            <a:off x="8001000" y="4626864"/>
            <a:ext cx="3642055" cy="1005840"/>
          </a:xfrm>
          <a:prstGeom prst="roundRect">
            <a:avLst>
              <a:gd name="adj" fmla="val 10909"/>
            </a:avLst>
          </a:prstGeom>
          <a:solidFill>
            <a:schemeClr val="bg1"/>
          </a:solidFill>
          <a:ln/>
          <a:effectLst>
            <a:outerShdw sx="100000" sy="100000" kx="0" ky="0" algn="bl" rotWithShape="0" blurRad="114300" dist="31750" dir="5400000">
              <a:srgbClr val="1D2433">
                <a:alpha val="12000"/>
              </a:srgbClr>
            </a:outerShdw>
          </a:effectLst>
        </p:spPr>
      </p:sp>
      <p:sp>
        <p:nvSpPr>
          <p:cNvPr id="18" name="Icon tile"/>
          <p:cNvSpPr/>
          <p:nvPr/>
        </p:nvSpPr>
        <p:spPr>
          <a:xfrm>
            <a:off x="8211312" y="4828032"/>
            <a:ext cx="603504" cy="603504"/>
          </a:xfrm>
          <a:prstGeom prst="roundRect">
            <a:avLst>
              <a:gd name="adj" fmla="val 24000"/>
            </a:avLst>
          </a:prstGeom>
          <a:solidFill>
            <a:schemeClr val="accent3">
              <a:alpha val="14000"/>
            </a:schemeClr>
          </a:solidFill>
          <a:ln/>
        </p:spPr>
      </p:sp>
      <p:pic>
        <p:nvPicPr>
          <p:cNvPr id="19" name="copy icon" descr="copy icon">    </p:cNvPr>
          <p:cNvPicPr>
            <a:picLocks noChangeAspect="1"/>
          </p:cNvPicPr>
          <p:nvPr/>
        </p:nvPicPr>
        <p:blipFill>
          <a:blip r:embed="rId3"/>
          <a:stretch>
            <a:fillRect/>
          </a:stretch>
        </p:blipFill>
        <p:spPr>
          <a:xfrm>
            <a:off x="8338048" y="4954768"/>
            <a:ext cx="350032" cy="350032"/>
          </a:xfrm>
          <a:prstGeom prst="rect">
            <a:avLst/>
          </a:prstGeom>
        </p:spPr>
      </p:pic>
      <p:sp>
        <p:nvSpPr>
          <p:cNvPr id="20" name="Text 13"/>
          <p:cNvSpPr txBox="1"/>
          <p:nvPr/>
        </p:nvSpPr>
        <p:spPr>
          <a:xfrm>
            <a:off x="9006840" y="4754880"/>
            <a:ext cx="2560320" cy="384048"/>
          </a:xfrm>
          <a:prstGeom prst="rect">
            <a:avLst/>
          </a:prstGeom>
          <a:noFill/>
          <a:ln/>
        </p:spPr>
        <p:txBody>
          <a:bodyPr wrap="square" lIns="0" tIns="0" rIns="0" bIns="0" rtlCol="0" anchor="t"/>
          <a:lstStyle/>
          <a:p>
            <a:pPr indent="0" marL="0">
              <a:buNone/>
            </a:pPr>
            <a:r>
              <a:rPr lang="en-IE" sz="1800" b="1" dirty="0">
                <a:solidFill>
                  <a:schemeClr val="tx1"/>
                </a:solidFill>
                <a:latin typeface="Consolas" pitchFamily="34" charset="0"/>
                <a:ea typeface="Consolas" pitchFamily="34" charset="-122"/>
                <a:cs typeface="Consolas" pitchFamily="34" charset="-120"/>
              </a:rPr>
              <a:t>clone()</a:t>
            </a:r>
            <a:endParaRPr lang="en-IE" sz="1800" dirty="0"/>
          </a:p>
        </p:txBody>
      </p:sp>
      <p:sp>
        <p:nvSpPr>
          <p:cNvPr id="21" name="Text 14"/>
          <p:cNvSpPr txBox="1"/>
          <p:nvPr/>
        </p:nvSpPr>
        <p:spPr>
          <a:xfrm>
            <a:off x="9006840" y="5138928"/>
            <a:ext cx="2560320" cy="347472"/>
          </a:xfrm>
          <a:prstGeom prst="rect">
            <a:avLst/>
          </a:prstGeom>
          <a:noFill/>
          <a:ln/>
        </p:spPr>
        <p:txBody>
          <a:bodyPr wrap="square" lIns="0" tIns="0" rIns="0" bIns="0" rtlCol="0" anchor="t"/>
          <a:lstStyle/>
          <a:p>
            <a:pPr indent="0" marL="0">
              <a:buNone/>
            </a:pPr>
            <a:r>
              <a:rPr lang="en-IE" sz="1450" dirty="0">
                <a:solidFill>
                  <a:schemeClr val="tx2"/>
                </a:solidFill>
              </a:rPr>
              <a:t>A real copy of an object</a:t>
            </a:r>
            <a:endParaRPr lang="en-IE" sz="14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a:t>
            </a:fld>
            <a:endParaRPr lang="en-I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Object methods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Object method is meant to check whether two objects hold the same content?</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hashCode()</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toString()</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equals()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getClass()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a:t>
            </a:fld>
            <a:endParaRPr lang="en-I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Object methods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Object method is meant to check whether two objects hold the same content?</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hashCode()</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toString()</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equals()</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getClass()</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equals()</a:t>
            </a:r>
            <a:r>
              <a:rPr lang="en-IE" sz="1800" dirty="0">
                <a:solidFill>
                  <a:schemeClr val="tx1"/>
                </a:solidFill>
              </a:rPr>
              <a:t> compares one object with another and returns true or false. </a:t>
            </a:r>
            <a:r>
              <a:rPr lang="en-IE" sz="1800" dirty="0">
                <a:solidFill>
                  <a:schemeClr val="accent2"/>
                </a:solidFill>
                <a:latin typeface="Consolas" pitchFamily="34" charset="0"/>
                <a:ea typeface="Consolas" pitchFamily="34" charset="-122"/>
                <a:cs typeface="Consolas" pitchFamily="34" charset="-120"/>
              </a:rPr>
              <a:t>hashCode()</a:t>
            </a:r>
            <a:r>
              <a:rPr lang="en-IE" sz="1800" dirty="0">
                <a:solidFill>
                  <a:schemeClr val="tx1"/>
                </a:solidFill>
              </a:rPr>
              <a:t> gives a number for the object, </a:t>
            </a:r>
            <a:r>
              <a:rPr lang="en-IE" sz="1800" dirty="0">
                <a:solidFill>
                  <a:schemeClr val="accent2"/>
                </a:solidFill>
                <a:latin typeface="Consolas" pitchFamily="34" charset="0"/>
                <a:ea typeface="Consolas" pitchFamily="34" charset="-122"/>
                <a:cs typeface="Consolas" pitchFamily="34" charset="-120"/>
              </a:rPr>
              <a:t>toString()</a:t>
            </a:r>
            <a:r>
              <a:rPr lang="en-IE" sz="1800" dirty="0">
                <a:solidFill>
                  <a:schemeClr val="tx1"/>
                </a:solidFill>
              </a:rPr>
              <a:t> describes it as text, and </a:t>
            </a:r>
            <a:r>
              <a:rPr lang="en-IE" sz="1800" dirty="0">
                <a:solidFill>
                  <a:schemeClr val="accent2"/>
                </a:solidFill>
                <a:latin typeface="Consolas" pitchFamily="34" charset="0"/>
                <a:ea typeface="Consolas" pitchFamily="34" charset="-122"/>
                <a:cs typeface="Consolas" pitchFamily="34" charset="-120"/>
              </a:rPr>
              <a:t>getClass()</a:t>
            </a:r>
            <a:r>
              <a:rPr lang="en-IE" sz="1800" dirty="0">
                <a:solidFill>
                  <a:schemeClr val="tx1"/>
                </a:solidFill>
              </a:rPr>
              <a:t> tells us which class it belongs to.</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a:t>
            </a:fld>
            <a:endParaRPr lang="en-I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EQUALS AND ==</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equals() compares content, == compares references</a:t>
            </a:r>
            <a:endParaRPr lang="en-IE" sz="3400" dirty="0"/>
          </a:p>
        </p:txBody>
      </p:sp>
      <p:sp>
        <p:nvSpPr>
          <p:cNvPr id="5" name="Text 2"/>
          <p:cNvSpPr txBox="1"/>
          <p:nvPr/>
        </p:nvSpPr>
        <p:spPr>
          <a:xfrm>
            <a:off x="548640" y="1783080"/>
            <a:ext cx="5029200" cy="242316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accent2"/>
                </a:solidFill>
                <a:latin typeface="Consolas" pitchFamily="34" charset="0"/>
                <a:ea typeface="Consolas" pitchFamily="34" charset="-122"/>
                <a:cs typeface="Consolas" pitchFamily="34" charset="-120"/>
              </a:rPr>
              <a:t>==</a:t>
            </a:r>
            <a:r>
              <a:rPr lang="en-IE" sz="1800" dirty="0">
                <a:solidFill>
                  <a:schemeClr val="tx1"/>
                </a:solidFill>
              </a:rPr>
              <a:t> checks whether two variables refer to the same object.</a:t>
            </a:r>
            <a:endParaRPr lang="en-IE" sz="1800" dirty="0"/>
          </a:p>
          <a:p>
            <a:pPr marL="228600" indent="-228600">
              <a:spcAft>
                <a:spcPts val="1200"/>
              </a:spcAft>
              <a:buSzPct val="100000"/>
              <a:buChar char="•"/>
            </a:pPr>
            <a:r>
              <a:rPr lang="en-IE" sz="1800" dirty="0">
                <a:solidFill>
                  <a:schemeClr val="accent2"/>
                </a:solidFill>
                <a:latin typeface="Consolas" pitchFamily="34" charset="0"/>
                <a:ea typeface="Consolas" pitchFamily="34" charset="-122"/>
                <a:cs typeface="Consolas" pitchFamily="34" charset="-120"/>
              </a:rPr>
              <a:t>equals()</a:t>
            </a:r>
            <a:r>
              <a:rPr lang="en-IE" sz="1800" dirty="0">
                <a:solidFill>
                  <a:schemeClr val="tx1"/>
                </a:solidFill>
              </a:rPr>
              <a:t> checks whether two objects hold the same content, and returns true or false.</a:t>
            </a:r>
            <a:endParaRPr lang="en-IE" sz="1800" dirty="0"/>
          </a:p>
          <a:p>
            <a:pPr marL="228600" indent="-228600">
              <a:buSzPct val="100000"/>
              <a:buChar char="•"/>
            </a:pPr>
            <a:r>
              <a:rPr lang="en-IE" sz="1800" dirty="0">
                <a:solidFill>
                  <a:schemeClr val="tx1"/>
                </a:solidFill>
              </a:rPr>
              <a:t>A String is an object, so we compare Strings with </a:t>
            </a:r>
            <a:r>
              <a:rPr lang="en-IE" sz="1800" dirty="0">
                <a:solidFill>
                  <a:schemeClr val="accent2"/>
                </a:solidFill>
                <a:latin typeface="Consolas" pitchFamily="34" charset="0"/>
                <a:ea typeface="Consolas" pitchFamily="34" charset="-122"/>
                <a:cs typeface="Consolas" pitchFamily="34" charset="-120"/>
              </a:rPr>
              <a:t>equals()</a:t>
            </a:r>
            <a:r>
              <a:rPr lang="en-IE" sz="1800" dirty="0">
                <a:solidFill>
                  <a:schemeClr val="tx1"/>
                </a:solidFill>
              </a:rPr>
              <a:t>, not </a:t>
            </a:r>
            <a:r>
              <a:rPr lang="en-IE" sz="1800" dirty="0">
                <a:solidFill>
                  <a:schemeClr val="accent2"/>
                </a:solidFill>
                <a:latin typeface="Consolas" pitchFamily="34" charset="0"/>
                <a:ea typeface="Consolas" pitchFamily="34" charset="-122"/>
                <a:cs typeface="Consolas" pitchFamily="34" charset="-120"/>
              </a:rPr>
              <a:t>==</a:t>
            </a:r>
            <a:r>
              <a:rPr lang="en-IE" sz="1800" dirty="0">
                <a:solidFill>
                  <a:schemeClr val="tx1"/>
                </a:solidFill>
              </a:rPr>
              <a:t>.</a:t>
            </a:r>
            <a:endParaRPr lang="en-IE" sz="1800" dirty="0"/>
          </a:p>
        </p:txBody>
      </p:sp>
      <p:sp>
        <p:nvSpPr>
          <p:cNvPr id="6" name="equals and == card"/>
          <p:cNvSpPr/>
          <p:nvPr/>
        </p:nvSpPr>
        <p:spPr>
          <a:xfrm>
            <a:off x="548640" y="4297680"/>
            <a:ext cx="5029200" cy="1924558"/>
          </a:xfrm>
          <a:prstGeom prst="roundRect">
            <a:avLst>
              <a:gd name="adj" fmla="val 5701"/>
            </a:avLst>
          </a:prstGeom>
          <a:solidFill>
            <a:schemeClr val="tx1"/>
          </a:solidFill>
          <a:ln/>
          <a:effectLst>
            <a:outerShdw sx="100000" sy="100000" kx="0" ky="0" algn="bl" rotWithShape="0" blurRad="114300" dist="31750" dir="5400000">
              <a:srgbClr val="1D2433">
                <a:alpha val="12000"/>
              </a:srgbClr>
            </a:outerShdw>
          </a:effectLst>
        </p:spPr>
      </p:sp>
      <p:sp>
        <p:nvSpPr>
          <p:cNvPr id="7" name="equals and == language"/>
          <p:cNvSpPr txBox="1"/>
          <p:nvPr/>
        </p:nvSpPr>
        <p:spPr>
          <a:xfrm>
            <a:off x="822960" y="4416552"/>
            <a:ext cx="448056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equals and == text"/>
          <p:cNvSpPr txBox="1"/>
          <p:nvPr/>
        </p:nvSpPr>
        <p:spPr>
          <a:xfrm>
            <a:off x="822960" y="4791456"/>
            <a:ext cx="4480560" cy="1229614"/>
          </a:xfrm>
          <a:prstGeom prst="rect">
            <a:avLst/>
          </a:prstGeom>
          <a:noFill/>
          <a:ln/>
        </p:spPr>
        <p:txBody>
          <a:bodyPr wrap="square" lIns="0" tIns="0" rIns="0" bIns="0" rtlCol="0" anchor="t"/>
          <a:lstStyle/>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 first = </a:t>
            </a: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A9DB8C"/>
                </a:solidFill>
                <a:latin typeface="Consolas" pitchFamily="34" charset="0"/>
                <a:ea typeface="Consolas" pitchFamily="34" charset="-122"/>
                <a:cs typeface="Consolas" pitchFamily="34" charset="-120"/>
              </a:rPr>
              <a:t>"hello"</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 second = </a:t>
            </a: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A9DB8C"/>
                </a:solidFill>
                <a:latin typeface="Consolas" pitchFamily="34" charset="0"/>
                <a:ea typeface="Consolas" pitchFamily="34" charset="-122"/>
                <a:cs typeface="Consolas" pitchFamily="34" charset="-120"/>
              </a:rPr>
              <a:t>"hello"</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first == second        </a:t>
            </a:r>
            <a:r>
              <a:rPr lang="en-IE" sz="1400" i="1" dirty="0">
                <a:solidFill>
                  <a:srgbClr val="A3AEC2"/>
                </a:solidFill>
                <a:latin typeface="Consolas" pitchFamily="34" charset="0"/>
                <a:ea typeface="Consolas" pitchFamily="34" charset="-122"/>
                <a:cs typeface="Consolas" pitchFamily="34" charset="-120"/>
              </a:rPr>
              <a:t>// false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first.</a:t>
            </a:r>
            <a:r>
              <a:rPr lang="en-IE" sz="1400" dirty="0">
                <a:solidFill>
                  <a:srgbClr val="C9B0FF"/>
                </a:solidFill>
                <a:latin typeface="Consolas" pitchFamily="34" charset="0"/>
                <a:ea typeface="Consolas" pitchFamily="34" charset="-122"/>
                <a:cs typeface="Consolas" pitchFamily="34" charset="-120"/>
              </a:rPr>
              <a:t>equals</a:t>
            </a:r>
            <a:r>
              <a:rPr lang="en-IE" sz="1400" dirty="0">
                <a:solidFill>
                  <a:srgbClr val="E6EBF2"/>
                </a:solidFill>
                <a:latin typeface="Consolas" pitchFamily="34" charset="0"/>
                <a:ea typeface="Consolas" pitchFamily="34" charset="-122"/>
                <a:cs typeface="Consolas" pitchFamily="34" charset="-120"/>
              </a:rPr>
              <a:t>(second)   </a:t>
            </a:r>
            <a:r>
              <a:rPr lang="en-IE" sz="1400" i="1" dirty="0">
                <a:solidFill>
                  <a:srgbClr val="A3AEC2"/>
                </a:solidFill>
                <a:latin typeface="Consolas" pitchFamily="34" charset="0"/>
                <a:ea typeface="Consolas" pitchFamily="34" charset="-122"/>
                <a:cs typeface="Consolas" pitchFamily="34" charset="-120"/>
              </a:rPr>
              <a:t>// true</a:t>
            </a:r>
            <a:endParaRPr lang="en-IE" sz="1400" dirty="0"/>
          </a:p>
        </p:txBody>
      </p:sp>
      <p:sp>
        <p:nvSpPr>
          <p:cNvPr id="9" name="Variable first"/>
          <p:cNvSpPr/>
          <p:nvPr/>
        </p:nvSpPr>
        <p:spPr>
          <a:xfrm>
            <a:off x="6126480" y="2011680"/>
            <a:ext cx="1737360" cy="512064"/>
          </a:xfrm>
          <a:prstGeom prst="roundRect">
            <a:avLst>
              <a:gd name="adj" fmla="val 17857"/>
            </a:avLst>
          </a:prstGeom>
          <a:solidFill>
            <a:schemeClr val="bg1"/>
          </a:solidFill>
          <a:ln w="19050">
            <a:solidFill>
              <a:schemeClr val="accent2"/>
            </a:solidFill>
          </a:ln>
        </p:spPr>
        <p:txBody>
          <a:bodyPr wrap="square" lIns="0" tIns="0" rIns="0" bIns="0" rtlCol="0" anchor="ctr"/>
          <a:lstStyle/>
          <a:p>
            <a:pPr algn="ctr" indent="0" marL="0">
              <a:buNone/>
            </a:pPr>
            <a:r>
              <a:rPr lang="en-IE" sz="1500" b="1" dirty="0">
                <a:solidFill>
                  <a:schemeClr val="accent2"/>
                </a:solidFill>
                <a:latin typeface="Consolas" pitchFamily="34" charset="0"/>
                <a:ea typeface="Consolas" pitchFamily="34" charset="-122"/>
                <a:cs typeface="Consolas" pitchFamily="34" charset="-120"/>
              </a:rPr>
              <a:t>first</a:t>
            </a:r>
            <a:endParaRPr lang="en-IE" sz="1500" dirty="0"/>
          </a:p>
        </p:txBody>
      </p:sp>
      <p:sp>
        <p:nvSpPr>
          <p:cNvPr id="10" name="Variable second"/>
          <p:cNvSpPr/>
          <p:nvPr/>
        </p:nvSpPr>
        <p:spPr>
          <a:xfrm>
            <a:off x="6126480" y="3246120"/>
            <a:ext cx="1737360" cy="512064"/>
          </a:xfrm>
          <a:prstGeom prst="roundRect">
            <a:avLst>
              <a:gd name="adj" fmla="val 17857"/>
            </a:avLst>
          </a:prstGeom>
          <a:solidFill>
            <a:schemeClr val="bg1"/>
          </a:solidFill>
          <a:ln w="19050">
            <a:solidFill>
              <a:schemeClr val="accent2"/>
            </a:solidFill>
          </a:ln>
        </p:spPr>
        <p:txBody>
          <a:bodyPr wrap="square" lIns="0" tIns="0" rIns="0" bIns="0" rtlCol="0" anchor="ctr"/>
          <a:lstStyle/>
          <a:p>
            <a:pPr algn="ctr" indent="0" marL="0">
              <a:buNone/>
            </a:pPr>
            <a:r>
              <a:rPr lang="en-IE" sz="1500" b="1" dirty="0">
                <a:solidFill>
                  <a:schemeClr val="accent2"/>
                </a:solidFill>
                <a:latin typeface="Consolas" pitchFamily="34" charset="0"/>
                <a:ea typeface="Consolas" pitchFamily="34" charset="-122"/>
                <a:cs typeface="Consolas" pitchFamily="34" charset="-120"/>
              </a:rPr>
              <a:t>second</a:t>
            </a:r>
            <a:endParaRPr lang="en-IE" sz="1500" dirty="0"/>
          </a:p>
        </p:txBody>
      </p:sp>
      <p:sp>
        <p:nvSpPr>
          <p:cNvPr id="11" name="Box &quot;hello&quot;"/>
          <p:cNvSpPr/>
          <p:nvPr/>
        </p:nvSpPr>
        <p:spPr>
          <a:xfrm>
            <a:off x="8823960" y="1901952"/>
            <a:ext cx="2816352" cy="731520"/>
          </a:xfrm>
          <a:prstGeom prst="roundRect">
            <a:avLst>
              <a:gd name="adj" fmla="val 10000"/>
            </a:avLst>
          </a:prstGeom>
          <a:solidFill>
            <a:schemeClr val="accent4">
              <a:alpha val="14000"/>
            </a:schemeClr>
          </a:solidFill>
          <a:ln w="19050">
            <a:solidFill>
              <a:schemeClr val="accent4"/>
            </a:solidFill>
            <a:prstDash val="solid"/>
          </a:ln>
        </p:spPr>
      </p:sp>
      <p:sp>
        <p:nvSpPr>
          <p:cNvPr id="12" name="Text 9"/>
          <p:cNvSpPr txBox="1"/>
          <p:nvPr/>
        </p:nvSpPr>
        <p:spPr>
          <a:xfrm>
            <a:off x="8823960" y="1901952"/>
            <a:ext cx="2816352" cy="731520"/>
          </a:xfrm>
          <a:prstGeom prst="rect">
            <a:avLst/>
          </a:prstGeom>
          <a:noFill/>
          <a:ln/>
        </p:spPr>
        <p:txBody>
          <a:bodyPr wrap="square" lIns="0" tIns="0" rIns="0" bIns="0" rtlCol="0" anchor="ctr"/>
          <a:lstStyle/>
          <a:p>
            <a:pPr algn="ctr" indent="0" marL="0">
              <a:buNone/>
            </a:pPr>
            <a:r>
              <a:rPr lang="en-IE" sz="1800" b="1" dirty="0">
                <a:solidFill>
                  <a:schemeClr val="tx1"/>
                </a:solidFill>
                <a:latin typeface="Consolas" pitchFamily="34" charset="0"/>
                <a:ea typeface="Consolas" pitchFamily="34" charset="-122"/>
                <a:cs typeface="Consolas" pitchFamily="34" charset="-120"/>
              </a:rPr>
              <a:t>"hello"</a:t>
            </a:r>
            <a:endParaRPr lang="en-IE" sz="1800" dirty="0"/>
          </a:p>
        </p:txBody>
      </p:sp>
      <p:sp>
        <p:nvSpPr>
          <p:cNvPr id="13" name="Box &quot;hello&quot;"/>
          <p:cNvSpPr/>
          <p:nvPr/>
        </p:nvSpPr>
        <p:spPr>
          <a:xfrm>
            <a:off x="8823960" y="3136392"/>
            <a:ext cx="2816352" cy="731520"/>
          </a:xfrm>
          <a:prstGeom prst="roundRect">
            <a:avLst>
              <a:gd name="adj" fmla="val 10000"/>
            </a:avLst>
          </a:prstGeom>
          <a:solidFill>
            <a:schemeClr val="accent4">
              <a:alpha val="14000"/>
            </a:schemeClr>
          </a:solidFill>
          <a:ln w="19050">
            <a:solidFill>
              <a:schemeClr val="accent4"/>
            </a:solidFill>
            <a:prstDash val="solid"/>
          </a:ln>
        </p:spPr>
      </p:sp>
      <p:sp>
        <p:nvSpPr>
          <p:cNvPr id="14" name="Text 11"/>
          <p:cNvSpPr txBox="1"/>
          <p:nvPr/>
        </p:nvSpPr>
        <p:spPr>
          <a:xfrm>
            <a:off x="8823960" y="3136392"/>
            <a:ext cx="2816352" cy="731520"/>
          </a:xfrm>
          <a:prstGeom prst="rect">
            <a:avLst/>
          </a:prstGeom>
          <a:noFill/>
          <a:ln/>
        </p:spPr>
        <p:txBody>
          <a:bodyPr wrap="square" lIns="0" tIns="0" rIns="0" bIns="0" rtlCol="0" anchor="ctr"/>
          <a:lstStyle/>
          <a:p>
            <a:pPr algn="ctr" indent="0" marL="0">
              <a:buNone/>
            </a:pPr>
            <a:r>
              <a:rPr lang="en-IE" sz="1800" b="1" dirty="0">
                <a:solidFill>
                  <a:schemeClr val="tx1"/>
                </a:solidFill>
                <a:latin typeface="Consolas" pitchFamily="34" charset="0"/>
                <a:ea typeface="Consolas" pitchFamily="34" charset="-122"/>
                <a:cs typeface="Consolas" pitchFamily="34" charset="-120"/>
              </a:rPr>
              <a:t>"hello"</a:t>
            </a:r>
            <a:endParaRPr lang="en-IE" sz="1800" dirty="0"/>
          </a:p>
        </p:txBody>
      </p:sp>
      <p:sp>
        <p:nvSpPr>
          <p:cNvPr id="15" name="Connector"/>
          <p:cNvSpPr/>
          <p:nvPr/>
        </p:nvSpPr>
        <p:spPr>
          <a:xfrm flipV="1">
            <a:off x="7909560" y="2267712"/>
            <a:ext cx="868680" cy="0"/>
          </a:xfrm>
          <a:prstGeom prst="line">
            <a:avLst/>
          </a:prstGeom>
          <a:noFill/>
          <a:ln w="22225">
            <a:solidFill>
              <a:schemeClr val="accent2"/>
            </a:solidFill>
            <a:prstDash val="solid"/>
            <a:tailEnd type="triangle"/>
          </a:ln>
        </p:spPr>
      </p:sp>
      <p:sp>
        <p:nvSpPr>
          <p:cNvPr id="16" name="Connector"/>
          <p:cNvSpPr/>
          <p:nvPr/>
        </p:nvSpPr>
        <p:spPr>
          <a:xfrm>
            <a:off x="7909560" y="3502152"/>
            <a:ext cx="868680" cy="0"/>
          </a:xfrm>
          <a:prstGeom prst="line">
            <a:avLst/>
          </a:prstGeom>
          <a:noFill/>
          <a:ln w="22225">
            <a:solidFill>
              <a:schemeClr val="accent2"/>
            </a:solidFill>
            <a:prstDash val="solid"/>
            <a:tailEnd type="triangle"/>
          </a:ln>
        </p:spPr>
      </p:sp>
      <p:sp>
        <p:nvSpPr>
          <p:cNvPr id="17" name="Text 14"/>
          <p:cNvSpPr txBox="1"/>
          <p:nvPr/>
        </p:nvSpPr>
        <p:spPr>
          <a:xfrm>
            <a:off x="8823960" y="2670048"/>
            <a:ext cx="2816352" cy="256032"/>
          </a:xfrm>
          <a:prstGeom prst="rect">
            <a:avLst/>
          </a:prstGeom>
          <a:noFill/>
          <a:ln/>
        </p:spPr>
        <p:txBody>
          <a:bodyPr wrap="square" lIns="0" tIns="0" rIns="0" bIns="0" rtlCol="0" anchor="t"/>
          <a:lstStyle/>
          <a:p>
            <a:pPr algn="ctr" indent="0" marL="0">
              <a:buNone/>
            </a:pPr>
            <a:r>
              <a:rPr lang="en-IE" sz="1200" i="1" dirty="0">
                <a:solidFill>
                  <a:schemeClr val="tx2"/>
                </a:solidFill>
              </a:rPr>
              <a:t>object 1</a:t>
            </a:r>
            <a:endParaRPr lang="en-IE" sz="1200" dirty="0"/>
          </a:p>
        </p:txBody>
      </p:sp>
      <p:sp>
        <p:nvSpPr>
          <p:cNvPr id="18" name="Text 15"/>
          <p:cNvSpPr txBox="1"/>
          <p:nvPr/>
        </p:nvSpPr>
        <p:spPr>
          <a:xfrm>
            <a:off x="8823960" y="3904488"/>
            <a:ext cx="2816352" cy="256032"/>
          </a:xfrm>
          <a:prstGeom prst="rect">
            <a:avLst/>
          </a:prstGeom>
          <a:noFill/>
          <a:ln/>
        </p:spPr>
        <p:txBody>
          <a:bodyPr wrap="square" lIns="0" tIns="0" rIns="0" bIns="0" rtlCol="0" anchor="t"/>
          <a:lstStyle/>
          <a:p>
            <a:pPr algn="ctr" indent="0" marL="0">
              <a:buNone/>
            </a:pPr>
            <a:r>
              <a:rPr lang="en-IE" sz="1200" i="1" dirty="0">
                <a:solidFill>
                  <a:schemeClr val="tx2"/>
                </a:solidFill>
              </a:rPr>
              <a:t>object 2</a:t>
            </a:r>
            <a:endParaRPr lang="en-IE" sz="1200" dirty="0"/>
          </a:p>
        </p:txBody>
      </p:sp>
      <p:pic>
        <p:nvPicPr>
          <p:cNvPr id="19" name="Does not work" descr="Does not work">    </p:cNvPr>
          <p:cNvPicPr>
            <a:picLocks noChangeAspect="1"/>
          </p:cNvPicPr>
          <p:nvPr/>
        </p:nvPicPr>
        <p:blipFill>
          <a:blip r:embed="rId1"/>
          <a:stretch>
            <a:fillRect/>
          </a:stretch>
        </p:blipFill>
        <p:spPr>
          <a:xfrm>
            <a:off x="6126480" y="4544568"/>
            <a:ext cx="347472" cy="347472"/>
          </a:xfrm>
          <a:prstGeom prst="rect">
            <a:avLst/>
          </a:prstGeom>
        </p:spPr>
      </p:pic>
      <p:sp>
        <p:nvSpPr>
          <p:cNvPr id="20" name="Text 16"/>
          <p:cNvSpPr txBox="1"/>
          <p:nvPr/>
        </p:nvSpPr>
        <p:spPr>
          <a:xfrm>
            <a:off x="6583680" y="4526280"/>
            <a:ext cx="5029200" cy="384048"/>
          </a:xfrm>
          <a:prstGeom prst="rect">
            <a:avLst/>
          </a:prstGeom>
          <a:noFill/>
          <a:ln/>
        </p:spPr>
        <p:txBody>
          <a:bodyPr wrap="square" lIns="0" tIns="0" rIns="0" bIns="0" rtlCol="0" anchor="ctr"/>
          <a:lstStyle/>
          <a:p>
            <a:pPr indent="0" marL="0">
              <a:buNone/>
            </a:pPr>
            <a:r>
              <a:rPr lang="en-IE" sz="1500" b="1" dirty="0">
                <a:solidFill>
                  <a:srgbClr val="C0392B"/>
                </a:solidFill>
              </a:rPr>
              <a:t>first == second: two different objects</a:t>
            </a:r>
            <a:endParaRPr lang="en-IE" sz="1500" dirty="0"/>
          </a:p>
        </p:txBody>
      </p:sp>
      <p:pic>
        <p:nvPicPr>
          <p:cNvPr id="21" name="Works" descr="Works">    </p:cNvPr>
          <p:cNvPicPr>
            <a:picLocks noChangeAspect="1"/>
          </p:cNvPicPr>
          <p:nvPr/>
        </p:nvPicPr>
        <p:blipFill>
          <a:blip r:embed="rId2"/>
          <a:stretch>
            <a:fillRect/>
          </a:stretch>
        </p:blipFill>
        <p:spPr>
          <a:xfrm>
            <a:off x="6126480" y="5047488"/>
            <a:ext cx="347472" cy="347472"/>
          </a:xfrm>
          <a:prstGeom prst="rect">
            <a:avLst/>
          </a:prstGeom>
        </p:spPr>
      </p:pic>
      <p:sp>
        <p:nvSpPr>
          <p:cNvPr id="22" name="Text 17"/>
          <p:cNvSpPr txBox="1"/>
          <p:nvPr/>
        </p:nvSpPr>
        <p:spPr>
          <a:xfrm>
            <a:off x="6583680" y="5029200"/>
            <a:ext cx="5029200" cy="384048"/>
          </a:xfrm>
          <a:prstGeom prst="rect">
            <a:avLst/>
          </a:prstGeom>
          <a:noFill/>
          <a:ln/>
        </p:spPr>
        <p:txBody>
          <a:bodyPr wrap="square" lIns="0" tIns="0" rIns="0" bIns="0" rtlCol="0" anchor="ctr"/>
          <a:lstStyle/>
          <a:p>
            <a:pPr indent="0" marL="0">
              <a:buNone/>
            </a:pPr>
            <a:r>
              <a:rPr lang="en-IE" sz="1500" b="1" dirty="0">
                <a:solidFill>
                  <a:schemeClr val="accent3"/>
                </a:solidFill>
              </a:rPr>
              <a:t>first.equals(second): the same text</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a:t>
            </a:fld>
            <a:endParaRPr lang="en-I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equals and ==</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The user types Cork. What does this code print?</a:t>
            </a:r>
            <a:endParaRPr lang="en-IE" sz="2800" dirty="0"/>
          </a:p>
        </p:txBody>
      </p:sp>
      <p:sp>
        <p:nvSpPr>
          <p:cNvPr id="5" name="Question code card"/>
          <p:cNvSpPr/>
          <p:nvPr/>
        </p:nvSpPr>
        <p:spPr>
          <a:xfrm>
            <a:off x="548640" y="1965960"/>
            <a:ext cx="11094415" cy="1363980"/>
          </a:xfrm>
          <a:prstGeom prst="roundRect">
            <a:avLst>
              <a:gd name="adj" fmla="val 8045"/>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text"/>
          <p:cNvSpPr txBox="1"/>
          <p:nvPr/>
        </p:nvSpPr>
        <p:spPr>
          <a:xfrm>
            <a:off x="822960" y="2167128"/>
            <a:ext cx="10545775" cy="961644"/>
          </a:xfrm>
          <a:prstGeom prst="rect">
            <a:avLst/>
          </a:prstGeom>
          <a:noFill/>
          <a:ln/>
        </p:spPr>
        <p:txBody>
          <a:bodyPr wrap="square" lIns="0" tIns="0" rIns="0" bIns="0" rtlCol="0" anchor="t"/>
          <a:lstStyle/>
          <a:p>
            <a:pPr indent="0" marL="0">
              <a:lnSpc>
                <a:spcPts val="2380"/>
              </a:lnSpc>
              <a:buNone/>
            </a:pPr>
            <a:r>
              <a:rPr lang="en-IE" sz="1800" dirty="0">
                <a:solidFill>
                  <a:srgbClr val="6CC4E8"/>
                </a:solidFill>
                <a:latin typeface="Consolas" pitchFamily="34" charset="0"/>
                <a:ea typeface="Consolas" pitchFamily="34" charset="-122"/>
                <a:cs typeface="Consolas" pitchFamily="34" charset="-120"/>
              </a:rPr>
              <a:t>Scanner</a:t>
            </a:r>
            <a:r>
              <a:rPr lang="en-IE" sz="1800" dirty="0">
                <a:solidFill>
                  <a:srgbClr val="E6EBF2"/>
                </a:solidFill>
                <a:latin typeface="Consolas" pitchFamily="34" charset="0"/>
                <a:ea typeface="Consolas" pitchFamily="34" charset="-122"/>
                <a:cs typeface="Consolas" pitchFamily="34" charset="-120"/>
              </a:rPr>
              <a:t> in = </a:t>
            </a:r>
            <a:r>
              <a:rPr lang="en-IE" sz="1800" dirty="0">
                <a:solidFill>
                  <a:srgbClr val="FF9F5A"/>
                </a:solidFill>
                <a:latin typeface="Consolas" pitchFamily="34" charset="0"/>
                <a:ea typeface="Consolas" pitchFamily="34" charset="-122"/>
                <a:cs typeface="Consolas" pitchFamily="34" charset="-120"/>
              </a:rPr>
              <a:t>new</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C9B0FF"/>
                </a:solidFill>
                <a:latin typeface="Consolas" pitchFamily="34" charset="0"/>
                <a:ea typeface="Consolas" pitchFamily="34" charset="-122"/>
                <a:cs typeface="Consolas" pitchFamily="34" charset="-120"/>
              </a:rPr>
              <a:t>Scanner</a:t>
            </a:r>
            <a:r>
              <a:rPr lang="en-IE" sz="1800" dirty="0">
                <a:solidFill>
                  <a:srgbClr val="E6EBF2"/>
                </a:solidFill>
                <a:latin typeface="Consolas" pitchFamily="34" charset="0"/>
                <a:ea typeface="Consolas" pitchFamily="34" charset="-122"/>
                <a:cs typeface="Consolas" pitchFamily="34" charset="-120"/>
              </a:rPr>
              <a:t>(</a:t>
            </a:r>
            <a:r>
              <a:rPr lang="en-IE" sz="1800" dirty="0">
                <a:solidFill>
                  <a:srgbClr val="6CC4E8"/>
                </a:solidFill>
                <a:latin typeface="Consolas" pitchFamily="34" charset="0"/>
                <a:ea typeface="Consolas" pitchFamily="34" charset="-122"/>
                <a:cs typeface="Consolas" pitchFamily="34" charset="-120"/>
              </a:rPr>
              <a:t>System</a:t>
            </a:r>
            <a:r>
              <a:rPr lang="en-IE" sz="1800" dirty="0">
                <a:solidFill>
                  <a:srgbClr val="E6EBF2"/>
                </a:solidFill>
                <a:latin typeface="Consolas" pitchFamily="34" charset="0"/>
                <a:ea typeface="Consolas" pitchFamily="34" charset="-122"/>
                <a:cs typeface="Consolas" pitchFamily="34" charset="-120"/>
              </a:rPr>
              <a:t>.in);</a:t>
            </a:r>
            <a:endParaRPr lang="en-IE" sz="1800" dirty="0"/>
          </a:p>
          <a:p>
            <a:pPr indent="0" marL="0">
              <a:lnSpc>
                <a:spcPts val="2380"/>
              </a:lnSpc>
              <a:buNone/>
            </a:pPr>
            <a:r>
              <a:rPr lang="en-IE" sz="1800" dirty="0">
                <a:solidFill>
                  <a:srgbClr val="6CC4E8"/>
                </a:solidFill>
                <a:latin typeface="Consolas" pitchFamily="34" charset="0"/>
                <a:ea typeface="Consolas" pitchFamily="34" charset="-122"/>
                <a:cs typeface="Consolas" pitchFamily="34" charset="-120"/>
              </a:rPr>
              <a:t>String</a:t>
            </a:r>
            <a:r>
              <a:rPr lang="en-IE" sz="1800" dirty="0">
                <a:solidFill>
                  <a:srgbClr val="E6EBF2"/>
                </a:solidFill>
                <a:latin typeface="Consolas" pitchFamily="34" charset="0"/>
                <a:ea typeface="Consolas" pitchFamily="34" charset="-122"/>
                <a:cs typeface="Consolas" pitchFamily="34" charset="-120"/>
              </a:rPr>
              <a:t> city = in.</a:t>
            </a:r>
            <a:r>
              <a:rPr lang="en-IE" sz="1800" dirty="0">
                <a:solidFill>
                  <a:srgbClr val="C9B0FF"/>
                </a:solidFill>
                <a:latin typeface="Consolas" pitchFamily="34" charset="0"/>
                <a:ea typeface="Consolas" pitchFamily="34" charset="-122"/>
                <a:cs typeface="Consolas" pitchFamily="34" charset="-120"/>
              </a:rPr>
              <a:t>nextLine</a:t>
            </a:r>
            <a:r>
              <a:rPr lang="en-IE" sz="1800" dirty="0">
                <a:solidFill>
                  <a:srgbClr val="E6EBF2"/>
                </a:solidFill>
                <a:latin typeface="Consolas" pitchFamily="34" charset="0"/>
                <a:ea typeface="Consolas" pitchFamily="34" charset="-122"/>
                <a:cs typeface="Consolas" pitchFamily="34" charset="-120"/>
              </a:rPr>
              <a:t>();</a:t>
            </a:r>
            <a:endParaRPr lang="en-IE" sz="1800" dirty="0"/>
          </a:p>
          <a:p>
            <a:pPr indent="0" marL="0">
              <a:lnSpc>
                <a:spcPts val="2380"/>
              </a:lnSpc>
              <a:buNone/>
            </a:pPr>
            <a:r>
              <a:rPr lang="en-IE" sz="1800" dirty="0">
                <a:solidFill>
                  <a:srgbClr val="6CC4E8"/>
                </a:solidFill>
                <a:latin typeface="Consolas" pitchFamily="34" charset="0"/>
                <a:ea typeface="Consolas" pitchFamily="34" charset="-122"/>
                <a:cs typeface="Consolas" pitchFamily="34" charset="-120"/>
              </a:rPr>
              <a:t>System</a:t>
            </a:r>
            <a:r>
              <a:rPr lang="en-IE" sz="1800" dirty="0">
                <a:solidFill>
                  <a:srgbClr val="E6EBF2"/>
                </a:solidFill>
                <a:latin typeface="Consolas" pitchFamily="34" charset="0"/>
                <a:ea typeface="Consolas" pitchFamily="34" charset="-122"/>
                <a:cs typeface="Consolas" pitchFamily="34" charset="-120"/>
              </a:rPr>
              <a:t>.out.</a:t>
            </a:r>
            <a:r>
              <a:rPr lang="en-IE" sz="1800" dirty="0">
                <a:solidFill>
                  <a:srgbClr val="C9B0FF"/>
                </a:solidFill>
                <a:latin typeface="Consolas" pitchFamily="34" charset="0"/>
                <a:ea typeface="Consolas" pitchFamily="34" charset="-122"/>
                <a:cs typeface="Consolas" pitchFamily="34" charset="-120"/>
              </a:rPr>
              <a:t>println</a:t>
            </a:r>
            <a:r>
              <a:rPr lang="en-IE" sz="1800" dirty="0">
                <a:solidFill>
                  <a:srgbClr val="E6EBF2"/>
                </a:solidFill>
                <a:latin typeface="Consolas" pitchFamily="34" charset="0"/>
                <a:ea typeface="Consolas" pitchFamily="34" charset="-122"/>
                <a:cs typeface="Consolas" pitchFamily="34" charset="-120"/>
              </a:rPr>
              <a:t>(city == </a:t>
            </a:r>
            <a:r>
              <a:rPr lang="en-IE" sz="1800" dirty="0">
                <a:solidFill>
                  <a:srgbClr val="A9DB8C"/>
                </a:solidFill>
                <a:latin typeface="Consolas" pitchFamily="34" charset="0"/>
                <a:ea typeface="Consolas" pitchFamily="34" charset="-122"/>
                <a:cs typeface="Consolas" pitchFamily="34" charset="-120"/>
              </a:rPr>
              <a:t>"Cork"</a:t>
            </a:r>
            <a:r>
              <a:rPr lang="en-IE" sz="1800" dirty="0">
                <a:solidFill>
                  <a:srgbClr val="E6EBF2"/>
                </a:solidFill>
                <a:latin typeface="Consolas" pitchFamily="34" charset="0"/>
                <a:ea typeface="Consolas" pitchFamily="34" charset="-122"/>
                <a:cs typeface="Consolas" pitchFamily="34" charset="-120"/>
              </a:rPr>
              <a:t>);</a:t>
            </a:r>
            <a:endParaRPr lang="en-IE" sz="1800" dirty="0"/>
          </a:p>
        </p:txBody>
      </p:sp>
      <p:sp>
        <p:nvSpPr>
          <p:cNvPr id="7" name="Option A"/>
          <p:cNvSpPr/>
          <p:nvPr/>
        </p:nvSpPr>
        <p:spPr>
          <a:xfrm>
            <a:off x="548640" y="364998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8" name="Letter A"/>
          <p:cNvSpPr/>
          <p:nvPr/>
        </p:nvSpPr>
        <p:spPr>
          <a:xfrm>
            <a:off x="822960" y="38465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9" name="Option A text"/>
          <p:cNvSpPr txBox="1"/>
          <p:nvPr/>
        </p:nvSpPr>
        <p:spPr>
          <a:xfrm>
            <a:off x="1645920" y="3695700"/>
            <a:ext cx="4038448" cy="86868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true</a:t>
            </a:r>
            <a:r>
              <a:rPr lang="en-IE" sz="2000" dirty="0">
                <a:solidFill>
                  <a:schemeClr val="tx1"/>
                </a:solidFill>
              </a:rPr>
              <a:t>, because the text is the same</a:t>
            </a:r>
            <a:endParaRPr lang="en-IE" sz="2000" dirty="0"/>
          </a:p>
        </p:txBody>
      </p:sp>
      <p:sp>
        <p:nvSpPr>
          <p:cNvPr id="10" name="Option B"/>
          <p:cNvSpPr/>
          <p:nvPr/>
        </p:nvSpPr>
        <p:spPr>
          <a:xfrm>
            <a:off x="6233008" y="364998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1" name="Letter B"/>
          <p:cNvSpPr/>
          <p:nvPr/>
        </p:nvSpPr>
        <p:spPr>
          <a:xfrm>
            <a:off x="6507328" y="38465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2" name="Option B text"/>
          <p:cNvSpPr txBox="1"/>
          <p:nvPr/>
        </p:nvSpPr>
        <p:spPr>
          <a:xfrm>
            <a:off x="7330288" y="3695700"/>
            <a:ext cx="4038448" cy="86868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false</a:t>
            </a:r>
            <a:r>
              <a:rPr lang="en-IE" sz="2000" dirty="0">
                <a:solidFill>
                  <a:schemeClr val="tx1"/>
                </a:solidFill>
              </a:rPr>
              <a:t>, because city is a different object</a:t>
            </a:r>
            <a:endParaRPr lang="en-IE" sz="2000" dirty="0"/>
          </a:p>
        </p:txBody>
      </p:sp>
      <p:sp>
        <p:nvSpPr>
          <p:cNvPr id="13" name="Option C"/>
          <p:cNvSpPr/>
          <p:nvPr/>
        </p:nvSpPr>
        <p:spPr>
          <a:xfrm>
            <a:off x="548640" y="483870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4" name="Letter C"/>
          <p:cNvSpPr/>
          <p:nvPr/>
        </p:nvSpPr>
        <p:spPr>
          <a:xfrm>
            <a:off x="822960" y="503529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5" name="Option C text"/>
          <p:cNvSpPr txBox="1"/>
          <p:nvPr/>
        </p:nvSpPr>
        <p:spPr>
          <a:xfrm>
            <a:off x="1645920" y="4884420"/>
            <a:ext cx="4038448" cy="868680"/>
          </a:xfrm>
          <a:prstGeom prst="rect">
            <a:avLst/>
          </a:prstGeom>
          <a:noFill/>
          <a:ln/>
        </p:spPr>
        <p:txBody>
          <a:bodyPr wrap="square" lIns="0" tIns="0" rIns="0" bIns="0" rtlCol="0" anchor="ctr"/>
          <a:lstStyle/>
          <a:p>
            <a:pPr indent="0" marL="0">
              <a:buNone/>
            </a:pPr>
            <a:r>
              <a:rPr lang="en-IE" sz="2000" dirty="0">
                <a:solidFill>
                  <a:schemeClr val="tx1"/>
                </a:solidFill>
              </a:rPr>
              <a:t>A compile error</a:t>
            </a:r>
            <a:endParaRPr lang="en-IE" sz="2000" dirty="0"/>
          </a:p>
        </p:txBody>
      </p:sp>
      <p:sp>
        <p:nvSpPr>
          <p:cNvPr id="16" name="Option D"/>
          <p:cNvSpPr/>
          <p:nvPr/>
        </p:nvSpPr>
        <p:spPr>
          <a:xfrm>
            <a:off x="6233008" y="483870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7" name="Letter D"/>
          <p:cNvSpPr/>
          <p:nvPr/>
        </p:nvSpPr>
        <p:spPr>
          <a:xfrm>
            <a:off x="6507328" y="503529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8" name="Option D text"/>
          <p:cNvSpPr txBox="1"/>
          <p:nvPr/>
        </p:nvSpPr>
        <p:spPr>
          <a:xfrm>
            <a:off x="7330288" y="4884420"/>
            <a:ext cx="4038448" cy="86868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true</a:t>
            </a:r>
            <a:r>
              <a:rPr lang="en-IE" sz="2000" dirty="0">
                <a:solidFill>
                  <a:schemeClr val="tx1"/>
                </a:solidFill>
              </a:rPr>
              <a:t>, but only the first time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8</a:t>
            </a:fld>
            <a:endParaRPr lang="en-I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equals and ==</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The user types Cork. What does this code print?</a:t>
            </a:r>
            <a:endParaRPr lang="en-IE" sz="2000" dirty="0"/>
          </a:p>
        </p:txBody>
      </p:sp>
      <p:sp>
        <p:nvSpPr>
          <p:cNvPr id="5" name="Answer code card"/>
          <p:cNvSpPr/>
          <p:nvPr/>
        </p:nvSpPr>
        <p:spPr>
          <a:xfrm>
            <a:off x="548640" y="1874520"/>
            <a:ext cx="5623560" cy="960120"/>
          </a:xfrm>
          <a:prstGeom prst="roundRect">
            <a:avLst>
              <a:gd name="adj" fmla="val 11429"/>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557784"/>
          </a:xfrm>
          <a:prstGeom prst="rect">
            <a:avLst/>
          </a:prstGeom>
          <a:noFill/>
          <a:ln/>
        </p:spPr>
        <p:txBody>
          <a:bodyPr wrap="square" lIns="0" tIns="0" rIns="0" bIns="0" rtlCol="0" anchor="t"/>
          <a:lstStyle/>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city == </a:t>
            </a:r>
            <a:r>
              <a:rPr lang="en-IE" sz="1500" dirty="0">
                <a:solidFill>
                  <a:srgbClr val="A9DB8C"/>
                </a:solidFill>
                <a:latin typeface="Consolas" pitchFamily="34" charset="0"/>
                <a:ea typeface="Consolas" pitchFamily="34" charset="-122"/>
                <a:cs typeface="Consolas" pitchFamily="34" charset="-120"/>
              </a:rPr>
              <a:t>"Cork"</a:t>
            </a:r>
            <a:r>
              <a:rPr lang="en-IE" sz="1500" dirty="0">
                <a:solidFill>
                  <a:srgbClr val="E6EBF2"/>
                </a:solidFill>
                <a:latin typeface="Consolas" pitchFamily="34" charset="0"/>
                <a:ea typeface="Consolas" pitchFamily="34" charset="-122"/>
                <a:cs typeface="Consolas" pitchFamily="34" charset="-120"/>
              </a:rPr>
              <a:t>        </a:t>
            </a:r>
            <a:r>
              <a:rPr lang="en-IE" sz="1500" i="1" dirty="0">
                <a:solidFill>
                  <a:srgbClr val="A3AEC2"/>
                </a:solidFill>
                <a:latin typeface="Consolas" pitchFamily="34" charset="0"/>
                <a:ea typeface="Consolas" pitchFamily="34" charset="-122"/>
                <a:cs typeface="Consolas" pitchFamily="34" charset="-120"/>
              </a:rPr>
              <a:t>// false: two objects</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city.</a:t>
            </a:r>
            <a:r>
              <a:rPr lang="en-IE" sz="1500" dirty="0">
                <a:solidFill>
                  <a:srgbClr val="C9B0FF"/>
                </a:solidFill>
                <a:latin typeface="Consolas" pitchFamily="34" charset="0"/>
                <a:ea typeface="Consolas" pitchFamily="34" charset="-122"/>
                <a:cs typeface="Consolas" pitchFamily="34" charset="-120"/>
              </a:rPr>
              <a:t>equals</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A9DB8C"/>
                </a:solidFill>
                <a:latin typeface="Consolas" pitchFamily="34" charset="0"/>
                <a:ea typeface="Consolas" pitchFamily="34" charset="-122"/>
                <a:cs typeface="Consolas" pitchFamily="34" charset="-120"/>
              </a:rPr>
              <a:t>"Cork"</a:t>
            </a:r>
            <a:r>
              <a:rPr lang="en-IE" sz="1500" dirty="0">
                <a:solidFill>
                  <a:srgbClr val="E6EBF2"/>
                </a:solidFill>
                <a:latin typeface="Consolas" pitchFamily="34" charset="0"/>
                <a:ea typeface="Consolas" pitchFamily="34" charset="-122"/>
                <a:cs typeface="Consolas" pitchFamily="34" charset="-120"/>
              </a:rPr>
              <a:t>)   </a:t>
            </a:r>
            <a:r>
              <a:rPr lang="en-IE" sz="1500" i="1" dirty="0">
                <a:solidFill>
                  <a:srgbClr val="A3AEC2"/>
                </a:solidFill>
                <a:latin typeface="Consolas" pitchFamily="34" charset="0"/>
                <a:ea typeface="Consolas" pitchFamily="34" charset="-122"/>
                <a:cs typeface="Consolas" pitchFamily="34" charset="-120"/>
              </a:rPr>
              <a:t>// true: same text</a:t>
            </a:r>
            <a:endParaRPr lang="en-IE" sz="1500" dirty="0"/>
          </a:p>
        </p:txBody>
      </p:sp>
      <p:sp>
        <p:nvSpPr>
          <p:cNvPr id="7" name="Option A"/>
          <p:cNvSpPr/>
          <p:nvPr/>
        </p:nvSpPr>
        <p:spPr>
          <a:xfrm>
            <a:off x="548640" y="3063240"/>
            <a:ext cx="5623560" cy="644652"/>
          </a:xfrm>
          <a:prstGeom prst="roundRect">
            <a:avLst>
              <a:gd name="adj" fmla="val 17021"/>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17525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71600" y="3063240"/>
            <a:ext cx="4572000" cy="644652"/>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true</a:t>
            </a:r>
            <a:r>
              <a:rPr lang="en-IE" sz="1700" dirty="0">
                <a:solidFill>
                  <a:schemeClr val="tx2"/>
                </a:solidFill>
              </a:rPr>
              <a:t>, because the text is the same</a:t>
            </a:r>
            <a:endParaRPr lang="en-IE" sz="1700" dirty="0"/>
          </a:p>
        </p:txBody>
      </p:sp>
      <p:sp>
        <p:nvSpPr>
          <p:cNvPr id="10" name="Option B (correct)"/>
          <p:cNvSpPr/>
          <p:nvPr/>
        </p:nvSpPr>
        <p:spPr>
          <a:xfrm>
            <a:off x="548640" y="3854196"/>
            <a:ext cx="5623560" cy="644652"/>
          </a:xfrm>
          <a:prstGeom prst="roundRect">
            <a:avLst>
              <a:gd name="adj" fmla="val 17021"/>
            </a:avLst>
          </a:prstGeom>
          <a:solidFill>
            <a:schemeClr val="accent3"/>
          </a:solidFill>
          <a:ln/>
          <a:effectLst>
            <a:outerShdw sx="100000" sy="100000" kx="0" ky="0" algn="bl" rotWithShape="0" blurRad="114300" dist="31750" dir="5400000">
              <a:srgbClr val="1D2433">
                <a:alpha val="12000"/>
              </a:srgbClr>
            </a:outerShdw>
          </a:effectLst>
        </p:spPr>
      </p:sp>
      <p:sp>
        <p:nvSpPr>
          <p:cNvPr id="11" name="Letter B"/>
          <p:cNvSpPr/>
          <p:nvPr/>
        </p:nvSpPr>
        <p:spPr>
          <a:xfrm>
            <a:off x="749808" y="396621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2" name="Option B text"/>
          <p:cNvSpPr txBox="1"/>
          <p:nvPr/>
        </p:nvSpPr>
        <p:spPr>
          <a:xfrm>
            <a:off x="1371600" y="3854196"/>
            <a:ext cx="4142232" cy="644652"/>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false</a:t>
            </a:r>
            <a:r>
              <a:rPr lang="en-IE" sz="1700" b="1" dirty="0">
                <a:solidFill>
                  <a:schemeClr val="bg1"/>
                </a:solidFill>
              </a:rPr>
              <a:t>, because city is a different object</a:t>
            </a:r>
            <a:endParaRPr lang="en-IE" sz="1700" dirty="0"/>
          </a:p>
        </p:txBody>
      </p:sp>
      <p:pic>
        <p:nvPicPr>
          <p:cNvPr id="13" name="Correct mark" descr="Correct mark">    </p:cNvPr>
          <p:cNvPicPr>
            <a:picLocks noChangeAspect="1"/>
          </p:cNvPicPr>
          <p:nvPr/>
        </p:nvPicPr>
        <p:blipFill>
          <a:blip r:embed="rId1"/>
          <a:stretch>
            <a:fillRect/>
          </a:stretch>
        </p:blipFill>
        <p:spPr>
          <a:xfrm>
            <a:off x="5623560" y="3993642"/>
            <a:ext cx="365760" cy="365760"/>
          </a:xfrm>
          <a:prstGeom prst="rect">
            <a:avLst/>
          </a:prstGeom>
        </p:spPr>
      </p:pic>
      <p:sp>
        <p:nvSpPr>
          <p:cNvPr id="14" name="Option C"/>
          <p:cNvSpPr/>
          <p:nvPr/>
        </p:nvSpPr>
        <p:spPr>
          <a:xfrm>
            <a:off x="548640" y="4645152"/>
            <a:ext cx="5623560" cy="644652"/>
          </a:xfrm>
          <a:prstGeom prst="roundRect">
            <a:avLst>
              <a:gd name="adj" fmla="val 17021"/>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75716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6" name="Option C text"/>
          <p:cNvSpPr txBox="1"/>
          <p:nvPr/>
        </p:nvSpPr>
        <p:spPr>
          <a:xfrm>
            <a:off x="1371600" y="4645152"/>
            <a:ext cx="4572000" cy="644652"/>
          </a:xfrm>
          <a:prstGeom prst="rect">
            <a:avLst/>
          </a:prstGeom>
          <a:noFill/>
          <a:ln/>
        </p:spPr>
        <p:txBody>
          <a:bodyPr wrap="square" lIns="0" tIns="0" rIns="0" bIns="0" rtlCol="0" anchor="ctr"/>
          <a:lstStyle/>
          <a:p>
            <a:pPr indent="0" marL="0">
              <a:buNone/>
            </a:pPr>
            <a:r>
              <a:rPr lang="en-IE" sz="1700" dirty="0">
                <a:solidFill>
                  <a:schemeClr val="tx2"/>
                </a:solidFill>
              </a:rPr>
              <a:t>A compile error</a:t>
            </a:r>
            <a:endParaRPr lang="en-IE" sz="1700" dirty="0"/>
          </a:p>
        </p:txBody>
      </p:sp>
      <p:sp>
        <p:nvSpPr>
          <p:cNvPr id="17" name="Option D"/>
          <p:cNvSpPr/>
          <p:nvPr/>
        </p:nvSpPr>
        <p:spPr>
          <a:xfrm>
            <a:off x="548640" y="5436108"/>
            <a:ext cx="5623560" cy="644652"/>
          </a:xfrm>
          <a:prstGeom prst="roundRect">
            <a:avLst>
              <a:gd name="adj" fmla="val 17021"/>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4812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71600" y="5436108"/>
            <a:ext cx="4572000" cy="644652"/>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true</a:t>
            </a:r>
            <a:r>
              <a:rPr lang="en-IE" sz="1700" dirty="0">
                <a:solidFill>
                  <a:schemeClr val="tx2"/>
                </a:solidFill>
              </a:rPr>
              <a:t>, but only the first time</a:t>
            </a:r>
            <a:endParaRPr lang="en-IE"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tx1"/>
                </a:solidFill>
              </a:rPr>
              <a:t>Scanner builds a new String from what the user types. It holds the same text as “Cork”, but it’s a different object, so == gives false. </a:t>
            </a:r>
            <a:r>
              <a:rPr lang="en-IE" sz="1800" dirty="0">
                <a:solidFill>
                  <a:schemeClr val="accent2"/>
                </a:solidFill>
                <a:latin typeface="Consolas" pitchFamily="34" charset="0"/>
                <a:ea typeface="Consolas" pitchFamily="34" charset="-122"/>
                <a:cs typeface="Consolas" pitchFamily="34" charset="-120"/>
              </a:rPr>
              <a:t>city.equals("Cork")</a:t>
            </a:r>
            <a:r>
              <a:rPr lang="en-IE" sz="1800" dirty="0">
                <a:solidFill>
                  <a:schemeClr val="tx1"/>
                </a:solidFill>
              </a:rPr>
              <a:t> compares the text and gives true.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9</a:t>
            </a:fld>
            <a:endParaRPr lang="en-I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EQUALS AND ==</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Why == sometimes works for Strings</a:t>
            </a:r>
            <a:endParaRPr lang="en-IE" sz="3400" dirty="0"/>
          </a:p>
        </p:txBody>
      </p:sp>
      <p:sp>
        <p:nvSpPr>
          <p:cNvPr id="5" name="Text 2"/>
          <p:cNvSpPr txBox="1"/>
          <p:nvPr/>
        </p:nvSpPr>
        <p:spPr>
          <a:xfrm>
            <a:off x="548640" y="1783080"/>
            <a:ext cx="5120640" cy="3108960"/>
          </a:xfrm>
          <a:prstGeom prst="rect">
            <a:avLst/>
          </a:prstGeom>
          <a:noFill/>
          <a:ln/>
        </p:spPr>
        <p:txBody>
          <a:bodyPr wrap="square" lIns="0" tIns="0" rIns="0" bIns="0" rtlCol="0" anchor="t"/>
          <a:lstStyle/>
          <a:p>
            <a:pPr marL="228600" indent="-228600">
              <a:spcAft>
                <a:spcPts val="1000"/>
              </a:spcAft>
              <a:buSzPct val="100000"/>
              <a:buChar char="•"/>
            </a:pPr>
            <a:r>
              <a:rPr lang="en-IE" sz="1700" dirty="0">
                <a:solidFill>
                  <a:schemeClr val="tx1"/>
                </a:solidFill>
              </a:rPr>
              <a:t>Java keeps one copy of each String literal (text in quotes) in the String pool. This saves memory.</a:t>
            </a:r>
            <a:endParaRPr lang="en-IE" sz="1700" dirty="0"/>
          </a:p>
          <a:p>
            <a:pPr marL="228600" indent="-228600">
              <a:spcAft>
                <a:spcPts val="1000"/>
              </a:spcAft>
              <a:buSzPct val="100000"/>
              <a:buChar char="•"/>
            </a:pPr>
            <a:r>
              <a:rPr lang="en-IE" sz="1700" dirty="0">
                <a:solidFill>
                  <a:schemeClr val="tx1"/>
                </a:solidFill>
              </a:rPr>
              <a:t>Two variables given the same literal refer to that one String, so </a:t>
            </a:r>
            <a:r>
              <a:rPr lang="en-IE" sz="1700" dirty="0">
                <a:solidFill>
                  <a:schemeClr val="accent2"/>
                </a:solidFill>
                <a:latin typeface="Consolas" pitchFamily="34" charset="0"/>
                <a:ea typeface="Consolas" pitchFamily="34" charset="-122"/>
                <a:cs typeface="Consolas" pitchFamily="34" charset="-120"/>
              </a:rPr>
              <a:t>==</a:t>
            </a:r>
            <a:r>
              <a:rPr lang="en-IE" sz="1700" dirty="0">
                <a:solidFill>
                  <a:schemeClr val="tx1"/>
                </a:solidFill>
              </a:rPr>
              <a:t> is true.</a:t>
            </a:r>
            <a:endParaRPr lang="en-IE" sz="1700" dirty="0"/>
          </a:p>
          <a:p>
            <a:pPr marL="228600" indent="-228600">
              <a:spcAft>
                <a:spcPts val="1000"/>
              </a:spcAft>
              <a:buSzPct val="100000"/>
              <a:buChar char="•"/>
            </a:pPr>
            <a:r>
              <a:rPr lang="en-IE" sz="1700" dirty="0">
                <a:solidFill>
                  <a:schemeClr val="tx1"/>
                </a:solidFill>
              </a:rPr>
              <a:t>Strings made while the program runs, with </a:t>
            </a:r>
            <a:r>
              <a:rPr lang="en-IE" sz="1700" dirty="0">
                <a:solidFill>
                  <a:schemeClr val="accent2"/>
                </a:solidFill>
                <a:latin typeface="Consolas" pitchFamily="34" charset="0"/>
                <a:ea typeface="Consolas" pitchFamily="34" charset="-122"/>
                <a:cs typeface="Consolas" pitchFamily="34" charset="-120"/>
              </a:rPr>
              <a:t>new String</a:t>
            </a:r>
            <a:r>
              <a:rPr lang="en-IE" sz="1700" dirty="0">
                <a:solidFill>
                  <a:schemeClr val="tx1"/>
                </a:solidFill>
              </a:rPr>
              <a:t>, Scanner or </a:t>
            </a:r>
            <a:r>
              <a:rPr lang="en-IE" sz="1700" dirty="0">
                <a:solidFill>
                  <a:schemeClr val="accent2"/>
                </a:solidFill>
                <a:latin typeface="Consolas" pitchFamily="34" charset="0"/>
                <a:ea typeface="Consolas" pitchFamily="34" charset="-122"/>
                <a:cs typeface="Consolas" pitchFamily="34" charset="-120"/>
              </a:rPr>
              <a:t>+</a:t>
            </a:r>
            <a:r>
              <a:rPr lang="en-IE" sz="1700" dirty="0">
                <a:solidFill>
                  <a:schemeClr val="tx1"/>
                </a:solidFill>
              </a:rPr>
              <a:t>, are new objects, so </a:t>
            </a:r>
            <a:r>
              <a:rPr lang="en-IE" sz="1700" dirty="0">
                <a:solidFill>
                  <a:schemeClr val="accent2"/>
                </a:solidFill>
                <a:latin typeface="Consolas" pitchFamily="34" charset="0"/>
                <a:ea typeface="Consolas" pitchFamily="34" charset="-122"/>
                <a:cs typeface="Consolas" pitchFamily="34" charset="-120"/>
              </a:rPr>
              <a:t>==</a:t>
            </a:r>
            <a:r>
              <a:rPr lang="en-IE" sz="1700" dirty="0">
                <a:solidFill>
                  <a:schemeClr val="tx1"/>
                </a:solidFill>
              </a:rPr>
              <a:t> is false.</a:t>
            </a:r>
            <a:endParaRPr lang="en-IE" sz="1700" dirty="0"/>
          </a:p>
          <a:p>
            <a:pPr marL="228600" indent="-228600">
              <a:buSzPct val="100000"/>
              <a:buChar char="•"/>
            </a:pPr>
            <a:r>
              <a:rPr lang="en-IE" sz="1700" dirty="0">
                <a:solidFill>
                  <a:schemeClr val="accent2"/>
                </a:solidFill>
                <a:latin typeface="Consolas" pitchFamily="34" charset="0"/>
                <a:ea typeface="Consolas" pitchFamily="34" charset="-122"/>
                <a:cs typeface="Consolas" pitchFamily="34" charset="-120"/>
              </a:rPr>
              <a:t>equals()</a:t>
            </a:r>
            <a:r>
              <a:rPr lang="en-IE" sz="1700" dirty="0">
                <a:solidFill>
                  <a:schemeClr val="tx1"/>
                </a:solidFill>
              </a:rPr>
              <a:t> works in every case, so always compare Strings with it.</a:t>
            </a:r>
            <a:endParaRPr lang="en-IE" sz="1700" dirty="0"/>
          </a:p>
        </p:txBody>
      </p:sp>
      <p:sp>
        <p:nvSpPr>
          <p:cNvPr id="6" name="Literals and new String card"/>
          <p:cNvSpPr/>
          <p:nvPr/>
        </p:nvSpPr>
        <p:spPr>
          <a:xfrm>
            <a:off x="548640" y="4663440"/>
            <a:ext cx="5120640" cy="1454658"/>
          </a:xfrm>
          <a:prstGeom prst="roundRect">
            <a:avLst>
              <a:gd name="adj" fmla="val 7543"/>
            </a:avLst>
          </a:prstGeom>
          <a:solidFill>
            <a:schemeClr val="tx1"/>
          </a:solidFill>
          <a:ln/>
          <a:effectLst>
            <a:outerShdw sx="100000" sy="100000" kx="0" ky="0" algn="bl" rotWithShape="0" blurRad="114300" dist="31750" dir="5400000">
              <a:srgbClr val="1D2433">
                <a:alpha val="12000"/>
              </a:srgbClr>
            </a:outerShdw>
          </a:effectLst>
        </p:spPr>
      </p:sp>
      <p:sp>
        <p:nvSpPr>
          <p:cNvPr id="7" name="Literals and new String language"/>
          <p:cNvSpPr txBox="1"/>
          <p:nvPr/>
        </p:nvSpPr>
        <p:spPr>
          <a:xfrm>
            <a:off x="822960" y="4782312"/>
            <a:ext cx="45720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Literals and new String text"/>
          <p:cNvSpPr txBox="1"/>
          <p:nvPr/>
        </p:nvSpPr>
        <p:spPr>
          <a:xfrm>
            <a:off x="822960" y="5157216"/>
            <a:ext cx="4572000" cy="759714"/>
          </a:xfrm>
          <a:prstGeom prst="rect">
            <a:avLst/>
          </a:prstGeom>
          <a:noFill/>
          <a:ln/>
        </p:spPr>
        <p:txBody>
          <a:bodyPr wrap="square" lIns="0" tIns="0" rIns="0" bIns="0" rtlCol="0" anchor="t"/>
          <a:lstStyle/>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 one = </a:t>
            </a:r>
            <a:r>
              <a:rPr lang="en-IE" sz="1400" dirty="0">
                <a:solidFill>
                  <a:srgbClr val="A9DB8C"/>
                </a:solidFill>
                <a:latin typeface="Consolas" pitchFamily="34" charset="0"/>
                <a:ea typeface="Consolas" pitchFamily="34" charset="-122"/>
                <a:cs typeface="Consolas" pitchFamily="34" charset="-120"/>
              </a:rPr>
              <a:t>"Tom"</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 two = </a:t>
            </a:r>
            <a:r>
              <a:rPr lang="en-IE" sz="1400" dirty="0">
                <a:solidFill>
                  <a:srgbClr val="A9DB8C"/>
                </a:solidFill>
                <a:latin typeface="Consolas" pitchFamily="34" charset="0"/>
                <a:ea typeface="Consolas" pitchFamily="34" charset="-122"/>
                <a:cs typeface="Consolas" pitchFamily="34" charset="-120"/>
              </a:rPr>
              <a:t>"Tom"</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 three = </a:t>
            </a: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A9DB8C"/>
                </a:solidFill>
                <a:latin typeface="Consolas" pitchFamily="34" charset="0"/>
                <a:ea typeface="Consolas" pitchFamily="34" charset="-122"/>
                <a:cs typeface="Consolas" pitchFamily="34" charset="-120"/>
              </a:rPr>
              <a:t>"Tom"</a:t>
            </a: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9" name="String pool"/>
          <p:cNvSpPr/>
          <p:nvPr/>
        </p:nvSpPr>
        <p:spPr>
          <a:xfrm>
            <a:off x="8503920" y="1783080"/>
            <a:ext cx="3136392" cy="1874520"/>
          </a:xfrm>
          <a:prstGeom prst="roundRect">
            <a:avLst>
              <a:gd name="adj" fmla="val 5854"/>
            </a:avLst>
          </a:prstGeom>
          <a:solidFill>
            <a:schemeClr val="bg2"/>
          </a:solidFill>
          <a:ln w="15875">
            <a:solidFill>
              <a:schemeClr val="accent5"/>
            </a:solidFill>
            <a:prstDash val="dash"/>
          </a:ln>
        </p:spPr>
      </p:sp>
      <p:sp>
        <p:nvSpPr>
          <p:cNvPr id="10" name="Text 7"/>
          <p:cNvSpPr txBox="1"/>
          <p:nvPr/>
        </p:nvSpPr>
        <p:spPr>
          <a:xfrm>
            <a:off x="8641080" y="1856232"/>
            <a:ext cx="2834640" cy="292608"/>
          </a:xfrm>
          <a:prstGeom prst="rect">
            <a:avLst/>
          </a:prstGeom>
          <a:noFill/>
          <a:ln/>
        </p:spPr>
        <p:txBody>
          <a:bodyPr wrap="square" lIns="0" tIns="0" rIns="0" bIns="0" rtlCol="0" anchor="t"/>
          <a:lstStyle/>
          <a:p>
            <a:pPr indent="0" marL="0">
              <a:buNone/>
            </a:pPr>
            <a:r>
              <a:rPr lang="en-IE" sz="1300" b="1" dirty="0">
                <a:solidFill>
                  <a:schemeClr val="accent5"/>
                </a:solidFill>
              </a:rPr>
              <a:t>String pool</a:t>
            </a:r>
            <a:endParaRPr lang="en-IE" sz="1300" dirty="0"/>
          </a:p>
        </p:txBody>
      </p:sp>
      <p:sp>
        <p:nvSpPr>
          <p:cNvPr id="11" name="Box &quot;Tom&quot;"/>
          <p:cNvSpPr/>
          <p:nvPr/>
        </p:nvSpPr>
        <p:spPr>
          <a:xfrm>
            <a:off x="8823960" y="2423160"/>
            <a:ext cx="2514600" cy="731520"/>
          </a:xfrm>
          <a:prstGeom prst="roundRect">
            <a:avLst>
              <a:gd name="adj" fmla="val 10000"/>
            </a:avLst>
          </a:prstGeom>
          <a:solidFill>
            <a:schemeClr val="accent5">
              <a:alpha val="14000"/>
            </a:schemeClr>
          </a:solidFill>
          <a:ln w="19050">
            <a:solidFill>
              <a:schemeClr val="accent5"/>
            </a:solidFill>
            <a:prstDash val="solid"/>
          </a:ln>
        </p:spPr>
      </p:sp>
      <p:sp>
        <p:nvSpPr>
          <p:cNvPr id="12" name="Text 9"/>
          <p:cNvSpPr txBox="1"/>
          <p:nvPr/>
        </p:nvSpPr>
        <p:spPr>
          <a:xfrm>
            <a:off x="8823960" y="2423160"/>
            <a:ext cx="2514600" cy="731520"/>
          </a:xfrm>
          <a:prstGeom prst="rect">
            <a:avLst/>
          </a:prstGeom>
          <a:noFill/>
          <a:ln/>
        </p:spPr>
        <p:txBody>
          <a:bodyPr wrap="square" lIns="0" tIns="0" rIns="0" bIns="0" rtlCol="0" anchor="ctr"/>
          <a:lstStyle/>
          <a:p>
            <a:pPr algn="ctr" indent="0" marL="0">
              <a:buNone/>
            </a:pPr>
            <a:r>
              <a:rPr lang="en-IE" sz="1800" b="1" dirty="0">
                <a:solidFill>
                  <a:schemeClr val="tx1"/>
                </a:solidFill>
                <a:latin typeface="Consolas" pitchFamily="34" charset="0"/>
                <a:ea typeface="Consolas" pitchFamily="34" charset="-122"/>
                <a:cs typeface="Consolas" pitchFamily="34" charset="-120"/>
              </a:rPr>
              <a:t>"Tom"</a:t>
            </a:r>
            <a:endParaRPr lang="en-IE" sz="1800" dirty="0"/>
          </a:p>
        </p:txBody>
      </p:sp>
      <p:sp>
        <p:nvSpPr>
          <p:cNvPr id="13" name="Variable one"/>
          <p:cNvSpPr/>
          <p:nvPr/>
        </p:nvSpPr>
        <p:spPr>
          <a:xfrm>
            <a:off x="6126480" y="2011680"/>
            <a:ext cx="1554480" cy="512064"/>
          </a:xfrm>
          <a:prstGeom prst="roundRect">
            <a:avLst>
              <a:gd name="adj" fmla="val 17857"/>
            </a:avLst>
          </a:prstGeom>
          <a:solidFill>
            <a:schemeClr val="bg1"/>
          </a:solidFill>
          <a:ln w="19050">
            <a:solidFill>
              <a:schemeClr val="accent2"/>
            </a:solidFill>
          </a:ln>
        </p:spPr>
        <p:txBody>
          <a:bodyPr wrap="square" lIns="0" tIns="0" rIns="0" bIns="0" rtlCol="0" anchor="ctr"/>
          <a:lstStyle/>
          <a:p>
            <a:pPr algn="ctr" indent="0" marL="0">
              <a:buNone/>
            </a:pPr>
            <a:r>
              <a:rPr lang="en-IE" sz="1500" b="1" dirty="0">
                <a:solidFill>
                  <a:schemeClr val="accent2"/>
                </a:solidFill>
                <a:latin typeface="Consolas" pitchFamily="34" charset="0"/>
                <a:ea typeface="Consolas" pitchFamily="34" charset="-122"/>
                <a:cs typeface="Consolas" pitchFamily="34" charset="-120"/>
              </a:rPr>
              <a:t>one</a:t>
            </a:r>
            <a:endParaRPr lang="en-IE" sz="1500" dirty="0"/>
          </a:p>
        </p:txBody>
      </p:sp>
      <p:sp>
        <p:nvSpPr>
          <p:cNvPr id="14" name="Variable two"/>
          <p:cNvSpPr/>
          <p:nvPr/>
        </p:nvSpPr>
        <p:spPr>
          <a:xfrm>
            <a:off x="6126480" y="2788920"/>
            <a:ext cx="1554480" cy="512064"/>
          </a:xfrm>
          <a:prstGeom prst="roundRect">
            <a:avLst>
              <a:gd name="adj" fmla="val 17857"/>
            </a:avLst>
          </a:prstGeom>
          <a:solidFill>
            <a:schemeClr val="bg1"/>
          </a:solidFill>
          <a:ln w="19050">
            <a:solidFill>
              <a:schemeClr val="accent2"/>
            </a:solidFill>
          </a:ln>
        </p:spPr>
        <p:txBody>
          <a:bodyPr wrap="square" lIns="0" tIns="0" rIns="0" bIns="0" rtlCol="0" anchor="ctr"/>
          <a:lstStyle/>
          <a:p>
            <a:pPr algn="ctr" indent="0" marL="0">
              <a:buNone/>
            </a:pPr>
            <a:r>
              <a:rPr lang="en-IE" sz="1500" b="1" dirty="0">
                <a:solidFill>
                  <a:schemeClr val="accent2"/>
                </a:solidFill>
                <a:latin typeface="Consolas" pitchFamily="34" charset="0"/>
                <a:ea typeface="Consolas" pitchFamily="34" charset="-122"/>
                <a:cs typeface="Consolas" pitchFamily="34" charset="-120"/>
              </a:rPr>
              <a:t>two</a:t>
            </a:r>
            <a:endParaRPr lang="en-IE" sz="1500" dirty="0"/>
          </a:p>
        </p:txBody>
      </p:sp>
      <p:sp>
        <p:nvSpPr>
          <p:cNvPr id="15" name="Variable three"/>
          <p:cNvSpPr/>
          <p:nvPr/>
        </p:nvSpPr>
        <p:spPr>
          <a:xfrm>
            <a:off x="6126480" y="4343400"/>
            <a:ext cx="1554480" cy="512064"/>
          </a:xfrm>
          <a:prstGeom prst="roundRect">
            <a:avLst>
              <a:gd name="adj" fmla="val 17857"/>
            </a:avLst>
          </a:prstGeom>
          <a:solidFill>
            <a:schemeClr val="bg1"/>
          </a:solidFill>
          <a:ln w="19050">
            <a:solidFill>
              <a:schemeClr val="accent2"/>
            </a:solidFill>
          </a:ln>
        </p:spPr>
        <p:txBody>
          <a:bodyPr wrap="square" lIns="0" tIns="0" rIns="0" bIns="0" rtlCol="0" anchor="ctr"/>
          <a:lstStyle/>
          <a:p>
            <a:pPr algn="ctr" indent="0" marL="0">
              <a:buNone/>
            </a:pPr>
            <a:r>
              <a:rPr lang="en-IE" sz="1500" b="1" dirty="0">
                <a:solidFill>
                  <a:schemeClr val="accent2"/>
                </a:solidFill>
                <a:latin typeface="Consolas" pitchFamily="34" charset="0"/>
                <a:ea typeface="Consolas" pitchFamily="34" charset="-122"/>
                <a:cs typeface="Consolas" pitchFamily="34" charset="-120"/>
              </a:rPr>
              <a:t>three</a:t>
            </a:r>
            <a:endParaRPr lang="en-IE" sz="1500" dirty="0"/>
          </a:p>
        </p:txBody>
      </p:sp>
      <p:sp>
        <p:nvSpPr>
          <p:cNvPr id="16" name="Connector"/>
          <p:cNvSpPr/>
          <p:nvPr/>
        </p:nvSpPr>
        <p:spPr>
          <a:xfrm>
            <a:off x="7726680" y="2267712"/>
            <a:ext cx="1051560" cy="411480"/>
          </a:xfrm>
          <a:prstGeom prst="line">
            <a:avLst/>
          </a:prstGeom>
          <a:noFill/>
          <a:ln w="22225">
            <a:solidFill>
              <a:schemeClr val="accent5"/>
            </a:solidFill>
            <a:prstDash val="solid"/>
            <a:tailEnd type="triangle"/>
          </a:ln>
        </p:spPr>
      </p:sp>
      <p:sp>
        <p:nvSpPr>
          <p:cNvPr id="17" name="Connector"/>
          <p:cNvSpPr/>
          <p:nvPr/>
        </p:nvSpPr>
        <p:spPr>
          <a:xfrm flipV="1">
            <a:off x="7726680" y="2898648"/>
            <a:ext cx="1051560" cy="146304"/>
          </a:xfrm>
          <a:prstGeom prst="line">
            <a:avLst/>
          </a:prstGeom>
          <a:noFill/>
          <a:ln w="22225">
            <a:solidFill>
              <a:schemeClr val="accent5"/>
            </a:solidFill>
            <a:prstDash val="solid"/>
            <a:tailEnd type="triangle"/>
          </a:ln>
        </p:spPr>
      </p:sp>
      <p:sp>
        <p:nvSpPr>
          <p:cNvPr id="18" name="Box &quot;Tom&quot;"/>
          <p:cNvSpPr/>
          <p:nvPr/>
        </p:nvSpPr>
        <p:spPr>
          <a:xfrm>
            <a:off x="8823960" y="4233672"/>
            <a:ext cx="2514600" cy="731520"/>
          </a:xfrm>
          <a:prstGeom prst="roundRect">
            <a:avLst>
              <a:gd name="adj" fmla="val 10000"/>
            </a:avLst>
          </a:prstGeom>
          <a:solidFill>
            <a:schemeClr val="accent4">
              <a:alpha val="14000"/>
            </a:schemeClr>
          </a:solidFill>
          <a:ln w="19050">
            <a:solidFill>
              <a:schemeClr val="accent4"/>
            </a:solidFill>
            <a:prstDash val="solid"/>
          </a:ln>
        </p:spPr>
      </p:sp>
      <p:sp>
        <p:nvSpPr>
          <p:cNvPr id="19" name="Text 16"/>
          <p:cNvSpPr txBox="1"/>
          <p:nvPr/>
        </p:nvSpPr>
        <p:spPr>
          <a:xfrm>
            <a:off x="8823960" y="4233672"/>
            <a:ext cx="2514600" cy="731520"/>
          </a:xfrm>
          <a:prstGeom prst="rect">
            <a:avLst/>
          </a:prstGeom>
          <a:noFill/>
          <a:ln/>
        </p:spPr>
        <p:txBody>
          <a:bodyPr wrap="square" lIns="0" tIns="0" rIns="0" bIns="0" rtlCol="0" anchor="ctr"/>
          <a:lstStyle/>
          <a:p>
            <a:pPr algn="ctr" indent="0" marL="0">
              <a:buNone/>
            </a:pPr>
            <a:r>
              <a:rPr lang="en-IE" sz="1800" b="1" dirty="0">
                <a:solidFill>
                  <a:schemeClr val="tx1"/>
                </a:solidFill>
                <a:latin typeface="Consolas" pitchFamily="34" charset="0"/>
                <a:ea typeface="Consolas" pitchFamily="34" charset="-122"/>
                <a:cs typeface="Consolas" pitchFamily="34" charset="-120"/>
              </a:rPr>
              <a:t>"Tom"</a:t>
            </a:r>
            <a:endParaRPr lang="en-IE" sz="1800" dirty="0"/>
          </a:p>
        </p:txBody>
      </p:sp>
      <p:sp>
        <p:nvSpPr>
          <p:cNvPr id="20" name="Connector"/>
          <p:cNvSpPr/>
          <p:nvPr/>
        </p:nvSpPr>
        <p:spPr>
          <a:xfrm>
            <a:off x="7726680" y="4599432"/>
            <a:ext cx="1051560" cy="0"/>
          </a:xfrm>
          <a:prstGeom prst="line">
            <a:avLst/>
          </a:prstGeom>
          <a:noFill/>
          <a:ln w="22225">
            <a:solidFill>
              <a:schemeClr val="accent4"/>
            </a:solidFill>
            <a:prstDash val="solid"/>
            <a:tailEnd type="triangle"/>
          </a:ln>
        </p:spPr>
      </p:sp>
      <p:sp>
        <p:nvSpPr>
          <p:cNvPr id="21" name="Text 18"/>
          <p:cNvSpPr txBox="1"/>
          <p:nvPr/>
        </p:nvSpPr>
        <p:spPr>
          <a:xfrm>
            <a:off x="8503920" y="5020056"/>
            <a:ext cx="3136392" cy="274320"/>
          </a:xfrm>
          <a:prstGeom prst="rect">
            <a:avLst/>
          </a:prstGeom>
          <a:noFill/>
          <a:ln/>
        </p:spPr>
        <p:txBody>
          <a:bodyPr wrap="square" lIns="0" tIns="0" rIns="0" bIns="0" rtlCol="0" anchor="t"/>
          <a:lstStyle/>
          <a:p>
            <a:pPr algn="ctr" indent="0" marL="0">
              <a:buNone/>
            </a:pPr>
            <a:r>
              <a:rPr lang="en-IE" sz="1200" i="1" dirty="0">
                <a:solidFill>
                  <a:schemeClr val="tx2"/>
                </a:solidFill>
              </a:rPr>
              <a:t>a separate object, made by new</a:t>
            </a:r>
            <a:endParaRPr lang="en-IE" sz="1200" dirty="0"/>
          </a:p>
        </p:txBody>
      </p:sp>
      <p:pic>
        <p:nvPicPr>
          <p:cNvPr id="22" name="Works" descr="Works">    </p:cNvPr>
          <p:cNvPicPr>
            <a:picLocks noChangeAspect="1"/>
          </p:cNvPicPr>
          <p:nvPr/>
        </p:nvPicPr>
        <p:blipFill>
          <a:blip r:embed="rId1"/>
          <a:stretch>
            <a:fillRect/>
          </a:stretch>
        </p:blipFill>
        <p:spPr>
          <a:xfrm>
            <a:off x="6126480" y="5550408"/>
            <a:ext cx="347472" cy="347472"/>
          </a:xfrm>
          <a:prstGeom prst="rect">
            <a:avLst/>
          </a:prstGeom>
        </p:spPr>
      </p:pic>
      <p:sp>
        <p:nvSpPr>
          <p:cNvPr id="23" name="Text 19"/>
          <p:cNvSpPr txBox="1"/>
          <p:nvPr/>
        </p:nvSpPr>
        <p:spPr>
          <a:xfrm>
            <a:off x="6583680" y="5532120"/>
            <a:ext cx="1920240" cy="384048"/>
          </a:xfrm>
          <a:prstGeom prst="rect">
            <a:avLst/>
          </a:prstGeom>
          <a:noFill/>
          <a:ln/>
        </p:spPr>
        <p:txBody>
          <a:bodyPr wrap="square" lIns="0" tIns="0" rIns="0" bIns="0" rtlCol="0" anchor="ctr"/>
          <a:lstStyle/>
          <a:p>
            <a:pPr indent="0" marL="0">
              <a:buNone/>
            </a:pPr>
            <a:r>
              <a:rPr lang="en-IE" sz="1450" b="1" dirty="0">
                <a:solidFill>
                  <a:schemeClr val="accent3"/>
                </a:solidFill>
              </a:rPr>
              <a:t>one == two</a:t>
            </a:r>
            <a:endParaRPr lang="en-IE" sz="1450" dirty="0"/>
          </a:p>
        </p:txBody>
      </p:sp>
      <p:pic>
        <p:nvPicPr>
          <p:cNvPr id="24" name="Does not work" descr="Does not work">    </p:cNvPr>
          <p:cNvPicPr>
            <a:picLocks noChangeAspect="1"/>
          </p:cNvPicPr>
          <p:nvPr/>
        </p:nvPicPr>
        <p:blipFill>
          <a:blip r:embed="rId2"/>
          <a:stretch>
            <a:fillRect/>
          </a:stretch>
        </p:blipFill>
        <p:spPr>
          <a:xfrm>
            <a:off x="8823960" y="5550408"/>
            <a:ext cx="347472" cy="347472"/>
          </a:xfrm>
          <a:prstGeom prst="rect">
            <a:avLst/>
          </a:prstGeom>
        </p:spPr>
      </p:pic>
      <p:sp>
        <p:nvSpPr>
          <p:cNvPr id="25" name="Text 20"/>
          <p:cNvSpPr txBox="1"/>
          <p:nvPr/>
        </p:nvSpPr>
        <p:spPr>
          <a:xfrm>
            <a:off x="9281160" y="5532120"/>
            <a:ext cx="2286000" cy="384048"/>
          </a:xfrm>
          <a:prstGeom prst="rect">
            <a:avLst/>
          </a:prstGeom>
          <a:noFill/>
          <a:ln/>
        </p:spPr>
        <p:txBody>
          <a:bodyPr wrap="square" lIns="0" tIns="0" rIns="0" bIns="0" rtlCol="0" anchor="ctr"/>
          <a:lstStyle/>
          <a:p>
            <a:pPr indent="0" marL="0">
              <a:buNone/>
            </a:pPr>
            <a:r>
              <a:rPr lang="en-IE" sz="1450" b="1" dirty="0">
                <a:solidFill>
                  <a:srgbClr val="C0392B"/>
                </a:solidFill>
              </a:rPr>
              <a:t>one == three</a:t>
            </a:r>
            <a:endParaRPr lang="en-IE" sz="14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a:t>
            </a:fld>
            <a:endParaRPr lang="en-I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3</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The String pool</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this code print?</a:t>
            </a:r>
            <a:endParaRPr lang="en-IE" sz="2800" dirty="0"/>
          </a:p>
        </p:txBody>
      </p:sp>
      <p:sp>
        <p:nvSpPr>
          <p:cNvPr id="5" name="Question code card"/>
          <p:cNvSpPr/>
          <p:nvPr/>
        </p:nvSpPr>
        <p:spPr>
          <a:xfrm>
            <a:off x="548640" y="2544826"/>
            <a:ext cx="6035040" cy="2865628"/>
          </a:xfrm>
          <a:prstGeom prst="roundRect">
            <a:avLst>
              <a:gd name="adj" fmla="val 3829"/>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nguage"/>
          <p:cNvSpPr txBox="1"/>
          <p:nvPr/>
        </p:nvSpPr>
        <p:spPr>
          <a:xfrm>
            <a:off x="822960" y="2663698"/>
            <a:ext cx="54864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Question code text"/>
          <p:cNvSpPr txBox="1"/>
          <p:nvPr/>
        </p:nvSpPr>
        <p:spPr>
          <a:xfrm>
            <a:off x="822960" y="3038602"/>
            <a:ext cx="5486400" cy="2170684"/>
          </a:xfrm>
          <a:prstGeom prst="rect">
            <a:avLst/>
          </a:prstGeom>
          <a:noFill/>
          <a:ln/>
        </p:spPr>
        <p:txBody>
          <a:bodyPr wrap="square" lIns="0" tIns="0" rIns="0" bIns="0" rtlCol="0" anchor="t"/>
          <a:lstStyle/>
          <a:p>
            <a:pPr indent="0" marL="0">
              <a:lnSpc>
                <a:spcPts val="2380"/>
              </a:lnSpc>
              <a:buNone/>
            </a:pPr>
            <a:r>
              <a:rPr lang="en-IE" sz="1800" dirty="0">
                <a:solidFill>
                  <a:srgbClr val="6CC4E8"/>
                </a:solidFill>
                <a:latin typeface="Consolas" pitchFamily="34" charset="0"/>
                <a:ea typeface="Consolas" pitchFamily="34" charset="-122"/>
                <a:cs typeface="Consolas" pitchFamily="34" charset="-120"/>
              </a:rPr>
              <a:t>String</a:t>
            </a:r>
            <a:r>
              <a:rPr lang="en-IE" sz="1800" dirty="0">
                <a:solidFill>
                  <a:srgbClr val="E6EBF2"/>
                </a:solidFill>
                <a:latin typeface="Consolas" pitchFamily="34" charset="0"/>
                <a:ea typeface="Consolas" pitchFamily="34" charset="-122"/>
                <a:cs typeface="Consolas" pitchFamily="34" charset="-120"/>
              </a:rPr>
              <a:t> a = </a:t>
            </a:r>
            <a:r>
              <a:rPr lang="en-IE" sz="1800" dirty="0">
                <a:solidFill>
                  <a:srgbClr val="A9DB8C"/>
                </a:solidFill>
                <a:latin typeface="Consolas" pitchFamily="34" charset="0"/>
                <a:ea typeface="Consolas" pitchFamily="34" charset="-122"/>
                <a:cs typeface="Consolas" pitchFamily="34" charset="-120"/>
              </a:rPr>
              <a:t>"hello"</a:t>
            </a:r>
            <a:r>
              <a:rPr lang="en-IE" sz="1800" dirty="0">
                <a:solidFill>
                  <a:srgbClr val="E6EBF2"/>
                </a:solidFill>
                <a:latin typeface="Consolas" pitchFamily="34" charset="0"/>
                <a:ea typeface="Consolas" pitchFamily="34" charset="-122"/>
                <a:cs typeface="Consolas" pitchFamily="34" charset="-120"/>
              </a:rPr>
              <a:t>;</a:t>
            </a:r>
            <a:endParaRPr lang="en-IE" sz="1800" dirty="0"/>
          </a:p>
          <a:p>
            <a:pPr indent="0" marL="0">
              <a:lnSpc>
                <a:spcPts val="2380"/>
              </a:lnSpc>
              <a:buNone/>
            </a:pPr>
            <a:r>
              <a:rPr lang="en-IE" sz="1800" dirty="0">
                <a:solidFill>
                  <a:srgbClr val="6CC4E8"/>
                </a:solidFill>
                <a:latin typeface="Consolas" pitchFamily="34" charset="0"/>
                <a:ea typeface="Consolas" pitchFamily="34" charset="-122"/>
                <a:cs typeface="Consolas" pitchFamily="34" charset="-120"/>
              </a:rPr>
              <a:t>String</a:t>
            </a:r>
            <a:r>
              <a:rPr lang="en-IE" sz="1800" dirty="0">
                <a:solidFill>
                  <a:srgbClr val="E6EBF2"/>
                </a:solidFill>
                <a:latin typeface="Consolas" pitchFamily="34" charset="0"/>
                <a:ea typeface="Consolas" pitchFamily="34" charset="-122"/>
                <a:cs typeface="Consolas" pitchFamily="34" charset="-120"/>
              </a:rPr>
              <a:t> b = </a:t>
            </a:r>
            <a:r>
              <a:rPr lang="en-IE" sz="1800" dirty="0">
                <a:solidFill>
                  <a:srgbClr val="A9DB8C"/>
                </a:solidFill>
                <a:latin typeface="Consolas" pitchFamily="34" charset="0"/>
                <a:ea typeface="Consolas" pitchFamily="34" charset="-122"/>
                <a:cs typeface="Consolas" pitchFamily="34" charset="-120"/>
              </a:rPr>
              <a:t>"hello"</a:t>
            </a:r>
            <a:r>
              <a:rPr lang="en-IE" sz="1800" dirty="0">
                <a:solidFill>
                  <a:srgbClr val="E6EBF2"/>
                </a:solidFill>
                <a:latin typeface="Consolas" pitchFamily="34" charset="0"/>
                <a:ea typeface="Consolas" pitchFamily="34" charset="-122"/>
                <a:cs typeface="Consolas" pitchFamily="34" charset="-120"/>
              </a:rPr>
              <a:t>;</a:t>
            </a:r>
            <a:endParaRPr lang="en-IE" sz="1800" dirty="0"/>
          </a:p>
          <a:p>
            <a:pPr indent="0" marL="0">
              <a:lnSpc>
                <a:spcPts val="2380"/>
              </a:lnSpc>
              <a:buNone/>
            </a:pPr>
            <a:r>
              <a:rPr lang="en-IE" sz="1800" dirty="0">
                <a:solidFill>
                  <a:srgbClr val="6CC4E8"/>
                </a:solidFill>
                <a:latin typeface="Consolas" pitchFamily="34" charset="0"/>
                <a:ea typeface="Consolas" pitchFamily="34" charset="-122"/>
                <a:cs typeface="Consolas" pitchFamily="34" charset="-120"/>
              </a:rPr>
              <a:t>String</a:t>
            </a:r>
            <a:r>
              <a:rPr lang="en-IE" sz="1800" dirty="0">
                <a:solidFill>
                  <a:srgbClr val="E6EBF2"/>
                </a:solidFill>
                <a:latin typeface="Consolas" pitchFamily="34" charset="0"/>
                <a:ea typeface="Consolas" pitchFamily="34" charset="-122"/>
                <a:cs typeface="Consolas" pitchFamily="34" charset="-120"/>
              </a:rPr>
              <a:t> c = </a:t>
            </a:r>
            <a:r>
              <a:rPr lang="en-IE" sz="1800" dirty="0">
                <a:solidFill>
                  <a:srgbClr val="FF9F5A"/>
                </a:solidFill>
                <a:latin typeface="Consolas" pitchFamily="34" charset="0"/>
                <a:ea typeface="Consolas" pitchFamily="34" charset="-122"/>
                <a:cs typeface="Consolas" pitchFamily="34" charset="-120"/>
              </a:rPr>
              <a:t>new</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C9B0FF"/>
                </a:solidFill>
                <a:latin typeface="Consolas" pitchFamily="34" charset="0"/>
                <a:ea typeface="Consolas" pitchFamily="34" charset="-122"/>
                <a:cs typeface="Consolas" pitchFamily="34" charset="-120"/>
              </a:rPr>
              <a:t>String</a:t>
            </a:r>
            <a:r>
              <a:rPr lang="en-IE" sz="1800" dirty="0">
                <a:solidFill>
                  <a:srgbClr val="E6EBF2"/>
                </a:solidFill>
                <a:latin typeface="Consolas" pitchFamily="34" charset="0"/>
                <a:ea typeface="Consolas" pitchFamily="34" charset="-122"/>
                <a:cs typeface="Consolas" pitchFamily="34" charset="-120"/>
              </a:rPr>
              <a:t>(</a:t>
            </a:r>
            <a:r>
              <a:rPr lang="en-IE" sz="1800" dirty="0">
                <a:solidFill>
                  <a:srgbClr val="A9DB8C"/>
                </a:solidFill>
                <a:latin typeface="Consolas" pitchFamily="34" charset="0"/>
                <a:ea typeface="Consolas" pitchFamily="34" charset="-122"/>
                <a:cs typeface="Consolas" pitchFamily="34" charset="-120"/>
              </a:rPr>
              <a:t>"hello"</a:t>
            </a:r>
            <a:r>
              <a:rPr lang="en-IE" sz="1800" dirty="0">
                <a:solidFill>
                  <a:srgbClr val="E6EBF2"/>
                </a:solidFill>
                <a:latin typeface="Consolas" pitchFamily="34" charset="0"/>
                <a:ea typeface="Consolas" pitchFamily="34" charset="-122"/>
                <a:cs typeface="Consolas" pitchFamily="34" charset="-120"/>
              </a:rPr>
              <a:t>);</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 </a:t>
            </a:r>
            <a:endParaRPr lang="en-IE" sz="1800" dirty="0"/>
          </a:p>
          <a:p>
            <a:pPr indent="0" marL="0">
              <a:lnSpc>
                <a:spcPts val="2380"/>
              </a:lnSpc>
              <a:buNone/>
            </a:pPr>
            <a:r>
              <a:rPr lang="en-IE" sz="1800" dirty="0">
                <a:solidFill>
                  <a:srgbClr val="6CC4E8"/>
                </a:solidFill>
                <a:latin typeface="Consolas" pitchFamily="34" charset="0"/>
                <a:ea typeface="Consolas" pitchFamily="34" charset="-122"/>
                <a:cs typeface="Consolas" pitchFamily="34" charset="-120"/>
              </a:rPr>
              <a:t>System</a:t>
            </a:r>
            <a:r>
              <a:rPr lang="en-IE" sz="1800" dirty="0">
                <a:solidFill>
                  <a:srgbClr val="E6EBF2"/>
                </a:solidFill>
                <a:latin typeface="Consolas" pitchFamily="34" charset="0"/>
                <a:ea typeface="Consolas" pitchFamily="34" charset="-122"/>
                <a:cs typeface="Consolas" pitchFamily="34" charset="-120"/>
              </a:rPr>
              <a:t>.out.</a:t>
            </a:r>
            <a:r>
              <a:rPr lang="en-IE" sz="1800" dirty="0">
                <a:solidFill>
                  <a:srgbClr val="C9B0FF"/>
                </a:solidFill>
                <a:latin typeface="Consolas" pitchFamily="34" charset="0"/>
                <a:ea typeface="Consolas" pitchFamily="34" charset="-122"/>
                <a:cs typeface="Consolas" pitchFamily="34" charset="-120"/>
              </a:rPr>
              <a:t>println</a:t>
            </a:r>
            <a:r>
              <a:rPr lang="en-IE" sz="1800" dirty="0">
                <a:solidFill>
                  <a:srgbClr val="E6EBF2"/>
                </a:solidFill>
                <a:latin typeface="Consolas" pitchFamily="34" charset="0"/>
                <a:ea typeface="Consolas" pitchFamily="34" charset="-122"/>
                <a:cs typeface="Consolas" pitchFamily="34" charset="-120"/>
              </a:rPr>
              <a:t>(a == b);</a:t>
            </a:r>
            <a:endParaRPr lang="en-IE" sz="1800" dirty="0"/>
          </a:p>
          <a:p>
            <a:pPr indent="0" marL="0">
              <a:lnSpc>
                <a:spcPts val="2380"/>
              </a:lnSpc>
              <a:buNone/>
            </a:pPr>
            <a:r>
              <a:rPr lang="en-IE" sz="1800" dirty="0">
                <a:solidFill>
                  <a:srgbClr val="6CC4E8"/>
                </a:solidFill>
                <a:latin typeface="Consolas" pitchFamily="34" charset="0"/>
                <a:ea typeface="Consolas" pitchFamily="34" charset="-122"/>
                <a:cs typeface="Consolas" pitchFamily="34" charset="-120"/>
              </a:rPr>
              <a:t>System</a:t>
            </a:r>
            <a:r>
              <a:rPr lang="en-IE" sz="1800" dirty="0">
                <a:solidFill>
                  <a:srgbClr val="E6EBF2"/>
                </a:solidFill>
                <a:latin typeface="Consolas" pitchFamily="34" charset="0"/>
                <a:ea typeface="Consolas" pitchFamily="34" charset="-122"/>
                <a:cs typeface="Consolas" pitchFamily="34" charset="-120"/>
              </a:rPr>
              <a:t>.out.</a:t>
            </a:r>
            <a:r>
              <a:rPr lang="en-IE" sz="1800" dirty="0">
                <a:solidFill>
                  <a:srgbClr val="C9B0FF"/>
                </a:solidFill>
                <a:latin typeface="Consolas" pitchFamily="34" charset="0"/>
                <a:ea typeface="Consolas" pitchFamily="34" charset="-122"/>
                <a:cs typeface="Consolas" pitchFamily="34" charset="-120"/>
              </a:rPr>
              <a:t>println</a:t>
            </a:r>
            <a:r>
              <a:rPr lang="en-IE" sz="1800" dirty="0">
                <a:solidFill>
                  <a:srgbClr val="E6EBF2"/>
                </a:solidFill>
                <a:latin typeface="Consolas" pitchFamily="34" charset="0"/>
                <a:ea typeface="Consolas" pitchFamily="34" charset="-122"/>
                <a:cs typeface="Consolas" pitchFamily="34" charset="-120"/>
              </a:rPr>
              <a:t>(a == c);</a:t>
            </a:r>
            <a:endParaRPr lang="en-IE" sz="1800" dirty="0"/>
          </a:p>
          <a:p>
            <a:pPr indent="0" marL="0">
              <a:lnSpc>
                <a:spcPts val="2380"/>
              </a:lnSpc>
              <a:buNone/>
            </a:pPr>
            <a:r>
              <a:rPr lang="en-IE" sz="1800" dirty="0">
                <a:solidFill>
                  <a:srgbClr val="6CC4E8"/>
                </a:solidFill>
                <a:latin typeface="Consolas" pitchFamily="34" charset="0"/>
                <a:ea typeface="Consolas" pitchFamily="34" charset="-122"/>
                <a:cs typeface="Consolas" pitchFamily="34" charset="-120"/>
              </a:rPr>
              <a:t>System</a:t>
            </a:r>
            <a:r>
              <a:rPr lang="en-IE" sz="1800" dirty="0">
                <a:solidFill>
                  <a:srgbClr val="E6EBF2"/>
                </a:solidFill>
                <a:latin typeface="Consolas" pitchFamily="34" charset="0"/>
                <a:ea typeface="Consolas" pitchFamily="34" charset="-122"/>
                <a:cs typeface="Consolas" pitchFamily="34" charset="-120"/>
              </a:rPr>
              <a:t>.out.</a:t>
            </a:r>
            <a:r>
              <a:rPr lang="en-IE" sz="1800" dirty="0">
                <a:solidFill>
                  <a:srgbClr val="C9B0FF"/>
                </a:solidFill>
                <a:latin typeface="Consolas" pitchFamily="34" charset="0"/>
                <a:ea typeface="Consolas" pitchFamily="34" charset="-122"/>
                <a:cs typeface="Consolas" pitchFamily="34" charset="-120"/>
              </a:rPr>
              <a:t>println</a:t>
            </a:r>
            <a:r>
              <a:rPr lang="en-IE" sz="1800" dirty="0">
                <a:solidFill>
                  <a:srgbClr val="E6EBF2"/>
                </a:solidFill>
                <a:latin typeface="Consolas" pitchFamily="34" charset="0"/>
                <a:ea typeface="Consolas" pitchFamily="34" charset="-122"/>
                <a:cs typeface="Consolas" pitchFamily="34" charset="-120"/>
              </a:rPr>
              <a:t>(a.</a:t>
            </a:r>
            <a:r>
              <a:rPr lang="en-IE" sz="1800" dirty="0">
                <a:solidFill>
                  <a:srgbClr val="C9B0FF"/>
                </a:solidFill>
                <a:latin typeface="Consolas" pitchFamily="34" charset="0"/>
                <a:ea typeface="Consolas" pitchFamily="34" charset="-122"/>
                <a:cs typeface="Consolas" pitchFamily="34" charset="-120"/>
              </a:rPr>
              <a:t>equals</a:t>
            </a:r>
            <a:r>
              <a:rPr lang="en-IE" sz="1800" dirty="0">
                <a:solidFill>
                  <a:srgbClr val="E6EBF2"/>
                </a:solidFill>
                <a:latin typeface="Consolas" pitchFamily="34" charset="0"/>
                <a:ea typeface="Consolas" pitchFamily="34" charset="-122"/>
                <a:cs typeface="Consolas" pitchFamily="34" charset="-120"/>
              </a:rPr>
              <a:t>(c));</a:t>
            </a:r>
            <a:endParaRPr lang="en-IE" sz="18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true, true, true</a:t>
            </a:r>
            <a:endParaRPr lang="en-IE"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true, false, false</a:t>
            </a:r>
            <a:endParaRPr lang="en-IE"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false, false, true</a:t>
            </a:r>
            <a:endParaRPr lang="en-IE"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true, false, true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11</a:t>
            </a:fld>
            <a:endParaRPr lang="en-I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3</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The String pool</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this code print?</a:t>
            </a:r>
            <a:endParaRPr lang="en-IE" sz="2000" dirty="0"/>
          </a:p>
        </p:txBody>
      </p:sp>
      <p:sp>
        <p:nvSpPr>
          <p:cNvPr id="5" name="Answer code card"/>
          <p:cNvSpPr/>
          <p:nvPr/>
        </p:nvSpPr>
        <p:spPr>
          <a:xfrm>
            <a:off x="548640" y="1874520"/>
            <a:ext cx="5623560" cy="1112520"/>
          </a:xfrm>
          <a:prstGeom prst="roundRect">
            <a:avLst>
              <a:gd name="adj" fmla="val 9863"/>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710184"/>
          </a:xfrm>
          <a:prstGeom prst="rect">
            <a:avLst/>
          </a:prstGeom>
          <a:noFill/>
          <a:ln/>
        </p:spPr>
        <p:txBody>
          <a:bodyPr wrap="square" lIns="0" tIns="0" rIns="0" bIns="0" rtlCol="0" anchor="t"/>
          <a:lstStyle/>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 == b        </a:t>
            </a:r>
            <a:r>
              <a:rPr lang="en-IE" sz="1300" i="1" dirty="0">
                <a:solidFill>
                  <a:srgbClr val="A3AEC2"/>
                </a:solidFill>
                <a:latin typeface="Consolas" pitchFamily="34" charset="0"/>
                <a:ea typeface="Consolas" pitchFamily="34" charset="-122"/>
                <a:cs typeface="Consolas" pitchFamily="34" charset="-120"/>
              </a:rPr>
              <a:t>// true: one pooled "hello"</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 == c        </a:t>
            </a:r>
            <a:r>
              <a:rPr lang="en-IE" sz="1300" i="1" dirty="0">
                <a:solidFill>
                  <a:srgbClr val="A3AEC2"/>
                </a:solidFill>
                <a:latin typeface="Consolas" pitchFamily="34" charset="0"/>
                <a:ea typeface="Consolas" pitchFamily="34" charset="-122"/>
                <a:cs typeface="Consolas" pitchFamily="34" charset="-120"/>
              </a:rPr>
              <a:t>// false: new makes a second object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a:t>
            </a:r>
            <a:r>
              <a:rPr lang="en-IE" sz="1300" dirty="0">
                <a:solidFill>
                  <a:srgbClr val="C9B0FF"/>
                </a:solidFill>
                <a:latin typeface="Consolas" pitchFamily="34" charset="0"/>
                <a:ea typeface="Consolas" pitchFamily="34" charset="-122"/>
                <a:cs typeface="Consolas" pitchFamily="34" charset="-120"/>
              </a:rPr>
              <a:t>equals</a:t>
            </a:r>
            <a:r>
              <a:rPr lang="en-IE" sz="1300" dirty="0">
                <a:solidFill>
                  <a:srgbClr val="E6EBF2"/>
                </a:solidFill>
                <a:latin typeface="Consolas" pitchFamily="34" charset="0"/>
                <a:ea typeface="Consolas" pitchFamily="34" charset="-122"/>
                <a:cs typeface="Consolas" pitchFamily="34" charset="-120"/>
              </a:rPr>
              <a:t>(c)   </a:t>
            </a:r>
            <a:r>
              <a:rPr lang="en-IE" sz="1300" i="1" dirty="0">
                <a:solidFill>
                  <a:srgbClr val="A3AEC2"/>
                </a:solidFill>
                <a:latin typeface="Consolas" pitchFamily="34" charset="0"/>
                <a:ea typeface="Consolas" pitchFamily="34" charset="-122"/>
                <a:cs typeface="Consolas" pitchFamily="34" charset="-120"/>
              </a:rPr>
              <a:t>// true: the same characters</a:t>
            </a:r>
            <a:endParaRPr lang="en-IE" sz="1300" dirty="0"/>
          </a:p>
        </p:txBody>
      </p:sp>
      <p:sp>
        <p:nvSpPr>
          <p:cNvPr id="7" name="Option A"/>
          <p:cNvSpPr/>
          <p:nvPr/>
        </p:nvSpPr>
        <p:spPr>
          <a:xfrm>
            <a:off x="548640" y="3215640"/>
            <a:ext cx="5623560" cy="606552"/>
          </a:xfrm>
          <a:prstGeom prst="roundRect">
            <a:avLst>
              <a:gd name="adj" fmla="val 18090"/>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30860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71600" y="3215640"/>
            <a:ext cx="4572000" cy="606552"/>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true, true, true</a:t>
            </a:r>
            <a:endParaRPr lang="en-IE" sz="1700" dirty="0"/>
          </a:p>
        </p:txBody>
      </p:sp>
      <p:sp>
        <p:nvSpPr>
          <p:cNvPr id="10" name="Option B"/>
          <p:cNvSpPr/>
          <p:nvPr/>
        </p:nvSpPr>
        <p:spPr>
          <a:xfrm>
            <a:off x="548640" y="3968496"/>
            <a:ext cx="5623560" cy="606552"/>
          </a:xfrm>
          <a:prstGeom prst="roundRect">
            <a:avLst>
              <a:gd name="adj" fmla="val 18090"/>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4061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2" name="Option B text"/>
          <p:cNvSpPr txBox="1"/>
          <p:nvPr/>
        </p:nvSpPr>
        <p:spPr>
          <a:xfrm>
            <a:off x="1371600" y="3968496"/>
            <a:ext cx="4572000" cy="606552"/>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true, false, false</a:t>
            </a:r>
            <a:endParaRPr lang="en-IE" sz="1700" dirty="0"/>
          </a:p>
        </p:txBody>
      </p:sp>
      <p:sp>
        <p:nvSpPr>
          <p:cNvPr id="13" name="Option C"/>
          <p:cNvSpPr/>
          <p:nvPr/>
        </p:nvSpPr>
        <p:spPr>
          <a:xfrm>
            <a:off x="548640" y="4721352"/>
            <a:ext cx="5623560" cy="606552"/>
          </a:xfrm>
          <a:prstGeom prst="roundRect">
            <a:avLst>
              <a:gd name="adj" fmla="val 18090"/>
            </a:avLst>
          </a:prstGeom>
          <a:solidFill>
            <a:schemeClr val="bg1"/>
          </a:solidFill>
          <a:ln/>
          <a:effectLst>
            <a:outerShdw sx="100000" sy="100000" kx="0" ky="0" algn="bl" rotWithShape="0" blurRad="76200" dist="19050" dir="5400000">
              <a:srgbClr val="1D2433">
                <a:alpha val="8000"/>
              </a:srgbClr>
            </a:outerShdw>
          </a:effectLst>
        </p:spPr>
      </p:sp>
      <p:sp>
        <p:nvSpPr>
          <p:cNvPr id="14" name="Letter C"/>
          <p:cNvSpPr/>
          <p:nvPr/>
        </p:nvSpPr>
        <p:spPr>
          <a:xfrm>
            <a:off x="749808" y="48143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5" name="Option C text"/>
          <p:cNvSpPr txBox="1"/>
          <p:nvPr/>
        </p:nvSpPr>
        <p:spPr>
          <a:xfrm>
            <a:off x="1371600" y="4721352"/>
            <a:ext cx="4572000" cy="606552"/>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false, false, true</a:t>
            </a:r>
            <a:endParaRPr lang="en-IE" sz="1700" dirty="0"/>
          </a:p>
        </p:txBody>
      </p:sp>
      <p:sp>
        <p:nvSpPr>
          <p:cNvPr id="16" name="Option D (correct)"/>
          <p:cNvSpPr/>
          <p:nvPr/>
        </p:nvSpPr>
        <p:spPr>
          <a:xfrm>
            <a:off x="548640" y="5474208"/>
            <a:ext cx="5623560" cy="606552"/>
          </a:xfrm>
          <a:prstGeom prst="roundRect">
            <a:avLst>
              <a:gd name="adj" fmla="val 18090"/>
            </a:avLst>
          </a:prstGeom>
          <a:solidFill>
            <a:schemeClr val="accent3"/>
          </a:solidFill>
          <a:ln/>
          <a:effectLst>
            <a:outerShdw sx="100000" sy="100000" kx="0" ky="0" algn="bl" rotWithShape="0" blurRad="114300" dist="31750" dir="5400000">
              <a:srgbClr val="1D2433">
                <a:alpha val="12000"/>
              </a:srgbClr>
            </a:outerShdw>
          </a:effectLst>
        </p:spPr>
      </p:sp>
      <p:sp>
        <p:nvSpPr>
          <p:cNvPr id="17" name="Letter D"/>
          <p:cNvSpPr/>
          <p:nvPr/>
        </p:nvSpPr>
        <p:spPr>
          <a:xfrm>
            <a:off x="749808" y="55671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8" name="Option D text"/>
          <p:cNvSpPr txBox="1"/>
          <p:nvPr/>
        </p:nvSpPr>
        <p:spPr>
          <a:xfrm>
            <a:off x="1371600" y="5474208"/>
            <a:ext cx="4142232" cy="606552"/>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true, false, true</a:t>
            </a:r>
            <a:endParaRPr lang="en-IE" sz="1700" dirty="0"/>
          </a:p>
        </p:txBody>
      </p:sp>
      <p:pic>
        <p:nvPicPr>
          <p:cNvPr id="19" name="Correct mark" descr="Correct mark">    </p:cNvPr>
          <p:cNvPicPr>
            <a:picLocks noChangeAspect="1"/>
          </p:cNvPicPr>
          <p:nvPr/>
        </p:nvPicPr>
        <p:blipFill>
          <a:blip r:embed="rId1"/>
          <a:stretch>
            <a:fillRect/>
          </a:stretch>
        </p:blipFill>
        <p:spPr>
          <a:xfrm>
            <a:off x="5623560" y="5594604"/>
            <a:ext cx="365760" cy="365760"/>
          </a:xfrm>
          <a:prstGeom prst="rect">
            <a:avLst/>
          </a:prstGeom>
        </p:spPr>
      </p:pic>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tx1"/>
                </a:solidFill>
              </a:rPr>
              <a:t>Literals with the same text share one String from the pool, so </a:t>
            </a:r>
            <a:r>
              <a:rPr lang="en-IE" sz="1800" dirty="0">
                <a:solidFill>
                  <a:schemeClr val="accent2"/>
                </a:solidFill>
                <a:latin typeface="Consolas" pitchFamily="34" charset="0"/>
                <a:ea typeface="Consolas" pitchFamily="34" charset="-122"/>
                <a:cs typeface="Consolas" pitchFamily="34" charset="-120"/>
              </a:rPr>
              <a:t>a == b</a:t>
            </a:r>
            <a:r>
              <a:rPr lang="en-IE" sz="1800" dirty="0">
                <a:solidFill>
                  <a:schemeClr val="tx1"/>
                </a:solidFill>
              </a:rPr>
              <a:t> is true. </a:t>
            </a:r>
            <a:r>
              <a:rPr lang="en-IE" sz="1800" dirty="0">
                <a:solidFill>
                  <a:schemeClr val="accent2"/>
                </a:solidFill>
                <a:latin typeface="Consolas" pitchFamily="34" charset="0"/>
                <a:ea typeface="Consolas" pitchFamily="34" charset="-122"/>
                <a:cs typeface="Consolas" pitchFamily="34" charset="-120"/>
              </a:rPr>
              <a:t>new String(...)</a:t>
            </a:r>
            <a:r>
              <a:rPr lang="en-IE" sz="1800" dirty="0">
                <a:solidFill>
                  <a:schemeClr val="tx1"/>
                </a:solidFill>
              </a:rPr>
              <a:t> always makes a separate object, so </a:t>
            </a:r>
            <a:r>
              <a:rPr lang="en-IE" sz="1800" dirty="0">
                <a:solidFill>
                  <a:schemeClr val="accent2"/>
                </a:solidFill>
                <a:latin typeface="Consolas" pitchFamily="34" charset="0"/>
                <a:ea typeface="Consolas" pitchFamily="34" charset="-122"/>
                <a:cs typeface="Consolas" pitchFamily="34" charset="-120"/>
              </a:rPr>
              <a:t>a == c</a:t>
            </a:r>
            <a:r>
              <a:rPr lang="en-IE" sz="1800" dirty="0">
                <a:solidFill>
                  <a:schemeClr val="tx1"/>
                </a:solidFill>
              </a:rPr>
              <a:t> is false, even though </a:t>
            </a:r>
            <a:r>
              <a:rPr lang="en-IE" sz="1800" dirty="0">
                <a:solidFill>
                  <a:schemeClr val="accent2"/>
                </a:solidFill>
                <a:latin typeface="Consolas" pitchFamily="34" charset="0"/>
                <a:ea typeface="Consolas" pitchFamily="34" charset="-122"/>
                <a:cs typeface="Consolas" pitchFamily="34" charset="-120"/>
              </a:rPr>
              <a:t>equals</a:t>
            </a:r>
            <a:r>
              <a:rPr lang="en-IE" sz="1800" dirty="0">
                <a:solidFill>
                  <a:schemeClr val="tx1"/>
                </a:solidFill>
              </a:rPr>
              <a:t> finds the same text.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12</a:t>
            </a:fld>
            <a:endParaRPr lang="en-I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EQUALS AND ==</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Object’s equals() only checks for the same object</a:t>
            </a:r>
            <a:endParaRPr lang="en-IE" sz="3400" dirty="0"/>
          </a:p>
        </p:txBody>
      </p:sp>
      <p:sp>
        <p:nvSpPr>
          <p:cNvPr id="5" name="Text 2"/>
          <p:cNvSpPr txBox="1"/>
          <p:nvPr/>
        </p:nvSpPr>
        <p:spPr>
          <a:xfrm>
            <a:off x="548640" y="1783080"/>
            <a:ext cx="5120640" cy="182880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If a class doesn’t override </a:t>
            </a:r>
            <a:r>
              <a:rPr lang="en-IE" sz="1800" dirty="0">
                <a:solidFill>
                  <a:schemeClr val="accent2"/>
                </a:solidFill>
                <a:latin typeface="Consolas" pitchFamily="34" charset="0"/>
                <a:ea typeface="Consolas" pitchFamily="34" charset="-122"/>
                <a:cs typeface="Consolas" pitchFamily="34" charset="-120"/>
              </a:rPr>
              <a:t>equals()</a:t>
            </a:r>
            <a:r>
              <a:rPr lang="en-IE" sz="1800" dirty="0">
                <a:solidFill>
                  <a:schemeClr val="tx1"/>
                </a:solidFill>
              </a:rPr>
              <a:t>, it inherits Object’s version.</a:t>
            </a:r>
            <a:endParaRPr lang="en-IE" sz="1800" dirty="0"/>
          </a:p>
          <a:p>
            <a:pPr marL="228600" indent="-228600">
              <a:buSzPct val="100000"/>
              <a:buChar char="•"/>
            </a:pPr>
            <a:r>
              <a:rPr lang="en-IE" sz="1800" dirty="0">
                <a:solidFill>
                  <a:schemeClr val="tx1"/>
                </a:solidFill>
              </a:rPr>
              <a:t>That version only checks whether both variables refer to the same object, just like </a:t>
            </a:r>
            <a:r>
              <a:rPr lang="en-IE" sz="1800" dirty="0">
                <a:solidFill>
                  <a:schemeClr val="accent2"/>
                </a:solidFill>
                <a:latin typeface="Consolas" pitchFamily="34" charset="0"/>
                <a:ea typeface="Consolas" pitchFamily="34" charset="-122"/>
                <a:cs typeface="Consolas" pitchFamily="34" charset="-120"/>
              </a:rPr>
              <a:t>==</a:t>
            </a:r>
            <a:r>
              <a:rPr lang="en-IE" sz="1800" dirty="0">
                <a:solidFill>
                  <a:schemeClr val="tx1"/>
                </a:solidFill>
              </a:rPr>
              <a:t>.</a:t>
            </a:r>
            <a:endParaRPr lang="en-IE" sz="1800" dirty="0"/>
          </a:p>
        </p:txBody>
      </p:sp>
      <p:sp>
        <p:nvSpPr>
          <p:cNvPr id="6" name="Default equals card"/>
          <p:cNvSpPr/>
          <p:nvPr/>
        </p:nvSpPr>
        <p:spPr>
          <a:xfrm>
            <a:off x="548640" y="3657600"/>
            <a:ext cx="5120640" cy="2159508"/>
          </a:xfrm>
          <a:prstGeom prst="roundRect">
            <a:avLst>
              <a:gd name="adj" fmla="val 5081"/>
            </a:avLst>
          </a:prstGeom>
          <a:solidFill>
            <a:schemeClr val="tx1"/>
          </a:solidFill>
          <a:ln/>
          <a:effectLst>
            <a:outerShdw sx="100000" sy="100000" kx="0" ky="0" algn="bl" rotWithShape="0" blurRad="114300" dist="31750" dir="5400000">
              <a:srgbClr val="1D2433">
                <a:alpha val="12000"/>
              </a:srgbClr>
            </a:outerShdw>
          </a:effectLst>
        </p:spPr>
      </p:sp>
      <p:sp>
        <p:nvSpPr>
          <p:cNvPr id="7" name="Default equals language"/>
          <p:cNvSpPr txBox="1"/>
          <p:nvPr/>
        </p:nvSpPr>
        <p:spPr>
          <a:xfrm>
            <a:off x="822960" y="3776472"/>
            <a:ext cx="45720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Default equals text"/>
          <p:cNvSpPr txBox="1"/>
          <p:nvPr/>
        </p:nvSpPr>
        <p:spPr>
          <a:xfrm>
            <a:off x="822960" y="4151376"/>
            <a:ext cx="4572000" cy="1464564"/>
          </a:xfrm>
          <a:prstGeom prst="rect">
            <a:avLst/>
          </a:prstGeom>
          <a:noFill/>
          <a:ln/>
        </p:spPr>
        <p:txBody>
          <a:bodyPr wrap="square" lIns="0" tIns="0" rIns="0" bIns="0" rtlCol="0" anchor="t"/>
          <a:lstStyle/>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 ann = </a:t>
            </a: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A9DB8C"/>
                </a:solidFill>
                <a:latin typeface="Consolas" pitchFamily="34" charset="0"/>
                <a:ea typeface="Consolas" pitchFamily="34" charset="-122"/>
                <a:cs typeface="Consolas" pitchFamily="34" charset="-120"/>
              </a:rPr>
              <a:t>"ann"</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 otherAnn = </a:t>
            </a: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A9DB8C"/>
                </a:solidFill>
                <a:latin typeface="Consolas" pitchFamily="34" charset="0"/>
                <a:ea typeface="Consolas" pitchFamily="34" charset="-122"/>
                <a:cs typeface="Consolas" pitchFamily="34" charset="-120"/>
              </a:rPr>
              <a:t>"ann"</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 sameAnn = ann;</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ann.</a:t>
            </a:r>
            <a:r>
              <a:rPr lang="en-IE" sz="1400" dirty="0">
                <a:solidFill>
                  <a:srgbClr val="C9B0FF"/>
                </a:solidFill>
                <a:latin typeface="Consolas" pitchFamily="34" charset="0"/>
                <a:ea typeface="Consolas" pitchFamily="34" charset="-122"/>
                <a:cs typeface="Consolas" pitchFamily="34" charset="-120"/>
              </a:rPr>
              <a:t>equals</a:t>
            </a:r>
            <a:r>
              <a:rPr lang="en-IE" sz="1400" dirty="0">
                <a:solidFill>
                  <a:srgbClr val="E6EBF2"/>
                </a:solidFill>
                <a:latin typeface="Consolas" pitchFamily="34" charset="0"/>
                <a:ea typeface="Consolas" pitchFamily="34" charset="-122"/>
                <a:cs typeface="Consolas" pitchFamily="34" charset="-120"/>
              </a:rPr>
              <a:t>(sameAnn);    </a:t>
            </a:r>
            <a:r>
              <a:rPr lang="en-IE" sz="1400" i="1" dirty="0">
                <a:solidFill>
                  <a:srgbClr val="A3AEC2"/>
                </a:solidFill>
                <a:latin typeface="Consolas" pitchFamily="34" charset="0"/>
                <a:ea typeface="Consolas" pitchFamily="34" charset="-122"/>
                <a:cs typeface="Consolas" pitchFamily="34" charset="-120"/>
              </a:rPr>
              <a:t>// true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ann.</a:t>
            </a:r>
            <a:r>
              <a:rPr lang="en-IE" sz="1400" dirty="0">
                <a:solidFill>
                  <a:srgbClr val="C9B0FF"/>
                </a:solidFill>
                <a:latin typeface="Consolas" pitchFamily="34" charset="0"/>
                <a:ea typeface="Consolas" pitchFamily="34" charset="-122"/>
                <a:cs typeface="Consolas" pitchFamily="34" charset="-120"/>
              </a:rPr>
              <a:t>equals</a:t>
            </a:r>
            <a:r>
              <a:rPr lang="en-IE" sz="1400" dirty="0">
                <a:solidFill>
                  <a:srgbClr val="E6EBF2"/>
                </a:solidFill>
                <a:latin typeface="Consolas" pitchFamily="34" charset="0"/>
                <a:ea typeface="Consolas" pitchFamily="34" charset="-122"/>
                <a:cs typeface="Consolas" pitchFamily="34" charset="-120"/>
              </a:rPr>
              <a:t>(otherAnn);   </a:t>
            </a:r>
            <a:r>
              <a:rPr lang="en-IE" sz="1400" i="1" dirty="0">
                <a:solidFill>
                  <a:srgbClr val="A3AEC2"/>
                </a:solidFill>
                <a:latin typeface="Consolas" pitchFamily="34" charset="0"/>
                <a:ea typeface="Consolas" pitchFamily="34" charset="-122"/>
                <a:cs typeface="Consolas" pitchFamily="34" charset="-120"/>
              </a:rPr>
              <a:t>// false</a:t>
            </a:r>
            <a:endParaRPr lang="en-IE" sz="1400" dirty="0"/>
          </a:p>
        </p:txBody>
      </p:sp>
      <p:sp>
        <p:nvSpPr>
          <p:cNvPr id="9" name="Variable ann"/>
          <p:cNvSpPr/>
          <p:nvPr/>
        </p:nvSpPr>
        <p:spPr>
          <a:xfrm>
            <a:off x="6126480" y="1874520"/>
            <a:ext cx="1828800" cy="512064"/>
          </a:xfrm>
          <a:prstGeom prst="roundRect">
            <a:avLst>
              <a:gd name="adj" fmla="val 17857"/>
            </a:avLst>
          </a:prstGeom>
          <a:solidFill>
            <a:schemeClr val="bg1"/>
          </a:solidFill>
          <a:ln w="19050">
            <a:solidFill>
              <a:schemeClr val="accent2"/>
            </a:solidFill>
          </a:ln>
        </p:spPr>
        <p:txBody>
          <a:bodyPr wrap="square" lIns="0" tIns="0" rIns="0" bIns="0" rtlCol="0" anchor="ctr"/>
          <a:lstStyle/>
          <a:p>
            <a:pPr algn="ctr" indent="0" marL="0">
              <a:buNone/>
            </a:pPr>
            <a:r>
              <a:rPr lang="en-IE" sz="1500" b="1" dirty="0">
                <a:solidFill>
                  <a:schemeClr val="accent2"/>
                </a:solidFill>
                <a:latin typeface="Consolas" pitchFamily="34" charset="0"/>
                <a:ea typeface="Consolas" pitchFamily="34" charset="-122"/>
                <a:cs typeface="Consolas" pitchFamily="34" charset="-120"/>
              </a:rPr>
              <a:t>ann</a:t>
            </a:r>
            <a:endParaRPr lang="en-IE" sz="1500" dirty="0"/>
          </a:p>
        </p:txBody>
      </p:sp>
      <p:sp>
        <p:nvSpPr>
          <p:cNvPr id="10" name="Variable sameAnn"/>
          <p:cNvSpPr/>
          <p:nvPr/>
        </p:nvSpPr>
        <p:spPr>
          <a:xfrm>
            <a:off x="6126480" y="2606040"/>
            <a:ext cx="1828800" cy="512064"/>
          </a:xfrm>
          <a:prstGeom prst="roundRect">
            <a:avLst>
              <a:gd name="adj" fmla="val 17857"/>
            </a:avLst>
          </a:prstGeom>
          <a:solidFill>
            <a:schemeClr val="bg1"/>
          </a:solidFill>
          <a:ln w="19050">
            <a:solidFill>
              <a:schemeClr val="accent2"/>
            </a:solidFill>
          </a:ln>
        </p:spPr>
        <p:txBody>
          <a:bodyPr wrap="square" lIns="0" tIns="0" rIns="0" bIns="0" rtlCol="0" anchor="ctr"/>
          <a:lstStyle/>
          <a:p>
            <a:pPr algn="ctr" indent="0" marL="0">
              <a:buNone/>
            </a:pPr>
            <a:r>
              <a:rPr lang="en-IE" sz="1500" b="1" dirty="0">
                <a:solidFill>
                  <a:schemeClr val="accent2"/>
                </a:solidFill>
                <a:latin typeface="Consolas" pitchFamily="34" charset="0"/>
                <a:ea typeface="Consolas" pitchFamily="34" charset="-122"/>
                <a:cs typeface="Consolas" pitchFamily="34" charset="-120"/>
              </a:rPr>
              <a:t>sameAnn</a:t>
            </a:r>
            <a:endParaRPr lang="en-IE" sz="1500" dirty="0"/>
          </a:p>
        </p:txBody>
      </p:sp>
      <p:sp>
        <p:nvSpPr>
          <p:cNvPr id="11" name="Variable otherAnn"/>
          <p:cNvSpPr/>
          <p:nvPr/>
        </p:nvSpPr>
        <p:spPr>
          <a:xfrm>
            <a:off x="6126480" y="4069080"/>
            <a:ext cx="1828800" cy="512064"/>
          </a:xfrm>
          <a:prstGeom prst="roundRect">
            <a:avLst>
              <a:gd name="adj" fmla="val 17857"/>
            </a:avLst>
          </a:prstGeom>
          <a:solidFill>
            <a:schemeClr val="bg1"/>
          </a:solidFill>
          <a:ln w="19050">
            <a:solidFill>
              <a:schemeClr val="accent2"/>
            </a:solidFill>
          </a:ln>
        </p:spPr>
        <p:txBody>
          <a:bodyPr wrap="square" lIns="0" tIns="0" rIns="0" bIns="0" rtlCol="0" anchor="ctr"/>
          <a:lstStyle/>
          <a:p>
            <a:pPr algn="ctr" indent="0" marL="0">
              <a:buNone/>
            </a:pPr>
            <a:r>
              <a:rPr lang="en-IE" sz="1500" b="1" dirty="0">
                <a:solidFill>
                  <a:schemeClr val="accent2"/>
                </a:solidFill>
                <a:latin typeface="Consolas" pitchFamily="34" charset="0"/>
                <a:ea typeface="Consolas" pitchFamily="34" charset="-122"/>
                <a:cs typeface="Consolas" pitchFamily="34" charset="-120"/>
              </a:rPr>
              <a:t>otherAnn</a:t>
            </a:r>
            <a:endParaRPr lang="en-IE" sz="1500" dirty="0"/>
          </a:p>
        </p:txBody>
      </p:sp>
      <p:sp>
        <p:nvSpPr>
          <p:cNvPr id="12" name="Class object 1 : Student"/>
          <p:cNvSpPr/>
          <p:nvPr/>
        </p:nvSpPr>
        <p:spPr>
          <a:xfrm>
            <a:off x="8915400" y="1874520"/>
            <a:ext cx="2724912" cy="897890"/>
          </a:xfrm>
          <a:prstGeom prst="rect">
            <a:avLst/>
          </a:prstGeom>
          <a:solidFill>
            <a:schemeClr val="bg1"/>
          </a:solidFill>
          <a:ln w="19050">
            <a:solidFill>
              <a:schemeClr val="accent4"/>
            </a:solidFill>
            <a:prstDash val="solid"/>
          </a:ln>
          <a:effectLst>
            <a:outerShdw sx="100000" sy="100000" kx="0" ky="0" algn="bl" rotWithShape="0" blurRad="76200" dist="19050" dir="5400000">
              <a:srgbClr val="1D2433">
                <a:alpha val="8000"/>
              </a:srgbClr>
            </a:outerShdw>
          </a:effectLst>
        </p:spPr>
      </p:sp>
      <p:sp>
        <p:nvSpPr>
          <p:cNvPr id="13" name="Class object 1 : Student header"/>
          <p:cNvSpPr/>
          <p:nvPr/>
        </p:nvSpPr>
        <p:spPr>
          <a:xfrm>
            <a:off x="8915400" y="1874520"/>
            <a:ext cx="2724912" cy="457200"/>
          </a:xfrm>
          <a:prstGeom prst="rect">
            <a:avLst/>
          </a:prstGeom>
          <a:solidFill>
            <a:schemeClr val="accent4">
              <a:alpha val="14000"/>
            </a:schemeClr>
          </a:solidFill>
          <a:ln w="19050">
            <a:solidFill>
              <a:schemeClr val="accent4"/>
            </a:solidFill>
            <a:prstDash val="solid"/>
          </a:ln>
        </p:spPr>
      </p:sp>
      <p:sp>
        <p:nvSpPr>
          <p:cNvPr id="14" name="Text 11"/>
          <p:cNvSpPr txBox="1"/>
          <p:nvPr/>
        </p:nvSpPr>
        <p:spPr>
          <a:xfrm>
            <a:off x="8915400" y="1911096"/>
            <a:ext cx="2724912" cy="384048"/>
          </a:xfrm>
          <a:prstGeom prst="rect">
            <a:avLst/>
          </a:prstGeom>
          <a:noFill/>
          <a:ln/>
        </p:spPr>
        <p:txBody>
          <a:bodyPr wrap="square" lIns="0" tIns="0" rIns="0" bIns="0" rtlCol="0" anchor="ctr"/>
          <a:lstStyle/>
          <a:p>
            <a:pPr algn="ctr" indent="0" marL="0">
              <a:buNone/>
            </a:pPr>
            <a:r>
              <a:rPr lang="en-IE" sz="1400" b="1" dirty="0">
                <a:solidFill>
                  <a:schemeClr val="tx1"/>
                </a:solidFill>
              </a:rPr>
              <a:t>object 1 : Student</a:t>
            </a:r>
            <a:endParaRPr lang="en-IE" sz="1400" dirty="0"/>
          </a:p>
        </p:txBody>
      </p:sp>
      <p:sp>
        <p:nvSpPr>
          <p:cNvPr id="15" name="object 1 : Student attributes"/>
          <p:cNvSpPr txBox="1"/>
          <p:nvPr/>
        </p:nvSpPr>
        <p:spPr>
          <a:xfrm>
            <a:off x="9043416" y="2423160"/>
            <a:ext cx="2468880" cy="257810"/>
          </a:xfrm>
          <a:prstGeom prst="rect">
            <a:avLst/>
          </a:prstGeom>
          <a:noFill/>
          <a:ln/>
        </p:spPr>
        <p:txBody>
          <a:bodyPr wrap="square" lIns="0" tIns="0" rIns="0" bIns="0" rtlCol="0" anchor="t"/>
          <a:lstStyle/>
          <a:p>
            <a:pPr indent="0" marL="0">
              <a:lnSpc>
                <a:spcPts val="2030"/>
              </a:lnSpc>
              <a:buNone/>
            </a:pPr>
            <a:r>
              <a:rPr lang="en-IE" sz="1400" dirty="0">
                <a:solidFill>
                  <a:schemeClr val="tx1"/>
                </a:solidFill>
                <a:latin typeface="Consolas" pitchFamily="34" charset="0"/>
                <a:ea typeface="Consolas" pitchFamily="34" charset="-122"/>
                <a:cs typeface="Consolas" pitchFamily="34" charset="-120"/>
              </a:rPr>
              <a:t>name = "ann"</a:t>
            </a:r>
            <a:endParaRPr lang="en-IE" sz="1400" dirty="0"/>
          </a:p>
        </p:txBody>
      </p:sp>
      <p:sp>
        <p:nvSpPr>
          <p:cNvPr id="16" name="Class object 2 : Student"/>
          <p:cNvSpPr/>
          <p:nvPr/>
        </p:nvSpPr>
        <p:spPr>
          <a:xfrm>
            <a:off x="8915400" y="3840480"/>
            <a:ext cx="2724912" cy="897890"/>
          </a:xfrm>
          <a:prstGeom prst="rect">
            <a:avLst/>
          </a:prstGeom>
          <a:solidFill>
            <a:schemeClr val="bg1"/>
          </a:solidFill>
          <a:ln w="19050">
            <a:solidFill>
              <a:schemeClr val="accent4"/>
            </a:solidFill>
            <a:prstDash val="solid"/>
          </a:ln>
          <a:effectLst>
            <a:outerShdw sx="100000" sy="100000" kx="0" ky="0" algn="bl" rotWithShape="0" blurRad="76200" dist="19050" dir="5400000">
              <a:srgbClr val="1D2433">
                <a:alpha val="8000"/>
              </a:srgbClr>
            </a:outerShdw>
          </a:effectLst>
        </p:spPr>
      </p:sp>
      <p:sp>
        <p:nvSpPr>
          <p:cNvPr id="17" name="Class object 2 : Student header"/>
          <p:cNvSpPr/>
          <p:nvPr/>
        </p:nvSpPr>
        <p:spPr>
          <a:xfrm>
            <a:off x="8915400" y="3840480"/>
            <a:ext cx="2724912" cy="457200"/>
          </a:xfrm>
          <a:prstGeom prst="rect">
            <a:avLst/>
          </a:prstGeom>
          <a:solidFill>
            <a:schemeClr val="accent4">
              <a:alpha val="14000"/>
            </a:schemeClr>
          </a:solidFill>
          <a:ln w="19050">
            <a:solidFill>
              <a:schemeClr val="accent4"/>
            </a:solidFill>
            <a:prstDash val="solid"/>
          </a:ln>
        </p:spPr>
      </p:sp>
      <p:sp>
        <p:nvSpPr>
          <p:cNvPr id="18" name="Text 15"/>
          <p:cNvSpPr txBox="1"/>
          <p:nvPr/>
        </p:nvSpPr>
        <p:spPr>
          <a:xfrm>
            <a:off x="8915400" y="3877056"/>
            <a:ext cx="2724912" cy="384048"/>
          </a:xfrm>
          <a:prstGeom prst="rect">
            <a:avLst/>
          </a:prstGeom>
          <a:noFill/>
          <a:ln/>
        </p:spPr>
        <p:txBody>
          <a:bodyPr wrap="square" lIns="0" tIns="0" rIns="0" bIns="0" rtlCol="0" anchor="ctr"/>
          <a:lstStyle/>
          <a:p>
            <a:pPr algn="ctr" indent="0" marL="0">
              <a:buNone/>
            </a:pPr>
            <a:r>
              <a:rPr lang="en-IE" sz="1400" b="1" dirty="0">
                <a:solidFill>
                  <a:schemeClr val="tx1"/>
                </a:solidFill>
              </a:rPr>
              <a:t>object 2 : Student</a:t>
            </a:r>
            <a:endParaRPr lang="en-IE" sz="1400" dirty="0"/>
          </a:p>
        </p:txBody>
      </p:sp>
      <p:sp>
        <p:nvSpPr>
          <p:cNvPr id="19" name="object 2 : Student attributes"/>
          <p:cNvSpPr txBox="1"/>
          <p:nvPr/>
        </p:nvSpPr>
        <p:spPr>
          <a:xfrm>
            <a:off x="9043416" y="4389120"/>
            <a:ext cx="2468880" cy="257810"/>
          </a:xfrm>
          <a:prstGeom prst="rect">
            <a:avLst/>
          </a:prstGeom>
          <a:noFill/>
          <a:ln/>
        </p:spPr>
        <p:txBody>
          <a:bodyPr wrap="square" lIns="0" tIns="0" rIns="0" bIns="0" rtlCol="0" anchor="t"/>
          <a:lstStyle/>
          <a:p>
            <a:pPr indent="0" marL="0">
              <a:lnSpc>
                <a:spcPts val="2030"/>
              </a:lnSpc>
              <a:buNone/>
            </a:pPr>
            <a:r>
              <a:rPr lang="en-IE" sz="1400" dirty="0">
                <a:solidFill>
                  <a:schemeClr val="tx1"/>
                </a:solidFill>
                <a:latin typeface="Consolas" pitchFamily="34" charset="0"/>
                <a:ea typeface="Consolas" pitchFamily="34" charset="-122"/>
                <a:cs typeface="Consolas" pitchFamily="34" charset="-120"/>
              </a:rPr>
              <a:t>name = "ann"</a:t>
            </a:r>
            <a:endParaRPr lang="en-IE" sz="1400" dirty="0"/>
          </a:p>
        </p:txBody>
      </p:sp>
      <p:sp>
        <p:nvSpPr>
          <p:cNvPr id="20" name="Connector"/>
          <p:cNvSpPr/>
          <p:nvPr/>
        </p:nvSpPr>
        <p:spPr>
          <a:xfrm>
            <a:off x="8001000" y="2130552"/>
            <a:ext cx="868680" cy="64008"/>
          </a:xfrm>
          <a:prstGeom prst="line">
            <a:avLst/>
          </a:prstGeom>
          <a:noFill/>
          <a:ln w="22225">
            <a:solidFill>
              <a:schemeClr val="accent2"/>
            </a:solidFill>
            <a:prstDash val="solid"/>
            <a:tailEnd type="triangle"/>
          </a:ln>
        </p:spPr>
      </p:sp>
      <p:sp>
        <p:nvSpPr>
          <p:cNvPr id="21" name="Connector"/>
          <p:cNvSpPr/>
          <p:nvPr/>
        </p:nvSpPr>
        <p:spPr>
          <a:xfrm flipV="1">
            <a:off x="8001000" y="2560320"/>
            <a:ext cx="868680" cy="301752"/>
          </a:xfrm>
          <a:prstGeom prst="line">
            <a:avLst/>
          </a:prstGeom>
          <a:noFill/>
          <a:ln w="22225">
            <a:solidFill>
              <a:schemeClr val="accent2"/>
            </a:solidFill>
            <a:prstDash val="solid"/>
            <a:tailEnd type="triangle"/>
          </a:ln>
        </p:spPr>
      </p:sp>
      <p:sp>
        <p:nvSpPr>
          <p:cNvPr id="22" name="Connector"/>
          <p:cNvSpPr/>
          <p:nvPr/>
        </p:nvSpPr>
        <p:spPr>
          <a:xfrm flipV="1">
            <a:off x="8001000" y="4297680"/>
            <a:ext cx="868680" cy="27432"/>
          </a:xfrm>
          <a:prstGeom prst="line">
            <a:avLst/>
          </a:prstGeom>
          <a:noFill/>
          <a:ln w="22225">
            <a:solidFill>
              <a:schemeClr val="accent2"/>
            </a:solidFill>
            <a:prstDash val="solid"/>
            <a:tailEnd type="triangle"/>
          </a:ln>
        </p:spPr>
      </p:sp>
      <p:sp>
        <p:nvSpPr>
          <p:cNvPr id="23" name="Note"/>
          <p:cNvSpPr/>
          <p:nvPr/>
        </p:nvSpPr>
        <p:spPr>
          <a:xfrm>
            <a:off x="6126480" y="5257800"/>
            <a:ext cx="5516575" cy="777240"/>
          </a:xfrm>
          <a:prstGeom prst="roundRect">
            <a:avLst>
              <a:gd name="adj" fmla="val 14118"/>
            </a:avLst>
          </a:prstGeom>
          <a:solidFill>
            <a:schemeClr val="bg2"/>
          </a:solidFill>
          <a:ln/>
        </p:spPr>
      </p:sp>
      <p:sp>
        <p:nvSpPr>
          <p:cNvPr id="24" name="Icon tile"/>
          <p:cNvSpPr/>
          <p:nvPr/>
        </p:nvSpPr>
        <p:spPr>
          <a:xfrm>
            <a:off x="6400800" y="5381244"/>
            <a:ext cx="530352" cy="530352"/>
          </a:xfrm>
          <a:prstGeom prst="roundRect">
            <a:avLst>
              <a:gd name="adj" fmla="val 24000"/>
            </a:avLst>
          </a:prstGeom>
          <a:solidFill>
            <a:schemeClr val="accent2">
              <a:alpha val="14000"/>
            </a:schemeClr>
          </a:solidFill>
          <a:ln/>
        </p:spPr>
      </p:sp>
      <p:pic>
        <p:nvPicPr>
          <p:cNvPr id="25" name="info icon" descr="info icon">    </p:cNvPr>
          <p:cNvPicPr>
            <a:picLocks noChangeAspect="1"/>
          </p:cNvPicPr>
          <p:nvPr/>
        </p:nvPicPr>
        <p:blipFill>
          <a:blip r:embed="rId1"/>
          <a:stretch>
            <a:fillRect/>
          </a:stretch>
        </p:blipFill>
        <p:spPr>
          <a:xfrm>
            <a:off x="6512174" y="5492618"/>
            <a:ext cx="307604" cy="307604"/>
          </a:xfrm>
          <a:prstGeom prst="rect">
            <a:avLst/>
          </a:prstGeom>
        </p:spPr>
      </p:pic>
      <p:sp>
        <p:nvSpPr>
          <p:cNvPr id="26" name="Text 22"/>
          <p:cNvSpPr txBox="1"/>
          <p:nvPr/>
        </p:nvSpPr>
        <p:spPr>
          <a:xfrm>
            <a:off x="7150608" y="5257800"/>
            <a:ext cx="4236415" cy="777240"/>
          </a:xfrm>
          <a:prstGeom prst="rect">
            <a:avLst/>
          </a:prstGeom>
          <a:noFill/>
          <a:ln/>
        </p:spPr>
        <p:txBody>
          <a:bodyPr wrap="square" lIns="0" tIns="0" rIns="0" bIns="0" rtlCol="0" anchor="ctr"/>
          <a:lstStyle/>
          <a:p>
            <a:pPr indent="0" marL="0">
              <a:buNone/>
            </a:pPr>
            <a:r>
              <a:rPr lang="en-IE" sz="1500" dirty="0">
                <a:solidFill>
                  <a:schemeClr val="tx1"/>
                </a:solidFill>
              </a:rPr>
              <a:t>The same content isn’t enough here. Without an override, they must be the same object.</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13</a:t>
            </a:fld>
            <a:endParaRPr lang="en-I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4</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Object’s equals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Student doesn’t override equals(). Which of these is true?</a:t>
            </a:r>
            <a:endParaRPr lang="en-IE" sz="2800" dirty="0"/>
          </a:p>
        </p:txBody>
      </p:sp>
      <p:sp>
        <p:nvSpPr>
          <p:cNvPr id="5" name="Question code card"/>
          <p:cNvSpPr/>
          <p:nvPr/>
        </p:nvSpPr>
        <p:spPr>
          <a:xfrm>
            <a:off x="548640" y="1965960"/>
            <a:ext cx="11094415" cy="1363980"/>
          </a:xfrm>
          <a:prstGeom prst="roundRect">
            <a:avLst>
              <a:gd name="adj" fmla="val 8045"/>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text"/>
          <p:cNvSpPr txBox="1"/>
          <p:nvPr/>
        </p:nvSpPr>
        <p:spPr>
          <a:xfrm>
            <a:off x="822960" y="2167128"/>
            <a:ext cx="10545775" cy="961644"/>
          </a:xfrm>
          <a:prstGeom prst="rect">
            <a:avLst/>
          </a:prstGeom>
          <a:noFill/>
          <a:ln/>
        </p:spPr>
        <p:txBody>
          <a:bodyPr wrap="square" lIns="0" tIns="0" rIns="0" bIns="0" rtlCol="0" anchor="t"/>
          <a:lstStyle/>
          <a:p>
            <a:pPr indent="0" marL="0">
              <a:lnSpc>
                <a:spcPts val="2380"/>
              </a:lnSpc>
              <a:buNone/>
            </a:pPr>
            <a:r>
              <a:rPr lang="en-IE" sz="1800" dirty="0">
                <a:solidFill>
                  <a:srgbClr val="6CC4E8"/>
                </a:solidFill>
                <a:latin typeface="Consolas" pitchFamily="34" charset="0"/>
                <a:ea typeface="Consolas" pitchFamily="34" charset="-122"/>
                <a:cs typeface="Consolas" pitchFamily="34" charset="-120"/>
              </a:rPr>
              <a:t>Student</a:t>
            </a:r>
            <a:r>
              <a:rPr lang="en-IE" sz="1800" dirty="0">
                <a:solidFill>
                  <a:srgbClr val="E6EBF2"/>
                </a:solidFill>
                <a:latin typeface="Consolas" pitchFamily="34" charset="0"/>
                <a:ea typeface="Consolas" pitchFamily="34" charset="-122"/>
                <a:cs typeface="Consolas" pitchFamily="34" charset="-120"/>
              </a:rPr>
              <a:t> ann = </a:t>
            </a:r>
            <a:r>
              <a:rPr lang="en-IE" sz="1800" dirty="0">
                <a:solidFill>
                  <a:srgbClr val="FF9F5A"/>
                </a:solidFill>
                <a:latin typeface="Consolas" pitchFamily="34" charset="0"/>
                <a:ea typeface="Consolas" pitchFamily="34" charset="-122"/>
                <a:cs typeface="Consolas" pitchFamily="34" charset="-120"/>
              </a:rPr>
              <a:t>new</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C9B0FF"/>
                </a:solidFill>
                <a:latin typeface="Consolas" pitchFamily="34" charset="0"/>
                <a:ea typeface="Consolas" pitchFamily="34" charset="-122"/>
                <a:cs typeface="Consolas" pitchFamily="34" charset="-120"/>
              </a:rPr>
              <a:t>Student</a:t>
            </a:r>
            <a:r>
              <a:rPr lang="en-IE" sz="1800" dirty="0">
                <a:solidFill>
                  <a:srgbClr val="E6EBF2"/>
                </a:solidFill>
                <a:latin typeface="Consolas" pitchFamily="34" charset="0"/>
                <a:ea typeface="Consolas" pitchFamily="34" charset="-122"/>
                <a:cs typeface="Consolas" pitchFamily="34" charset="-120"/>
              </a:rPr>
              <a:t>(</a:t>
            </a:r>
            <a:r>
              <a:rPr lang="en-IE" sz="1800" dirty="0">
                <a:solidFill>
                  <a:srgbClr val="A9DB8C"/>
                </a:solidFill>
                <a:latin typeface="Consolas" pitchFamily="34" charset="0"/>
                <a:ea typeface="Consolas" pitchFamily="34" charset="-122"/>
                <a:cs typeface="Consolas" pitchFamily="34" charset="-120"/>
              </a:rPr>
              <a:t>"ann"</a:t>
            </a:r>
            <a:r>
              <a:rPr lang="en-IE" sz="1800" dirty="0">
                <a:solidFill>
                  <a:srgbClr val="E6EBF2"/>
                </a:solidFill>
                <a:latin typeface="Consolas" pitchFamily="34" charset="0"/>
                <a:ea typeface="Consolas" pitchFamily="34" charset="-122"/>
                <a:cs typeface="Consolas" pitchFamily="34" charset="-120"/>
              </a:rPr>
              <a:t>);</a:t>
            </a:r>
            <a:endParaRPr lang="en-IE" sz="1800" dirty="0"/>
          </a:p>
          <a:p>
            <a:pPr indent="0" marL="0">
              <a:lnSpc>
                <a:spcPts val="2380"/>
              </a:lnSpc>
              <a:buNone/>
            </a:pPr>
            <a:r>
              <a:rPr lang="en-IE" sz="1800" dirty="0">
                <a:solidFill>
                  <a:srgbClr val="6CC4E8"/>
                </a:solidFill>
                <a:latin typeface="Consolas" pitchFamily="34" charset="0"/>
                <a:ea typeface="Consolas" pitchFamily="34" charset="-122"/>
                <a:cs typeface="Consolas" pitchFamily="34" charset="-120"/>
              </a:rPr>
              <a:t>Student</a:t>
            </a:r>
            <a:r>
              <a:rPr lang="en-IE" sz="1800" dirty="0">
                <a:solidFill>
                  <a:srgbClr val="E6EBF2"/>
                </a:solidFill>
                <a:latin typeface="Consolas" pitchFamily="34" charset="0"/>
                <a:ea typeface="Consolas" pitchFamily="34" charset="-122"/>
                <a:cs typeface="Consolas" pitchFamily="34" charset="-120"/>
              </a:rPr>
              <a:t> otherAnn = </a:t>
            </a:r>
            <a:r>
              <a:rPr lang="en-IE" sz="1800" dirty="0">
                <a:solidFill>
                  <a:srgbClr val="FF9F5A"/>
                </a:solidFill>
                <a:latin typeface="Consolas" pitchFamily="34" charset="0"/>
                <a:ea typeface="Consolas" pitchFamily="34" charset="-122"/>
                <a:cs typeface="Consolas" pitchFamily="34" charset="-120"/>
              </a:rPr>
              <a:t>new</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C9B0FF"/>
                </a:solidFill>
                <a:latin typeface="Consolas" pitchFamily="34" charset="0"/>
                <a:ea typeface="Consolas" pitchFamily="34" charset="-122"/>
                <a:cs typeface="Consolas" pitchFamily="34" charset="-120"/>
              </a:rPr>
              <a:t>Student</a:t>
            </a:r>
            <a:r>
              <a:rPr lang="en-IE" sz="1800" dirty="0">
                <a:solidFill>
                  <a:srgbClr val="E6EBF2"/>
                </a:solidFill>
                <a:latin typeface="Consolas" pitchFamily="34" charset="0"/>
                <a:ea typeface="Consolas" pitchFamily="34" charset="-122"/>
                <a:cs typeface="Consolas" pitchFamily="34" charset="-120"/>
              </a:rPr>
              <a:t>(</a:t>
            </a:r>
            <a:r>
              <a:rPr lang="en-IE" sz="1800" dirty="0">
                <a:solidFill>
                  <a:srgbClr val="A9DB8C"/>
                </a:solidFill>
                <a:latin typeface="Consolas" pitchFamily="34" charset="0"/>
                <a:ea typeface="Consolas" pitchFamily="34" charset="-122"/>
                <a:cs typeface="Consolas" pitchFamily="34" charset="-120"/>
              </a:rPr>
              <a:t>"ann"</a:t>
            </a:r>
            <a:r>
              <a:rPr lang="en-IE" sz="1800" dirty="0">
                <a:solidFill>
                  <a:srgbClr val="E6EBF2"/>
                </a:solidFill>
                <a:latin typeface="Consolas" pitchFamily="34" charset="0"/>
                <a:ea typeface="Consolas" pitchFamily="34" charset="-122"/>
                <a:cs typeface="Consolas" pitchFamily="34" charset="-120"/>
              </a:rPr>
              <a:t>);</a:t>
            </a:r>
            <a:endParaRPr lang="en-IE" sz="1800" dirty="0"/>
          </a:p>
          <a:p>
            <a:pPr indent="0" marL="0">
              <a:lnSpc>
                <a:spcPts val="2380"/>
              </a:lnSpc>
              <a:buNone/>
            </a:pPr>
            <a:r>
              <a:rPr lang="en-IE" sz="1800" dirty="0">
                <a:solidFill>
                  <a:srgbClr val="6CC4E8"/>
                </a:solidFill>
                <a:latin typeface="Consolas" pitchFamily="34" charset="0"/>
                <a:ea typeface="Consolas" pitchFamily="34" charset="-122"/>
                <a:cs typeface="Consolas" pitchFamily="34" charset="-120"/>
              </a:rPr>
              <a:t>Student</a:t>
            </a:r>
            <a:r>
              <a:rPr lang="en-IE" sz="1800" dirty="0">
                <a:solidFill>
                  <a:srgbClr val="E6EBF2"/>
                </a:solidFill>
                <a:latin typeface="Consolas" pitchFamily="34" charset="0"/>
                <a:ea typeface="Consolas" pitchFamily="34" charset="-122"/>
                <a:cs typeface="Consolas" pitchFamily="34" charset="-120"/>
              </a:rPr>
              <a:t> sameAnn = ann;</a:t>
            </a:r>
            <a:endParaRPr lang="en-IE" sz="1800" dirty="0"/>
          </a:p>
        </p:txBody>
      </p:sp>
      <p:sp>
        <p:nvSpPr>
          <p:cNvPr id="7" name="Option A"/>
          <p:cNvSpPr/>
          <p:nvPr/>
        </p:nvSpPr>
        <p:spPr>
          <a:xfrm>
            <a:off x="548640" y="364998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8" name="Letter A"/>
          <p:cNvSpPr/>
          <p:nvPr/>
        </p:nvSpPr>
        <p:spPr>
          <a:xfrm>
            <a:off x="822960" y="38465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9" name="Option A text"/>
          <p:cNvSpPr txBox="1"/>
          <p:nvPr/>
        </p:nvSpPr>
        <p:spPr>
          <a:xfrm>
            <a:off x="1645920" y="3695700"/>
            <a:ext cx="4038448" cy="868680"/>
          </a:xfrm>
          <a:prstGeom prst="rect">
            <a:avLst/>
          </a:prstGeom>
          <a:noFill/>
          <a:ln/>
        </p:spPr>
        <p:txBody>
          <a:bodyPr wrap="square" lIns="0" tIns="0" rIns="0" bIns="0" rtlCol="0" anchor="ctr"/>
          <a:lstStyle/>
          <a:p>
            <a:pPr indent="0" marL="0">
              <a:buNone/>
            </a:pPr>
            <a:r>
              <a:rPr lang="en-IE" sz="1800" dirty="0">
                <a:solidFill>
                  <a:schemeClr val="tx1"/>
                </a:solidFill>
                <a:latin typeface="Consolas" pitchFamily="34" charset="0"/>
                <a:ea typeface="Consolas" pitchFamily="34" charset="-122"/>
                <a:cs typeface="Consolas" pitchFamily="34" charset="-120"/>
              </a:rPr>
              <a:t>ann.equals(otherAnn)</a:t>
            </a:r>
            <a:endParaRPr lang="en-IE" sz="1800" dirty="0"/>
          </a:p>
        </p:txBody>
      </p:sp>
      <p:sp>
        <p:nvSpPr>
          <p:cNvPr id="10" name="Option B"/>
          <p:cNvSpPr/>
          <p:nvPr/>
        </p:nvSpPr>
        <p:spPr>
          <a:xfrm>
            <a:off x="6233008" y="364998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1" name="Letter B"/>
          <p:cNvSpPr/>
          <p:nvPr/>
        </p:nvSpPr>
        <p:spPr>
          <a:xfrm>
            <a:off x="6507328" y="38465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2" name="Option B text"/>
          <p:cNvSpPr txBox="1"/>
          <p:nvPr/>
        </p:nvSpPr>
        <p:spPr>
          <a:xfrm>
            <a:off x="7330288" y="3695700"/>
            <a:ext cx="4038448" cy="868680"/>
          </a:xfrm>
          <a:prstGeom prst="rect">
            <a:avLst/>
          </a:prstGeom>
          <a:noFill/>
          <a:ln/>
        </p:spPr>
        <p:txBody>
          <a:bodyPr wrap="square" lIns="0" tIns="0" rIns="0" bIns="0" rtlCol="0" anchor="ctr"/>
          <a:lstStyle/>
          <a:p>
            <a:pPr indent="0" marL="0">
              <a:buNone/>
            </a:pPr>
            <a:r>
              <a:rPr lang="en-IE" sz="1800" dirty="0">
                <a:solidFill>
                  <a:schemeClr val="tx1"/>
                </a:solidFill>
                <a:latin typeface="Consolas" pitchFamily="34" charset="0"/>
                <a:ea typeface="Consolas" pitchFamily="34" charset="-122"/>
                <a:cs typeface="Consolas" pitchFamily="34" charset="-120"/>
              </a:rPr>
              <a:t>ann == otherAnn</a:t>
            </a:r>
            <a:endParaRPr lang="en-IE" sz="1800" dirty="0"/>
          </a:p>
        </p:txBody>
      </p:sp>
      <p:sp>
        <p:nvSpPr>
          <p:cNvPr id="13" name="Option C"/>
          <p:cNvSpPr/>
          <p:nvPr/>
        </p:nvSpPr>
        <p:spPr>
          <a:xfrm>
            <a:off x="548640" y="483870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4" name="Letter C"/>
          <p:cNvSpPr/>
          <p:nvPr/>
        </p:nvSpPr>
        <p:spPr>
          <a:xfrm>
            <a:off x="822960" y="503529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5" name="Option C text"/>
          <p:cNvSpPr txBox="1"/>
          <p:nvPr/>
        </p:nvSpPr>
        <p:spPr>
          <a:xfrm>
            <a:off x="1645920" y="4884420"/>
            <a:ext cx="4038448" cy="868680"/>
          </a:xfrm>
          <a:prstGeom prst="rect">
            <a:avLst/>
          </a:prstGeom>
          <a:noFill/>
          <a:ln/>
        </p:spPr>
        <p:txBody>
          <a:bodyPr wrap="square" lIns="0" tIns="0" rIns="0" bIns="0" rtlCol="0" anchor="ctr"/>
          <a:lstStyle/>
          <a:p>
            <a:pPr indent="0" marL="0">
              <a:buNone/>
            </a:pPr>
            <a:r>
              <a:rPr lang="en-IE" sz="1800" dirty="0">
                <a:solidFill>
                  <a:schemeClr val="tx1"/>
                </a:solidFill>
                <a:latin typeface="Consolas" pitchFamily="34" charset="0"/>
                <a:ea typeface="Consolas" pitchFamily="34" charset="-122"/>
                <a:cs typeface="Consolas" pitchFamily="34" charset="-120"/>
              </a:rPr>
              <a:t>otherAnn.equals(sameAnn)</a:t>
            </a:r>
            <a:endParaRPr lang="en-IE" sz="1800" dirty="0"/>
          </a:p>
        </p:txBody>
      </p:sp>
      <p:sp>
        <p:nvSpPr>
          <p:cNvPr id="16" name="Option D"/>
          <p:cNvSpPr/>
          <p:nvPr/>
        </p:nvSpPr>
        <p:spPr>
          <a:xfrm>
            <a:off x="6233008" y="483870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7" name="Letter D"/>
          <p:cNvSpPr/>
          <p:nvPr/>
        </p:nvSpPr>
        <p:spPr>
          <a:xfrm>
            <a:off x="6507328" y="503529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8" name="Option D text"/>
          <p:cNvSpPr txBox="1"/>
          <p:nvPr/>
        </p:nvSpPr>
        <p:spPr>
          <a:xfrm>
            <a:off x="7330288" y="4884420"/>
            <a:ext cx="4038448" cy="868680"/>
          </a:xfrm>
          <a:prstGeom prst="rect">
            <a:avLst/>
          </a:prstGeom>
          <a:noFill/>
          <a:ln/>
        </p:spPr>
        <p:txBody>
          <a:bodyPr wrap="square" lIns="0" tIns="0" rIns="0" bIns="0" rtlCol="0" anchor="ctr"/>
          <a:lstStyle/>
          <a:p>
            <a:pPr indent="0" marL="0">
              <a:buNone/>
            </a:pPr>
            <a:r>
              <a:rPr lang="en-IE" sz="1800" dirty="0">
                <a:solidFill>
                  <a:schemeClr val="tx1"/>
                </a:solidFill>
                <a:latin typeface="Consolas" pitchFamily="34" charset="0"/>
                <a:ea typeface="Consolas" pitchFamily="34" charset="-122"/>
                <a:cs typeface="Consolas" pitchFamily="34" charset="-120"/>
              </a:rPr>
              <a:t>sameAnn.equals(ann)</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14</a:t>
            </a:fld>
            <a:endParaRPr lang="en-IE"/>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4</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Object’s equals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Student doesn’t override equals(). Which of these is true?</a:t>
            </a:r>
            <a:endParaRPr lang="en-IE" sz="2000" dirty="0"/>
          </a:p>
        </p:txBody>
      </p:sp>
      <p:sp>
        <p:nvSpPr>
          <p:cNvPr id="5" name="Answer code card"/>
          <p:cNvSpPr/>
          <p:nvPr/>
        </p:nvSpPr>
        <p:spPr>
          <a:xfrm>
            <a:off x="548640" y="1874520"/>
            <a:ext cx="5623560" cy="1211580"/>
          </a:xfrm>
          <a:prstGeom prst="roundRect">
            <a:avLst>
              <a:gd name="adj" fmla="val 9057"/>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809244"/>
          </a:xfrm>
          <a:prstGeom prst="rect">
            <a:avLst/>
          </a:prstGeom>
          <a:noFill/>
          <a:ln/>
        </p:spPr>
        <p:txBody>
          <a:bodyPr wrap="square" lIns="0" tIns="0" rIns="0" bIns="0" rtlCol="0" anchor="t"/>
          <a:lstStyle/>
          <a:p>
            <a:pPr indent="0" marL="0">
              <a:lnSpc>
                <a:spcPts val="1980"/>
              </a:lnSpc>
              <a:buNone/>
            </a:pPr>
            <a:r>
              <a:rPr lang="en-IE" sz="1500" i="1" dirty="0">
                <a:solidFill>
                  <a:srgbClr val="A3AEC2"/>
                </a:solidFill>
                <a:latin typeface="Consolas" pitchFamily="34" charset="0"/>
                <a:ea typeface="Consolas" pitchFamily="34" charset="-122"/>
                <a:cs typeface="Consolas" pitchFamily="34" charset="-120"/>
              </a:rPr>
              <a:t>// ann and sameAnn: one object</a:t>
            </a:r>
            <a:endParaRPr lang="en-IE" sz="1500" dirty="0"/>
          </a:p>
          <a:p>
            <a:pPr indent="0" marL="0">
              <a:lnSpc>
                <a:spcPts val="1980"/>
              </a:lnSpc>
              <a:buNone/>
            </a:pPr>
            <a:r>
              <a:rPr lang="en-IE" sz="1500" i="1" dirty="0">
                <a:solidFill>
                  <a:srgbClr val="A3AEC2"/>
                </a:solidFill>
                <a:latin typeface="Consolas" pitchFamily="34" charset="0"/>
                <a:ea typeface="Consolas" pitchFamily="34" charset="-122"/>
                <a:cs typeface="Consolas" pitchFamily="34" charset="-120"/>
              </a:rPr>
              <a:t>// otherAnn: a second object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sameAnn.</a:t>
            </a:r>
            <a:r>
              <a:rPr lang="en-IE" sz="1500" dirty="0">
                <a:solidFill>
                  <a:srgbClr val="C9B0FF"/>
                </a:solidFill>
                <a:latin typeface="Consolas" pitchFamily="34" charset="0"/>
                <a:ea typeface="Consolas" pitchFamily="34" charset="-122"/>
                <a:cs typeface="Consolas" pitchFamily="34" charset="-120"/>
              </a:rPr>
              <a:t>equals</a:t>
            </a:r>
            <a:r>
              <a:rPr lang="en-IE" sz="1500" dirty="0">
                <a:solidFill>
                  <a:srgbClr val="E6EBF2"/>
                </a:solidFill>
                <a:latin typeface="Consolas" pitchFamily="34" charset="0"/>
                <a:ea typeface="Consolas" pitchFamily="34" charset="-122"/>
                <a:cs typeface="Consolas" pitchFamily="34" charset="-120"/>
              </a:rPr>
              <a:t>(ann)   </a:t>
            </a:r>
            <a:r>
              <a:rPr lang="en-IE" sz="1500" i="1" dirty="0">
                <a:solidFill>
                  <a:srgbClr val="A3AEC2"/>
                </a:solidFill>
                <a:latin typeface="Consolas" pitchFamily="34" charset="0"/>
                <a:ea typeface="Consolas" pitchFamily="34" charset="-122"/>
                <a:cs typeface="Consolas" pitchFamily="34" charset="-120"/>
              </a:rPr>
              <a:t>// true</a:t>
            </a:r>
            <a:endParaRPr lang="en-IE" sz="1500" dirty="0"/>
          </a:p>
        </p:txBody>
      </p:sp>
      <p:sp>
        <p:nvSpPr>
          <p:cNvPr id="7" name="Option A"/>
          <p:cNvSpPr/>
          <p:nvPr/>
        </p:nvSpPr>
        <p:spPr>
          <a:xfrm>
            <a:off x="548640" y="3314700"/>
            <a:ext cx="5623560" cy="581787"/>
          </a:xfrm>
          <a:prstGeom prst="roundRect">
            <a:avLst>
              <a:gd name="adj" fmla="val 18861"/>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39528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71600" y="3314700"/>
            <a:ext cx="4572000" cy="581787"/>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ann.equals(otherAnn)</a:t>
            </a:r>
            <a:endParaRPr lang="en-IE" sz="1700" dirty="0"/>
          </a:p>
        </p:txBody>
      </p:sp>
      <p:sp>
        <p:nvSpPr>
          <p:cNvPr id="10" name="Option B"/>
          <p:cNvSpPr/>
          <p:nvPr/>
        </p:nvSpPr>
        <p:spPr>
          <a:xfrm>
            <a:off x="548640" y="4042791"/>
            <a:ext cx="5623560" cy="581787"/>
          </a:xfrm>
          <a:prstGeom prst="roundRect">
            <a:avLst>
              <a:gd name="adj" fmla="val 18861"/>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4123373"/>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2" name="Option B text"/>
          <p:cNvSpPr txBox="1"/>
          <p:nvPr/>
        </p:nvSpPr>
        <p:spPr>
          <a:xfrm>
            <a:off x="1371600" y="4042791"/>
            <a:ext cx="4572000" cy="581787"/>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ann == otherAnn</a:t>
            </a:r>
            <a:endParaRPr lang="en-IE" sz="1700" dirty="0"/>
          </a:p>
        </p:txBody>
      </p:sp>
      <p:sp>
        <p:nvSpPr>
          <p:cNvPr id="13" name="Option C"/>
          <p:cNvSpPr/>
          <p:nvPr/>
        </p:nvSpPr>
        <p:spPr>
          <a:xfrm>
            <a:off x="548640" y="4770882"/>
            <a:ext cx="5623560" cy="581787"/>
          </a:xfrm>
          <a:prstGeom prst="roundRect">
            <a:avLst>
              <a:gd name="adj" fmla="val 18861"/>
            </a:avLst>
          </a:prstGeom>
          <a:solidFill>
            <a:schemeClr val="bg1"/>
          </a:solidFill>
          <a:ln/>
          <a:effectLst>
            <a:outerShdw sx="100000" sy="100000" kx="0" ky="0" algn="bl" rotWithShape="0" blurRad="76200" dist="19050" dir="5400000">
              <a:srgbClr val="1D2433">
                <a:alpha val="8000"/>
              </a:srgbClr>
            </a:outerShdw>
          </a:effectLst>
        </p:spPr>
      </p:sp>
      <p:sp>
        <p:nvSpPr>
          <p:cNvPr id="14" name="Letter C"/>
          <p:cNvSpPr/>
          <p:nvPr/>
        </p:nvSpPr>
        <p:spPr>
          <a:xfrm>
            <a:off x="749808" y="485146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5" name="Option C text"/>
          <p:cNvSpPr txBox="1"/>
          <p:nvPr/>
        </p:nvSpPr>
        <p:spPr>
          <a:xfrm>
            <a:off x="1371600" y="4770882"/>
            <a:ext cx="4572000" cy="581787"/>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otherAnn.equals(sameAnn)</a:t>
            </a:r>
            <a:endParaRPr lang="en-IE" sz="1700" dirty="0"/>
          </a:p>
        </p:txBody>
      </p:sp>
      <p:sp>
        <p:nvSpPr>
          <p:cNvPr id="16" name="Option D (correct)"/>
          <p:cNvSpPr/>
          <p:nvPr/>
        </p:nvSpPr>
        <p:spPr>
          <a:xfrm>
            <a:off x="548640" y="5498973"/>
            <a:ext cx="5623560" cy="581787"/>
          </a:xfrm>
          <a:prstGeom prst="roundRect">
            <a:avLst>
              <a:gd name="adj" fmla="val 18861"/>
            </a:avLst>
          </a:prstGeom>
          <a:solidFill>
            <a:schemeClr val="accent3"/>
          </a:solidFill>
          <a:ln/>
          <a:effectLst>
            <a:outerShdw sx="100000" sy="100000" kx="0" ky="0" algn="bl" rotWithShape="0" blurRad="114300" dist="31750" dir="5400000">
              <a:srgbClr val="1D2433">
                <a:alpha val="12000"/>
              </a:srgbClr>
            </a:outerShdw>
          </a:effectLst>
        </p:spPr>
      </p:sp>
      <p:sp>
        <p:nvSpPr>
          <p:cNvPr id="17" name="Letter D"/>
          <p:cNvSpPr/>
          <p:nvPr/>
        </p:nvSpPr>
        <p:spPr>
          <a:xfrm>
            <a:off x="749808" y="5579555"/>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8" name="Option D text"/>
          <p:cNvSpPr txBox="1"/>
          <p:nvPr/>
        </p:nvSpPr>
        <p:spPr>
          <a:xfrm>
            <a:off x="1371600" y="5498973"/>
            <a:ext cx="4142232" cy="581787"/>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sameAnn.equals(ann)</a:t>
            </a:r>
            <a:endParaRPr lang="en-IE" sz="1700" dirty="0"/>
          </a:p>
        </p:txBody>
      </p:sp>
      <p:pic>
        <p:nvPicPr>
          <p:cNvPr id="19" name="Correct mark" descr="Correct mark">    </p:cNvPr>
          <p:cNvPicPr>
            <a:picLocks noChangeAspect="1"/>
          </p:cNvPicPr>
          <p:nvPr/>
        </p:nvPicPr>
        <p:blipFill>
          <a:blip r:embed="rId1"/>
          <a:stretch>
            <a:fillRect/>
          </a:stretch>
        </p:blipFill>
        <p:spPr>
          <a:xfrm>
            <a:off x="5623560" y="5606987"/>
            <a:ext cx="365760" cy="365760"/>
          </a:xfrm>
          <a:prstGeom prst="rect">
            <a:avLst/>
          </a:prstGeom>
        </p:spPr>
      </p:pic>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tx1"/>
                </a:solidFill>
              </a:rPr>
              <a:t>Object’s </a:t>
            </a:r>
            <a:r>
              <a:rPr lang="en-IE" sz="1800" dirty="0">
                <a:solidFill>
                  <a:schemeClr val="accent2"/>
                </a:solidFill>
                <a:latin typeface="Consolas" pitchFamily="34" charset="0"/>
                <a:ea typeface="Consolas" pitchFamily="34" charset="-122"/>
                <a:cs typeface="Consolas" pitchFamily="34" charset="-120"/>
              </a:rPr>
              <a:t>equals()</a:t>
            </a:r>
            <a:r>
              <a:rPr lang="en-IE" sz="1800" dirty="0">
                <a:solidFill>
                  <a:schemeClr val="tx1"/>
                </a:solidFill>
              </a:rPr>
              <a:t> only checks whether two variables refer to the same object, just like ==. sameAnn refers to the same object as ann, so D is true. otherAnn is a separate object, even though it holds the same name.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15</a:t>
            </a:fld>
            <a:endParaRPr lang="en-I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EQUALS AND ==</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Overriding equals()</a:t>
            </a:r>
            <a:endParaRPr lang="en-IE" sz="3400" dirty="0"/>
          </a:p>
        </p:txBody>
      </p:sp>
      <p:sp>
        <p:nvSpPr>
          <p:cNvPr id="5" name="Text 2"/>
          <p:cNvSpPr txBox="1"/>
          <p:nvPr/>
        </p:nvSpPr>
        <p:spPr>
          <a:xfrm>
            <a:off x="548640" y="1783080"/>
            <a:ext cx="5120640" cy="4206240"/>
          </a:xfrm>
          <a:prstGeom prst="rect">
            <a:avLst/>
          </a:prstGeom>
          <a:noFill/>
          <a:ln/>
        </p:spPr>
        <p:txBody>
          <a:bodyPr wrap="square" lIns="0" tIns="0" rIns="0" bIns="0" rtlCol="0" anchor="t"/>
          <a:lstStyle/>
          <a:p>
            <a:pPr marL="228600" indent="-228600">
              <a:spcAft>
                <a:spcPts val="1000"/>
              </a:spcAft>
              <a:buSzPct val="100000"/>
              <a:buChar char="•"/>
            </a:pPr>
            <a:r>
              <a:rPr lang="en-IE" sz="1700" dirty="0">
                <a:solidFill>
                  <a:schemeClr val="tx1"/>
                </a:solidFill>
              </a:rPr>
              <a:t>To compare by attributes, a class overrides </a:t>
            </a:r>
            <a:r>
              <a:rPr lang="en-IE" sz="1700" dirty="0">
                <a:solidFill>
                  <a:schemeClr val="accent2"/>
                </a:solidFill>
                <a:latin typeface="Consolas" pitchFamily="34" charset="0"/>
                <a:ea typeface="Consolas" pitchFamily="34" charset="-122"/>
                <a:cs typeface="Consolas" pitchFamily="34" charset="-120"/>
              </a:rPr>
              <a:t>equals()</a:t>
            </a:r>
            <a:r>
              <a:rPr lang="en-IE" sz="1700" dirty="0">
                <a:solidFill>
                  <a:schemeClr val="tx1"/>
                </a:solidFill>
              </a:rPr>
              <a:t>.</a:t>
            </a:r>
            <a:endParaRPr lang="en-IE" sz="1700" dirty="0"/>
          </a:p>
          <a:p>
            <a:pPr marL="228600" indent="-228600">
              <a:spcAft>
                <a:spcPts val="1000"/>
              </a:spcAft>
              <a:buSzPct val="100000"/>
              <a:buChar char="•"/>
            </a:pPr>
            <a:r>
              <a:rPr lang="en-IE" sz="1700" dirty="0">
                <a:solidFill>
                  <a:schemeClr val="tx1"/>
                </a:solidFill>
              </a:rPr>
              <a:t>Object’s </a:t>
            </a:r>
            <a:r>
              <a:rPr lang="en-IE" sz="1700" dirty="0">
                <a:solidFill>
                  <a:schemeClr val="accent2"/>
                </a:solidFill>
                <a:latin typeface="Consolas" pitchFamily="34" charset="0"/>
                <a:ea typeface="Consolas" pitchFamily="34" charset="-122"/>
                <a:cs typeface="Consolas" pitchFamily="34" charset="-120"/>
              </a:rPr>
              <a:t>equals()</a:t>
            </a:r>
            <a:r>
              <a:rPr lang="en-IE" sz="1700" dirty="0">
                <a:solidFill>
                  <a:schemeClr val="tx1"/>
                </a:solidFill>
              </a:rPr>
              <a:t> takes an Object, so ours must take an Object too.</a:t>
            </a:r>
            <a:endParaRPr lang="en-IE" sz="1700" dirty="0"/>
          </a:p>
          <a:p>
            <a:pPr marL="228600" indent="-228600">
              <a:spcAft>
                <a:spcPts val="1000"/>
              </a:spcAft>
              <a:buSzPct val="100000"/>
              <a:buChar char="•"/>
            </a:pPr>
            <a:r>
              <a:rPr lang="en-IE" sz="1700" dirty="0">
                <a:solidFill>
                  <a:schemeClr val="tx1"/>
                </a:solidFill>
              </a:rPr>
              <a:t>A version that takes a Student is a new method (an overload), not an override. Code that only knows it has an Object, like ArrayList’s </a:t>
            </a:r>
            <a:r>
              <a:rPr lang="en-IE" sz="1700" dirty="0">
                <a:solidFill>
                  <a:schemeClr val="accent2"/>
                </a:solidFill>
                <a:latin typeface="Consolas" pitchFamily="34" charset="0"/>
                <a:ea typeface="Consolas" pitchFamily="34" charset="-122"/>
                <a:cs typeface="Consolas" pitchFamily="34" charset="-120"/>
              </a:rPr>
              <a:t>contains()</a:t>
            </a:r>
            <a:r>
              <a:rPr lang="en-IE" sz="1700" dirty="0">
                <a:solidFill>
                  <a:schemeClr val="tx1"/>
                </a:solidFill>
              </a:rPr>
              <a:t>, still calls Object’s version.</a:t>
            </a:r>
            <a:endParaRPr lang="en-IE" sz="1700" dirty="0"/>
          </a:p>
          <a:p>
            <a:pPr marL="228600" indent="-228600">
              <a:buSzPct val="100000"/>
              <a:buChar char="•"/>
            </a:pPr>
            <a:r>
              <a:rPr lang="en-IE" sz="1700" dirty="0">
                <a:solidFill>
                  <a:schemeClr val="accent2"/>
                </a:solidFill>
                <a:latin typeface="Consolas" pitchFamily="34" charset="0"/>
                <a:ea typeface="Consolas" pitchFamily="34" charset="-122"/>
                <a:cs typeface="Consolas" pitchFamily="34" charset="-120"/>
              </a:rPr>
              <a:t>@Override</a:t>
            </a:r>
            <a:r>
              <a:rPr lang="en-IE" sz="1700" dirty="0">
                <a:solidFill>
                  <a:schemeClr val="tx1"/>
                </a:solidFill>
              </a:rPr>
              <a:t> makes the compiler check that we really override it.</a:t>
            </a:r>
            <a:endParaRPr lang="en-IE" sz="1700" dirty="0"/>
          </a:p>
        </p:txBody>
      </p:sp>
      <p:sp>
        <p:nvSpPr>
          <p:cNvPr id="6" name="Text 3"/>
          <p:cNvSpPr txBox="1"/>
          <p:nvPr/>
        </p:nvSpPr>
        <p:spPr>
          <a:xfrm>
            <a:off x="6035040" y="1691640"/>
            <a:ext cx="5486400" cy="292608"/>
          </a:xfrm>
          <a:prstGeom prst="rect">
            <a:avLst/>
          </a:prstGeom>
          <a:noFill/>
          <a:ln/>
        </p:spPr>
        <p:txBody>
          <a:bodyPr wrap="square" lIns="0" tIns="0" rIns="0" bIns="0" rtlCol="0" anchor="t"/>
          <a:lstStyle/>
          <a:p>
            <a:pPr indent="0" marL="0">
              <a:buNone/>
            </a:pPr>
            <a:r>
              <a:rPr lang="en-IE" sz="1350" b="1" dirty="0">
                <a:solidFill>
                  <a:schemeClr val="tx2"/>
                </a:solidFill>
              </a:rPr>
              <a:t>Takes a Student: a new method</a:t>
            </a:r>
            <a:endParaRPr lang="en-IE" sz="1350" dirty="0"/>
          </a:p>
        </p:txBody>
      </p:sp>
      <p:sp>
        <p:nvSpPr>
          <p:cNvPr id="7" name="Overload card"/>
          <p:cNvSpPr/>
          <p:nvPr/>
        </p:nvSpPr>
        <p:spPr>
          <a:xfrm>
            <a:off x="6035040" y="2029968"/>
            <a:ext cx="5608015" cy="1162050"/>
          </a:xfrm>
          <a:prstGeom prst="roundRect">
            <a:avLst>
              <a:gd name="adj" fmla="val 9443"/>
            </a:avLst>
          </a:prstGeom>
          <a:solidFill>
            <a:schemeClr val="tx1"/>
          </a:solidFill>
          <a:ln/>
          <a:effectLst>
            <a:outerShdw sx="100000" sy="100000" kx="0" ky="0" algn="bl" rotWithShape="0" blurRad="114300" dist="31750" dir="5400000">
              <a:srgbClr val="1D2433">
                <a:alpha val="12000"/>
              </a:srgbClr>
            </a:outerShdw>
          </a:effectLst>
        </p:spPr>
      </p:sp>
      <p:sp>
        <p:nvSpPr>
          <p:cNvPr id="8" name="Overload text"/>
          <p:cNvSpPr txBox="1"/>
          <p:nvPr/>
        </p:nvSpPr>
        <p:spPr>
          <a:xfrm>
            <a:off x="6309360" y="2231136"/>
            <a:ext cx="5059375" cy="75971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boolean</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equals</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6CC4E8"/>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 s)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return</a:t>
            </a:r>
            <a:r>
              <a:rPr lang="en-IE" sz="1400" dirty="0">
                <a:solidFill>
                  <a:srgbClr val="E6EBF2"/>
                </a:solidFill>
                <a:latin typeface="Consolas" pitchFamily="34" charset="0"/>
                <a:ea typeface="Consolas" pitchFamily="34" charset="-122"/>
                <a:cs typeface="Consolas" pitchFamily="34" charset="-120"/>
              </a:rPr>
              <a:t> name.</a:t>
            </a:r>
            <a:r>
              <a:rPr lang="en-IE" sz="1400" dirty="0">
                <a:solidFill>
                  <a:srgbClr val="C9B0FF"/>
                </a:solidFill>
                <a:latin typeface="Consolas" pitchFamily="34" charset="0"/>
                <a:ea typeface="Consolas" pitchFamily="34" charset="-122"/>
                <a:cs typeface="Consolas" pitchFamily="34" charset="-120"/>
              </a:rPr>
              <a:t>equals</a:t>
            </a:r>
            <a:r>
              <a:rPr lang="en-IE" sz="1400" dirty="0">
                <a:solidFill>
                  <a:srgbClr val="E6EBF2"/>
                </a:solidFill>
                <a:latin typeface="Consolas" pitchFamily="34" charset="0"/>
                <a:ea typeface="Consolas" pitchFamily="34" charset="-122"/>
                <a:cs typeface="Consolas" pitchFamily="34" charset="-120"/>
              </a:rPr>
              <a:t>(s.</a:t>
            </a:r>
            <a:r>
              <a:rPr lang="en-IE" sz="1400" dirty="0">
                <a:solidFill>
                  <a:srgbClr val="C9B0FF"/>
                </a:solidFill>
                <a:latin typeface="Consolas" pitchFamily="34" charset="0"/>
                <a:ea typeface="Consolas" pitchFamily="34" charset="-122"/>
                <a:cs typeface="Consolas" pitchFamily="34" charset="-120"/>
              </a:rPr>
              <a:t>getName</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pic>
        <p:nvPicPr>
          <p:cNvPr id="9" name="Does not work" descr="Does not work">    </p:cNvPr>
          <p:cNvPicPr>
            <a:picLocks noChangeAspect="1"/>
          </p:cNvPicPr>
          <p:nvPr/>
        </p:nvPicPr>
        <p:blipFill>
          <a:blip r:embed="rId1"/>
          <a:stretch>
            <a:fillRect/>
          </a:stretch>
        </p:blipFill>
        <p:spPr>
          <a:xfrm>
            <a:off x="6035040" y="3283458"/>
            <a:ext cx="347472" cy="347472"/>
          </a:xfrm>
          <a:prstGeom prst="rect">
            <a:avLst/>
          </a:prstGeom>
        </p:spPr>
      </p:pic>
      <p:sp>
        <p:nvSpPr>
          <p:cNvPr id="10" name="Text 6"/>
          <p:cNvSpPr txBox="1"/>
          <p:nvPr/>
        </p:nvSpPr>
        <p:spPr>
          <a:xfrm>
            <a:off x="6492240" y="3265170"/>
            <a:ext cx="5150815" cy="384048"/>
          </a:xfrm>
          <a:prstGeom prst="rect">
            <a:avLst/>
          </a:prstGeom>
          <a:noFill/>
          <a:ln/>
        </p:spPr>
        <p:txBody>
          <a:bodyPr wrap="square" lIns="0" tIns="0" rIns="0" bIns="0" rtlCol="0" anchor="ctr"/>
          <a:lstStyle/>
          <a:p>
            <a:pPr indent="0" marL="0">
              <a:buNone/>
            </a:pPr>
            <a:r>
              <a:rPr lang="en-IE" sz="1450" b="1" dirty="0">
                <a:solidFill>
                  <a:srgbClr val="C0392B"/>
                </a:solidFill>
              </a:rPr>
              <a:t>ArrayList’s contains() never calls it</a:t>
            </a:r>
            <a:endParaRPr lang="en-IE" sz="1450" dirty="0"/>
          </a:p>
        </p:txBody>
      </p:sp>
      <p:sp>
        <p:nvSpPr>
          <p:cNvPr id="11" name="Text 7"/>
          <p:cNvSpPr txBox="1"/>
          <p:nvPr/>
        </p:nvSpPr>
        <p:spPr>
          <a:xfrm>
            <a:off x="6035040" y="3877818"/>
            <a:ext cx="5486400" cy="292608"/>
          </a:xfrm>
          <a:prstGeom prst="rect">
            <a:avLst/>
          </a:prstGeom>
          <a:noFill/>
          <a:ln/>
        </p:spPr>
        <p:txBody>
          <a:bodyPr wrap="square" lIns="0" tIns="0" rIns="0" bIns="0" rtlCol="0" anchor="t"/>
          <a:lstStyle/>
          <a:p>
            <a:pPr indent="0" marL="0">
              <a:buNone/>
            </a:pPr>
            <a:r>
              <a:rPr lang="en-IE" sz="1350" b="1" dirty="0">
                <a:solidFill>
                  <a:schemeClr val="tx2"/>
                </a:solidFill>
              </a:rPr>
              <a:t>Takes an Object: a real override</a:t>
            </a:r>
            <a:endParaRPr lang="en-IE" sz="1350" dirty="0"/>
          </a:p>
        </p:txBody>
      </p:sp>
      <p:sp>
        <p:nvSpPr>
          <p:cNvPr id="12" name="Override card"/>
          <p:cNvSpPr/>
          <p:nvPr/>
        </p:nvSpPr>
        <p:spPr>
          <a:xfrm>
            <a:off x="6035040" y="4216146"/>
            <a:ext cx="5608015" cy="1397000"/>
          </a:xfrm>
          <a:prstGeom prst="roundRect">
            <a:avLst>
              <a:gd name="adj" fmla="val 7855"/>
            </a:avLst>
          </a:prstGeom>
          <a:solidFill>
            <a:schemeClr val="tx1"/>
          </a:solidFill>
          <a:ln/>
          <a:effectLst>
            <a:outerShdw sx="100000" sy="100000" kx="0" ky="0" algn="bl" rotWithShape="0" blurRad="114300" dist="31750" dir="5400000">
              <a:srgbClr val="1D2433">
                <a:alpha val="12000"/>
              </a:srgbClr>
            </a:outerShdw>
          </a:effectLst>
        </p:spPr>
      </p:sp>
      <p:sp>
        <p:nvSpPr>
          <p:cNvPr id="13" name="Override text"/>
          <p:cNvSpPr txBox="1"/>
          <p:nvPr/>
        </p:nvSpPr>
        <p:spPr>
          <a:xfrm>
            <a:off x="6309360" y="4417314"/>
            <a:ext cx="5059375" cy="994664"/>
          </a:xfrm>
          <a:prstGeom prst="rect">
            <a:avLst/>
          </a:prstGeom>
          <a:noFill/>
          <a:ln/>
        </p:spPr>
        <p:txBody>
          <a:bodyPr wrap="square" lIns="0" tIns="0" rIns="0" bIns="0" rtlCol="0" anchor="t"/>
          <a:lstStyle/>
          <a:p>
            <a:pPr indent="0" marL="0">
              <a:lnSpc>
                <a:spcPts val="1850"/>
              </a:lnSpc>
              <a:buNone/>
            </a:pPr>
            <a:r>
              <a:rPr lang="en-IE" sz="1400" dirty="0">
                <a:solidFill>
                  <a:srgbClr val="E8C468"/>
                </a:solidFill>
                <a:latin typeface="Consolas" pitchFamily="34" charset="0"/>
                <a:ea typeface="Consolas" pitchFamily="34" charset="-122"/>
                <a:cs typeface="Consolas" pitchFamily="34" charset="-120"/>
              </a:rPr>
              <a:t>@Override</a:t>
            </a:r>
            <a:endParaRPr lang="en-IE" sz="1400" dirty="0"/>
          </a:p>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boolean</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equals</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6CC4E8"/>
                </a:solidFill>
                <a:latin typeface="Consolas" pitchFamily="34" charset="0"/>
                <a:ea typeface="Consolas" pitchFamily="34" charset="-122"/>
                <a:cs typeface="Consolas" pitchFamily="34" charset="-120"/>
              </a:rPr>
              <a:t>Object</a:t>
            </a:r>
            <a:r>
              <a:rPr lang="en-IE" sz="1400" dirty="0">
                <a:solidFill>
                  <a:srgbClr val="E6EBF2"/>
                </a:solidFill>
                <a:latin typeface="Consolas" pitchFamily="34" charset="0"/>
                <a:ea typeface="Consolas" pitchFamily="34" charset="-122"/>
                <a:cs typeface="Consolas" pitchFamily="34" charset="-120"/>
              </a:rPr>
              <a:t> obj)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   </a:t>
            </a:r>
            <a:r>
              <a:rPr lang="en-IE" sz="1400" i="1" dirty="0">
                <a:solidFill>
                  <a:srgbClr val="A3AEC2"/>
                </a:solidFill>
                <a:latin typeface="Consolas" pitchFamily="34" charset="0"/>
                <a:ea typeface="Consolas" pitchFamily="34" charset="-122"/>
                <a:cs typeface="Consolas" pitchFamily="34" charset="-120"/>
              </a:rPr>
              <a:t>// on the next slide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pic>
        <p:nvPicPr>
          <p:cNvPr id="14" name="Works" descr="Works">    </p:cNvPr>
          <p:cNvPicPr>
            <a:picLocks noChangeAspect="1"/>
          </p:cNvPicPr>
          <p:nvPr/>
        </p:nvPicPr>
        <p:blipFill>
          <a:blip r:embed="rId2"/>
          <a:stretch>
            <a:fillRect/>
          </a:stretch>
        </p:blipFill>
        <p:spPr>
          <a:xfrm>
            <a:off x="6035040" y="5704586"/>
            <a:ext cx="347472" cy="347472"/>
          </a:xfrm>
          <a:prstGeom prst="rect">
            <a:avLst/>
          </a:prstGeom>
        </p:spPr>
      </p:pic>
      <p:sp>
        <p:nvSpPr>
          <p:cNvPr id="15" name="Text 10"/>
          <p:cNvSpPr txBox="1"/>
          <p:nvPr/>
        </p:nvSpPr>
        <p:spPr>
          <a:xfrm>
            <a:off x="6492240" y="5686298"/>
            <a:ext cx="5150815" cy="384048"/>
          </a:xfrm>
          <a:prstGeom prst="rect">
            <a:avLst/>
          </a:prstGeom>
          <a:noFill/>
          <a:ln/>
        </p:spPr>
        <p:txBody>
          <a:bodyPr wrap="square" lIns="0" tIns="0" rIns="0" bIns="0" rtlCol="0" anchor="ctr"/>
          <a:lstStyle/>
          <a:p>
            <a:pPr indent="0" marL="0">
              <a:buNone/>
            </a:pPr>
            <a:r>
              <a:rPr lang="en-IE" sz="1450" b="1" dirty="0">
                <a:solidFill>
                  <a:schemeClr val="accent3"/>
                </a:solidFill>
              </a:rPr>
              <a:t>Used everywhere, ArrayList included</a:t>
            </a:r>
            <a:endParaRPr lang="en-IE" sz="14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16</a:t>
            </a:fld>
            <a:endParaRPr lang="en-IE"/>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5</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Overriding equals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header really overrides equals() in Student?</a:t>
            </a:r>
            <a:endParaRPr lang="en-IE"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public boolean equals(Student other)</a:t>
            </a:r>
            <a:endParaRPr lang="en-IE"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public boolean equals(Object other)</a:t>
            </a:r>
            <a:endParaRPr lang="en-IE"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public int equals(Object other)</a:t>
            </a:r>
            <a:endParaRPr lang="en-IE"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public boolean equal(Object other)</a:t>
            </a:r>
            <a:endParaRPr lang="en-IE"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17</a:t>
            </a:fld>
            <a:endParaRPr lang="en-I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5</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Overriding equals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header really overrides equals() in Student?</a:t>
            </a:r>
            <a:endParaRPr lang="en-IE"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public boolean equals(Student other)</a:t>
            </a:r>
            <a:endParaRPr lang="en-IE" sz="1700" dirty="0"/>
          </a:p>
        </p:txBody>
      </p:sp>
      <p:sp>
        <p:nvSpPr>
          <p:cNvPr id="8" name="Option B (correct)"/>
          <p:cNvSpPr/>
          <p:nvPr/>
        </p:nvSpPr>
        <p:spPr>
          <a:xfrm>
            <a:off x="548640" y="2532888"/>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615184"/>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532888"/>
            <a:ext cx="9613087" cy="585216"/>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public boolean equals(Object other)</a:t>
            </a:r>
            <a:endParaRPr lang="en-IE" sz="1700" dirty="0"/>
          </a:p>
        </p:txBody>
      </p:sp>
      <p:pic>
        <p:nvPicPr>
          <p:cNvPr id="11" name="Correct mark" descr="Correct mark">    </p:cNvPr>
          <p:cNvPicPr>
            <a:picLocks noChangeAspect="1"/>
          </p:cNvPicPr>
          <p:nvPr/>
        </p:nvPicPr>
        <p:blipFill>
          <a:blip r:embed="rId1"/>
          <a:stretch>
            <a:fillRect/>
          </a:stretch>
        </p:blipFill>
        <p:spPr>
          <a:xfrm>
            <a:off x="11094415" y="2642616"/>
            <a:ext cx="365760" cy="365760"/>
          </a:xfrm>
          <a:prstGeom prst="rect">
            <a:avLst/>
          </a:prstGeom>
        </p:spPr>
      </p:pic>
      <p:sp>
        <p:nvSpPr>
          <p:cNvPr id="12"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public int equals(Object other)</a:t>
            </a:r>
            <a:endParaRPr lang="en-IE" sz="1700" dirty="0"/>
          </a:p>
        </p:txBody>
      </p:sp>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public boolean equal(Object other)</a:t>
            </a:r>
            <a:endParaRPr lang="en-IE"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indent="0" marL="0">
              <a:buNone/>
            </a:pPr>
            <a:r>
              <a:rPr lang="en-IE" sz="1600" dirty="0">
                <a:solidFill>
                  <a:schemeClr val="tx1"/>
                </a:solidFill>
              </a:rPr>
              <a:t>Object’s </a:t>
            </a:r>
            <a:r>
              <a:rPr lang="en-IE" sz="1600" dirty="0">
                <a:solidFill>
                  <a:schemeClr val="accent2"/>
                </a:solidFill>
                <a:latin typeface="Consolas" pitchFamily="34" charset="0"/>
                <a:ea typeface="Consolas" pitchFamily="34" charset="-122"/>
                <a:cs typeface="Consolas" pitchFamily="34" charset="-120"/>
              </a:rPr>
              <a:t>equals()</a:t>
            </a:r>
            <a:r>
              <a:rPr lang="en-IE" sz="1600" dirty="0">
                <a:solidFill>
                  <a:schemeClr val="tx1"/>
                </a:solidFill>
              </a:rPr>
              <a:t> takes an Object, so the override must too. A is a new method that overloads equals, C has the wrong return type and won’t compile, and D has a different name. With @Override, A and D won’t compile either.</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18</a:t>
            </a:fld>
            <a:endParaRPr lang="en-IE"/>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EQUALS AND ==</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Checking the type first</a:t>
            </a:r>
            <a:endParaRPr lang="en-IE" sz="3400" dirty="0"/>
          </a:p>
        </p:txBody>
      </p:sp>
      <p:sp>
        <p:nvSpPr>
          <p:cNvPr id="5" name="Student card"/>
          <p:cNvSpPr/>
          <p:nvPr/>
        </p:nvSpPr>
        <p:spPr>
          <a:xfrm>
            <a:off x="960120" y="1691640"/>
            <a:ext cx="6126480" cy="3804158"/>
          </a:xfrm>
          <a:prstGeom prst="roundRect">
            <a:avLst>
              <a:gd name="adj" fmla="val 2884"/>
            </a:avLst>
          </a:prstGeom>
          <a:solidFill>
            <a:schemeClr val="tx1"/>
          </a:solidFill>
          <a:ln/>
          <a:effectLst>
            <a:outerShdw sx="100000" sy="100000" kx="0" ky="0" algn="bl" rotWithShape="0" blurRad="114300" dist="31750" dir="5400000">
              <a:srgbClr val="1D2433">
                <a:alpha val="12000"/>
              </a:srgbClr>
            </a:outerShdw>
          </a:effectLst>
        </p:spPr>
      </p:sp>
      <p:sp>
        <p:nvSpPr>
          <p:cNvPr id="6" name="Student language"/>
          <p:cNvSpPr txBox="1"/>
          <p:nvPr/>
        </p:nvSpPr>
        <p:spPr>
          <a:xfrm>
            <a:off x="1234440" y="1810512"/>
            <a:ext cx="557784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Student text"/>
          <p:cNvSpPr txBox="1"/>
          <p:nvPr/>
        </p:nvSpPr>
        <p:spPr>
          <a:xfrm>
            <a:off x="1234440" y="2185416"/>
            <a:ext cx="5577840" cy="310921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class</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private</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 name;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E8C468"/>
                </a:solidFill>
                <a:latin typeface="Consolas" pitchFamily="34" charset="0"/>
                <a:ea typeface="Consolas" pitchFamily="34" charset="-122"/>
                <a:cs typeface="Consolas" pitchFamily="34" charset="-120"/>
              </a:rPr>
              <a:t>@Override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boolean</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equals</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6CC4E8"/>
                </a:solidFill>
                <a:latin typeface="Consolas" pitchFamily="34" charset="0"/>
                <a:ea typeface="Consolas" pitchFamily="34" charset="-122"/>
                <a:cs typeface="Consolas" pitchFamily="34" charset="-120"/>
              </a:rPr>
              <a:t>Object</a:t>
            </a:r>
            <a:r>
              <a:rPr lang="en-IE" sz="1400" dirty="0">
                <a:solidFill>
                  <a:srgbClr val="E6EBF2"/>
                </a:solidFill>
                <a:latin typeface="Consolas" pitchFamily="34" charset="0"/>
                <a:ea typeface="Consolas" pitchFamily="34" charset="-122"/>
                <a:cs typeface="Consolas" pitchFamily="34" charset="-120"/>
              </a:rPr>
              <a:t> obj)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if</a:t>
            </a:r>
            <a:r>
              <a:rPr lang="en-IE" sz="1400" dirty="0">
                <a:solidFill>
                  <a:srgbClr val="E6EBF2"/>
                </a:solidFill>
                <a:latin typeface="Consolas" pitchFamily="34" charset="0"/>
                <a:ea typeface="Consolas" pitchFamily="34" charset="-122"/>
                <a:cs typeface="Consolas" pitchFamily="34" charset="-120"/>
              </a:rPr>
              <a:t> (!(obj </a:t>
            </a:r>
            <a:r>
              <a:rPr lang="en-IE" sz="1400" dirty="0">
                <a:solidFill>
                  <a:srgbClr val="FF9F5A"/>
                </a:solidFill>
                <a:latin typeface="Consolas" pitchFamily="34" charset="0"/>
                <a:ea typeface="Consolas" pitchFamily="34" charset="-122"/>
                <a:cs typeface="Consolas" pitchFamily="34" charset="-120"/>
              </a:rPr>
              <a:t>instanceof</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return</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false</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 other = (</a:t>
            </a:r>
            <a:r>
              <a:rPr lang="en-IE" sz="1400" dirty="0">
                <a:solidFill>
                  <a:srgbClr val="6CC4E8"/>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 obj;</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return</a:t>
            </a:r>
            <a:r>
              <a:rPr lang="en-IE" sz="1400" dirty="0">
                <a:solidFill>
                  <a:srgbClr val="E6EBF2"/>
                </a:solidFill>
                <a:latin typeface="Consolas" pitchFamily="34" charset="0"/>
                <a:ea typeface="Consolas" pitchFamily="34" charset="-122"/>
                <a:cs typeface="Consolas" pitchFamily="34" charset="-120"/>
              </a:rPr>
              <a:t> name.</a:t>
            </a:r>
            <a:r>
              <a:rPr lang="en-IE" sz="1400" dirty="0">
                <a:solidFill>
                  <a:srgbClr val="C9B0FF"/>
                </a:solidFill>
                <a:latin typeface="Consolas" pitchFamily="34" charset="0"/>
                <a:ea typeface="Consolas" pitchFamily="34" charset="-122"/>
                <a:cs typeface="Consolas" pitchFamily="34" charset="-120"/>
              </a:rPr>
              <a:t>equals</a:t>
            </a:r>
            <a:r>
              <a:rPr lang="en-IE" sz="1400" dirty="0">
                <a:solidFill>
                  <a:srgbClr val="E6EBF2"/>
                </a:solidFill>
                <a:latin typeface="Consolas" pitchFamily="34" charset="0"/>
                <a:ea typeface="Consolas" pitchFamily="34" charset="-122"/>
                <a:cs typeface="Consolas" pitchFamily="34" charset="-120"/>
              </a:rPr>
              <a:t>(other.</a:t>
            </a:r>
            <a:r>
              <a:rPr lang="en-IE" sz="1400" dirty="0">
                <a:solidFill>
                  <a:srgbClr val="C9B0FF"/>
                </a:solidFill>
                <a:latin typeface="Consolas" pitchFamily="34" charset="0"/>
                <a:ea typeface="Consolas" pitchFamily="34" charset="-122"/>
                <a:cs typeface="Consolas" pitchFamily="34" charset="-120"/>
              </a:rPr>
              <a:t>getName</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8" name="Marker 1"/>
          <p:cNvSpPr/>
          <p:nvPr/>
        </p:nvSpPr>
        <p:spPr>
          <a:xfrm>
            <a:off x="548640" y="3303905"/>
            <a:ext cx="347472" cy="347472"/>
          </a:xfrm>
          <a:prstGeom prst="ellipse">
            <a:avLst/>
          </a:prstGeom>
          <a:solidFill>
            <a:schemeClr val="accent2"/>
          </a:solidFill>
          <a:ln/>
        </p:spPr>
        <p:txBody>
          <a:bodyPr wrap="square" lIns="0" tIns="0" rIns="0" bIns="0" rtlCol="0" anchor="ctr"/>
          <a:lstStyle/>
          <a:p>
            <a:pPr algn="ctr" indent="0" marL="0">
              <a:buNone/>
            </a:pPr>
            <a:r>
              <a:rPr lang="en-IE" sz="1300" b="1" dirty="0">
                <a:solidFill>
                  <a:schemeClr val="bg1"/>
                </a:solidFill>
              </a:rPr>
              <a:t>1</a:t>
            </a:r>
            <a:endParaRPr lang="en-IE" sz="1300" dirty="0"/>
          </a:p>
        </p:txBody>
      </p:sp>
      <p:sp>
        <p:nvSpPr>
          <p:cNvPr id="9" name="Marker 2"/>
          <p:cNvSpPr/>
          <p:nvPr/>
        </p:nvSpPr>
        <p:spPr>
          <a:xfrm>
            <a:off x="548640" y="4008755"/>
            <a:ext cx="347472" cy="347472"/>
          </a:xfrm>
          <a:prstGeom prst="ellipse">
            <a:avLst/>
          </a:prstGeom>
          <a:solidFill>
            <a:schemeClr val="accent2"/>
          </a:solidFill>
          <a:ln/>
        </p:spPr>
        <p:txBody>
          <a:bodyPr wrap="square" lIns="0" tIns="0" rIns="0" bIns="0" rtlCol="0" anchor="ctr"/>
          <a:lstStyle/>
          <a:p>
            <a:pPr algn="ctr" indent="0" marL="0">
              <a:buNone/>
            </a:pPr>
            <a:r>
              <a:rPr lang="en-IE" sz="1300" b="1" dirty="0">
                <a:solidFill>
                  <a:schemeClr val="bg1"/>
                </a:solidFill>
              </a:rPr>
              <a:t>2</a:t>
            </a:r>
            <a:endParaRPr lang="en-IE" sz="1300" dirty="0"/>
          </a:p>
        </p:txBody>
      </p:sp>
      <p:sp>
        <p:nvSpPr>
          <p:cNvPr id="10" name="Marker 3"/>
          <p:cNvSpPr/>
          <p:nvPr/>
        </p:nvSpPr>
        <p:spPr>
          <a:xfrm>
            <a:off x="548640" y="4478655"/>
            <a:ext cx="347472" cy="347472"/>
          </a:xfrm>
          <a:prstGeom prst="ellipse">
            <a:avLst/>
          </a:prstGeom>
          <a:solidFill>
            <a:schemeClr val="accent2"/>
          </a:solidFill>
          <a:ln/>
        </p:spPr>
        <p:txBody>
          <a:bodyPr wrap="square" lIns="0" tIns="0" rIns="0" bIns="0" rtlCol="0" anchor="ctr"/>
          <a:lstStyle/>
          <a:p>
            <a:pPr algn="ctr" indent="0" marL="0">
              <a:buNone/>
            </a:pPr>
            <a:r>
              <a:rPr lang="en-IE" sz="1300" b="1" dirty="0">
                <a:solidFill>
                  <a:schemeClr val="bg1"/>
                </a:solidFill>
              </a:rPr>
              <a:t>3</a:t>
            </a:r>
            <a:endParaRPr lang="en-IE" sz="1300" dirty="0"/>
          </a:p>
        </p:txBody>
      </p:sp>
      <p:sp>
        <p:nvSpPr>
          <p:cNvPr id="11" name="Marker 1"/>
          <p:cNvSpPr/>
          <p:nvPr/>
        </p:nvSpPr>
        <p:spPr>
          <a:xfrm>
            <a:off x="7452360" y="1810512"/>
            <a:ext cx="365760" cy="365760"/>
          </a:xfrm>
          <a:prstGeom prst="ellipse">
            <a:avLst/>
          </a:prstGeom>
          <a:solidFill>
            <a:schemeClr val="accent2"/>
          </a:solidFill>
          <a:ln/>
        </p:spPr>
        <p:txBody>
          <a:bodyPr wrap="square" lIns="0" tIns="0" rIns="0" bIns="0" rtlCol="0" anchor="ctr"/>
          <a:lstStyle/>
          <a:p>
            <a:pPr algn="ctr" indent="0" marL="0">
              <a:buNone/>
            </a:pPr>
            <a:r>
              <a:rPr lang="en-IE" sz="1400" b="1" dirty="0">
                <a:solidFill>
                  <a:schemeClr val="bg1"/>
                </a:solidFill>
              </a:rPr>
              <a:t>1</a:t>
            </a:r>
            <a:endParaRPr lang="en-IE" sz="1400" dirty="0"/>
          </a:p>
        </p:txBody>
      </p:sp>
      <p:sp>
        <p:nvSpPr>
          <p:cNvPr id="12" name="Text 9"/>
          <p:cNvSpPr txBox="1"/>
          <p:nvPr/>
        </p:nvSpPr>
        <p:spPr>
          <a:xfrm>
            <a:off x="8001000" y="1755648"/>
            <a:ext cx="3642055" cy="384048"/>
          </a:xfrm>
          <a:prstGeom prst="rect">
            <a:avLst/>
          </a:prstGeom>
          <a:noFill/>
          <a:ln/>
        </p:spPr>
        <p:txBody>
          <a:bodyPr wrap="square" lIns="0" tIns="0" rIns="0" bIns="0" rtlCol="0" anchor="ctr"/>
          <a:lstStyle/>
          <a:p>
            <a:pPr indent="0" marL="0">
              <a:buNone/>
            </a:pPr>
            <a:r>
              <a:rPr lang="en-IE" sz="1700" b="1" dirty="0">
                <a:solidFill>
                  <a:schemeClr val="tx1"/>
                </a:solidFill>
              </a:rPr>
              <a:t>Check the type</a:t>
            </a:r>
            <a:endParaRPr lang="en-IE" sz="1700" dirty="0"/>
          </a:p>
        </p:txBody>
      </p:sp>
      <p:sp>
        <p:nvSpPr>
          <p:cNvPr id="13" name="Text 10"/>
          <p:cNvSpPr txBox="1"/>
          <p:nvPr/>
        </p:nvSpPr>
        <p:spPr>
          <a:xfrm>
            <a:off x="8001000" y="2148840"/>
            <a:ext cx="3642055" cy="566928"/>
          </a:xfrm>
          <a:prstGeom prst="rect">
            <a:avLst/>
          </a:prstGeom>
          <a:noFill/>
          <a:ln/>
        </p:spPr>
        <p:txBody>
          <a:bodyPr wrap="square" lIns="0" tIns="0" rIns="0" bIns="0" rtlCol="0" anchor="t"/>
          <a:lstStyle/>
          <a:p>
            <a:pPr indent="0" marL="0">
              <a:buNone/>
            </a:pPr>
            <a:r>
              <a:rPr lang="en-IE" sz="1450" dirty="0">
                <a:solidFill>
                  <a:schemeClr val="tx2"/>
                </a:solidFill>
              </a:rPr>
              <a:t>obj could be anything, even null. If it isn’t a Student, the answer is false.</a:t>
            </a:r>
            <a:endParaRPr lang="en-IE" sz="1450" dirty="0"/>
          </a:p>
        </p:txBody>
      </p:sp>
      <p:sp>
        <p:nvSpPr>
          <p:cNvPr id="14" name="Marker 2"/>
          <p:cNvSpPr/>
          <p:nvPr/>
        </p:nvSpPr>
        <p:spPr>
          <a:xfrm>
            <a:off x="7452360" y="2834640"/>
            <a:ext cx="365760" cy="365760"/>
          </a:xfrm>
          <a:prstGeom prst="ellipse">
            <a:avLst/>
          </a:prstGeom>
          <a:solidFill>
            <a:schemeClr val="accent2"/>
          </a:solidFill>
          <a:ln/>
        </p:spPr>
        <p:txBody>
          <a:bodyPr wrap="square" lIns="0" tIns="0" rIns="0" bIns="0" rtlCol="0" anchor="ctr"/>
          <a:lstStyle/>
          <a:p>
            <a:pPr algn="ctr" indent="0" marL="0">
              <a:buNone/>
            </a:pPr>
            <a:r>
              <a:rPr lang="en-IE" sz="1400" b="1" dirty="0">
                <a:solidFill>
                  <a:schemeClr val="bg1"/>
                </a:solidFill>
              </a:rPr>
              <a:t>2</a:t>
            </a:r>
            <a:endParaRPr lang="en-IE" sz="1400" dirty="0"/>
          </a:p>
        </p:txBody>
      </p:sp>
      <p:sp>
        <p:nvSpPr>
          <p:cNvPr id="15" name="Text 12"/>
          <p:cNvSpPr txBox="1"/>
          <p:nvPr/>
        </p:nvSpPr>
        <p:spPr>
          <a:xfrm>
            <a:off x="8001000" y="2779776"/>
            <a:ext cx="3642055" cy="384048"/>
          </a:xfrm>
          <a:prstGeom prst="rect">
            <a:avLst/>
          </a:prstGeom>
          <a:noFill/>
          <a:ln/>
        </p:spPr>
        <p:txBody>
          <a:bodyPr wrap="square" lIns="0" tIns="0" rIns="0" bIns="0" rtlCol="0" anchor="ctr"/>
          <a:lstStyle/>
          <a:p>
            <a:pPr indent="0" marL="0">
              <a:buNone/>
            </a:pPr>
            <a:r>
              <a:rPr lang="en-IE" sz="1700" b="1" dirty="0">
                <a:solidFill>
                  <a:schemeClr val="tx1"/>
                </a:solidFill>
              </a:rPr>
              <a:t>Cast it</a:t>
            </a:r>
            <a:endParaRPr lang="en-IE" sz="1700" dirty="0"/>
          </a:p>
        </p:txBody>
      </p:sp>
      <p:sp>
        <p:nvSpPr>
          <p:cNvPr id="16" name="Text 13"/>
          <p:cNvSpPr txBox="1"/>
          <p:nvPr/>
        </p:nvSpPr>
        <p:spPr>
          <a:xfrm>
            <a:off x="8001000" y="3172968"/>
            <a:ext cx="3642055" cy="566928"/>
          </a:xfrm>
          <a:prstGeom prst="rect">
            <a:avLst/>
          </a:prstGeom>
          <a:noFill/>
          <a:ln/>
        </p:spPr>
        <p:txBody>
          <a:bodyPr wrap="square" lIns="0" tIns="0" rIns="0" bIns="0" rtlCol="0" anchor="t"/>
          <a:lstStyle/>
          <a:p>
            <a:pPr indent="0" marL="0">
              <a:buNone/>
            </a:pPr>
            <a:r>
              <a:rPr lang="en-IE" sz="1450" dirty="0">
                <a:solidFill>
                  <a:schemeClr val="tx2"/>
                </a:solidFill>
              </a:rPr>
              <a:t>Now we know it’s a Student, so we can treat it as one.</a:t>
            </a:r>
            <a:endParaRPr lang="en-IE" sz="1450" dirty="0"/>
          </a:p>
        </p:txBody>
      </p:sp>
      <p:sp>
        <p:nvSpPr>
          <p:cNvPr id="17" name="Marker 3"/>
          <p:cNvSpPr/>
          <p:nvPr/>
        </p:nvSpPr>
        <p:spPr>
          <a:xfrm>
            <a:off x="7452360" y="3858768"/>
            <a:ext cx="365760" cy="365760"/>
          </a:xfrm>
          <a:prstGeom prst="ellipse">
            <a:avLst/>
          </a:prstGeom>
          <a:solidFill>
            <a:schemeClr val="accent2"/>
          </a:solidFill>
          <a:ln/>
        </p:spPr>
        <p:txBody>
          <a:bodyPr wrap="square" lIns="0" tIns="0" rIns="0" bIns="0" rtlCol="0" anchor="ctr"/>
          <a:lstStyle/>
          <a:p>
            <a:pPr algn="ctr" indent="0" marL="0">
              <a:buNone/>
            </a:pPr>
            <a:r>
              <a:rPr lang="en-IE" sz="1400" b="1" dirty="0">
                <a:solidFill>
                  <a:schemeClr val="bg1"/>
                </a:solidFill>
              </a:rPr>
              <a:t>3</a:t>
            </a:r>
            <a:endParaRPr lang="en-IE" sz="1400" dirty="0"/>
          </a:p>
        </p:txBody>
      </p:sp>
      <p:sp>
        <p:nvSpPr>
          <p:cNvPr id="18" name="Text 15"/>
          <p:cNvSpPr txBox="1"/>
          <p:nvPr/>
        </p:nvSpPr>
        <p:spPr>
          <a:xfrm>
            <a:off x="8001000" y="3803904"/>
            <a:ext cx="3642055" cy="384048"/>
          </a:xfrm>
          <a:prstGeom prst="rect">
            <a:avLst/>
          </a:prstGeom>
          <a:noFill/>
          <a:ln/>
        </p:spPr>
        <p:txBody>
          <a:bodyPr wrap="square" lIns="0" tIns="0" rIns="0" bIns="0" rtlCol="0" anchor="ctr"/>
          <a:lstStyle/>
          <a:p>
            <a:pPr indent="0" marL="0">
              <a:buNone/>
            </a:pPr>
            <a:r>
              <a:rPr lang="en-IE" sz="1700" b="1" dirty="0">
                <a:solidFill>
                  <a:schemeClr val="tx1"/>
                </a:solidFill>
              </a:rPr>
              <a:t>Compare the attributes</a:t>
            </a:r>
            <a:endParaRPr lang="en-IE" sz="1700" dirty="0"/>
          </a:p>
        </p:txBody>
      </p:sp>
      <p:sp>
        <p:nvSpPr>
          <p:cNvPr id="19" name="Text 16"/>
          <p:cNvSpPr txBox="1"/>
          <p:nvPr/>
        </p:nvSpPr>
        <p:spPr>
          <a:xfrm>
            <a:off x="8001000" y="4197096"/>
            <a:ext cx="3642055" cy="566928"/>
          </a:xfrm>
          <a:prstGeom prst="rect">
            <a:avLst/>
          </a:prstGeom>
          <a:noFill/>
          <a:ln/>
        </p:spPr>
        <p:txBody>
          <a:bodyPr wrap="square" lIns="0" tIns="0" rIns="0" bIns="0" rtlCol="0" anchor="t"/>
          <a:lstStyle/>
          <a:p>
            <a:pPr indent="0" marL="0">
              <a:buNone/>
            </a:pPr>
            <a:r>
              <a:rPr lang="en-IE" sz="1450" dirty="0">
                <a:solidFill>
                  <a:schemeClr val="tx2"/>
                </a:solidFill>
              </a:rPr>
              <a:t>Here the names, compared with equals() because they’re Strings.</a:t>
            </a:r>
            <a:endParaRPr lang="en-IE" sz="1450" dirty="0"/>
          </a:p>
        </p:txBody>
      </p:sp>
      <p:sp>
        <p:nvSpPr>
          <p:cNvPr id="20" name="Text 17"/>
          <p:cNvSpPr txBox="1"/>
          <p:nvPr/>
        </p:nvSpPr>
        <p:spPr>
          <a:xfrm>
            <a:off x="7452360" y="4937760"/>
            <a:ext cx="3657600" cy="292608"/>
          </a:xfrm>
          <a:prstGeom prst="rect">
            <a:avLst/>
          </a:prstGeom>
          <a:noFill/>
          <a:ln/>
        </p:spPr>
        <p:txBody>
          <a:bodyPr wrap="square" lIns="0" tIns="0" rIns="0" bIns="0" rtlCol="0" anchor="t"/>
          <a:lstStyle/>
          <a:p>
            <a:pPr indent="0" marL="0">
              <a:buNone/>
            </a:pPr>
            <a:r>
              <a:rPr lang="en-IE" sz="1350" b="1" dirty="0">
                <a:solidFill>
                  <a:schemeClr val="tx2"/>
                </a:solidFill>
              </a:rPr>
              <a:t>Using it</a:t>
            </a:r>
            <a:endParaRPr lang="en-IE" sz="1350" dirty="0"/>
          </a:p>
        </p:txBody>
      </p:sp>
      <p:sp>
        <p:nvSpPr>
          <p:cNvPr id="21" name="Using equals card"/>
          <p:cNvSpPr/>
          <p:nvPr/>
        </p:nvSpPr>
        <p:spPr>
          <a:xfrm>
            <a:off x="7452360" y="5266944"/>
            <a:ext cx="4190695" cy="683260"/>
          </a:xfrm>
          <a:prstGeom prst="roundRect">
            <a:avLst>
              <a:gd name="adj" fmla="val 16059"/>
            </a:avLst>
          </a:prstGeom>
          <a:solidFill>
            <a:schemeClr val="tx1"/>
          </a:solidFill>
          <a:ln/>
          <a:effectLst>
            <a:outerShdw sx="100000" sy="100000" kx="0" ky="0" algn="bl" rotWithShape="0" blurRad="114300" dist="31750" dir="5400000">
              <a:srgbClr val="1D2433">
                <a:alpha val="12000"/>
              </a:srgbClr>
            </a:outerShdw>
          </a:effectLst>
        </p:spPr>
      </p:sp>
      <p:sp>
        <p:nvSpPr>
          <p:cNvPr id="22" name="Using equals text"/>
          <p:cNvSpPr txBox="1"/>
          <p:nvPr/>
        </p:nvSpPr>
        <p:spPr>
          <a:xfrm>
            <a:off x="7726680" y="5468112"/>
            <a:ext cx="3642055" cy="280924"/>
          </a:xfrm>
          <a:prstGeom prst="rect">
            <a:avLst/>
          </a:prstGeom>
          <a:noFill/>
          <a:ln/>
        </p:spPr>
        <p:txBody>
          <a:bodyPr wrap="square" lIns="0" tIns="0" rIns="0" bIns="0" rtlCol="0" anchor="t"/>
          <a:lstStyle/>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ann.</a:t>
            </a:r>
            <a:r>
              <a:rPr lang="en-IE" sz="1350" dirty="0">
                <a:solidFill>
                  <a:srgbClr val="C9B0FF"/>
                </a:solidFill>
                <a:latin typeface="Consolas" pitchFamily="34" charset="0"/>
                <a:ea typeface="Consolas" pitchFamily="34" charset="-122"/>
                <a:cs typeface="Consolas" pitchFamily="34" charset="-120"/>
              </a:rPr>
              <a:t>equals</a:t>
            </a:r>
            <a:r>
              <a:rPr lang="en-IE" sz="1350" dirty="0">
                <a:solidFill>
                  <a:srgbClr val="E6EBF2"/>
                </a:solidFill>
                <a:latin typeface="Consolas" pitchFamily="34" charset="0"/>
                <a:ea typeface="Consolas" pitchFamily="34" charset="-122"/>
                <a:cs typeface="Consolas" pitchFamily="34" charset="-120"/>
              </a:rPr>
              <a:t>(otherAnn)   </a:t>
            </a:r>
            <a:r>
              <a:rPr lang="en-IE" sz="1350" i="1" dirty="0">
                <a:solidFill>
                  <a:srgbClr val="A3AEC2"/>
                </a:solidFill>
                <a:latin typeface="Consolas" pitchFamily="34" charset="0"/>
                <a:ea typeface="Consolas" pitchFamily="34" charset="-122"/>
                <a:cs typeface="Consolas" pitchFamily="34" charset="-120"/>
              </a:rPr>
              <a:t>// now true</a:t>
            </a:r>
            <a:endParaRPr lang="en-IE" sz="13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19</a:t>
            </a:fld>
            <a:endParaRPr lang="en-IE"/>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6</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Overriding equals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this code print?</a:t>
            </a:r>
            <a:endParaRPr lang="en-IE" sz="2800" dirty="0"/>
          </a:p>
        </p:txBody>
      </p:sp>
      <p:sp>
        <p:nvSpPr>
          <p:cNvPr id="5" name="Question code card"/>
          <p:cNvSpPr/>
          <p:nvPr/>
        </p:nvSpPr>
        <p:spPr>
          <a:xfrm>
            <a:off x="548640" y="1994916"/>
            <a:ext cx="6035040" cy="3965448"/>
          </a:xfrm>
          <a:prstGeom prst="roundRect">
            <a:avLst>
              <a:gd name="adj" fmla="val 2767"/>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nguage"/>
          <p:cNvSpPr txBox="1"/>
          <p:nvPr/>
        </p:nvSpPr>
        <p:spPr>
          <a:xfrm>
            <a:off x="822960" y="2113788"/>
            <a:ext cx="54864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Question code text"/>
          <p:cNvSpPr txBox="1"/>
          <p:nvPr/>
        </p:nvSpPr>
        <p:spPr>
          <a:xfrm>
            <a:off x="822960" y="2488692"/>
            <a:ext cx="5486400" cy="3270504"/>
          </a:xfrm>
          <a:prstGeom prst="rect">
            <a:avLst/>
          </a:prstGeom>
          <a:noFill/>
          <a:ln/>
        </p:spPr>
        <p:txBody>
          <a:bodyPr wrap="square" lIns="0" tIns="0" rIns="0" bIns="0" rtlCol="0" anchor="t"/>
          <a:lstStyle/>
          <a:p>
            <a:pPr indent="0" marL="0">
              <a:lnSpc>
                <a:spcPts val="2110"/>
              </a:lnSpc>
              <a:buNone/>
            </a:pPr>
            <a:r>
              <a:rPr lang="en-IE" sz="1600" dirty="0">
                <a:solidFill>
                  <a:srgbClr val="E8C468"/>
                </a:solidFill>
                <a:latin typeface="Consolas" pitchFamily="34" charset="0"/>
                <a:ea typeface="Consolas" pitchFamily="34" charset="-122"/>
                <a:cs typeface="Consolas" pitchFamily="34" charset="-120"/>
              </a:rPr>
              <a:t>@Override</a:t>
            </a:r>
            <a:endParaRPr lang="en-IE" sz="1600" dirty="0"/>
          </a:p>
          <a:p>
            <a:pPr indent="0" marL="0">
              <a:lnSpc>
                <a:spcPts val="2110"/>
              </a:lnSpc>
              <a:buNone/>
            </a:pPr>
            <a:r>
              <a:rPr lang="en-IE" sz="1600" dirty="0">
                <a:solidFill>
                  <a:srgbClr val="FF9F5A"/>
                </a:solidFill>
                <a:latin typeface="Consolas" pitchFamily="34" charset="0"/>
                <a:ea typeface="Consolas" pitchFamily="34" charset="-122"/>
                <a:cs typeface="Consolas" pitchFamily="34" charset="-120"/>
              </a:rPr>
              <a:t>public</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boolean</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C9B0FF"/>
                </a:solidFill>
                <a:latin typeface="Consolas" pitchFamily="34" charset="0"/>
                <a:ea typeface="Consolas" pitchFamily="34" charset="-122"/>
                <a:cs typeface="Consolas" pitchFamily="34" charset="-120"/>
              </a:rPr>
              <a:t>equals</a:t>
            </a:r>
            <a:r>
              <a:rPr lang="en-IE" sz="1600" dirty="0">
                <a:solidFill>
                  <a:srgbClr val="E6EBF2"/>
                </a:solidFill>
                <a:latin typeface="Consolas" pitchFamily="34" charset="0"/>
                <a:ea typeface="Consolas" pitchFamily="34" charset="-122"/>
                <a:cs typeface="Consolas" pitchFamily="34" charset="-120"/>
              </a:rPr>
              <a:t>(</a:t>
            </a:r>
            <a:r>
              <a:rPr lang="en-IE" sz="1600" dirty="0">
                <a:solidFill>
                  <a:srgbClr val="6CC4E8"/>
                </a:solidFill>
                <a:latin typeface="Consolas" pitchFamily="34" charset="0"/>
                <a:ea typeface="Consolas" pitchFamily="34" charset="-122"/>
                <a:cs typeface="Consolas" pitchFamily="34" charset="-120"/>
              </a:rPr>
              <a:t>Object</a:t>
            </a:r>
            <a:r>
              <a:rPr lang="en-IE" sz="1600" dirty="0">
                <a:solidFill>
                  <a:srgbClr val="E6EBF2"/>
                </a:solidFill>
                <a:latin typeface="Consolas" pitchFamily="34" charset="0"/>
                <a:ea typeface="Consolas" pitchFamily="34" charset="-122"/>
                <a:cs typeface="Consolas" pitchFamily="34" charset="-120"/>
              </a:rPr>
              <a:t> obj) {</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if</a:t>
            </a:r>
            <a:r>
              <a:rPr lang="en-IE" sz="1600" dirty="0">
                <a:solidFill>
                  <a:srgbClr val="E6EBF2"/>
                </a:solidFill>
                <a:latin typeface="Consolas" pitchFamily="34" charset="0"/>
                <a:ea typeface="Consolas" pitchFamily="34" charset="-122"/>
                <a:cs typeface="Consolas" pitchFamily="34" charset="-120"/>
              </a:rPr>
              <a:t> (!(obj </a:t>
            </a:r>
            <a:r>
              <a:rPr lang="en-IE" sz="1600" dirty="0">
                <a:solidFill>
                  <a:srgbClr val="FF9F5A"/>
                </a:solidFill>
                <a:latin typeface="Consolas" pitchFamily="34" charset="0"/>
                <a:ea typeface="Consolas" pitchFamily="34" charset="-122"/>
                <a:cs typeface="Consolas" pitchFamily="34" charset="-120"/>
              </a:rPr>
              <a:t>instanceof</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6CC4E8"/>
                </a:solidFill>
                <a:latin typeface="Consolas" pitchFamily="34" charset="0"/>
                <a:ea typeface="Consolas" pitchFamily="34" charset="-122"/>
                <a:cs typeface="Consolas" pitchFamily="34" charset="-120"/>
              </a:rPr>
              <a:t>Student</a:t>
            </a:r>
            <a:r>
              <a:rPr lang="en-IE" sz="1600" dirty="0">
                <a:solidFill>
                  <a:srgbClr val="E6EBF2"/>
                </a:solidFill>
                <a:latin typeface="Consolas" pitchFamily="34" charset="0"/>
                <a:ea typeface="Consolas" pitchFamily="34" charset="-122"/>
                <a:cs typeface="Consolas" pitchFamily="34" charset="-120"/>
              </a:rPr>
              <a:t>)) {</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return</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false</a:t>
            </a:r>
            <a:r>
              <a:rPr lang="en-IE" sz="1600" dirty="0">
                <a:solidFill>
                  <a:srgbClr val="E6EBF2"/>
                </a:solidFill>
                <a:latin typeface="Consolas" pitchFamily="34" charset="0"/>
                <a:ea typeface="Consolas" pitchFamily="34" charset="-122"/>
                <a:cs typeface="Consolas" pitchFamily="34" charset="-120"/>
              </a:rPr>
              <a:t>;</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6CC4E8"/>
                </a:solidFill>
                <a:latin typeface="Consolas" pitchFamily="34" charset="0"/>
                <a:ea typeface="Consolas" pitchFamily="34" charset="-122"/>
                <a:cs typeface="Consolas" pitchFamily="34" charset="-120"/>
              </a:rPr>
              <a:t>Student</a:t>
            </a:r>
            <a:r>
              <a:rPr lang="en-IE" sz="1600" dirty="0">
                <a:solidFill>
                  <a:srgbClr val="E6EBF2"/>
                </a:solidFill>
                <a:latin typeface="Consolas" pitchFamily="34" charset="0"/>
                <a:ea typeface="Consolas" pitchFamily="34" charset="-122"/>
                <a:cs typeface="Consolas" pitchFamily="34" charset="-120"/>
              </a:rPr>
              <a:t> other = (</a:t>
            </a:r>
            <a:r>
              <a:rPr lang="en-IE" sz="1600" dirty="0">
                <a:solidFill>
                  <a:srgbClr val="6CC4E8"/>
                </a:solidFill>
                <a:latin typeface="Consolas" pitchFamily="34" charset="0"/>
                <a:ea typeface="Consolas" pitchFamily="34" charset="-122"/>
                <a:cs typeface="Consolas" pitchFamily="34" charset="-120"/>
              </a:rPr>
              <a:t>Student</a:t>
            </a:r>
            <a:r>
              <a:rPr lang="en-IE" sz="1600" dirty="0">
                <a:solidFill>
                  <a:srgbClr val="E6EBF2"/>
                </a:solidFill>
                <a:latin typeface="Consolas" pitchFamily="34" charset="0"/>
                <a:ea typeface="Consolas" pitchFamily="34" charset="-122"/>
                <a:cs typeface="Consolas" pitchFamily="34" charset="-120"/>
              </a:rPr>
              <a:t>) obj;</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return</a:t>
            </a:r>
            <a:r>
              <a:rPr lang="en-IE" sz="1600" dirty="0">
                <a:solidFill>
                  <a:srgbClr val="E6EBF2"/>
                </a:solidFill>
                <a:latin typeface="Consolas" pitchFamily="34" charset="0"/>
                <a:ea typeface="Consolas" pitchFamily="34" charset="-122"/>
                <a:cs typeface="Consolas" pitchFamily="34" charset="-120"/>
              </a:rPr>
              <a:t> name.</a:t>
            </a:r>
            <a:r>
              <a:rPr lang="en-IE" sz="1600" dirty="0">
                <a:solidFill>
                  <a:srgbClr val="C9B0FF"/>
                </a:solidFill>
                <a:latin typeface="Consolas" pitchFamily="34" charset="0"/>
                <a:ea typeface="Consolas" pitchFamily="34" charset="-122"/>
                <a:cs typeface="Consolas" pitchFamily="34" charset="-120"/>
              </a:rPr>
              <a:t>equals</a:t>
            </a:r>
            <a:r>
              <a:rPr lang="en-IE" sz="1600" dirty="0">
                <a:solidFill>
                  <a:srgbClr val="E6EBF2"/>
                </a:solidFill>
                <a:latin typeface="Consolas" pitchFamily="34" charset="0"/>
                <a:ea typeface="Consolas" pitchFamily="34" charset="-122"/>
                <a:cs typeface="Consolas" pitchFamily="34" charset="-120"/>
              </a:rPr>
              <a:t>(other.</a:t>
            </a:r>
            <a:r>
              <a:rPr lang="en-IE" sz="1600" dirty="0">
                <a:solidFill>
                  <a:srgbClr val="C9B0FF"/>
                </a:solidFill>
                <a:latin typeface="Consolas" pitchFamily="34" charset="0"/>
                <a:ea typeface="Consolas" pitchFamily="34" charset="-122"/>
                <a:cs typeface="Consolas" pitchFamily="34" charset="-120"/>
              </a:rPr>
              <a:t>getName</a:t>
            </a:r>
            <a:r>
              <a:rPr lang="en-IE" sz="1600" dirty="0">
                <a:solidFill>
                  <a:srgbClr val="E6EBF2"/>
                </a:solidFill>
                <a:latin typeface="Consolas" pitchFamily="34" charset="0"/>
                <a:ea typeface="Consolas" pitchFamily="34" charset="-122"/>
                <a:cs typeface="Consolas" pitchFamily="34" charset="-120"/>
              </a:rPr>
              <a:t>());</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endParaRPr lang="en-IE" sz="1600" dirty="0"/>
          </a:p>
          <a:p>
            <a:pPr indent="0" marL="0">
              <a:lnSpc>
                <a:spcPts val="2110"/>
              </a:lnSpc>
              <a:buNone/>
            </a:pPr>
            <a:r>
              <a:rPr lang="en-IE" sz="1600" i="1" dirty="0">
                <a:solidFill>
                  <a:srgbClr val="A3AEC2"/>
                </a:solidFill>
                <a:latin typeface="Consolas" pitchFamily="34" charset="0"/>
                <a:ea typeface="Consolas" pitchFamily="34" charset="-122"/>
                <a:cs typeface="Consolas" pitchFamily="34" charset="-120"/>
              </a:rPr>
              <a:t>// in main:</a:t>
            </a:r>
            <a:endParaRPr lang="en-IE" sz="1600" dirty="0"/>
          </a:p>
          <a:p>
            <a:pPr indent="0" marL="0">
              <a:lnSpc>
                <a:spcPts val="2110"/>
              </a:lnSpc>
              <a:buNone/>
            </a:pPr>
            <a:r>
              <a:rPr lang="en-IE" sz="1600" dirty="0">
                <a:solidFill>
                  <a:srgbClr val="6CC4E8"/>
                </a:solidFill>
                <a:latin typeface="Consolas" pitchFamily="34" charset="0"/>
                <a:ea typeface="Consolas" pitchFamily="34" charset="-122"/>
                <a:cs typeface="Consolas" pitchFamily="34" charset="-120"/>
              </a:rPr>
              <a:t>Student</a:t>
            </a:r>
            <a:r>
              <a:rPr lang="en-IE" sz="1600" dirty="0">
                <a:solidFill>
                  <a:srgbClr val="E6EBF2"/>
                </a:solidFill>
                <a:latin typeface="Consolas" pitchFamily="34" charset="0"/>
                <a:ea typeface="Consolas" pitchFamily="34" charset="-122"/>
                <a:cs typeface="Consolas" pitchFamily="34" charset="-120"/>
              </a:rPr>
              <a:t> ann = </a:t>
            </a:r>
            <a:r>
              <a:rPr lang="en-IE" sz="1600" dirty="0">
                <a:solidFill>
                  <a:srgbClr val="FF9F5A"/>
                </a:solidFill>
                <a:latin typeface="Consolas" pitchFamily="34" charset="0"/>
                <a:ea typeface="Consolas" pitchFamily="34" charset="-122"/>
                <a:cs typeface="Consolas" pitchFamily="34" charset="-120"/>
              </a:rPr>
              <a:t>new</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C9B0FF"/>
                </a:solidFill>
                <a:latin typeface="Consolas" pitchFamily="34" charset="0"/>
                <a:ea typeface="Consolas" pitchFamily="34" charset="-122"/>
                <a:cs typeface="Consolas" pitchFamily="34" charset="-120"/>
              </a:rPr>
              <a:t>Student</a:t>
            </a:r>
            <a:r>
              <a:rPr lang="en-IE" sz="1600" dirty="0">
                <a:solidFill>
                  <a:srgbClr val="E6EBF2"/>
                </a:solidFill>
                <a:latin typeface="Consolas" pitchFamily="34" charset="0"/>
                <a:ea typeface="Consolas" pitchFamily="34" charset="-122"/>
                <a:cs typeface="Consolas" pitchFamily="34" charset="-120"/>
              </a:rPr>
              <a:t>(</a:t>
            </a:r>
            <a:r>
              <a:rPr lang="en-IE" sz="1600" dirty="0">
                <a:solidFill>
                  <a:srgbClr val="A9DB8C"/>
                </a:solidFill>
                <a:latin typeface="Consolas" pitchFamily="34" charset="0"/>
                <a:ea typeface="Consolas" pitchFamily="34" charset="-122"/>
                <a:cs typeface="Consolas" pitchFamily="34" charset="-120"/>
              </a:rPr>
              <a:t>"ann"</a:t>
            </a:r>
            <a:r>
              <a:rPr lang="en-IE" sz="1600" dirty="0">
                <a:solidFill>
                  <a:srgbClr val="E6EBF2"/>
                </a:solidFill>
                <a:latin typeface="Consolas" pitchFamily="34" charset="0"/>
                <a:ea typeface="Consolas" pitchFamily="34" charset="-122"/>
                <a:cs typeface="Consolas" pitchFamily="34" charset="-120"/>
              </a:rPr>
              <a:t>);</a:t>
            </a:r>
            <a:endParaRPr lang="en-IE" sz="1600" dirty="0"/>
          </a:p>
          <a:p>
            <a:pPr indent="0" marL="0">
              <a:lnSpc>
                <a:spcPts val="2110"/>
              </a:lnSpc>
              <a:buNone/>
            </a:pPr>
            <a:r>
              <a:rPr lang="en-IE" sz="1600" dirty="0">
                <a:solidFill>
                  <a:srgbClr val="6CC4E8"/>
                </a:solidFill>
                <a:latin typeface="Consolas" pitchFamily="34" charset="0"/>
                <a:ea typeface="Consolas" pitchFamily="34" charset="-122"/>
                <a:cs typeface="Consolas" pitchFamily="34" charset="-120"/>
              </a:rPr>
              <a:t>System</a:t>
            </a:r>
            <a:r>
              <a:rPr lang="en-IE" sz="1600" dirty="0">
                <a:solidFill>
                  <a:srgbClr val="E6EBF2"/>
                </a:solidFill>
                <a:latin typeface="Consolas" pitchFamily="34" charset="0"/>
                <a:ea typeface="Consolas" pitchFamily="34" charset="-122"/>
                <a:cs typeface="Consolas" pitchFamily="34" charset="-120"/>
              </a:rPr>
              <a:t>.out.</a:t>
            </a:r>
            <a:r>
              <a:rPr lang="en-IE" sz="1600" dirty="0">
                <a:solidFill>
                  <a:srgbClr val="C9B0FF"/>
                </a:solidFill>
                <a:latin typeface="Consolas" pitchFamily="34" charset="0"/>
                <a:ea typeface="Consolas" pitchFamily="34" charset="-122"/>
                <a:cs typeface="Consolas" pitchFamily="34" charset="-120"/>
              </a:rPr>
              <a:t>println</a:t>
            </a:r>
            <a:r>
              <a:rPr lang="en-IE" sz="1600" dirty="0">
                <a:solidFill>
                  <a:srgbClr val="E6EBF2"/>
                </a:solidFill>
                <a:latin typeface="Consolas" pitchFamily="34" charset="0"/>
                <a:ea typeface="Consolas" pitchFamily="34" charset="-122"/>
                <a:cs typeface="Consolas" pitchFamily="34" charset="-120"/>
              </a:rPr>
              <a:t>(ann.</a:t>
            </a:r>
            <a:r>
              <a:rPr lang="en-IE" sz="1600" dirty="0">
                <a:solidFill>
                  <a:srgbClr val="C9B0FF"/>
                </a:solidFill>
                <a:latin typeface="Consolas" pitchFamily="34" charset="0"/>
                <a:ea typeface="Consolas" pitchFamily="34" charset="-122"/>
                <a:cs typeface="Consolas" pitchFamily="34" charset="-120"/>
              </a:rPr>
              <a:t>equals</a:t>
            </a:r>
            <a:r>
              <a:rPr lang="en-IE" sz="1600" dirty="0">
                <a:solidFill>
                  <a:srgbClr val="E6EBF2"/>
                </a:solidFill>
                <a:latin typeface="Consolas" pitchFamily="34" charset="0"/>
                <a:ea typeface="Consolas" pitchFamily="34" charset="-122"/>
                <a:cs typeface="Consolas" pitchFamily="34" charset="-120"/>
              </a:rPr>
              <a:t>(</a:t>
            </a:r>
            <a:r>
              <a:rPr lang="en-IE" sz="1600" dirty="0">
                <a:solidFill>
                  <a:srgbClr val="A9DB8C"/>
                </a:solidFill>
                <a:latin typeface="Consolas" pitchFamily="34" charset="0"/>
                <a:ea typeface="Consolas" pitchFamily="34" charset="-122"/>
                <a:cs typeface="Consolas" pitchFamily="34" charset="-120"/>
              </a:rPr>
              <a:t>"ann"</a:t>
            </a:r>
            <a:r>
              <a:rPr lang="en-IE" sz="1600" dirty="0">
                <a:solidFill>
                  <a:srgbClr val="E6EBF2"/>
                </a:solidFill>
                <a:latin typeface="Consolas" pitchFamily="34" charset="0"/>
                <a:ea typeface="Consolas" pitchFamily="34" charset="-122"/>
                <a:cs typeface="Consolas" pitchFamily="34" charset="-120"/>
              </a:rPr>
              <a:t>));</a:t>
            </a:r>
            <a:endParaRPr lang="en-IE" sz="16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true</a:t>
            </a:r>
            <a:r>
              <a:rPr lang="en-IE" sz="2000" dirty="0">
                <a:solidFill>
                  <a:schemeClr val="tx1"/>
                </a:solidFill>
              </a:rPr>
              <a:t>, since the names match</a:t>
            </a:r>
            <a:endParaRPr lang="en-IE"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IE" sz="2000" dirty="0">
                <a:solidFill>
                  <a:schemeClr val="tx1"/>
                </a:solidFill>
              </a:rPr>
              <a:t>A ClassCastException</a:t>
            </a:r>
            <a:endParaRPr lang="en-IE"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false</a:t>
            </a:r>
            <a:endParaRPr lang="en-IE"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IE" sz="2000" dirty="0">
                <a:solidFill>
                  <a:schemeClr val="tx1"/>
                </a:solidFill>
              </a:rPr>
              <a:t>A compile error</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20</a:t>
            </a:fld>
            <a:endParaRPr lang="en-IE"/>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6</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Overriding equals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this code print?</a:t>
            </a:r>
            <a:endParaRPr lang="en-IE" sz="2000" dirty="0"/>
          </a:p>
        </p:txBody>
      </p:sp>
      <p:sp>
        <p:nvSpPr>
          <p:cNvPr id="5" name="Answer code card"/>
          <p:cNvSpPr/>
          <p:nvPr/>
        </p:nvSpPr>
        <p:spPr>
          <a:xfrm>
            <a:off x="548640" y="1874520"/>
            <a:ext cx="5623560" cy="1211580"/>
          </a:xfrm>
          <a:prstGeom prst="roundRect">
            <a:avLst>
              <a:gd name="adj" fmla="val 9057"/>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809244"/>
          </a:xfrm>
          <a:prstGeom prst="rect">
            <a:avLst/>
          </a:prstGeom>
          <a:noFill/>
          <a:ln/>
        </p:spPr>
        <p:txBody>
          <a:bodyPr wrap="square" lIns="0" tIns="0" rIns="0" bIns="0" rtlCol="0" anchor="t"/>
          <a:lstStyle/>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ann.</a:t>
            </a:r>
            <a:r>
              <a:rPr lang="en-IE" sz="1500" dirty="0">
                <a:solidFill>
                  <a:srgbClr val="C9B0FF"/>
                </a:solidFill>
                <a:latin typeface="Consolas" pitchFamily="34" charset="0"/>
                <a:ea typeface="Consolas" pitchFamily="34" charset="-122"/>
                <a:cs typeface="Consolas" pitchFamily="34" charset="-120"/>
              </a:rPr>
              <a:t>equals</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A9DB8C"/>
                </a:solidFill>
                <a:latin typeface="Consolas" pitchFamily="34" charset="0"/>
                <a:ea typeface="Consolas" pitchFamily="34" charset="-122"/>
                <a:cs typeface="Consolas" pitchFamily="34" charset="-120"/>
              </a:rPr>
              <a:t>"ann"</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i="1" dirty="0">
                <a:solidFill>
                  <a:srgbClr val="A3AEC2"/>
                </a:solidFill>
                <a:latin typeface="Consolas" pitchFamily="34" charset="0"/>
                <a:ea typeface="Consolas" pitchFamily="34" charset="-122"/>
                <a:cs typeface="Consolas" pitchFamily="34" charset="-120"/>
              </a:rPr>
              <a:t>// "ann" is a String, not a Student,</a:t>
            </a:r>
            <a:endParaRPr lang="en-IE" sz="1500" dirty="0"/>
          </a:p>
          <a:p>
            <a:pPr indent="0" marL="0">
              <a:lnSpc>
                <a:spcPts val="1980"/>
              </a:lnSpc>
              <a:buNone/>
            </a:pPr>
            <a:r>
              <a:rPr lang="en-IE" sz="1500" i="1" dirty="0">
                <a:solidFill>
                  <a:srgbClr val="A3AEC2"/>
                </a:solidFill>
                <a:latin typeface="Consolas" pitchFamily="34" charset="0"/>
                <a:ea typeface="Consolas" pitchFamily="34" charset="-122"/>
                <a:cs typeface="Consolas" pitchFamily="34" charset="-120"/>
              </a:rPr>
              <a:t>// so instanceof is false: returns false</a:t>
            </a:r>
            <a:endParaRPr lang="en-IE" sz="1500" dirty="0"/>
          </a:p>
        </p:txBody>
      </p:sp>
      <p:sp>
        <p:nvSpPr>
          <p:cNvPr id="7" name="Option A"/>
          <p:cNvSpPr/>
          <p:nvPr/>
        </p:nvSpPr>
        <p:spPr>
          <a:xfrm>
            <a:off x="548640" y="3314700"/>
            <a:ext cx="5623560" cy="581787"/>
          </a:xfrm>
          <a:prstGeom prst="roundRect">
            <a:avLst>
              <a:gd name="adj" fmla="val 18861"/>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39528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71600" y="3314700"/>
            <a:ext cx="4572000" cy="581787"/>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true</a:t>
            </a:r>
            <a:r>
              <a:rPr lang="en-IE" sz="1700" dirty="0">
                <a:solidFill>
                  <a:schemeClr val="tx2"/>
                </a:solidFill>
              </a:rPr>
              <a:t>, since the names match</a:t>
            </a:r>
            <a:endParaRPr lang="en-IE" sz="1700" dirty="0"/>
          </a:p>
        </p:txBody>
      </p:sp>
      <p:sp>
        <p:nvSpPr>
          <p:cNvPr id="10" name="Option B"/>
          <p:cNvSpPr/>
          <p:nvPr/>
        </p:nvSpPr>
        <p:spPr>
          <a:xfrm>
            <a:off x="548640" y="4042791"/>
            <a:ext cx="5623560" cy="581787"/>
          </a:xfrm>
          <a:prstGeom prst="roundRect">
            <a:avLst>
              <a:gd name="adj" fmla="val 18861"/>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4123373"/>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2" name="Option B text"/>
          <p:cNvSpPr txBox="1"/>
          <p:nvPr/>
        </p:nvSpPr>
        <p:spPr>
          <a:xfrm>
            <a:off x="1371600" y="4042791"/>
            <a:ext cx="4572000" cy="581787"/>
          </a:xfrm>
          <a:prstGeom prst="rect">
            <a:avLst/>
          </a:prstGeom>
          <a:noFill/>
          <a:ln/>
        </p:spPr>
        <p:txBody>
          <a:bodyPr wrap="square" lIns="0" tIns="0" rIns="0" bIns="0" rtlCol="0" anchor="ctr"/>
          <a:lstStyle/>
          <a:p>
            <a:pPr indent="0" marL="0">
              <a:buNone/>
            </a:pPr>
            <a:r>
              <a:rPr lang="en-IE" sz="1700" dirty="0">
                <a:solidFill>
                  <a:schemeClr val="tx2"/>
                </a:solidFill>
              </a:rPr>
              <a:t>A ClassCastException</a:t>
            </a:r>
            <a:endParaRPr lang="en-IE" sz="1700" dirty="0"/>
          </a:p>
        </p:txBody>
      </p:sp>
      <p:sp>
        <p:nvSpPr>
          <p:cNvPr id="13" name="Option C (correct)"/>
          <p:cNvSpPr/>
          <p:nvPr/>
        </p:nvSpPr>
        <p:spPr>
          <a:xfrm>
            <a:off x="548640" y="4770882"/>
            <a:ext cx="5623560" cy="581787"/>
          </a:xfrm>
          <a:prstGeom prst="roundRect">
            <a:avLst>
              <a:gd name="adj" fmla="val 18861"/>
            </a:avLst>
          </a:prstGeom>
          <a:solidFill>
            <a:schemeClr val="accent3"/>
          </a:solidFill>
          <a:ln/>
          <a:effectLst>
            <a:outerShdw sx="100000" sy="100000" kx="0" ky="0" algn="bl" rotWithShape="0" blurRad="114300" dist="31750" dir="5400000">
              <a:srgbClr val="1D2433">
                <a:alpha val="12000"/>
              </a:srgbClr>
            </a:outerShdw>
          </a:effectLst>
        </p:spPr>
      </p:sp>
      <p:sp>
        <p:nvSpPr>
          <p:cNvPr id="14" name="Letter C"/>
          <p:cNvSpPr/>
          <p:nvPr/>
        </p:nvSpPr>
        <p:spPr>
          <a:xfrm>
            <a:off x="749808" y="4851464"/>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5" name="Option C text"/>
          <p:cNvSpPr txBox="1"/>
          <p:nvPr/>
        </p:nvSpPr>
        <p:spPr>
          <a:xfrm>
            <a:off x="1371600" y="4770882"/>
            <a:ext cx="4142232" cy="581787"/>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false</a:t>
            </a:r>
            <a:endParaRPr lang="en-IE" sz="1700" dirty="0"/>
          </a:p>
        </p:txBody>
      </p:sp>
      <p:pic>
        <p:nvPicPr>
          <p:cNvPr id="16" name="Correct mark" descr="Correct mark">    </p:cNvPr>
          <p:cNvPicPr>
            <a:picLocks noChangeAspect="1"/>
          </p:cNvPicPr>
          <p:nvPr/>
        </p:nvPicPr>
        <p:blipFill>
          <a:blip r:embed="rId1"/>
          <a:stretch>
            <a:fillRect/>
          </a:stretch>
        </p:blipFill>
        <p:spPr>
          <a:xfrm>
            <a:off x="5623560" y="4878896"/>
            <a:ext cx="365760" cy="365760"/>
          </a:xfrm>
          <a:prstGeom prst="rect">
            <a:avLst/>
          </a:prstGeom>
        </p:spPr>
      </p:pic>
      <p:sp>
        <p:nvSpPr>
          <p:cNvPr id="17" name="Option D"/>
          <p:cNvSpPr/>
          <p:nvPr/>
        </p:nvSpPr>
        <p:spPr>
          <a:xfrm>
            <a:off x="548640" y="5498973"/>
            <a:ext cx="5623560" cy="581787"/>
          </a:xfrm>
          <a:prstGeom prst="roundRect">
            <a:avLst>
              <a:gd name="adj" fmla="val 18861"/>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79555"/>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71600" y="5498973"/>
            <a:ext cx="4572000" cy="581787"/>
          </a:xfrm>
          <a:prstGeom prst="rect">
            <a:avLst/>
          </a:prstGeom>
          <a:noFill/>
          <a:ln/>
        </p:spPr>
        <p:txBody>
          <a:bodyPr wrap="square" lIns="0" tIns="0" rIns="0" bIns="0" rtlCol="0" anchor="ctr"/>
          <a:lstStyle/>
          <a:p>
            <a:pPr indent="0" marL="0">
              <a:buNone/>
            </a:pPr>
            <a:r>
              <a:rPr lang="en-IE" sz="1700" dirty="0">
                <a:solidFill>
                  <a:schemeClr val="tx2"/>
                </a:solidFill>
              </a:rPr>
              <a:t>A compile error</a:t>
            </a:r>
            <a:endParaRPr lang="en-IE"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tx1"/>
                </a:solidFill>
              </a:rPr>
              <a:t>“ann” is a String, not a Student, so the instanceof check fails and equals() returns false straight away. Without that check, the cast on the next line would throw a ClassCastException (B).</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21</a:t>
            </a:fld>
            <a:endParaRPr lang="en-IE"/>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EQUALS AND ==</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The rules equals() must follow</a:t>
            </a:r>
            <a:endParaRPr lang="en-IE" sz="3400" dirty="0"/>
          </a:p>
        </p:txBody>
      </p:sp>
      <p:sp>
        <p:nvSpPr>
          <p:cNvPr id="5" name="Reflexive"/>
          <p:cNvSpPr/>
          <p:nvPr/>
        </p:nvSpPr>
        <p:spPr>
          <a:xfrm>
            <a:off x="548640" y="1691640"/>
            <a:ext cx="11094415" cy="768096"/>
          </a:xfrm>
          <a:prstGeom prst="roundRect">
            <a:avLst>
              <a:gd name="adj" fmla="val 14286"/>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749808" y="1819656"/>
            <a:ext cx="512064" cy="512064"/>
          </a:xfrm>
          <a:prstGeom prst="roundRect">
            <a:avLst>
              <a:gd name="adj" fmla="val 24000"/>
            </a:avLst>
          </a:prstGeom>
          <a:solidFill>
            <a:schemeClr val="accent2">
              <a:alpha val="14000"/>
            </a:schemeClr>
          </a:solidFill>
          <a:ln/>
        </p:spPr>
      </p:sp>
      <p:pic>
        <p:nvPicPr>
          <p:cNvPr id="7" name="arrows clockwise icon" descr="arrows clockwise icon">    </p:cNvPr>
          <p:cNvPicPr>
            <a:picLocks noChangeAspect="1"/>
          </p:cNvPicPr>
          <p:nvPr/>
        </p:nvPicPr>
        <p:blipFill>
          <a:blip r:embed="rId1"/>
          <a:stretch>
            <a:fillRect/>
          </a:stretch>
        </p:blipFill>
        <p:spPr>
          <a:xfrm>
            <a:off x="857341" y="1927189"/>
            <a:ext cx="296997" cy="296997"/>
          </a:xfrm>
          <a:prstGeom prst="rect">
            <a:avLst/>
          </a:prstGeom>
        </p:spPr>
      </p:pic>
      <p:sp>
        <p:nvSpPr>
          <p:cNvPr id="8" name="Text 4"/>
          <p:cNvSpPr txBox="1"/>
          <p:nvPr/>
        </p:nvSpPr>
        <p:spPr>
          <a:xfrm>
            <a:off x="1463040" y="1691640"/>
            <a:ext cx="2377440" cy="768096"/>
          </a:xfrm>
          <a:prstGeom prst="rect">
            <a:avLst/>
          </a:prstGeom>
          <a:noFill/>
          <a:ln/>
        </p:spPr>
        <p:txBody>
          <a:bodyPr wrap="square" lIns="0" tIns="0" rIns="0" bIns="0" rtlCol="0" anchor="ctr"/>
          <a:lstStyle/>
          <a:p>
            <a:pPr indent="0" marL="0">
              <a:buNone/>
            </a:pPr>
            <a:r>
              <a:rPr lang="en-IE" sz="1800" b="1" dirty="0">
                <a:solidFill>
                  <a:schemeClr val="tx1"/>
                </a:solidFill>
              </a:rPr>
              <a:t>Reflexive</a:t>
            </a:r>
            <a:endParaRPr lang="en-IE" sz="1800" dirty="0"/>
          </a:p>
        </p:txBody>
      </p:sp>
      <p:sp>
        <p:nvSpPr>
          <p:cNvPr id="9" name="Text 5"/>
          <p:cNvSpPr txBox="1"/>
          <p:nvPr/>
        </p:nvSpPr>
        <p:spPr>
          <a:xfrm>
            <a:off x="3840480" y="1691640"/>
            <a:ext cx="3749040" cy="768096"/>
          </a:xfrm>
          <a:prstGeom prst="rect">
            <a:avLst/>
          </a:prstGeom>
          <a:noFill/>
          <a:ln/>
        </p:spPr>
        <p:txBody>
          <a:bodyPr wrap="square" lIns="0" tIns="0" rIns="0" bIns="0" rtlCol="0" anchor="ctr"/>
          <a:lstStyle/>
          <a:p>
            <a:pPr indent="0" marL="0">
              <a:buNone/>
            </a:pPr>
            <a:r>
              <a:rPr lang="en-IE" sz="1500" dirty="0">
                <a:solidFill>
                  <a:schemeClr val="tx2"/>
                </a:solidFill>
              </a:rPr>
              <a:t>An object is equal to itself.</a:t>
            </a:r>
            <a:endParaRPr lang="en-IE" sz="1500" dirty="0"/>
          </a:p>
        </p:txBody>
      </p:sp>
      <p:sp>
        <p:nvSpPr>
          <p:cNvPr id="10" name="Reflexive code"/>
          <p:cNvSpPr/>
          <p:nvPr/>
        </p:nvSpPr>
        <p:spPr>
          <a:xfrm>
            <a:off x="7726680" y="1837944"/>
            <a:ext cx="3733495" cy="475488"/>
          </a:xfrm>
          <a:prstGeom prst="roundRect">
            <a:avLst>
              <a:gd name="adj" fmla="val 15385"/>
            </a:avLst>
          </a:prstGeom>
          <a:solidFill>
            <a:schemeClr val="bg2"/>
          </a:solidFill>
          <a:ln/>
        </p:spPr>
        <p:txBody>
          <a:bodyPr wrap="square" lIns="0" tIns="127000" rIns="0" bIns="0" rtlCol="0" anchor="ctr"/>
          <a:lstStyle/>
          <a:p>
            <a:pPr algn="l" indent="0" marL="0">
              <a:buNone/>
            </a:pPr>
            <a:r>
              <a:rPr lang="en-IE" sz="1400" dirty="0">
                <a:solidFill>
                  <a:schemeClr val="accent2"/>
                </a:solidFill>
                <a:latin typeface="Consolas" pitchFamily="34" charset="0"/>
                <a:ea typeface="Consolas" pitchFamily="34" charset="-122"/>
                <a:cs typeface="Consolas" pitchFamily="34" charset="-120"/>
              </a:rPr>
              <a:t>a.equals(a)       // true</a:t>
            </a:r>
            <a:endParaRPr lang="en-IE" sz="1400" dirty="0"/>
          </a:p>
        </p:txBody>
      </p:sp>
      <p:sp>
        <p:nvSpPr>
          <p:cNvPr id="11" name="Symmetric"/>
          <p:cNvSpPr/>
          <p:nvPr/>
        </p:nvSpPr>
        <p:spPr>
          <a:xfrm>
            <a:off x="548640" y="2569464"/>
            <a:ext cx="11094415" cy="768096"/>
          </a:xfrm>
          <a:prstGeom prst="roundRect">
            <a:avLst>
              <a:gd name="adj" fmla="val 14286"/>
            </a:avLst>
          </a:prstGeom>
          <a:solidFill>
            <a:schemeClr val="bg1"/>
          </a:solidFill>
          <a:ln/>
          <a:effectLst>
            <a:outerShdw sx="100000" sy="100000" kx="0" ky="0" algn="bl" rotWithShape="0" blurRad="114300" dist="31750" dir="5400000">
              <a:srgbClr val="1D2433">
                <a:alpha val="12000"/>
              </a:srgbClr>
            </a:outerShdw>
          </a:effectLst>
        </p:spPr>
      </p:sp>
      <p:sp>
        <p:nvSpPr>
          <p:cNvPr id="12" name="Icon tile"/>
          <p:cNvSpPr/>
          <p:nvPr/>
        </p:nvSpPr>
        <p:spPr>
          <a:xfrm>
            <a:off x="749808" y="2697480"/>
            <a:ext cx="512064" cy="512064"/>
          </a:xfrm>
          <a:prstGeom prst="roundRect">
            <a:avLst>
              <a:gd name="adj" fmla="val 24000"/>
            </a:avLst>
          </a:prstGeom>
          <a:solidFill>
            <a:schemeClr val="accent4">
              <a:alpha val="14000"/>
            </a:schemeClr>
          </a:solidFill>
          <a:ln/>
        </p:spPr>
      </p:sp>
      <p:pic>
        <p:nvPicPr>
          <p:cNvPr id="13" name="arrows left right icon" descr="arrows left right icon">    </p:cNvPr>
          <p:cNvPicPr>
            <a:picLocks noChangeAspect="1"/>
          </p:cNvPicPr>
          <p:nvPr/>
        </p:nvPicPr>
        <p:blipFill>
          <a:blip r:embed="rId2"/>
          <a:stretch>
            <a:fillRect/>
          </a:stretch>
        </p:blipFill>
        <p:spPr>
          <a:xfrm>
            <a:off x="857341" y="2805013"/>
            <a:ext cx="296997" cy="296997"/>
          </a:xfrm>
          <a:prstGeom prst="rect">
            <a:avLst/>
          </a:prstGeom>
        </p:spPr>
      </p:pic>
      <p:sp>
        <p:nvSpPr>
          <p:cNvPr id="14" name="Text 9"/>
          <p:cNvSpPr txBox="1"/>
          <p:nvPr/>
        </p:nvSpPr>
        <p:spPr>
          <a:xfrm>
            <a:off x="1463040" y="2569464"/>
            <a:ext cx="2377440" cy="768096"/>
          </a:xfrm>
          <a:prstGeom prst="rect">
            <a:avLst/>
          </a:prstGeom>
          <a:noFill/>
          <a:ln/>
        </p:spPr>
        <p:txBody>
          <a:bodyPr wrap="square" lIns="0" tIns="0" rIns="0" bIns="0" rtlCol="0" anchor="ctr"/>
          <a:lstStyle/>
          <a:p>
            <a:pPr indent="0" marL="0">
              <a:buNone/>
            </a:pPr>
            <a:r>
              <a:rPr lang="en-IE" sz="1800" b="1" dirty="0">
                <a:solidFill>
                  <a:schemeClr val="tx1"/>
                </a:solidFill>
              </a:rPr>
              <a:t>Symmetric</a:t>
            </a:r>
            <a:endParaRPr lang="en-IE" sz="1800" dirty="0"/>
          </a:p>
        </p:txBody>
      </p:sp>
      <p:sp>
        <p:nvSpPr>
          <p:cNvPr id="15" name="Text 10"/>
          <p:cNvSpPr txBox="1"/>
          <p:nvPr/>
        </p:nvSpPr>
        <p:spPr>
          <a:xfrm>
            <a:off x="3840480" y="2569464"/>
            <a:ext cx="3749040" cy="768096"/>
          </a:xfrm>
          <a:prstGeom prst="rect">
            <a:avLst/>
          </a:prstGeom>
          <a:noFill/>
          <a:ln/>
        </p:spPr>
        <p:txBody>
          <a:bodyPr wrap="square" lIns="0" tIns="0" rIns="0" bIns="0" rtlCol="0" anchor="ctr"/>
          <a:lstStyle/>
          <a:p>
            <a:pPr indent="0" marL="0">
              <a:buNone/>
            </a:pPr>
            <a:r>
              <a:rPr lang="en-IE" sz="1500" dirty="0">
                <a:solidFill>
                  <a:schemeClr val="tx2"/>
                </a:solidFill>
              </a:rPr>
              <a:t>If a equals b, then b equals a.</a:t>
            </a:r>
            <a:endParaRPr lang="en-IE" sz="1500" dirty="0"/>
          </a:p>
        </p:txBody>
      </p:sp>
      <p:sp>
        <p:nvSpPr>
          <p:cNvPr id="16" name="Symmetric code"/>
          <p:cNvSpPr/>
          <p:nvPr/>
        </p:nvSpPr>
        <p:spPr>
          <a:xfrm>
            <a:off x="7726680" y="2715768"/>
            <a:ext cx="3733495" cy="475488"/>
          </a:xfrm>
          <a:prstGeom prst="roundRect">
            <a:avLst>
              <a:gd name="adj" fmla="val 15385"/>
            </a:avLst>
          </a:prstGeom>
          <a:solidFill>
            <a:schemeClr val="bg2"/>
          </a:solidFill>
          <a:ln/>
        </p:spPr>
        <p:txBody>
          <a:bodyPr wrap="square" lIns="0" tIns="127000" rIns="0" bIns="0" rtlCol="0" anchor="ctr"/>
          <a:lstStyle/>
          <a:p>
            <a:pPr algn="l" indent="0" marL="0">
              <a:buNone/>
            </a:pPr>
            <a:r>
              <a:rPr lang="en-IE" sz="1400" dirty="0">
                <a:solidFill>
                  <a:schemeClr val="accent2"/>
                </a:solidFill>
                <a:latin typeface="Consolas" pitchFamily="34" charset="0"/>
                <a:ea typeface="Consolas" pitchFamily="34" charset="-122"/>
                <a:cs typeface="Consolas" pitchFamily="34" charset="-120"/>
              </a:rPr>
              <a:t>a.equals(b) == b.equals(a)</a:t>
            </a:r>
            <a:endParaRPr lang="en-IE" sz="1400" dirty="0"/>
          </a:p>
        </p:txBody>
      </p:sp>
      <p:sp>
        <p:nvSpPr>
          <p:cNvPr id="17" name="Transitive"/>
          <p:cNvSpPr/>
          <p:nvPr/>
        </p:nvSpPr>
        <p:spPr>
          <a:xfrm>
            <a:off x="548640" y="3447288"/>
            <a:ext cx="11094415" cy="768096"/>
          </a:xfrm>
          <a:prstGeom prst="roundRect">
            <a:avLst>
              <a:gd name="adj" fmla="val 14286"/>
            </a:avLst>
          </a:prstGeom>
          <a:solidFill>
            <a:schemeClr val="bg1"/>
          </a:solidFill>
          <a:ln/>
          <a:effectLst>
            <a:outerShdw sx="100000" sy="100000" kx="0" ky="0" algn="bl" rotWithShape="0" blurRad="114300" dist="31750" dir="5400000">
              <a:srgbClr val="1D2433">
                <a:alpha val="12000"/>
              </a:srgbClr>
            </a:outerShdw>
          </a:effectLst>
        </p:spPr>
      </p:sp>
      <p:sp>
        <p:nvSpPr>
          <p:cNvPr id="18" name="Icon tile"/>
          <p:cNvSpPr/>
          <p:nvPr/>
        </p:nvSpPr>
        <p:spPr>
          <a:xfrm>
            <a:off x="749808" y="3575304"/>
            <a:ext cx="512064" cy="512064"/>
          </a:xfrm>
          <a:prstGeom prst="roundRect">
            <a:avLst>
              <a:gd name="adj" fmla="val 24000"/>
            </a:avLst>
          </a:prstGeom>
          <a:solidFill>
            <a:schemeClr val="accent5">
              <a:alpha val="14000"/>
            </a:schemeClr>
          </a:solidFill>
          <a:ln/>
        </p:spPr>
      </p:sp>
      <p:pic>
        <p:nvPicPr>
          <p:cNvPr id="19" name="flow arrow icon" descr="flow arrow icon">    </p:cNvPr>
          <p:cNvPicPr>
            <a:picLocks noChangeAspect="1"/>
          </p:cNvPicPr>
          <p:nvPr/>
        </p:nvPicPr>
        <p:blipFill>
          <a:blip r:embed="rId3"/>
          <a:stretch>
            <a:fillRect/>
          </a:stretch>
        </p:blipFill>
        <p:spPr>
          <a:xfrm>
            <a:off x="857341" y="3682837"/>
            <a:ext cx="296997" cy="296997"/>
          </a:xfrm>
          <a:prstGeom prst="rect">
            <a:avLst/>
          </a:prstGeom>
        </p:spPr>
      </p:pic>
      <p:sp>
        <p:nvSpPr>
          <p:cNvPr id="20" name="Text 14"/>
          <p:cNvSpPr txBox="1"/>
          <p:nvPr/>
        </p:nvSpPr>
        <p:spPr>
          <a:xfrm>
            <a:off x="1463040" y="3447288"/>
            <a:ext cx="2377440" cy="768096"/>
          </a:xfrm>
          <a:prstGeom prst="rect">
            <a:avLst/>
          </a:prstGeom>
          <a:noFill/>
          <a:ln/>
        </p:spPr>
        <p:txBody>
          <a:bodyPr wrap="square" lIns="0" tIns="0" rIns="0" bIns="0" rtlCol="0" anchor="ctr"/>
          <a:lstStyle/>
          <a:p>
            <a:pPr indent="0" marL="0">
              <a:buNone/>
            </a:pPr>
            <a:r>
              <a:rPr lang="en-IE" sz="1800" b="1" dirty="0">
                <a:solidFill>
                  <a:schemeClr val="tx1"/>
                </a:solidFill>
              </a:rPr>
              <a:t>Transitive</a:t>
            </a:r>
            <a:endParaRPr lang="en-IE" sz="1800" dirty="0"/>
          </a:p>
        </p:txBody>
      </p:sp>
      <p:sp>
        <p:nvSpPr>
          <p:cNvPr id="21" name="Text 15"/>
          <p:cNvSpPr txBox="1"/>
          <p:nvPr/>
        </p:nvSpPr>
        <p:spPr>
          <a:xfrm>
            <a:off x="3840480" y="3447288"/>
            <a:ext cx="3749040" cy="768096"/>
          </a:xfrm>
          <a:prstGeom prst="rect">
            <a:avLst/>
          </a:prstGeom>
          <a:noFill/>
          <a:ln/>
        </p:spPr>
        <p:txBody>
          <a:bodyPr wrap="square" lIns="0" tIns="0" rIns="0" bIns="0" rtlCol="0" anchor="ctr"/>
          <a:lstStyle/>
          <a:p>
            <a:pPr indent="0" marL="0">
              <a:buNone/>
            </a:pPr>
            <a:r>
              <a:rPr lang="en-IE" sz="1500" dirty="0">
                <a:solidFill>
                  <a:schemeClr val="tx2"/>
                </a:solidFill>
              </a:rPr>
              <a:t>If a equals b and b equals c, then a equals c.</a:t>
            </a:r>
            <a:endParaRPr lang="en-IE" sz="1500" dirty="0"/>
          </a:p>
        </p:txBody>
      </p:sp>
      <p:sp>
        <p:nvSpPr>
          <p:cNvPr id="22" name="Transitive code"/>
          <p:cNvSpPr/>
          <p:nvPr/>
        </p:nvSpPr>
        <p:spPr>
          <a:xfrm>
            <a:off x="7726680" y="3593592"/>
            <a:ext cx="3733495" cy="475488"/>
          </a:xfrm>
          <a:prstGeom prst="roundRect">
            <a:avLst>
              <a:gd name="adj" fmla="val 15385"/>
            </a:avLst>
          </a:prstGeom>
          <a:solidFill>
            <a:schemeClr val="bg2"/>
          </a:solidFill>
          <a:ln/>
        </p:spPr>
        <p:txBody>
          <a:bodyPr wrap="square" lIns="0" tIns="127000" rIns="0" bIns="0" rtlCol="0" anchor="ctr"/>
          <a:lstStyle/>
          <a:p>
            <a:pPr algn="l" indent="0" marL="0">
              <a:buNone/>
            </a:pPr>
            <a:r>
              <a:rPr lang="en-IE" sz="1400" dirty="0">
                <a:solidFill>
                  <a:schemeClr val="accent2"/>
                </a:solidFill>
                <a:latin typeface="Consolas" pitchFamily="34" charset="0"/>
                <a:ea typeface="Consolas" pitchFamily="34" charset="-122"/>
                <a:cs typeface="Consolas" pitchFamily="34" charset="-120"/>
              </a:rPr>
              <a:t>a = b, b = c  so  a = c</a:t>
            </a:r>
            <a:endParaRPr lang="en-IE" sz="1400" dirty="0"/>
          </a:p>
        </p:txBody>
      </p:sp>
      <p:sp>
        <p:nvSpPr>
          <p:cNvPr id="23" name="Consistent"/>
          <p:cNvSpPr/>
          <p:nvPr/>
        </p:nvSpPr>
        <p:spPr>
          <a:xfrm>
            <a:off x="548640" y="4325112"/>
            <a:ext cx="11094415" cy="768096"/>
          </a:xfrm>
          <a:prstGeom prst="roundRect">
            <a:avLst>
              <a:gd name="adj" fmla="val 14286"/>
            </a:avLst>
          </a:prstGeom>
          <a:solidFill>
            <a:schemeClr val="bg1"/>
          </a:solidFill>
          <a:ln/>
          <a:effectLst>
            <a:outerShdw sx="100000" sy="100000" kx="0" ky="0" algn="bl" rotWithShape="0" blurRad="114300" dist="31750" dir="5400000">
              <a:srgbClr val="1D2433">
                <a:alpha val="12000"/>
              </a:srgbClr>
            </a:outerShdw>
          </a:effectLst>
        </p:spPr>
      </p:sp>
      <p:sp>
        <p:nvSpPr>
          <p:cNvPr id="24" name="Icon tile"/>
          <p:cNvSpPr/>
          <p:nvPr/>
        </p:nvSpPr>
        <p:spPr>
          <a:xfrm>
            <a:off x="749808" y="4453128"/>
            <a:ext cx="512064" cy="512064"/>
          </a:xfrm>
          <a:prstGeom prst="roundRect">
            <a:avLst>
              <a:gd name="adj" fmla="val 24000"/>
            </a:avLst>
          </a:prstGeom>
          <a:solidFill>
            <a:schemeClr val="accent3">
              <a:alpha val="14000"/>
            </a:schemeClr>
          </a:solidFill>
          <a:ln/>
        </p:spPr>
      </p:sp>
      <p:pic>
        <p:nvPicPr>
          <p:cNvPr id="25" name="repeat icon" descr="repeat icon">    </p:cNvPr>
          <p:cNvPicPr>
            <a:picLocks noChangeAspect="1"/>
          </p:cNvPicPr>
          <p:nvPr/>
        </p:nvPicPr>
        <p:blipFill>
          <a:blip r:embed="rId4"/>
          <a:stretch>
            <a:fillRect/>
          </a:stretch>
        </p:blipFill>
        <p:spPr>
          <a:xfrm>
            <a:off x="857341" y="4560661"/>
            <a:ext cx="296997" cy="296997"/>
          </a:xfrm>
          <a:prstGeom prst="rect">
            <a:avLst/>
          </a:prstGeom>
        </p:spPr>
      </p:pic>
      <p:sp>
        <p:nvSpPr>
          <p:cNvPr id="26" name="Text 19"/>
          <p:cNvSpPr txBox="1"/>
          <p:nvPr/>
        </p:nvSpPr>
        <p:spPr>
          <a:xfrm>
            <a:off x="1463040" y="4325112"/>
            <a:ext cx="2377440" cy="768096"/>
          </a:xfrm>
          <a:prstGeom prst="rect">
            <a:avLst/>
          </a:prstGeom>
          <a:noFill/>
          <a:ln/>
        </p:spPr>
        <p:txBody>
          <a:bodyPr wrap="square" lIns="0" tIns="0" rIns="0" bIns="0" rtlCol="0" anchor="ctr"/>
          <a:lstStyle/>
          <a:p>
            <a:pPr indent="0" marL="0">
              <a:buNone/>
            </a:pPr>
            <a:r>
              <a:rPr lang="en-IE" sz="1800" b="1" dirty="0">
                <a:solidFill>
                  <a:schemeClr val="tx1"/>
                </a:solidFill>
              </a:rPr>
              <a:t>Consistent</a:t>
            </a:r>
            <a:endParaRPr lang="en-IE" sz="1800" dirty="0"/>
          </a:p>
        </p:txBody>
      </p:sp>
      <p:sp>
        <p:nvSpPr>
          <p:cNvPr id="27" name="Text 20"/>
          <p:cNvSpPr txBox="1"/>
          <p:nvPr/>
        </p:nvSpPr>
        <p:spPr>
          <a:xfrm>
            <a:off x="3840480" y="4325112"/>
            <a:ext cx="3749040" cy="768096"/>
          </a:xfrm>
          <a:prstGeom prst="rect">
            <a:avLst/>
          </a:prstGeom>
          <a:noFill/>
          <a:ln/>
        </p:spPr>
        <p:txBody>
          <a:bodyPr wrap="square" lIns="0" tIns="0" rIns="0" bIns="0" rtlCol="0" anchor="ctr"/>
          <a:lstStyle/>
          <a:p>
            <a:pPr indent="0" marL="0">
              <a:buNone/>
            </a:pPr>
            <a:r>
              <a:rPr lang="en-IE" sz="1500" dirty="0">
                <a:solidFill>
                  <a:schemeClr val="tx2"/>
                </a:solidFill>
              </a:rPr>
              <a:t>Asking again gives the same answer, if nothing has changed.</a:t>
            </a:r>
            <a:endParaRPr lang="en-IE" sz="1500" dirty="0"/>
          </a:p>
        </p:txBody>
      </p:sp>
      <p:sp>
        <p:nvSpPr>
          <p:cNvPr id="28" name="Consistent code"/>
          <p:cNvSpPr/>
          <p:nvPr/>
        </p:nvSpPr>
        <p:spPr>
          <a:xfrm>
            <a:off x="7726680" y="4471416"/>
            <a:ext cx="3733495" cy="475488"/>
          </a:xfrm>
          <a:prstGeom prst="roundRect">
            <a:avLst>
              <a:gd name="adj" fmla="val 15385"/>
            </a:avLst>
          </a:prstGeom>
          <a:solidFill>
            <a:schemeClr val="bg2"/>
          </a:solidFill>
          <a:ln/>
        </p:spPr>
        <p:txBody>
          <a:bodyPr wrap="square" lIns="0" tIns="127000" rIns="0" bIns="0" rtlCol="0" anchor="ctr"/>
          <a:lstStyle/>
          <a:p>
            <a:pPr algn="l" indent="0" marL="0">
              <a:buNone/>
            </a:pPr>
            <a:r>
              <a:rPr lang="en-IE" sz="1400" dirty="0">
                <a:solidFill>
                  <a:schemeClr val="accent2"/>
                </a:solidFill>
                <a:latin typeface="Consolas" pitchFamily="34" charset="0"/>
                <a:ea typeface="Consolas" pitchFamily="34" charset="-122"/>
                <a:cs typeface="Consolas" pitchFamily="34" charset="-120"/>
              </a:rPr>
              <a:t>a.equals(b)   // same every time</a:t>
            </a:r>
            <a:endParaRPr lang="en-IE" sz="1400" dirty="0"/>
          </a:p>
        </p:txBody>
      </p:sp>
      <p:sp>
        <p:nvSpPr>
          <p:cNvPr id="29" name="Never equal to null"/>
          <p:cNvSpPr/>
          <p:nvPr/>
        </p:nvSpPr>
        <p:spPr>
          <a:xfrm>
            <a:off x="548640" y="5202936"/>
            <a:ext cx="11094415" cy="768096"/>
          </a:xfrm>
          <a:prstGeom prst="roundRect">
            <a:avLst>
              <a:gd name="adj" fmla="val 14286"/>
            </a:avLst>
          </a:prstGeom>
          <a:solidFill>
            <a:schemeClr val="bg1"/>
          </a:solidFill>
          <a:ln/>
          <a:effectLst>
            <a:outerShdw sx="100000" sy="100000" kx="0" ky="0" algn="bl" rotWithShape="0" blurRad="114300" dist="31750" dir="5400000">
              <a:srgbClr val="1D2433">
                <a:alpha val="12000"/>
              </a:srgbClr>
            </a:outerShdw>
          </a:effectLst>
        </p:spPr>
      </p:sp>
      <p:sp>
        <p:nvSpPr>
          <p:cNvPr id="30" name="Icon tile"/>
          <p:cNvSpPr/>
          <p:nvPr/>
        </p:nvSpPr>
        <p:spPr>
          <a:xfrm>
            <a:off x="749808" y="5330952"/>
            <a:ext cx="512064" cy="512064"/>
          </a:xfrm>
          <a:prstGeom prst="roundRect">
            <a:avLst>
              <a:gd name="adj" fmla="val 24000"/>
            </a:avLst>
          </a:prstGeom>
          <a:solidFill>
            <a:schemeClr val="accent1">
              <a:alpha val="14000"/>
            </a:schemeClr>
          </a:solidFill>
          <a:ln/>
        </p:spPr>
      </p:sp>
      <p:pic>
        <p:nvPicPr>
          <p:cNvPr id="31" name="prohibit icon" descr="prohibit icon">    </p:cNvPr>
          <p:cNvPicPr>
            <a:picLocks noChangeAspect="1"/>
          </p:cNvPicPr>
          <p:nvPr/>
        </p:nvPicPr>
        <p:blipFill>
          <a:blip r:embed="rId5"/>
          <a:stretch>
            <a:fillRect/>
          </a:stretch>
        </p:blipFill>
        <p:spPr>
          <a:xfrm>
            <a:off x="857341" y="5438485"/>
            <a:ext cx="296997" cy="296997"/>
          </a:xfrm>
          <a:prstGeom prst="rect">
            <a:avLst/>
          </a:prstGeom>
        </p:spPr>
      </p:pic>
      <p:sp>
        <p:nvSpPr>
          <p:cNvPr id="32" name="Text 24"/>
          <p:cNvSpPr txBox="1"/>
          <p:nvPr/>
        </p:nvSpPr>
        <p:spPr>
          <a:xfrm>
            <a:off x="1463040" y="5202936"/>
            <a:ext cx="2377440" cy="768096"/>
          </a:xfrm>
          <a:prstGeom prst="rect">
            <a:avLst/>
          </a:prstGeom>
          <a:noFill/>
          <a:ln/>
        </p:spPr>
        <p:txBody>
          <a:bodyPr wrap="square" lIns="0" tIns="0" rIns="0" bIns="0" rtlCol="0" anchor="ctr"/>
          <a:lstStyle/>
          <a:p>
            <a:pPr indent="0" marL="0">
              <a:buNone/>
            </a:pPr>
            <a:r>
              <a:rPr lang="en-IE" sz="1800" b="1" dirty="0">
                <a:solidFill>
                  <a:schemeClr val="tx1"/>
                </a:solidFill>
              </a:rPr>
              <a:t>Never equal to null</a:t>
            </a:r>
            <a:endParaRPr lang="en-IE" sz="1800" dirty="0"/>
          </a:p>
        </p:txBody>
      </p:sp>
      <p:sp>
        <p:nvSpPr>
          <p:cNvPr id="33" name="Text 25"/>
          <p:cNvSpPr txBox="1"/>
          <p:nvPr/>
        </p:nvSpPr>
        <p:spPr>
          <a:xfrm>
            <a:off x="3840480" y="5202936"/>
            <a:ext cx="3749040" cy="768096"/>
          </a:xfrm>
          <a:prstGeom prst="rect">
            <a:avLst/>
          </a:prstGeom>
          <a:noFill/>
          <a:ln/>
        </p:spPr>
        <p:txBody>
          <a:bodyPr wrap="square" lIns="0" tIns="0" rIns="0" bIns="0" rtlCol="0" anchor="ctr"/>
          <a:lstStyle/>
          <a:p>
            <a:pPr indent="0" marL="0">
              <a:buNone/>
            </a:pPr>
            <a:r>
              <a:rPr lang="en-IE" sz="1500" dirty="0">
                <a:solidFill>
                  <a:schemeClr val="tx2"/>
                </a:solidFill>
              </a:rPr>
              <a:t>Comparing with null always gives false.</a:t>
            </a:r>
            <a:endParaRPr lang="en-IE" sz="1500" dirty="0"/>
          </a:p>
        </p:txBody>
      </p:sp>
      <p:sp>
        <p:nvSpPr>
          <p:cNvPr id="34" name="Never equal to null code"/>
          <p:cNvSpPr/>
          <p:nvPr/>
        </p:nvSpPr>
        <p:spPr>
          <a:xfrm>
            <a:off x="7726680" y="5349240"/>
            <a:ext cx="3733495" cy="475488"/>
          </a:xfrm>
          <a:prstGeom prst="roundRect">
            <a:avLst>
              <a:gd name="adj" fmla="val 15385"/>
            </a:avLst>
          </a:prstGeom>
          <a:solidFill>
            <a:schemeClr val="bg2"/>
          </a:solidFill>
          <a:ln/>
        </p:spPr>
        <p:txBody>
          <a:bodyPr wrap="square" lIns="0" tIns="127000" rIns="0" bIns="0" rtlCol="0" anchor="ctr"/>
          <a:lstStyle/>
          <a:p>
            <a:pPr algn="l" indent="0" marL="0">
              <a:buNone/>
            </a:pPr>
            <a:r>
              <a:rPr lang="en-IE" sz="1400" dirty="0">
                <a:solidFill>
                  <a:schemeClr val="accent2"/>
                </a:solidFill>
                <a:latin typeface="Consolas" pitchFamily="34" charset="0"/>
                <a:ea typeface="Consolas" pitchFamily="34" charset="-122"/>
                <a:cs typeface="Consolas" pitchFamily="34" charset="-120"/>
              </a:rPr>
              <a:t>a.equals(null)    // false</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22</a:t>
            </a:fld>
            <a:endParaRPr lang="en-IE"/>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7</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Rules for equals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accent2"/>
                </a:solidFill>
                <a:latin typeface="Consolas" pitchFamily="34" charset="0"/>
                <a:ea typeface="Consolas" pitchFamily="34" charset="-122"/>
                <a:cs typeface="Consolas" pitchFamily="34" charset="-120"/>
              </a:rPr>
              <a:t>a.equals(b)</a:t>
            </a:r>
            <a:r>
              <a:rPr lang="en-IE" sz="2800" b="1" dirty="0">
                <a:solidFill>
                  <a:schemeClr val="tx1"/>
                </a:solidFill>
              </a:rPr>
              <a:t> is true. Which of these must also be true?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a == b</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a.equals(null)</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b == null</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b.equals(a)</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23</a:t>
            </a:fld>
            <a:endParaRPr lang="en-IE"/>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7</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Rules for equals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latin typeface="Consolas" pitchFamily="34" charset="0"/>
                <a:ea typeface="Consolas" pitchFamily="34" charset="-122"/>
                <a:cs typeface="Consolas" pitchFamily="34" charset="-120"/>
              </a:rPr>
              <a:t>a.equals(b)</a:t>
            </a:r>
            <a:r>
              <a:rPr lang="en-IE" sz="2000" b="1" dirty="0">
                <a:solidFill>
                  <a:schemeClr val="tx2"/>
                </a:solidFill>
              </a:rPr>
              <a:t> is true. Which of these must also be true?</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a == b</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a.equals(null)</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b == null</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b.equals(a)</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This is the symmetric rule: if a equals b, then b must equal a. </a:t>
            </a:r>
            <a:r>
              <a:rPr lang="en-IE" sz="1800" dirty="0">
                <a:solidFill>
                  <a:schemeClr val="accent2"/>
                </a:solidFill>
                <a:latin typeface="Consolas" pitchFamily="34" charset="0"/>
                <a:ea typeface="Consolas" pitchFamily="34" charset="-122"/>
                <a:cs typeface="Consolas" pitchFamily="34" charset="-120"/>
              </a:rPr>
              <a:t>a == b</a:t>
            </a:r>
            <a:r>
              <a:rPr lang="en-IE" sz="1800" dirty="0">
                <a:solidFill>
                  <a:schemeClr val="tx1"/>
                </a:solidFill>
              </a:rPr>
              <a:t> can still be false, because a and b can be two separate objects with the same content, and </a:t>
            </a:r>
            <a:r>
              <a:rPr lang="en-IE" sz="1800" dirty="0">
                <a:solidFill>
                  <a:schemeClr val="accent2"/>
                </a:solidFill>
                <a:latin typeface="Consolas" pitchFamily="34" charset="0"/>
                <a:ea typeface="Consolas" pitchFamily="34" charset="-122"/>
                <a:cs typeface="Consolas" pitchFamily="34" charset="-120"/>
              </a:rPr>
              <a:t>equals(null)</a:t>
            </a:r>
            <a:r>
              <a:rPr lang="en-IE" sz="1800" dirty="0">
                <a:solidFill>
                  <a:schemeClr val="tx1"/>
                </a:solidFill>
              </a:rPr>
              <a:t> must always be false.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24</a:t>
            </a:fld>
            <a:endParaRPr lang="en-IE"/>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02</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Hash codes</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One number per object, and how it ties in with equals</a:t>
            </a:r>
            <a:endParaRPr lang="en-IE" sz="2000" dirty="0"/>
          </a:p>
        </p:txBody>
      </p:sp>
      <p:sp>
        <p:nvSpPr>
          <p:cNvPr id="5" name="Topic chip"/>
          <p:cNvSpPr/>
          <p:nvPr/>
        </p:nvSpPr>
        <p:spPr>
          <a:xfrm>
            <a:off x="822960" y="4846320"/>
            <a:ext cx="132689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hashCode()</a:t>
            </a:r>
            <a:endParaRPr lang="en-IE" sz="1400" dirty="0"/>
          </a:p>
        </p:txBody>
      </p:sp>
      <p:sp>
        <p:nvSpPr>
          <p:cNvPr id="6" name="Topic chip"/>
          <p:cNvSpPr/>
          <p:nvPr/>
        </p:nvSpPr>
        <p:spPr>
          <a:xfrm>
            <a:off x="2296160" y="4846320"/>
            <a:ext cx="141935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String hash</a:t>
            </a:r>
            <a:endParaRPr lang="en-IE" sz="1400" dirty="0"/>
          </a:p>
        </p:txBody>
      </p:sp>
      <p:sp>
        <p:nvSpPr>
          <p:cNvPr id="7" name="Topic chip"/>
          <p:cNvSpPr/>
          <p:nvPr/>
        </p:nvSpPr>
        <p:spPr>
          <a:xfrm>
            <a:off x="3861816" y="4846320"/>
            <a:ext cx="1141984"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The rule</a:t>
            </a:r>
            <a:endParaRPr lang="en-IE" sz="1400" dirty="0"/>
          </a:p>
        </p:txBody>
      </p:sp>
      <p:pic>
        <p:nvPicPr>
          <p:cNvPr id="8"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HASH CODES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Every object has a hash code</a:t>
            </a:r>
            <a:endParaRPr lang="en-IE" sz="3400" dirty="0"/>
          </a:p>
        </p:txBody>
      </p:sp>
      <p:sp>
        <p:nvSpPr>
          <p:cNvPr id="5" name="Text 2"/>
          <p:cNvSpPr txBox="1"/>
          <p:nvPr/>
        </p:nvSpPr>
        <p:spPr>
          <a:xfrm>
            <a:off x="548640" y="1783080"/>
            <a:ext cx="5120640" cy="4206240"/>
          </a:xfrm>
          <a:prstGeom prst="rect">
            <a:avLst/>
          </a:prstGeom>
          <a:noFill/>
          <a:ln/>
        </p:spPr>
        <p:txBody>
          <a:bodyPr wrap="square" lIns="0" tIns="0" rIns="0" bIns="0" rtlCol="0" anchor="t"/>
          <a:lstStyle/>
          <a:p>
            <a:pPr marL="228600" indent="-228600">
              <a:spcAft>
                <a:spcPts val="1000"/>
              </a:spcAft>
              <a:buSzPct val="100000"/>
              <a:buChar char="•"/>
            </a:pPr>
            <a:r>
              <a:rPr lang="en-IE" sz="1700" dirty="0">
                <a:solidFill>
                  <a:schemeClr val="accent2"/>
                </a:solidFill>
                <a:latin typeface="Consolas" pitchFamily="34" charset="0"/>
                <a:ea typeface="Consolas" pitchFamily="34" charset="-122"/>
                <a:cs typeface="Consolas" pitchFamily="34" charset="-120"/>
              </a:rPr>
              <a:t>hashCode()</a:t>
            </a:r>
            <a:r>
              <a:rPr lang="en-IE" sz="1700" dirty="0">
                <a:solidFill>
                  <a:schemeClr val="tx1"/>
                </a:solidFill>
              </a:rPr>
              <a:t> returns an int for the object: its hash code.</a:t>
            </a:r>
            <a:endParaRPr lang="en-IE" sz="1700" dirty="0"/>
          </a:p>
          <a:p>
            <a:pPr marL="228600" indent="-228600">
              <a:spcAft>
                <a:spcPts val="1000"/>
              </a:spcAft>
              <a:buSzPct val="100000"/>
              <a:buChar char="•"/>
            </a:pPr>
            <a:r>
              <a:rPr lang="en-IE" sz="1700" dirty="0">
                <a:solidFill>
                  <a:schemeClr val="tx1"/>
                </a:solidFill>
              </a:rPr>
              <a:t>Object’s version gives each object its own number. It’s often linked to where the object is in memory, but Java doesn’t promise that.</a:t>
            </a:r>
            <a:endParaRPr lang="en-IE" sz="1700" dirty="0"/>
          </a:p>
          <a:p>
            <a:pPr marL="228600" indent="-228600">
              <a:spcAft>
                <a:spcPts val="1000"/>
              </a:spcAft>
              <a:buSzPct val="100000"/>
              <a:buChar char="•"/>
            </a:pPr>
            <a:r>
              <a:rPr lang="en-IE" sz="1700" dirty="0">
                <a:solidFill>
                  <a:schemeClr val="tx1"/>
                </a:solidFill>
              </a:rPr>
              <a:t>Two variables that refer to the same object get the same hash code.</a:t>
            </a:r>
            <a:endParaRPr lang="en-IE" sz="1700" dirty="0"/>
          </a:p>
          <a:p>
            <a:pPr marL="228600" indent="-228600">
              <a:buSzPct val="100000"/>
              <a:buChar char="•"/>
            </a:pPr>
            <a:r>
              <a:rPr lang="en-IE" sz="1700" dirty="0">
                <a:solidFill>
                  <a:schemeClr val="tx1"/>
                </a:solidFill>
              </a:rPr>
              <a:t>Classes like HashMap and HashSet use hash codes to find objects quickly.</a:t>
            </a:r>
            <a:endParaRPr lang="en-IE" sz="1700" dirty="0"/>
          </a:p>
        </p:txBody>
      </p:sp>
      <p:sp>
        <p:nvSpPr>
          <p:cNvPr id="6" name="Hash codes card"/>
          <p:cNvSpPr/>
          <p:nvPr/>
        </p:nvSpPr>
        <p:spPr>
          <a:xfrm>
            <a:off x="6035040" y="1737360"/>
            <a:ext cx="5608015" cy="2332228"/>
          </a:xfrm>
          <a:prstGeom prst="roundRect">
            <a:avLst>
              <a:gd name="adj" fmla="val 4705"/>
            </a:avLst>
          </a:prstGeom>
          <a:solidFill>
            <a:schemeClr val="tx1"/>
          </a:solidFill>
          <a:ln/>
          <a:effectLst>
            <a:outerShdw sx="100000" sy="100000" kx="0" ky="0" algn="bl" rotWithShape="0" blurRad="114300" dist="31750" dir="5400000">
              <a:srgbClr val="1D2433">
                <a:alpha val="12000"/>
              </a:srgbClr>
            </a:outerShdw>
          </a:effectLst>
        </p:spPr>
      </p:sp>
      <p:sp>
        <p:nvSpPr>
          <p:cNvPr id="7" name="Hash codes language"/>
          <p:cNvSpPr txBox="1"/>
          <p:nvPr/>
        </p:nvSpPr>
        <p:spPr>
          <a:xfrm>
            <a:off x="6309360" y="1856232"/>
            <a:ext cx="50593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Hash codes text"/>
          <p:cNvSpPr txBox="1"/>
          <p:nvPr/>
        </p:nvSpPr>
        <p:spPr>
          <a:xfrm>
            <a:off x="6309360" y="2231136"/>
            <a:ext cx="5059375" cy="1637284"/>
          </a:xfrm>
          <a:prstGeom prst="rect">
            <a:avLst/>
          </a:prstGeom>
          <a:noFill/>
          <a:ln/>
        </p:spPr>
        <p:txBody>
          <a:bodyPr wrap="square" lIns="0" tIns="0" rIns="0" bIns="0" rtlCol="0" anchor="t"/>
          <a:lstStyle/>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Student</a:t>
            </a:r>
            <a:r>
              <a:rPr lang="en-IE" sz="1350" dirty="0">
                <a:solidFill>
                  <a:srgbClr val="E6EBF2"/>
                </a:solidFill>
                <a:latin typeface="Consolas" pitchFamily="34" charset="0"/>
                <a:ea typeface="Consolas" pitchFamily="34" charset="-122"/>
                <a:cs typeface="Consolas" pitchFamily="34" charset="-120"/>
              </a:rPr>
              <a:t> tom = </a:t>
            </a:r>
            <a:r>
              <a:rPr lang="en-IE" sz="1350" dirty="0">
                <a:solidFill>
                  <a:srgbClr val="FF9F5A"/>
                </a:solidFill>
                <a:latin typeface="Consolas" pitchFamily="34" charset="0"/>
                <a:ea typeface="Consolas" pitchFamily="34" charset="-122"/>
                <a:cs typeface="Consolas" pitchFamily="34" charset="-120"/>
              </a:rPr>
              <a:t>new</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Student</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A9DB8C"/>
                </a:solidFill>
                <a:latin typeface="Consolas" pitchFamily="34" charset="0"/>
                <a:ea typeface="Consolas" pitchFamily="34" charset="-122"/>
                <a:cs typeface="Consolas" pitchFamily="34" charset="-120"/>
              </a:rPr>
              <a:t>"bob"</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Student</a:t>
            </a:r>
            <a:r>
              <a:rPr lang="en-IE" sz="1350" dirty="0">
                <a:solidFill>
                  <a:srgbClr val="E6EBF2"/>
                </a:solidFill>
                <a:latin typeface="Consolas" pitchFamily="34" charset="0"/>
                <a:ea typeface="Consolas" pitchFamily="34" charset="-122"/>
                <a:cs typeface="Consolas" pitchFamily="34" charset="-120"/>
              </a:rPr>
              <a:t> bob = </a:t>
            </a:r>
            <a:r>
              <a:rPr lang="en-IE" sz="1350" dirty="0">
                <a:solidFill>
                  <a:srgbClr val="FF9F5A"/>
                </a:solidFill>
                <a:latin typeface="Consolas" pitchFamily="34" charset="0"/>
                <a:ea typeface="Consolas" pitchFamily="34" charset="-122"/>
                <a:cs typeface="Consolas" pitchFamily="34" charset="-120"/>
              </a:rPr>
              <a:t>new</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Student</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A9DB8C"/>
                </a:solidFill>
                <a:latin typeface="Consolas" pitchFamily="34" charset="0"/>
                <a:ea typeface="Consolas" pitchFamily="34" charset="-122"/>
                <a:cs typeface="Consolas" pitchFamily="34" charset="-120"/>
              </a:rPr>
              <a:t>"bob"</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Student</a:t>
            </a:r>
            <a:r>
              <a:rPr lang="en-IE" sz="1350" dirty="0">
                <a:solidFill>
                  <a:srgbClr val="E6EBF2"/>
                </a:solidFill>
                <a:latin typeface="Consolas" pitchFamily="34" charset="0"/>
                <a:ea typeface="Consolas" pitchFamily="34" charset="-122"/>
                <a:cs typeface="Consolas" pitchFamily="34" charset="-120"/>
              </a:rPr>
              <a:t> jack = bob;</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System</a:t>
            </a:r>
            <a:r>
              <a:rPr lang="en-IE" sz="1350" dirty="0">
                <a:solidFill>
                  <a:srgbClr val="E6EBF2"/>
                </a:solidFill>
                <a:latin typeface="Consolas" pitchFamily="34" charset="0"/>
                <a:ea typeface="Consolas" pitchFamily="34" charset="-122"/>
                <a:cs typeface="Consolas" pitchFamily="34" charset="-120"/>
              </a:rPr>
              <a:t>.out.</a:t>
            </a:r>
            <a:r>
              <a:rPr lang="en-IE" sz="1350" dirty="0">
                <a:solidFill>
                  <a:srgbClr val="C9B0FF"/>
                </a:solidFill>
                <a:latin typeface="Consolas" pitchFamily="34" charset="0"/>
                <a:ea typeface="Consolas" pitchFamily="34" charset="-122"/>
                <a:cs typeface="Consolas" pitchFamily="34" charset="-120"/>
              </a:rPr>
              <a:t>println</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A9DB8C"/>
                </a:solidFill>
                <a:latin typeface="Consolas" pitchFamily="34" charset="0"/>
                <a:ea typeface="Consolas" pitchFamily="34" charset="-122"/>
                <a:cs typeface="Consolas" pitchFamily="34" charset="-120"/>
              </a:rPr>
              <a:t>"tom: "</a:t>
            </a:r>
            <a:r>
              <a:rPr lang="en-IE" sz="1350" dirty="0">
                <a:solidFill>
                  <a:srgbClr val="E6EBF2"/>
                </a:solidFill>
                <a:latin typeface="Consolas" pitchFamily="34" charset="0"/>
                <a:ea typeface="Consolas" pitchFamily="34" charset="-122"/>
                <a:cs typeface="Consolas" pitchFamily="34" charset="-120"/>
              </a:rPr>
              <a:t> + tom.</a:t>
            </a:r>
            <a:r>
              <a:rPr lang="en-IE" sz="1350" dirty="0">
                <a:solidFill>
                  <a:srgbClr val="C9B0FF"/>
                </a:solidFill>
                <a:latin typeface="Consolas" pitchFamily="34" charset="0"/>
                <a:ea typeface="Consolas" pitchFamily="34" charset="-122"/>
                <a:cs typeface="Consolas" pitchFamily="34" charset="-120"/>
              </a:rPr>
              <a:t>hashCode</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System</a:t>
            </a:r>
            <a:r>
              <a:rPr lang="en-IE" sz="1350" dirty="0">
                <a:solidFill>
                  <a:srgbClr val="E6EBF2"/>
                </a:solidFill>
                <a:latin typeface="Consolas" pitchFamily="34" charset="0"/>
                <a:ea typeface="Consolas" pitchFamily="34" charset="-122"/>
                <a:cs typeface="Consolas" pitchFamily="34" charset="-120"/>
              </a:rPr>
              <a:t>.out.</a:t>
            </a:r>
            <a:r>
              <a:rPr lang="en-IE" sz="1350" dirty="0">
                <a:solidFill>
                  <a:srgbClr val="C9B0FF"/>
                </a:solidFill>
                <a:latin typeface="Consolas" pitchFamily="34" charset="0"/>
                <a:ea typeface="Consolas" pitchFamily="34" charset="-122"/>
                <a:cs typeface="Consolas" pitchFamily="34" charset="-120"/>
              </a:rPr>
              <a:t>println</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A9DB8C"/>
                </a:solidFill>
                <a:latin typeface="Consolas" pitchFamily="34" charset="0"/>
                <a:ea typeface="Consolas" pitchFamily="34" charset="-122"/>
                <a:cs typeface="Consolas" pitchFamily="34" charset="-120"/>
              </a:rPr>
              <a:t>"bob: "</a:t>
            </a:r>
            <a:r>
              <a:rPr lang="en-IE" sz="1350" dirty="0">
                <a:solidFill>
                  <a:srgbClr val="E6EBF2"/>
                </a:solidFill>
                <a:latin typeface="Consolas" pitchFamily="34" charset="0"/>
                <a:ea typeface="Consolas" pitchFamily="34" charset="-122"/>
                <a:cs typeface="Consolas" pitchFamily="34" charset="-120"/>
              </a:rPr>
              <a:t> + bob.</a:t>
            </a:r>
            <a:r>
              <a:rPr lang="en-IE" sz="1350" dirty="0">
                <a:solidFill>
                  <a:srgbClr val="C9B0FF"/>
                </a:solidFill>
                <a:latin typeface="Consolas" pitchFamily="34" charset="0"/>
                <a:ea typeface="Consolas" pitchFamily="34" charset="-122"/>
                <a:cs typeface="Consolas" pitchFamily="34" charset="-120"/>
              </a:rPr>
              <a:t>hashCode</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System</a:t>
            </a:r>
            <a:r>
              <a:rPr lang="en-IE" sz="1350" dirty="0">
                <a:solidFill>
                  <a:srgbClr val="E6EBF2"/>
                </a:solidFill>
                <a:latin typeface="Consolas" pitchFamily="34" charset="0"/>
                <a:ea typeface="Consolas" pitchFamily="34" charset="-122"/>
                <a:cs typeface="Consolas" pitchFamily="34" charset="-120"/>
              </a:rPr>
              <a:t>.out.</a:t>
            </a:r>
            <a:r>
              <a:rPr lang="en-IE" sz="1350" dirty="0">
                <a:solidFill>
                  <a:srgbClr val="C9B0FF"/>
                </a:solidFill>
                <a:latin typeface="Consolas" pitchFamily="34" charset="0"/>
                <a:ea typeface="Consolas" pitchFamily="34" charset="-122"/>
                <a:cs typeface="Consolas" pitchFamily="34" charset="-120"/>
              </a:rPr>
              <a:t>println</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A9DB8C"/>
                </a:solidFill>
                <a:latin typeface="Consolas" pitchFamily="34" charset="0"/>
                <a:ea typeface="Consolas" pitchFamily="34" charset="-122"/>
                <a:cs typeface="Consolas" pitchFamily="34" charset="-120"/>
              </a:rPr>
              <a:t>"jack: "</a:t>
            </a:r>
            <a:r>
              <a:rPr lang="en-IE" sz="1350" dirty="0">
                <a:solidFill>
                  <a:srgbClr val="E6EBF2"/>
                </a:solidFill>
                <a:latin typeface="Consolas" pitchFamily="34" charset="0"/>
                <a:ea typeface="Consolas" pitchFamily="34" charset="-122"/>
                <a:cs typeface="Consolas" pitchFamily="34" charset="-120"/>
              </a:rPr>
              <a:t> + jack.</a:t>
            </a:r>
            <a:r>
              <a:rPr lang="en-IE" sz="1350" dirty="0">
                <a:solidFill>
                  <a:srgbClr val="C9B0FF"/>
                </a:solidFill>
                <a:latin typeface="Consolas" pitchFamily="34" charset="0"/>
                <a:ea typeface="Consolas" pitchFamily="34" charset="-122"/>
                <a:cs typeface="Consolas" pitchFamily="34" charset="-120"/>
              </a:rPr>
              <a:t>hashCode</a:t>
            </a: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9" name="Output card"/>
          <p:cNvSpPr/>
          <p:nvPr/>
        </p:nvSpPr>
        <p:spPr>
          <a:xfrm>
            <a:off x="6035040" y="4270756"/>
            <a:ext cx="5608015" cy="1325880"/>
          </a:xfrm>
          <a:prstGeom prst="roundRect">
            <a:avLst>
              <a:gd name="adj" fmla="val 8276"/>
            </a:avLst>
          </a:prstGeom>
          <a:solidFill>
            <a:schemeClr val="tx1"/>
          </a:solidFill>
          <a:ln/>
          <a:effectLst>
            <a:outerShdw sx="100000" sy="100000" kx="0" ky="0" algn="bl" rotWithShape="0" blurRad="114300" dist="31750" dir="5400000">
              <a:srgbClr val="1D2433">
                <a:alpha val="12000"/>
              </a:srgbClr>
            </a:outerShdw>
          </a:effectLst>
        </p:spPr>
      </p:sp>
      <p:sp>
        <p:nvSpPr>
          <p:cNvPr id="10" name="Text 7"/>
          <p:cNvSpPr txBox="1"/>
          <p:nvPr/>
        </p:nvSpPr>
        <p:spPr>
          <a:xfrm>
            <a:off x="6309360" y="4389628"/>
            <a:ext cx="50593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Output</a:t>
            </a:r>
            <a:endParaRPr lang="en-IE" sz="1050" dirty="0"/>
          </a:p>
        </p:txBody>
      </p:sp>
      <p:sp>
        <p:nvSpPr>
          <p:cNvPr id="11" name="Output text"/>
          <p:cNvSpPr txBox="1"/>
          <p:nvPr/>
        </p:nvSpPr>
        <p:spPr>
          <a:xfrm>
            <a:off x="6309360" y="4727956"/>
            <a:ext cx="5059375" cy="685800"/>
          </a:xfrm>
          <a:prstGeom prst="rect">
            <a:avLst/>
          </a:prstGeom>
          <a:noFill/>
          <a:ln/>
        </p:spPr>
        <p:txBody>
          <a:bodyPr wrap="square" lIns="0" tIns="0" rIns="0" bIns="0" rtlCol="0" anchor="t"/>
          <a:lstStyle/>
          <a:p>
            <a:pPr indent="0" marL="0">
              <a:lnSpc>
                <a:spcPts val="2025"/>
              </a:lnSpc>
              <a:buNone/>
            </a:pPr>
            <a:r>
              <a:rPr lang="en-IE" sz="1500" dirty="0">
                <a:solidFill>
                  <a:srgbClr val="A9DB8C"/>
                </a:solidFill>
                <a:latin typeface="Consolas" pitchFamily="34" charset="0"/>
                <a:ea typeface="Consolas" pitchFamily="34" charset="-122"/>
                <a:cs typeface="Consolas" pitchFamily="34" charset="-120"/>
              </a:rPr>
              <a:t>tom: 488970385</a:t>
            </a:r>
            <a:endParaRPr lang="en-IE" sz="1500" dirty="0"/>
          </a:p>
          <a:p>
            <a:pPr indent="0" marL="0">
              <a:lnSpc>
                <a:spcPts val="2025"/>
              </a:lnSpc>
              <a:buNone/>
            </a:pPr>
            <a:r>
              <a:rPr lang="en-IE" sz="1500" dirty="0">
                <a:solidFill>
                  <a:srgbClr val="A9DB8C"/>
                </a:solidFill>
                <a:latin typeface="Consolas" pitchFamily="34" charset="0"/>
                <a:ea typeface="Consolas" pitchFamily="34" charset="-122"/>
                <a:cs typeface="Consolas" pitchFamily="34" charset="-120"/>
              </a:rPr>
              <a:t>bob: 557041912</a:t>
            </a:r>
            <a:endParaRPr lang="en-IE" sz="1500" dirty="0"/>
          </a:p>
          <a:p>
            <a:pPr indent="0" marL="0">
              <a:lnSpc>
                <a:spcPts val="2025"/>
              </a:lnSpc>
              <a:buNone/>
            </a:pPr>
            <a:r>
              <a:rPr lang="en-IE" sz="1500" dirty="0">
                <a:solidFill>
                  <a:srgbClr val="A9DB8C"/>
                </a:solidFill>
                <a:latin typeface="Consolas" pitchFamily="34" charset="0"/>
                <a:ea typeface="Consolas" pitchFamily="34" charset="-122"/>
                <a:cs typeface="Consolas" pitchFamily="34" charset="-120"/>
              </a:rPr>
              <a:t>jack: 557041912</a:t>
            </a:r>
            <a:endParaRPr lang="en-IE" sz="1500" dirty="0"/>
          </a:p>
        </p:txBody>
      </p:sp>
      <p:sp>
        <p:nvSpPr>
          <p:cNvPr id="12" name="Text 9"/>
          <p:cNvSpPr txBox="1"/>
          <p:nvPr/>
        </p:nvSpPr>
        <p:spPr>
          <a:xfrm>
            <a:off x="6035040" y="5669788"/>
            <a:ext cx="5608015" cy="548640"/>
          </a:xfrm>
          <a:prstGeom prst="rect">
            <a:avLst/>
          </a:prstGeom>
          <a:noFill/>
          <a:ln/>
        </p:spPr>
        <p:txBody>
          <a:bodyPr wrap="square" lIns="0" tIns="0" rIns="0" bIns="0" rtlCol="0" anchor="t"/>
          <a:lstStyle/>
          <a:p>
            <a:pPr indent="0" marL="0">
              <a:buNone/>
            </a:pPr>
            <a:r>
              <a:rPr lang="en-IE" sz="1300" i="1" dirty="0">
                <a:solidFill>
                  <a:schemeClr val="tx2"/>
                </a:solidFill>
              </a:rPr>
              <a:t>bob and jack share one object, so they share its number. Yours will differ from run to run.</a:t>
            </a:r>
            <a:endParaRPr lang="en-IE"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26</a:t>
            </a:fld>
            <a:endParaRPr lang="en-IE"/>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8</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Hash codes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After </a:t>
            </a:r>
            <a:r>
              <a:rPr lang="en-IE" sz="2800" b="1" dirty="0">
                <a:solidFill>
                  <a:schemeClr val="accent2"/>
                </a:solidFill>
                <a:latin typeface="Consolas" pitchFamily="34" charset="0"/>
                <a:ea typeface="Consolas" pitchFamily="34" charset="-122"/>
                <a:cs typeface="Consolas" pitchFamily="34" charset="-120"/>
              </a:rPr>
              <a:t>Student jack = bob</a:t>
            </a:r>
            <a:r>
              <a:rPr lang="en-IE" sz="2800" b="1" dirty="0">
                <a:solidFill>
                  <a:schemeClr val="tx1"/>
                </a:solidFill>
              </a:rPr>
              <a:t>, what do we know about </a:t>
            </a:r>
            <a:r>
              <a:rPr lang="en-IE" sz="2800" b="1" dirty="0">
                <a:solidFill>
                  <a:schemeClr val="accent2"/>
                </a:solidFill>
                <a:latin typeface="Consolas" pitchFamily="34" charset="0"/>
                <a:ea typeface="Consolas" pitchFamily="34" charset="-122"/>
                <a:cs typeface="Consolas" pitchFamily="34" charset="-120"/>
              </a:rPr>
              <a:t>jack.hashCode()</a:t>
            </a:r>
            <a:r>
              <a:rPr lang="en-IE" sz="2800" b="1" dirty="0">
                <a:solidFill>
                  <a:schemeClr val="tx1"/>
                </a:solidFill>
              </a:rPr>
              <a:t> and </a:t>
            </a:r>
            <a:r>
              <a:rPr lang="en-IE" sz="2800" b="1" dirty="0">
                <a:solidFill>
                  <a:schemeClr val="accent2"/>
                </a:solidFill>
                <a:latin typeface="Consolas" pitchFamily="34" charset="0"/>
                <a:ea typeface="Consolas" pitchFamily="34" charset="-122"/>
                <a:cs typeface="Consolas" pitchFamily="34" charset="-120"/>
              </a:rPr>
              <a:t>bob.hashCode()</a:t>
            </a:r>
            <a:r>
              <a:rPr lang="en-IE" sz="2800" b="1" dirty="0">
                <a:solidFill>
                  <a:schemeClr val="tx1"/>
                </a:solidFill>
              </a:rPr>
              <a:t>?</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They’re always equal, as it’s one object</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They’re always two different numbers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They’re equal only if the names match</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jack’s is 0 until jack is used</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27</a:t>
            </a:fld>
            <a:endParaRPr lang="en-IE"/>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8</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Hash codes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After </a:t>
            </a:r>
            <a:r>
              <a:rPr lang="en-IE" sz="2000" b="1" dirty="0">
                <a:solidFill>
                  <a:schemeClr val="tx2"/>
                </a:solidFill>
                <a:latin typeface="Consolas" pitchFamily="34" charset="0"/>
                <a:ea typeface="Consolas" pitchFamily="34" charset="-122"/>
                <a:cs typeface="Consolas" pitchFamily="34" charset="-120"/>
              </a:rPr>
              <a:t>Student jack = bob</a:t>
            </a:r>
            <a:r>
              <a:rPr lang="en-IE" sz="2000" b="1" dirty="0">
                <a:solidFill>
                  <a:schemeClr val="tx2"/>
                </a:solidFill>
              </a:rPr>
              <a:t>, what do we know about </a:t>
            </a:r>
            <a:r>
              <a:rPr lang="en-IE" sz="2000" b="1" dirty="0">
                <a:solidFill>
                  <a:schemeClr val="tx2"/>
                </a:solidFill>
                <a:latin typeface="Consolas" pitchFamily="34" charset="0"/>
                <a:ea typeface="Consolas" pitchFamily="34" charset="-122"/>
                <a:cs typeface="Consolas" pitchFamily="34" charset="-120"/>
              </a:rPr>
              <a:t>jack.hashCode()</a:t>
            </a:r>
            <a:r>
              <a:rPr lang="en-IE" sz="2000" b="1" dirty="0">
                <a:solidFill>
                  <a:schemeClr val="tx2"/>
                </a:solidFill>
              </a:rPr>
              <a:t> and </a:t>
            </a:r>
            <a:r>
              <a:rPr lang="en-IE" sz="2000" b="1" dirty="0">
                <a:solidFill>
                  <a:schemeClr val="tx2"/>
                </a:solidFill>
                <a:latin typeface="Consolas" pitchFamily="34" charset="0"/>
                <a:ea typeface="Consolas" pitchFamily="34" charset="-122"/>
                <a:cs typeface="Consolas" pitchFamily="34" charset="-120"/>
              </a:rPr>
              <a:t>bob.hashCode()</a:t>
            </a:r>
            <a:r>
              <a:rPr lang="en-IE" sz="2000" b="1" dirty="0">
                <a:solidFill>
                  <a:schemeClr val="tx2"/>
                </a:solidFill>
              </a:rPr>
              <a:t>?</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They’re always equal, as it’s one object</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They’re always two different numbers</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They’re equal only if the names match</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jack’s is 0 until jack is used</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jack and bob refer to the same object, so they get the same hash code, as the example’s output shows. tom holds the same name but is a different object, so Object’s </a:t>
            </a:r>
            <a:r>
              <a:rPr lang="en-IE" sz="1800" dirty="0">
                <a:solidFill>
                  <a:schemeClr val="accent2"/>
                </a:solidFill>
                <a:latin typeface="Consolas" pitchFamily="34" charset="0"/>
                <a:ea typeface="Consolas" pitchFamily="34" charset="-122"/>
                <a:cs typeface="Consolas" pitchFamily="34" charset="-120"/>
              </a:rPr>
              <a:t>hashCode()</a:t>
            </a:r>
            <a:r>
              <a:rPr lang="en-IE" sz="1800" dirty="0">
                <a:solidFill>
                  <a:schemeClr val="tx1"/>
                </a:solidFill>
              </a:rPr>
              <a:t> gives it a different number.</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28</a:t>
            </a:fld>
            <a:endParaRPr lang="en-IE"/>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HASH CODES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Hash codes of numbers, letters and Strings</a:t>
            </a:r>
            <a:endParaRPr lang="en-IE" sz="3400" dirty="0"/>
          </a:p>
        </p:txBody>
      </p:sp>
      <p:sp>
        <p:nvSpPr>
          <p:cNvPr id="5" name="Integer"/>
          <p:cNvSpPr/>
          <p:nvPr/>
        </p:nvSpPr>
        <p:spPr>
          <a:xfrm>
            <a:off x="548640" y="1737360"/>
            <a:ext cx="3515258" cy="2057400"/>
          </a:xfrm>
          <a:prstGeom prst="roundRect">
            <a:avLst>
              <a:gd name="adj" fmla="val 5333"/>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2011680"/>
            <a:ext cx="548640" cy="548640"/>
          </a:xfrm>
          <a:prstGeom prst="roundRect">
            <a:avLst>
              <a:gd name="adj" fmla="val 24000"/>
            </a:avLst>
          </a:prstGeom>
          <a:solidFill>
            <a:schemeClr val="accent2">
              <a:alpha val="14000"/>
            </a:schemeClr>
          </a:solidFill>
          <a:ln/>
        </p:spPr>
      </p:sp>
      <p:pic>
        <p:nvPicPr>
          <p:cNvPr id="7" name="number square one icon" descr="number square one icon">    </p:cNvPr>
          <p:cNvPicPr>
            <a:picLocks noChangeAspect="1"/>
          </p:cNvPicPr>
          <p:nvPr/>
        </p:nvPicPr>
        <p:blipFill>
          <a:blip r:embed="rId1"/>
          <a:stretch>
            <a:fillRect/>
          </a:stretch>
        </p:blipFill>
        <p:spPr>
          <a:xfrm>
            <a:off x="938174" y="2126894"/>
            <a:ext cx="318211" cy="318211"/>
          </a:xfrm>
          <a:prstGeom prst="rect">
            <a:avLst/>
          </a:prstGeom>
        </p:spPr>
      </p:pic>
      <p:sp>
        <p:nvSpPr>
          <p:cNvPr id="8" name="Text 4"/>
          <p:cNvSpPr txBox="1"/>
          <p:nvPr/>
        </p:nvSpPr>
        <p:spPr>
          <a:xfrm>
            <a:off x="822960" y="2670048"/>
            <a:ext cx="2966618" cy="457200"/>
          </a:xfrm>
          <a:prstGeom prst="rect">
            <a:avLst/>
          </a:prstGeom>
          <a:noFill/>
          <a:ln/>
        </p:spPr>
        <p:txBody>
          <a:bodyPr wrap="square" lIns="0" tIns="0" rIns="0" bIns="0" rtlCol="0" anchor="t"/>
          <a:lstStyle/>
          <a:p>
            <a:pPr indent="0" marL="0">
              <a:buNone/>
            </a:pPr>
            <a:r>
              <a:rPr lang="en-IE" sz="1900" b="1" dirty="0">
                <a:solidFill>
                  <a:schemeClr val="tx1"/>
                </a:solidFill>
              </a:rPr>
              <a:t>Integer</a:t>
            </a:r>
            <a:endParaRPr lang="en-IE" sz="1900" dirty="0"/>
          </a:p>
        </p:txBody>
      </p:sp>
      <p:sp>
        <p:nvSpPr>
          <p:cNvPr id="9" name="Text 5"/>
          <p:cNvSpPr txBox="1"/>
          <p:nvPr/>
        </p:nvSpPr>
        <p:spPr>
          <a:xfrm>
            <a:off x="822960" y="3182112"/>
            <a:ext cx="2966618" cy="411480"/>
          </a:xfrm>
          <a:prstGeom prst="rect">
            <a:avLst/>
          </a:prstGeom>
          <a:noFill/>
          <a:ln/>
        </p:spPr>
        <p:txBody>
          <a:bodyPr wrap="square" lIns="0" tIns="0" rIns="0" bIns="0" rtlCol="0" anchor="t"/>
          <a:lstStyle/>
          <a:p>
            <a:pPr indent="0" marL="0">
              <a:buNone/>
            </a:pPr>
            <a:r>
              <a:rPr lang="en-IE" sz="1500" dirty="0">
                <a:solidFill>
                  <a:schemeClr val="tx2"/>
                </a:solidFill>
              </a:rPr>
              <a:t>The hash code is the number itself: </a:t>
            </a:r>
            <a:r>
              <a:rPr lang="en-IE" sz="1500" dirty="0">
                <a:solidFill>
                  <a:schemeClr val="accent2"/>
                </a:solidFill>
                <a:latin typeface="Consolas" pitchFamily="34" charset="0"/>
                <a:ea typeface="Consolas" pitchFamily="34" charset="-122"/>
                <a:cs typeface="Consolas" pitchFamily="34" charset="-120"/>
              </a:rPr>
              <a:t>5</a:t>
            </a:r>
            <a:r>
              <a:rPr lang="en-IE" sz="1500" dirty="0">
                <a:solidFill>
                  <a:schemeClr val="tx2"/>
                </a:solidFill>
              </a:rPr>
              <a:t> gives 5.</a:t>
            </a:r>
            <a:endParaRPr lang="en-IE" sz="1500" dirty="0"/>
          </a:p>
        </p:txBody>
      </p:sp>
      <p:sp>
        <p:nvSpPr>
          <p:cNvPr id="10" name="char"/>
          <p:cNvSpPr/>
          <p:nvPr/>
        </p:nvSpPr>
        <p:spPr>
          <a:xfrm>
            <a:off x="4338218" y="1737360"/>
            <a:ext cx="3515258" cy="2057400"/>
          </a:xfrm>
          <a:prstGeom prst="roundRect">
            <a:avLst>
              <a:gd name="adj" fmla="val 5333"/>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4612538" y="2011680"/>
            <a:ext cx="548640" cy="548640"/>
          </a:xfrm>
          <a:prstGeom prst="roundRect">
            <a:avLst>
              <a:gd name="adj" fmla="val 24000"/>
            </a:avLst>
          </a:prstGeom>
          <a:solidFill>
            <a:schemeClr val="accent4">
              <a:alpha val="14000"/>
            </a:schemeClr>
          </a:solidFill>
          <a:ln/>
        </p:spPr>
      </p:sp>
      <p:pic>
        <p:nvPicPr>
          <p:cNvPr id="12" name="text aa icon" descr="text aa icon">    </p:cNvPr>
          <p:cNvPicPr>
            <a:picLocks noChangeAspect="1"/>
          </p:cNvPicPr>
          <p:nvPr/>
        </p:nvPicPr>
        <p:blipFill>
          <a:blip r:embed="rId2"/>
          <a:stretch>
            <a:fillRect/>
          </a:stretch>
        </p:blipFill>
        <p:spPr>
          <a:xfrm>
            <a:off x="4727753" y="2126894"/>
            <a:ext cx="318211" cy="318211"/>
          </a:xfrm>
          <a:prstGeom prst="rect">
            <a:avLst/>
          </a:prstGeom>
        </p:spPr>
      </p:pic>
      <p:sp>
        <p:nvSpPr>
          <p:cNvPr id="13" name="Text 8"/>
          <p:cNvSpPr txBox="1"/>
          <p:nvPr/>
        </p:nvSpPr>
        <p:spPr>
          <a:xfrm>
            <a:off x="4612538" y="2670048"/>
            <a:ext cx="2966618" cy="457200"/>
          </a:xfrm>
          <a:prstGeom prst="rect">
            <a:avLst/>
          </a:prstGeom>
          <a:noFill/>
          <a:ln/>
        </p:spPr>
        <p:txBody>
          <a:bodyPr wrap="square" lIns="0" tIns="0" rIns="0" bIns="0" rtlCol="0" anchor="t"/>
          <a:lstStyle/>
          <a:p>
            <a:pPr indent="0" marL="0">
              <a:buNone/>
            </a:pPr>
            <a:r>
              <a:rPr lang="en-IE" sz="1900" b="1" dirty="0">
                <a:solidFill>
                  <a:schemeClr val="tx1"/>
                </a:solidFill>
              </a:rPr>
              <a:t>char</a:t>
            </a:r>
            <a:endParaRPr lang="en-IE" sz="1900" dirty="0"/>
          </a:p>
        </p:txBody>
      </p:sp>
      <p:sp>
        <p:nvSpPr>
          <p:cNvPr id="14" name="Text 9"/>
          <p:cNvSpPr txBox="1"/>
          <p:nvPr/>
        </p:nvSpPr>
        <p:spPr>
          <a:xfrm>
            <a:off x="4612538" y="3182112"/>
            <a:ext cx="2966618" cy="411480"/>
          </a:xfrm>
          <a:prstGeom prst="rect">
            <a:avLst/>
          </a:prstGeom>
          <a:noFill/>
          <a:ln/>
        </p:spPr>
        <p:txBody>
          <a:bodyPr wrap="square" lIns="0" tIns="0" rIns="0" bIns="0" rtlCol="0" anchor="t"/>
          <a:lstStyle/>
          <a:p>
            <a:pPr indent="0" marL="0">
              <a:buNone/>
            </a:pPr>
            <a:r>
              <a:rPr lang="en-IE" sz="1500" dirty="0">
                <a:solidFill>
                  <a:schemeClr val="tx2"/>
                </a:solidFill>
              </a:rPr>
              <a:t>A character’s code: </a:t>
            </a:r>
            <a:r>
              <a:rPr lang="en-IE" sz="1500" dirty="0">
                <a:solidFill>
                  <a:schemeClr val="accent2"/>
                </a:solidFill>
                <a:latin typeface="Consolas" pitchFamily="34" charset="0"/>
                <a:ea typeface="Consolas" pitchFamily="34" charset="-122"/>
                <a:cs typeface="Consolas" pitchFamily="34" charset="-120"/>
              </a:rPr>
              <a:t>'a'</a:t>
            </a:r>
            <a:r>
              <a:rPr lang="en-IE" sz="1500" dirty="0">
                <a:solidFill>
                  <a:schemeClr val="tx2"/>
                </a:solidFill>
              </a:rPr>
              <a:t> gives 97, </a:t>
            </a:r>
            <a:r>
              <a:rPr lang="en-IE" sz="1500" dirty="0">
                <a:solidFill>
                  <a:schemeClr val="accent2"/>
                </a:solidFill>
                <a:latin typeface="Consolas" pitchFamily="34" charset="0"/>
                <a:ea typeface="Consolas" pitchFamily="34" charset="-122"/>
                <a:cs typeface="Consolas" pitchFamily="34" charset="-120"/>
              </a:rPr>
              <a:t>'b'</a:t>
            </a:r>
            <a:r>
              <a:rPr lang="en-IE" sz="1500" dirty="0">
                <a:solidFill>
                  <a:schemeClr val="tx2"/>
                </a:solidFill>
              </a:rPr>
              <a:t> gives 98.</a:t>
            </a:r>
            <a:endParaRPr lang="en-IE" sz="1500" dirty="0"/>
          </a:p>
        </p:txBody>
      </p:sp>
      <p:sp>
        <p:nvSpPr>
          <p:cNvPr id="15" name="String"/>
          <p:cNvSpPr/>
          <p:nvPr/>
        </p:nvSpPr>
        <p:spPr>
          <a:xfrm>
            <a:off x="8127797" y="1737360"/>
            <a:ext cx="3515258" cy="2057400"/>
          </a:xfrm>
          <a:prstGeom prst="roundRect">
            <a:avLst>
              <a:gd name="adj" fmla="val 5333"/>
            </a:avLst>
          </a:prstGeom>
          <a:solidFill>
            <a:schemeClr val="bg1"/>
          </a:solidFill>
          <a:ln/>
          <a:effectLst>
            <a:outerShdw sx="100000" sy="100000" kx="0" ky="0" algn="bl" rotWithShape="0" blurRad="114300" dist="31750" dir="5400000">
              <a:srgbClr val="1D2433">
                <a:alpha val="12000"/>
              </a:srgbClr>
            </a:outerShdw>
          </a:effectLst>
        </p:spPr>
      </p:sp>
      <p:sp>
        <p:nvSpPr>
          <p:cNvPr id="16" name="Icon tile"/>
          <p:cNvSpPr/>
          <p:nvPr/>
        </p:nvSpPr>
        <p:spPr>
          <a:xfrm>
            <a:off x="8402117" y="2011680"/>
            <a:ext cx="548640" cy="548640"/>
          </a:xfrm>
          <a:prstGeom prst="roundRect">
            <a:avLst>
              <a:gd name="adj" fmla="val 24000"/>
            </a:avLst>
          </a:prstGeom>
          <a:solidFill>
            <a:schemeClr val="accent5">
              <a:alpha val="14000"/>
            </a:schemeClr>
          </a:solidFill>
          <a:ln/>
        </p:spPr>
      </p:sp>
      <p:pic>
        <p:nvPicPr>
          <p:cNvPr id="17" name="text t icon" descr="text t icon">    </p:cNvPr>
          <p:cNvPicPr>
            <a:picLocks noChangeAspect="1"/>
          </p:cNvPicPr>
          <p:nvPr/>
        </p:nvPicPr>
        <p:blipFill>
          <a:blip r:embed="rId3"/>
          <a:stretch>
            <a:fillRect/>
          </a:stretch>
        </p:blipFill>
        <p:spPr>
          <a:xfrm>
            <a:off x="8517331" y="2126894"/>
            <a:ext cx="318211" cy="318211"/>
          </a:xfrm>
          <a:prstGeom prst="rect">
            <a:avLst/>
          </a:prstGeom>
        </p:spPr>
      </p:pic>
      <p:sp>
        <p:nvSpPr>
          <p:cNvPr id="18" name="Text 12"/>
          <p:cNvSpPr txBox="1"/>
          <p:nvPr/>
        </p:nvSpPr>
        <p:spPr>
          <a:xfrm>
            <a:off x="8402117" y="2670048"/>
            <a:ext cx="2966618" cy="457200"/>
          </a:xfrm>
          <a:prstGeom prst="rect">
            <a:avLst/>
          </a:prstGeom>
          <a:noFill/>
          <a:ln/>
        </p:spPr>
        <p:txBody>
          <a:bodyPr wrap="square" lIns="0" tIns="0" rIns="0" bIns="0" rtlCol="0" anchor="t"/>
          <a:lstStyle/>
          <a:p>
            <a:pPr indent="0" marL="0">
              <a:buNone/>
            </a:pPr>
            <a:r>
              <a:rPr lang="en-IE" sz="1900" b="1" dirty="0">
                <a:solidFill>
                  <a:schemeClr val="tx1"/>
                </a:solidFill>
              </a:rPr>
              <a:t>String</a:t>
            </a:r>
            <a:endParaRPr lang="en-IE" sz="1900" dirty="0"/>
          </a:p>
        </p:txBody>
      </p:sp>
      <p:sp>
        <p:nvSpPr>
          <p:cNvPr id="19" name="Text 13"/>
          <p:cNvSpPr txBox="1"/>
          <p:nvPr/>
        </p:nvSpPr>
        <p:spPr>
          <a:xfrm>
            <a:off x="8402117" y="3182112"/>
            <a:ext cx="2966618" cy="411480"/>
          </a:xfrm>
          <a:prstGeom prst="rect">
            <a:avLst/>
          </a:prstGeom>
          <a:noFill/>
          <a:ln/>
        </p:spPr>
        <p:txBody>
          <a:bodyPr wrap="square" lIns="0" tIns="0" rIns="0" bIns="0" rtlCol="0" anchor="t"/>
          <a:lstStyle/>
          <a:p>
            <a:pPr indent="0" marL="0">
              <a:buNone/>
            </a:pPr>
            <a:r>
              <a:rPr lang="en-IE" sz="1500" dirty="0">
                <a:solidFill>
                  <a:schemeClr val="tx2"/>
                </a:solidFill>
              </a:rPr>
              <a:t>Built from every character and its position, using 31.</a:t>
            </a:r>
            <a:endParaRPr lang="en-IE" sz="1500" dirty="0"/>
          </a:p>
        </p:txBody>
      </p:sp>
      <p:sp>
        <p:nvSpPr>
          <p:cNvPr id="20" name="Text 14"/>
          <p:cNvSpPr txBox="1"/>
          <p:nvPr/>
        </p:nvSpPr>
        <p:spPr>
          <a:xfrm>
            <a:off x="548640" y="4023360"/>
            <a:ext cx="7315200" cy="292608"/>
          </a:xfrm>
          <a:prstGeom prst="rect">
            <a:avLst/>
          </a:prstGeom>
          <a:noFill/>
          <a:ln/>
        </p:spPr>
        <p:txBody>
          <a:bodyPr wrap="square" lIns="0" tIns="0" rIns="0" bIns="0" rtlCol="0" anchor="t"/>
          <a:lstStyle/>
          <a:p>
            <a:pPr indent="0" marL="0">
              <a:buNone/>
            </a:pPr>
            <a:r>
              <a:rPr lang="en-IE" sz="1350" b="1" dirty="0">
                <a:solidFill>
                  <a:schemeClr val="tx2"/>
                </a:solidFill>
              </a:rPr>
              <a:t>The String formula, for a String s of length n</a:t>
            </a:r>
            <a:endParaRPr lang="en-IE" sz="1350" dirty="0"/>
          </a:p>
        </p:txBody>
      </p:sp>
      <p:sp>
        <p:nvSpPr>
          <p:cNvPr id="21" name="Code chip"/>
          <p:cNvSpPr/>
          <p:nvPr/>
        </p:nvSpPr>
        <p:spPr>
          <a:xfrm>
            <a:off x="548640" y="4389120"/>
            <a:ext cx="11094415" cy="502920"/>
          </a:xfrm>
          <a:prstGeom prst="roundRect">
            <a:avLst>
              <a:gd name="adj" fmla="val 14545"/>
            </a:avLst>
          </a:prstGeom>
          <a:solidFill>
            <a:schemeClr val="bg2"/>
          </a:solidFill>
          <a:ln/>
        </p:spPr>
        <p:txBody>
          <a:bodyPr wrap="square" lIns="0" tIns="0" rIns="0" bIns="0" rtlCol="0" anchor="ctr"/>
          <a:lstStyle/>
          <a:p>
            <a:pPr algn="ctr" indent="0" marL="0">
              <a:buNone/>
            </a:pPr>
            <a:r>
              <a:rPr lang="en-IE" sz="1600" dirty="0">
                <a:solidFill>
                  <a:schemeClr val="accent2"/>
                </a:solidFill>
                <a:latin typeface="Consolas" pitchFamily="34" charset="0"/>
                <a:ea typeface="Consolas" pitchFamily="34" charset="-122"/>
                <a:cs typeface="Consolas" pitchFamily="34" charset="-120"/>
              </a:rPr>
              <a:t>s[0]×31^(n−1) + s[1]×31^(n−2) + ... + s[n−1]</a:t>
            </a:r>
            <a:endParaRPr lang="en-IE" sz="1600" dirty="0"/>
          </a:p>
        </p:txBody>
      </p:sp>
      <p:sp>
        <p:nvSpPr>
          <p:cNvPr id="22" name="Text 16"/>
          <p:cNvSpPr txBox="1"/>
          <p:nvPr/>
        </p:nvSpPr>
        <p:spPr>
          <a:xfrm>
            <a:off x="548640" y="5120640"/>
            <a:ext cx="4572000" cy="292608"/>
          </a:xfrm>
          <a:prstGeom prst="rect">
            <a:avLst/>
          </a:prstGeom>
          <a:noFill/>
          <a:ln/>
        </p:spPr>
        <p:txBody>
          <a:bodyPr wrap="square" lIns="0" tIns="0" rIns="0" bIns="0" rtlCol="0" anchor="t"/>
          <a:lstStyle/>
          <a:p>
            <a:pPr indent="0" marL="0">
              <a:buNone/>
            </a:pPr>
            <a:r>
              <a:rPr lang="en-IE" sz="1350" b="1" dirty="0">
                <a:solidFill>
                  <a:schemeClr val="tx2"/>
                </a:solidFill>
              </a:rPr>
              <a:t>Worked example: “ab”</a:t>
            </a:r>
            <a:endParaRPr lang="en-IE" sz="1350" dirty="0"/>
          </a:p>
        </p:txBody>
      </p:sp>
      <p:sp>
        <p:nvSpPr>
          <p:cNvPr id="23" name="Code chip"/>
          <p:cNvSpPr/>
          <p:nvPr/>
        </p:nvSpPr>
        <p:spPr>
          <a:xfrm>
            <a:off x="548640" y="5486400"/>
            <a:ext cx="2514600" cy="502920"/>
          </a:xfrm>
          <a:prstGeom prst="roundRect">
            <a:avLst>
              <a:gd name="adj" fmla="val 14545"/>
            </a:avLst>
          </a:prstGeom>
          <a:solidFill>
            <a:schemeClr val="bg2"/>
          </a:solidFill>
          <a:ln/>
        </p:spPr>
        <p:txBody>
          <a:bodyPr wrap="square" lIns="0" tIns="0" rIns="0" bIns="0" rtlCol="0" anchor="ctr"/>
          <a:lstStyle/>
          <a:p>
            <a:pPr algn="ctr" indent="0" marL="0">
              <a:buNone/>
            </a:pPr>
            <a:r>
              <a:rPr lang="en-IE" sz="1600" dirty="0">
                <a:solidFill>
                  <a:schemeClr val="accent2"/>
                </a:solidFill>
                <a:latin typeface="Consolas" pitchFamily="34" charset="0"/>
                <a:ea typeface="Consolas" pitchFamily="34" charset="-122"/>
                <a:cs typeface="Consolas" pitchFamily="34" charset="-120"/>
              </a:rPr>
              <a:t>"ab".hashCode()</a:t>
            </a:r>
            <a:endParaRPr lang="en-IE" sz="1600" dirty="0"/>
          </a:p>
        </p:txBody>
      </p:sp>
      <p:sp>
        <p:nvSpPr>
          <p:cNvPr id="24" name="Connector"/>
          <p:cNvSpPr/>
          <p:nvPr/>
        </p:nvSpPr>
        <p:spPr>
          <a:xfrm>
            <a:off x="3118104" y="5737860"/>
            <a:ext cx="274320" cy="0"/>
          </a:xfrm>
          <a:prstGeom prst="line">
            <a:avLst/>
          </a:prstGeom>
          <a:noFill/>
          <a:ln w="19050">
            <a:solidFill>
              <a:schemeClr val="tx2"/>
            </a:solidFill>
            <a:prstDash val="solid"/>
            <a:tailEnd type="triangle"/>
          </a:ln>
        </p:spPr>
      </p:sp>
      <p:sp>
        <p:nvSpPr>
          <p:cNvPr id="25" name="Code chip"/>
          <p:cNvSpPr/>
          <p:nvPr/>
        </p:nvSpPr>
        <p:spPr>
          <a:xfrm>
            <a:off x="3447288" y="5486400"/>
            <a:ext cx="2103120" cy="502920"/>
          </a:xfrm>
          <a:prstGeom prst="roundRect">
            <a:avLst>
              <a:gd name="adj" fmla="val 14545"/>
            </a:avLst>
          </a:prstGeom>
          <a:solidFill>
            <a:schemeClr val="bg2"/>
          </a:solidFill>
          <a:ln/>
        </p:spPr>
        <p:txBody>
          <a:bodyPr wrap="square" lIns="0" tIns="0" rIns="0" bIns="0" rtlCol="0" anchor="ctr"/>
          <a:lstStyle/>
          <a:p>
            <a:pPr algn="ctr" indent="0" marL="0">
              <a:buNone/>
            </a:pPr>
            <a:r>
              <a:rPr lang="en-IE" sz="1600" dirty="0">
                <a:solidFill>
                  <a:schemeClr val="accent2"/>
                </a:solidFill>
                <a:latin typeface="Consolas" pitchFamily="34" charset="0"/>
                <a:ea typeface="Consolas" pitchFamily="34" charset="-122"/>
                <a:cs typeface="Consolas" pitchFamily="34" charset="-120"/>
              </a:rPr>
              <a:t>97 × 31 + 98</a:t>
            </a:r>
            <a:endParaRPr lang="en-IE" sz="1600" dirty="0"/>
          </a:p>
        </p:txBody>
      </p:sp>
      <p:sp>
        <p:nvSpPr>
          <p:cNvPr id="26" name="Connector"/>
          <p:cNvSpPr/>
          <p:nvPr/>
        </p:nvSpPr>
        <p:spPr>
          <a:xfrm>
            <a:off x="5605272" y="5737860"/>
            <a:ext cx="274320" cy="0"/>
          </a:xfrm>
          <a:prstGeom prst="line">
            <a:avLst/>
          </a:prstGeom>
          <a:noFill/>
          <a:ln w="19050">
            <a:solidFill>
              <a:schemeClr val="tx2"/>
            </a:solidFill>
            <a:prstDash val="solid"/>
            <a:tailEnd type="triangle"/>
          </a:ln>
        </p:spPr>
      </p:sp>
      <p:sp>
        <p:nvSpPr>
          <p:cNvPr id="27" name="Code chip"/>
          <p:cNvSpPr/>
          <p:nvPr/>
        </p:nvSpPr>
        <p:spPr>
          <a:xfrm>
            <a:off x="5934456" y="5486400"/>
            <a:ext cx="1691640" cy="502920"/>
          </a:xfrm>
          <a:prstGeom prst="roundRect">
            <a:avLst>
              <a:gd name="adj" fmla="val 14545"/>
            </a:avLst>
          </a:prstGeom>
          <a:solidFill>
            <a:schemeClr val="bg2"/>
          </a:solidFill>
          <a:ln/>
        </p:spPr>
        <p:txBody>
          <a:bodyPr wrap="square" lIns="0" tIns="0" rIns="0" bIns="0" rtlCol="0" anchor="ctr"/>
          <a:lstStyle/>
          <a:p>
            <a:pPr algn="ctr" indent="0" marL="0">
              <a:buNone/>
            </a:pPr>
            <a:r>
              <a:rPr lang="en-IE" sz="1600" dirty="0">
                <a:solidFill>
                  <a:schemeClr val="accent2"/>
                </a:solidFill>
                <a:latin typeface="Consolas" pitchFamily="34" charset="0"/>
                <a:ea typeface="Consolas" pitchFamily="34" charset="-122"/>
                <a:cs typeface="Consolas" pitchFamily="34" charset="-120"/>
              </a:rPr>
              <a:t>3007 + 98</a:t>
            </a:r>
            <a:endParaRPr lang="en-IE" sz="1600" dirty="0"/>
          </a:p>
        </p:txBody>
      </p:sp>
      <p:sp>
        <p:nvSpPr>
          <p:cNvPr id="28" name="Connector"/>
          <p:cNvSpPr/>
          <p:nvPr/>
        </p:nvSpPr>
        <p:spPr>
          <a:xfrm>
            <a:off x="7680960" y="5737860"/>
            <a:ext cx="274320" cy="0"/>
          </a:xfrm>
          <a:prstGeom prst="line">
            <a:avLst/>
          </a:prstGeom>
          <a:noFill/>
          <a:ln w="19050">
            <a:solidFill>
              <a:schemeClr val="tx2"/>
            </a:solidFill>
            <a:prstDash val="solid"/>
            <a:tailEnd type="triangle"/>
          </a:ln>
        </p:spPr>
      </p:sp>
      <p:sp>
        <p:nvSpPr>
          <p:cNvPr id="29" name="Code chip"/>
          <p:cNvSpPr/>
          <p:nvPr/>
        </p:nvSpPr>
        <p:spPr>
          <a:xfrm>
            <a:off x="8010144" y="5486400"/>
            <a:ext cx="1188720" cy="502920"/>
          </a:xfrm>
          <a:prstGeom prst="roundRect">
            <a:avLst>
              <a:gd name="adj" fmla="val 14545"/>
            </a:avLst>
          </a:prstGeom>
          <a:solidFill>
            <a:schemeClr val="bg2"/>
          </a:solidFill>
          <a:ln/>
        </p:spPr>
        <p:txBody>
          <a:bodyPr wrap="square" lIns="0" tIns="0" rIns="0" bIns="0" rtlCol="0" anchor="ctr"/>
          <a:lstStyle/>
          <a:p>
            <a:pPr algn="ctr" indent="0" marL="0">
              <a:buNone/>
            </a:pPr>
            <a:r>
              <a:rPr lang="en-IE" sz="1600" dirty="0">
                <a:solidFill>
                  <a:schemeClr val="accent3"/>
                </a:solidFill>
                <a:latin typeface="Consolas" pitchFamily="34" charset="0"/>
                <a:ea typeface="Consolas" pitchFamily="34" charset="-122"/>
                <a:cs typeface="Consolas" pitchFamily="34" charset="-120"/>
              </a:rPr>
              <a:t>3105</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29</a:t>
            </a:fld>
            <a:endParaRPr lang="en-IE"/>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9</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Hash codes of Strings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‘a’ is 97 and ‘b’ is 98. What does </a:t>
            </a:r>
            <a:r>
              <a:rPr lang="en-IE" sz="2800" b="1" dirty="0">
                <a:solidFill>
                  <a:schemeClr val="accent2"/>
                </a:solidFill>
                <a:latin typeface="Consolas" pitchFamily="34" charset="0"/>
                <a:ea typeface="Consolas" pitchFamily="34" charset="-122"/>
                <a:cs typeface="Consolas" pitchFamily="34" charset="-120"/>
              </a:rPr>
              <a:t>"ba".hashCode()</a:t>
            </a:r>
            <a:r>
              <a:rPr lang="en-IE" sz="2800" b="1" dirty="0">
                <a:solidFill>
                  <a:schemeClr val="tx1"/>
                </a:solidFill>
              </a:rPr>
              <a:t> give?</a:t>
            </a:r>
            <a:endParaRPr lang="en-IE" sz="2800" dirty="0"/>
          </a:p>
        </p:txBody>
      </p:sp>
      <p:sp>
        <p:nvSpPr>
          <p:cNvPr id="5" name="Question code card"/>
          <p:cNvSpPr/>
          <p:nvPr/>
        </p:nvSpPr>
        <p:spPr>
          <a:xfrm>
            <a:off x="548640" y="1965960"/>
            <a:ext cx="11094415" cy="1061720"/>
          </a:xfrm>
          <a:prstGeom prst="roundRect">
            <a:avLst>
              <a:gd name="adj" fmla="val 10335"/>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text"/>
          <p:cNvSpPr txBox="1"/>
          <p:nvPr/>
        </p:nvSpPr>
        <p:spPr>
          <a:xfrm>
            <a:off x="822960" y="2167128"/>
            <a:ext cx="10545775" cy="659384"/>
          </a:xfrm>
          <a:prstGeom prst="rect">
            <a:avLst/>
          </a:prstGeom>
          <a:noFill/>
          <a:ln/>
        </p:spPr>
        <p:txBody>
          <a:bodyPr wrap="square" lIns="0" tIns="0" rIns="0" bIns="0" rtlCol="0" anchor="t"/>
          <a:lstStyle/>
          <a:p>
            <a:pPr indent="0" marL="0">
              <a:lnSpc>
                <a:spcPts val="2380"/>
              </a:lnSpc>
              <a:buNone/>
            </a:pPr>
            <a:r>
              <a:rPr lang="en-IE" sz="1800" i="1" dirty="0">
                <a:solidFill>
                  <a:srgbClr val="A3AEC2"/>
                </a:solidFill>
                <a:latin typeface="Consolas" pitchFamily="34" charset="0"/>
                <a:ea typeface="Consolas" pitchFamily="34" charset="-122"/>
                <a:cs typeface="Consolas" pitchFamily="34" charset="-120"/>
              </a:rPr>
              <a:t>// hash = s[0]×31^(n−1) + s[1]×31^(n−2) + ... + s[n−1]</a:t>
            </a:r>
            <a:endParaRPr lang="en-IE" sz="1800" dirty="0"/>
          </a:p>
          <a:p>
            <a:pPr indent="0" marL="0">
              <a:lnSpc>
                <a:spcPts val="2380"/>
              </a:lnSpc>
              <a:buNone/>
            </a:pPr>
            <a:r>
              <a:rPr lang="en-IE" sz="1800" dirty="0">
                <a:solidFill>
                  <a:srgbClr val="A9DB8C"/>
                </a:solidFill>
                <a:latin typeface="Consolas" pitchFamily="34" charset="0"/>
                <a:ea typeface="Consolas" pitchFamily="34" charset="-122"/>
                <a:cs typeface="Consolas" pitchFamily="34" charset="-120"/>
              </a:rPr>
              <a:t>"ba"</a:t>
            </a:r>
            <a:r>
              <a:rPr lang="en-IE" sz="1800" dirty="0">
                <a:solidFill>
                  <a:srgbClr val="E6EBF2"/>
                </a:solidFill>
                <a:latin typeface="Consolas" pitchFamily="34" charset="0"/>
                <a:ea typeface="Consolas" pitchFamily="34" charset="-122"/>
                <a:cs typeface="Consolas" pitchFamily="34" charset="-120"/>
              </a:rPr>
              <a:t>.</a:t>
            </a:r>
            <a:r>
              <a:rPr lang="en-IE" sz="1800" dirty="0">
                <a:solidFill>
                  <a:srgbClr val="C9B0FF"/>
                </a:solidFill>
                <a:latin typeface="Consolas" pitchFamily="34" charset="0"/>
                <a:ea typeface="Consolas" pitchFamily="34" charset="-122"/>
                <a:cs typeface="Consolas" pitchFamily="34" charset="-120"/>
              </a:rPr>
              <a:t>hashCode</a:t>
            </a:r>
            <a:r>
              <a:rPr lang="en-IE" sz="1800" dirty="0">
                <a:solidFill>
                  <a:srgbClr val="E6EBF2"/>
                </a:solidFill>
                <a:latin typeface="Consolas" pitchFamily="34" charset="0"/>
                <a:ea typeface="Consolas" pitchFamily="34" charset="-122"/>
                <a:cs typeface="Consolas" pitchFamily="34" charset="-120"/>
              </a:rPr>
              <a:t>()</a:t>
            </a:r>
            <a:endParaRPr lang="en-IE" sz="1800" dirty="0"/>
          </a:p>
        </p:txBody>
      </p:sp>
      <p:sp>
        <p:nvSpPr>
          <p:cNvPr id="7" name="Option A"/>
          <p:cNvSpPr/>
          <p:nvPr/>
        </p:nvSpPr>
        <p:spPr>
          <a:xfrm>
            <a:off x="548640" y="334772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8" name="Letter A"/>
          <p:cNvSpPr/>
          <p:nvPr/>
        </p:nvSpPr>
        <p:spPr>
          <a:xfrm>
            <a:off x="822960" y="354431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9" name="Option A text"/>
          <p:cNvSpPr txBox="1"/>
          <p:nvPr/>
        </p:nvSpPr>
        <p:spPr>
          <a:xfrm>
            <a:off x="1645920" y="3393440"/>
            <a:ext cx="4038448" cy="86868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3105</a:t>
            </a:r>
            <a:endParaRPr lang="en-IE" sz="2000" dirty="0"/>
          </a:p>
        </p:txBody>
      </p:sp>
      <p:sp>
        <p:nvSpPr>
          <p:cNvPr id="10" name="Option B"/>
          <p:cNvSpPr/>
          <p:nvPr/>
        </p:nvSpPr>
        <p:spPr>
          <a:xfrm>
            <a:off x="6233008" y="334772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1" name="Letter B"/>
          <p:cNvSpPr/>
          <p:nvPr/>
        </p:nvSpPr>
        <p:spPr>
          <a:xfrm>
            <a:off x="6507328" y="354431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2" name="Option B text"/>
          <p:cNvSpPr txBox="1"/>
          <p:nvPr/>
        </p:nvSpPr>
        <p:spPr>
          <a:xfrm>
            <a:off x="7330288" y="3393440"/>
            <a:ext cx="4038448" cy="86868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195</a:t>
            </a:r>
            <a:endParaRPr lang="en-IE" sz="2000" dirty="0"/>
          </a:p>
        </p:txBody>
      </p:sp>
      <p:sp>
        <p:nvSpPr>
          <p:cNvPr id="13" name="Option C"/>
          <p:cNvSpPr/>
          <p:nvPr/>
        </p:nvSpPr>
        <p:spPr>
          <a:xfrm>
            <a:off x="548640" y="453644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4" name="Letter C"/>
          <p:cNvSpPr/>
          <p:nvPr/>
        </p:nvSpPr>
        <p:spPr>
          <a:xfrm>
            <a:off x="822960" y="47330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5" name="Option C text"/>
          <p:cNvSpPr txBox="1"/>
          <p:nvPr/>
        </p:nvSpPr>
        <p:spPr>
          <a:xfrm>
            <a:off x="1645920" y="4582160"/>
            <a:ext cx="4038448" cy="86868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3135</a:t>
            </a:r>
            <a:endParaRPr lang="en-IE" sz="2000" dirty="0"/>
          </a:p>
        </p:txBody>
      </p:sp>
      <p:sp>
        <p:nvSpPr>
          <p:cNvPr id="16" name="Option D"/>
          <p:cNvSpPr/>
          <p:nvPr/>
        </p:nvSpPr>
        <p:spPr>
          <a:xfrm>
            <a:off x="6233008" y="453644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7" name="Letter D"/>
          <p:cNvSpPr/>
          <p:nvPr/>
        </p:nvSpPr>
        <p:spPr>
          <a:xfrm>
            <a:off x="6507328" y="47330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8" name="Option D text"/>
          <p:cNvSpPr txBox="1"/>
          <p:nvPr/>
        </p:nvSpPr>
        <p:spPr>
          <a:xfrm>
            <a:off x="7330288" y="4582160"/>
            <a:ext cx="4038448" cy="86868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3038</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30</a:t>
            </a:fld>
            <a:endParaRPr lang="en-IE"/>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9</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Hash codes of Strings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‘a’ is 97 and ‘b’ is 98. What does </a:t>
            </a:r>
            <a:r>
              <a:rPr lang="en-IE" sz="2000" b="1" dirty="0">
                <a:solidFill>
                  <a:schemeClr val="tx2"/>
                </a:solidFill>
                <a:latin typeface="Consolas" pitchFamily="34" charset="0"/>
                <a:ea typeface="Consolas" pitchFamily="34" charset="-122"/>
                <a:cs typeface="Consolas" pitchFamily="34" charset="-120"/>
              </a:rPr>
              <a:t>"ba".hashCode()</a:t>
            </a:r>
            <a:r>
              <a:rPr lang="en-IE" sz="2000" b="1" dirty="0">
                <a:solidFill>
                  <a:schemeClr val="tx2"/>
                </a:solidFill>
              </a:rPr>
              <a:t> give?</a:t>
            </a:r>
            <a:endParaRPr lang="en-IE" sz="2000" dirty="0"/>
          </a:p>
        </p:txBody>
      </p:sp>
      <p:sp>
        <p:nvSpPr>
          <p:cNvPr id="5" name="Answer code card"/>
          <p:cNvSpPr/>
          <p:nvPr/>
        </p:nvSpPr>
        <p:spPr>
          <a:xfrm>
            <a:off x="548640" y="1874520"/>
            <a:ext cx="5623560" cy="1463040"/>
          </a:xfrm>
          <a:prstGeom prst="roundRect">
            <a:avLst>
              <a:gd name="adj" fmla="val 7500"/>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1060704"/>
          </a:xfrm>
          <a:prstGeom prst="rect">
            <a:avLst/>
          </a:prstGeom>
          <a:noFill/>
          <a:ln/>
        </p:spPr>
        <p:txBody>
          <a:bodyPr wrap="square" lIns="0" tIns="0" rIns="0" bIns="0" rtlCol="0" anchor="t"/>
          <a:lstStyle/>
          <a:p>
            <a:pPr indent="0" marL="0">
              <a:lnSpc>
                <a:spcPts val="1980"/>
              </a:lnSpc>
              <a:buNone/>
            </a:pPr>
            <a:r>
              <a:rPr lang="en-IE" sz="1500" dirty="0">
                <a:solidFill>
                  <a:srgbClr val="A9DB8C"/>
                </a:solidFill>
                <a:latin typeface="Consolas" pitchFamily="34" charset="0"/>
                <a:ea typeface="Consolas" pitchFamily="34" charset="-122"/>
                <a:cs typeface="Consolas" pitchFamily="34" charset="-120"/>
              </a:rPr>
              <a:t>"ba"</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C9B0FF"/>
                </a:solidFill>
                <a:latin typeface="Consolas" pitchFamily="34" charset="0"/>
                <a:ea typeface="Consolas" pitchFamily="34" charset="-122"/>
                <a:cs typeface="Consolas" pitchFamily="34" charset="-120"/>
              </a:rPr>
              <a:t>hashCode</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 </a:t>
            </a:r>
            <a:r>
              <a:rPr lang="en-IE" sz="1500" dirty="0">
                <a:solidFill>
                  <a:srgbClr val="A9DB8C"/>
                </a:solidFill>
                <a:latin typeface="Consolas" pitchFamily="34" charset="0"/>
                <a:ea typeface="Consolas" pitchFamily="34" charset="-122"/>
                <a:cs typeface="Consolas" pitchFamily="34" charset="-120"/>
              </a:rPr>
              <a:t>'b'</a:t>
            </a:r>
            <a:r>
              <a:rPr lang="en-IE" sz="1500" dirty="0">
                <a:solidFill>
                  <a:srgbClr val="E6EBF2"/>
                </a:solidFill>
                <a:latin typeface="Consolas" pitchFamily="34" charset="0"/>
                <a:ea typeface="Consolas" pitchFamily="34" charset="-122"/>
                <a:cs typeface="Consolas" pitchFamily="34" charset="-120"/>
              </a:rPr>
              <a:t> × </a:t>
            </a:r>
            <a:r>
              <a:rPr lang="en-IE" sz="1500" dirty="0">
                <a:solidFill>
                  <a:srgbClr val="F2C14E"/>
                </a:solidFill>
                <a:latin typeface="Consolas" pitchFamily="34" charset="0"/>
                <a:ea typeface="Consolas" pitchFamily="34" charset="-122"/>
                <a:cs typeface="Consolas" pitchFamily="34" charset="-120"/>
              </a:rPr>
              <a:t>31</a:t>
            </a:r>
            <a:r>
              <a:rPr lang="en-IE" sz="1500" dirty="0">
                <a:solidFill>
                  <a:srgbClr val="E6EBF2"/>
                </a:solidFill>
                <a:latin typeface="Consolas" pitchFamily="34" charset="0"/>
                <a:ea typeface="Consolas" pitchFamily="34" charset="-122"/>
                <a:cs typeface="Consolas" pitchFamily="34" charset="-120"/>
              </a:rPr>
              <a:t> + </a:t>
            </a:r>
            <a:r>
              <a:rPr lang="en-IE" sz="1500" dirty="0">
                <a:solidFill>
                  <a:srgbClr val="A9DB8C"/>
                </a:solidFill>
                <a:latin typeface="Consolas" pitchFamily="34" charset="0"/>
                <a:ea typeface="Consolas" pitchFamily="34" charset="-122"/>
                <a:cs typeface="Consolas" pitchFamily="34" charset="-120"/>
              </a:rPr>
              <a:t>'a'</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 </a:t>
            </a:r>
            <a:r>
              <a:rPr lang="en-IE" sz="1500" dirty="0">
                <a:solidFill>
                  <a:srgbClr val="F2C14E"/>
                </a:solidFill>
                <a:latin typeface="Consolas" pitchFamily="34" charset="0"/>
                <a:ea typeface="Consolas" pitchFamily="34" charset="-122"/>
                <a:cs typeface="Consolas" pitchFamily="34" charset="-120"/>
              </a:rPr>
              <a:t>98</a:t>
            </a:r>
            <a:r>
              <a:rPr lang="en-IE" sz="1500" dirty="0">
                <a:solidFill>
                  <a:srgbClr val="E6EBF2"/>
                </a:solidFill>
                <a:latin typeface="Consolas" pitchFamily="34" charset="0"/>
                <a:ea typeface="Consolas" pitchFamily="34" charset="-122"/>
                <a:cs typeface="Consolas" pitchFamily="34" charset="-120"/>
              </a:rPr>
              <a:t> × </a:t>
            </a:r>
            <a:r>
              <a:rPr lang="en-IE" sz="1500" dirty="0">
                <a:solidFill>
                  <a:srgbClr val="F2C14E"/>
                </a:solidFill>
                <a:latin typeface="Consolas" pitchFamily="34" charset="0"/>
                <a:ea typeface="Consolas" pitchFamily="34" charset="-122"/>
                <a:cs typeface="Consolas" pitchFamily="34" charset="-120"/>
              </a:rPr>
              <a:t>31</a:t>
            </a:r>
            <a:r>
              <a:rPr lang="en-IE" sz="1500" dirty="0">
                <a:solidFill>
                  <a:srgbClr val="E6EBF2"/>
                </a:solidFill>
                <a:latin typeface="Consolas" pitchFamily="34" charset="0"/>
                <a:ea typeface="Consolas" pitchFamily="34" charset="-122"/>
                <a:cs typeface="Consolas" pitchFamily="34" charset="-120"/>
              </a:rPr>
              <a:t> + </a:t>
            </a:r>
            <a:r>
              <a:rPr lang="en-IE" sz="1500" dirty="0">
                <a:solidFill>
                  <a:srgbClr val="F2C14E"/>
                </a:solidFill>
                <a:latin typeface="Consolas" pitchFamily="34" charset="0"/>
                <a:ea typeface="Consolas" pitchFamily="34" charset="-122"/>
                <a:cs typeface="Consolas" pitchFamily="34" charset="-120"/>
              </a:rPr>
              <a:t>97</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 </a:t>
            </a:r>
            <a:r>
              <a:rPr lang="en-IE" sz="1500" dirty="0">
                <a:solidFill>
                  <a:srgbClr val="F2C14E"/>
                </a:solidFill>
                <a:latin typeface="Consolas" pitchFamily="34" charset="0"/>
                <a:ea typeface="Consolas" pitchFamily="34" charset="-122"/>
                <a:cs typeface="Consolas" pitchFamily="34" charset="-120"/>
              </a:rPr>
              <a:t>3135</a:t>
            </a:r>
            <a:endParaRPr lang="en-IE" sz="1500" dirty="0"/>
          </a:p>
        </p:txBody>
      </p:sp>
      <p:sp>
        <p:nvSpPr>
          <p:cNvPr id="7" name="Option A"/>
          <p:cNvSpPr/>
          <p:nvPr/>
        </p:nvSpPr>
        <p:spPr>
          <a:xfrm>
            <a:off x="548640" y="3566160"/>
            <a:ext cx="5623560" cy="518922"/>
          </a:xfrm>
          <a:prstGeom prst="roundRect">
            <a:avLst>
              <a:gd name="adj" fmla="val 21145"/>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630168"/>
            <a:ext cx="390906" cy="390906"/>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41882" y="3566160"/>
            <a:ext cx="4601718" cy="518922"/>
          </a:xfrm>
          <a:prstGeom prst="rect">
            <a:avLst/>
          </a:prstGeom>
          <a:noFill/>
          <a:ln/>
        </p:spPr>
        <p:txBody>
          <a:bodyPr wrap="square" lIns="0" tIns="0" rIns="0" bIns="0" rtlCol="0" anchor="ctr"/>
          <a:lstStyle/>
          <a:p>
            <a:pPr indent="0" marL="0">
              <a:buNone/>
            </a:pPr>
            <a:r>
              <a:rPr lang="en-IE" sz="1500" dirty="0">
                <a:solidFill>
                  <a:schemeClr val="tx2"/>
                </a:solidFill>
                <a:latin typeface="Consolas" pitchFamily="34" charset="0"/>
                <a:ea typeface="Consolas" pitchFamily="34" charset="-122"/>
                <a:cs typeface="Consolas" pitchFamily="34" charset="-120"/>
              </a:rPr>
              <a:t>3105</a:t>
            </a:r>
            <a:endParaRPr lang="en-IE" sz="1500" dirty="0"/>
          </a:p>
        </p:txBody>
      </p:sp>
      <p:sp>
        <p:nvSpPr>
          <p:cNvPr id="10" name="Option B"/>
          <p:cNvSpPr/>
          <p:nvPr/>
        </p:nvSpPr>
        <p:spPr>
          <a:xfrm>
            <a:off x="548640" y="4231386"/>
            <a:ext cx="5623560" cy="518922"/>
          </a:xfrm>
          <a:prstGeom prst="roundRect">
            <a:avLst>
              <a:gd name="adj" fmla="val 21145"/>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4295394"/>
            <a:ext cx="390906" cy="390906"/>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2" name="Option B text"/>
          <p:cNvSpPr txBox="1"/>
          <p:nvPr/>
        </p:nvSpPr>
        <p:spPr>
          <a:xfrm>
            <a:off x="1341882" y="4231386"/>
            <a:ext cx="4601718" cy="518922"/>
          </a:xfrm>
          <a:prstGeom prst="rect">
            <a:avLst/>
          </a:prstGeom>
          <a:noFill/>
          <a:ln/>
        </p:spPr>
        <p:txBody>
          <a:bodyPr wrap="square" lIns="0" tIns="0" rIns="0" bIns="0" rtlCol="0" anchor="ctr"/>
          <a:lstStyle/>
          <a:p>
            <a:pPr indent="0" marL="0">
              <a:buNone/>
            </a:pPr>
            <a:r>
              <a:rPr lang="en-IE" sz="1500" dirty="0">
                <a:solidFill>
                  <a:schemeClr val="tx2"/>
                </a:solidFill>
                <a:latin typeface="Consolas" pitchFamily="34" charset="0"/>
                <a:ea typeface="Consolas" pitchFamily="34" charset="-122"/>
                <a:cs typeface="Consolas" pitchFamily="34" charset="-120"/>
              </a:rPr>
              <a:t>195</a:t>
            </a:r>
            <a:endParaRPr lang="en-IE" sz="1500" dirty="0"/>
          </a:p>
        </p:txBody>
      </p:sp>
      <p:sp>
        <p:nvSpPr>
          <p:cNvPr id="13" name="Option C (correct)"/>
          <p:cNvSpPr/>
          <p:nvPr/>
        </p:nvSpPr>
        <p:spPr>
          <a:xfrm>
            <a:off x="548640" y="4896612"/>
            <a:ext cx="5623560" cy="518922"/>
          </a:xfrm>
          <a:prstGeom prst="roundRect">
            <a:avLst>
              <a:gd name="adj" fmla="val 21145"/>
            </a:avLst>
          </a:prstGeom>
          <a:solidFill>
            <a:schemeClr val="accent3"/>
          </a:solidFill>
          <a:ln/>
          <a:effectLst>
            <a:outerShdw sx="100000" sy="100000" kx="0" ky="0" algn="bl" rotWithShape="0" blurRad="114300" dist="31750" dir="5400000">
              <a:srgbClr val="1D2433">
                <a:alpha val="12000"/>
              </a:srgbClr>
            </a:outerShdw>
          </a:effectLst>
        </p:spPr>
      </p:sp>
      <p:sp>
        <p:nvSpPr>
          <p:cNvPr id="14" name="Letter C"/>
          <p:cNvSpPr/>
          <p:nvPr/>
        </p:nvSpPr>
        <p:spPr>
          <a:xfrm>
            <a:off x="749808" y="4960620"/>
            <a:ext cx="390906" cy="390906"/>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5" name="Option C text"/>
          <p:cNvSpPr txBox="1"/>
          <p:nvPr/>
        </p:nvSpPr>
        <p:spPr>
          <a:xfrm>
            <a:off x="1341882" y="4896612"/>
            <a:ext cx="4171950" cy="518922"/>
          </a:xfrm>
          <a:prstGeom prst="rect">
            <a:avLst/>
          </a:prstGeom>
          <a:noFill/>
          <a:ln/>
        </p:spPr>
        <p:txBody>
          <a:bodyPr wrap="square" lIns="0" tIns="0" rIns="0" bIns="0" rtlCol="0" anchor="ctr"/>
          <a:lstStyle/>
          <a:p>
            <a:pPr indent="0" marL="0">
              <a:buNone/>
            </a:pPr>
            <a:r>
              <a:rPr lang="en-IE" sz="1500" b="1" dirty="0">
                <a:solidFill>
                  <a:schemeClr val="bg1"/>
                </a:solidFill>
                <a:latin typeface="Consolas" pitchFamily="34" charset="0"/>
                <a:ea typeface="Consolas" pitchFamily="34" charset="-122"/>
                <a:cs typeface="Consolas" pitchFamily="34" charset="-120"/>
              </a:rPr>
              <a:t>3135</a:t>
            </a:r>
            <a:endParaRPr lang="en-IE" sz="1500" dirty="0"/>
          </a:p>
        </p:txBody>
      </p:sp>
      <p:pic>
        <p:nvPicPr>
          <p:cNvPr id="16" name="Correct mark" descr="Correct mark">    </p:cNvPr>
          <p:cNvPicPr>
            <a:picLocks noChangeAspect="1"/>
          </p:cNvPicPr>
          <p:nvPr/>
        </p:nvPicPr>
        <p:blipFill>
          <a:blip r:embed="rId1"/>
          <a:stretch>
            <a:fillRect/>
          </a:stretch>
        </p:blipFill>
        <p:spPr>
          <a:xfrm>
            <a:off x="5623560" y="4973193"/>
            <a:ext cx="365760" cy="365760"/>
          </a:xfrm>
          <a:prstGeom prst="rect">
            <a:avLst/>
          </a:prstGeom>
        </p:spPr>
      </p:pic>
      <p:sp>
        <p:nvSpPr>
          <p:cNvPr id="17" name="Option D"/>
          <p:cNvSpPr/>
          <p:nvPr/>
        </p:nvSpPr>
        <p:spPr>
          <a:xfrm>
            <a:off x="548640" y="5561838"/>
            <a:ext cx="5623560" cy="518922"/>
          </a:xfrm>
          <a:prstGeom prst="roundRect">
            <a:avLst>
              <a:gd name="adj" fmla="val 21145"/>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625846"/>
            <a:ext cx="390906" cy="390906"/>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41882" y="5561838"/>
            <a:ext cx="4601718" cy="518922"/>
          </a:xfrm>
          <a:prstGeom prst="rect">
            <a:avLst/>
          </a:prstGeom>
          <a:noFill/>
          <a:ln/>
        </p:spPr>
        <p:txBody>
          <a:bodyPr wrap="square" lIns="0" tIns="0" rIns="0" bIns="0" rtlCol="0" anchor="ctr"/>
          <a:lstStyle/>
          <a:p>
            <a:pPr indent="0" marL="0">
              <a:buNone/>
            </a:pPr>
            <a:r>
              <a:rPr lang="en-IE" sz="1500" dirty="0">
                <a:solidFill>
                  <a:schemeClr val="tx2"/>
                </a:solidFill>
                <a:latin typeface="Consolas" pitchFamily="34" charset="0"/>
                <a:ea typeface="Consolas" pitchFamily="34" charset="-122"/>
                <a:cs typeface="Consolas" pitchFamily="34" charset="-120"/>
              </a:rPr>
              <a:t>3038</a:t>
            </a:r>
            <a:endParaRPr lang="en-IE" sz="15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tx1"/>
                </a:solidFill>
              </a:rPr>
              <a:t>The first character is multiplied by 31 once for each character after it. So “ba” gives 98 × 31 + 97 = 3135, while “ab” gives 3105. Position matters, which is why the plain total, 195, isn’t used.</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31</a:t>
            </a:fld>
            <a:endParaRPr lang="en-IE"/>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HASH CODES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Overriding hashCode()</a:t>
            </a:r>
            <a:endParaRPr lang="en-IE" sz="3400" dirty="0"/>
          </a:p>
        </p:txBody>
      </p:sp>
      <p:sp>
        <p:nvSpPr>
          <p:cNvPr id="5" name="Text 2"/>
          <p:cNvSpPr txBox="1"/>
          <p:nvPr/>
        </p:nvSpPr>
        <p:spPr>
          <a:xfrm>
            <a:off x="548640" y="1783080"/>
            <a:ext cx="4846320" cy="2377440"/>
          </a:xfrm>
          <a:prstGeom prst="rect">
            <a:avLst/>
          </a:prstGeom>
          <a:noFill/>
          <a:ln/>
        </p:spPr>
        <p:txBody>
          <a:bodyPr wrap="square" lIns="0" tIns="0" rIns="0" bIns="0" rtlCol="0" anchor="t"/>
          <a:lstStyle/>
          <a:p>
            <a:pPr marL="228600" indent="-228600">
              <a:spcAft>
                <a:spcPts val="1000"/>
              </a:spcAft>
              <a:buSzPct val="100000"/>
              <a:buChar char="•"/>
            </a:pPr>
            <a:r>
              <a:rPr lang="en-IE" sz="1700" dirty="0">
                <a:solidFill>
                  <a:schemeClr val="tx1"/>
                </a:solidFill>
              </a:rPr>
              <a:t>If we override </a:t>
            </a:r>
            <a:r>
              <a:rPr lang="en-IE" sz="1700" dirty="0">
                <a:solidFill>
                  <a:schemeClr val="accent2"/>
                </a:solidFill>
                <a:latin typeface="Consolas" pitchFamily="34" charset="0"/>
                <a:ea typeface="Consolas" pitchFamily="34" charset="-122"/>
                <a:cs typeface="Consolas" pitchFamily="34" charset="-120"/>
              </a:rPr>
              <a:t>equals()</a:t>
            </a:r>
            <a:r>
              <a:rPr lang="en-IE" sz="1700" dirty="0">
                <a:solidFill>
                  <a:schemeClr val="tx1"/>
                </a:solidFill>
              </a:rPr>
              <a:t>, we override </a:t>
            </a:r>
            <a:r>
              <a:rPr lang="en-IE" sz="1700" dirty="0">
                <a:solidFill>
                  <a:schemeClr val="accent2"/>
                </a:solidFill>
                <a:latin typeface="Consolas" pitchFamily="34" charset="0"/>
                <a:ea typeface="Consolas" pitchFamily="34" charset="-122"/>
                <a:cs typeface="Consolas" pitchFamily="34" charset="-120"/>
              </a:rPr>
              <a:t>hashCode()</a:t>
            </a:r>
            <a:r>
              <a:rPr lang="en-IE" sz="1700" dirty="0">
                <a:solidFill>
                  <a:schemeClr val="tx1"/>
                </a:solidFill>
              </a:rPr>
              <a:t> too.</a:t>
            </a:r>
            <a:endParaRPr lang="en-IE" sz="1700" dirty="0"/>
          </a:p>
          <a:p>
            <a:pPr marL="228600" indent="-228600">
              <a:spcAft>
                <a:spcPts val="1000"/>
              </a:spcAft>
              <a:buSzPct val="100000"/>
              <a:buChar char="•"/>
            </a:pPr>
            <a:r>
              <a:rPr lang="en-IE" sz="1700" dirty="0">
                <a:solidFill>
                  <a:schemeClr val="tx1"/>
                </a:solidFill>
              </a:rPr>
              <a:t>The rule: objects that are equal must have the same hash code.</a:t>
            </a:r>
            <a:endParaRPr lang="en-IE" sz="1700" dirty="0"/>
          </a:p>
          <a:p>
            <a:pPr marL="228600" indent="-228600">
              <a:buSzPct val="100000"/>
              <a:buChar char="•"/>
            </a:pPr>
            <a:r>
              <a:rPr lang="en-IE" sz="1700" dirty="0">
                <a:solidFill>
                  <a:schemeClr val="tx1"/>
                </a:solidFill>
              </a:rPr>
              <a:t>So </a:t>
            </a:r>
            <a:r>
              <a:rPr lang="en-IE" sz="1700" dirty="0">
                <a:solidFill>
                  <a:schemeClr val="accent2"/>
                </a:solidFill>
                <a:latin typeface="Consolas" pitchFamily="34" charset="0"/>
                <a:ea typeface="Consolas" pitchFamily="34" charset="-122"/>
                <a:cs typeface="Consolas" pitchFamily="34" charset="-120"/>
              </a:rPr>
              <a:t>hashCode()</a:t>
            </a:r>
            <a:r>
              <a:rPr lang="en-IE" sz="1700" dirty="0">
                <a:solidFill>
                  <a:schemeClr val="tx1"/>
                </a:solidFill>
              </a:rPr>
              <a:t> uses the same attributes that </a:t>
            </a:r>
            <a:r>
              <a:rPr lang="en-IE" sz="1700" dirty="0">
                <a:solidFill>
                  <a:schemeClr val="accent2"/>
                </a:solidFill>
                <a:latin typeface="Consolas" pitchFamily="34" charset="0"/>
                <a:ea typeface="Consolas" pitchFamily="34" charset="-122"/>
                <a:cs typeface="Consolas" pitchFamily="34" charset="-120"/>
              </a:rPr>
              <a:t>equals()</a:t>
            </a:r>
            <a:r>
              <a:rPr lang="en-IE" sz="1700" dirty="0">
                <a:solidFill>
                  <a:schemeClr val="tx1"/>
                </a:solidFill>
              </a:rPr>
              <a:t> compares.</a:t>
            </a:r>
            <a:endParaRPr lang="en-IE" sz="1700" dirty="0"/>
          </a:p>
        </p:txBody>
      </p:sp>
      <p:sp>
        <p:nvSpPr>
          <p:cNvPr id="6" name="Note"/>
          <p:cNvSpPr/>
          <p:nvPr/>
        </p:nvSpPr>
        <p:spPr>
          <a:xfrm>
            <a:off x="548640" y="4160520"/>
            <a:ext cx="4846320" cy="914400"/>
          </a:xfrm>
          <a:prstGeom prst="roundRect">
            <a:avLst>
              <a:gd name="adj" fmla="val 12000"/>
            </a:avLst>
          </a:prstGeom>
          <a:solidFill>
            <a:schemeClr val="bg2"/>
          </a:solidFill>
          <a:ln/>
        </p:spPr>
      </p:sp>
      <p:sp>
        <p:nvSpPr>
          <p:cNvPr id="7" name="Icon tile"/>
          <p:cNvSpPr/>
          <p:nvPr/>
        </p:nvSpPr>
        <p:spPr>
          <a:xfrm>
            <a:off x="822960" y="4352544"/>
            <a:ext cx="530352" cy="530352"/>
          </a:xfrm>
          <a:prstGeom prst="roundRect">
            <a:avLst>
              <a:gd name="adj" fmla="val 24000"/>
            </a:avLst>
          </a:prstGeom>
          <a:solidFill>
            <a:schemeClr val="accent4">
              <a:alpha val="14000"/>
            </a:schemeClr>
          </a:solidFill>
          <a:ln/>
        </p:spPr>
      </p:sp>
      <p:pic>
        <p:nvPicPr>
          <p:cNvPr id="8" name="lightning icon" descr="lightning icon">    </p:cNvPr>
          <p:cNvPicPr>
            <a:picLocks noChangeAspect="1"/>
          </p:cNvPicPr>
          <p:nvPr/>
        </p:nvPicPr>
        <p:blipFill>
          <a:blip r:embed="rId1"/>
          <a:stretch>
            <a:fillRect/>
          </a:stretch>
        </p:blipFill>
        <p:spPr>
          <a:xfrm>
            <a:off x="934334" y="4463918"/>
            <a:ext cx="307604" cy="307604"/>
          </a:xfrm>
          <a:prstGeom prst="rect">
            <a:avLst/>
          </a:prstGeom>
        </p:spPr>
      </p:pic>
      <p:sp>
        <p:nvSpPr>
          <p:cNvPr id="9" name="Text 5"/>
          <p:cNvSpPr txBox="1"/>
          <p:nvPr/>
        </p:nvSpPr>
        <p:spPr>
          <a:xfrm>
            <a:off x="1572768" y="4160520"/>
            <a:ext cx="3566160" cy="914400"/>
          </a:xfrm>
          <a:prstGeom prst="rect">
            <a:avLst/>
          </a:prstGeom>
          <a:noFill/>
          <a:ln/>
        </p:spPr>
        <p:txBody>
          <a:bodyPr wrap="square" lIns="0" tIns="0" rIns="0" bIns="0" rtlCol="0" anchor="ctr"/>
          <a:lstStyle/>
          <a:p>
            <a:pPr indent="0" marL="0">
              <a:buNone/>
            </a:pPr>
            <a:r>
              <a:rPr lang="en-IE" sz="1500" dirty="0">
                <a:solidFill>
                  <a:schemeClr val="accent2"/>
                </a:solidFill>
                <a:latin typeface="Consolas" pitchFamily="34" charset="0"/>
                <a:ea typeface="Consolas" pitchFamily="34" charset="-122"/>
                <a:cs typeface="Consolas" pitchFamily="34" charset="-120"/>
              </a:rPr>
              <a:t>Objects.hash(name, age)</a:t>
            </a:r>
            <a:r>
              <a:rPr lang="en-IE" sz="1500" dirty="0">
                <a:solidFill>
                  <a:schemeClr val="tx1"/>
                </a:solidFill>
              </a:rPr>
              <a:t> does the same in one call (import java.util.Objects).</a:t>
            </a:r>
            <a:endParaRPr lang="en-IE" sz="1500" dirty="0"/>
          </a:p>
        </p:txBody>
      </p:sp>
      <p:sp>
        <p:nvSpPr>
          <p:cNvPr id="10" name="Note"/>
          <p:cNvSpPr/>
          <p:nvPr/>
        </p:nvSpPr>
        <p:spPr>
          <a:xfrm>
            <a:off x="548640" y="5212080"/>
            <a:ext cx="4846320" cy="777240"/>
          </a:xfrm>
          <a:prstGeom prst="roundRect">
            <a:avLst>
              <a:gd name="adj" fmla="val 14118"/>
            </a:avLst>
          </a:prstGeom>
          <a:solidFill>
            <a:schemeClr val="bg2"/>
          </a:solidFill>
          <a:ln/>
        </p:spPr>
      </p:sp>
      <p:sp>
        <p:nvSpPr>
          <p:cNvPr id="11" name="Icon tile"/>
          <p:cNvSpPr/>
          <p:nvPr/>
        </p:nvSpPr>
        <p:spPr>
          <a:xfrm>
            <a:off x="822960" y="5335524"/>
            <a:ext cx="530352" cy="530352"/>
          </a:xfrm>
          <a:prstGeom prst="roundRect">
            <a:avLst>
              <a:gd name="adj" fmla="val 24000"/>
            </a:avLst>
          </a:prstGeom>
          <a:solidFill>
            <a:schemeClr val="accent3">
              <a:alpha val="14000"/>
            </a:schemeClr>
          </a:solidFill>
          <a:ln/>
        </p:spPr>
      </p:sp>
      <p:pic>
        <p:nvPicPr>
          <p:cNvPr id="12" name="magic wand icon" descr="magic wand icon">    </p:cNvPr>
          <p:cNvPicPr>
            <a:picLocks noChangeAspect="1"/>
          </p:cNvPicPr>
          <p:nvPr/>
        </p:nvPicPr>
        <p:blipFill>
          <a:blip r:embed="rId2"/>
          <a:stretch>
            <a:fillRect/>
          </a:stretch>
        </p:blipFill>
        <p:spPr>
          <a:xfrm>
            <a:off x="934334" y="5446898"/>
            <a:ext cx="307604" cy="307604"/>
          </a:xfrm>
          <a:prstGeom prst="rect">
            <a:avLst/>
          </a:prstGeom>
        </p:spPr>
      </p:pic>
      <p:sp>
        <p:nvSpPr>
          <p:cNvPr id="13" name="Text 8"/>
          <p:cNvSpPr txBox="1"/>
          <p:nvPr/>
        </p:nvSpPr>
        <p:spPr>
          <a:xfrm>
            <a:off x="1572768" y="5212080"/>
            <a:ext cx="3566160" cy="777240"/>
          </a:xfrm>
          <a:prstGeom prst="rect">
            <a:avLst/>
          </a:prstGeom>
          <a:noFill/>
          <a:ln/>
        </p:spPr>
        <p:txBody>
          <a:bodyPr wrap="square" lIns="0" tIns="0" rIns="0" bIns="0" rtlCol="0" anchor="ctr"/>
          <a:lstStyle/>
          <a:p>
            <a:pPr indent="0" marL="0">
              <a:buNone/>
            </a:pPr>
            <a:r>
              <a:rPr lang="en-IE" sz="1500" dirty="0">
                <a:solidFill>
                  <a:schemeClr val="tx1"/>
                </a:solidFill>
              </a:rPr>
              <a:t>Eclipse writes both: Source › Generate hashCode() and equals().</a:t>
            </a:r>
            <a:endParaRPr lang="en-IE" sz="1500" dirty="0"/>
          </a:p>
        </p:txBody>
      </p:sp>
      <p:sp>
        <p:nvSpPr>
          <p:cNvPr id="14" name="Student card"/>
          <p:cNvSpPr/>
          <p:nvPr/>
        </p:nvSpPr>
        <p:spPr>
          <a:xfrm>
            <a:off x="5715000" y="1691640"/>
            <a:ext cx="5928055" cy="4224528"/>
          </a:xfrm>
          <a:prstGeom prst="roundRect">
            <a:avLst>
              <a:gd name="adj" fmla="val 2597"/>
            </a:avLst>
          </a:prstGeom>
          <a:solidFill>
            <a:schemeClr val="tx1"/>
          </a:solidFill>
          <a:ln/>
          <a:effectLst>
            <a:outerShdw sx="100000" sy="100000" kx="0" ky="0" algn="bl" rotWithShape="0" blurRad="114300" dist="31750" dir="5400000">
              <a:srgbClr val="1D2433">
                <a:alpha val="12000"/>
              </a:srgbClr>
            </a:outerShdw>
          </a:effectLst>
        </p:spPr>
      </p:sp>
      <p:sp>
        <p:nvSpPr>
          <p:cNvPr id="15" name="Student language"/>
          <p:cNvSpPr txBox="1"/>
          <p:nvPr/>
        </p:nvSpPr>
        <p:spPr>
          <a:xfrm>
            <a:off x="5989320" y="1810512"/>
            <a:ext cx="537941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6" name="Student text"/>
          <p:cNvSpPr txBox="1"/>
          <p:nvPr/>
        </p:nvSpPr>
        <p:spPr>
          <a:xfrm>
            <a:off x="5989320" y="2185416"/>
            <a:ext cx="5379415" cy="3529584"/>
          </a:xfrm>
          <a:prstGeom prst="rect">
            <a:avLst/>
          </a:prstGeom>
          <a:noFill/>
          <a:ln/>
        </p:spPr>
        <p:txBody>
          <a:bodyPr wrap="square" lIns="0" tIns="0" rIns="0" bIns="0" rtlCol="0" anchor="t"/>
          <a:lstStyle/>
          <a:p>
            <a:pPr indent="0" marL="0">
              <a:lnSpc>
                <a:spcPts val="1520"/>
              </a:lnSpc>
              <a:buNone/>
            </a:pPr>
            <a:r>
              <a:rPr lang="en-IE" sz="1150" dirty="0">
                <a:solidFill>
                  <a:srgbClr val="FF9F5A"/>
                </a:solidFill>
                <a:latin typeface="Consolas" pitchFamily="34" charset="0"/>
                <a:ea typeface="Consolas" pitchFamily="34" charset="-122"/>
                <a:cs typeface="Consolas" pitchFamily="34" charset="-120"/>
              </a:rPr>
              <a:t>public</a:t>
            </a: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class</a:t>
            </a: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6CC4E8"/>
                </a:solidFill>
                <a:latin typeface="Consolas" pitchFamily="34" charset="0"/>
                <a:ea typeface="Consolas" pitchFamily="34" charset="-122"/>
                <a:cs typeface="Consolas" pitchFamily="34" charset="-120"/>
              </a:rPr>
              <a:t>Student</a:t>
            </a:r>
            <a:r>
              <a:rPr lang="en-IE" sz="1150" dirty="0">
                <a:solidFill>
                  <a:srgbClr val="E6EBF2"/>
                </a:solidFill>
                <a:latin typeface="Consolas" pitchFamily="34" charset="0"/>
                <a:ea typeface="Consolas" pitchFamily="34" charset="-122"/>
                <a:cs typeface="Consolas" pitchFamily="34" charset="-120"/>
              </a:rPr>
              <a:t> {</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private</a:t>
            </a: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6CC4E8"/>
                </a:solidFill>
                <a:latin typeface="Consolas" pitchFamily="34" charset="0"/>
                <a:ea typeface="Consolas" pitchFamily="34" charset="-122"/>
                <a:cs typeface="Consolas" pitchFamily="34" charset="-120"/>
              </a:rPr>
              <a:t>String</a:t>
            </a:r>
            <a:r>
              <a:rPr lang="en-IE" sz="1150" dirty="0">
                <a:solidFill>
                  <a:srgbClr val="E6EBF2"/>
                </a:solidFill>
                <a:latin typeface="Consolas" pitchFamily="34" charset="0"/>
                <a:ea typeface="Consolas" pitchFamily="34" charset="-122"/>
                <a:cs typeface="Consolas" pitchFamily="34" charset="-120"/>
              </a:rPr>
              <a:t> name;</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private</a:t>
            </a: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int</a:t>
            </a:r>
            <a:r>
              <a:rPr lang="en-IE" sz="1150" dirty="0">
                <a:solidFill>
                  <a:srgbClr val="E6EBF2"/>
                </a:solidFill>
                <a:latin typeface="Consolas" pitchFamily="34" charset="0"/>
                <a:ea typeface="Consolas" pitchFamily="34" charset="-122"/>
                <a:cs typeface="Consolas" pitchFamily="34" charset="-120"/>
              </a:rPr>
              <a:t> age;</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E8C468"/>
                </a:solidFill>
                <a:latin typeface="Consolas" pitchFamily="34" charset="0"/>
                <a:ea typeface="Consolas" pitchFamily="34" charset="-122"/>
                <a:cs typeface="Consolas" pitchFamily="34" charset="-120"/>
              </a:rPr>
              <a:t>@Override</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public</a:t>
            </a: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boolean</a:t>
            </a: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C9B0FF"/>
                </a:solidFill>
                <a:latin typeface="Consolas" pitchFamily="34" charset="0"/>
                <a:ea typeface="Consolas" pitchFamily="34" charset="-122"/>
                <a:cs typeface="Consolas" pitchFamily="34" charset="-120"/>
              </a:rPr>
              <a:t>equals</a:t>
            </a:r>
            <a:r>
              <a:rPr lang="en-IE" sz="1150" dirty="0">
                <a:solidFill>
                  <a:srgbClr val="E6EBF2"/>
                </a:solidFill>
                <a:latin typeface="Consolas" pitchFamily="34" charset="0"/>
                <a:ea typeface="Consolas" pitchFamily="34" charset="-122"/>
                <a:cs typeface="Consolas" pitchFamily="34" charset="-120"/>
              </a:rPr>
              <a:t>(</a:t>
            </a:r>
            <a:r>
              <a:rPr lang="en-IE" sz="1150" dirty="0">
                <a:solidFill>
                  <a:srgbClr val="6CC4E8"/>
                </a:solidFill>
                <a:latin typeface="Consolas" pitchFamily="34" charset="0"/>
                <a:ea typeface="Consolas" pitchFamily="34" charset="-122"/>
                <a:cs typeface="Consolas" pitchFamily="34" charset="-120"/>
              </a:rPr>
              <a:t>Object</a:t>
            </a:r>
            <a:r>
              <a:rPr lang="en-IE" sz="1150" dirty="0">
                <a:solidFill>
                  <a:srgbClr val="E6EBF2"/>
                </a:solidFill>
                <a:latin typeface="Consolas" pitchFamily="34" charset="0"/>
                <a:ea typeface="Consolas" pitchFamily="34" charset="-122"/>
                <a:cs typeface="Consolas" pitchFamily="34" charset="-120"/>
              </a:rPr>
              <a:t> obj) {</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if</a:t>
            </a:r>
            <a:r>
              <a:rPr lang="en-IE" sz="1150" dirty="0">
                <a:solidFill>
                  <a:srgbClr val="E6EBF2"/>
                </a:solidFill>
                <a:latin typeface="Consolas" pitchFamily="34" charset="0"/>
                <a:ea typeface="Consolas" pitchFamily="34" charset="-122"/>
                <a:cs typeface="Consolas" pitchFamily="34" charset="-120"/>
              </a:rPr>
              <a:t> (!(obj </a:t>
            </a:r>
            <a:r>
              <a:rPr lang="en-IE" sz="1150" dirty="0">
                <a:solidFill>
                  <a:srgbClr val="FF9F5A"/>
                </a:solidFill>
                <a:latin typeface="Consolas" pitchFamily="34" charset="0"/>
                <a:ea typeface="Consolas" pitchFamily="34" charset="-122"/>
                <a:cs typeface="Consolas" pitchFamily="34" charset="-120"/>
              </a:rPr>
              <a:t>instanceof</a:t>
            </a: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6CC4E8"/>
                </a:solidFill>
                <a:latin typeface="Consolas" pitchFamily="34" charset="0"/>
                <a:ea typeface="Consolas" pitchFamily="34" charset="-122"/>
                <a:cs typeface="Consolas" pitchFamily="34" charset="-120"/>
              </a:rPr>
              <a:t>Student</a:t>
            </a:r>
            <a:r>
              <a:rPr lang="en-IE" sz="1150" dirty="0">
                <a:solidFill>
                  <a:srgbClr val="E6EBF2"/>
                </a:solidFill>
                <a:latin typeface="Consolas" pitchFamily="34" charset="0"/>
                <a:ea typeface="Consolas" pitchFamily="34" charset="-122"/>
                <a:cs typeface="Consolas" pitchFamily="34" charset="-120"/>
              </a:rPr>
              <a:t>)) {</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return</a:t>
            </a: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false</a:t>
            </a:r>
            <a:r>
              <a:rPr lang="en-IE" sz="1150" dirty="0">
                <a:solidFill>
                  <a:srgbClr val="E6EBF2"/>
                </a:solidFill>
                <a:latin typeface="Consolas" pitchFamily="34" charset="0"/>
                <a:ea typeface="Consolas" pitchFamily="34" charset="-122"/>
                <a:cs typeface="Consolas" pitchFamily="34" charset="-120"/>
              </a:rPr>
              <a:t>;</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6CC4E8"/>
                </a:solidFill>
                <a:latin typeface="Consolas" pitchFamily="34" charset="0"/>
                <a:ea typeface="Consolas" pitchFamily="34" charset="-122"/>
                <a:cs typeface="Consolas" pitchFamily="34" charset="-120"/>
              </a:rPr>
              <a:t>Student</a:t>
            </a:r>
            <a:r>
              <a:rPr lang="en-IE" sz="1150" dirty="0">
                <a:solidFill>
                  <a:srgbClr val="E6EBF2"/>
                </a:solidFill>
                <a:latin typeface="Consolas" pitchFamily="34" charset="0"/>
                <a:ea typeface="Consolas" pitchFamily="34" charset="-122"/>
                <a:cs typeface="Consolas" pitchFamily="34" charset="-120"/>
              </a:rPr>
              <a:t> other = (</a:t>
            </a:r>
            <a:r>
              <a:rPr lang="en-IE" sz="1150" dirty="0">
                <a:solidFill>
                  <a:srgbClr val="6CC4E8"/>
                </a:solidFill>
                <a:latin typeface="Consolas" pitchFamily="34" charset="0"/>
                <a:ea typeface="Consolas" pitchFamily="34" charset="-122"/>
                <a:cs typeface="Consolas" pitchFamily="34" charset="-120"/>
              </a:rPr>
              <a:t>Student</a:t>
            </a:r>
            <a:r>
              <a:rPr lang="en-IE" sz="1150" dirty="0">
                <a:solidFill>
                  <a:srgbClr val="E6EBF2"/>
                </a:solidFill>
                <a:latin typeface="Consolas" pitchFamily="34" charset="0"/>
                <a:ea typeface="Consolas" pitchFamily="34" charset="-122"/>
                <a:cs typeface="Consolas" pitchFamily="34" charset="-120"/>
              </a:rPr>
              <a:t>) obj;</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return</a:t>
            </a:r>
            <a:r>
              <a:rPr lang="en-IE" sz="1150" dirty="0">
                <a:solidFill>
                  <a:srgbClr val="E6EBF2"/>
                </a:solidFill>
                <a:latin typeface="Consolas" pitchFamily="34" charset="0"/>
                <a:ea typeface="Consolas" pitchFamily="34" charset="-122"/>
                <a:cs typeface="Consolas" pitchFamily="34" charset="-120"/>
              </a:rPr>
              <a:t> name.</a:t>
            </a:r>
            <a:r>
              <a:rPr lang="en-IE" sz="1150" dirty="0">
                <a:solidFill>
                  <a:srgbClr val="C9B0FF"/>
                </a:solidFill>
                <a:latin typeface="Consolas" pitchFamily="34" charset="0"/>
                <a:ea typeface="Consolas" pitchFamily="34" charset="-122"/>
                <a:cs typeface="Consolas" pitchFamily="34" charset="-120"/>
              </a:rPr>
              <a:t>equals</a:t>
            </a:r>
            <a:r>
              <a:rPr lang="en-IE" sz="1150" dirty="0">
                <a:solidFill>
                  <a:srgbClr val="E6EBF2"/>
                </a:solidFill>
                <a:latin typeface="Consolas" pitchFamily="34" charset="0"/>
                <a:ea typeface="Consolas" pitchFamily="34" charset="-122"/>
                <a:cs typeface="Consolas" pitchFamily="34" charset="-120"/>
              </a:rPr>
              <a:t>(other.name) &amp;&amp; age == other.age;</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E8C468"/>
                </a:solidFill>
                <a:latin typeface="Consolas" pitchFamily="34" charset="0"/>
                <a:ea typeface="Consolas" pitchFamily="34" charset="-122"/>
                <a:cs typeface="Consolas" pitchFamily="34" charset="-120"/>
              </a:rPr>
              <a:t>@Override</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public</a:t>
            </a: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int</a:t>
            </a: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C9B0FF"/>
                </a:solidFill>
                <a:latin typeface="Consolas" pitchFamily="34" charset="0"/>
                <a:ea typeface="Consolas" pitchFamily="34" charset="-122"/>
                <a:cs typeface="Consolas" pitchFamily="34" charset="-120"/>
              </a:rPr>
              <a:t>hashCode</a:t>
            </a:r>
            <a:r>
              <a:rPr lang="en-IE" sz="1150" dirty="0">
                <a:solidFill>
                  <a:srgbClr val="E6EBF2"/>
                </a:solidFill>
                <a:latin typeface="Consolas" pitchFamily="34" charset="0"/>
                <a:ea typeface="Consolas" pitchFamily="34" charset="-122"/>
                <a:cs typeface="Consolas" pitchFamily="34" charset="-120"/>
              </a:rPr>
              <a:t>() {</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return</a:t>
            </a: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6CC4E8"/>
                </a:solidFill>
                <a:latin typeface="Consolas" pitchFamily="34" charset="0"/>
                <a:ea typeface="Consolas" pitchFamily="34" charset="-122"/>
                <a:cs typeface="Consolas" pitchFamily="34" charset="-120"/>
              </a:rPr>
              <a:t>Integer</a:t>
            </a:r>
            <a:r>
              <a:rPr lang="en-IE" sz="1150" dirty="0">
                <a:solidFill>
                  <a:srgbClr val="E6EBF2"/>
                </a:solidFill>
                <a:latin typeface="Consolas" pitchFamily="34" charset="0"/>
                <a:ea typeface="Consolas" pitchFamily="34" charset="-122"/>
                <a:cs typeface="Consolas" pitchFamily="34" charset="-120"/>
              </a:rPr>
              <a:t>) age).</a:t>
            </a:r>
            <a:r>
              <a:rPr lang="en-IE" sz="1150" dirty="0">
                <a:solidFill>
                  <a:srgbClr val="C9B0FF"/>
                </a:solidFill>
                <a:latin typeface="Consolas" pitchFamily="34" charset="0"/>
                <a:ea typeface="Consolas" pitchFamily="34" charset="-122"/>
                <a:cs typeface="Consolas" pitchFamily="34" charset="-120"/>
              </a:rPr>
              <a:t>hashCode</a:t>
            </a:r>
            <a:r>
              <a:rPr lang="en-IE" sz="1150" dirty="0">
                <a:solidFill>
                  <a:srgbClr val="E6EBF2"/>
                </a:solidFill>
                <a:latin typeface="Consolas" pitchFamily="34" charset="0"/>
                <a:ea typeface="Consolas" pitchFamily="34" charset="-122"/>
                <a:cs typeface="Consolas" pitchFamily="34" charset="-120"/>
              </a:rPr>
              <a:t>() + name.</a:t>
            </a:r>
            <a:r>
              <a:rPr lang="en-IE" sz="1150" dirty="0">
                <a:solidFill>
                  <a:srgbClr val="C9B0FF"/>
                </a:solidFill>
                <a:latin typeface="Consolas" pitchFamily="34" charset="0"/>
                <a:ea typeface="Consolas" pitchFamily="34" charset="-122"/>
                <a:cs typeface="Consolas" pitchFamily="34" charset="-120"/>
              </a:rPr>
              <a:t>hashCode</a:t>
            </a:r>
            <a:r>
              <a:rPr lang="en-IE" sz="1150" dirty="0">
                <a:solidFill>
                  <a:srgbClr val="E6EBF2"/>
                </a:solidFill>
                <a:latin typeface="Consolas" pitchFamily="34" charset="0"/>
                <a:ea typeface="Consolas" pitchFamily="34" charset="-122"/>
                <a:cs typeface="Consolas" pitchFamily="34" charset="-120"/>
              </a:rPr>
              <a:t>();</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a:t>
            </a:r>
            <a:endParaRPr lang="en-IE" sz="11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32</a:t>
            </a:fld>
            <a:endParaRPr lang="en-IE"/>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10</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Overriding hashCode</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We override equals() in Student. Why override hashCode() too?</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So that equal objects also get equal hash codes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Because equals() calls hashCode() to compare</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So that toString() prints the attributes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So that every object gets a different number</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33</a:t>
            </a:fld>
            <a:endParaRPr lang="en-IE"/>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10</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Overriding hashCode</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We override equals() in Student. Why override hashCode() too?</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So that equal objects also get equal hash codes</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Because equals() calls hashCode() to compare</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So that toString() prints the attributes</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So that every object gets a different number</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Java’s rule is that objects that are equal must have the same hash code. Object’s version gives every object its own number, so two equal Students would get different ones. </a:t>
            </a:r>
            <a:r>
              <a:rPr lang="en-IE" sz="1800" dirty="0">
                <a:solidFill>
                  <a:schemeClr val="accent2"/>
                </a:solidFill>
                <a:latin typeface="Consolas" pitchFamily="34" charset="0"/>
                <a:ea typeface="Consolas" pitchFamily="34" charset="-122"/>
                <a:cs typeface="Consolas" pitchFamily="34" charset="-120"/>
              </a:rPr>
              <a:t>equals()</a:t>
            </a:r>
            <a:r>
              <a:rPr lang="en-IE" sz="1800" dirty="0">
                <a:solidFill>
                  <a:schemeClr val="tx1"/>
                </a:solidFill>
              </a:rPr>
              <a:t> doesn’t call </a:t>
            </a:r>
            <a:r>
              <a:rPr lang="en-IE" sz="1800" dirty="0">
                <a:solidFill>
                  <a:schemeClr val="accent2"/>
                </a:solidFill>
                <a:latin typeface="Consolas" pitchFamily="34" charset="0"/>
                <a:ea typeface="Consolas" pitchFamily="34" charset="-122"/>
                <a:cs typeface="Consolas" pitchFamily="34" charset="-120"/>
              </a:rPr>
              <a:t>hashCode()</a:t>
            </a:r>
            <a:r>
              <a:rPr lang="en-IE" sz="1800" dirty="0">
                <a:solidFill>
                  <a:schemeClr val="tx1"/>
                </a:solidFill>
              </a:rPr>
              <a:t> (B), but classes like HashMap and HashSet rely on the two agreeing.</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34</a:t>
            </a:fld>
            <a:endParaRPr lang="en-IE"/>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HASH CODES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The same hash code doesn’t mean equal</a:t>
            </a:r>
            <a:endParaRPr lang="en-IE" sz="3400" dirty="0"/>
          </a:p>
        </p:txBody>
      </p:sp>
      <p:sp>
        <p:nvSpPr>
          <p:cNvPr id="5" name="Text 2"/>
          <p:cNvSpPr txBox="1"/>
          <p:nvPr/>
        </p:nvSpPr>
        <p:spPr>
          <a:xfrm>
            <a:off x="548640" y="1783080"/>
            <a:ext cx="5120640" cy="310896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Equal objects must have equal hash codes.</a:t>
            </a:r>
            <a:endParaRPr lang="en-IE" sz="1800" dirty="0"/>
          </a:p>
          <a:p>
            <a:pPr marL="228600" indent="-228600">
              <a:spcAft>
                <a:spcPts val="1200"/>
              </a:spcAft>
              <a:buSzPct val="100000"/>
              <a:buChar char="•"/>
            </a:pPr>
            <a:r>
              <a:rPr lang="en-IE" sz="1800" dirty="0">
                <a:solidFill>
                  <a:schemeClr val="tx1"/>
                </a:solidFill>
              </a:rPr>
              <a:t>The reverse isn’t true. There are far more possible objects than int values, so different objects can share a hash code.</a:t>
            </a:r>
            <a:endParaRPr lang="en-IE" sz="1800" dirty="0"/>
          </a:p>
          <a:p>
            <a:pPr marL="228600" indent="-228600">
              <a:buSzPct val="100000"/>
              <a:buChar char="•"/>
            </a:pPr>
            <a:r>
              <a:rPr lang="en-IE" sz="1800" dirty="0">
                <a:solidFill>
                  <a:schemeClr val="tx1"/>
                </a:solidFill>
              </a:rPr>
              <a:t>So a matching hash code is only a quick first check. </a:t>
            </a:r>
            <a:r>
              <a:rPr lang="en-IE" sz="1800" dirty="0">
                <a:solidFill>
                  <a:schemeClr val="accent2"/>
                </a:solidFill>
                <a:latin typeface="Consolas" pitchFamily="34" charset="0"/>
                <a:ea typeface="Consolas" pitchFamily="34" charset="-122"/>
                <a:cs typeface="Consolas" pitchFamily="34" charset="-120"/>
              </a:rPr>
              <a:t>equals()</a:t>
            </a:r>
            <a:r>
              <a:rPr lang="en-IE" sz="1800" dirty="0">
                <a:solidFill>
                  <a:schemeClr val="tx1"/>
                </a:solidFill>
              </a:rPr>
              <a:t> makes the final decision.</a:t>
            </a:r>
            <a:endParaRPr lang="en-IE" sz="1800" dirty="0"/>
          </a:p>
        </p:txBody>
      </p:sp>
      <p:sp>
        <p:nvSpPr>
          <p:cNvPr id="6" name="Collision card"/>
          <p:cNvSpPr/>
          <p:nvPr/>
        </p:nvSpPr>
        <p:spPr>
          <a:xfrm>
            <a:off x="548640" y="4572000"/>
            <a:ext cx="5120640" cy="1504188"/>
          </a:xfrm>
          <a:prstGeom prst="roundRect">
            <a:avLst>
              <a:gd name="adj" fmla="val 7295"/>
            </a:avLst>
          </a:prstGeom>
          <a:solidFill>
            <a:schemeClr val="tx1"/>
          </a:solidFill>
          <a:ln/>
          <a:effectLst>
            <a:outerShdw sx="100000" sy="100000" kx="0" ky="0" algn="bl" rotWithShape="0" blurRad="114300" dist="31750" dir="5400000">
              <a:srgbClr val="1D2433">
                <a:alpha val="12000"/>
              </a:srgbClr>
            </a:outerShdw>
          </a:effectLst>
        </p:spPr>
      </p:sp>
      <p:sp>
        <p:nvSpPr>
          <p:cNvPr id="7" name="Collision language"/>
          <p:cNvSpPr txBox="1"/>
          <p:nvPr/>
        </p:nvSpPr>
        <p:spPr>
          <a:xfrm>
            <a:off x="822960" y="4690872"/>
            <a:ext cx="45720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Collision text"/>
          <p:cNvSpPr txBox="1"/>
          <p:nvPr/>
        </p:nvSpPr>
        <p:spPr>
          <a:xfrm>
            <a:off x="822960" y="5065776"/>
            <a:ext cx="4572000" cy="809244"/>
          </a:xfrm>
          <a:prstGeom prst="rect">
            <a:avLst/>
          </a:prstGeom>
          <a:noFill/>
          <a:ln/>
        </p:spPr>
        <p:txBody>
          <a:bodyPr wrap="square" lIns="0" tIns="0" rIns="0" bIns="0" rtlCol="0" anchor="t"/>
          <a:lstStyle/>
          <a:p>
            <a:pPr indent="0" marL="0">
              <a:lnSpc>
                <a:spcPts val="1980"/>
              </a:lnSpc>
              <a:buNone/>
            </a:pPr>
            <a:r>
              <a:rPr lang="en-IE" sz="1500" dirty="0">
                <a:solidFill>
                  <a:srgbClr val="A9DB8C"/>
                </a:solidFill>
                <a:latin typeface="Consolas" pitchFamily="34" charset="0"/>
                <a:ea typeface="Consolas" pitchFamily="34" charset="-122"/>
                <a:cs typeface="Consolas" pitchFamily="34" charset="-120"/>
              </a:rPr>
              <a:t>"Aa"</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C9B0FF"/>
                </a:solidFill>
                <a:latin typeface="Consolas" pitchFamily="34" charset="0"/>
                <a:ea typeface="Consolas" pitchFamily="34" charset="-122"/>
                <a:cs typeface="Consolas" pitchFamily="34" charset="-120"/>
              </a:rPr>
              <a:t>hashCode</a:t>
            </a:r>
            <a:r>
              <a:rPr lang="en-IE" sz="1500" dirty="0">
                <a:solidFill>
                  <a:srgbClr val="E6EBF2"/>
                </a:solidFill>
                <a:latin typeface="Consolas" pitchFamily="34" charset="0"/>
                <a:ea typeface="Consolas" pitchFamily="34" charset="-122"/>
                <a:cs typeface="Consolas" pitchFamily="34" charset="-120"/>
              </a:rPr>
              <a:t>()     </a:t>
            </a:r>
            <a:r>
              <a:rPr lang="en-IE" sz="1500" i="1" dirty="0">
                <a:solidFill>
                  <a:srgbClr val="A3AEC2"/>
                </a:solidFill>
                <a:latin typeface="Consolas" pitchFamily="34" charset="0"/>
                <a:ea typeface="Consolas" pitchFamily="34" charset="-122"/>
                <a:cs typeface="Consolas" pitchFamily="34" charset="-120"/>
              </a:rPr>
              <a:t>// 2112</a:t>
            </a:r>
            <a:endParaRPr lang="en-IE" sz="1500" dirty="0"/>
          </a:p>
          <a:p>
            <a:pPr indent="0" marL="0">
              <a:lnSpc>
                <a:spcPts val="1980"/>
              </a:lnSpc>
              <a:buNone/>
            </a:pPr>
            <a:r>
              <a:rPr lang="en-IE" sz="1500" dirty="0">
                <a:solidFill>
                  <a:srgbClr val="A9DB8C"/>
                </a:solidFill>
                <a:latin typeface="Consolas" pitchFamily="34" charset="0"/>
                <a:ea typeface="Consolas" pitchFamily="34" charset="-122"/>
                <a:cs typeface="Consolas" pitchFamily="34" charset="-120"/>
              </a:rPr>
              <a:t>"BB"</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C9B0FF"/>
                </a:solidFill>
                <a:latin typeface="Consolas" pitchFamily="34" charset="0"/>
                <a:ea typeface="Consolas" pitchFamily="34" charset="-122"/>
                <a:cs typeface="Consolas" pitchFamily="34" charset="-120"/>
              </a:rPr>
              <a:t>hashCode</a:t>
            </a:r>
            <a:r>
              <a:rPr lang="en-IE" sz="1500" dirty="0">
                <a:solidFill>
                  <a:srgbClr val="E6EBF2"/>
                </a:solidFill>
                <a:latin typeface="Consolas" pitchFamily="34" charset="0"/>
                <a:ea typeface="Consolas" pitchFamily="34" charset="-122"/>
                <a:cs typeface="Consolas" pitchFamily="34" charset="-120"/>
              </a:rPr>
              <a:t>()     </a:t>
            </a:r>
            <a:r>
              <a:rPr lang="en-IE" sz="1500" i="1" dirty="0">
                <a:solidFill>
                  <a:srgbClr val="A3AEC2"/>
                </a:solidFill>
                <a:latin typeface="Consolas" pitchFamily="34" charset="0"/>
                <a:ea typeface="Consolas" pitchFamily="34" charset="-122"/>
                <a:cs typeface="Consolas" pitchFamily="34" charset="-120"/>
              </a:rPr>
              <a:t>// 2112</a:t>
            </a:r>
            <a:endParaRPr lang="en-IE" sz="1500" dirty="0"/>
          </a:p>
          <a:p>
            <a:pPr indent="0" marL="0">
              <a:lnSpc>
                <a:spcPts val="1980"/>
              </a:lnSpc>
              <a:buNone/>
            </a:pPr>
            <a:r>
              <a:rPr lang="en-IE" sz="1500" dirty="0">
                <a:solidFill>
                  <a:srgbClr val="A9DB8C"/>
                </a:solidFill>
                <a:latin typeface="Consolas" pitchFamily="34" charset="0"/>
                <a:ea typeface="Consolas" pitchFamily="34" charset="-122"/>
                <a:cs typeface="Consolas" pitchFamily="34" charset="-120"/>
              </a:rPr>
              <a:t>"Aa"</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C9B0FF"/>
                </a:solidFill>
                <a:latin typeface="Consolas" pitchFamily="34" charset="0"/>
                <a:ea typeface="Consolas" pitchFamily="34" charset="-122"/>
                <a:cs typeface="Consolas" pitchFamily="34" charset="-120"/>
              </a:rPr>
              <a:t>equals</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A9DB8C"/>
                </a:solidFill>
                <a:latin typeface="Consolas" pitchFamily="34" charset="0"/>
                <a:ea typeface="Consolas" pitchFamily="34" charset="-122"/>
                <a:cs typeface="Consolas" pitchFamily="34" charset="-120"/>
              </a:rPr>
              <a:t>"BB"</a:t>
            </a:r>
            <a:r>
              <a:rPr lang="en-IE" sz="1500" dirty="0">
                <a:solidFill>
                  <a:srgbClr val="E6EBF2"/>
                </a:solidFill>
                <a:latin typeface="Consolas" pitchFamily="34" charset="0"/>
                <a:ea typeface="Consolas" pitchFamily="34" charset="-122"/>
                <a:cs typeface="Consolas" pitchFamily="34" charset="-120"/>
              </a:rPr>
              <a:t>)   </a:t>
            </a:r>
            <a:r>
              <a:rPr lang="en-IE" sz="1500" i="1" dirty="0">
                <a:solidFill>
                  <a:srgbClr val="A3AEC2"/>
                </a:solidFill>
                <a:latin typeface="Consolas" pitchFamily="34" charset="0"/>
                <a:ea typeface="Consolas" pitchFamily="34" charset="-122"/>
                <a:cs typeface="Consolas" pitchFamily="34" charset="-120"/>
              </a:rPr>
              <a:t>// false</a:t>
            </a:r>
            <a:endParaRPr lang="en-IE" sz="1500" dirty="0"/>
          </a:p>
        </p:txBody>
      </p:sp>
      <p:sp>
        <p:nvSpPr>
          <p:cNvPr id="9" name="Box &quot;Aa&quot;"/>
          <p:cNvSpPr/>
          <p:nvPr/>
        </p:nvSpPr>
        <p:spPr>
          <a:xfrm>
            <a:off x="6400800" y="1920240"/>
            <a:ext cx="2011680" cy="731520"/>
          </a:xfrm>
          <a:prstGeom prst="roundRect">
            <a:avLst>
              <a:gd name="adj" fmla="val 10000"/>
            </a:avLst>
          </a:prstGeom>
          <a:solidFill>
            <a:schemeClr val="accent4">
              <a:alpha val="14000"/>
            </a:schemeClr>
          </a:solidFill>
          <a:ln w="19050">
            <a:solidFill>
              <a:schemeClr val="accent4"/>
            </a:solidFill>
            <a:prstDash val="solid"/>
          </a:ln>
        </p:spPr>
      </p:sp>
      <p:sp>
        <p:nvSpPr>
          <p:cNvPr id="10" name="Text 7"/>
          <p:cNvSpPr txBox="1"/>
          <p:nvPr/>
        </p:nvSpPr>
        <p:spPr>
          <a:xfrm>
            <a:off x="6400800" y="1920240"/>
            <a:ext cx="2011680" cy="731520"/>
          </a:xfrm>
          <a:prstGeom prst="rect">
            <a:avLst/>
          </a:prstGeom>
          <a:noFill/>
          <a:ln/>
        </p:spPr>
        <p:txBody>
          <a:bodyPr wrap="square" lIns="0" tIns="0" rIns="0" bIns="0" rtlCol="0" anchor="ctr"/>
          <a:lstStyle/>
          <a:p>
            <a:pPr algn="ctr" indent="0" marL="0">
              <a:buNone/>
            </a:pPr>
            <a:r>
              <a:rPr lang="en-IE" sz="2000" b="1" dirty="0">
                <a:solidFill>
                  <a:schemeClr val="tx1"/>
                </a:solidFill>
                <a:latin typeface="Consolas" pitchFamily="34" charset="0"/>
                <a:ea typeface="Consolas" pitchFamily="34" charset="-122"/>
                <a:cs typeface="Consolas" pitchFamily="34" charset="-120"/>
              </a:rPr>
              <a:t>"Aa"</a:t>
            </a:r>
            <a:endParaRPr lang="en-IE" sz="2000" dirty="0"/>
          </a:p>
        </p:txBody>
      </p:sp>
      <p:sp>
        <p:nvSpPr>
          <p:cNvPr id="11" name="Box &quot;BB&quot;"/>
          <p:cNvSpPr/>
          <p:nvPr/>
        </p:nvSpPr>
        <p:spPr>
          <a:xfrm>
            <a:off x="9509760" y="1920240"/>
            <a:ext cx="2011680" cy="731520"/>
          </a:xfrm>
          <a:prstGeom prst="roundRect">
            <a:avLst>
              <a:gd name="adj" fmla="val 10000"/>
            </a:avLst>
          </a:prstGeom>
          <a:solidFill>
            <a:schemeClr val="accent4">
              <a:alpha val="14000"/>
            </a:schemeClr>
          </a:solidFill>
          <a:ln w="19050">
            <a:solidFill>
              <a:schemeClr val="accent4"/>
            </a:solidFill>
            <a:prstDash val="solid"/>
          </a:ln>
        </p:spPr>
      </p:sp>
      <p:sp>
        <p:nvSpPr>
          <p:cNvPr id="12" name="Text 9"/>
          <p:cNvSpPr txBox="1"/>
          <p:nvPr/>
        </p:nvSpPr>
        <p:spPr>
          <a:xfrm>
            <a:off x="9509760" y="1920240"/>
            <a:ext cx="2011680" cy="731520"/>
          </a:xfrm>
          <a:prstGeom prst="rect">
            <a:avLst/>
          </a:prstGeom>
          <a:noFill/>
          <a:ln/>
        </p:spPr>
        <p:txBody>
          <a:bodyPr wrap="square" lIns="0" tIns="0" rIns="0" bIns="0" rtlCol="0" anchor="ctr"/>
          <a:lstStyle/>
          <a:p>
            <a:pPr algn="ctr" indent="0" marL="0">
              <a:buNone/>
            </a:pPr>
            <a:r>
              <a:rPr lang="en-IE" sz="2000" b="1" dirty="0">
                <a:solidFill>
                  <a:schemeClr val="tx1"/>
                </a:solidFill>
                <a:latin typeface="Consolas" pitchFamily="34" charset="0"/>
                <a:ea typeface="Consolas" pitchFamily="34" charset="-122"/>
                <a:cs typeface="Consolas" pitchFamily="34" charset="-120"/>
              </a:rPr>
              <a:t>"BB"</a:t>
            </a:r>
            <a:endParaRPr lang="en-IE" sz="2000" dirty="0"/>
          </a:p>
        </p:txBody>
      </p:sp>
      <p:sp>
        <p:nvSpPr>
          <p:cNvPr id="13" name="Shared hash code"/>
          <p:cNvSpPr/>
          <p:nvPr/>
        </p:nvSpPr>
        <p:spPr>
          <a:xfrm>
            <a:off x="8046720" y="3429000"/>
            <a:ext cx="1828800" cy="685800"/>
          </a:xfrm>
          <a:prstGeom prst="roundRect">
            <a:avLst>
              <a:gd name="adj" fmla="val 13333"/>
            </a:avLst>
          </a:prstGeom>
          <a:solidFill>
            <a:schemeClr val="accent5"/>
          </a:solidFill>
          <a:ln/>
        </p:spPr>
        <p:txBody>
          <a:bodyPr wrap="square" lIns="0" tIns="0" rIns="0" bIns="0" rtlCol="0" anchor="ctr"/>
          <a:lstStyle/>
          <a:p>
            <a:pPr algn="ctr" indent="0" marL="0">
              <a:buNone/>
            </a:pPr>
            <a:r>
              <a:rPr lang="en-IE" sz="2200" b="1" dirty="0">
                <a:solidFill>
                  <a:schemeClr val="bg1"/>
                </a:solidFill>
                <a:latin typeface="Consolas" pitchFamily="34" charset="0"/>
                <a:ea typeface="Consolas" pitchFamily="34" charset="-122"/>
                <a:cs typeface="Consolas" pitchFamily="34" charset="-120"/>
              </a:rPr>
              <a:t>2112</a:t>
            </a:r>
            <a:endParaRPr lang="en-IE" sz="2200" dirty="0"/>
          </a:p>
        </p:txBody>
      </p:sp>
      <p:sp>
        <p:nvSpPr>
          <p:cNvPr id="14" name="Connector"/>
          <p:cNvSpPr/>
          <p:nvPr/>
        </p:nvSpPr>
        <p:spPr>
          <a:xfrm>
            <a:off x="7406640" y="2697480"/>
            <a:ext cx="1188720" cy="676656"/>
          </a:xfrm>
          <a:prstGeom prst="line">
            <a:avLst/>
          </a:prstGeom>
          <a:noFill/>
          <a:ln w="22225">
            <a:solidFill>
              <a:schemeClr val="accent5"/>
            </a:solidFill>
            <a:prstDash val="solid"/>
            <a:tailEnd type="triangle"/>
          </a:ln>
        </p:spPr>
      </p:sp>
      <p:sp>
        <p:nvSpPr>
          <p:cNvPr id="15" name="Connector"/>
          <p:cNvSpPr/>
          <p:nvPr/>
        </p:nvSpPr>
        <p:spPr>
          <a:xfrm flipH="1">
            <a:off x="9326880" y="2697480"/>
            <a:ext cx="1188720" cy="676656"/>
          </a:xfrm>
          <a:prstGeom prst="line">
            <a:avLst/>
          </a:prstGeom>
          <a:noFill/>
          <a:ln w="22225">
            <a:solidFill>
              <a:schemeClr val="accent5"/>
            </a:solidFill>
            <a:prstDash val="solid"/>
            <a:tailEnd type="triangle"/>
          </a:ln>
        </p:spPr>
      </p:sp>
      <p:sp>
        <p:nvSpPr>
          <p:cNvPr id="16" name="Text 13"/>
          <p:cNvSpPr txBox="1"/>
          <p:nvPr/>
        </p:nvSpPr>
        <p:spPr>
          <a:xfrm>
            <a:off x="7589520" y="4178808"/>
            <a:ext cx="2743200" cy="274320"/>
          </a:xfrm>
          <a:prstGeom prst="rect">
            <a:avLst/>
          </a:prstGeom>
          <a:noFill/>
          <a:ln/>
        </p:spPr>
        <p:txBody>
          <a:bodyPr wrap="square" lIns="0" tIns="0" rIns="0" bIns="0" rtlCol="0" anchor="t"/>
          <a:lstStyle/>
          <a:p>
            <a:pPr algn="ctr" indent="0" marL="0">
              <a:buNone/>
            </a:pPr>
            <a:r>
              <a:rPr lang="en-IE" sz="1250" i="1" dirty="0">
                <a:solidFill>
                  <a:schemeClr val="tx2"/>
                </a:solidFill>
              </a:rPr>
              <a:t>the same hash code</a:t>
            </a:r>
            <a:endParaRPr lang="en-IE" sz="1250" dirty="0"/>
          </a:p>
        </p:txBody>
      </p:sp>
      <p:pic>
        <p:nvPicPr>
          <p:cNvPr id="17" name="Does not work" descr="Does not work">    </p:cNvPr>
          <p:cNvPicPr>
            <a:picLocks noChangeAspect="1"/>
          </p:cNvPicPr>
          <p:nvPr/>
        </p:nvPicPr>
        <p:blipFill>
          <a:blip r:embed="rId1"/>
          <a:stretch>
            <a:fillRect/>
          </a:stretch>
        </p:blipFill>
        <p:spPr>
          <a:xfrm>
            <a:off x="6949440" y="4590288"/>
            <a:ext cx="347472" cy="347472"/>
          </a:xfrm>
          <a:prstGeom prst="rect">
            <a:avLst/>
          </a:prstGeom>
        </p:spPr>
      </p:pic>
      <p:sp>
        <p:nvSpPr>
          <p:cNvPr id="18" name="Text 14"/>
          <p:cNvSpPr txBox="1"/>
          <p:nvPr/>
        </p:nvSpPr>
        <p:spPr>
          <a:xfrm>
            <a:off x="7406640" y="4572000"/>
            <a:ext cx="3931920" cy="384048"/>
          </a:xfrm>
          <a:prstGeom prst="rect">
            <a:avLst/>
          </a:prstGeom>
          <a:noFill/>
          <a:ln/>
        </p:spPr>
        <p:txBody>
          <a:bodyPr wrap="square" lIns="0" tIns="0" rIns="0" bIns="0" rtlCol="0" anchor="ctr"/>
          <a:lstStyle/>
          <a:p>
            <a:pPr indent="0" marL="0">
              <a:buNone/>
            </a:pPr>
            <a:r>
              <a:rPr lang="en-IE" sz="1550" b="1" dirty="0">
                <a:solidFill>
                  <a:srgbClr val="C0392B"/>
                </a:solidFill>
              </a:rPr>
              <a:t>but “Aa”.equals(“BB”) is false</a:t>
            </a:r>
            <a:endParaRPr lang="en-IE" sz="15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35</a:t>
            </a:fld>
            <a:endParaRPr lang="en-IE"/>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11</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Hash codes and equals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Two objects have the same hash code. What does that tell us?</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They are definitely equal objects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They are the same object in memory</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They might be equal, so check equals()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One of them is a clone of the other</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36</a:t>
            </a:fld>
            <a:endParaRPr lang="en-IE"/>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11</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Hash codes and equals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Two objects have the same hash code. What does that tell us?</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They are definitely equal objects</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They are the same object in memory</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They might be equal, so check equals()</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One of them is a clone of the other</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“Aa” and “BB” share the hash code 2112, but they aren’t equal. Equal objects must have equal hash codes, but the reverse isn’t true, so a matching hash code is only a first check. </a:t>
            </a:r>
            <a:r>
              <a:rPr lang="en-IE" sz="1800" dirty="0">
                <a:solidFill>
                  <a:schemeClr val="accent2"/>
                </a:solidFill>
                <a:latin typeface="Consolas" pitchFamily="34" charset="0"/>
                <a:ea typeface="Consolas" pitchFamily="34" charset="-122"/>
                <a:cs typeface="Consolas" pitchFamily="34" charset="-120"/>
              </a:rPr>
              <a:t>equals()</a:t>
            </a:r>
            <a:r>
              <a:rPr lang="en-IE" sz="1800" dirty="0">
                <a:solidFill>
                  <a:schemeClr val="tx1"/>
                </a:solidFill>
              </a:rPr>
              <a:t> makes the final decision.</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37</a:t>
            </a:fld>
            <a:endParaRPr lang="en-IE"/>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03</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Copying objects</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Real copies with clone() and copy constructors</a:t>
            </a:r>
            <a:endParaRPr lang="en-IE" sz="2000" dirty="0"/>
          </a:p>
        </p:txBody>
      </p:sp>
      <p:sp>
        <p:nvSpPr>
          <p:cNvPr id="5" name="Topic chip"/>
          <p:cNvSpPr/>
          <p:nvPr/>
        </p:nvSpPr>
        <p:spPr>
          <a:xfrm>
            <a:off x="822960" y="4846320"/>
            <a:ext cx="132689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References</a:t>
            </a:r>
            <a:endParaRPr lang="en-IE" sz="1400" dirty="0"/>
          </a:p>
        </p:txBody>
      </p:sp>
      <p:sp>
        <p:nvSpPr>
          <p:cNvPr id="6" name="Topic chip"/>
          <p:cNvSpPr/>
          <p:nvPr/>
        </p:nvSpPr>
        <p:spPr>
          <a:xfrm>
            <a:off x="2296160" y="4846320"/>
            <a:ext cx="104952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clone()</a:t>
            </a:r>
            <a:endParaRPr lang="en-IE" sz="1400" dirty="0"/>
          </a:p>
        </p:txBody>
      </p:sp>
      <p:sp>
        <p:nvSpPr>
          <p:cNvPr id="7" name="Topic chip"/>
          <p:cNvSpPr/>
          <p:nvPr/>
        </p:nvSpPr>
        <p:spPr>
          <a:xfrm>
            <a:off x="3491992" y="4846320"/>
            <a:ext cx="197408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Copy constructors</a:t>
            </a:r>
            <a:endParaRPr lang="en-IE" sz="1400" dirty="0"/>
          </a:p>
        </p:txBody>
      </p:sp>
      <p:pic>
        <p:nvPicPr>
          <p:cNvPr id="8"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COPYING OBJECTS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Copying a reference isn’t copying the object</a:t>
            </a:r>
            <a:endParaRPr lang="en-IE" sz="3400" dirty="0"/>
          </a:p>
        </p:txBody>
      </p:sp>
      <p:sp>
        <p:nvSpPr>
          <p:cNvPr id="5" name="Reference copy"/>
          <p:cNvSpPr/>
          <p:nvPr/>
        </p:nvSpPr>
        <p:spPr>
          <a:xfrm>
            <a:off x="548640" y="1691640"/>
            <a:ext cx="5364328" cy="3520440"/>
          </a:xfrm>
          <a:prstGeom prst="roundRect">
            <a:avLst>
              <a:gd name="adj" fmla="val 3117"/>
            </a:avLst>
          </a:prstGeom>
          <a:solidFill>
            <a:schemeClr val="bg1"/>
          </a:solidFill>
          <a:ln/>
          <a:effectLst>
            <a:outerShdw sx="100000" sy="100000" kx="0" ky="0" algn="bl" rotWithShape="0" blurRad="114300" dist="31750" dir="5400000">
              <a:srgbClr val="1D2433">
                <a:alpha val="12000"/>
              </a:srgbClr>
            </a:outerShdw>
          </a:effectLst>
        </p:spPr>
      </p:sp>
      <p:sp>
        <p:nvSpPr>
          <p:cNvPr id="6" name="Code chip"/>
          <p:cNvSpPr/>
          <p:nvPr/>
        </p:nvSpPr>
        <p:spPr>
          <a:xfrm>
            <a:off x="822960" y="1920240"/>
            <a:ext cx="4815688" cy="457200"/>
          </a:xfrm>
          <a:prstGeom prst="roundRect">
            <a:avLst>
              <a:gd name="adj" fmla="val 16000"/>
            </a:avLst>
          </a:prstGeom>
          <a:solidFill>
            <a:schemeClr val="bg2"/>
          </a:solidFill>
          <a:ln/>
        </p:spPr>
        <p:txBody>
          <a:bodyPr wrap="square" lIns="0" tIns="0" rIns="0" bIns="0" rtlCol="0" anchor="ctr"/>
          <a:lstStyle/>
          <a:p>
            <a:pPr algn="ctr" indent="0" marL="0">
              <a:buNone/>
            </a:pPr>
            <a:r>
              <a:rPr lang="en-IE" sz="1500" dirty="0">
                <a:solidFill>
                  <a:schemeClr val="accent2"/>
                </a:solidFill>
                <a:latin typeface="Consolas" pitchFamily="34" charset="0"/>
                <a:ea typeface="Consolas" pitchFamily="34" charset="-122"/>
                <a:cs typeface="Consolas" pitchFamily="34" charset="-120"/>
              </a:rPr>
              <a:t>employeeTwo = employeeOne;</a:t>
            </a:r>
            <a:endParaRPr lang="en-IE" sz="1500" dirty="0"/>
          </a:p>
        </p:txBody>
      </p:sp>
      <p:sp>
        <p:nvSpPr>
          <p:cNvPr id="7" name="Variable employeeOne"/>
          <p:cNvSpPr/>
          <p:nvPr/>
        </p:nvSpPr>
        <p:spPr>
          <a:xfrm>
            <a:off x="822960" y="2743200"/>
            <a:ext cx="2057400" cy="512064"/>
          </a:xfrm>
          <a:prstGeom prst="roundRect">
            <a:avLst>
              <a:gd name="adj" fmla="val 17857"/>
            </a:avLst>
          </a:prstGeom>
          <a:solidFill>
            <a:schemeClr val="bg1"/>
          </a:solidFill>
          <a:ln w="19050">
            <a:solidFill>
              <a:schemeClr val="accent2"/>
            </a:solidFill>
          </a:ln>
        </p:spPr>
        <p:txBody>
          <a:bodyPr wrap="square" lIns="0" tIns="0" rIns="0" bIns="0" rtlCol="0" anchor="ctr"/>
          <a:lstStyle/>
          <a:p>
            <a:pPr algn="ctr" indent="0" marL="0">
              <a:buNone/>
            </a:pPr>
            <a:r>
              <a:rPr lang="en-IE" sz="1400" b="1" dirty="0">
                <a:solidFill>
                  <a:schemeClr val="accent2"/>
                </a:solidFill>
                <a:latin typeface="Consolas" pitchFamily="34" charset="0"/>
                <a:ea typeface="Consolas" pitchFamily="34" charset="-122"/>
                <a:cs typeface="Consolas" pitchFamily="34" charset="-120"/>
              </a:rPr>
              <a:t>employeeOne</a:t>
            </a:r>
            <a:endParaRPr lang="en-IE" sz="1400" dirty="0"/>
          </a:p>
        </p:txBody>
      </p:sp>
      <p:sp>
        <p:nvSpPr>
          <p:cNvPr id="8" name="Variable employeeTwo"/>
          <p:cNvSpPr/>
          <p:nvPr/>
        </p:nvSpPr>
        <p:spPr>
          <a:xfrm>
            <a:off x="822960" y="3749040"/>
            <a:ext cx="2057400" cy="512064"/>
          </a:xfrm>
          <a:prstGeom prst="roundRect">
            <a:avLst>
              <a:gd name="adj" fmla="val 17857"/>
            </a:avLst>
          </a:prstGeom>
          <a:solidFill>
            <a:schemeClr val="bg1"/>
          </a:solidFill>
          <a:ln w="19050">
            <a:solidFill>
              <a:schemeClr val="accent2"/>
            </a:solidFill>
          </a:ln>
        </p:spPr>
        <p:txBody>
          <a:bodyPr wrap="square" lIns="0" tIns="0" rIns="0" bIns="0" rtlCol="0" anchor="ctr"/>
          <a:lstStyle/>
          <a:p>
            <a:pPr algn="ctr" indent="0" marL="0">
              <a:buNone/>
            </a:pPr>
            <a:r>
              <a:rPr lang="en-IE" sz="1400" b="1" dirty="0">
                <a:solidFill>
                  <a:schemeClr val="accent2"/>
                </a:solidFill>
                <a:latin typeface="Consolas" pitchFamily="34" charset="0"/>
                <a:ea typeface="Consolas" pitchFamily="34" charset="-122"/>
                <a:cs typeface="Consolas" pitchFamily="34" charset="-120"/>
              </a:rPr>
              <a:t>employeeTwo</a:t>
            </a:r>
            <a:endParaRPr lang="en-IE" sz="1400" dirty="0"/>
          </a:p>
        </p:txBody>
      </p:sp>
      <p:sp>
        <p:nvSpPr>
          <p:cNvPr id="9" name="Class : Employee"/>
          <p:cNvSpPr/>
          <p:nvPr/>
        </p:nvSpPr>
        <p:spPr>
          <a:xfrm>
            <a:off x="3429000" y="2926080"/>
            <a:ext cx="1828800" cy="888683"/>
          </a:xfrm>
          <a:prstGeom prst="rect">
            <a:avLst/>
          </a:prstGeom>
          <a:solidFill>
            <a:schemeClr val="bg1"/>
          </a:solidFill>
          <a:ln w="19050">
            <a:solidFill>
              <a:schemeClr val="accent4"/>
            </a:solidFill>
            <a:prstDash val="solid"/>
          </a:ln>
          <a:effectLst>
            <a:outerShdw sx="100000" sy="100000" kx="0" ky="0" algn="bl" rotWithShape="0" blurRad="76200" dist="19050" dir="5400000">
              <a:srgbClr val="1D2433">
                <a:alpha val="8000"/>
              </a:srgbClr>
            </a:outerShdw>
          </a:effectLst>
        </p:spPr>
      </p:sp>
      <p:sp>
        <p:nvSpPr>
          <p:cNvPr id="10" name="Class : Employee header"/>
          <p:cNvSpPr/>
          <p:nvPr/>
        </p:nvSpPr>
        <p:spPr>
          <a:xfrm>
            <a:off x="3429000" y="2926080"/>
            <a:ext cx="1828800" cy="457200"/>
          </a:xfrm>
          <a:prstGeom prst="rect">
            <a:avLst/>
          </a:prstGeom>
          <a:solidFill>
            <a:schemeClr val="accent4">
              <a:alpha val="14000"/>
            </a:schemeClr>
          </a:solidFill>
          <a:ln w="19050">
            <a:solidFill>
              <a:schemeClr val="accent4"/>
            </a:solidFill>
            <a:prstDash val="solid"/>
          </a:ln>
        </p:spPr>
      </p:sp>
      <p:sp>
        <p:nvSpPr>
          <p:cNvPr id="11" name="Text 8"/>
          <p:cNvSpPr txBox="1"/>
          <p:nvPr/>
        </p:nvSpPr>
        <p:spPr>
          <a:xfrm>
            <a:off x="3429000" y="2962656"/>
            <a:ext cx="1828800" cy="384048"/>
          </a:xfrm>
          <a:prstGeom prst="rect">
            <a:avLst/>
          </a:prstGeom>
          <a:noFill/>
          <a:ln/>
        </p:spPr>
        <p:txBody>
          <a:bodyPr wrap="square" lIns="0" tIns="0" rIns="0" bIns="0" rtlCol="0" anchor="ctr"/>
          <a:lstStyle/>
          <a:p>
            <a:pPr algn="ctr" indent="0" marL="0">
              <a:buNone/>
            </a:pPr>
            <a:r>
              <a:rPr lang="en-IE" sz="1400" b="1" dirty="0">
                <a:solidFill>
                  <a:schemeClr val="tx1"/>
                </a:solidFill>
              </a:rPr>
              <a:t>: Employee</a:t>
            </a:r>
            <a:endParaRPr lang="en-IE" sz="1400" dirty="0"/>
          </a:p>
        </p:txBody>
      </p:sp>
      <p:sp>
        <p:nvSpPr>
          <p:cNvPr id="12" name=": Employee attributes"/>
          <p:cNvSpPr txBox="1"/>
          <p:nvPr/>
        </p:nvSpPr>
        <p:spPr>
          <a:xfrm>
            <a:off x="3557016" y="3474720"/>
            <a:ext cx="1572768" cy="248602"/>
          </a:xfrm>
          <a:prstGeom prst="rect">
            <a:avLst/>
          </a:prstGeom>
          <a:noFill/>
          <a:ln/>
        </p:spPr>
        <p:txBody>
          <a:bodyPr wrap="square" lIns="0" tIns="0" rIns="0" bIns="0" rtlCol="0" anchor="t"/>
          <a:lstStyle/>
          <a:p>
            <a:pPr indent="0" marL="0">
              <a:lnSpc>
                <a:spcPts val="1958"/>
              </a:lnSpc>
              <a:buNone/>
            </a:pPr>
            <a:r>
              <a:rPr lang="en-IE" sz="1350" dirty="0">
                <a:solidFill>
                  <a:schemeClr val="tx1"/>
                </a:solidFill>
                <a:latin typeface="Consolas" pitchFamily="34" charset="0"/>
                <a:ea typeface="Consolas" pitchFamily="34" charset="-122"/>
                <a:cs typeface="Consolas" pitchFamily="34" charset="-120"/>
              </a:rPr>
              <a:t>name = "bob"</a:t>
            </a:r>
            <a:endParaRPr lang="en-IE" sz="1350" dirty="0"/>
          </a:p>
        </p:txBody>
      </p:sp>
      <p:sp>
        <p:nvSpPr>
          <p:cNvPr id="13" name="Connector"/>
          <p:cNvSpPr/>
          <p:nvPr/>
        </p:nvSpPr>
        <p:spPr>
          <a:xfrm>
            <a:off x="2926080" y="2999232"/>
            <a:ext cx="457200" cy="201168"/>
          </a:xfrm>
          <a:prstGeom prst="line">
            <a:avLst/>
          </a:prstGeom>
          <a:noFill/>
          <a:ln w="22225">
            <a:solidFill>
              <a:schemeClr val="accent2"/>
            </a:solidFill>
            <a:prstDash val="solid"/>
            <a:tailEnd type="triangle"/>
          </a:ln>
        </p:spPr>
      </p:sp>
      <p:sp>
        <p:nvSpPr>
          <p:cNvPr id="14" name="Connector"/>
          <p:cNvSpPr/>
          <p:nvPr/>
        </p:nvSpPr>
        <p:spPr>
          <a:xfrm flipV="1">
            <a:off x="2926080" y="3611880"/>
            <a:ext cx="457200" cy="393192"/>
          </a:xfrm>
          <a:prstGeom prst="line">
            <a:avLst/>
          </a:prstGeom>
          <a:noFill/>
          <a:ln w="22225">
            <a:solidFill>
              <a:schemeClr val="accent2"/>
            </a:solidFill>
            <a:prstDash val="solid"/>
            <a:tailEnd type="triangle"/>
          </a:ln>
        </p:spPr>
      </p:sp>
      <p:pic>
        <p:nvPicPr>
          <p:cNvPr id="15" name="Does not work" descr="Does not work">    </p:cNvPr>
          <p:cNvPicPr>
            <a:picLocks noChangeAspect="1"/>
          </p:cNvPicPr>
          <p:nvPr/>
        </p:nvPicPr>
        <p:blipFill>
          <a:blip r:embed="rId1"/>
          <a:stretch>
            <a:fillRect/>
          </a:stretch>
        </p:blipFill>
        <p:spPr>
          <a:xfrm>
            <a:off x="822960" y="4590288"/>
            <a:ext cx="347472" cy="347472"/>
          </a:xfrm>
          <a:prstGeom prst="rect">
            <a:avLst/>
          </a:prstGeom>
        </p:spPr>
      </p:pic>
      <p:sp>
        <p:nvSpPr>
          <p:cNvPr id="16" name="Text 12"/>
          <p:cNvSpPr txBox="1"/>
          <p:nvPr/>
        </p:nvSpPr>
        <p:spPr>
          <a:xfrm>
            <a:off x="1280160" y="4572000"/>
            <a:ext cx="4449928" cy="384048"/>
          </a:xfrm>
          <a:prstGeom prst="rect">
            <a:avLst/>
          </a:prstGeom>
          <a:noFill/>
          <a:ln/>
        </p:spPr>
        <p:txBody>
          <a:bodyPr wrap="square" lIns="0" tIns="0" rIns="0" bIns="0" rtlCol="0" anchor="ctr"/>
          <a:lstStyle/>
          <a:p>
            <a:pPr indent="0" marL="0">
              <a:buNone/>
            </a:pPr>
            <a:r>
              <a:rPr lang="en-IE" sz="1450" b="1" dirty="0">
                <a:solidFill>
                  <a:srgbClr val="C0392B"/>
                </a:solidFill>
              </a:rPr>
              <a:t>One object: a change shows through both</a:t>
            </a:r>
            <a:endParaRPr lang="en-IE" sz="1450" dirty="0"/>
          </a:p>
        </p:txBody>
      </p:sp>
      <p:sp>
        <p:nvSpPr>
          <p:cNvPr id="17" name="Real copy"/>
          <p:cNvSpPr/>
          <p:nvPr/>
        </p:nvSpPr>
        <p:spPr>
          <a:xfrm>
            <a:off x="6278728" y="1691640"/>
            <a:ext cx="5364328" cy="3520440"/>
          </a:xfrm>
          <a:prstGeom prst="roundRect">
            <a:avLst>
              <a:gd name="adj" fmla="val 3117"/>
            </a:avLst>
          </a:prstGeom>
          <a:solidFill>
            <a:schemeClr val="bg1"/>
          </a:solidFill>
          <a:ln/>
          <a:effectLst>
            <a:outerShdw sx="100000" sy="100000" kx="0" ky="0" algn="bl" rotWithShape="0" blurRad="114300" dist="31750" dir="5400000">
              <a:srgbClr val="1D2433">
                <a:alpha val="12000"/>
              </a:srgbClr>
            </a:outerShdw>
          </a:effectLst>
        </p:spPr>
      </p:sp>
      <p:sp>
        <p:nvSpPr>
          <p:cNvPr id="18" name="Code chip"/>
          <p:cNvSpPr/>
          <p:nvPr/>
        </p:nvSpPr>
        <p:spPr>
          <a:xfrm>
            <a:off x="6553048" y="1920240"/>
            <a:ext cx="4815688" cy="457200"/>
          </a:xfrm>
          <a:prstGeom prst="roundRect">
            <a:avLst>
              <a:gd name="adj" fmla="val 16000"/>
            </a:avLst>
          </a:prstGeom>
          <a:solidFill>
            <a:schemeClr val="bg2"/>
          </a:solidFill>
          <a:ln/>
        </p:spPr>
        <p:txBody>
          <a:bodyPr wrap="square" lIns="0" tIns="0" rIns="0" bIns="0" rtlCol="0" anchor="ctr"/>
          <a:lstStyle/>
          <a:p>
            <a:pPr algn="ctr" indent="0" marL="0">
              <a:buNone/>
            </a:pPr>
            <a:r>
              <a:rPr lang="en-IE" sz="1500" dirty="0">
                <a:solidFill>
                  <a:schemeClr val="accent2"/>
                </a:solidFill>
                <a:latin typeface="Consolas" pitchFamily="34" charset="0"/>
                <a:ea typeface="Consolas" pitchFamily="34" charset="-122"/>
                <a:cs typeface="Consolas" pitchFamily="34" charset="-120"/>
              </a:rPr>
              <a:t>clone() or a copy constructor</a:t>
            </a:r>
            <a:endParaRPr lang="en-IE" sz="1500" dirty="0"/>
          </a:p>
        </p:txBody>
      </p:sp>
      <p:sp>
        <p:nvSpPr>
          <p:cNvPr id="19" name="Variable employeeOne"/>
          <p:cNvSpPr/>
          <p:nvPr/>
        </p:nvSpPr>
        <p:spPr>
          <a:xfrm>
            <a:off x="6553048" y="2743200"/>
            <a:ext cx="2057400" cy="512064"/>
          </a:xfrm>
          <a:prstGeom prst="roundRect">
            <a:avLst>
              <a:gd name="adj" fmla="val 17857"/>
            </a:avLst>
          </a:prstGeom>
          <a:solidFill>
            <a:schemeClr val="bg1"/>
          </a:solidFill>
          <a:ln w="19050">
            <a:solidFill>
              <a:schemeClr val="accent2"/>
            </a:solidFill>
          </a:ln>
        </p:spPr>
        <p:txBody>
          <a:bodyPr wrap="square" lIns="0" tIns="0" rIns="0" bIns="0" rtlCol="0" anchor="ctr"/>
          <a:lstStyle/>
          <a:p>
            <a:pPr algn="ctr" indent="0" marL="0">
              <a:buNone/>
            </a:pPr>
            <a:r>
              <a:rPr lang="en-IE" sz="1400" b="1" dirty="0">
                <a:solidFill>
                  <a:schemeClr val="accent2"/>
                </a:solidFill>
                <a:latin typeface="Consolas" pitchFamily="34" charset="0"/>
                <a:ea typeface="Consolas" pitchFamily="34" charset="-122"/>
                <a:cs typeface="Consolas" pitchFamily="34" charset="-120"/>
              </a:rPr>
              <a:t>employeeOne</a:t>
            </a:r>
            <a:endParaRPr lang="en-IE" sz="1400" dirty="0"/>
          </a:p>
        </p:txBody>
      </p:sp>
      <p:sp>
        <p:nvSpPr>
          <p:cNvPr id="20" name="Variable employeeTwo"/>
          <p:cNvSpPr/>
          <p:nvPr/>
        </p:nvSpPr>
        <p:spPr>
          <a:xfrm>
            <a:off x="6553048" y="3749040"/>
            <a:ext cx="2057400" cy="512064"/>
          </a:xfrm>
          <a:prstGeom prst="roundRect">
            <a:avLst>
              <a:gd name="adj" fmla="val 17857"/>
            </a:avLst>
          </a:prstGeom>
          <a:solidFill>
            <a:schemeClr val="bg1"/>
          </a:solidFill>
          <a:ln w="19050">
            <a:solidFill>
              <a:schemeClr val="accent2"/>
            </a:solidFill>
          </a:ln>
        </p:spPr>
        <p:txBody>
          <a:bodyPr wrap="square" lIns="0" tIns="0" rIns="0" bIns="0" rtlCol="0" anchor="ctr"/>
          <a:lstStyle/>
          <a:p>
            <a:pPr algn="ctr" indent="0" marL="0">
              <a:buNone/>
            </a:pPr>
            <a:r>
              <a:rPr lang="en-IE" sz="1400" b="1" dirty="0">
                <a:solidFill>
                  <a:schemeClr val="accent2"/>
                </a:solidFill>
                <a:latin typeface="Consolas" pitchFamily="34" charset="0"/>
                <a:ea typeface="Consolas" pitchFamily="34" charset="-122"/>
                <a:cs typeface="Consolas" pitchFamily="34" charset="-120"/>
              </a:rPr>
              <a:t>employeeTwo</a:t>
            </a:r>
            <a:endParaRPr lang="en-IE" sz="1400" dirty="0"/>
          </a:p>
        </p:txBody>
      </p:sp>
      <p:sp>
        <p:nvSpPr>
          <p:cNvPr id="21" name="Class : Employee"/>
          <p:cNvSpPr/>
          <p:nvPr/>
        </p:nvSpPr>
        <p:spPr>
          <a:xfrm>
            <a:off x="9159088" y="2514600"/>
            <a:ext cx="1828800" cy="888683"/>
          </a:xfrm>
          <a:prstGeom prst="rect">
            <a:avLst/>
          </a:prstGeom>
          <a:solidFill>
            <a:schemeClr val="bg1"/>
          </a:solidFill>
          <a:ln w="19050">
            <a:solidFill>
              <a:schemeClr val="accent4"/>
            </a:solidFill>
            <a:prstDash val="solid"/>
          </a:ln>
          <a:effectLst>
            <a:outerShdw sx="100000" sy="100000" kx="0" ky="0" algn="bl" rotWithShape="0" blurRad="76200" dist="19050" dir="5400000">
              <a:srgbClr val="1D2433">
                <a:alpha val="8000"/>
              </a:srgbClr>
            </a:outerShdw>
          </a:effectLst>
        </p:spPr>
      </p:sp>
      <p:sp>
        <p:nvSpPr>
          <p:cNvPr id="22" name="Class : Employee header"/>
          <p:cNvSpPr/>
          <p:nvPr/>
        </p:nvSpPr>
        <p:spPr>
          <a:xfrm>
            <a:off x="9159088" y="2514600"/>
            <a:ext cx="1828800" cy="457200"/>
          </a:xfrm>
          <a:prstGeom prst="rect">
            <a:avLst/>
          </a:prstGeom>
          <a:solidFill>
            <a:schemeClr val="accent4">
              <a:alpha val="14000"/>
            </a:schemeClr>
          </a:solidFill>
          <a:ln w="19050">
            <a:solidFill>
              <a:schemeClr val="accent4"/>
            </a:solidFill>
            <a:prstDash val="solid"/>
          </a:ln>
        </p:spPr>
      </p:sp>
      <p:sp>
        <p:nvSpPr>
          <p:cNvPr id="23" name="Text 19"/>
          <p:cNvSpPr txBox="1"/>
          <p:nvPr/>
        </p:nvSpPr>
        <p:spPr>
          <a:xfrm>
            <a:off x="9159088" y="2551176"/>
            <a:ext cx="1828800" cy="384048"/>
          </a:xfrm>
          <a:prstGeom prst="rect">
            <a:avLst/>
          </a:prstGeom>
          <a:noFill/>
          <a:ln/>
        </p:spPr>
        <p:txBody>
          <a:bodyPr wrap="square" lIns="0" tIns="0" rIns="0" bIns="0" rtlCol="0" anchor="ctr"/>
          <a:lstStyle/>
          <a:p>
            <a:pPr algn="ctr" indent="0" marL="0">
              <a:buNone/>
            </a:pPr>
            <a:r>
              <a:rPr lang="en-IE" sz="1400" b="1" dirty="0">
                <a:solidFill>
                  <a:schemeClr val="tx1"/>
                </a:solidFill>
              </a:rPr>
              <a:t>: Employee</a:t>
            </a:r>
            <a:endParaRPr lang="en-IE" sz="1400" dirty="0"/>
          </a:p>
        </p:txBody>
      </p:sp>
      <p:sp>
        <p:nvSpPr>
          <p:cNvPr id="24" name=": Employee attributes"/>
          <p:cNvSpPr txBox="1"/>
          <p:nvPr/>
        </p:nvSpPr>
        <p:spPr>
          <a:xfrm>
            <a:off x="9287104" y="3063240"/>
            <a:ext cx="1572768" cy="248602"/>
          </a:xfrm>
          <a:prstGeom prst="rect">
            <a:avLst/>
          </a:prstGeom>
          <a:noFill/>
          <a:ln/>
        </p:spPr>
        <p:txBody>
          <a:bodyPr wrap="square" lIns="0" tIns="0" rIns="0" bIns="0" rtlCol="0" anchor="t"/>
          <a:lstStyle/>
          <a:p>
            <a:pPr indent="0" marL="0">
              <a:lnSpc>
                <a:spcPts val="1958"/>
              </a:lnSpc>
              <a:buNone/>
            </a:pPr>
            <a:r>
              <a:rPr lang="en-IE" sz="1350" dirty="0">
                <a:solidFill>
                  <a:schemeClr val="tx1"/>
                </a:solidFill>
                <a:latin typeface="Consolas" pitchFamily="34" charset="0"/>
                <a:ea typeface="Consolas" pitchFamily="34" charset="-122"/>
                <a:cs typeface="Consolas" pitchFamily="34" charset="-120"/>
              </a:rPr>
              <a:t>name = "bob"</a:t>
            </a:r>
            <a:endParaRPr lang="en-IE" sz="1350" dirty="0"/>
          </a:p>
        </p:txBody>
      </p:sp>
      <p:sp>
        <p:nvSpPr>
          <p:cNvPr id="25" name="Class : Employee"/>
          <p:cNvSpPr/>
          <p:nvPr/>
        </p:nvSpPr>
        <p:spPr>
          <a:xfrm>
            <a:off x="9159088" y="3611880"/>
            <a:ext cx="1828800" cy="888683"/>
          </a:xfrm>
          <a:prstGeom prst="rect">
            <a:avLst/>
          </a:prstGeom>
          <a:solidFill>
            <a:schemeClr val="bg1"/>
          </a:solidFill>
          <a:ln w="19050">
            <a:solidFill>
              <a:schemeClr val="accent3"/>
            </a:solidFill>
            <a:prstDash val="solid"/>
          </a:ln>
          <a:effectLst>
            <a:outerShdw sx="100000" sy="100000" kx="0" ky="0" algn="bl" rotWithShape="0" blurRad="76200" dist="19050" dir="5400000">
              <a:srgbClr val="1D2433">
                <a:alpha val="8000"/>
              </a:srgbClr>
            </a:outerShdw>
          </a:effectLst>
        </p:spPr>
      </p:sp>
      <p:sp>
        <p:nvSpPr>
          <p:cNvPr id="26" name="Class : Employee header"/>
          <p:cNvSpPr/>
          <p:nvPr/>
        </p:nvSpPr>
        <p:spPr>
          <a:xfrm>
            <a:off x="9159088" y="3611880"/>
            <a:ext cx="1828800" cy="457200"/>
          </a:xfrm>
          <a:prstGeom prst="rect">
            <a:avLst/>
          </a:prstGeom>
          <a:solidFill>
            <a:schemeClr val="accent3">
              <a:alpha val="14000"/>
            </a:schemeClr>
          </a:solidFill>
          <a:ln w="19050">
            <a:solidFill>
              <a:schemeClr val="accent3"/>
            </a:solidFill>
            <a:prstDash val="solid"/>
          </a:ln>
        </p:spPr>
      </p:sp>
      <p:sp>
        <p:nvSpPr>
          <p:cNvPr id="27" name="Text 23"/>
          <p:cNvSpPr txBox="1"/>
          <p:nvPr/>
        </p:nvSpPr>
        <p:spPr>
          <a:xfrm>
            <a:off x="9159088" y="3648456"/>
            <a:ext cx="1828800" cy="384048"/>
          </a:xfrm>
          <a:prstGeom prst="rect">
            <a:avLst/>
          </a:prstGeom>
          <a:noFill/>
          <a:ln/>
        </p:spPr>
        <p:txBody>
          <a:bodyPr wrap="square" lIns="0" tIns="0" rIns="0" bIns="0" rtlCol="0" anchor="ctr"/>
          <a:lstStyle/>
          <a:p>
            <a:pPr algn="ctr" indent="0" marL="0">
              <a:buNone/>
            </a:pPr>
            <a:r>
              <a:rPr lang="en-IE" sz="1400" b="1" dirty="0">
                <a:solidFill>
                  <a:schemeClr val="tx1"/>
                </a:solidFill>
              </a:rPr>
              <a:t>: Employee</a:t>
            </a:r>
            <a:endParaRPr lang="en-IE" sz="1400" dirty="0"/>
          </a:p>
        </p:txBody>
      </p:sp>
      <p:sp>
        <p:nvSpPr>
          <p:cNvPr id="28" name=": Employee attributes"/>
          <p:cNvSpPr txBox="1"/>
          <p:nvPr/>
        </p:nvSpPr>
        <p:spPr>
          <a:xfrm>
            <a:off x="9287104" y="4160520"/>
            <a:ext cx="1572768" cy="248602"/>
          </a:xfrm>
          <a:prstGeom prst="rect">
            <a:avLst/>
          </a:prstGeom>
          <a:noFill/>
          <a:ln/>
        </p:spPr>
        <p:txBody>
          <a:bodyPr wrap="square" lIns="0" tIns="0" rIns="0" bIns="0" rtlCol="0" anchor="t"/>
          <a:lstStyle/>
          <a:p>
            <a:pPr indent="0" marL="0">
              <a:lnSpc>
                <a:spcPts val="1958"/>
              </a:lnSpc>
              <a:buNone/>
            </a:pPr>
            <a:r>
              <a:rPr lang="en-IE" sz="1350" dirty="0">
                <a:solidFill>
                  <a:schemeClr val="tx1"/>
                </a:solidFill>
                <a:latin typeface="Consolas" pitchFamily="34" charset="0"/>
                <a:ea typeface="Consolas" pitchFamily="34" charset="-122"/>
                <a:cs typeface="Consolas" pitchFamily="34" charset="-120"/>
              </a:rPr>
              <a:t>name = "bob"</a:t>
            </a:r>
            <a:endParaRPr lang="en-IE" sz="1350" dirty="0"/>
          </a:p>
        </p:txBody>
      </p:sp>
      <p:sp>
        <p:nvSpPr>
          <p:cNvPr id="29" name="Connector"/>
          <p:cNvSpPr/>
          <p:nvPr/>
        </p:nvSpPr>
        <p:spPr>
          <a:xfrm flipV="1">
            <a:off x="8656168" y="2971800"/>
            <a:ext cx="457200" cy="27432"/>
          </a:xfrm>
          <a:prstGeom prst="line">
            <a:avLst/>
          </a:prstGeom>
          <a:noFill/>
          <a:ln w="22225">
            <a:solidFill>
              <a:schemeClr val="accent2"/>
            </a:solidFill>
            <a:prstDash val="solid"/>
            <a:tailEnd type="triangle"/>
          </a:ln>
        </p:spPr>
      </p:sp>
      <p:sp>
        <p:nvSpPr>
          <p:cNvPr id="30" name="Connector"/>
          <p:cNvSpPr/>
          <p:nvPr/>
        </p:nvSpPr>
        <p:spPr>
          <a:xfrm>
            <a:off x="8656168" y="4005072"/>
            <a:ext cx="457200" cy="64008"/>
          </a:xfrm>
          <a:prstGeom prst="line">
            <a:avLst/>
          </a:prstGeom>
          <a:noFill/>
          <a:ln w="22225">
            <a:solidFill>
              <a:schemeClr val="accent2"/>
            </a:solidFill>
            <a:prstDash val="solid"/>
            <a:tailEnd type="triangle"/>
          </a:ln>
        </p:spPr>
      </p:sp>
      <p:pic>
        <p:nvPicPr>
          <p:cNvPr id="31" name="Works" descr="Works">    </p:cNvPr>
          <p:cNvPicPr>
            <a:picLocks noChangeAspect="1"/>
          </p:cNvPicPr>
          <p:nvPr/>
        </p:nvPicPr>
        <p:blipFill>
          <a:blip r:embed="rId2"/>
          <a:stretch>
            <a:fillRect/>
          </a:stretch>
        </p:blipFill>
        <p:spPr>
          <a:xfrm>
            <a:off x="6553048" y="4590288"/>
            <a:ext cx="347472" cy="347472"/>
          </a:xfrm>
          <a:prstGeom prst="rect">
            <a:avLst/>
          </a:prstGeom>
        </p:spPr>
      </p:pic>
      <p:sp>
        <p:nvSpPr>
          <p:cNvPr id="32" name="Text 27"/>
          <p:cNvSpPr txBox="1"/>
          <p:nvPr/>
        </p:nvSpPr>
        <p:spPr>
          <a:xfrm>
            <a:off x="7010248" y="4572000"/>
            <a:ext cx="4449928" cy="384048"/>
          </a:xfrm>
          <a:prstGeom prst="rect">
            <a:avLst/>
          </a:prstGeom>
          <a:noFill/>
          <a:ln/>
        </p:spPr>
        <p:txBody>
          <a:bodyPr wrap="square" lIns="0" tIns="0" rIns="0" bIns="0" rtlCol="0" anchor="ctr"/>
          <a:lstStyle/>
          <a:p>
            <a:pPr indent="0" marL="0">
              <a:buNone/>
            </a:pPr>
            <a:r>
              <a:rPr lang="en-IE" sz="1450" b="1" dirty="0">
                <a:solidFill>
                  <a:schemeClr val="accent3"/>
                </a:solidFill>
              </a:rPr>
              <a:t>Two objects that can change separately</a:t>
            </a:r>
            <a:endParaRPr lang="en-IE" sz="1450" dirty="0"/>
          </a:p>
        </p:txBody>
      </p:sp>
      <p:sp>
        <p:nvSpPr>
          <p:cNvPr id="33" name="Note"/>
          <p:cNvSpPr/>
          <p:nvPr/>
        </p:nvSpPr>
        <p:spPr>
          <a:xfrm>
            <a:off x="548640" y="5440680"/>
            <a:ext cx="11094415" cy="685800"/>
          </a:xfrm>
          <a:prstGeom prst="roundRect">
            <a:avLst>
              <a:gd name="adj" fmla="val 16000"/>
            </a:avLst>
          </a:prstGeom>
          <a:solidFill>
            <a:schemeClr val="bg2"/>
          </a:solidFill>
          <a:ln/>
        </p:spPr>
      </p:sp>
      <p:sp>
        <p:nvSpPr>
          <p:cNvPr id="34" name="Icon tile"/>
          <p:cNvSpPr/>
          <p:nvPr/>
        </p:nvSpPr>
        <p:spPr>
          <a:xfrm>
            <a:off x="822960" y="5518404"/>
            <a:ext cx="530352" cy="530352"/>
          </a:xfrm>
          <a:prstGeom prst="roundRect">
            <a:avLst>
              <a:gd name="adj" fmla="val 24000"/>
            </a:avLst>
          </a:prstGeom>
          <a:solidFill>
            <a:schemeClr val="accent3">
              <a:alpha val="14000"/>
            </a:schemeClr>
          </a:solidFill>
          <a:ln/>
        </p:spPr>
      </p:sp>
      <p:pic>
        <p:nvPicPr>
          <p:cNvPr id="35" name="copy icon" descr="copy icon">    </p:cNvPr>
          <p:cNvPicPr>
            <a:picLocks noChangeAspect="1"/>
          </p:cNvPicPr>
          <p:nvPr/>
        </p:nvPicPr>
        <p:blipFill>
          <a:blip r:embed="rId3"/>
          <a:stretch>
            <a:fillRect/>
          </a:stretch>
        </p:blipFill>
        <p:spPr>
          <a:xfrm>
            <a:off x="934334" y="5629778"/>
            <a:ext cx="307604" cy="307604"/>
          </a:xfrm>
          <a:prstGeom prst="rect">
            <a:avLst/>
          </a:prstGeom>
        </p:spPr>
      </p:pic>
      <p:sp>
        <p:nvSpPr>
          <p:cNvPr id="36" name="Text 30"/>
          <p:cNvSpPr txBox="1"/>
          <p:nvPr/>
        </p:nvSpPr>
        <p:spPr>
          <a:xfrm>
            <a:off x="1572768" y="5440680"/>
            <a:ext cx="9814255" cy="685800"/>
          </a:xfrm>
          <a:prstGeom prst="rect">
            <a:avLst/>
          </a:prstGeom>
          <a:noFill/>
          <a:ln/>
        </p:spPr>
        <p:txBody>
          <a:bodyPr wrap="square" lIns="0" tIns="0" rIns="0" bIns="0" rtlCol="0" anchor="ctr"/>
          <a:lstStyle/>
          <a:p>
            <a:pPr indent="0" marL="0">
              <a:buNone/>
            </a:pPr>
            <a:r>
              <a:rPr lang="en-IE" sz="1600" dirty="0">
                <a:solidFill>
                  <a:schemeClr val="tx1"/>
                </a:solidFill>
              </a:rPr>
              <a:t>Two ways to make a real copy: </a:t>
            </a:r>
            <a:r>
              <a:rPr lang="en-IE" sz="1600" dirty="0">
                <a:solidFill>
                  <a:schemeClr val="accent2"/>
                </a:solidFill>
                <a:latin typeface="Consolas" pitchFamily="34" charset="0"/>
                <a:ea typeface="Consolas" pitchFamily="34" charset="-122"/>
                <a:cs typeface="Consolas" pitchFamily="34" charset="-120"/>
              </a:rPr>
              <a:t>clone()</a:t>
            </a:r>
            <a:r>
              <a:rPr lang="en-IE" sz="1600" dirty="0">
                <a:solidFill>
                  <a:schemeClr val="tx1"/>
                </a:solidFill>
              </a:rPr>
              <a:t> and copy constructors.</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39</a:t>
            </a:fld>
            <a:endParaRPr lang="en-IE"/>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12</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Copying objects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clone() give us that </a:t>
            </a:r>
            <a:r>
              <a:rPr lang="en-IE" sz="2800" b="1" dirty="0">
                <a:solidFill>
                  <a:schemeClr val="accent2"/>
                </a:solidFill>
                <a:latin typeface="Consolas" pitchFamily="34" charset="0"/>
                <a:ea typeface="Consolas" pitchFamily="34" charset="-122"/>
                <a:cs typeface="Consolas" pitchFamily="34" charset="-120"/>
              </a:rPr>
              <a:t>employeeTwo = employeeOne;</a:t>
            </a:r>
            <a:r>
              <a:rPr lang="en-IE" sz="2800" b="1" dirty="0">
                <a:solidFill>
                  <a:schemeClr val="tx1"/>
                </a:solidFill>
              </a:rPr>
              <a:t> doesn’t?</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second object with the same attribute values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second variable for the same object</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new object with all its attributes empty</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list with the object sorted into it</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40</a:t>
            </a:fld>
            <a:endParaRPr lang="en-IE"/>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12</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Copying objects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clone() give us that </a:t>
            </a:r>
            <a:r>
              <a:rPr lang="en-IE" sz="2000" b="1" dirty="0">
                <a:solidFill>
                  <a:schemeClr val="tx2"/>
                </a:solidFill>
                <a:latin typeface="Consolas" pitchFamily="34" charset="0"/>
                <a:ea typeface="Consolas" pitchFamily="34" charset="-122"/>
                <a:cs typeface="Consolas" pitchFamily="34" charset="-120"/>
              </a:rPr>
              <a:t>employeeTwo = employeeOne;</a:t>
            </a:r>
            <a:r>
              <a:rPr lang="en-IE" sz="2000" b="1" dirty="0">
                <a:solidFill>
                  <a:schemeClr val="tx2"/>
                </a:solidFill>
              </a:rPr>
              <a:t> doesn’t?</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A second object with the same attribute values</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A second variable for the same object</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A new object with all its attributes empty</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A list with the object sorted into it</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employeeTwo = employeeOne;</a:t>
            </a:r>
            <a:r>
              <a:rPr lang="en-IE" sz="1800" dirty="0">
                <a:solidFill>
                  <a:schemeClr val="tx1"/>
                </a:solidFill>
              </a:rPr>
              <a:t> only copies the reference, so both variables point at one object (B). </a:t>
            </a:r>
            <a:r>
              <a:rPr lang="en-IE" sz="1800" dirty="0">
                <a:solidFill>
                  <a:schemeClr val="accent2"/>
                </a:solidFill>
                <a:latin typeface="Consolas" pitchFamily="34" charset="0"/>
                <a:ea typeface="Consolas" pitchFamily="34" charset="-122"/>
                <a:cs typeface="Consolas" pitchFamily="34" charset="-120"/>
              </a:rPr>
              <a:t>clone()</a:t>
            </a:r>
            <a:r>
              <a:rPr lang="en-IE" sz="1800" dirty="0">
                <a:solidFill>
                  <a:schemeClr val="tx1"/>
                </a:solidFill>
              </a:rPr>
              <a:t> makes a second object and copies the attribute values into it, so the two can then change separately.</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41</a:t>
            </a:fld>
            <a:endParaRPr lang="en-IE"/>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COPYING OBJECTS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Making a class cloneable</a:t>
            </a:r>
            <a:endParaRPr lang="en-IE" sz="3400" dirty="0"/>
          </a:p>
        </p:txBody>
      </p:sp>
      <p:sp>
        <p:nvSpPr>
          <p:cNvPr id="5" name="Implement Cloneable"/>
          <p:cNvSpPr/>
          <p:nvPr/>
        </p:nvSpPr>
        <p:spPr>
          <a:xfrm>
            <a:off x="548640" y="1737360"/>
            <a:ext cx="4937760" cy="1188720"/>
          </a:xfrm>
          <a:prstGeom prst="roundRect">
            <a:avLst>
              <a:gd name="adj" fmla="val 9231"/>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749808" y="2011680"/>
            <a:ext cx="603504" cy="603504"/>
          </a:xfrm>
          <a:prstGeom prst="roundRect">
            <a:avLst>
              <a:gd name="adj" fmla="val 24000"/>
            </a:avLst>
          </a:prstGeom>
          <a:solidFill>
            <a:schemeClr val="accent2">
              <a:alpha val="14000"/>
            </a:schemeClr>
          </a:solidFill>
          <a:ln/>
        </p:spPr>
      </p:sp>
      <p:pic>
        <p:nvPicPr>
          <p:cNvPr id="7" name="tag icon" descr="tag icon">    </p:cNvPr>
          <p:cNvPicPr>
            <a:picLocks noChangeAspect="1"/>
          </p:cNvPicPr>
          <p:nvPr/>
        </p:nvPicPr>
        <p:blipFill>
          <a:blip r:embed="rId1"/>
          <a:stretch>
            <a:fillRect/>
          </a:stretch>
        </p:blipFill>
        <p:spPr>
          <a:xfrm>
            <a:off x="876544" y="2138416"/>
            <a:ext cx="350032" cy="350032"/>
          </a:xfrm>
          <a:prstGeom prst="rect">
            <a:avLst/>
          </a:prstGeom>
        </p:spPr>
      </p:pic>
      <p:sp>
        <p:nvSpPr>
          <p:cNvPr id="8" name="Text 4"/>
          <p:cNvSpPr txBox="1"/>
          <p:nvPr/>
        </p:nvSpPr>
        <p:spPr>
          <a:xfrm>
            <a:off x="1554480" y="1865376"/>
            <a:ext cx="3749040" cy="384048"/>
          </a:xfrm>
          <a:prstGeom prst="rect">
            <a:avLst/>
          </a:prstGeom>
          <a:noFill/>
          <a:ln/>
        </p:spPr>
        <p:txBody>
          <a:bodyPr wrap="square" lIns="0" tIns="0" rIns="0" bIns="0" rtlCol="0" anchor="ctr"/>
          <a:lstStyle/>
          <a:p>
            <a:pPr indent="0" marL="0">
              <a:buNone/>
            </a:pPr>
            <a:r>
              <a:rPr lang="en-IE" sz="1700" b="1" dirty="0">
                <a:solidFill>
                  <a:schemeClr val="tx1"/>
                </a:solidFill>
              </a:rPr>
              <a:t>1. Implement Cloneable</a:t>
            </a:r>
            <a:endParaRPr lang="en-IE" sz="1700" dirty="0"/>
          </a:p>
        </p:txBody>
      </p:sp>
      <p:sp>
        <p:nvSpPr>
          <p:cNvPr id="9" name="Text 5"/>
          <p:cNvSpPr txBox="1"/>
          <p:nvPr/>
        </p:nvSpPr>
        <p:spPr>
          <a:xfrm>
            <a:off x="1554480" y="2249424"/>
            <a:ext cx="3749040" cy="594360"/>
          </a:xfrm>
          <a:prstGeom prst="rect">
            <a:avLst/>
          </a:prstGeom>
          <a:noFill/>
          <a:ln/>
        </p:spPr>
        <p:txBody>
          <a:bodyPr wrap="square" lIns="0" tIns="0" rIns="0" bIns="0" rtlCol="0" anchor="t"/>
          <a:lstStyle/>
          <a:p>
            <a:pPr indent="0" marL="0">
              <a:buNone/>
            </a:pPr>
            <a:r>
              <a:rPr lang="en-IE" sz="1400" dirty="0">
                <a:solidFill>
                  <a:schemeClr val="tx2"/>
                </a:solidFill>
              </a:rPr>
              <a:t>It has no methods. It just tells Java this class may be cloned.</a:t>
            </a:r>
            <a:endParaRPr lang="en-IE" sz="1400" dirty="0"/>
          </a:p>
        </p:txBody>
      </p:sp>
      <p:sp>
        <p:nvSpPr>
          <p:cNvPr id="10" name="Override clone()"/>
          <p:cNvSpPr/>
          <p:nvPr/>
        </p:nvSpPr>
        <p:spPr>
          <a:xfrm>
            <a:off x="548640" y="3108960"/>
            <a:ext cx="4937760" cy="1188720"/>
          </a:xfrm>
          <a:prstGeom prst="roundRect">
            <a:avLst>
              <a:gd name="adj" fmla="val 9231"/>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749808" y="3383280"/>
            <a:ext cx="603504" cy="603504"/>
          </a:xfrm>
          <a:prstGeom prst="roundRect">
            <a:avLst>
              <a:gd name="adj" fmla="val 24000"/>
            </a:avLst>
          </a:prstGeom>
          <a:solidFill>
            <a:schemeClr val="accent4">
              <a:alpha val="14000"/>
            </a:schemeClr>
          </a:solidFill>
          <a:ln/>
        </p:spPr>
      </p:sp>
      <p:pic>
        <p:nvPicPr>
          <p:cNvPr id="12" name="arrows clockwise icon" descr="arrows clockwise icon">    </p:cNvPr>
          <p:cNvPicPr>
            <a:picLocks noChangeAspect="1"/>
          </p:cNvPicPr>
          <p:nvPr/>
        </p:nvPicPr>
        <p:blipFill>
          <a:blip r:embed="rId2"/>
          <a:stretch>
            <a:fillRect/>
          </a:stretch>
        </p:blipFill>
        <p:spPr>
          <a:xfrm>
            <a:off x="876544" y="3510016"/>
            <a:ext cx="350032" cy="350032"/>
          </a:xfrm>
          <a:prstGeom prst="rect">
            <a:avLst/>
          </a:prstGeom>
        </p:spPr>
      </p:pic>
      <p:sp>
        <p:nvSpPr>
          <p:cNvPr id="13" name="Text 8"/>
          <p:cNvSpPr txBox="1"/>
          <p:nvPr/>
        </p:nvSpPr>
        <p:spPr>
          <a:xfrm>
            <a:off x="1554480" y="3236976"/>
            <a:ext cx="3749040" cy="384048"/>
          </a:xfrm>
          <a:prstGeom prst="rect">
            <a:avLst/>
          </a:prstGeom>
          <a:noFill/>
          <a:ln/>
        </p:spPr>
        <p:txBody>
          <a:bodyPr wrap="square" lIns="0" tIns="0" rIns="0" bIns="0" rtlCol="0" anchor="ctr"/>
          <a:lstStyle/>
          <a:p>
            <a:pPr indent="0" marL="0">
              <a:buNone/>
            </a:pPr>
            <a:r>
              <a:rPr lang="en-IE" sz="1700" b="1" dirty="0">
                <a:solidFill>
                  <a:schemeClr val="tx1"/>
                </a:solidFill>
              </a:rPr>
              <a:t>2. Override clone()</a:t>
            </a:r>
            <a:endParaRPr lang="en-IE" sz="1700" dirty="0"/>
          </a:p>
        </p:txBody>
      </p:sp>
      <p:sp>
        <p:nvSpPr>
          <p:cNvPr id="14" name="Text 9"/>
          <p:cNvSpPr txBox="1"/>
          <p:nvPr/>
        </p:nvSpPr>
        <p:spPr>
          <a:xfrm>
            <a:off x="1554480" y="3621024"/>
            <a:ext cx="3749040" cy="594360"/>
          </a:xfrm>
          <a:prstGeom prst="rect">
            <a:avLst/>
          </a:prstGeom>
          <a:noFill/>
          <a:ln/>
        </p:spPr>
        <p:txBody>
          <a:bodyPr wrap="square" lIns="0" tIns="0" rIns="0" bIns="0" rtlCol="0" anchor="t"/>
          <a:lstStyle/>
          <a:p>
            <a:pPr indent="0" marL="0">
              <a:buNone/>
            </a:pPr>
            <a:r>
              <a:rPr lang="en-IE" sz="1400" dirty="0">
                <a:solidFill>
                  <a:schemeClr val="tx2"/>
                </a:solidFill>
              </a:rPr>
              <a:t>Call </a:t>
            </a:r>
            <a:r>
              <a:rPr lang="en-IE" sz="1400" dirty="0">
                <a:solidFill>
                  <a:schemeClr val="accent2"/>
                </a:solidFill>
                <a:latin typeface="Consolas" pitchFamily="34" charset="0"/>
                <a:ea typeface="Consolas" pitchFamily="34" charset="-122"/>
                <a:cs typeface="Consolas" pitchFamily="34" charset="-120"/>
              </a:rPr>
              <a:t>super.clone()</a:t>
            </a:r>
            <a:r>
              <a:rPr lang="en-IE" sz="1400" dirty="0">
                <a:solidFill>
                  <a:schemeClr val="tx2"/>
                </a:solidFill>
              </a:rPr>
              <a:t>, which copies every attribute.</a:t>
            </a:r>
            <a:endParaRPr lang="en-IE" sz="1400" dirty="0"/>
          </a:p>
        </p:txBody>
      </p:sp>
      <p:sp>
        <p:nvSpPr>
          <p:cNvPr id="15" name="Deal with the exception"/>
          <p:cNvSpPr/>
          <p:nvPr/>
        </p:nvSpPr>
        <p:spPr>
          <a:xfrm>
            <a:off x="548640" y="4480560"/>
            <a:ext cx="4937760" cy="1188720"/>
          </a:xfrm>
          <a:prstGeom prst="roundRect">
            <a:avLst>
              <a:gd name="adj" fmla="val 9231"/>
            </a:avLst>
          </a:prstGeom>
          <a:solidFill>
            <a:schemeClr val="bg1"/>
          </a:solidFill>
          <a:ln/>
          <a:effectLst>
            <a:outerShdw sx="100000" sy="100000" kx="0" ky="0" algn="bl" rotWithShape="0" blurRad="114300" dist="31750" dir="5400000">
              <a:srgbClr val="1D2433">
                <a:alpha val="12000"/>
              </a:srgbClr>
            </a:outerShdw>
          </a:effectLst>
        </p:spPr>
      </p:sp>
      <p:sp>
        <p:nvSpPr>
          <p:cNvPr id="16" name="Icon tile"/>
          <p:cNvSpPr/>
          <p:nvPr/>
        </p:nvSpPr>
        <p:spPr>
          <a:xfrm>
            <a:off x="749808" y="4754880"/>
            <a:ext cx="603504" cy="603504"/>
          </a:xfrm>
          <a:prstGeom prst="roundRect">
            <a:avLst>
              <a:gd name="adj" fmla="val 24000"/>
            </a:avLst>
          </a:prstGeom>
          <a:solidFill>
            <a:schemeClr val="accent1">
              <a:alpha val="14000"/>
            </a:schemeClr>
          </a:solidFill>
          <a:ln/>
        </p:spPr>
      </p:sp>
      <p:pic>
        <p:nvPicPr>
          <p:cNvPr id="17" name="warning icon" descr="warning icon">    </p:cNvPr>
          <p:cNvPicPr>
            <a:picLocks noChangeAspect="1"/>
          </p:cNvPicPr>
          <p:nvPr/>
        </p:nvPicPr>
        <p:blipFill>
          <a:blip r:embed="rId3"/>
          <a:stretch>
            <a:fillRect/>
          </a:stretch>
        </p:blipFill>
        <p:spPr>
          <a:xfrm>
            <a:off x="876544" y="4881616"/>
            <a:ext cx="350032" cy="350032"/>
          </a:xfrm>
          <a:prstGeom prst="rect">
            <a:avLst/>
          </a:prstGeom>
        </p:spPr>
      </p:pic>
      <p:sp>
        <p:nvSpPr>
          <p:cNvPr id="18" name="Text 12"/>
          <p:cNvSpPr txBox="1"/>
          <p:nvPr/>
        </p:nvSpPr>
        <p:spPr>
          <a:xfrm>
            <a:off x="1554480" y="4608576"/>
            <a:ext cx="3749040" cy="384048"/>
          </a:xfrm>
          <a:prstGeom prst="rect">
            <a:avLst/>
          </a:prstGeom>
          <a:noFill/>
          <a:ln/>
        </p:spPr>
        <p:txBody>
          <a:bodyPr wrap="square" lIns="0" tIns="0" rIns="0" bIns="0" rtlCol="0" anchor="ctr"/>
          <a:lstStyle/>
          <a:p>
            <a:pPr indent="0" marL="0">
              <a:buNone/>
            </a:pPr>
            <a:r>
              <a:rPr lang="en-IE" sz="1700" b="1" dirty="0">
                <a:solidFill>
                  <a:schemeClr val="tx1"/>
                </a:solidFill>
              </a:rPr>
              <a:t>3. Deal with the exception</a:t>
            </a:r>
            <a:endParaRPr lang="en-IE" sz="1700" dirty="0"/>
          </a:p>
        </p:txBody>
      </p:sp>
      <p:sp>
        <p:nvSpPr>
          <p:cNvPr id="19" name="Text 13"/>
          <p:cNvSpPr txBox="1"/>
          <p:nvPr/>
        </p:nvSpPr>
        <p:spPr>
          <a:xfrm>
            <a:off x="1554480" y="4992624"/>
            <a:ext cx="3749040" cy="594360"/>
          </a:xfrm>
          <a:prstGeom prst="rect">
            <a:avLst/>
          </a:prstGeom>
          <a:noFill/>
          <a:ln/>
        </p:spPr>
        <p:txBody>
          <a:bodyPr wrap="square" lIns="0" tIns="0" rIns="0" bIns="0" rtlCol="0" anchor="t"/>
          <a:lstStyle/>
          <a:p>
            <a:pPr indent="0" marL="0">
              <a:buNone/>
            </a:pPr>
            <a:r>
              <a:rPr lang="en-IE" sz="1400" dirty="0">
                <a:solidFill>
                  <a:schemeClr val="tx2"/>
                </a:solidFill>
              </a:rPr>
              <a:t>Calling </a:t>
            </a:r>
            <a:r>
              <a:rPr lang="en-IE" sz="1400" dirty="0">
                <a:solidFill>
                  <a:schemeClr val="accent2"/>
                </a:solidFill>
                <a:latin typeface="Consolas" pitchFamily="34" charset="0"/>
                <a:ea typeface="Consolas" pitchFamily="34" charset="-122"/>
                <a:cs typeface="Consolas" pitchFamily="34" charset="-120"/>
              </a:rPr>
              <a:t>clone()</a:t>
            </a:r>
            <a:r>
              <a:rPr lang="en-IE" sz="1400" dirty="0">
                <a:solidFill>
                  <a:schemeClr val="tx2"/>
                </a:solidFill>
              </a:rPr>
              <a:t> can throw CloneNotSupportedException.</a:t>
            </a:r>
            <a:endParaRPr lang="en-IE" sz="1400" dirty="0"/>
          </a:p>
        </p:txBody>
      </p:sp>
      <p:sp>
        <p:nvSpPr>
          <p:cNvPr id="20" name="Employee card"/>
          <p:cNvSpPr/>
          <p:nvPr/>
        </p:nvSpPr>
        <p:spPr>
          <a:xfrm>
            <a:off x="5806440" y="1691640"/>
            <a:ext cx="5836615" cy="4145788"/>
          </a:xfrm>
          <a:prstGeom prst="roundRect">
            <a:avLst>
              <a:gd name="adj" fmla="val 2647"/>
            </a:avLst>
          </a:prstGeom>
          <a:solidFill>
            <a:schemeClr val="tx1"/>
          </a:solidFill>
          <a:ln/>
          <a:effectLst>
            <a:outerShdw sx="100000" sy="100000" kx="0" ky="0" algn="bl" rotWithShape="0" blurRad="114300" dist="31750" dir="5400000">
              <a:srgbClr val="1D2433">
                <a:alpha val="12000"/>
              </a:srgbClr>
            </a:outerShdw>
          </a:effectLst>
        </p:spPr>
      </p:sp>
      <p:sp>
        <p:nvSpPr>
          <p:cNvPr id="21" name="Employee language"/>
          <p:cNvSpPr txBox="1"/>
          <p:nvPr/>
        </p:nvSpPr>
        <p:spPr>
          <a:xfrm>
            <a:off x="6080760" y="1810512"/>
            <a:ext cx="52879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22" name="Employee text"/>
          <p:cNvSpPr txBox="1"/>
          <p:nvPr/>
        </p:nvSpPr>
        <p:spPr>
          <a:xfrm>
            <a:off x="6080760" y="2185416"/>
            <a:ext cx="5287975" cy="3450844"/>
          </a:xfrm>
          <a:prstGeom prst="rect">
            <a:avLst/>
          </a:prstGeom>
          <a:noFill/>
          <a:ln/>
        </p:spPr>
        <p:txBody>
          <a:bodyPr wrap="square" lIns="0" tIns="0" rIns="0" bIns="0" rtlCol="0" anchor="t"/>
          <a:lstStyle/>
          <a:p>
            <a:pPr indent="0" marL="0">
              <a:lnSpc>
                <a:spcPts val="1910"/>
              </a:lnSpc>
              <a:buNone/>
            </a:pPr>
            <a:r>
              <a:rPr lang="en-IE" sz="1450" dirty="0">
                <a:solidFill>
                  <a:srgbClr val="FF9F5A"/>
                </a:solidFill>
                <a:latin typeface="Consolas" pitchFamily="34" charset="0"/>
                <a:ea typeface="Consolas" pitchFamily="34" charset="-122"/>
                <a:cs typeface="Consolas" pitchFamily="34" charset="-120"/>
              </a:rPr>
              <a:t>public</a:t>
            </a:r>
            <a:r>
              <a:rPr lang="en-IE" sz="1450" dirty="0">
                <a:solidFill>
                  <a:srgbClr val="E6EBF2"/>
                </a:solidFill>
                <a:latin typeface="Consolas" pitchFamily="34" charset="0"/>
                <a:ea typeface="Consolas" pitchFamily="34" charset="-122"/>
                <a:cs typeface="Consolas" pitchFamily="34" charset="-120"/>
              </a:rPr>
              <a:t> </a:t>
            </a:r>
            <a:r>
              <a:rPr lang="en-IE" sz="1450" dirty="0">
                <a:solidFill>
                  <a:srgbClr val="FF9F5A"/>
                </a:solidFill>
                <a:latin typeface="Consolas" pitchFamily="34" charset="0"/>
                <a:ea typeface="Consolas" pitchFamily="34" charset="-122"/>
                <a:cs typeface="Consolas" pitchFamily="34" charset="-120"/>
              </a:rPr>
              <a:t>class</a:t>
            </a:r>
            <a:r>
              <a:rPr lang="en-IE" sz="1450" dirty="0">
                <a:solidFill>
                  <a:srgbClr val="E6EBF2"/>
                </a:solidFill>
                <a:latin typeface="Consolas" pitchFamily="34" charset="0"/>
                <a:ea typeface="Consolas" pitchFamily="34" charset="-122"/>
                <a:cs typeface="Consolas" pitchFamily="34" charset="-120"/>
              </a:rPr>
              <a:t> </a:t>
            </a:r>
            <a:r>
              <a:rPr lang="en-IE" sz="1450" dirty="0">
                <a:solidFill>
                  <a:srgbClr val="6CC4E8"/>
                </a:solidFill>
                <a:latin typeface="Consolas" pitchFamily="34" charset="0"/>
                <a:ea typeface="Consolas" pitchFamily="34" charset="-122"/>
                <a:cs typeface="Consolas" pitchFamily="34" charset="-120"/>
              </a:rPr>
              <a:t>Employee</a:t>
            </a:r>
            <a:r>
              <a:rPr lang="en-IE" sz="1450" dirty="0">
                <a:solidFill>
                  <a:srgbClr val="E6EBF2"/>
                </a:solidFill>
                <a:latin typeface="Consolas" pitchFamily="34" charset="0"/>
                <a:ea typeface="Consolas" pitchFamily="34" charset="-122"/>
                <a:cs typeface="Consolas" pitchFamily="34" charset="-120"/>
              </a:rPr>
              <a:t> </a:t>
            </a:r>
            <a:r>
              <a:rPr lang="en-IE" sz="1450" dirty="0">
                <a:solidFill>
                  <a:srgbClr val="FF9F5A"/>
                </a:solidFill>
                <a:latin typeface="Consolas" pitchFamily="34" charset="0"/>
                <a:ea typeface="Consolas" pitchFamily="34" charset="-122"/>
                <a:cs typeface="Consolas" pitchFamily="34" charset="-120"/>
              </a:rPr>
              <a:t>implements</a:t>
            </a:r>
            <a:r>
              <a:rPr lang="en-IE" sz="1450" dirty="0">
                <a:solidFill>
                  <a:srgbClr val="E6EBF2"/>
                </a:solidFill>
                <a:latin typeface="Consolas" pitchFamily="34" charset="0"/>
                <a:ea typeface="Consolas" pitchFamily="34" charset="-122"/>
                <a:cs typeface="Consolas" pitchFamily="34" charset="-120"/>
              </a:rPr>
              <a:t> </a:t>
            </a:r>
            <a:r>
              <a:rPr lang="en-IE" sz="1450" dirty="0">
                <a:solidFill>
                  <a:srgbClr val="6CC4E8"/>
                </a:solidFill>
                <a:latin typeface="Consolas" pitchFamily="34" charset="0"/>
                <a:ea typeface="Consolas" pitchFamily="34" charset="-122"/>
                <a:cs typeface="Consolas" pitchFamily="34" charset="-120"/>
              </a:rPr>
              <a:t>Cloneable</a:t>
            </a:r>
            <a:r>
              <a:rPr lang="en-IE" sz="1450" dirty="0">
                <a:solidFill>
                  <a:srgbClr val="E6EBF2"/>
                </a:solidFill>
                <a:latin typeface="Consolas" pitchFamily="34" charset="0"/>
                <a:ea typeface="Consolas" pitchFamily="34" charset="-122"/>
                <a:cs typeface="Consolas" pitchFamily="34" charset="-120"/>
              </a:rPr>
              <a:t> {</a:t>
            </a:r>
            <a:endParaRPr lang="en-IE" sz="1450" dirty="0"/>
          </a:p>
          <a:p>
            <a:pPr indent="0" marL="0">
              <a:lnSpc>
                <a:spcPts val="1910"/>
              </a:lnSpc>
              <a:buNone/>
            </a:pPr>
            <a:r>
              <a:rPr lang="en-IE" sz="1450" dirty="0">
                <a:solidFill>
                  <a:srgbClr val="E6EBF2"/>
                </a:solidFill>
                <a:latin typeface="Consolas" pitchFamily="34" charset="0"/>
                <a:ea typeface="Consolas" pitchFamily="34" charset="-122"/>
                <a:cs typeface="Consolas" pitchFamily="34" charset="-120"/>
              </a:rPr>
              <a:t> </a:t>
            </a:r>
            <a:endParaRPr lang="en-IE" sz="1450" dirty="0"/>
          </a:p>
          <a:p>
            <a:pPr indent="0" marL="0">
              <a:lnSpc>
                <a:spcPts val="1910"/>
              </a:lnSpc>
              <a:buNone/>
            </a:pPr>
            <a:r>
              <a:rPr lang="en-IE" sz="1450" dirty="0">
                <a:solidFill>
                  <a:srgbClr val="E6EBF2"/>
                </a:solidFill>
                <a:latin typeface="Consolas" pitchFamily="34" charset="0"/>
                <a:ea typeface="Consolas" pitchFamily="34" charset="-122"/>
                <a:cs typeface="Consolas" pitchFamily="34" charset="-120"/>
              </a:rPr>
              <a:t>    </a:t>
            </a:r>
            <a:r>
              <a:rPr lang="en-IE" sz="1450" dirty="0">
                <a:solidFill>
                  <a:srgbClr val="FF9F5A"/>
                </a:solidFill>
                <a:latin typeface="Consolas" pitchFamily="34" charset="0"/>
                <a:ea typeface="Consolas" pitchFamily="34" charset="-122"/>
                <a:cs typeface="Consolas" pitchFamily="34" charset="-120"/>
              </a:rPr>
              <a:t>public</a:t>
            </a:r>
            <a:r>
              <a:rPr lang="en-IE" sz="1450" dirty="0">
                <a:solidFill>
                  <a:srgbClr val="E6EBF2"/>
                </a:solidFill>
                <a:latin typeface="Consolas" pitchFamily="34" charset="0"/>
                <a:ea typeface="Consolas" pitchFamily="34" charset="-122"/>
                <a:cs typeface="Consolas" pitchFamily="34" charset="-120"/>
              </a:rPr>
              <a:t> </a:t>
            </a:r>
            <a:r>
              <a:rPr lang="en-IE" sz="1450" dirty="0">
                <a:solidFill>
                  <a:srgbClr val="6CC4E8"/>
                </a:solidFill>
                <a:latin typeface="Consolas" pitchFamily="34" charset="0"/>
                <a:ea typeface="Consolas" pitchFamily="34" charset="-122"/>
                <a:cs typeface="Consolas" pitchFamily="34" charset="-120"/>
              </a:rPr>
              <a:t>String</a:t>
            </a:r>
            <a:r>
              <a:rPr lang="en-IE" sz="1450" dirty="0">
                <a:solidFill>
                  <a:srgbClr val="E6EBF2"/>
                </a:solidFill>
                <a:latin typeface="Consolas" pitchFamily="34" charset="0"/>
                <a:ea typeface="Consolas" pitchFamily="34" charset="-122"/>
                <a:cs typeface="Consolas" pitchFamily="34" charset="-120"/>
              </a:rPr>
              <a:t> name;</a:t>
            </a:r>
            <a:endParaRPr lang="en-IE" sz="1450" dirty="0"/>
          </a:p>
          <a:p>
            <a:pPr indent="0" marL="0">
              <a:lnSpc>
                <a:spcPts val="1910"/>
              </a:lnSpc>
              <a:buNone/>
            </a:pPr>
            <a:r>
              <a:rPr lang="en-IE" sz="1450" dirty="0">
                <a:solidFill>
                  <a:srgbClr val="E6EBF2"/>
                </a:solidFill>
                <a:latin typeface="Consolas" pitchFamily="34" charset="0"/>
                <a:ea typeface="Consolas" pitchFamily="34" charset="-122"/>
                <a:cs typeface="Consolas" pitchFamily="34" charset="-120"/>
              </a:rPr>
              <a:t> </a:t>
            </a:r>
            <a:endParaRPr lang="en-IE" sz="1450" dirty="0"/>
          </a:p>
          <a:p>
            <a:pPr indent="0" marL="0">
              <a:lnSpc>
                <a:spcPts val="1910"/>
              </a:lnSpc>
              <a:buNone/>
            </a:pPr>
            <a:r>
              <a:rPr lang="en-IE" sz="1450" dirty="0">
                <a:solidFill>
                  <a:srgbClr val="E6EBF2"/>
                </a:solidFill>
                <a:latin typeface="Consolas" pitchFamily="34" charset="0"/>
                <a:ea typeface="Consolas" pitchFamily="34" charset="-122"/>
                <a:cs typeface="Consolas" pitchFamily="34" charset="-120"/>
              </a:rPr>
              <a:t>    </a:t>
            </a:r>
            <a:r>
              <a:rPr lang="en-IE" sz="1450" dirty="0">
                <a:solidFill>
                  <a:srgbClr val="FF9F5A"/>
                </a:solidFill>
                <a:latin typeface="Consolas" pitchFamily="34" charset="0"/>
                <a:ea typeface="Consolas" pitchFamily="34" charset="-122"/>
                <a:cs typeface="Consolas" pitchFamily="34" charset="-120"/>
              </a:rPr>
              <a:t>public</a:t>
            </a:r>
            <a:r>
              <a:rPr lang="en-IE" sz="1450" dirty="0">
                <a:solidFill>
                  <a:srgbClr val="E6EBF2"/>
                </a:solidFill>
                <a:latin typeface="Consolas" pitchFamily="34" charset="0"/>
                <a:ea typeface="Consolas" pitchFamily="34" charset="-122"/>
                <a:cs typeface="Consolas" pitchFamily="34" charset="-120"/>
              </a:rPr>
              <a:t> </a:t>
            </a:r>
            <a:r>
              <a:rPr lang="en-IE" sz="1450" dirty="0">
                <a:solidFill>
                  <a:srgbClr val="C9B0FF"/>
                </a:solidFill>
                <a:latin typeface="Consolas" pitchFamily="34" charset="0"/>
                <a:ea typeface="Consolas" pitchFamily="34" charset="-122"/>
                <a:cs typeface="Consolas" pitchFamily="34" charset="-120"/>
              </a:rPr>
              <a:t>Employee</a:t>
            </a:r>
            <a:r>
              <a:rPr lang="en-IE" sz="1450" dirty="0">
                <a:solidFill>
                  <a:srgbClr val="E6EBF2"/>
                </a:solidFill>
                <a:latin typeface="Consolas" pitchFamily="34" charset="0"/>
                <a:ea typeface="Consolas" pitchFamily="34" charset="-122"/>
                <a:cs typeface="Consolas" pitchFamily="34" charset="-120"/>
              </a:rPr>
              <a:t>(</a:t>
            </a:r>
            <a:r>
              <a:rPr lang="en-IE" sz="1450" dirty="0">
                <a:solidFill>
                  <a:srgbClr val="6CC4E8"/>
                </a:solidFill>
                <a:latin typeface="Consolas" pitchFamily="34" charset="0"/>
                <a:ea typeface="Consolas" pitchFamily="34" charset="-122"/>
                <a:cs typeface="Consolas" pitchFamily="34" charset="-120"/>
              </a:rPr>
              <a:t>String</a:t>
            </a:r>
            <a:r>
              <a:rPr lang="en-IE" sz="1450" dirty="0">
                <a:solidFill>
                  <a:srgbClr val="E6EBF2"/>
                </a:solidFill>
                <a:latin typeface="Consolas" pitchFamily="34" charset="0"/>
                <a:ea typeface="Consolas" pitchFamily="34" charset="-122"/>
                <a:cs typeface="Consolas" pitchFamily="34" charset="-120"/>
              </a:rPr>
              <a:t> name) {</a:t>
            </a:r>
            <a:endParaRPr lang="en-IE" sz="1450" dirty="0"/>
          </a:p>
          <a:p>
            <a:pPr indent="0" marL="0">
              <a:lnSpc>
                <a:spcPts val="1910"/>
              </a:lnSpc>
              <a:buNone/>
            </a:pPr>
            <a:r>
              <a:rPr lang="en-IE" sz="1450" dirty="0">
                <a:solidFill>
                  <a:srgbClr val="E6EBF2"/>
                </a:solidFill>
                <a:latin typeface="Consolas" pitchFamily="34" charset="0"/>
                <a:ea typeface="Consolas" pitchFamily="34" charset="-122"/>
                <a:cs typeface="Consolas" pitchFamily="34" charset="-120"/>
              </a:rPr>
              <a:t>        </a:t>
            </a:r>
            <a:r>
              <a:rPr lang="en-IE" sz="1450" dirty="0">
                <a:solidFill>
                  <a:srgbClr val="FF9F5A"/>
                </a:solidFill>
                <a:latin typeface="Consolas" pitchFamily="34" charset="0"/>
                <a:ea typeface="Consolas" pitchFamily="34" charset="-122"/>
                <a:cs typeface="Consolas" pitchFamily="34" charset="-120"/>
              </a:rPr>
              <a:t>this</a:t>
            </a:r>
            <a:r>
              <a:rPr lang="en-IE" sz="1450" dirty="0">
                <a:solidFill>
                  <a:srgbClr val="E6EBF2"/>
                </a:solidFill>
                <a:latin typeface="Consolas" pitchFamily="34" charset="0"/>
                <a:ea typeface="Consolas" pitchFamily="34" charset="-122"/>
                <a:cs typeface="Consolas" pitchFamily="34" charset="-120"/>
              </a:rPr>
              <a:t>.name = name;</a:t>
            </a:r>
            <a:endParaRPr lang="en-IE" sz="1450" dirty="0"/>
          </a:p>
          <a:p>
            <a:pPr indent="0" marL="0">
              <a:lnSpc>
                <a:spcPts val="1910"/>
              </a:lnSpc>
              <a:buNone/>
            </a:pPr>
            <a:r>
              <a:rPr lang="en-IE" sz="1450" dirty="0">
                <a:solidFill>
                  <a:srgbClr val="E6EBF2"/>
                </a:solidFill>
                <a:latin typeface="Consolas" pitchFamily="34" charset="0"/>
                <a:ea typeface="Consolas" pitchFamily="34" charset="-122"/>
                <a:cs typeface="Consolas" pitchFamily="34" charset="-120"/>
              </a:rPr>
              <a:t>    }</a:t>
            </a:r>
            <a:endParaRPr lang="en-IE" sz="1450" dirty="0"/>
          </a:p>
          <a:p>
            <a:pPr indent="0" marL="0">
              <a:lnSpc>
                <a:spcPts val="1910"/>
              </a:lnSpc>
              <a:buNone/>
            </a:pPr>
            <a:r>
              <a:rPr lang="en-IE" sz="1450" dirty="0">
                <a:solidFill>
                  <a:srgbClr val="E6EBF2"/>
                </a:solidFill>
                <a:latin typeface="Consolas" pitchFamily="34" charset="0"/>
                <a:ea typeface="Consolas" pitchFamily="34" charset="-122"/>
                <a:cs typeface="Consolas" pitchFamily="34" charset="-120"/>
              </a:rPr>
              <a:t> </a:t>
            </a:r>
            <a:endParaRPr lang="en-IE" sz="1450" dirty="0"/>
          </a:p>
          <a:p>
            <a:pPr indent="0" marL="0">
              <a:lnSpc>
                <a:spcPts val="1910"/>
              </a:lnSpc>
              <a:buNone/>
            </a:pPr>
            <a:r>
              <a:rPr lang="en-IE" sz="1450" dirty="0">
                <a:solidFill>
                  <a:srgbClr val="E6EBF2"/>
                </a:solidFill>
                <a:latin typeface="Consolas" pitchFamily="34" charset="0"/>
                <a:ea typeface="Consolas" pitchFamily="34" charset="-122"/>
                <a:cs typeface="Consolas" pitchFamily="34" charset="-120"/>
              </a:rPr>
              <a:t>    </a:t>
            </a:r>
            <a:r>
              <a:rPr lang="en-IE" sz="1450" dirty="0">
                <a:solidFill>
                  <a:srgbClr val="E8C468"/>
                </a:solidFill>
                <a:latin typeface="Consolas" pitchFamily="34" charset="0"/>
                <a:ea typeface="Consolas" pitchFamily="34" charset="-122"/>
                <a:cs typeface="Consolas" pitchFamily="34" charset="-120"/>
              </a:rPr>
              <a:t>@Override</a:t>
            </a:r>
            <a:endParaRPr lang="en-IE" sz="1450" dirty="0"/>
          </a:p>
          <a:p>
            <a:pPr indent="0" marL="0">
              <a:lnSpc>
                <a:spcPts val="1910"/>
              </a:lnSpc>
              <a:buNone/>
            </a:pPr>
            <a:r>
              <a:rPr lang="en-IE" sz="1450" dirty="0">
                <a:solidFill>
                  <a:srgbClr val="E6EBF2"/>
                </a:solidFill>
                <a:latin typeface="Consolas" pitchFamily="34" charset="0"/>
                <a:ea typeface="Consolas" pitchFamily="34" charset="-122"/>
                <a:cs typeface="Consolas" pitchFamily="34" charset="-120"/>
              </a:rPr>
              <a:t>    </a:t>
            </a:r>
            <a:r>
              <a:rPr lang="en-IE" sz="1450" dirty="0">
                <a:solidFill>
                  <a:srgbClr val="FF9F5A"/>
                </a:solidFill>
                <a:latin typeface="Consolas" pitchFamily="34" charset="0"/>
                <a:ea typeface="Consolas" pitchFamily="34" charset="-122"/>
                <a:cs typeface="Consolas" pitchFamily="34" charset="-120"/>
              </a:rPr>
              <a:t>protected</a:t>
            </a:r>
            <a:r>
              <a:rPr lang="en-IE" sz="1450" dirty="0">
                <a:solidFill>
                  <a:srgbClr val="E6EBF2"/>
                </a:solidFill>
                <a:latin typeface="Consolas" pitchFamily="34" charset="0"/>
                <a:ea typeface="Consolas" pitchFamily="34" charset="-122"/>
                <a:cs typeface="Consolas" pitchFamily="34" charset="-120"/>
              </a:rPr>
              <a:t> </a:t>
            </a:r>
            <a:r>
              <a:rPr lang="en-IE" sz="1450" dirty="0">
                <a:solidFill>
                  <a:srgbClr val="6CC4E8"/>
                </a:solidFill>
                <a:latin typeface="Consolas" pitchFamily="34" charset="0"/>
                <a:ea typeface="Consolas" pitchFamily="34" charset="-122"/>
                <a:cs typeface="Consolas" pitchFamily="34" charset="-120"/>
              </a:rPr>
              <a:t>Object</a:t>
            </a:r>
            <a:r>
              <a:rPr lang="en-IE" sz="1450" dirty="0">
                <a:solidFill>
                  <a:srgbClr val="E6EBF2"/>
                </a:solidFill>
                <a:latin typeface="Consolas" pitchFamily="34" charset="0"/>
                <a:ea typeface="Consolas" pitchFamily="34" charset="-122"/>
                <a:cs typeface="Consolas" pitchFamily="34" charset="-120"/>
              </a:rPr>
              <a:t> </a:t>
            </a:r>
            <a:r>
              <a:rPr lang="en-IE" sz="1450" dirty="0">
                <a:solidFill>
                  <a:srgbClr val="C9B0FF"/>
                </a:solidFill>
                <a:latin typeface="Consolas" pitchFamily="34" charset="0"/>
                <a:ea typeface="Consolas" pitchFamily="34" charset="-122"/>
                <a:cs typeface="Consolas" pitchFamily="34" charset="-120"/>
              </a:rPr>
              <a:t>clone</a:t>
            </a:r>
            <a:r>
              <a:rPr lang="en-IE" sz="1450" dirty="0">
                <a:solidFill>
                  <a:srgbClr val="E6EBF2"/>
                </a:solidFill>
                <a:latin typeface="Consolas" pitchFamily="34" charset="0"/>
                <a:ea typeface="Consolas" pitchFamily="34" charset="-122"/>
                <a:cs typeface="Consolas" pitchFamily="34" charset="-120"/>
              </a:rPr>
              <a:t>()</a:t>
            </a:r>
            <a:endParaRPr lang="en-IE" sz="1450" dirty="0"/>
          </a:p>
          <a:p>
            <a:pPr indent="0" marL="0">
              <a:lnSpc>
                <a:spcPts val="1910"/>
              </a:lnSpc>
              <a:buNone/>
            </a:pPr>
            <a:r>
              <a:rPr lang="en-IE" sz="1450" dirty="0">
                <a:solidFill>
                  <a:srgbClr val="E6EBF2"/>
                </a:solidFill>
                <a:latin typeface="Consolas" pitchFamily="34" charset="0"/>
                <a:ea typeface="Consolas" pitchFamily="34" charset="-122"/>
                <a:cs typeface="Consolas" pitchFamily="34" charset="-120"/>
              </a:rPr>
              <a:t>            </a:t>
            </a:r>
            <a:r>
              <a:rPr lang="en-IE" sz="1450" dirty="0">
                <a:solidFill>
                  <a:srgbClr val="FF9F5A"/>
                </a:solidFill>
                <a:latin typeface="Consolas" pitchFamily="34" charset="0"/>
                <a:ea typeface="Consolas" pitchFamily="34" charset="-122"/>
                <a:cs typeface="Consolas" pitchFamily="34" charset="-120"/>
              </a:rPr>
              <a:t>throws</a:t>
            </a:r>
            <a:r>
              <a:rPr lang="en-IE" sz="1450" dirty="0">
                <a:solidFill>
                  <a:srgbClr val="E6EBF2"/>
                </a:solidFill>
                <a:latin typeface="Consolas" pitchFamily="34" charset="0"/>
                <a:ea typeface="Consolas" pitchFamily="34" charset="-122"/>
                <a:cs typeface="Consolas" pitchFamily="34" charset="-120"/>
              </a:rPr>
              <a:t> </a:t>
            </a:r>
            <a:r>
              <a:rPr lang="en-IE" sz="1450" dirty="0">
                <a:solidFill>
                  <a:srgbClr val="6CC4E8"/>
                </a:solidFill>
                <a:latin typeface="Consolas" pitchFamily="34" charset="0"/>
                <a:ea typeface="Consolas" pitchFamily="34" charset="-122"/>
                <a:cs typeface="Consolas" pitchFamily="34" charset="-120"/>
              </a:rPr>
              <a:t>CloneNotSupportedException</a:t>
            </a:r>
            <a:r>
              <a:rPr lang="en-IE" sz="1450" dirty="0">
                <a:solidFill>
                  <a:srgbClr val="E6EBF2"/>
                </a:solidFill>
                <a:latin typeface="Consolas" pitchFamily="34" charset="0"/>
                <a:ea typeface="Consolas" pitchFamily="34" charset="-122"/>
                <a:cs typeface="Consolas" pitchFamily="34" charset="-120"/>
              </a:rPr>
              <a:t> {</a:t>
            </a:r>
            <a:endParaRPr lang="en-IE" sz="1450" dirty="0"/>
          </a:p>
          <a:p>
            <a:pPr indent="0" marL="0">
              <a:lnSpc>
                <a:spcPts val="1910"/>
              </a:lnSpc>
              <a:buNone/>
            </a:pPr>
            <a:r>
              <a:rPr lang="en-IE" sz="1450" dirty="0">
                <a:solidFill>
                  <a:srgbClr val="E6EBF2"/>
                </a:solidFill>
                <a:latin typeface="Consolas" pitchFamily="34" charset="0"/>
                <a:ea typeface="Consolas" pitchFamily="34" charset="-122"/>
                <a:cs typeface="Consolas" pitchFamily="34" charset="-120"/>
              </a:rPr>
              <a:t>        </a:t>
            </a:r>
            <a:r>
              <a:rPr lang="en-IE" sz="1450" dirty="0">
                <a:solidFill>
                  <a:srgbClr val="FF9F5A"/>
                </a:solidFill>
                <a:latin typeface="Consolas" pitchFamily="34" charset="0"/>
                <a:ea typeface="Consolas" pitchFamily="34" charset="-122"/>
                <a:cs typeface="Consolas" pitchFamily="34" charset="-120"/>
              </a:rPr>
              <a:t>return</a:t>
            </a:r>
            <a:r>
              <a:rPr lang="en-IE" sz="1450" dirty="0">
                <a:solidFill>
                  <a:srgbClr val="E6EBF2"/>
                </a:solidFill>
                <a:latin typeface="Consolas" pitchFamily="34" charset="0"/>
                <a:ea typeface="Consolas" pitchFamily="34" charset="-122"/>
                <a:cs typeface="Consolas" pitchFamily="34" charset="-120"/>
              </a:rPr>
              <a:t> </a:t>
            </a:r>
            <a:r>
              <a:rPr lang="en-IE" sz="1450" dirty="0">
                <a:solidFill>
                  <a:srgbClr val="FF9F5A"/>
                </a:solidFill>
                <a:latin typeface="Consolas" pitchFamily="34" charset="0"/>
                <a:ea typeface="Consolas" pitchFamily="34" charset="-122"/>
                <a:cs typeface="Consolas" pitchFamily="34" charset="-120"/>
              </a:rPr>
              <a:t>super</a:t>
            </a:r>
            <a:r>
              <a:rPr lang="en-IE" sz="1450" dirty="0">
                <a:solidFill>
                  <a:srgbClr val="E6EBF2"/>
                </a:solidFill>
                <a:latin typeface="Consolas" pitchFamily="34" charset="0"/>
                <a:ea typeface="Consolas" pitchFamily="34" charset="-122"/>
                <a:cs typeface="Consolas" pitchFamily="34" charset="-120"/>
              </a:rPr>
              <a:t>.</a:t>
            </a:r>
            <a:r>
              <a:rPr lang="en-IE" sz="1450" dirty="0">
                <a:solidFill>
                  <a:srgbClr val="C9B0FF"/>
                </a:solidFill>
                <a:latin typeface="Consolas" pitchFamily="34" charset="0"/>
                <a:ea typeface="Consolas" pitchFamily="34" charset="-122"/>
                <a:cs typeface="Consolas" pitchFamily="34" charset="-120"/>
              </a:rPr>
              <a:t>clone</a:t>
            </a:r>
            <a:r>
              <a:rPr lang="en-IE" sz="1450" dirty="0">
                <a:solidFill>
                  <a:srgbClr val="E6EBF2"/>
                </a:solidFill>
                <a:latin typeface="Consolas" pitchFamily="34" charset="0"/>
                <a:ea typeface="Consolas" pitchFamily="34" charset="-122"/>
                <a:cs typeface="Consolas" pitchFamily="34" charset="-120"/>
              </a:rPr>
              <a:t>();</a:t>
            </a:r>
            <a:endParaRPr lang="en-IE" sz="1450" dirty="0"/>
          </a:p>
          <a:p>
            <a:pPr indent="0" marL="0">
              <a:lnSpc>
                <a:spcPts val="1910"/>
              </a:lnSpc>
              <a:buNone/>
            </a:pPr>
            <a:r>
              <a:rPr lang="en-IE" sz="1450" dirty="0">
                <a:solidFill>
                  <a:srgbClr val="E6EBF2"/>
                </a:solidFill>
                <a:latin typeface="Consolas" pitchFamily="34" charset="0"/>
                <a:ea typeface="Consolas" pitchFamily="34" charset="-122"/>
                <a:cs typeface="Consolas" pitchFamily="34" charset="-120"/>
              </a:rPr>
              <a:t>    }</a:t>
            </a:r>
            <a:endParaRPr lang="en-IE" sz="1450" dirty="0"/>
          </a:p>
          <a:p>
            <a:pPr indent="0" marL="0">
              <a:lnSpc>
                <a:spcPts val="1910"/>
              </a:lnSpc>
              <a:buNone/>
            </a:pPr>
            <a:r>
              <a:rPr lang="en-IE" sz="1450" dirty="0">
                <a:solidFill>
                  <a:srgbClr val="E6EBF2"/>
                </a:solidFill>
                <a:latin typeface="Consolas" pitchFamily="34" charset="0"/>
                <a:ea typeface="Consolas" pitchFamily="34" charset="-122"/>
                <a:cs typeface="Consolas" pitchFamily="34" charset="-120"/>
              </a:rPr>
              <a:t>}</a:t>
            </a:r>
            <a:endParaRPr lang="en-IE" sz="14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42</a:t>
            </a:fld>
            <a:endParaRPr lang="en-IE"/>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COPYING OBJECTS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Calling clone()</a:t>
            </a:r>
            <a:endParaRPr lang="en-IE" sz="3400" dirty="0"/>
          </a:p>
        </p:txBody>
      </p:sp>
      <p:sp>
        <p:nvSpPr>
          <p:cNvPr id="5" name="Calling clone card"/>
          <p:cNvSpPr/>
          <p:nvPr/>
        </p:nvSpPr>
        <p:spPr>
          <a:xfrm>
            <a:off x="548640" y="1691640"/>
            <a:ext cx="7086600" cy="2784348"/>
          </a:xfrm>
          <a:prstGeom prst="roundRect">
            <a:avLst>
              <a:gd name="adj" fmla="val 3941"/>
            </a:avLst>
          </a:prstGeom>
          <a:solidFill>
            <a:schemeClr val="tx1"/>
          </a:solidFill>
          <a:ln/>
          <a:effectLst>
            <a:outerShdw sx="100000" sy="100000" kx="0" ky="0" algn="bl" rotWithShape="0" blurRad="114300" dist="31750" dir="5400000">
              <a:srgbClr val="1D2433">
                <a:alpha val="12000"/>
              </a:srgbClr>
            </a:outerShdw>
          </a:effectLst>
        </p:spPr>
      </p:sp>
      <p:sp>
        <p:nvSpPr>
          <p:cNvPr id="6" name="Calling clone language"/>
          <p:cNvSpPr txBox="1"/>
          <p:nvPr/>
        </p:nvSpPr>
        <p:spPr>
          <a:xfrm>
            <a:off x="822960" y="1810512"/>
            <a:ext cx="653796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Calling clone text"/>
          <p:cNvSpPr txBox="1"/>
          <p:nvPr/>
        </p:nvSpPr>
        <p:spPr>
          <a:xfrm>
            <a:off x="822960" y="2185416"/>
            <a:ext cx="6537960" cy="2089404"/>
          </a:xfrm>
          <a:prstGeom prst="rect">
            <a:avLst/>
          </a:prstGeom>
          <a:noFill/>
          <a:ln/>
        </p:spPr>
        <p:txBody>
          <a:bodyPr wrap="square" lIns="0" tIns="0" rIns="0" bIns="0" rtlCol="0" anchor="t"/>
          <a:lstStyle/>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try</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Employee</a:t>
            </a:r>
            <a:r>
              <a:rPr lang="en-IE" sz="1350" dirty="0">
                <a:solidFill>
                  <a:srgbClr val="E6EBF2"/>
                </a:solidFill>
                <a:latin typeface="Consolas" pitchFamily="34" charset="0"/>
                <a:ea typeface="Consolas" pitchFamily="34" charset="-122"/>
                <a:cs typeface="Consolas" pitchFamily="34" charset="-120"/>
              </a:rPr>
              <a:t> employeeOne = </a:t>
            </a:r>
            <a:r>
              <a:rPr lang="en-IE" sz="1350" dirty="0">
                <a:solidFill>
                  <a:srgbClr val="FF9F5A"/>
                </a:solidFill>
                <a:latin typeface="Consolas" pitchFamily="34" charset="0"/>
                <a:ea typeface="Consolas" pitchFamily="34" charset="-122"/>
                <a:cs typeface="Consolas" pitchFamily="34" charset="-120"/>
              </a:rPr>
              <a:t>new</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Employee</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A9DB8C"/>
                </a:solidFill>
                <a:latin typeface="Consolas" pitchFamily="34" charset="0"/>
                <a:ea typeface="Consolas" pitchFamily="34" charset="-122"/>
                <a:cs typeface="Consolas" pitchFamily="34" charset="-120"/>
              </a:rPr>
              <a:t>"bob"</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Employee</a:t>
            </a:r>
            <a:r>
              <a:rPr lang="en-IE" sz="1350" dirty="0">
                <a:solidFill>
                  <a:srgbClr val="E6EBF2"/>
                </a:solidFill>
                <a:latin typeface="Consolas" pitchFamily="34" charset="0"/>
                <a:ea typeface="Consolas" pitchFamily="34" charset="-122"/>
                <a:cs typeface="Consolas" pitchFamily="34" charset="-120"/>
              </a:rPr>
              <a:t> employeeTwo = (</a:t>
            </a:r>
            <a:r>
              <a:rPr lang="en-IE" sz="1350" dirty="0">
                <a:solidFill>
                  <a:srgbClr val="6CC4E8"/>
                </a:solidFill>
                <a:latin typeface="Consolas" pitchFamily="34" charset="0"/>
                <a:ea typeface="Consolas" pitchFamily="34" charset="-122"/>
                <a:cs typeface="Consolas" pitchFamily="34" charset="-120"/>
              </a:rPr>
              <a:t>Employee</a:t>
            </a:r>
            <a:r>
              <a:rPr lang="en-IE" sz="1350" dirty="0">
                <a:solidFill>
                  <a:srgbClr val="E6EBF2"/>
                </a:solidFill>
                <a:latin typeface="Consolas" pitchFamily="34" charset="0"/>
                <a:ea typeface="Consolas" pitchFamily="34" charset="-122"/>
                <a:cs typeface="Consolas" pitchFamily="34" charset="-120"/>
              </a:rPr>
              <a:t>) employeeOne.</a:t>
            </a:r>
            <a:r>
              <a:rPr lang="en-IE" sz="1350" dirty="0">
                <a:solidFill>
                  <a:srgbClr val="C9B0FF"/>
                </a:solidFill>
                <a:latin typeface="Consolas" pitchFamily="34" charset="0"/>
                <a:ea typeface="Consolas" pitchFamily="34" charset="-122"/>
                <a:cs typeface="Consolas" pitchFamily="34" charset="-120"/>
              </a:rPr>
              <a:t>clone</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System</a:t>
            </a:r>
            <a:r>
              <a:rPr lang="en-IE" sz="1350" dirty="0">
                <a:solidFill>
                  <a:srgbClr val="E6EBF2"/>
                </a:solidFill>
                <a:latin typeface="Consolas" pitchFamily="34" charset="0"/>
                <a:ea typeface="Consolas" pitchFamily="34" charset="-122"/>
                <a:cs typeface="Consolas" pitchFamily="34" charset="-120"/>
              </a:rPr>
              <a:t>.out.</a:t>
            </a:r>
            <a:r>
              <a:rPr lang="en-IE" sz="1350" dirty="0">
                <a:solidFill>
                  <a:srgbClr val="C9B0FF"/>
                </a:solidFill>
                <a:latin typeface="Consolas" pitchFamily="34" charset="0"/>
                <a:ea typeface="Consolas" pitchFamily="34" charset="-122"/>
                <a:cs typeface="Consolas" pitchFamily="34" charset="-120"/>
              </a:rPr>
              <a:t>println</a:t>
            </a:r>
            <a:r>
              <a:rPr lang="en-IE" sz="1350" dirty="0">
                <a:solidFill>
                  <a:srgbClr val="E6EBF2"/>
                </a:solidFill>
                <a:latin typeface="Consolas" pitchFamily="34" charset="0"/>
                <a:ea typeface="Consolas" pitchFamily="34" charset="-122"/>
                <a:cs typeface="Consolas" pitchFamily="34" charset="-120"/>
              </a:rPr>
              <a:t>(employeeOne + </a:t>
            </a:r>
            <a:r>
              <a:rPr lang="en-IE" sz="1350" dirty="0">
                <a:solidFill>
                  <a:srgbClr val="A9DB8C"/>
                </a:solidFill>
                <a:latin typeface="Consolas" pitchFamily="34" charset="0"/>
                <a:ea typeface="Consolas" pitchFamily="34" charset="-122"/>
                <a:cs typeface="Consolas" pitchFamily="34" charset="-120"/>
              </a:rPr>
              <a:t>" "</a:t>
            </a:r>
            <a:r>
              <a:rPr lang="en-IE" sz="1350" dirty="0">
                <a:solidFill>
                  <a:srgbClr val="E6EBF2"/>
                </a:solidFill>
                <a:latin typeface="Consolas" pitchFamily="34" charset="0"/>
                <a:ea typeface="Consolas" pitchFamily="34" charset="-122"/>
                <a:cs typeface="Consolas" pitchFamily="34" charset="-120"/>
              </a:rPr>
              <a:t> + employeeOne.name);</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System</a:t>
            </a:r>
            <a:r>
              <a:rPr lang="en-IE" sz="1350" dirty="0">
                <a:solidFill>
                  <a:srgbClr val="E6EBF2"/>
                </a:solidFill>
                <a:latin typeface="Consolas" pitchFamily="34" charset="0"/>
                <a:ea typeface="Consolas" pitchFamily="34" charset="-122"/>
                <a:cs typeface="Consolas" pitchFamily="34" charset="-120"/>
              </a:rPr>
              <a:t>.out.</a:t>
            </a:r>
            <a:r>
              <a:rPr lang="en-IE" sz="1350" dirty="0">
                <a:solidFill>
                  <a:srgbClr val="C9B0FF"/>
                </a:solidFill>
                <a:latin typeface="Consolas" pitchFamily="34" charset="0"/>
                <a:ea typeface="Consolas" pitchFamily="34" charset="-122"/>
                <a:cs typeface="Consolas" pitchFamily="34" charset="-120"/>
              </a:rPr>
              <a:t>println</a:t>
            </a:r>
            <a:r>
              <a:rPr lang="en-IE" sz="1350" dirty="0">
                <a:solidFill>
                  <a:srgbClr val="E6EBF2"/>
                </a:solidFill>
                <a:latin typeface="Consolas" pitchFamily="34" charset="0"/>
                <a:ea typeface="Consolas" pitchFamily="34" charset="-122"/>
                <a:cs typeface="Consolas" pitchFamily="34" charset="-120"/>
              </a:rPr>
              <a:t>(employeeTwo + </a:t>
            </a:r>
            <a:r>
              <a:rPr lang="en-IE" sz="1350" dirty="0">
                <a:solidFill>
                  <a:srgbClr val="A9DB8C"/>
                </a:solidFill>
                <a:latin typeface="Consolas" pitchFamily="34" charset="0"/>
                <a:ea typeface="Consolas" pitchFamily="34" charset="-122"/>
                <a:cs typeface="Consolas" pitchFamily="34" charset="-120"/>
              </a:rPr>
              <a:t>" "</a:t>
            </a:r>
            <a:r>
              <a:rPr lang="en-IE" sz="1350" dirty="0">
                <a:solidFill>
                  <a:srgbClr val="E6EBF2"/>
                </a:solidFill>
                <a:latin typeface="Consolas" pitchFamily="34" charset="0"/>
                <a:ea typeface="Consolas" pitchFamily="34" charset="-122"/>
                <a:cs typeface="Consolas" pitchFamily="34" charset="-120"/>
              </a:rPr>
              <a:t> + employeeTwo.name);</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catch</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CloneNotSupportedException</a:t>
            </a:r>
            <a:r>
              <a:rPr lang="en-IE" sz="1350" dirty="0">
                <a:solidFill>
                  <a:srgbClr val="E6EBF2"/>
                </a:solidFill>
                <a:latin typeface="Consolas" pitchFamily="34" charset="0"/>
                <a:ea typeface="Consolas" pitchFamily="34" charset="-122"/>
                <a:cs typeface="Consolas" pitchFamily="34" charset="-120"/>
              </a:rPr>
              <a:t> e)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e.</a:t>
            </a:r>
            <a:r>
              <a:rPr lang="en-IE" sz="1350" dirty="0">
                <a:solidFill>
                  <a:srgbClr val="C9B0FF"/>
                </a:solidFill>
                <a:latin typeface="Consolas" pitchFamily="34" charset="0"/>
                <a:ea typeface="Consolas" pitchFamily="34" charset="-122"/>
                <a:cs typeface="Consolas" pitchFamily="34" charset="-120"/>
              </a:rPr>
              <a:t>printStackTrace</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8" name="Output card"/>
          <p:cNvSpPr/>
          <p:nvPr/>
        </p:nvSpPr>
        <p:spPr>
          <a:xfrm>
            <a:off x="548640" y="4704588"/>
            <a:ext cx="7086600" cy="1051560"/>
          </a:xfrm>
          <a:prstGeom prst="roundRect">
            <a:avLst>
              <a:gd name="adj" fmla="val 10435"/>
            </a:avLst>
          </a:prstGeom>
          <a:solidFill>
            <a:schemeClr val="tx1"/>
          </a:solidFill>
          <a:ln/>
          <a:effectLst>
            <a:outerShdw sx="100000" sy="100000" kx="0" ky="0" algn="bl" rotWithShape="0" blurRad="114300" dist="31750" dir="5400000">
              <a:srgbClr val="1D2433">
                <a:alpha val="12000"/>
              </a:srgbClr>
            </a:outerShdw>
          </a:effectLst>
        </p:spPr>
      </p:sp>
      <p:sp>
        <p:nvSpPr>
          <p:cNvPr id="9" name="Text 6"/>
          <p:cNvSpPr txBox="1"/>
          <p:nvPr/>
        </p:nvSpPr>
        <p:spPr>
          <a:xfrm>
            <a:off x="822960" y="4823460"/>
            <a:ext cx="653796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Output</a:t>
            </a:r>
            <a:endParaRPr lang="en-IE" sz="1050" dirty="0"/>
          </a:p>
        </p:txBody>
      </p:sp>
      <p:sp>
        <p:nvSpPr>
          <p:cNvPr id="10" name="Output text"/>
          <p:cNvSpPr txBox="1"/>
          <p:nvPr/>
        </p:nvSpPr>
        <p:spPr>
          <a:xfrm>
            <a:off x="822960" y="5161788"/>
            <a:ext cx="6537960" cy="411480"/>
          </a:xfrm>
          <a:prstGeom prst="rect">
            <a:avLst/>
          </a:prstGeom>
          <a:noFill/>
          <a:ln/>
        </p:spPr>
        <p:txBody>
          <a:bodyPr wrap="square" lIns="0" tIns="0" rIns="0" bIns="0" rtlCol="0" anchor="t"/>
          <a:lstStyle/>
          <a:p>
            <a:pPr indent="0" marL="0">
              <a:lnSpc>
                <a:spcPts val="2025"/>
              </a:lnSpc>
              <a:buNone/>
            </a:pPr>
            <a:r>
              <a:rPr lang="en-IE" sz="1500" dirty="0">
                <a:solidFill>
                  <a:srgbClr val="A9DB8C"/>
                </a:solidFill>
                <a:latin typeface="Consolas" pitchFamily="34" charset="0"/>
                <a:ea typeface="Consolas" pitchFamily="34" charset="-122"/>
                <a:cs typeface="Consolas" pitchFamily="34" charset="-120"/>
              </a:rPr>
              <a:t>griffith.Employee@626b2d4a bob</a:t>
            </a:r>
            <a:endParaRPr lang="en-IE" sz="1500" dirty="0"/>
          </a:p>
          <a:p>
            <a:pPr indent="0" marL="0">
              <a:lnSpc>
                <a:spcPts val="2025"/>
              </a:lnSpc>
              <a:buNone/>
            </a:pPr>
            <a:r>
              <a:rPr lang="en-IE" sz="1500" dirty="0">
                <a:solidFill>
                  <a:srgbClr val="A9DB8C"/>
                </a:solidFill>
                <a:latin typeface="Consolas" pitchFamily="34" charset="0"/>
                <a:ea typeface="Consolas" pitchFamily="34" charset="-122"/>
                <a:cs typeface="Consolas" pitchFamily="34" charset="-120"/>
              </a:rPr>
              <a:t>griffith.Employee@5e265ba4 bob</a:t>
            </a:r>
            <a:endParaRPr lang="en-IE" sz="1500" dirty="0"/>
          </a:p>
        </p:txBody>
      </p:sp>
      <p:sp>
        <p:nvSpPr>
          <p:cNvPr id="11" name="The cast"/>
          <p:cNvSpPr/>
          <p:nvPr/>
        </p:nvSpPr>
        <p:spPr>
          <a:xfrm>
            <a:off x="7955280" y="1691640"/>
            <a:ext cx="3687775" cy="1298448"/>
          </a:xfrm>
          <a:prstGeom prst="roundRect">
            <a:avLst>
              <a:gd name="adj" fmla="val 8451"/>
            </a:avLst>
          </a:prstGeom>
          <a:solidFill>
            <a:schemeClr val="bg1"/>
          </a:solidFill>
          <a:ln/>
          <a:effectLst>
            <a:outerShdw sx="100000" sy="100000" kx="0" ky="0" algn="bl" rotWithShape="0" blurRad="114300" dist="31750" dir="5400000">
              <a:srgbClr val="1D2433">
                <a:alpha val="12000"/>
              </a:srgbClr>
            </a:outerShdw>
          </a:effectLst>
        </p:spPr>
      </p:sp>
      <p:sp>
        <p:nvSpPr>
          <p:cNvPr id="12" name="Icon tile"/>
          <p:cNvSpPr/>
          <p:nvPr/>
        </p:nvSpPr>
        <p:spPr>
          <a:xfrm>
            <a:off x="8138160" y="1874520"/>
            <a:ext cx="512064" cy="512064"/>
          </a:xfrm>
          <a:prstGeom prst="roundRect">
            <a:avLst>
              <a:gd name="adj" fmla="val 24000"/>
            </a:avLst>
          </a:prstGeom>
          <a:solidFill>
            <a:schemeClr val="accent2">
              <a:alpha val="14000"/>
            </a:schemeClr>
          </a:solidFill>
          <a:ln/>
        </p:spPr>
      </p:sp>
      <p:pic>
        <p:nvPicPr>
          <p:cNvPr id="13" name="arrows down up icon" descr="arrows down up icon">    </p:cNvPr>
          <p:cNvPicPr>
            <a:picLocks noChangeAspect="1"/>
          </p:cNvPicPr>
          <p:nvPr/>
        </p:nvPicPr>
        <p:blipFill>
          <a:blip r:embed="rId1"/>
          <a:stretch>
            <a:fillRect/>
          </a:stretch>
        </p:blipFill>
        <p:spPr>
          <a:xfrm>
            <a:off x="8245693" y="1982053"/>
            <a:ext cx="296997" cy="296997"/>
          </a:xfrm>
          <a:prstGeom prst="rect">
            <a:avLst/>
          </a:prstGeom>
        </p:spPr>
      </p:pic>
      <p:sp>
        <p:nvSpPr>
          <p:cNvPr id="14" name="Text 10"/>
          <p:cNvSpPr txBox="1"/>
          <p:nvPr/>
        </p:nvSpPr>
        <p:spPr>
          <a:xfrm>
            <a:off x="8796528" y="1874520"/>
            <a:ext cx="2681935" cy="512064"/>
          </a:xfrm>
          <a:prstGeom prst="rect">
            <a:avLst/>
          </a:prstGeom>
          <a:noFill/>
          <a:ln/>
        </p:spPr>
        <p:txBody>
          <a:bodyPr wrap="square" lIns="0" tIns="0" rIns="0" bIns="0" rtlCol="0" anchor="ctr"/>
          <a:lstStyle/>
          <a:p>
            <a:pPr indent="0" marL="0">
              <a:buNone/>
            </a:pPr>
            <a:r>
              <a:rPr lang="en-IE" sz="1600" b="1" dirty="0">
                <a:solidFill>
                  <a:schemeClr val="tx1"/>
                </a:solidFill>
              </a:rPr>
              <a:t>The cast</a:t>
            </a:r>
            <a:endParaRPr lang="en-IE" sz="1600" dirty="0"/>
          </a:p>
        </p:txBody>
      </p:sp>
      <p:sp>
        <p:nvSpPr>
          <p:cNvPr id="15" name="Text 11"/>
          <p:cNvSpPr txBox="1"/>
          <p:nvPr/>
        </p:nvSpPr>
        <p:spPr>
          <a:xfrm>
            <a:off x="8138160" y="2441448"/>
            <a:ext cx="3322015" cy="502920"/>
          </a:xfrm>
          <a:prstGeom prst="rect">
            <a:avLst/>
          </a:prstGeom>
          <a:noFill/>
          <a:ln/>
        </p:spPr>
        <p:txBody>
          <a:bodyPr wrap="square" lIns="0" tIns="0" rIns="0" bIns="0" rtlCol="0" anchor="t"/>
          <a:lstStyle/>
          <a:p>
            <a:pPr indent="0" marL="0">
              <a:buNone/>
            </a:pPr>
            <a:r>
              <a:rPr lang="en-IE" sz="1350" dirty="0">
                <a:solidFill>
                  <a:schemeClr val="tx2"/>
                </a:solidFill>
              </a:rPr>
              <a:t>clone() returns an Object, so we cast it back to Employee.</a:t>
            </a:r>
            <a:endParaRPr lang="en-IE" sz="1350" dirty="0"/>
          </a:p>
        </p:txBody>
      </p:sp>
      <p:sp>
        <p:nvSpPr>
          <p:cNvPr id="16" name="try and catch"/>
          <p:cNvSpPr/>
          <p:nvPr/>
        </p:nvSpPr>
        <p:spPr>
          <a:xfrm>
            <a:off x="7955280" y="3154680"/>
            <a:ext cx="3687775" cy="1298448"/>
          </a:xfrm>
          <a:prstGeom prst="roundRect">
            <a:avLst>
              <a:gd name="adj" fmla="val 8451"/>
            </a:avLst>
          </a:prstGeom>
          <a:solidFill>
            <a:schemeClr val="bg1"/>
          </a:solidFill>
          <a:ln/>
          <a:effectLst>
            <a:outerShdw sx="100000" sy="100000" kx="0" ky="0" algn="bl" rotWithShape="0" blurRad="114300" dist="31750" dir="5400000">
              <a:srgbClr val="1D2433">
                <a:alpha val="12000"/>
              </a:srgbClr>
            </a:outerShdw>
          </a:effectLst>
        </p:spPr>
      </p:sp>
      <p:sp>
        <p:nvSpPr>
          <p:cNvPr id="17" name="Icon tile"/>
          <p:cNvSpPr/>
          <p:nvPr/>
        </p:nvSpPr>
        <p:spPr>
          <a:xfrm>
            <a:off x="8138160" y="3337560"/>
            <a:ext cx="512064" cy="512064"/>
          </a:xfrm>
          <a:prstGeom prst="roundRect">
            <a:avLst>
              <a:gd name="adj" fmla="val 24000"/>
            </a:avLst>
          </a:prstGeom>
          <a:solidFill>
            <a:schemeClr val="accent1">
              <a:alpha val="14000"/>
            </a:schemeClr>
          </a:solidFill>
          <a:ln/>
        </p:spPr>
      </p:sp>
      <p:pic>
        <p:nvPicPr>
          <p:cNvPr id="18" name="warning icon" descr="warning icon">    </p:cNvPr>
          <p:cNvPicPr>
            <a:picLocks noChangeAspect="1"/>
          </p:cNvPicPr>
          <p:nvPr/>
        </p:nvPicPr>
        <p:blipFill>
          <a:blip r:embed="rId2"/>
          <a:stretch>
            <a:fillRect/>
          </a:stretch>
        </p:blipFill>
        <p:spPr>
          <a:xfrm>
            <a:off x="8245693" y="3445093"/>
            <a:ext cx="296997" cy="296997"/>
          </a:xfrm>
          <a:prstGeom prst="rect">
            <a:avLst/>
          </a:prstGeom>
        </p:spPr>
      </p:pic>
      <p:sp>
        <p:nvSpPr>
          <p:cNvPr id="19" name="Text 14"/>
          <p:cNvSpPr txBox="1"/>
          <p:nvPr/>
        </p:nvSpPr>
        <p:spPr>
          <a:xfrm>
            <a:off x="8796528" y="3337560"/>
            <a:ext cx="2681935" cy="512064"/>
          </a:xfrm>
          <a:prstGeom prst="rect">
            <a:avLst/>
          </a:prstGeom>
          <a:noFill/>
          <a:ln/>
        </p:spPr>
        <p:txBody>
          <a:bodyPr wrap="square" lIns="0" tIns="0" rIns="0" bIns="0" rtlCol="0" anchor="ctr"/>
          <a:lstStyle/>
          <a:p>
            <a:pPr indent="0" marL="0">
              <a:buNone/>
            </a:pPr>
            <a:r>
              <a:rPr lang="en-IE" sz="1600" b="1" dirty="0">
                <a:solidFill>
                  <a:schemeClr val="tx1"/>
                </a:solidFill>
              </a:rPr>
              <a:t>try and catch</a:t>
            </a:r>
            <a:endParaRPr lang="en-IE" sz="1600" dirty="0"/>
          </a:p>
        </p:txBody>
      </p:sp>
      <p:sp>
        <p:nvSpPr>
          <p:cNvPr id="20" name="Text 15"/>
          <p:cNvSpPr txBox="1"/>
          <p:nvPr/>
        </p:nvSpPr>
        <p:spPr>
          <a:xfrm>
            <a:off x="8138160" y="3904488"/>
            <a:ext cx="3322015" cy="502920"/>
          </a:xfrm>
          <a:prstGeom prst="rect">
            <a:avLst/>
          </a:prstGeom>
          <a:noFill/>
          <a:ln/>
        </p:spPr>
        <p:txBody>
          <a:bodyPr wrap="square" lIns="0" tIns="0" rIns="0" bIns="0" rtlCol="0" anchor="t"/>
          <a:lstStyle/>
          <a:p>
            <a:pPr indent="0" marL="0">
              <a:buNone/>
            </a:pPr>
            <a:r>
              <a:rPr lang="en-IE" sz="1350" dirty="0">
                <a:solidFill>
                  <a:schemeClr val="tx2"/>
                </a:solidFill>
              </a:rPr>
              <a:t>clone() can throw CloneNotSupportedException.</a:t>
            </a:r>
            <a:endParaRPr lang="en-IE" sz="1350" dirty="0"/>
          </a:p>
        </p:txBody>
      </p:sp>
      <p:sp>
        <p:nvSpPr>
          <p:cNvPr id="21" name="The result"/>
          <p:cNvSpPr/>
          <p:nvPr/>
        </p:nvSpPr>
        <p:spPr>
          <a:xfrm>
            <a:off x="7955280" y="4617720"/>
            <a:ext cx="3687775" cy="1298448"/>
          </a:xfrm>
          <a:prstGeom prst="roundRect">
            <a:avLst>
              <a:gd name="adj" fmla="val 8451"/>
            </a:avLst>
          </a:prstGeom>
          <a:solidFill>
            <a:schemeClr val="bg1"/>
          </a:solidFill>
          <a:ln/>
          <a:effectLst>
            <a:outerShdw sx="100000" sy="100000" kx="0" ky="0" algn="bl" rotWithShape="0" blurRad="114300" dist="31750" dir="5400000">
              <a:srgbClr val="1D2433">
                <a:alpha val="12000"/>
              </a:srgbClr>
            </a:outerShdw>
          </a:effectLst>
        </p:spPr>
      </p:sp>
      <p:sp>
        <p:nvSpPr>
          <p:cNvPr id="22" name="Icon tile"/>
          <p:cNvSpPr/>
          <p:nvPr/>
        </p:nvSpPr>
        <p:spPr>
          <a:xfrm>
            <a:off x="8138160" y="4800600"/>
            <a:ext cx="512064" cy="512064"/>
          </a:xfrm>
          <a:prstGeom prst="roundRect">
            <a:avLst>
              <a:gd name="adj" fmla="val 24000"/>
            </a:avLst>
          </a:prstGeom>
          <a:solidFill>
            <a:schemeClr val="accent3">
              <a:alpha val="14000"/>
            </a:schemeClr>
          </a:solidFill>
          <a:ln/>
        </p:spPr>
      </p:sp>
      <p:pic>
        <p:nvPicPr>
          <p:cNvPr id="23" name="copy icon" descr="copy icon">    </p:cNvPr>
          <p:cNvPicPr>
            <a:picLocks noChangeAspect="1"/>
          </p:cNvPicPr>
          <p:nvPr/>
        </p:nvPicPr>
        <p:blipFill>
          <a:blip r:embed="rId3"/>
          <a:stretch>
            <a:fillRect/>
          </a:stretch>
        </p:blipFill>
        <p:spPr>
          <a:xfrm>
            <a:off x="8245693" y="4908133"/>
            <a:ext cx="296997" cy="296997"/>
          </a:xfrm>
          <a:prstGeom prst="rect">
            <a:avLst/>
          </a:prstGeom>
        </p:spPr>
      </p:pic>
      <p:sp>
        <p:nvSpPr>
          <p:cNvPr id="24" name="Text 18"/>
          <p:cNvSpPr txBox="1"/>
          <p:nvPr/>
        </p:nvSpPr>
        <p:spPr>
          <a:xfrm>
            <a:off x="8796528" y="4800600"/>
            <a:ext cx="2681935" cy="512064"/>
          </a:xfrm>
          <a:prstGeom prst="rect">
            <a:avLst/>
          </a:prstGeom>
          <a:noFill/>
          <a:ln/>
        </p:spPr>
        <p:txBody>
          <a:bodyPr wrap="square" lIns="0" tIns="0" rIns="0" bIns="0" rtlCol="0" anchor="ctr"/>
          <a:lstStyle/>
          <a:p>
            <a:pPr indent="0" marL="0">
              <a:buNone/>
            </a:pPr>
            <a:r>
              <a:rPr lang="en-IE" sz="1600" b="1" dirty="0">
                <a:solidFill>
                  <a:schemeClr val="tx1"/>
                </a:solidFill>
              </a:rPr>
              <a:t>The result</a:t>
            </a:r>
            <a:endParaRPr lang="en-IE" sz="1600" dirty="0"/>
          </a:p>
        </p:txBody>
      </p:sp>
      <p:sp>
        <p:nvSpPr>
          <p:cNvPr id="25" name="Text 19"/>
          <p:cNvSpPr txBox="1"/>
          <p:nvPr/>
        </p:nvSpPr>
        <p:spPr>
          <a:xfrm>
            <a:off x="8138160" y="5367528"/>
            <a:ext cx="3322015" cy="502920"/>
          </a:xfrm>
          <a:prstGeom prst="rect">
            <a:avLst/>
          </a:prstGeom>
          <a:noFill/>
          <a:ln/>
        </p:spPr>
        <p:txBody>
          <a:bodyPr wrap="square" lIns="0" tIns="0" rIns="0" bIns="0" rtlCol="0" anchor="t"/>
          <a:lstStyle/>
          <a:p>
            <a:pPr indent="0" marL="0">
              <a:buNone/>
            </a:pPr>
            <a:r>
              <a:rPr lang="en-IE" sz="1350" dirty="0">
                <a:solidFill>
                  <a:schemeClr val="tx2"/>
                </a:solidFill>
              </a:rPr>
              <a:t>Two objects, with different hash codes, holding the same name.</a:t>
            </a:r>
            <a:endParaRPr lang="en-IE" sz="13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43</a:t>
            </a:fld>
            <a:endParaRPr lang="en-IE"/>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13</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clone()</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Employee overrides clone() with </a:t>
            </a:r>
            <a:r>
              <a:rPr lang="en-IE" sz="2800" b="1" dirty="0">
                <a:solidFill>
                  <a:schemeClr val="accent2"/>
                </a:solidFill>
                <a:latin typeface="Consolas" pitchFamily="34" charset="0"/>
                <a:ea typeface="Consolas" pitchFamily="34" charset="-122"/>
                <a:cs typeface="Consolas" pitchFamily="34" charset="-120"/>
              </a:rPr>
              <a:t>return super.clone();</a:t>
            </a:r>
            <a:r>
              <a:rPr lang="en-IE" sz="2800" b="1" dirty="0">
                <a:solidFill>
                  <a:schemeClr val="tx1"/>
                </a:solidFill>
              </a:rPr>
              <a:t> but doesn’t implement Cloneable. What happens when clone() is called?</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Compile error: Cloneable is missing</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throws CloneNotSupportedException</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returns null instead of a copy</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copies the object anyway</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44</a:t>
            </a:fld>
            <a:endParaRPr lang="en-IE"/>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13</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clone()</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Employee overrides clone() with </a:t>
            </a:r>
            <a:r>
              <a:rPr lang="en-IE" sz="2000" b="1" dirty="0">
                <a:solidFill>
                  <a:schemeClr val="tx2"/>
                </a:solidFill>
                <a:latin typeface="Consolas" pitchFamily="34" charset="0"/>
                <a:ea typeface="Consolas" pitchFamily="34" charset="-122"/>
                <a:cs typeface="Consolas" pitchFamily="34" charset="-120"/>
              </a:rPr>
              <a:t>return super.clone();</a:t>
            </a:r>
            <a:r>
              <a:rPr lang="en-IE" sz="2000" b="1" dirty="0">
                <a:solidFill>
                  <a:schemeClr val="tx2"/>
                </a:solidFill>
              </a:rPr>
              <a:t> but doesn’t implement Cloneable. What happens when clone() is called?</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Compile error: Cloneable is missing</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It throws CloneNotSupportedException</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returns null instead of a copy</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copies the object anyway</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The code compiles, because every class inherits </a:t>
            </a:r>
            <a:r>
              <a:rPr lang="en-IE" sz="1800" dirty="0">
                <a:solidFill>
                  <a:schemeClr val="accent2"/>
                </a:solidFill>
                <a:latin typeface="Consolas" pitchFamily="34" charset="0"/>
                <a:ea typeface="Consolas" pitchFamily="34" charset="-122"/>
                <a:cs typeface="Consolas" pitchFamily="34" charset="-120"/>
              </a:rPr>
              <a:t>clone()</a:t>
            </a:r>
            <a:r>
              <a:rPr lang="en-IE" sz="1800" dirty="0">
                <a:solidFill>
                  <a:schemeClr val="tx1"/>
                </a:solidFill>
              </a:rPr>
              <a:t> from Object. When it runs, Object’s </a:t>
            </a:r>
            <a:r>
              <a:rPr lang="en-IE" sz="1800" dirty="0">
                <a:solidFill>
                  <a:schemeClr val="accent2"/>
                </a:solidFill>
                <a:latin typeface="Consolas" pitchFamily="34" charset="0"/>
                <a:ea typeface="Consolas" pitchFamily="34" charset="-122"/>
                <a:cs typeface="Consolas" pitchFamily="34" charset="-120"/>
              </a:rPr>
              <a:t>clone()</a:t>
            </a:r>
            <a:r>
              <a:rPr lang="en-IE" sz="1800" dirty="0">
                <a:solidFill>
                  <a:schemeClr val="tx1"/>
                </a:solidFill>
              </a:rPr>
              <a:t> checks for Cloneable, doesn’t find it and throws CloneNotSupportedException. Cloneable has no methods; it only marks the class as allowed to be cloned.</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45</a:t>
            </a:fld>
            <a:endParaRPr lang="en-IE"/>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COPYING OBJECTS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Copy constructors</a:t>
            </a:r>
            <a:endParaRPr lang="en-IE" sz="3400" dirty="0"/>
          </a:p>
        </p:txBody>
      </p:sp>
      <p:sp>
        <p:nvSpPr>
          <p:cNvPr id="5" name="Text 2"/>
          <p:cNvSpPr txBox="1"/>
          <p:nvPr/>
        </p:nvSpPr>
        <p:spPr>
          <a:xfrm>
            <a:off x="548640" y="1783080"/>
            <a:ext cx="4846320" cy="292608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A copy constructor is a normal constructor that takes another object of the same class.</a:t>
            </a:r>
            <a:endParaRPr lang="en-IE" sz="1800" dirty="0"/>
          </a:p>
          <a:p>
            <a:pPr marL="228600" indent="-228600">
              <a:spcAft>
                <a:spcPts val="1200"/>
              </a:spcAft>
              <a:buSzPct val="100000"/>
              <a:buChar char="•"/>
            </a:pPr>
            <a:r>
              <a:rPr lang="en-IE" sz="1800" dirty="0">
                <a:solidFill>
                  <a:schemeClr val="tx1"/>
                </a:solidFill>
              </a:rPr>
              <a:t>It copies each attribute from that object into the new one.</a:t>
            </a:r>
            <a:endParaRPr lang="en-IE" sz="1800" dirty="0"/>
          </a:p>
          <a:p>
            <a:pPr marL="228600" indent="-228600">
              <a:buSzPct val="100000"/>
              <a:buChar char="•"/>
            </a:pPr>
            <a:r>
              <a:rPr lang="en-IE" sz="1800" dirty="0">
                <a:solidFill>
                  <a:schemeClr val="tx1"/>
                </a:solidFill>
              </a:rPr>
              <a:t>No Cloneable, no exception and no cast needed.</a:t>
            </a:r>
            <a:endParaRPr lang="en-IE" sz="1800" dirty="0"/>
          </a:p>
        </p:txBody>
      </p:sp>
      <p:sp>
        <p:nvSpPr>
          <p:cNvPr id="6" name="Text 3"/>
          <p:cNvSpPr txBox="1"/>
          <p:nvPr/>
        </p:nvSpPr>
        <p:spPr>
          <a:xfrm>
            <a:off x="548640" y="4800600"/>
            <a:ext cx="3657600" cy="292608"/>
          </a:xfrm>
          <a:prstGeom prst="rect">
            <a:avLst/>
          </a:prstGeom>
          <a:noFill/>
          <a:ln/>
        </p:spPr>
        <p:txBody>
          <a:bodyPr wrap="square" lIns="0" tIns="0" rIns="0" bIns="0" rtlCol="0" anchor="t"/>
          <a:lstStyle/>
          <a:p>
            <a:pPr indent="0" marL="0">
              <a:buNone/>
            </a:pPr>
            <a:r>
              <a:rPr lang="en-IE" sz="1350" b="1" dirty="0">
                <a:solidFill>
                  <a:schemeClr val="tx2"/>
                </a:solidFill>
              </a:rPr>
              <a:t>Using it</a:t>
            </a:r>
            <a:endParaRPr lang="en-IE" sz="1350" dirty="0"/>
          </a:p>
        </p:txBody>
      </p:sp>
      <p:sp>
        <p:nvSpPr>
          <p:cNvPr id="7" name="Code chip"/>
          <p:cNvSpPr/>
          <p:nvPr/>
        </p:nvSpPr>
        <p:spPr>
          <a:xfrm>
            <a:off x="548640" y="5138928"/>
            <a:ext cx="4846320" cy="502920"/>
          </a:xfrm>
          <a:prstGeom prst="roundRect">
            <a:avLst>
              <a:gd name="adj" fmla="val 14545"/>
            </a:avLst>
          </a:prstGeom>
          <a:solidFill>
            <a:schemeClr val="bg2"/>
          </a:solidFill>
          <a:ln/>
        </p:spPr>
        <p:txBody>
          <a:bodyPr wrap="square" lIns="0" tIns="0" rIns="0" bIns="0" rtlCol="0" anchor="ctr"/>
          <a:lstStyle/>
          <a:p>
            <a:pPr algn="ctr" indent="0" marL="0">
              <a:buNone/>
            </a:pPr>
            <a:r>
              <a:rPr lang="en-IE" sz="1600" dirty="0">
                <a:solidFill>
                  <a:schemeClr val="accent2"/>
                </a:solidFill>
                <a:latin typeface="Consolas" pitchFamily="34" charset="0"/>
                <a:ea typeface="Consolas" pitchFamily="34" charset="-122"/>
                <a:cs typeface="Consolas" pitchFamily="34" charset="-120"/>
              </a:rPr>
              <a:t>Job copy = new Job(original);</a:t>
            </a:r>
            <a:endParaRPr lang="en-IE" sz="1600" dirty="0"/>
          </a:p>
        </p:txBody>
      </p:sp>
      <p:sp>
        <p:nvSpPr>
          <p:cNvPr id="8" name="Job card"/>
          <p:cNvSpPr/>
          <p:nvPr/>
        </p:nvSpPr>
        <p:spPr>
          <a:xfrm>
            <a:off x="5760720" y="1691640"/>
            <a:ext cx="5882335" cy="4031488"/>
          </a:xfrm>
          <a:prstGeom prst="roundRect">
            <a:avLst>
              <a:gd name="adj" fmla="val 2722"/>
            </a:avLst>
          </a:prstGeom>
          <a:solidFill>
            <a:schemeClr val="tx1"/>
          </a:solidFill>
          <a:ln/>
          <a:effectLst>
            <a:outerShdw sx="100000" sy="100000" kx="0" ky="0" algn="bl" rotWithShape="0" blurRad="114300" dist="31750" dir="5400000">
              <a:srgbClr val="1D2433">
                <a:alpha val="12000"/>
              </a:srgbClr>
            </a:outerShdw>
          </a:effectLst>
        </p:spPr>
      </p:sp>
      <p:sp>
        <p:nvSpPr>
          <p:cNvPr id="9" name="Job language"/>
          <p:cNvSpPr txBox="1"/>
          <p:nvPr/>
        </p:nvSpPr>
        <p:spPr>
          <a:xfrm>
            <a:off x="6035040" y="1810512"/>
            <a:ext cx="533369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0" name="Job text"/>
          <p:cNvSpPr txBox="1"/>
          <p:nvPr/>
        </p:nvSpPr>
        <p:spPr>
          <a:xfrm>
            <a:off x="6035040" y="2185416"/>
            <a:ext cx="5333695" cy="3336544"/>
          </a:xfrm>
          <a:prstGeom prst="rect">
            <a:avLst/>
          </a:prstGeom>
          <a:noFill/>
          <a:ln/>
        </p:spPr>
        <p:txBody>
          <a:bodyPr wrap="square" lIns="0" tIns="0" rIns="0" bIns="0" rtlCol="0" anchor="t"/>
          <a:lstStyle/>
          <a:p>
            <a:pPr indent="0" marL="0">
              <a:lnSpc>
                <a:spcPts val="1520"/>
              </a:lnSpc>
              <a:buNone/>
            </a:pPr>
            <a:r>
              <a:rPr lang="en-IE" sz="1150" dirty="0">
                <a:solidFill>
                  <a:srgbClr val="FF9F5A"/>
                </a:solidFill>
                <a:latin typeface="Consolas" pitchFamily="34" charset="0"/>
                <a:ea typeface="Consolas" pitchFamily="34" charset="-122"/>
                <a:cs typeface="Consolas" pitchFamily="34" charset="-120"/>
              </a:rPr>
              <a:t>public</a:t>
            </a: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class</a:t>
            </a: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6CC4E8"/>
                </a:solidFill>
                <a:latin typeface="Consolas" pitchFamily="34" charset="0"/>
                <a:ea typeface="Consolas" pitchFamily="34" charset="-122"/>
                <a:cs typeface="Consolas" pitchFamily="34" charset="-120"/>
              </a:rPr>
              <a:t>Job</a:t>
            </a:r>
            <a:r>
              <a:rPr lang="en-IE" sz="1150" dirty="0">
                <a:solidFill>
                  <a:srgbClr val="E6EBF2"/>
                </a:solidFill>
                <a:latin typeface="Consolas" pitchFamily="34" charset="0"/>
                <a:ea typeface="Consolas" pitchFamily="34" charset="-122"/>
                <a:cs typeface="Consolas" pitchFamily="34" charset="-120"/>
              </a:rPr>
              <a:t> {</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private</a:t>
            </a: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6CC4E8"/>
                </a:solidFill>
                <a:latin typeface="Consolas" pitchFamily="34" charset="0"/>
                <a:ea typeface="Consolas" pitchFamily="34" charset="-122"/>
                <a:cs typeface="Consolas" pitchFamily="34" charset="-120"/>
              </a:rPr>
              <a:t>String</a:t>
            </a:r>
            <a:r>
              <a:rPr lang="en-IE" sz="1150" dirty="0">
                <a:solidFill>
                  <a:srgbClr val="E6EBF2"/>
                </a:solidFill>
                <a:latin typeface="Consolas" pitchFamily="34" charset="0"/>
                <a:ea typeface="Consolas" pitchFamily="34" charset="-122"/>
                <a:cs typeface="Consolas" pitchFamily="34" charset="-120"/>
              </a:rPr>
              <a:t> title;</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private</a:t>
            </a: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6CC4E8"/>
                </a:solidFill>
                <a:latin typeface="Consolas" pitchFamily="34" charset="0"/>
                <a:ea typeface="Consolas" pitchFamily="34" charset="-122"/>
                <a:cs typeface="Consolas" pitchFamily="34" charset="-120"/>
              </a:rPr>
              <a:t>String</a:t>
            </a:r>
            <a:r>
              <a:rPr lang="en-IE" sz="1150" dirty="0">
                <a:solidFill>
                  <a:srgbClr val="E6EBF2"/>
                </a:solidFill>
                <a:latin typeface="Consolas" pitchFamily="34" charset="0"/>
                <a:ea typeface="Consolas" pitchFamily="34" charset="-122"/>
                <a:cs typeface="Consolas" pitchFamily="34" charset="-120"/>
              </a:rPr>
              <a:t> duty;</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private</a:t>
            </a: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6CC4E8"/>
                </a:solidFill>
                <a:latin typeface="Consolas" pitchFamily="34" charset="0"/>
                <a:ea typeface="Consolas" pitchFamily="34" charset="-122"/>
                <a:cs typeface="Consolas" pitchFamily="34" charset="-120"/>
              </a:rPr>
              <a:t>String</a:t>
            </a:r>
            <a:r>
              <a:rPr lang="en-IE" sz="1150" dirty="0">
                <a:solidFill>
                  <a:srgbClr val="E6EBF2"/>
                </a:solidFill>
                <a:latin typeface="Consolas" pitchFamily="34" charset="0"/>
                <a:ea typeface="Consolas" pitchFamily="34" charset="-122"/>
                <a:cs typeface="Consolas" pitchFamily="34" charset="-120"/>
              </a:rPr>
              <a:t> client;</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public</a:t>
            </a: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C9B0FF"/>
                </a:solidFill>
                <a:latin typeface="Consolas" pitchFamily="34" charset="0"/>
                <a:ea typeface="Consolas" pitchFamily="34" charset="-122"/>
                <a:cs typeface="Consolas" pitchFamily="34" charset="-120"/>
              </a:rPr>
              <a:t>Job</a:t>
            </a:r>
            <a:r>
              <a:rPr lang="en-IE" sz="1150" dirty="0">
                <a:solidFill>
                  <a:srgbClr val="E6EBF2"/>
                </a:solidFill>
                <a:latin typeface="Consolas" pitchFamily="34" charset="0"/>
                <a:ea typeface="Consolas" pitchFamily="34" charset="-122"/>
                <a:cs typeface="Consolas" pitchFamily="34" charset="-120"/>
              </a:rPr>
              <a:t>(</a:t>
            </a:r>
            <a:r>
              <a:rPr lang="en-IE" sz="1150" dirty="0">
                <a:solidFill>
                  <a:srgbClr val="6CC4E8"/>
                </a:solidFill>
                <a:latin typeface="Consolas" pitchFamily="34" charset="0"/>
                <a:ea typeface="Consolas" pitchFamily="34" charset="-122"/>
                <a:cs typeface="Consolas" pitchFamily="34" charset="-120"/>
              </a:rPr>
              <a:t>String</a:t>
            </a:r>
            <a:r>
              <a:rPr lang="en-IE" sz="1150" dirty="0">
                <a:solidFill>
                  <a:srgbClr val="E6EBF2"/>
                </a:solidFill>
                <a:latin typeface="Consolas" pitchFamily="34" charset="0"/>
                <a:ea typeface="Consolas" pitchFamily="34" charset="-122"/>
                <a:cs typeface="Consolas" pitchFamily="34" charset="-120"/>
              </a:rPr>
              <a:t> title, </a:t>
            </a:r>
            <a:r>
              <a:rPr lang="en-IE" sz="1150" dirty="0">
                <a:solidFill>
                  <a:srgbClr val="6CC4E8"/>
                </a:solidFill>
                <a:latin typeface="Consolas" pitchFamily="34" charset="0"/>
                <a:ea typeface="Consolas" pitchFamily="34" charset="-122"/>
                <a:cs typeface="Consolas" pitchFamily="34" charset="-120"/>
              </a:rPr>
              <a:t>String</a:t>
            </a:r>
            <a:r>
              <a:rPr lang="en-IE" sz="1150" dirty="0">
                <a:solidFill>
                  <a:srgbClr val="E6EBF2"/>
                </a:solidFill>
                <a:latin typeface="Consolas" pitchFamily="34" charset="0"/>
                <a:ea typeface="Consolas" pitchFamily="34" charset="-122"/>
                <a:cs typeface="Consolas" pitchFamily="34" charset="-120"/>
              </a:rPr>
              <a:t> duty, </a:t>
            </a:r>
            <a:r>
              <a:rPr lang="en-IE" sz="1150" dirty="0">
                <a:solidFill>
                  <a:srgbClr val="6CC4E8"/>
                </a:solidFill>
                <a:latin typeface="Consolas" pitchFamily="34" charset="0"/>
                <a:ea typeface="Consolas" pitchFamily="34" charset="-122"/>
                <a:cs typeface="Consolas" pitchFamily="34" charset="-120"/>
              </a:rPr>
              <a:t>String</a:t>
            </a:r>
            <a:r>
              <a:rPr lang="en-IE" sz="1150" dirty="0">
                <a:solidFill>
                  <a:srgbClr val="E6EBF2"/>
                </a:solidFill>
                <a:latin typeface="Consolas" pitchFamily="34" charset="0"/>
                <a:ea typeface="Consolas" pitchFamily="34" charset="-122"/>
                <a:cs typeface="Consolas" pitchFamily="34" charset="-120"/>
              </a:rPr>
              <a:t> client) {</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this</a:t>
            </a:r>
            <a:r>
              <a:rPr lang="en-IE" sz="1150" dirty="0">
                <a:solidFill>
                  <a:srgbClr val="E6EBF2"/>
                </a:solidFill>
                <a:latin typeface="Consolas" pitchFamily="34" charset="0"/>
                <a:ea typeface="Consolas" pitchFamily="34" charset="-122"/>
                <a:cs typeface="Consolas" pitchFamily="34" charset="-120"/>
              </a:rPr>
              <a:t>.title = title;</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this</a:t>
            </a:r>
            <a:r>
              <a:rPr lang="en-IE" sz="1150" dirty="0">
                <a:solidFill>
                  <a:srgbClr val="E6EBF2"/>
                </a:solidFill>
                <a:latin typeface="Consolas" pitchFamily="34" charset="0"/>
                <a:ea typeface="Consolas" pitchFamily="34" charset="-122"/>
                <a:cs typeface="Consolas" pitchFamily="34" charset="-120"/>
              </a:rPr>
              <a:t>.duty = duty;</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this</a:t>
            </a:r>
            <a:r>
              <a:rPr lang="en-IE" sz="1150" dirty="0">
                <a:solidFill>
                  <a:srgbClr val="E6EBF2"/>
                </a:solidFill>
                <a:latin typeface="Consolas" pitchFamily="34" charset="0"/>
                <a:ea typeface="Consolas" pitchFamily="34" charset="-122"/>
                <a:cs typeface="Consolas" pitchFamily="34" charset="-120"/>
              </a:rPr>
              <a:t>.client = client;</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public</a:t>
            </a: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C9B0FF"/>
                </a:solidFill>
                <a:latin typeface="Consolas" pitchFamily="34" charset="0"/>
                <a:ea typeface="Consolas" pitchFamily="34" charset="-122"/>
                <a:cs typeface="Consolas" pitchFamily="34" charset="-120"/>
              </a:rPr>
              <a:t>Job</a:t>
            </a:r>
            <a:r>
              <a:rPr lang="en-IE" sz="1150" dirty="0">
                <a:solidFill>
                  <a:srgbClr val="E6EBF2"/>
                </a:solidFill>
                <a:latin typeface="Consolas" pitchFamily="34" charset="0"/>
                <a:ea typeface="Consolas" pitchFamily="34" charset="-122"/>
                <a:cs typeface="Consolas" pitchFamily="34" charset="-120"/>
              </a:rPr>
              <a:t>(</a:t>
            </a:r>
            <a:r>
              <a:rPr lang="en-IE" sz="1150" dirty="0">
                <a:solidFill>
                  <a:srgbClr val="6CC4E8"/>
                </a:solidFill>
                <a:latin typeface="Consolas" pitchFamily="34" charset="0"/>
                <a:ea typeface="Consolas" pitchFamily="34" charset="-122"/>
                <a:cs typeface="Consolas" pitchFamily="34" charset="-120"/>
              </a:rPr>
              <a:t>Job</a:t>
            </a:r>
            <a:r>
              <a:rPr lang="en-IE" sz="1150" dirty="0">
                <a:solidFill>
                  <a:srgbClr val="E6EBF2"/>
                </a:solidFill>
                <a:latin typeface="Consolas" pitchFamily="34" charset="0"/>
                <a:ea typeface="Consolas" pitchFamily="34" charset="-122"/>
                <a:cs typeface="Consolas" pitchFamily="34" charset="-120"/>
              </a:rPr>
              <a:t> jb) {   </a:t>
            </a:r>
            <a:r>
              <a:rPr lang="en-IE" sz="1150" i="1" dirty="0">
                <a:solidFill>
                  <a:srgbClr val="A3AEC2"/>
                </a:solidFill>
                <a:latin typeface="Consolas" pitchFamily="34" charset="0"/>
                <a:ea typeface="Consolas" pitchFamily="34" charset="-122"/>
                <a:cs typeface="Consolas" pitchFamily="34" charset="-120"/>
              </a:rPr>
              <a:t>// copy constructor</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this</a:t>
            </a:r>
            <a:r>
              <a:rPr lang="en-IE" sz="1150" dirty="0">
                <a:solidFill>
                  <a:srgbClr val="E6EBF2"/>
                </a:solidFill>
                <a:latin typeface="Consolas" pitchFamily="34" charset="0"/>
                <a:ea typeface="Consolas" pitchFamily="34" charset="-122"/>
                <a:cs typeface="Consolas" pitchFamily="34" charset="-120"/>
              </a:rPr>
              <a:t>.title = jb.title;</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this</a:t>
            </a:r>
            <a:r>
              <a:rPr lang="en-IE" sz="1150" dirty="0">
                <a:solidFill>
                  <a:srgbClr val="E6EBF2"/>
                </a:solidFill>
                <a:latin typeface="Consolas" pitchFamily="34" charset="0"/>
                <a:ea typeface="Consolas" pitchFamily="34" charset="-122"/>
                <a:cs typeface="Consolas" pitchFamily="34" charset="-120"/>
              </a:rPr>
              <a:t>.duty = jb.duty;</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FF9F5A"/>
                </a:solidFill>
                <a:latin typeface="Consolas" pitchFamily="34" charset="0"/>
                <a:ea typeface="Consolas" pitchFamily="34" charset="-122"/>
                <a:cs typeface="Consolas" pitchFamily="34" charset="-120"/>
              </a:rPr>
              <a:t>this</a:t>
            </a:r>
            <a:r>
              <a:rPr lang="en-IE" sz="1150" dirty="0">
                <a:solidFill>
                  <a:srgbClr val="E6EBF2"/>
                </a:solidFill>
                <a:latin typeface="Consolas" pitchFamily="34" charset="0"/>
                <a:ea typeface="Consolas" pitchFamily="34" charset="-122"/>
                <a:cs typeface="Consolas" pitchFamily="34" charset="-120"/>
              </a:rPr>
              <a:t>.client = jb.client;</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    }</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a:t>
            </a:r>
            <a:endParaRPr lang="en-IE" sz="11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46</a:t>
            </a:fld>
            <a:endParaRPr lang="en-IE"/>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14</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Copy constructors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After </a:t>
            </a:r>
            <a:r>
              <a:rPr lang="en-IE" sz="2800" b="1" dirty="0">
                <a:solidFill>
                  <a:schemeClr val="accent2"/>
                </a:solidFill>
                <a:latin typeface="Consolas" pitchFamily="34" charset="0"/>
                <a:ea typeface="Consolas" pitchFamily="34" charset="-122"/>
                <a:cs typeface="Consolas" pitchFamily="34" charset="-120"/>
              </a:rPr>
              <a:t>Job copy = new Job(original);</a:t>
            </a:r>
            <a:r>
              <a:rPr lang="en-IE" sz="2800" b="1" dirty="0">
                <a:solidFill>
                  <a:schemeClr val="tx1"/>
                </a:solidFill>
              </a:rPr>
              <a:t> using Job’s copy constructor, what does </a:t>
            </a:r>
            <a:r>
              <a:rPr lang="en-IE" sz="2800" b="1" dirty="0">
                <a:solidFill>
                  <a:schemeClr val="accent2"/>
                </a:solidFill>
                <a:latin typeface="Consolas" pitchFamily="34" charset="0"/>
                <a:ea typeface="Consolas" pitchFamily="34" charset="-122"/>
                <a:cs typeface="Consolas" pitchFamily="34" charset="-120"/>
              </a:rPr>
              <a:t>copy == original</a:t>
            </a:r>
            <a:r>
              <a:rPr lang="en-IE" sz="2800" b="1" dirty="0">
                <a:solidFill>
                  <a:schemeClr val="tx1"/>
                </a:solidFill>
              </a:rPr>
              <a:t> give?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true</a:t>
            </a:r>
            <a:r>
              <a:rPr lang="en-IE" sz="2000" dirty="0">
                <a:solidFill>
                  <a:schemeClr val="tx1"/>
                </a:solidFill>
              </a:rPr>
              <a:t>, because it’s a copy</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depends on the attributes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compile error</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false</a:t>
            </a:r>
            <a:r>
              <a:rPr lang="en-IE" sz="2000" dirty="0">
                <a:solidFill>
                  <a:schemeClr val="tx1"/>
                </a:solidFill>
              </a:rPr>
              <a:t>, because it’s a new object</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47</a:t>
            </a:fld>
            <a:endParaRPr lang="en-IE"/>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14</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Copy constructors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After </a:t>
            </a:r>
            <a:r>
              <a:rPr lang="en-IE" sz="2000" b="1" dirty="0">
                <a:solidFill>
                  <a:schemeClr val="tx2"/>
                </a:solidFill>
                <a:latin typeface="Consolas" pitchFamily="34" charset="0"/>
                <a:ea typeface="Consolas" pitchFamily="34" charset="-122"/>
                <a:cs typeface="Consolas" pitchFamily="34" charset="-120"/>
              </a:rPr>
              <a:t>Job copy = new Job(original);</a:t>
            </a:r>
            <a:r>
              <a:rPr lang="en-IE" sz="2000" b="1" dirty="0">
                <a:solidFill>
                  <a:schemeClr val="tx2"/>
                </a:solidFill>
              </a:rPr>
              <a:t> using Job’s copy constructor, what does </a:t>
            </a:r>
            <a:r>
              <a:rPr lang="en-IE" sz="2000" b="1" dirty="0">
                <a:solidFill>
                  <a:schemeClr val="tx2"/>
                </a:solidFill>
                <a:latin typeface="Consolas" pitchFamily="34" charset="0"/>
                <a:ea typeface="Consolas" pitchFamily="34" charset="-122"/>
                <a:cs typeface="Consolas" pitchFamily="34" charset="-120"/>
              </a:rPr>
              <a:t>copy == original</a:t>
            </a:r>
            <a:r>
              <a:rPr lang="en-IE" sz="2000" b="1" dirty="0">
                <a:solidFill>
                  <a:schemeClr val="tx2"/>
                </a:solidFill>
              </a:rPr>
              <a:t> give?</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true</a:t>
            </a:r>
            <a:r>
              <a:rPr lang="en-IE" sz="1700" dirty="0">
                <a:solidFill>
                  <a:schemeClr val="tx2"/>
                </a:solidFill>
              </a:rPr>
              <a:t>, because it’s a copy</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depends on the attributes</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A compile error</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false</a:t>
            </a:r>
            <a:r>
              <a:rPr lang="en-IE" sz="1700" b="1" dirty="0">
                <a:solidFill>
                  <a:schemeClr val="bg1"/>
                </a:solidFill>
              </a:rPr>
              <a:t>, because it’s a new object</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new</a:t>
            </a:r>
            <a:r>
              <a:rPr lang="en-IE" sz="1800" dirty="0">
                <a:solidFill>
                  <a:schemeClr val="tx1"/>
                </a:solidFill>
              </a:rPr>
              <a:t> always creates a new object. The copy constructor only fills its attributes with the original’s values, so copy and original are two objects with the same values, and == is false.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48</a:t>
            </a:fld>
            <a:endParaRPr lang="en-IE"/>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COPYING OBJECTS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Copying an object inside an object</a:t>
            </a:r>
            <a:endParaRPr lang="en-IE" sz="3400" dirty="0"/>
          </a:p>
        </p:txBody>
      </p:sp>
      <p:sp>
        <p:nvSpPr>
          <p:cNvPr id="5" name="Employee card"/>
          <p:cNvSpPr/>
          <p:nvPr/>
        </p:nvSpPr>
        <p:spPr>
          <a:xfrm>
            <a:off x="960120" y="1691640"/>
            <a:ext cx="5897880" cy="4361688"/>
          </a:xfrm>
          <a:prstGeom prst="roundRect">
            <a:avLst>
              <a:gd name="adj" fmla="val 2516"/>
            </a:avLst>
          </a:prstGeom>
          <a:solidFill>
            <a:schemeClr val="tx1"/>
          </a:solidFill>
          <a:ln/>
          <a:effectLst>
            <a:outerShdw sx="100000" sy="100000" kx="0" ky="0" algn="bl" rotWithShape="0" blurRad="114300" dist="31750" dir="5400000">
              <a:srgbClr val="1D2433">
                <a:alpha val="12000"/>
              </a:srgbClr>
            </a:outerShdw>
          </a:effectLst>
        </p:spPr>
      </p:sp>
      <p:sp>
        <p:nvSpPr>
          <p:cNvPr id="6" name="Employee language"/>
          <p:cNvSpPr txBox="1"/>
          <p:nvPr/>
        </p:nvSpPr>
        <p:spPr>
          <a:xfrm>
            <a:off x="1234440" y="1810512"/>
            <a:ext cx="534924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Employee text"/>
          <p:cNvSpPr txBox="1"/>
          <p:nvPr/>
        </p:nvSpPr>
        <p:spPr>
          <a:xfrm>
            <a:off x="1234440" y="2185416"/>
            <a:ext cx="5349240" cy="3666744"/>
          </a:xfrm>
          <a:prstGeom prst="rect">
            <a:avLst/>
          </a:prstGeom>
          <a:noFill/>
          <a:ln/>
        </p:spPr>
        <p:txBody>
          <a:bodyPr wrap="square" lIns="0" tIns="0" rIns="0" bIns="0" rtlCol="0" anchor="t"/>
          <a:lstStyle/>
          <a:p>
            <a:pPr indent="0" marL="0">
              <a:lnSpc>
                <a:spcPts val="1580"/>
              </a:lnSpc>
              <a:buNone/>
            </a:pPr>
            <a:r>
              <a:rPr lang="en-IE" sz="1200" dirty="0">
                <a:solidFill>
                  <a:srgbClr val="FF9F5A"/>
                </a:solidFill>
                <a:latin typeface="Consolas" pitchFamily="34" charset="0"/>
                <a:ea typeface="Consolas" pitchFamily="34" charset="-122"/>
                <a:cs typeface="Consolas" pitchFamily="34" charset="-120"/>
              </a:rPr>
              <a:t>public</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class</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6CC4E8"/>
                </a:solidFill>
                <a:latin typeface="Consolas" pitchFamily="34" charset="0"/>
                <a:ea typeface="Consolas" pitchFamily="34" charset="-122"/>
                <a:cs typeface="Consolas" pitchFamily="34" charset="-120"/>
              </a:rPr>
              <a:t>Employee</a:t>
            </a: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private</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6CC4E8"/>
                </a:solidFill>
                <a:latin typeface="Consolas" pitchFamily="34" charset="0"/>
                <a:ea typeface="Consolas" pitchFamily="34" charset="-122"/>
                <a:cs typeface="Consolas" pitchFamily="34" charset="-120"/>
              </a:rPr>
              <a:t>String</a:t>
            </a:r>
            <a:r>
              <a:rPr lang="en-IE" sz="1200" dirty="0">
                <a:solidFill>
                  <a:srgbClr val="E6EBF2"/>
                </a:solidFill>
                <a:latin typeface="Consolas" pitchFamily="34" charset="0"/>
                <a:ea typeface="Consolas" pitchFamily="34" charset="-122"/>
                <a:cs typeface="Consolas" pitchFamily="34" charset="-120"/>
              </a:rPr>
              <a:t> name;</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private</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6CC4E8"/>
                </a:solidFill>
                <a:latin typeface="Consolas" pitchFamily="34" charset="0"/>
                <a:ea typeface="Consolas" pitchFamily="34" charset="-122"/>
                <a:cs typeface="Consolas" pitchFamily="34" charset="-120"/>
              </a:rPr>
              <a:t>String</a:t>
            </a:r>
            <a:r>
              <a:rPr lang="en-IE" sz="1200" dirty="0">
                <a:solidFill>
                  <a:srgbClr val="E6EBF2"/>
                </a:solidFill>
                <a:latin typeface="Consolas" pitchFamily="34" charset="0"/>
                <a:ea typeface="Consolas" pitchFamily="34" charset="-122"/>
                <a:cs typeface="Consolas" pitchFamily="34" charset="-120"/>
              </a:rPr>
              <a:t> gender;</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private</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6CC4E8"/>
                </a:solidFill>
                <a:latin typeface="Consolas" pitchFamily="34" charset="0"/>
                <a:ea typeface="Consolas" pitchFamily="34" charset="-122"/>
                <a:cs typeface="Consolas" pitchFamily="34" charset="-120"/>
              </a:rPr>
              <a:t>Job</a:t>
            </a:r>
            <a:r>
              <a:rPr lang="en-IE" sz="1200" dirty="0">
                <a:solidFill>
                  <a:srgbClr val="E6EBF2"/>
                </a:solidFill>
                <a:latin typeface="Consolas" pitchFamily="34" charset="0"/>
                <a:ea typeface="Consolas" pitchFamily="34" charset="-122"/>
                <a:cs typeface="Consolas" pitchFamily="34" charset="-120"/>
              </a:rPr>
              <a:t> job;</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public</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C9B0FF"/>
                </a:solidFill>
                <a:latin typeface="Consolas" pitchFamily="34" charset="0"/>
                <a:ea typeface="Consolas" pitchFamily="34" charset="-122"/>
                <a:cs typeface="Consolas" pitchFamily="34" charset="-120"/>
              </a:rPr>
              <a:t>Employee</a:t>
            </a:r>
            <a:r>
              <a:rPr lang="en-IE" sz="1200" dirty="0">
                <a:solidFill>
                  <a:srgbClr val="E6EBF2"/>
                </a:solidFill>
                <a:latin typeface="Consolas" pitchFamily="34" charset="0"/>
                <a:ea typeface="Consolas" pitchFamily="34" charset="-122"/>
                <a:cs typeface="Consolas" pitchFamily="34" charset="-120"/>
              </a:rPr>
              <a:t>(</a:t>
            </a:r>
            <a:r>
              <a:rPr lang="en-IE" sz="1200" dirty="0">
                <a:solidFill>
                  <a:srgbClr val="6CC4E8"/>
                </a:solidFill>
                <a:latin typeface="Consolas" pitchFamily="34" charset="0"/>
                <a:ea typeface="Consolas" pitchFamily="34" charset="-122"/>
                <a:cs typeface="Consolas" pitchFamily="34" charset="-120"/>
              </a:rPr>
              <a:t>String</a:t>
            </a:r>
            <a:r>
              <a:rPr lang="en-IE" sz="1200" dirty="0">
                <a:solidFill>
                  <a:srgbClr val="E6EBF2"/>
                </a:solidFill>
                <a:latin typeface="Consolas" pitchFamily="34" charset="0"/>
                <a:ea typeface="Consolas" pitchFamily="34" charset="-122"/>
                <a:cs typeface="Consolas" pitchFamily="34" charset="-120"/>
              </a:rPr>
              <a:t> name, </a:t>
            </a:r>
            <a:r>
              <a:rPr lang="en-IE" sz="1200" dirty="0">
                <a:solidFill>
                  <a:srgbClr val="6CC4E8"/>
                </a:solidFill>
                <a:latin typeface="Consolas" pitchFamily="34" charset="0"/>
                <a:ea typeface="Consolas" pitchFamily="34" charset="-122"/>
                <a:cs typeface="Consolas" pitchFamily="34" charset="-120"/>
              </a:rPr>
              <a:t>String</a:t>
            </a:r>
            <a:r>
              <a:rPr lang="en-IE" sz="1200" dirty="0">
                <a:solidFill>
                  <a:srgbClr val="E6EBF2"/>
                </a:solidFill>
                <a:latin typeface="Consolas" pitchFamily="34" charset="0"/>
                <a:ea typeface="Consolas" pitchFamily="34" charset="-122"/>
                <a:cs typeface="Consolas" pitchFamily="34" charset="-120"/>
              </a:rPr>
              <a:t> gender,</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6CC4E8"/>
                </a:solidFill>
                <a:latin typeface="Consolas" pitchFamily="34" charset="0"/>
                <a:ea typeface="Consolas" pitchFamily="34" charset="-122"/>
                <a:cs typeface="Consolas" pitchFamily="34" charset="-120"/>
              </a:rPr>
              <a:t>String</a:t>
            </a:r>
            <a:r>
              <a:rPr lang="en-IE" sz="1200" dirty="0">
                <a:solidFill>
                  <a:srgbClr val="E6EBF2"/>
                </a:solidFill>
                <a:latin typeface="Consolas" pitchFamily="34" charset="0"/>
                <a:ea typeface="Consolas" pitchFamily="34" charset="-122"/>
                <a:cs typeface="Consolas" pitchFamily="34" charset="-120"/>
              </a:rPr>
              <a:t> title, </a:t>
            </a:r>
            <a:r>
              <a:rPr lang="en-IE" sz="1200" dirty="0">
                <a:solidFill>
                  <a:srgbClr val="6CC4E8"/>
                </a:solidFill>
                <a:latin typeface="Consolas" pitchFamily="34" charset="0"/>
                <a:ea typeface="Consolas" pitchFamily="34" charset="-122"/>
                <a:cs typeface="Consolas" pitchFamily="34" charset="-120"/>
              </a:rPr>
              <a:t>String</a:t>
            </a:r>
            <a:r>
              <a:rPr lang="en-IE" sz="1200" dirty="0">
                <a:solidFill>
                  <a:srgbClr val="E6EBF2"/>
                </a:solidFill>
                <a:latin typeface="Consolas" pitchFamily="34" charset="0"/>
                <a:ea typeface="Consolas" pitchFamily="34" charset="-122"/>
                <a:cs typeface="Consolas" pitchFamily="34" charset="-120"/>
              </a:rPr>
              <a:t> duty, </a:t>
            </a:r>
            <a:r>
              <a:rPr lang="en-IE" sz="1200" dirty="0">
                <a:solidFill>
                  <a:srgbClr val="6CC4E8"/>
                </a:solidFill>
                <a:latin typeface="Consolas" pitchFamily="34" charset="0"/>
                <a:ea typeface="Consolas" pitchFamily="34" charset="-122"/>
                <a:cs typeface="Consolas" pitchFamily="34" charset="-120"/>
              </a:rPr>
              <a:t>String</a:t>
            </a:r>
            <a:r>
              <a:rPr lang="en-IE" sz="1200" dirty="0">
                <a:solidFill>
                  <a:srgbClr val="E6EBF2"/>
                </a:solidFill>
                <a:latin typeface="Consolas" pitchFamily="34" charset="0"/>
                <a:ea typeface="Consolas" pitchFamily="34" charset="-122"/>
                <a:cs typeface="Consolas" pitchFamily="34" charset="-120"/>
              </a:rPr>
              <a:t> client)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this</a:t>
            </a:r>
            <a:r>
              <a:rPr lang="en-IE" sz="1200" dirty="0">
                <a:solidFill>
                  <a:srgbClr val="E6EBF2"/>
                </a:solidFill>
                <a:latin typeface="Consolas" pitchFamily="34" charset="0"/>
                <a:ea typeface="Consolas" pitchFamily="34" charset="-122"/>
                <a:cs typeface="Consolas" pitchFamily="34" charset="-120"/>
              </a:rPr>
              <a:t>.name = name;</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this</a:t>
            </a:r>
            <a:r>
              <a:rPr lang="en-IE" sz="1200" dirty="0">
                <a:solidFill>
                  <a:srgbClr val="E6EBF2"/>
                </a:solidFill>
                <a:latin typeface="Consolas" pitchFamily="34" charset="0"/>
                <a:ea typeface="Consolas" pitchFamily="34" charset="-122"/>
                <a:cs typeface="Consolas" pitchFamily="34" charset="-120"/>
              </a:rPr>
              <a:t>.gender = gender;</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job = </a:t>
            </a:r>
            <a:r>
              <a:rPr lang="en-IE" sz="1200" dirty="0">
                <a:solidFill>
                  <a:srgbClr val="FF9F5A"/>
                </a:solidFill>
                <a:latin typeface="Consolas" pitchFamily="34" charset="0"/>
                <a:ea typeface="Consolas" pitchFamily="34" charset="-122"/>
                <a:cs typeface="Consolas" pitchFamily="34" charset="-120"/>
              </a:rPr>
              <a:t>new</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C9B0FF"/>
                </a:solidFill>
                <a:latin typeface="Consolas" pitchFamily="34" charset="0"/>
                <a:ea typeface="Consolas" pitchFamily="34" charset="-122"/>
                <a:cs typeface="Consolas" pitchFamily="34" charset="-120"/>
              </a:rPr>
              <a:t>Job</a:t>
            </a:r>
            <a:r>
              <a:rPr lang="en-IE" sz="1200" dirty="0">
                <a:solidFill>
                  <a:srgbClr val="E6EBF2"/>
                </a:solidFill>
                <a:latin typeface="Consolas" pitchFamily="34" charset="0"/>
                <a:ea typeface="Consolas" pitchFamily="34" charset="-122"/>
                <a:cs typeface="Consolas" pitchFamily="34" charset="-120"/>
              </a:rPr>
              <a:t>(title, duty, client);</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public</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C9B0FF"/>
                </a:solidFill>
                <a:latin typeface="Consolas" pitchFamily="34" charset="0"/>
                <a:ea typeface="Consolas" pitchFamily="34" charset="-122"/>
                <a:cs typeface="Consolas" pitchFamily="34" charset="-120"/>
              </a:rPr>
              <a:t>Employee</a:t>
            </a:r>
            <a:r>
              <a:rPr lang="en-IE" sz="1200" dirty="0">
                <a:solidFill>
                  <a:srgbClr val="E6EBF2"/>
                </a:solidFill>
                <a:latin typeface="Consolas" pitchFamily="34" charset="0"/>
                <a:ea typeface="Consolas" pitchFamily="34" charset="-122"/>
                <a:cs typeface="Consolas" pitchFamily="34" charset="-120"/>
              </a:rPr>
              <a:t>(</a:t>
            </a:r>
            <a:r>
              <a:rPr lang="en-IE" sz="1200" dirty="0">
                <a:solidFill>
                  <a:srgbClr val="6CC4E8"/>
                </a:solidFill>
                <a:latin typeface="Consolas" pitchFamily="34" charset="0"/>
                <a:ea typeface="Consolas" pitchFamily="34" charset="-122"/>
                <a:cs typeface="Consolas" pitchFamily="34" charset="-120"/>
              </a:rPr>
              <a:t>Employee</a:t>
            </a:r>
            <a:r>
              <a:rPr lang="en-IE" sz="1200" dirty="0">
                <a:solidFill>
                  <a:srgbClr val="E6EBF2"/>
                </a:solidFill>
                <a:latin typeface="Consolas" pitchFamily="34" charset="0"/>
                <a:ea typeface="Consolas" pitchFamily="34" charset="-122"/>
                <a:cs typeface="Consolas" pitchFamily="34" charset="-120"/>
              </a:rPr>
              <a:t> emp) {   </a:t>
            </a:r>
            <a:r>
              <a:rPr lang="en-IE" sz="1200" i="1" dirty="0">
                <a:solidFill>
                  <a:srgbClr val="A3AEC2"/>
                </a:solidFill>
                <a:latin typeface="Consolas" pitchFamily="34" charset="0"/>
                <a:ea typeface="Consolas" pitchFamily="34" charset="-122"/>
                <a:cs typeface="Consolas" pitchFamily="34" charset="-120"/>
              </a:rPr>
              <a:t>// copy constructor</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this</a:t>
            </a:r>
            <a:r>
              <a:rPr lang="en-IE" sz="1200" dirty="0">
                <a:solidFill>
                  <a:srgbClr val="E6EBF2"/>
                </a:solidFill>
                <a:latin typeface="Consolas" pitchFamily="34" charset="0"/>
                <a:ea typeface="Consolas" pitchFamily="34" charset="-122"/>
                <a:cs typeface="Consolas" pitchFamily="34" charset="-120"/>
              </a:rPr>
              <a:t>.name = emp.name;</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this</a:t>
            </a:r>
            <a:r>
              <a:rPr lang="en-IE" sz="1200" dirty="0">
                <a:solidFill>
                  <a:srgbClr val="E6EBF2"/>
                </a:solidFill>
                <a:latin typeface="Consolas" pitchFamily="34" charset="0"/>
                <a:ea typeface="Consolas" pitchFamily="34" charset="-122"/>
                <a:cs typeface="Consolas" pitchFamily="34" charset="-120"/>
              </a:rPr>
              <a:t>.gender = emp.gender;</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this</a:t>
            </a:r>
            <a:r>
              <a:rPr lang="en-IE" sz="1200" dirty="0">
                <a:solidFill>
                  <a:srgbClr val="E6EBF2"/>
                </a:solidFill>
                <a:latin typeface="Consolas" pitchFamily="34" charset="0"/>
                <a:ea typeface="Consolas" pitchFamily="34" charset="-122"/>
                <a:cs typeface="Consolas" pitchFamily="34" charset="-120"/>
              </a:rPr>
              <a:t>.job = </a:t>
            </a:r>
            <a:r>
              <a:rPr lang="en-IE" sz="1200" dirty="0">
                <a:solidFill>
                  <a:srgbClr val="FF9F5A"/>
                </a:solidFill>
                <a:latin typeface="Consolas" pitchFamily="34" charset="0"/>
                <a:ea typeface="Consolas" pitchFamily="34" charset="-122"/>
                <a:cs typeface="Consolas" pitchFamily="34" charset="-120"/>
              </a:rPr>
              <a:t>new</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C9B0FF"/>
                </a:solidFill>
                <a:latin typeface="Consolas" pitchFamily="34" charset="0"/>
                <a:ea typeface="Consolas" pitchFamily="34" charset="-122"/>
                <a:cs typeface="Consolas" pitchFamily="34" charset="-120"/>
              </a:rPr>
              <a:t>Job</a:t>
            </a:r>
            <a:r>
              <a:rPr lang="en-IE" sz="1200" dirty="0">
                <a:solidFill>
                  <a:srgbClr val="E6EBF2"/>
                </a:solidFill>
                <a:latin typeface="Consolas" pitchFamily="34" charset="0"/>
                <a:ea typeface="Consolas" pitchFamily="34" charset="-122"/>
                <a:cs typeface="Consolas" pitchFamily="34" charset="-120"/>
              </a:rPr>
              <a:t>(emp.job);</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a:t>
            </a:r>
            <a:endParaRPr lang="en-IE" sz="1200" dirty="0"/>
          </a:p>
        </p:txBody>
      </p:sp>
      <p:sp>
        <p:nvSpPr>
          <p:cNvPr id="8" name="Marker !"/>
          <p:cNvSpPr/>
          <p:nvPr/>
        </p:nvSpPr>
        <p:spPr>
          <a:xfrm>
            <a:off x="548640" y="5121910"/>
            <a:ext cx="347472" cy="347472"/>
          </a:xfrm>
          <a:prstGeom prst="ellipse">
            <a:avLst/>
          </a:prstGeom>
          <a:solidFill>
            <a:schemeClr val="accent1"/>
          </a:solidFill>
          <a:ln/>
        </p:spPr>
        <p:txBody>
          <a:bodyPr wrap="square" lIns="0" tIns="0" rIns="0" bIns="0" rtlCol="0" anchor="ctr"/>
          <a:lstStyle/>
          <a:p>
            <a:pPr algn="ctr" indent="0" marL="0">
              <a:buNone/>
            </a:pPr>
            <a:r>
              <a:rPr lang="en-IE" sz="1400" b="1" dirty="0">
                <a:solidFill>
                  <a:schemeClr val="bg1"/>
                </a:solidFill>
              </a:rPr>
              <a:t>!</a:t>
            </a:r>
            <a:endParaRPr lang="en-IE" sz="1400" dirty="0"/>
          </a:p>
        </p:txBody>
      </p:sp>
      <p:sp>
        <p:nvSpPr>
          <p:cNvPr id="9" name="Code chip"/>
          <p:cNvSpPr/>
          <p:nvPr/>
        </p:nvSpPr>
        <p:spPr>
          <a:xfrm>
            <a:off x="7086600" y="1737360"/>
            <a:ext cx="4556455" cy="420624"/>
          </a:xfrm>
          <a:prstGeom prst="roundRect">
            <a:avLst>
              <a:gd name="adj" fmla="val 17391"/>
            </a:avLst>
          </a:prstGeom>
          <a:solidFill>
            <a:schemeClr val="bg2"/>
          </a:solidFill>
          <a:ln/>
        </p:spPr>
        <p:txBody>
          <a:bodyPr wrap="square" lIns="0" tIns="0" rIns="0" bIns="0" rtlCol="0" anchor="ctr"/>
          <a:lstStyle/>
          <a:p>
            <a:pPr algn="ctr" indent="0" marL="0">
              <a:buNone/>
            </a:pPr>
            <a:r>
              <a:rPr lang="en-IE" sz="1400" dirty="0">
                <a:solidFill>
                  <a:schemeClr val="accent2"/>
                </a:solidFill>
                <a:latin typeface="Consolas" pitchFamily="34" charset="0"/>
                <a:ea typeface="Consolas" pitchFamily="34" charset="-122"/>
                <a:cs typeface="Consolas" pitchFamily="34" charset="-120"/>
              </a:rPr>
              <a:t>this.job = emp.job;</a:t>
            </a:r>
            <a:endParaRPr lang="en-IE" sz="1400" dirty="0"/>
          </a:p>
        </p:txBody>
      </p:sp>
      <p:sp>
        <p:nvSpPr>
          <p:cNvPr id="10" name="Box emp1"/>
          <p:cNvSpPr/>
          <p:nvPr/>
        </p:nvSpPr>
        <p:spPr>
          <a:xfrm>
            <a:off x="7086600" y="2377440"/>
            <a:ext cx="1600200" cy="475488"/>
          </a:xfrm>
          <a:prstGeom prst="roundRect">
            <a:avLst>
              <a:gd name="adj" fmla="val 15385"/>
            </a:avLst>
          </a:prstGeom>
          <a:solidFill>
            <a:schemeClr val="accent2">
              <a:alpha val="14000"/>
            </a:schemeClr>
          </a:solidFill>
          <a:ln w="19050">
            <a:solidFill>
              <a:schemeClr val="accent2"/>
            </a:solidFill>
            <a:prstDash val="solid"/>
          </a:ln>
        </p:spPr>
      </p:sp>
      <p:sp>
        <p:nvSpPr>
          <p:cNvPr id="11" name="Text 8"/>
          <p:cNvSpPr txBox="1"/>
          <p:nvPr/>
        </p:nvSpPr>
        <p:spPr>
          <a:xfrm>
            <a:off x="7086600" y="2377440"/>
            <a:ext cx="1600200" cy="475488"/>
          </a:xfrm>
          <a:prstGeom prst="rect">
            <a:avLst/>
          </a:prstGeom>
          <a:noFill/>
          <a:ln/>
        </p:spPr>
        <p:txBody>
          <a:bodyPr wrap="square" lIns="0" tIns="0" rIns="0" bIns="0" rtlCol="0" anchor="ctr"/>
          <a:lstStyle/>
          <a:p>
            <a:pPr algn="ctr" indent="0" marL="0">
              <a:buNone/>
            </a:pPr>
            <a:r>
              <a:rPr lang="en-IE" sz="1500" b="1" dirty="0">
                <a:solidFill>
                  <a:schemeClr val="tx1"/>
                </a:solidFill>
                <a:latin typeface="Consolas" pitchFamily="34" charset="0"/>
                <a:ea typeface="Consolas" pitchFamily="34" charset="-122"/>
                <a:cs typeface="Consolas" pitchFamily="34" charset="-120"/>
              </a:rPr>
              <a:t>emp1</a:t>
            </a:r>
            <a:endParaRPr lang="en-IE" sz="1500" dirty="0"/>
          </a:p>
        </p:txBody>
      </p:sp>
      <p:sp>
        <p:nvSpPr>
          <p:cNvPr id="12" name="Box emp2"/>
          <p:cNvSpPr/>
          <p:nvPr/>
        </p:nvSpPr>
        <p:spPr>
          <a:xfrm>
            <a:off x="7086600" y="3017520"/>
            <a:ext cx="1600200" cy="475488"/>
          </a:xfrm>
          <a:prstGeom prst="roundRect">
            <a:avLst>
              <a:gd name="adj" fmla="val 15385"/>
            </a:avLst>
          </a:prstGeom>
          <a:solidFill>
            <a:schemeClr val="accent2">
              <a:alpha val="14000"/>
            </a:schemeClr>
          </a:solidFill>
          <a:ln w="19050">
            <a:solidFill>
              <a:schemeClr val="accent2"/>
            </a:solidFill>
            <a:prstDash val="solid"/>
          </a:ln>
        </p:spPr>
      </p:sp>
      <p:sp>
        <p:nvSpPr>
          <p:cNvPr id="13" name="Text 10"/>
          <p:cNvSpPr txBox="1"/>
          <p:nvPr/>
        </p:nvSpPr>
        <p:spPr>
          <a:xfrm>
            <a:off x="7086600" y="3017520"/>
            <a:ext cx="1600200" cy="475488"/>
          </a:xfrm>
          <a:prstGeom prst="rect">
            <a:avLst/>
          </a:prstGeom>
          <a:noFill/>
          <a:ln/>
        </p:spPr>
        <p:txBody>
          <a:bodyPr wrap="square" lIns="0" tIns="0" rIns="0" bIns="0" rtlCol="0" anchor="ctr"/>
          <a:lstStyle/>
          <a:p>
            <a:pPr algn="ctr" indent="0" marL="0">
              <a:buNone/>
            </a:pPr>
            <a:r>
              <a:rPr lang="en-IE" sz="1500" b="1" dirty="0">
                <a:solidFill>
                  <a:schemeClr val="tx1"/>
                </a:solidFill>
                <a:latin typeface="Consolas" pitchFamily="34" charset="0"/>
                <a:ea typeface="Consolas" pitchFamily="34" charset="-122"/>
                <a:cs typeface="Consolas" pitchFamily="34" charset="-120"/>
              </a:rPr>
              <a:t>emp2</a:t>
            </a:r>
            <a:endParaRPr lang="en-IE" sz="1500" dirty="0"/>
          </a:p>
        </p:txBody>
      </p:sp>
      <p:sp>
        <p:nvSpPr>
          <p:cNvPr id="14" name="Box Job"/>
          <p:cNvSpPr/>
          <p:nvPr/>
        </p:nvSpPr>
        <p:spPr>
          <a:xfrm>
            <a:off x="10012680" y="2697480"/>
            <a:ext cx="1600200" cy="475488"/>
          </a:xfrm>
          <a:prstGeom prst="roundRect">
            <a:avLst>
              <a:gd name="adj" fmla="val 15385"/>
            </a:avLst>
          </a:prstGeom>
          <a:solidFill>
            <a:schemeClr val="accent1">
              <a:alpha val="14000"/>
            </a:schemeClr>
          </a:solidFill>
          <a:ln w="19050">
            <a:solidFill>
              <a:schemeClr val="accent1"/>
            </a:solidFill>
            <a:prstDash val="solid"/>
          </a:ln>
        </p:spPr>
      </p:sp>
      <p:sp>
        <p:nvSpPr>
          <p:cNvPr id="15" name="Text 12"/>
          <p:cNvSpPr txBox="1"/>
          <p:nvPr/>
        </p:nvSpPr>
        <p:spPr>
          <a:xfrm>
            <a:off x="10012680" y="2697480"/>
            <a:ext cx="1600200" cy="475488"/>
          </a:xfrm>
          <a:prstGeom prst="rect">
            <a:avLst/>
          </a:prstGeom>
          <a:noFill/>
          <a:ln/>
        </p:spPr>
        <p:txBody>
          <a:bodyPr wrap="square" lIns="0" tIns="0" rIns="0" bIns="0" rtlCol="0" anchor="ctr"/>
          <a:lstStyle/>
          <a:p>
            <a:pPr algn="ctr" indent="0" marL="0">
              <a:buNone/>
            </a:pPr>
            <a:r>
              <a:rPr lang="en-IE" sz="1500" b="1" dirty="0">
                <a:solidFill>
                  <a:schemeClr val="tx1"/>
                </a:solidFill>
              </a:rPr>
              <a:t>Job</a:t>
            </a:r>
            <a:endParaRPr lang="en-IE" sz="1500" dirty="0"/>
          </a:p>
        </p:txBody>
      </p:sp>
      <p:sp>
        <p:nvSpPr>
          <p:cNvPr id="16" name="Connector"/>
          <p:cNvSpPr/>
          <p:nvPr/>
        </p:nvSpPr>
        <p:spPr>
          <a:xfrm>
            <a:off x="8732520" y="2615184"/>
            <a:ext cx="1234440" cy="228600"/>
          </a:xfrm>
          <a:prstGeom prst="line">
            <a:avLst/>
          </a:prstGeom>
          <a:noFill/>
          <a:ln w="19050">
            <a:solidFill>
              <a:schemeClr val="accent1"/>
            </a:solidFill>
            <a:prstDash val="solid"/>
            <a:tailEnd type="triangle"/>
          </a:ln>
        </p:spPr>
      </p:sp>
      <p:sp>
        <p:nvSpPr>
          <p:cNvPr id="17" name="Connector"/>
          <p:cNvSpPr/>
          <p:nvPr/>
        </p:nvSpPr>
        <p:spPr>
          <a:xfrm flipV="1">
            <a:off x="8732520" y="3026664"/>
            <a:ext cx="1234440" cy="228600"/>
          </a:xfrm>
          <a:prstGeom prst="line">
            <a:avLst/>
          </a:prstGeom>
          <a:noFill/>
          <a:ln w="19050">
            <a:solidFill>
              <a:schemeClr val="accent1"/>
            </a:solidFill>
            <a:prstDash val="solid"/>
            <a:tailEnd type="triangle"/>
          </a:ln>
        </p:spPr>
      </p:sp>
      <p:pic>
        <p:nvPicPr>
          <p:cNvPr id="18" name="Does not work" descr="Does not work">    </p:cNvPr>
          <p:cNvPicPr>
            <a:picLocks noChangeAspect="1"/>
          </p:cNvPicPr>
          <p:nvPr/>
        </p:nvPicPr>
        <p:blipFill>
          <a:blip r:embed="rId1"/>
          <a:stretch>
            <a:fillRect/>
          </a:stretch>
        </p:blipFill>
        <p:spPr>
          <a:xfrm>
            <a:off x="7086600" y="3630168"/>
            <a:ext cx="347472" cy="347472"/>
          </a:xfrm>
          <a:prstGeom prst="rect">
            <a:avLst/>
          </a:prstGeom>
        </p:spPr>
      </p:pic>
      <p:sp>
        <p:nvSpPr>
          <p:cNvPr id="19" name="Text 15"/>
          <p:cNvSpPr txBox="1"/>
          <p:nvPr/>
        </p:nvSpPr>
        <p:spPr>
          <a:xfrm>
            <a:off x="7543800" y="3611880"/>
            <a:ext cx="4099255" cy="384048"/>
          </a:xfrm>
          <a:prstGeom prst="rect">
            <a:avLst/>
          </a:prstGeom>
          <a:noFill/>
          <a:ln/>
        </p:spPr>
        <p:txBody>
          <a:bodyPr wrap="square" lIns="0" tIns="0" rIns="0" bIns="0" rtlCol="0" anchor="ctr"/>
          <a:lstStyle/>
          <a:p>
            <a:pPr indent="0" marL="0">
              <a:buNone/>
            </a:pPr>
            <a:r>
              <a:rPr lang="en-IE" sz="1450" b="1" dirty="0">
                <a:solidFill>
                  <a:srgbClr val="C0392B"/>
                </a:solidFill>
              </a:rPr>
              <a:t>One Job, shared by both</a:t>
            </a:r>
            <a:endParaRPr lang="en-IE" sz="1450" dirty="0"/>
          </a:p>
        </p:txBody>
      </p:sp>
      <p:sp>
        <p:nvSpPr>
          <p:cNvPr id="20" name="Code chip"/>
          <p:cNvSpPr/>
          <p:nvPr/>
        </p:nvSpPr>
        <p:spPr>
          <a:xfrm>
            <a:off x="7086600" y="4206240"/>
            <a:ext cx="4556455" cy="420624"/>
          </a:xfrm>
          <a:prstGeom prst="roundRect">
            <a:avLst>
              <a:gd name="adj" fmla="val 17391"/>
            </a:avLst>
          </a:prstGeom>
          <a:solidFill>
            <a:schemeClr val="bg2"/>
          </a:solidFill>
          <a:ln/>
        </p:spPr>
        <p:txBody>
          <a:bodyPr wrap="square" lIns="0" tIns="0" rIns="0" bIns="0" rtlCol="0" anchor="ctr"/>
          <a:lstStyle/>
          <a:p>
            <a:pPr algn="ctr" indent="0" marL="0">
              <a:buNone/>
            </a:pPr>
            <a:r>
              <a:rPr lang="en-IE" sz="1400" dirty="0">
                <a:solidFill>
                  <a:schemeClr val="accent2"/>
                </a:solidFill>
                <a:latin typeface="Consolas" pitchFamily="34" charset="0"/>
                <a:ea typeface="Consolas" pitchFamily="34" charset="-122"/>
                <a:cs typeface="Consolas" pitchFamily="34" charset="-120"/>
              </a:rPr>
              <a:t>this.job = new Job(emp.job);</a:t>
            </a:r>
            <a:endParaRPr lang="en-IE" sz="1400" dirty="0"/>
          </a:p>
        </p:txBody>
      </p:sp>
      <p:sp>
        <p:nvSpPr>
          <p:cNvPr id="21" name="Box emp1"/>
          <p:cNvSpPr/>
          <p:nvPr/>
        </p:nvSpPr>
        <p:spPr>
          <a:xfrm>
            <a:off x="7086600" y="4800600"/>
            <a:ext cx="1600200" cy="475488"/>
          </a:xfrm>
          <a:prstGeom prst="roundRect">
            <a:avLst>
              <a:gd name="adj" fmla="val 15385"/>
            </a:avLst>
          </a:prstGeom>
          <a:solidFill>
            <a:schemeClr val="accent2">
              <a:alpha val="14000"/>
            </a:schemeClr>
          </a:solidFill>
          <a:ln w="19050">
            <a:solidFill>
              <a:schemeClr val="accent2"/>
            </a:solidFill>
            <a:prstDash val="solid"/>
          </a:ln>
        </p:spPr>
      </p:sp>
      <p:sp>
        <p:nvSpPr>
          <p:cNvPr id="22" name="Text 18"/>
          <p:cNvSpPr txBox="1"/>
          <p:nvPr/>
        </p:nvSpPr>
        <p:spPr>
          <a:xfrm>
            <a:off x="7086600" y="4800600"/>
            <a:ext cx="1600200" cy="475488"/>
          </a:xfrm>
          <a:prstGeom prst="rect">
            <a:avLst/>
          </a:prstGeom>
          <a:noFill/>
          <a:ln/>
        </p:spPr>
        <p:txBody>
          <a:bodyPr wrap="square" lIns="0" tIns="0" rIns="0" bIns="0" rtlCol="0" anchor="ctr"/>
          <a:lstStyle/>
          <a:p>
            <a:pPr algn="ctr" indent="0" marL="0">
              <a:buNone/>
            </a:pPr>
            <a:r>
              <a:rPr lang="en-IE" sz="1500" b="1" dirty="0">
                <a:solidFill>
                  <a:schemeClr val="tx1"/>
                </a:solidFill>
                <a:latin typeface="Consolas" pitchFamily="34" charset="0"/>
                <a:ea typeface="Consolas" pitchFamily="34" charset="-122"/>
                <a:cs typeface="Consolas" pitchFamily="34" charset="-120"/>
              </a:rPr>
              <a:t>emp1</a:t>
            </a:r>
            <a:endParaRPr lang="en-IE" sz="1500" dirty="0"/>
          </a:p>
        </p:txBody>
      </p:sp>
      <p:sp>
        <p:nvSpPr>
          <p:cNvPr id="23" name="Box emp2"/>
          <p:cNvSpPr/>
          <p:nvPr/>
        </p:nvSpPr>
        <p:spPr>
          <a:xfrm>
            <a:off x="7086600" y="5440680"/>
            <a:ext cx="1600200" cy="475488"/>
          </a:xfrm>
          <a:prstGeom prst="roundRect">
            <a:avLst>
              <a:gd name="adj" fmla="val 15385"/>
            </a:avLst>
          </a:prstGeom>
          <a:solidFill>
            <a:schemeClr val="accent2">
              <a:alpha val="14000"/>
            </a:schemeClr>
          </a:solidFill>
          <a:ln w="19050">
            <a:solidFill>
              <a:schemeClr val="accent2"/>
            </a:solidFill>
            <a:prstDash val="solid"/>
          </a:ln>
        </p:spPr>
      </p:sp>
      <p:sp>
        <p:nvSpPr>
          <p:cNvPr id="24" name="Text 20"/>
          <p:cNvSpPr txBox="1"/>
          <p:nvPr/>
        </p:nvSpPr>
        <p:spPr>
          <a:xfrm>
            <a:off x="7086600" y="5440680"/>
            <a:ext cx="1600200" cy="475488"/>
          </a:xfrm>
          <a:prstGeom prst="rect">
            <a:avLst/>
          </a:prstGeom>
          <a:noFill/>
          <a:ln/>
        </p:spPr>
        <p:txBody>
          <a:bodyPr wrap="square" lIns="0" tIns="0" rIns="0" bIns="0" rtlCol="0" anchor="ctr"/>
          <a:lstStyle/>
          <a:p>
            <a:pPr algn="ctr" indent="0" marL="0">
              <a:buNone/>
            </a:pPr>
            <a:r>
              <a:rPr lang="en-IE" sz="1500" b="1" dirty="0">
                <a:solidFill>
                  <a:schemeClr val="tx1"/>
                </a:solidFill>
                <a:latin typeface="Consolas" pitchFamily="34" charset="0"/>
                <a:ea typeface="Consolas" pitchFamily="34" charset="-122"/>
                <a:cs typeface="Consolas" pitchFamily="34" charset="-120"/>
              </a:rPr>
              <a:t>emp2</a:t>
            </a:r>
            <a:endParaRPr lang="en-IE" sz="1500" dirty="0"/>
          </a:p>
        </p:txBody>
      </p:sp>
      <p:sp>
        <p:nvSpPr>
          <p:cNvPr id="25" name="Box Job"/>
          <p:cNvSpPr/>
          <p:nvPr/>
        </p:nvSpPr>
        <p:spPr>
          <a:xfrm>
            <a:off x="10012680" y="4800600"/>
            <a:ext cx="1600200" cy="475488"/>
          </a:xfrm>
          <a:prstGeom prst="roundRect">
            <a:avLst>
              <a:gd name="adj" fmla="val 15385"/>
            </a:avLst>
          </a:prstGeom>
          <a:solidFill>
            <a:schemeClr val="accent3">
              <a:alpha val="14000"/>
            </a:schemeClr>
          </a:solidFill>
          <a:ln w="19050">
            <a:solidFill>
              <a:schemeClr val="accent3"/>
            </a:solidFill>
            <a:prstDash val="solid"/>
          </a:ln>
        </p:spPr>
      </p:sp>
      <p:sp>
        <p:nvSpPr>
          <p:cNvPr id="26" name="Text 22"/>
          <p:cNvSpPr txBox="1"/>
          <p:nvPr/>
        </p:nvSpPr>
        <p:spPr>
          <a:xfrm>
            <a:off x="10012680" y="4800600"/>
            <a:ext cx="1600200" cy="475488"/>
          </a:xfrm>
          <a:prstGeom prst="rect">
            <a:avLst/>
          </a:prstGeom>
          <a:noFill/>
          <a:ln/>
        </p:spPr>
        <p:txBody>
          <a:bodyPr wrap="square" lIns="0" tIns="0" rIns="0" bIns="0" rtlCol="0" anchor="ctr"/>
          <a:lstStyle/>
          <a:p>
            <a:pPr algn="ctr" indent="0" marL="0">
              <a:buNone/>
            </a:pPr>
            <a:r>
              <a:rPr lang="en-IE" sz="1500" b="1" dirty="0">
                <a:solidFill>
                  <a:schemeClr val="tx1"/>
                </a:solidFill>
              </a:rPr>
              <a:t>Job</a:t>
            </a:r>
            <a:endParaRPr lang="en-IE" sz="1500" dirty="0"/>
          </a:p>
        </p:txBody>
      </p:sp>
      <p:sp>
        <p:nvSpPr>
          <p:cNvPr id="27" name="Box Job"/>
          <p:cNvSpPr/>
          <p:nvPr/>
        </p:nvSpPr>
        <p:spPr>
          <a:xfrm>
            <a:off x="10012680" y="5440680"/>
            <a:ext cx="1600200" cy="475488"/>
          </a:xfrm>
          <a:prstGeom prst="roundRect">
            <a:avLst>
              <a:gd name="adj" fmla="val 15385"/>
            </a:avLst>
          </a:prstGeom>
          <a:solidFill>
            <a:schemeClr val="accent3">
              <a:alpha val="14000"/>
            </a:schemeClr>
          </a:solidFill>
          <a:ln w="19050">
            <a:solidFill>
              <a:schemeClr val="accent3"/>
            </a:solidFill>
            <a:prstDash val="solid"/>
          </a:ln>
        </p:spPr>
      </p:sp>
      <p:sp>
        <p:nvSpPr>
          <p:cNvPr id="28" name="Text 24"/>
          <p:cNvSpPr txBox="1"/>
          <p:nvPr/>
        </p:nvSpPr>
        <p:spPr>
          <a:xfrm>
            <a:off x="10012680" y="5440680"/>
            <a:ext cx="1600200" cy="475488"/>
          </a:xfrm>
          <a:prstGeom prst="rect">
            <a:avLst/>
          </a:prstGeom>
          <a:noFill/>
          <a:ln/>
        </p:spPr>
        <p:txBody>
          <a:bodyPr wrap="square" lIns="0" tIns="0" rIns="0" bIns="0" rtlCol="0" anchor="ctr"/>
          <a:lstStyle/>
          <a:p>
            <a:pPr algn="ctr" indent="0" marL="0">
              <a:buNone/>
            </a:pPr>
            <a:r>
              <a:rPr lang="en-IE" sz="1500" b="1" dirty="0">
                <a:solidFill>
                  <a:schemeClr val="tx1"/>
                </a:solidFill>
              </a:rPr>
              <a:t>Job</a:t>
            </a:r>
            <a:endParaRPr lang="en-IE" sz="1500" dirty="0"/>
          </a:p>
        </p:txBody>
      </p:sp>
      <p:sp>
        <p:nvSpPr>
          <p:cNvPr id="29" name="Connector"/>
          <p:cNvSpPr/>
          <p:nvPr/>
        </p:nvSpPr>
        <p:spPr>
          <a:xfrm>
            <a:off x="8732520" y="5038344"/>
            <a:ext cx="1234440" cy="0"/>
          </a:xfrm>
          <a:prstGeom prst="line">
            <a:avLst/>
          </a:prstGeom>
          <a:noFill/>
          <a:ln w="19050">
            <a:solidFill>
              <a:schemeClr val="accent3"/>
            </a:solidFill>
            <a:prstDash val="solid"/>
            <a:tailEnd type="triangle"/>
          </a:ln>
        </p:spPr>
      </p:sp>
      <p:sp>
        <p:nvSpPr>
          <p:cNvPr id="30" name="Connector"/>
          <p:cNvSpPr/>
          <p:nvPr/>
        </p:nvSpPr>
        <p:spPr>
          <a:xfrm>
            <a:off x="8732520" y="5678424"/>
            <a:ext cx="1234440" cy="0"/>
          </a:xfrm>
          <a:prstGeom prst="line">
            <a:avLst/>
          </a:prstGeom>
          <a:noFill/>
          <a:ln w="19050">
            <a:solidFill>
              <a:schemeClr val="accent3"/>
            </a:solidFill>
            <a:prstDash val="solid"/>
            <a:tailEnd type="triangle"/>
          </a:ln>
        </p:spPr>
      </p:sp>
      <p:pic>
        <p:nvPicPr>
          <p:cNvPr id="31" name="Own Job each" descr="Own Job each">    </p:cNvPr>
          <p:cNvPicPr>
            <a:picLocks noChangeAspect="1"/>
          </p:cNvPicPr>
          <p:nvPr/>
        </p:nvPicPr>
        <p:blipFill>
          <a:blip r:embed="rId2"/>
          <a:stretch>
            <a:fillRect/>
          </a:stretch>
        </p:blipFill>
        <p:spPr>
          <a:xfrm>
            <a:off x="9372600" y="5138928"/>
            <a:ext cx="384048" cy="384048"/>
          </a:xfrm>
          <a:prstGeom prst="rect">
            <a:avLst/>
          </a:prstGeom>
        </p:spPr>
      </p:pic>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49</a:t>
            </a:fld>
            <a:endParaRPr lang="en-IE"/>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COPYING OBJECTS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Using the copy constructor</a:t>
            </a:r>
            <a:endParaRPr lang="en-IE" sz="3400" dirty="0"/>
          </a:p>
        </p:txBody>
      </p:sp>
      <p:sp>
        <p:nvSpPr>
          <p:cNvPr id="5" name="Main card"/>
          <p:cNvSpPr/>
          <p:nvPr/>
        </p:nvSpPr>
        <p:spPr>
          <a:xfrm>
            <a:off x="548640" y="1691640"/>
            <a:ext cx="7406640" cy="3010408"/>
          </a:xfrm>
          <a:prstGeom prst="roundRect">
            <a:avLst>
              <a:gd name="adj" fmla="val 3645"/>
            </a:avLst>
          </a:prstGeom>
          <a:solidFill>
            <a:schemeClr val="tx1"/>
          </a:solidFill>
          <a:ln/>
          <a:effectLst>
            <a:outerShdw sx="100000" sy="100000" kx="0" ky="0" algn="bl" rotWithShape="0" blurRad="114300" dist="31750" dir="5400000">
              <a:srgbClr val="1D2433">
                <a:alpha val="12000"/>
              </a:srgbClr>
            </a:outerShdw>
          </a:effectLst>
        </p:spPr>
      </p:sp>
      <p:sp>
        <p:nvSpPr>
          <p:cNvPr id="6" name="Main language"/>
          <p:cNvSpPr txBox="1"/>
          <p:nvPr/>
        </p:nvSpPr>
        <p:spPr>
          <a:xfrm>
            <a:off x="822960" y="1810512"/>
            <a:ext cx="68580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Main text"/>
          <p:cNvSpPr txBox="1"/>
          <p:nvPr/>
        </p:nvSpPr>
        <p:spPr>
          <a:xfrm>
            <a:off x="822960" y="2185416"/>
            <a:ext cx="6858000" cy="2315464"/>
          </a:xfrm>
          <a:prstGeom prst="rect">
            <a:avLst/>
          </a:prstGeom>
          <a:noFill/>
          <a:ln/>
        </p:spPr>
        <p:txBody>
          <a:bodyPr wrap="square" lIns="0" tIns="0" rIns="0" bIns="0" rtlCol="0" anchor="t"/>
          <a:lstStyle/>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Employee</a:t>
            </a:r>
            <a:r>
              <a:rPr lang="en-IE" sz="1350" dirty="0">
                <a:solidFill>
                  <a:srgbClr val="E6EBF2"/>
                </a:solidFill>
                <a:latin typeface="Consolas" pitchFamily="34" charset="0"/>
                <a:ea typeface="Consolas" pitchFamily="34" charset="-122"/>
                <a:cs typeface="Consolas" pitchFamily="34" charset="-120"/>
              </a:rPr>
              <a:t> emp1 = </a:t>
            </a:r>
            <a:r>
              <a:rPr lang="en-IE" sz="1350" dirty="0">
                <a:solidFill>
                  <a:srgbClr val="FF9F5A"/>
                </a:solidFill>
                <a:latin typeface="Consolas" pitchFamily="34" charset="0"/>
                <a:ea typeface="Consolas" pitchFamily="34" charset="-122"/>
                <a:cs typeface="Consolas" pitchFamily="34" charset="-120"/>
              </a:rPr>
              <a:t>new</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Employee</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A9DB8C"/>
                </a:solidFill>
                <a:latin typeface="Consolas" pitchFamily="34" charset="0"/>
                <a:ea typeface="Consolas" pitchFamily="34" charset="-122"/>
                <a:cs typeface="Consolas" pitchFamily="34" charset="-120"/>
              </a:rPr>
              <a:t>"Adam J. Brennan"</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A9DB8C"/>
                </a:solidFill>
                <a:latin typeface="Consolas" pitchFamily="34" charset="0"/>
                <a:ea typeface="Consolas" pitchFamily="34" charset="-122"/>
                <a:cs typeface="Consolas" pitchFamily="34" charset="-120"/>
              </a:rPr>
              <a:t>"Male"</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A9DB8C"/>
                </a:solidFill>
                <a:latin typeface="Consolas" pitchFamily="34" charset="0"/>
                <a:ea typeface="Consolas" pitchFamily="34" charset="-122"/>
                <a:cs typeface="Consolas" pitchFamily="34" charset="-120"/>
              </a:rPr>
              <a:t>"Admin"</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A9DB8C"/>
                </a:solidFill>
                <a:latin typeface="Consolas" pitchFamily="34" charset="0"/>
                <a:ea typeface="Consolas" pitchFamily="34" charset="-122"/>
                <a:cs typeface="Consolas" pitchFamily="34" charset="-120"/>
              </a:rPr>
              <a:t>"Managing user accounts"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A9DB8C"/>
                </a:solidFill>
                <a:latin typeface="Consolas" pitchFamily="34" charset="0"/>
                <a:ea typeface="Consolas" pitchFamily="34" charset="-122"/>
                <a:cs typeface="Consolas" pitchFamily="34" charset="-120"/>
              </a:rPr>
              <a:t>"All departments"</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System</a:t>
            </a:r>
            <a:r>
              <a:rPr lang="en-IE" sz="1350" dirty="0">
                <a:solidFill>
                  <a:srgbClr val="E6EBF2"/>
                </a:solidFill>
                <a:latin typeface="Consolas" pitchFamily="34" charset="0"/>
                <a:ea typeface="Consolas" pitchFamily="34" charset="-122"/>
                <a:cs typeface="Consolas" pitchFamily="34" charset="-120"/>
              </a:rPr>
              <a:t>.out.</a:t>
            </a:r>
            <a:r>
              <a:rPr lang="en-IE" sz="1350" dirty="0">
                <a:solidFill>
                  <a:srgbClr val="C9B0FF"/>
                </a:solidFill>
                <a:latin typeface="Consolas" pitchFamily="34" charset="0"/>
                <a:ea typeface="Consolas" pitchFamily="34" charset="-122"/>
                <a:cs typeface="Consolas" pitchFamily="34" charset="-120"/>
              </a:rPr>
              <a:t>println</a:t>
            </a:r>
            <a:r>
              <a:rPr lang="en-IE" sz="1350" dirty="0">
                <a:solidFill>
                  <a:srgbClr val="E6EBF2"/>
                </a:solidFill>
                <a:latin typeface="Consolas" pitchFamily="34" charset="0"/>
                <a:ea typeface="Consolas" pitchFamily="34" charset="-122"/>
                <a:cs typeface="Consolas" pitchFamily="34" charset="-120"/>
              </a:rPr>
              <a:t>(emp1);</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Employee</a:t>
            </a:r>
            <a:r>
              <a:rPr lang="en-IE" sz="1350" dirty="0">
                <a:solidFill>
                  <a:srgbClr val="E6EBF2"/>
                </a:solidFill>
                <a:latin typeface="Consolas" pitchFamily="34" charset="0"/>
                <a:ea typeface="Consolas" pitchFamily="34" charset="-122"/>
                <a:cs typeface="Consolas" pitchFamily="34" charset="-120"/>
              </a:rPr>
              <a:t> emp2 = </a:t>
            </a:r>
            <a:r>
              <a:rPr lang="en-IE" sz="1350" dirty="0">
                <a:solidFill>
                  <a:srgbClr val="FF9F5A"/>
                </a:solidFill>
                <a:latin typeface="Consolas" pitchFamily="34" charset="0"/>
                <a:ea typeface="Consolas" pitchFamily="34" charset="-122"/>
                <a:cs typeface="Consolas" pitchFamily="34" charset="-120"/>
              </a:rPr>
              <a:t>new</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Employee</a:t>
            </a:r>
            <a:r>
              <a:rPr lang="en-IE" sz="1350" dirty="0">
                <a:solidFill>
                  <a:srgbClr val="E6EBF2"/>
                </a:solidFill>
                <a:latin typeface="Consolas" pitchFamily="34" charset="0"/>
                <a:ea typeface="Consolas" pitchFamily="34" charset="-122"/>
                <a:cs typeface="Consolas" pitchFamily="34" charset="-120"/>
              </a:rPr>
              <a:t>(emp1);   </a:t>
            </a:r>
            <a:r>
              <a:rPr lang="en-IE" sz="1350" i="1" dirty="0">
                <a:solidFill>
                  <a:srgbClr val="A3AEC2"/>
                </a:solidFill>
                <a:latin typeface="Consolas" pitchFamily="34" charset="0"/>
                <a:ea typeface="Consolas" pitchFamily="34" charset="-122"/>
                <a:cs typeface="Consolas" pitchFamily="34" charset="-120"/>
              </a:rPr>
              <a:t>// the copy constructor</a:t>
            </a:r>
            <a:endParaRPr lang="en-IE" sz="1350" dirty="0"/>
          </a:p>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System</a:t>
            </a:r>
            <a:r>
              <a:rPr lang="en-IE" sz="1350" dirty="0">
                <a:solidFill>
                  <a:srgbClr val="E6EBF2"/>
                </a:solidFill>
                <a:latin typeface="Consolas" pitchFamily="34" charset="0"/>
                <a:ea typeface="Consolas" pitchFamily="34" charset="-122"/>
                <a:cs typeface="Consolas" pitchFamily="34" charset="-120"/>
              </a:rPr>
              <a:t>.out.</a:t>
            </a:r>
            <a:r>
              <a:rPr lang="en-IE" sz="1350" dirty="0">
                <a:solidFill>
                  <a:srgbClr val="C9B0FF"/>
                </a:solidFill>
                <a:latin typeface="Consolas" pitchFamily="34" charset="0"/>
                <a:ea typeface="Consolas" pitchFamily="34" charset="-122"/>
                <a:cs typeface="Consolas" pitchFamily="34" charset="-120"/>
              </a:rPr>
              <a:t>println</a:t>
            </a:r>
            <a:r>
              <a:rPr lang="en-IE" sz="1350" dirty="0">
                <a:solidFill>
                  <a:srgbClr val="E6EBF2"/>
                </a:solidFill>
                <a:latin typeface="Consolas" pitchFamily="34" charset="0"/>
                <a:ea typeface="Consolas" pitchFamily="34" charset="-122"/>
                <a:cs typeface="Consolas" pitchFamily="34" charset="-120"/>
              </a:rPr>
              <a:t>(emp2);</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emp1.</a:t>
            </a:r>
            <a:r>
              <a:rPr lang="en-IE" sz="1350" dirty="0">
                <a:solidFill>
                  <a:srgbClr val="C9B0FF"/>
                </a:solidFill>
                <a:latin typeface="Consolas" pitchFamily="34" charset="0"/>
                <a:ea typeface="Consolas" pitchFamily="34" charset="-122"/>
                <a:cs typeface="Consolas" pitchFamily="34" charset="-120"/>
              </a:rPr>
              <a:t>setName</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A9DB8C"/>
                </a:solidFill>
                <a:latin typeface="Consolas" pitchFamily="34" charset="0"/>
                <a:ea typeface="Consolas" pitchFamily="34" charset="-122"/>
                <a:cs typeface="Consolas" pitchFamily="34" charset="-120"/>
              </a:rPr>
              <a:t>"Paul Murphy"</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System</a:t>
            </a:r>
            <a:r>
              <a:rPr lang="en-IE" sz="1350" dirty="0">
                <a:solidFill>
                  <a:srgbClr val="E6EBF2"/>
                </a:solidFill>
                <a:latin typeface="Consolas" pitchFamily="34" charset="0"/>
                <a:ea typeface="Consolas" pitchFamily="34" charset="-122"/>
                <a:cs typeface="Consolas" pitchFamily="34" charset="-120"/>
              </a:rPr>
              <a:t>.out.</a:t>
            </a:r>
            <a:r>
              <a:rPr lang="en-IE" sz="1350" dirty="0">
                <a:solidFill>
                  <a:srgbClr val="C9B0FF"/>
                </a:solidFill>
                <a:latin typeface="Consolas" pitchFamily="34" charset="0"/>
                <a:ea typeface="Consolas" pitchFamily="34" charset="-122"/>
                <a:cs typeface="Consolas" pitchFamily="34" charset="-120"/>
              </a:rPr>
              <a:t>println</a:t>
            </a:r>
            <a:r>
              <a:rPr lang="en-IE" sz="1350" dirty="0">
                <a:solidFill>
                  <a:srgbClr val="E6EBF2"/>
                </a:solidFill>
                <a:latin typeface="Consolas" pitchFamily="34" charset="0"/>
                <a:ea typeface="Consolas" pitchFamily="34" charset="-122"/>
                <a:cs typeface="Consolas" pitchFamily="34" charset="-120"/>
              </a:rPr>
              <a:t>(emp1);</a:t>
            </a:r>
            <a:endParaRPr lang="en-IE" sz="1350" dirty="0"/>
          </a:p>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System</a:t>
            </a:r>
            <a:r>
              <a:rPr lang="en-IE" sz="1350" dirty="0">
                <a:solidFill>
                  <a:srgbClr val="E6EBF2"/>
                </a:solidFill>
                <a:latin typeface="Consolas" pitchFamily="34" charset="0"/>
                <a:ea typeface="Consolas" pitchFamily="34" charset="-122"/>
                <a:cs typeface="Consolas" pitchFamily="34" charset="-120"/>
              </a:rPr>
              <a:t>.out.</a:t>
            </a:r>
            <a:r>
              <a:rPr lang="en-IE" sz="1350" dirty="0">
                <a:solidFill>
                  <a:srgbClr val="C9B0FF"/>
                </a:solidFill>
                <a:latin typeface="Consolas" pitchFamily="34" charset="0"/>
                <a:ea typeface="Consolas" pitchFamily="34" charset="-122"/>
                <a:cs typeface="Consolas" pitchFamily="34" charset="-120"/>
              </a:rPr>
              <a:t>println</a:t>
            </a:r>
            <a:r>
              <a:rPr lang="en-IE" sz="1350" dirty="0">
                <a:solidFill>
                  <a:srgbClr val="E6EBF2"/>
                </a:solidFill>
                <a:latin typeface="Consolas" pitchFamily="34" charset="0"/>
                <a:ea typeface="Consolas" pitchFamily="34" charset="-122"/>
                <a:cs typeface="Consolas" pitchFamily="34" charset="-120"/>
              </a:rPr>
              <a:t>(emp2);</a:t>
            </a:r>
            <a:endParaRPr lang="en-IE" sz="1350" dirty="0"/>
          </a:p>
        </p:txBody>
      </p:sp>
      <p:sp>
        <p:nvSpPr>
          <p:cNvPr id="8" name="Output card"/>
          <p:cNvSpPr/>
          <p:nvPr/>
        </p:nvSpPr>
        <p:spPr>
          <a:xfrm>
            <a:off x="548640" y="4884928"/>
            <a:ext cx="11094415" cy="1371600"/>
          </a:xfrm>
          <a:prstGeom prst="roundRect">
            <a:avLst>
              <a:gd name="adj" fmla="val 8000"/>
            </a:avLst>
          </a:prstGeom>
          <a:solidFill>
            <a:schemeClr val="tx1"/>
          </a:solidFill>
          <a:ln/>
          <a:effectLst>
            <a:outerShdw sx="100000" sy="100000" kx="0" ky="0" algn="bl" rotWithShape="0" blurRad="114300" dist="31750" dir="5400000">
              <a:srgbClr val="1D2433">
                <a:alpha val="12000"/>
              </a:srgbClr>
            </a:outerShdw>
          </a:effectLst>
        </p:spPr>
      </p:sp>
      <p:sp>
        <p:nvSpPr>
          <p:cNvPr id="9" name="Text 6"/>
          <p:cNvSpPr txBox="1"/>
          <p:nvPr/>
        </p:nvSpPr>
        <p:spPr>
          <a:xfrm>
            <a:off x="822960" y="5003800"/>
            <a:ext cx="105457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Output</a:t>
            </a:r>
            <a:endParaRPr lang="en-IE" sz="1050" dirty="0"/>
          </a:p>
        </p:txBody>
      </p:sp>
      <p:sp>
        <p:nvSpPr>
          <p:cNvPr id="10" name="Output text"/>
          <p:cNvSpPr txBox="1"/>
          <p:nvPr/>
        </p:nvSpPr>
        <p:spPr>
          <a:xfrm>
            <a:off x="822960" y="5342128"/>
            <a:ext cx="10545775" cy="731520"/>
          </a:xfrm>
          <a:prstGeom prst="rect">
            <a:avLst/>
          </a:prstGeom>
          <a:noFill/>
          <a:ln/>
        </p:spPr>
        <p:txBody>
          <a:bodyPr wrap="square" lIns="0" tIns="0" rIns="0" bIns="0" rtlCol="0" anchor="t"/>
          <a:lstStyle/>
          <a:p>
            <a:pPr indent="0" marL="0">
              <a:lnSpc>
                <a:spcPts val="1755"/>
              </a:lnSpc>
              <a:buNone/>
            </a:pPr>
            <a:r>
              <a:rPr lang="en-IE" sz="1300" dirty="0">
                <a:solidFill>
                  <a:srgbClr val="A9DB8C"/>
                </a:solidFill>
                <a:latin typeface="Consolas" pitchFamily="34" charset="0"/>
                <a:ea typeface="Consolas" pitchFamily="34" charset="-122"/>
                <a:cs typeface="Consolas" pitchFamily="34" charset="-120"/>
              </a:rPr>
              <a:t>Adam J. Brennan, Male, Admin, Managing user accounts, All departments</a:t>
            </a:r>
            <a:endParaRPr lang="en-IE" sz="1300" dirty="0"/>
          </a:p>
          <a:p>
            <a:pPr indent="0" marL="0">
              <a:lnSpc>
                <a:spcPts val="1755"/>
              </a:lnSpc>
              <a:buNone/>
            </a:pPr>
            <a:r>
              <a:rPr lang="en-IE" sz="1300" dirty="0">
                <a:solidFill>
                  <a:srgbClr val="A9DB8C"/>
                </a:solidFill>
                <a:latin typeface="Consolas" pitchFamily="34" charset="0"/>
                <a:ea typeface="Consolas" pitchFamily="34" charset="-122"/>
                <a:cs typeface="Consolas" pitchFamily="34" charset="-120"/>
              </a:rPr>
              <a:t>Adam J. Brennan, Male, Admin, Managing user accounts, All departments</a:t>
            </a:r>
            <a:endParaRPr lang="en-IE" sz="1300" dirty="0"/>
          </a:p>
          <a:p>
            <a:pPr indent="0" marL="0">
              <a:lnSpc>
                <a:spcPts val="1755"/>
              </a:lnSpc>
              <a:buNone/>
            </a:pPr>
            <a:r>
              <a:rPr lang="en-IE" sz="1300" dirty="0">
                <a:solidFill>
                  <a:srgbClr val="A9DB8C"/>
                </a:solidFill>
                <a:latin typeface="Consolas" pitchFamily="34" charset="0"/>
                <a:ea typeface="Consolas" pitchFamily="34" charset="-122"/>
                <a:cs typeface="Consolas" pitchFamily="34" charset="-120"/>
              </a:rPr>
              <a:t>Paul Murphy, Male, Admin, Managing user accounts, All departments</a:t>
            </a:r>
            <a:endParaRPr lang="en-IE" sz="1300" dirty="0"/>
          </a:p>
          <a:p>
            <a:pPr indent="0" marL="0">
              <a:lnSpc>
                <a:spcPts val="1755"/>
              </a:lnSpc>
              <a:buNone/>
            </a:pPr>
            <a:r>
              <a:rPr lang="en-IE" sz="1300" dirty="0">
                <a:solidFill>
                  <a:srgbClr val="A9DB8C"/>
                </a:solidFill>
                <a:latin typeface="Consolas" pitchFamily="34" charset="0"/>
                <a:ea typeface="Consolas" pitchFamily="34" charset="-122"/>
                <a:cs typeface="Consolas" pitchFamily="34" charset="-120"/>
              </a:rPr>
              <a:t>Adam J. Brennan, Male, Admin, Managing user accounts, All departments</a:t>
            </a:r>
            <a:endParaRPr lang="en-IE" sz="1300" dirty="0"/>
          </a:p>
        </p:txBody>
      </p:sp>
      <p:sp>
        <p:nvSpPr>
          <p:cNvPr id="11" name="Two objects"/>
          <p:cNvSpPr/>
          <p:nvPr/>
        </p:nvSpPr>
        <p:spPr>
          <a:xfrm>
            <a:off x="8275320" y="1691640"/>
            <a:ext cx="3367735" cy="1413764"/>
          </a:xfrm>
          <a:prstGeom prst="roundRect">
            <a:avLst>
              <a:gd name="adj" fmla="val 7761"/>
            </a:avLst>
          </a:prstGeom>
          <a:solidFill>
            <a:schemeClr val="accent3">
              <a:alpha val="12000"/>
            </a:schemeClr>
          </a:solidFill>
          <a:ln/>
        </p:spPr>
      </p:sp>
      <p:pic>
        <p:nvPicPr>
          <p:cNvPr id="12" name="Two objects icon" descr="Two objects icon">    </p:cNvPr>
          <p:cNvPicPr>
            <a:picLocks noChangeAspect="1"/>
          </p:cNvPicPr>
          <p:nvPr/>
        </p:nvPicPr>
        <p:blipFill>
          <a:blip r:embed="rId1"/>
          <a:stretch>
            <a:fillRect/>
          </a:stretch>
        </p:blipFill>
        <p:spPr>
          <a:xfrm>
            <a:off x="8503920" y="1892808"/>
            <a:ext cx="420624" cy="420624"/>
          </a:xfrm>
          <a:prstGeom prst="rect">
            <a:avLst/>
          </a:prstGeom>
        </p:spPr>
      </p:pic>
      <p:sp>
        <p:nvSpPr>
          <p:cNvPr id="13" name="Text 9"/>
          <p:cNvSpPr txBox="1"/>
          <p:nvPr/>
        </p:nvSpPr>
        <p:spPr>
          <a:xfrm>
            <a:off x="9052560" y="1874520"/>
            <a:ext cx="2407615" cy="347472"/>
          </a:xfrm>
          <a:prstGeom prst="rect">
            <a:avLst/>
          </a:prstGeom>
          <a:noFill/>
          <a:ln/>
        </p:spPr>
        <p:txBody>
          <a:bodyPr wrap="square" lIns="0" tIns="0" rIns="0" bIns="0" rtlCol="0" anchor="ctr"/>
          <a:lstStyle/>
          <a:p>
            <a:pPr indent="0" marL="0">
              <a:buNone/>
            </a:pPr>
            <a:r>
              <a:rPr lang="en-IE" sz="1700" b="1" dirty="0">
                <a:solidFill>
                  <a:schemeClr val="tx1"/>
                </a:solidFill>
              </a:rPr>
              <a:t>Two objects</a:t>
            </a:r>
            <a:endParaRPr lang="en-IE" sz="1700" dirty="0"/>
          </a:p>
        </p:txBody>
      </p:sp>
      <p:sp>
        <p:nvSpPr>
          <p:cNvPr id="14" name="Text 10"/>
          <p:cNvSpPr txBox="1"/>
          <p:nvPr/>
        </p:nvSpPr>
        <p:spPr>
          <a:xfrm>
            <a:off x="9052560" y="2258568"/>
            <a:ext cx="2407615" cy="700532"/>
          </a:xfrm>
          <a:prstGeom prst="rect">
            <a:avLst/>
          </a:prstGeom>
          <a:noFill/>
          <a:ln/>
        </p:spPr>
        <p:txBody>
          <a:bodyPr wrap="square" lIns="0" tIns="0" rIns="0" bIns="0" rtlCol="0" anchor="t"/>
          <a:lstStyle/>
          <a:p>
            <a:pPr indent="0" marL="0">
              <a:buNone/>
            </a:pPr>
            <a:r>
              <a:rPr lang="en-IE" sz="1500" dirty="0">
                <a:solidFill>
                  <a:schemeClr val="tx1"/>
                </a:solidFill>
              </a:rPr>
              <a:t>emp2 is made from emp1, but it’s a separate object.</a:t>
            </a:r>
            <a:endParaRPr lang="en-IE" sz="1500" dirty="0"/>
          </a:p>
        </p:txBody>
      </p:sp>
      <p:sp>
        <p:nvSpPr>
          <p:cNvPr id="15" name="Changing emp1"/>
          <p:cNvSpPr/>
          <p:nvPr/>
        </p:nvSpPr>
        <p:spPr>
          <a:xfrm>
            <a:off x="8275320" y="3288284"/>
            <a:ext cx="3367735" cy="1413764"/>
          </a:xfrm>
          <a:prstGeom prst="roundRect">
            <a:avLst>
              <a:gd name="adj" fmla="val 7761"/>
            </a:avLst>
          </a:prstGeom>
          <a:solidFill>
            <a:schemeClr val="accent2">
              <a:alpha val="12000"/>
            </a:schemeClr>
          </a:solidFill>
          <a:ln/>
        </p:spPr>
      </p:sp>
      <p:pic>
        <p:nvPicPr>
          <p:cNvPr id="16" name="Changing emp1 icon" descr="Changing emp1 icon">    </p:cNvPr>
          <p:cNvPicPr>
            <a:picLocks noChangeAspect="1"/>
          </p:cNvPicPr>
          <p:nvPr/>
        </p:nvPicPr>
        <p:blipFill>
          <a:blip r:embed="rId2"/>
          <a:stretch>
            <a:fillRect/>
          </a:stretch>
        </p:blipFill>
        <p:spPr>
          <a:xfrm>
            <a:off x="8503920" y="3489452"/>
            <a:ext cx="420624" cy="420624"/>
          </a:xfrm>
          <a:prstGeom prst="rect">
            <a:avLst/>
          </a:prstGeom>
        </p:spPr>
      </p:pic>
      <p:sp>
        <p:nvSpPr>
          <p:cNvPr id="17" name="Text 12"/>
          <p:cNvSpPr txBox="1"/>
          <p:nvPr/>
        </p:nvSpPr>
        <p:spPr>
          <a:xfrm>
            <a:off x="9052560" y="3471164"/>
            <a:ext cx="2407615" cy="347472"/>
          </a:xfrm>
          <a:prstGeom prst="rect">
            <a:avLst/>
          </a:prstGeom>
          <a:noFill/>
          <a:ln/>
        </p:spPr>
        <p:txBody>
          <a:bodyPr wrap="square" lIns="0" tIns="0" rIns="0" bIns="0" rtlCol="0" anchor="ctr"/>
          <a:lstStyle/>
          <a:p>
            <a:pPr indent="0" marL="0">
              <a:buNone/>
            </a:pPr>
            <a:r>
              <a:rPr lang="en-IE" sz="1700" b="1" dirty="0">
                <a:solidFill>
                  <a:schemeClr val="tx1"/>
                </a:solidFill>
              </a:rPr>
              <a:t>Changing emp1</a:t>
            </a:r>
            <a:endParaRPr lang="en-IE" sz="1700" dirty="0"/>
          </a:p>
        </p:txBody>
      </p:sp>
      <p:sp>
        <p:nvSpPr>
          <p:cNvPr id="18" name="Text 13"/>
          <p:cNvSpPr txBox="1"/>
          <p:nvPr/>
        </p:nvSpPr>
        <p:spPr>
          <a:xfrm>
            <a:off x="9052560" y="3855212"/>
            <a:ext cx="2407615" cy="700532"/>
          </a:xfrm>
          <a:prstGeom prst="rect">
            <a:avLst/>
          </a:prstGeom>
          <a:noFill/>
          <a:ln/>
        </p:spPr>
        <p:txBody>
          <a:bodyPr wrap="square" lIns="0" tIns="0" rIns="0" bIns="0" rtlCol="0" anchor="t"/>
          <a:lstStyle/>
          <a:p>
            <a:pPr indent="0" marL="0">
              <a:buNone/>
            </a:pPr>
            <a:r>
              <a:rPr lang="en-IE" sz="1500" dirty="0">
                <a:solidFill>
                  <a:schemeClr val="tx1"/>
                </a:solidFill>
              </a:rPr>
              <a:t>setName only changes emp1, so emp2 keeps the old name.</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50</a:t>
            </a:fld>
            <a:endParaRPr lang="en-IE"/>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15</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Copy constructors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Employee’s copy constructor uses </a:t>
            </a:r>
            <a:r>
              <a:rPr lang="en-IE" sz="2800" b="1" dirty="0">
                <a:solidFill>
                  <a:schemeClr val="accent2"/>
                </a:solidFill>
                <a:latin typeface="Consolas" pitchFamily="34" charset="0"/>
                <a:ea typeface="Consolas" pitchFamily="34" charset="-122"/>
                <a:cs typeface="Consolas" pitchFamily="34" charset="-120"/>
              </a:rPr>
              <a:t>new Job(emp.job)</a:t>
            </a:r>
            <a:r>
              <a:rPr lang="en-IE" sz="2800" b="1" dirty="0">
                <a:solidFill>
                  <a:schemeClr val="tx1"/>
                </a:solidFill>
              </a:rPr>
              <a:t>. What does this code print?</a:t>
            </a:r>
            <a:endParaRPr lang="en-IE" sz="2800" dirty="0"/>
          </a:p>
        </p:txBody>
      </p:sp>
      <p:sp>
        <p:nvSpPr>
          <p:cNvPr id="5" name="Question code card"/>
          <p:cNvSpPr/>
          <p:nvPr/>
        </p:nvSpPr>
        <p:spPr>
          <a:xfrm>
            <a:off x="548640" y="2848356"/>
            <a:ext cx="6035040" cy="2258568"/>
          </a:xfrm>
          <a:prstGeom prst="roundRect">
            <a:avLst>
              <a:gd name="adj" fmla="val 4858"/>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nguage"/>
          <p:cNvSpPr txBox="1"/>
          <p:nvPr/>
        </p:nvSpPr>
        <p:spPr>
          <a:xfrm>
            <a:off x="822960" y="2967228"/>
            <a:ext cx="54864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Question code text"/>
          <p:cNvSpPr txBox="1"/>
          <p:nvPr/>
        </p:nvSpPr>
        <p:spPr>
          <a:xfrm>
            <a:off x="822960" y="3342132"/>
            <a:ext cx="5486400" cy="1563624"/>
          </a:xfrm>
          <a:prstGeom prst="rect">
            <a:avLst/>
          </a:prstGeom>
          <a:noFill/>
          <a:ln/>
        </p:spPr>
        <p:txBody>
          <a:bodyPr wrap="square" lIns="0" tIns="0" rIns="0" bIns="0" rtlCol="0" anchor="t"/>
          <a:lstStyle/>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Employee</a:t>
            </a:r>
            <a:r>
              <a:rPr lang="en-IE" sz="1500" dirty="0">
                <a:solidFill>
                  <a:srgbClr val="E6EBF2"/>
                </a:solidFill>
                <a:latin typeface="Consolas" pitchFamily="34" charset="0"/>
                <a:ea typeface="Consolas" pitchFamily="34" charset="-122"/>
                <a:cs typeface="Consolas" pitchFamily="34" charset="-120"/>
              </a:rPr>
              <a:t> first = </a:t>
            </a:r>
            <a:r>
              <a:rPr lang="en-IE" sz="1500" dirty="0">
                <a:solidFill>
                  <a:srgbClr val="FF9F5A"/>
                </a:solidFill>
                <a:latin typeface="Consolas" pitchFamily="34" charset="0"/>
                <a:ea typeface="Consolas" pitchFamily="34" charset="-122"/>
                <a:cs typeface="Consolas" pitchFamily="34" charset="-120"/>
              </a:rPr>
              <a:t>new</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Employee</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A9DB8C"/>
                </a:solidFill>
                <a:latin typeface="Consolas" pitchFamily="34" charset="0"/>
                <a:ea typeface="Consolas" pitchFamily="34" charset="-122"/>
                <a:cs typeface="Consolas" pitchFamily="34" charset="-120"/>
              </a:rPr>
              <a:t>"Ann"</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A9DB8C"/>
                </a:solidFill>
                <a:latin typeface="Consolas" pitchFamily="34" charset="0"/>
                <a:ea typeface="Consolas" pitchFamily="34" charset="-122"/>
                <a:cs typeface="Consolas" pitchFamily="34" charset="-120"/>
              </a:rPr>
              <a:t>"Female"</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A9DB8C"/>
                </a:solidFill>
                <a:latin typeface="Consolas" pitchFamily="34" charset="0"/>
                <a:ea typeface="Consolas" pitchFamily="34" charset="-122"/>
                <a:cs typeface="Consolas" pitchFamily="34" charset="-120"/>
              </a:rPr>
              <a:t>"Nurse"</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A9DB8C"/>
                </a:solidFill>
                <a:latin typeface="Consolas" pitchFamily="34" charset="0"/>
                <a:ea typeface="Consolas" pitchFamily="34" charset="-122"/>
                <a:cs typeface="Consolas" pitchFamily="34" charset="-120"/>
              </a:rPr>
              <a:t>"Night shifts"</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A9DB8C"/>
                </a:solidFill>
                <a:latin typeface="Consolas" pitchFamily="34" charset="0"/>
                <a:ea typeface="Consolas" pitchFamily="34" charset="-122"/>
                <a:cs typeface="Consolas" pitchFamily="34" charset="-120"/>
              </a:rPr>
              <a:t>"St. James"</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Employee</a:t>
            </a:r>
            <a:r>
              <a:rPr lang="en-IE" sz="1500" dirty="0">
                <a:solidFill>
                  <a:srgbClr val="E6EBF2"/>
                </a:solidFill>
                <a:latin typeface="Consolas" pitchFamily="34" charset="0"/>
                <a:ea typeface="Consolas" pitchFamily="34" charset="-122"/>
                <a:cs typeface="Consolas" pitchFamily="34" charset="-120"/>
              </a:rPr>
              <a:t> second = </a:t>
            </a:r>
            <a:r>
              <a:rPr lang="en-IE" sz="1500" dirty="0">
                <a:solidFill>
                  <a:srgbClr val="FF9F5A"/>
                </a:solidFill>
                <a:latin typeface="Consolas" pitchFamily="34" charset="0"/>
                <a:ea typeface="Consolas" pitchFamily="34" charset="-122"/>
                <a:cs typeface="Consolas" pitchFamily="34" charset="-120"/>
              </a:rPr>
              <a:t>new</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Employee</a:t>
            </a:r>
            <a:r>
              <a:rPr lang="en-IE" sz="1500" dirty="0">
                <a:solidFill>
                  <a:srgbClr val="E6EBF2"/>
                </a:solidFill>
                <a:latin typeface="Consolas" pitchFamily="34" charset="0"/>
                <a:ea typeface="Consolas" pitchFamily="34" charset="-122"/>
                <a:cs typeface="Consolas" pitchFamily="34" charset="-120"/>
              </a:rPr>
              <a:t>(first);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second.</a:t>
            </a:r>
            <a:r>
              <a:rPr lang="en-IE" sz="1500" dirty="0">
                <a:solidFill>
                  <a:srgbClr val="C9B0FF"/>
                </a:solidFill>
                <a:latin typeface="Consolas" pitchFamily="34" charset="0"/>
                <a:ea typeface="Consolas" pitchFamily="34" charset="-122"/>
                <a:cs typeface="Consolas" pitchFamily="34" charset="-120"/>
              </a:rPr>
              <a:t>getJob</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C9B0FF"/>
                </a:solidFill>
                <a:latin typeface="Consolas" pitchFamily="34" charset="0"/>
                <a:ea typeface="Consolas" pitchFamily="34" charset="-122"/>
                <a:cs typeface="Consolas" pitchFamily="34" charset="-120"/>
              </a:rPr>
              <a:t>setClient</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A9DB8C"/>
                </a:solidFill>
                <a:latin typeface="Consolas" pitchFamily="34" charset="0"/>
                <a:ea typeface="Consolas" pitchFamily="34" charset="-122"/>
                <a:cs typeface="Consolas" pitchFamily="34" charset="-120"/>
              </a:rPr>
              <a:t>"Mercy"</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System</a:t>
            </a:r>
            <a:r>
              <a:rPr lang="en-IE" sz="1500" dirty="0">
                <a:solidFill>
                  <a:srgbClr val="E6EBF2"/>
                </a:solidFill>
                <a:latin typeface="Consolas" pitchFamily="34" charset="0"/>
                <a:ea typeface="Consolas" pitchFamily="34" charset="-122"/>
                <a:cs typeface="Consolas" pitchFamily="34" charset="-120"/>
              </a:rPr>
              <a:t>.out.</a:t>
            </a:r>
            <a:r>
              <a:rPr lang="en-IE" sz="1500" dirty="0">
                <a:solidFill>
                  <a:srgbClr val="C9B0FF"/>
                </a:solidFill>
                <a:latin typeface="Consolas" pitchFamily="34" charset="0"/>
                <a:ea typeface="Consolas" pitchFamily="34" charset="-122"/>
                <a:cs typeface="Consolas" pitchFamily="34" charset="-120"/>
              </a:rPr>
              <a:t>println</a:t>
            </a:r>
            <a:r>
              <a:rPr lang="en-IE" sz="1500" dirty="0">
                <a:solidFill>
                  <a:srgbClr val="E6EBF2"/>
                </a:solidFill>
                <a:latin typeface="Consolas" pitchFamily="34" charset="0"/>
                <a:ea typeface="Consolas" pitchFamily="34" charset="-122"/>
                <a:cs typeface="Consolas" pitchFamily="34" charset="-120"/>
              </a:rPr>
              <a:t>(first.</a:t>
            </a:r>
            <a:r>
              <a:rPr lang="en-IE" sz="1500" dirty="0">
                <a:solidFill>
                  <a:srgbClr val="C9B0FF"/>
                </a:solidFill>
                <a:latin typeface="Consolas" pitchFamily="34" charset="0"/>
                <a:ea typeface="Consolas" pitchFamily="34" charset="-122"/>
                <a:cs typeface="Consolas" pitchFamily="34" charset="-120"/>
              </a:rPr>
              <a:t>getJob</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C9B0FF"/>
                </a:solidFill>
                <a:latin typeface="Consolas" pitchFamily="34" charset="0"/>
                <a:ea typeface="Consolas" pitchFamily="34" charset="-122"/>
                <a:cs typeface="Consolas" pitchFamily="34" charset="-120"/>
              </a:rPr>
              <a:t>getClient</a:t>
            </a:r>
            <a:r>
              <a:rPr lang="en-IE" sz="1500" dirty="0">
                <a:solidFill>
                  <a:srgbClr val="E6EBF2"/>
                </a:solidFill>
                <a:latin typeface="Consolas" pitchFamily="34" charset="0"/>
                <a:ea typeface="Consolas" pitchFamily="34" charset="-122"/>
                <a:cs typeface="Consolas" pitchFamily="34" charset="-120"/>
              </a:rPr>
              <a:t>());</a:t>
            </a:r>
            <a:endParaRPr lang="en-IE" sz="15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St. James</a:t>
            </a:r>
            <a:endParaRPr lang="en-IE"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Mercy</a:t>
            </a:r>
            <a:endParaRPr lang="en-IE"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null</a:t>
            </a:r>
            <a:endParaRPr lang="en-IE"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Compile error</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51</a:t>
            </a:fld>
            <a:endParaRPr lang="en-IE"/>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15</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Copy constructors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Employee’s copy constructor uses </a:t>
            </a:r>
            <a:r>
              <a:rPr lang="en-IE" sz="2000" b="1" dirty="0">
                <a:solidFill>
                  <a:schemeClr val="tx2"/>
                </a:solidFill>
                <a:latin typeface="Consolas" pitchFamily="34" charset="0"/>
                <a:ea typeface="Consolas" pitchFamily="34" charset="-122"/>
                <a:cs typeface="Consolas" pitchFamily="34" charset="-120"/>
              </a:rPr>
              <a:t>new Job(emp.job)</a:t>
            </a:r>
            <a:r>
              <a:rPr lang="en-IE" sz="2000" b="1" dirty="0">
                <a:solidFill>
                  <a:schemeClr val="tx2"/>
                </a:solidFill>
              </a:rPr>
              <a:t>. What does this code print?</a:t>
            </a:r>
            <a:endParaRPr lang="en-IE" sz="2000" dirty="0"/>
          </a:p>
        </p:txBody>
      </p:sp>
      <p:sp>
        <p:nvSpPr>
          <p:cNvPr id="5" name="Answer code card"/>
          <p:cNvSpPr/>
          <p:nvPr/>
        </p:nvSpPr>
        <p:spPr>
          <a:xfrm>
            <a:off x="548640" y="1874520"/>
            <a:ext cx="5623560" cy="1112520"/>
          </a:xfrm>
          <a:prstGeom prst="roundRect">
            <a:avLst>
              <a:gd name="adj" fmla="val 9863"/>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710184"/>
          </a:xfrm>
          <a:prstGeom prst="rect">
            <a:avLst/>
          </a:prstGeom>
          <a:noFill/>
          <a:ln/>
        </p:spPr>
        <p:txBody>
          <a:bodyPr wrap="square" lIns="0" tIns="0" rIns="0" bIns="0" rtlCol="0" anchor="t"/>
          <a:lstStyle/>
          <a:p>
            <a:pPr indent="0" marL="0">
              <a:lnSpc>
                <a:spcPts val="1720"/>
              </a:lnSpc>
              <a:buNone/>
            </a:pPr>
            <a:r>
              <a:rPr lang="en-IE" sz="1300" i="1" dirty="0">
                <a:solidFill>
                  <a:srgbClr val="A3AEC2"/>
                </a:solidFill>
                <a:latin typeface="Consolas" pitchFamily="34" charset="0"/>
                <a:ea typeface="Consolas" pitchFamily="34" charset="-122"/>
                <a:cs typeface="Consolas" pitchFamily="34" charset="-120"/>
              </a:rPr>
              <a:t>// copy constructor: this.job = new Job(emp.job);</a:t>
            </a:r>
            <a:endParaRPr lang="en-IE" sz="1300" dirty="0"/>
          </a:p>
          <a:p>
            <a:pPr indent="0" marL="0">
              <a:lnSpc>
                <a:spcPts val="1720"/>
              </a:lnSpc>
              <a:buNone/>
            </a:pPr>
            <a:r>
              <a:rPr lang="en-IE" sz="1300" i="1" dirty="0">
                <a:solidFill>
                  <a:srgbClr val="A3AEC2"/>
                </a:solidFill>
                <a:latin typeface="Consolas" pitchFamily="34" charset="0"/>
                <a:ea typeface="Consolas" pitchFamily="34" charset="-122"/>
                <a:cs typeface="Consolas" pitchFamily="34" charset="-120"/>
              </a:rPr>
              <a:t>// first and second each have their own Job</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first.</a:t>
            </a:r>
            <a:r>
              <a:rPr lang="en-IE" sz="1300" dirty="0">
                <a:solidFill>
                  <a:srgbClr val="C9B0FF"/>
                </a:solidFill>
                <a:latin typeface="Consolas" pitchFamily="34" charset="0"/>
                <a:ea typeface="Consolas" pitchFamily="34" charset="-122"/>
                <a:cs typeface="Consolas" pitchFamily="34" charset="-120"/>
              </a:rPr>
              <a:t>getJob</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C9B0FF"/>
                </a:solidFill>
                <a:latin typeface="Consolas" pitchFamily="34" charset="0"/>
                <a:ea typeface="Consolas" pitchFamily="34" charset="-122"/>
                <a:cs typeface="Consolas" pitchFamily="34" charset="-120"/>
              </a:rPr>
              <a:t>getClient</a:t>
            </a:r>
            <a:r>
              <a:rPr lang="en-IE" sz="1300" dirty="0">
                <a:solidFill>
                  <a:srgbClr val="E6EBF2"/>
                </a:solidFill>
                <a:latin typeface="Consolas" pitchFamily="34" charset="0"/>
                <a:ea typeface="Consolas" pitchFamily="34" charset="-122"/>
                <a:cs typeface="Consolas" pitchFamily="34" charset="-120"/>
              </a:rPr>
              <a:t>()   </a:t>
            </a:r>
            <a:r>
              <a:rPr lang="en-IE" sz="1300" i="1" dirty="0">
                <a:solidFill>
                  <a:srgbClr val="A3AEC2"/>
                </a:solidFill>
                <a:latin typeface="Consolas" pitchFamily="34" charset="0"/>
                <a:ea typeface="Consolas" pitchFamily="34" charset="-122"/>
                <a:cs typeface="Consolas" pitchFamily="34" charset="-120"/>
              </a:rPr>
              <a:t>// St. James</a:t>
            </a:r>
            <a:endParaRPr lang="en-IE" sz="1300" dirty="0"/>
          </a:p>
        </p:txBody>
      </p:sp>
      <p:sp>
        <p:nvSpPr>
          <p:cNvPr id="7" name="Option A (correct)"/>
          <p:cNvSpPr/>
          <p:nvPr/>
        </p:nvSpPr>
        <p:spPr>
          <a:xfrm>
            <a:off x="548640" y="3215640"/>
            <a:ext cx="5623560" cy="606552"/>
          </a:xfrm>
          <a:prstGeom prst="roundRect">
            <a:avLst>
              <a:gd name="adj" fmla="val 18090"/>
            </a:avLst>
          </a:prstGeom>
          <a:solidFill>
            <a:schemeClr val="accent3"/>
          </a:solidFill>
          <a:ln/>
          <a:effectLst>
            <a:outerShdw sx="100000" sy="100000" kx="0" ky="0" algn="bl" rotWithShape="0" blurRad="114300" dist="31750" dir="5400000">
              <a:srgbClr val="1D2433">
                <a:alpha val="12000"/>
              </a:srgbClr>
            </a:outerShdw>
          </a:effectLst>
        </p:spPr>
      </p:sp>
      <p:sp>
        <p:nvSpPr>
          <p:cNvPr id="8" name="Letter A"/>
          <p:cNvSpPr/>
          <p:nvPr/>
        </p:nvSpPr>
        <p:spPr>
          <a:xfrm>
            <a:off x="749808" y="3308604"/>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9" name="Option A text"/>
          <p:cNvSpPr txBox="1"/>
          <p:nvPr/>
        </p:nvSpPr>
        <p:spPr>
          <a:xfrm>
            <a:off x="1371600" y="3215640"/>
            <a:ext cx="4142232" cy="606552"/>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St. James</a:t>
            </a:r>
            <a:endParaRPr lang="en-IE" sz="1700" dirty="0"/>
          </a:p>
        </p:txBody>
      </p:sp>
      <p:pic>
        <p:nvPicPr>
          <p:cNvPr id="10" name="Correct mark" descr="Correct mark">    </p:cNvPr>
          <p:cNvPicPr>
            <a:picLocks noChangeAspect="1"/>
          </p:cNvPicPr>
          <p:nvPr/>
        </p:nvPicPr>
        <p:blipFill>
          <a:blip r:embed="rId1"/>
          <a:stretch>
            <a:fillRect/>
          </a:stretch>
        </p:blipFill>
        <p:spPr>
          <a:xfrm>
            <a:off x="5623560" y="3336036"/>
            <a:ext cx="365760" cy="365760"/>
          </a:xfrm>
          <a:prstGeom prst="rect">
            <a:avLst/>
          </a:prstGeom>
        </p:spPr>
      </p:pic>
      <p:sp>
        <p:nvSpPr>
          <p:cNvPr id="11" name="Option B"/>
          <p:cNvSpPr/>
          <p:nvPr/>
        </p:nvSpPr>
        <p:spPr>
          <a:xfrm>
            <a:off x="548640" y="3968496"/>
            <a:ext cx="5623560" cy="606552"/>
          </a:xfrm>
          <a:prstGeom prst="roundRect">
            <a:avLst>
              <a:gd name="adj" fmla="val 18090"/>
            </a:avLst>
          </a:prstGeom>
          <a:solidFill>
            <a:schemeClr val="bg1"/>
          </a:solidFill>
          <a:ln/>
          <a:effectLst>
            <a:outerShdw sx="100000" sy="100000" kx="0" ky="0" algn="bl" rotWithShape="0" blurRad="76200" dist="19050" dir="5400000">
              <a:srgbClr val="1D2433">
                <a:alpha val="8000"/>
              </a:srgbClr>
            </a:outerShdw>
          </a:effectLst>
        </p:spPr>
      </p:sp>
      <p:sp>
        <p:nvSpPr>
          <p:cNvPr id="12" name="Letter B"/>
          <p:cNvSpPr/>
          <p:nvPr/>
        </p:nvSpPr>
        <p:spPr>
          <a:xfrm>
            <a:off x="749808" y="4061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3" name="Option B text"/>
          <p:cNvSpPr txBox="1"/>
          <p:nvPr/>
        </p:nvSpPr>
        <p:spPr>
          <a:xfrm>
            <a:off x="1371600" y="3968496"/>
            <a:ext cx="4572000" cy="606552"/>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Mercy</a:t>
            </a:r>
            <a:endParaRPr lang="en-IE" sz="1700" dirty="0"/>
          </a:p>
        </p:txBody>
      </p:sp>
      <p:sp>
        <p:nvSpPr>
          <p:cNvPr id="14" name="Option C"/>
          <p:cNvSpPr/>
          <p:nvPr/>
        </p:nvSpPr>
        <p:spPr>
          <a:xfrm>
            <a:off x="548640" y="4721352"/>
            <a:ext cx="5623560" cy="606552"/>
          </a:xfrm>
          <a:prstGeom prst="roundRect">
            <a:avLst>
              <a:gd name="adj" fmla="val 18090"/>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8143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6" name="Option C text"/>
          <p:cNvSpPr txBox="1"/>
          <p:nvPr/>
        </p:nvSpPr>
        <p:spPr>
          <a:xfrm>
            <a:off x="1371600" y="4721352"/>
            <a:ext cx="4572000" cy="606552"/>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null</a:t>
            </a:r>
            <a:endParaRPr lang="en-IE" sz="1700" dirty="0"/>
          </a:p>
        </p:txBody>
      </p:sp>
      <p:sp>
        <p:nvSpPr>
          <p:cNvPr id="17" name="Option D"/>
          <p:cNvSpPr/>
          <p:nvPr/>
        </p:nvSpPr>
        <p:spPr>
          <a:xfrm>
            <a:off x="548640" y="5474208"/>
            <a:ext cx="5623560" cy="606552"/>
          </a:xfrm>
          <a:prstGeom prst="roundRect">
            <a:avLst>
              <a:gd name="adj" fmla="val 18090"/>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671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71600" y="5474208"/>
            <a:ext cx="4572000" cy="606552"/>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Compile error</a:t>
            </a:r>
            <a:endParaRPr lang="en-IE"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tx1"/>
                </a:solidFill>
              </a:rPr>
              <a:t>The copy constructor gives second its own Job with </a:t>
            </a:r>
            <a:r>
              <a:rPr lang="en-IE" sz="1800" dirty="0">
                <a:solidFill>
                  <a:schemeClr val="accent2"/>
                </a:solidFill>
                <a:latin typeface="Consolas" pitchFamily="34" charset="0"/>
                <a:ea typeface="Consolas" pitchFamily="34" charset="-122"/>
                <a:cs typeface="Consolas" pitchFamily="34" charset="-120"/>
              </a:rPr>
              <a:t>new Job(emp.job)</a:t>
            </a:r>
            <a:r>
              <a:rPr lang="en-IE" sz="1800" dirty="0">
                <a:solidFill>
                  <a:schemeClr val="tx1"/>
                </a:solidFill>
              </a:rPr>
              <a:t>, so changing second’s Job leaves first’s alone. If it had copied the reference (</a:t>
            </a:r>
            <a:r>
              <a:rPr lang="en-IE" sz="1800" dirty="0">
                <a:solidFill>
                  <a:schemeClr val="accent2"/>
                </a:solidFill>
                <a:latin typeface="Consolas" pitchFamily="34" charset="0"/>
                <a:ea typeface="Consolas" pitchFamily="34" charset="-122"/>
                <a:cs typeface="Consolas" pitchFamily="34" charset="-120"/>
              </a:rPr>
              <a:t>this.job = emp.job</a:t>
            </a:r>
            <a:r>
              <a:rPr lang="en-IE" sz="1800" dirty="0">
                <a:solidFill>
                  <a:schemeClr val="tx1"/>
                </a:solidFill>
              </a:rPr>
              <a:t>), both would share one Job and this would print Mercy.</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52</a:t>
            </a:fld>
            <a:endParaRPr lang="en-IE"/>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COPYING OBJECTS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Copy constructor or clone()?</a:t>
            </a:r>
            <a:endParaRPr lang="en-IE" sz="3400" dirty="0"/>
          </a:p>
        </p:txBody>
      </p:sp>
      <p:sp>
        <p:nvSpPr>
          <p:cNvPr id="5" name="Copy constructor"/>
          <p:cNvSpPr/>
          <p:nvPr/>
        </p:nvSpPr>
        <p:spPr>
          <a:xfrm>
            <a:off x="548640" y="1691640"/>
            <a:ext cx="5387188" cy="4434840"/>
          </a:xfrm>
          <a:prstGeom prst="roundRect">
            <a:avLst>
              <a:gd name="adj" fmla="val 2474"/>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1965960"/>
            <a:ext cx="640080" cy="640080"/>
          </a:xfrm>
          <a:prstGeom prst="roundRect">
            <a:avLst>
              <a:gd name="adj" fmla="val 24000"/>
            </a:avLst>
          </a:prstGeom>
          <a:solidFill>
            <a:schemeClr val="accent3">
              <a:alpha val="14000"/>
            </a:schemeClr>
          </a:solidFill>
          <a:ln/>
        </p:spPr>
      </p:sp>
      <p:pic>
        <p:nvPicPr>
          <p:cNvPr id="7" name="copy icon" descr="copy icon">    </p:cNvPr>
          <p:cNvPicPr>
            <a:picLocks noChangeAspect="1"/>
          </p:cNvPicPr>
          <p:nvPr/>
        </p:nvPicPr>
        <p:blipFill>
          <a:blip r:embed="rId1"/>
          <a:stretch>
            <a:fillRect/>
          </a:stretch>
        </p:blipFill>
        <p:spPr>
          <a:xfrm>
            <a:off x="957377" y="2100377"/>
            <a:ext cx="371246" cy="371246"/>
          </a:xfrm>
          <a:prstGeom prst="rect">
            <a:avLst/>
          </a:prstGeom>
        </p:spPr>
      </p:pic>
      <p:sp>
        <p:nvSpPr>
          <p:cNvPr id="8" name="Text 4"/>
          <p:cNvSpPr txBox="1"/>
          <p:nvPr/>
        </p:nvSpPr>
        <p:spPr>
          <a:xfrm>
            <a:off x="1600200" y="1965960"/>
            <a:ext cx="4107028" cy="640080"/>
          </a:xfrm>
          <a:prstGeom prst="rect">
            <a:avLst/>
          </a:prstGeom>
          <a:noFill/>
          <a:ln/>
        </p:spPr>
        <p:txBody>
          <a:bodyPr wrap="square" lIns="0" tIns="0" rIns="0" bIns="0" rtlCol="0" anchor="ctr"/>
          <a:lstStyle/>
          <a:p>
            <a:pPr indent="0" marL="0">
              <a:buNone/>
            </a:pPr>
            <a:r>
              <a:rPr lang="en-IE" sz="2400" b="1" dirty="0">
                <a:solidFill>
                  <a:schemeClr val="accent3"/>
                </a:solidFill>
              </a:rPr>
              <a:t>Copy constructor</a:t>
            </a:r>
            <a:endParaRPr lang="en-IE" sz="2400" dirty="0"/>
          </a:p>
        </p:txBody>
      </p:sp>
      <p:sp>
        <p:nvSpPr>
          <p:cNvPr id="9" name="Text 5"/>
          <p:cNvSpPr txBox="1"/>
          <p:nvPr/>
        </p:nvSpPr>
        <p:spPr>
          <a:xfrm>
            <a:off x="868680" y="2880360"/>
            <a:ext cx="4747108" cy="3063240"/>
          </a:xfrm>
          <a:prstGeom prst="rect">
            <a:avLst/>
          </a:prstGeom>
          <a:noFill/>
          <a:ln/>
        </p:spPr>
        <p:txBody>
          <a:bodyPr wrap="square" lIns="0" tIns="0" rIns="0" bIns="0" rtlCol="0" anchor="t"/>
          <a:lstStyle/>
          <a:p>
            <a:pPr marL="228600" indent="-228600">
              <a:spcAft>
                <a:spcPts val="1200"/>
              </a:spcAft>
              <a:buSzPct val="100000"/>
              <a:buChar char="•"/>
            </a:pPr>
            <a:r>
              <a:rPr lang="en-IE" sz="1700" dirty="0">
                <a:solidFill>
                  <a:schemeClr val="tx1"/>
                </a:solidFill>
              </a:rPr>
              <a:t>Easy to set up: no interface and no exception.</a:t>
            </a:r>
            <a:endParaRPr lang="en-IE" sz="1700" dirty="0"/>
          </a:p>
          <a:p>
            <a:pPr marL="228600" indent="-228600">
              <a:spcAft>
                <a:spcPts val="1200"/>
              </a:spcAft>
              <a:buSzPct val="100000"/>
              <a:buChar char="•"/>
            </a:pPr>
            <a:r>
              <a:rPr lang="en-IE" sz="1700" dirty="0">
                <a:solidFill>
                  <a:schemeClr val="tx1"/>
                </a:solidFill>
              </a:rPr>
              <a:t>Gives back the right type, so no cast.</a:t>
            </a:r>
            <a:endParaRPr lang="en-IE" sz="1700" dirty="0"/>
          </a:p>
          <a:p>
            <a:pPr marL="228600" indent="-228600">
              <a:spcAft>
                <a:spcPts val="1200"/>
              </a:spcAft>
              <a:buSzPct val="100000"/>
              <a:buChar char="•"/>
            </a:pPr>
            <a:r>
              <a:rPr lang="en-IE" sz="1700" dirty="0">
                <a:solidFill>
                  <a:schemeClr val="tx1"/>
                </a:solidFill>
              </a:rPr>
              <a:t>Can give final attributes their values, as it’s a constructor.</a:t>
            </a:r>
            <a:endParaRPr lang="en-IE" sz="1700" dirty="0"/>
          </a:p>
          <a:p>
            <a:pPr marL="228600" indent="-228600">
              <a:buSzPct val="100000"/>
              <a:buChar char="•"/>
            </a:pPr>
            <a:r>
              <a:rPr lang="en-IE" sz="1700" dirty="0">
                <a:solidFill>
                  <a:schemeClr val="tx1"/>
                </a:solidFill>
              </a:rPr>
              <a:t>We decide exactly what is copied.</a:t>
            </a:r>
            <a:endParaRPr lang="en-IE" sz="1700" dirty="0"/>
          </a:p>
        </p:txBody>
      </p:sp>
      <p:sp>
        <p:nvSpPr>
          <p:cNvPr id="10" name="clone()"/>
          <p:cNvSpPr/>
          <p:nvPr/>
        </p:nvSpPr>
        <p:spPr>
          <a:xfrm>
            <a:off x="6255868" y="1691640"/>
            <a:ext cx="5387188" cy="4434840"/>
          </a:xfrm>
          <a:prstGeom prst="roundRect">
            <a:avLst>
              <a:gd name="adj" fmla="val 2474"/>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6530188" y="1965960"/>
            <a:ext cx="640080" cy="640080"/>
          </a:xfrm>
          <a:prstGeom prst="roundRect">
            <a:avLst>
              <a:gd name="adj" fmla="val 24000"/>
            </a:avLst>
          </a:prstGeom>
          <a:solidFill>
            <a:schemeClr val="accent5">
              <a:alpha val="14000"/>
            </a:schemeClr>
          </a:solidFill>
          <a:ln/>
        </p:spPr>
      </p:sp>
      <p:pic>
        <p:nvPicPr>
          <p:cNvPr id="12" name="copy simple icon" descr="copy simple icon">    </p:cNvPr>
          <p:cNvPicPr>
            <a:picLocks noChangeAspect="1"/>
          </p:cNvPicPr>
          <p:nvPr/>
        </p:nvPicPr>
        <p:blipFill>
          <a:blip r:embed="rId2"/>
          <a:stretch>
            <a:fillRect/>
          </a:stretch>
        </p:blipFill>
        <p:spPr>
          <a:xfrm>
            <a:off x="6664604" y="2100377"/>
            <a:ext cx="371246" cy="371246"/>
          </a:xfrm>
          <a:prstGeom prst="rect">
            <a:avLst/>
          </a:prstGeom>
        </p:spPr>
      </p:pic>
      <p:sp>
        <p:nvSpPr>
          <p:cNvPr id="13" name="Text 8"/>
          <p:cNvSpPr txBox="1"/>
          <p:nvPr/>
        </p:nvSpPr>
        <p:spPr>
          <a:xfrm>
            <a:off x="7307428" y="1965960"/>
            <a:ext cx="4107028" cy="640080"/>
          </a:xfrm>
          <a:prstGeom prst="rect">
            <a:avLst/>
          </a:prstGeom>
          <a:noFill/>
          <a:ln/>
        </p:spPr>
        <p:txBody>
          <a:bodyPr wrap="square" lIns="0" tIns="0" rIns="0" bIns="0" rtlCol="0" anchor="ctr"/>
          <a:lstStyle/>
          <a:p>
            <a:pPr indent="0" marL="0">
              <a:buNone/>
            </a:pPr>
            <a:r>
              <a:rPr lang="en-IE" sz="2400" b="1" dirty="0">
                <a:solidFill>
                  <a:schemeClr val="accent5"/>
                </a:solidFill>
                <a:latin typeface="Consolas" pitchFamily="34" charset="0"/>
                <a:ea typeface="Consolas" pitchFamily="34" charset="-122"/>
                <a:cs typeface="Consolas" pitchFamily="34" charset="-120"/>
              </a:rPr>
              <a:t>clone()</a:t>
            </a:r>
            <a:endParaRPr lang="en-IE" sz="2400" dirty="0"/>
          </a:p>
        </p:txBody>
      </p:sp>
      <p:sp>
        <p:nvSpPr>
          <p:cNvPr id="14" name="Text 9"/>
          <p:cNvSpPr txBox="1"/>
          <p:nvPr/>
        </p:nvSpPr>
        <p:spPr>
          <a:xfrm>
            <a:off x="6575908" y="2880360"/>
            <a:ext cx="4747108" cy="3063240"/>
          </a:xfrm>
          <a:prstGeom prst="rect">
            <a:avLst/>
          </a:prstGeom>
          <a:noFill/>
          <a:ln/>
        </p:spPr>
        <p:txBody>
          <a:bodyPr wrap="square" lIns="0" tIns="0" rIns="0" bIns="0" rtlCol="0" anchor="t"/>
          <a:lstStyle/>
          <a:p>
            <a:pPr marL="228600" indent="-228600">
              <a:spcAft>
                <a:spcPts val="1200"/>
              </a:spcAft>
              <a:buSzPct val="100000"/>
              <a:buChar char="•"/>
            </a:pPr>
            <a:r>
              <a:rPr lang="en-IE" sz="1700" dirty="0">
                <a:solidFill>
                  <a:schemeClr val="tx1"/>
                </a:solidFill>
              </a:rPr>
              <a:t>Needs Cloneable, an override and a try/catch.</a:t>
            </a:r>
            <a:endParaRPr lang="en-IE" sz="1700" dirty="0"/>
          </a:p>
          <a:p>
            <a:pPr marL="228600" indent="-228600">
              <a:spcAft>
                <a:spcPts val="1200"/>
              </a:spcAft>
              <a:buSzPct val="100000"/>
              <a:buChar char="•"/>
            </a:pPr>
            <a:r>
              <a:rPr lang="en-IE" sz="1700" dirty="0">
                <a:solidFill>
                  <a:schemeClr val="tx1"/>
                </a:solidFill>
              </a:rPr>
              <a:t>Returns an Object, so we cast the result.</a:t>
            </a:r>
            <a:endParaRPr lang="en-IE" sz="1700" dirty="0"/>
          </a:p>
          <a:p>
            <a:pPr marL="228600" indent="-228600">
              <a:spcAft>
                <a:spcPts val="1200"/>
              </a:spcAft>
              <a:buSzPct val="100000"/>
              <a:buChar char="•"/>
            </a:pPr>
            <a:r>
              <a:rPr lang="en-IE" sz="1700" dirty="0">
                <a:solidFill>
                  <a:schemeClr val="tx1"/>
                </a:solidFill>
              </a:rPr>
              <a:t>Can’t give a final attribute a new value.</a:t>
            </a:r>
            <a:endParaRPr lang="en-IE" sz="1700" dirty="0"/>
          </a:p>
          <a:p>
            <a:pPr marL="228600" indent="-228600">
              <a:buSzPct val="100000"/>
              <a:buChar char="•"/>
            </a:pPr>
            <a:r>
              <a:rPr lang="en-IE" sz="1700" dirty="0">
                <a:solidFill>
                  <a:schemeClr val="tx1"/>
                </a:solidFill>
              </a:rPr>
              <a:t>Shares attributes that are objects, unless we copy them ourselves.</a:t>
            </a:r>
            <a:endParaRPr lang="en-IE"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53</a:t>
            </a:fld>
            <a:endParaRPr lang="en-IE"/>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16</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Copy constructor or clone</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is an advantage of a copy constructor over clone()?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No cast and no CloneNotSupportedException to handle</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copies private attributes, which clone() can’t</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makes deep copies of every attribute by itself</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It’s the only way to copy an object in Java</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54</a:t>
            </a:fld>
            <a:endParaRPr lang="en-IE"/>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16</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Copy constructor or clone</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is an advantage of a copy constructor over clone()?</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No cast and no CloneNotSupportedException to handle</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copies private attributes, which clone() can’t</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makes deep copies of every attribute by itself</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It’s the only way to copy an object in Java</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copy constructor is a normal constructor: it returns the right type, so there’s no cast, and there’s no exception to catch. </a:t>
            </a:r>
            <a:r>
              <a:rPr lang="en-IE" sz="1800" dirty="0">
                <a:solidFill>
                  <a:schemeClr val="accent2"/>
                </a:solidFill>
                <a:latin typeface="Consolas" pitchFamily="34" charset="0"/>
                <a:ea typeface="Consolas" pitchFamily="34" charset="-122"/>
                <a:cs typeface="Consolas" pitchFamily="34" charset="-120"/>
              </a:rPr>
              <a:t>clone()</a:t>
            </a:r>
            <a:r>
              <a:rPr lang="en-IE" sz="1800" dirty="0">
                <a:solidFill>
                  <a:schemeClr val="tx1"/>
                </a:solidFill>
              </a:rPr>
              <a:t> copies private attributes too (B), and neither does a deep copy unless we write it ourselves (C).</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55</a:t>
            </a:fld>
            <a:endParaRPr lang="en-IE"/>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04</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Sorting objects</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compareTo, Comparable and Comparator</a:t>
            </a:r>
            <a:endParaRPr lang="en-IE" sz="2000" dirty="0"/>
          </a:p>
        </p:txBody>
      </p:sp>
      <p:sp>
        <p:nvSpPr>
          <p:cNvPr id="5" name="Topic chip"/>
          <p:cNvSpPr/>
          <p:nvPr/>
        </p:nvSpPr>
        <p:spPr>
          <a:xfrm>
            <a:off x="822960" y="4846320"/>
            <a:ext cx="188163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Collections.sort</a:t>
            </a:r>
            <a:endParaRPr lang="en-IE" sz="1400" dirty="0"/>
          </a:p>
        </p:txBody>
      </p:sp>
      <p:sp>
        <p:nvSpPr>
          <p:cNvPr id="6" name="Topic chip"/>
          <p:cNvSpPr/>
          <p:nvPr/>
        </p:nvSpPr>
        <p:spPr>
          <a:xfrm>
            <a:off x="2850896" y="4846320"/>
            <a:ext cx="123444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compareTo</a:t>
            </a:r>
            <a:endParaRPr lang="en-IE" sz="1400" dirty="0"/>
          </a:p>
        </p:txBody>
      </p:sp>
      <p:sp>
        <p:nvSpPr>
          <p:cNvPr id="7" name="Topic chip"/>
          <p:cNvSpPr/>
          <p:nvPr/>
        </p:nvSpPr>
        <p:spPr>
          <a:xfrm>
            <a:off x="4231640" y="4846320"/>
            <a:ext cx="132689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Comparable</a:t>
            </a:r>
            <a:endParaRPr lang="en-IE" sz="1400" dirty="0"/>
          </a:p>
        </p:txBody>
      </p:sp>
      <p:sp>
        <p:nvSpPr>
          <p:cNvPr id="8" name="Topic chip"/>
          <p:cNvSpPr/>
          <p:nvPr/>
        </p:nvSpPr>
        <p:spPr>
          <a:xfrm>
            <a:off x="5704840" y="4846320"/>
            <a:ext cx="132689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Comparator</a:t>
            </a:r>
            <a:endParaRPr lang="en-IE" sz="1400" dirty="0"/>
          </a:p>
        </p:txBody>
      </p:sp>
      <p:pic>
        <p:nvPicPr>
          <p:cNvPr id="9"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SORTING OBJECTS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Sorting a list with Collections</a:t>
            </a:r>
            <a:endParaRPr lang="en-IE" sz="3400" dirty="0"/>
          </a:p>
        </p:txBody>
      </p:sp>
      <p:sp>
        <p:nvSpPr>
          <p:cNvPr id="5" name="Text 2"/>
          <p:cNvSpPr txBox="1"/>
          <p:nvPr/>
        </p:nvSpPr>
        <p:spPr>
          <a:xfrm>
            <a:off x="548640" y="1783080"/>
            <a:ext cx="4937760" cy="4206240"/>
          </a:xfrm>
          <a:prstGeom prst="rect">
            <a:avLst/>
          </a:prstGeom>
          <a:noFill/>
          <a:ln/>
        </p:spPr>
        <p:txBody>
          <a:bodyPr wrap="square" lIns="0" tIns="0" rIns="0" bIns="0" rtlCol="0" anchor="t"/>
          <a:lstStyle/>
          <a:p>
            <a:pPr marL="228600" indent="-228600">
              <a:spcAft>
                <a:spcPts val="1100"/>
              </a:spcAft>
              <a:buSzPct val="100000"/>
              <a:buChar char="•"/>
            </a:pPr>
            <a:r>
              <a:rPr lang="en-IE" sz="1700" dirty="0">
                <a:solidFill>
                  <a:schemeClr val="accent2"/>
                </a:solidFill>
                <a:latin typeface="Consolas" pitchFamily="34" charset="0"/>
                <a:ea typeface="Consolas" pitchFamily="34" charset="-122"/>
                <a:cs typeface="Consolas" pitchFamily="34" charset="-120"/>
              </a:rPr>
              <a:t>Collections.sort(list)</a:t>
            </a:r>
            <a:r>
              <a:rPr lang="en-IE" sz="1700" dirty="0">
                <a:solidFill>
                  <a:schemeClr val="tx1"/>
                </a:solidFill>
              </a:rPr>
              <a:t> puts a list in order: numbers from smallest to largest, Strings by their characters.</a:t>
            </a:r>
            <a:endParaRPr lang="en-IE" sz="1700" dirty="0"/>
          </a:p>
          <a:p>
            <a:pPr marL="228600" indent="-228600">
              <a:spcAft>
                <a:spcPts val="1100"/>
              </a:spcAft>
              <a:buSzPct val="100000"/>
              <a:buChar char="•"/>
            </a:pPr>
            <a:r>
              <a:rPr lang="en-IE" sz="1700" dirty="0">
                <a:solidFill>
                  <a:schemeClr val="tx1"/>
                </a:solidFill>
              </a:rPr>
              <a:t>Capital letters come before small ones, because they have lower Unicode values.</a:t>
            </a:r>
            <a:endParaRPr lang="en-IE" sz="1700" dirty="0"/>
          </a:p>
          <a:p>
            <a:pPr marL="228600" indent="-228600">
              <a:spcAft>
                <a:spcPts val="1100"/>
              </a:spcAft>
              <a:buSzPct val="100000"/>
              <a:buChar char="•"/>
            </a:pPr>
            <a:r>
              <a:rPr lang="en-IE" sz="1700" dirty="0">
                <a:solidFill>
                  <a:schemeClr val="accent2"/>
                </a:solidFill>
                <a:latin typeface="Consolas" pitchFamily="34" charset="0"/>
                <a:ea typeface="Consolas" pitchFamily="34" charset="-122"/>
                <a:cs typeface="Consolas" pitchFamily="34" charset="-120"/>
              </a:rPr>
              <a:t>Collections.shuffle(list)</a:t>
            </a:r>
            <a:r>
              <a:rPr lang="en-IE" sz="1700" dirty="0">
                <a:solidFill>
                  <a:schemeClr val="tx1"/>
                </a:solidFill>
              </a:rPr>
              <a:t> puts a list in a random order.</a:t>
            </a:r>
            <a:endParaRPr lang="en-IE" sz="1700" dirty="0"/>
          </a:p>
          <a:p>
            <a:pPr marL="228600" indent="-228600">
              <a:buSzPct val="100000"/>
              <a:buChar char="•"/>
            </a:pPr>
            <a:r>
              <a:rPr lang="en-IE" sz="1700" dirty="0">
                <a:solidFill>
                  <a:schemeClr val="tx1"/>
                </a:solidFill>
              </a:rPr>
              <a:t>Both work on lists, such as an ArrayList. For an array, </a:t>
            </a:r>
            <a:r>
              <a:rPr lang="en-IE" sz="1700" dirty="0">
                <a:solidFill>
                  <a:schemeClr val="accent2"/>
                </a:solidFill>
                <a:latin typeface="Consolas" pitchFamily="34" charset="0"/>
                <a:ea typeface="Consolas" pitchFamily="34" charset="-122"/>
                <a:cs typeface="Consolas" pitchFamily="34" charset="-120"/>
              </a:rPr>
              <a:t>Arrays.sort</a:t>
            </a:r>
            <a:r>
              <a:rPr lang="en-IE" sz="1700" dirty="0">
                <a:solidFill>
                  <a:schemeClr val="tx1"/>
                </a:solidFill>
              </a:rPr>
              <a:t> does the same job.</a:t>
            </a:r>
            <a:endParaRPr lang="en-IE" sz="1700" dirty="0"/>
          </a:p>
        </p:txBody>
      </p:sp>
      <p:sp>
        <p:nvSpPr>
          <p:cNvPr id="6" name="Text 3"/>
          <p:cNvSpPr txBox="1"/>
          <p:nvPr/>
        </p:nvSpPr>
        <p:spPr>
          <a:xfrm>
            <a:off x="5897880" y="1737360"/>
            <a:ext cx="2743200" cy="292608"/>
          </a:xfrm>
          <a:prstGeom prst="rect">
            <a:avLst/>
          </a:prstGeom>
          <a:noFill/>
          <a:ln/>
        </p:spPr>
        <p:txBody>
          <a:bodyPr wrap="square" lIns="0" tIns="0" rIns="0" bIns="0" rtlCol="0" anchor="t"/>
          <a:lstStyle/>
          <a:p>
            <a:pPr indent="0" marL="0">
              <a:buNone/>
            </a:pPr>
            <a:r>
              <a:rPr lang="en-IE" sz="1350" b="1" dirty="0">
                <a:solidFill>
                  <a:schemeClr val="tx2"/>
                </a:solidFill>
              </a:rPr>
              <a:t>Numbers</a:t>
            </a:r>
            <a:endParaRPr lang="en-IE" sz="1350" dirty="0"/>
          </a:p>
        </p:txBody>
      </p:sp>
      <p:sp>
        <p:nvSpPr>
          <p:cNvPr id="7" name="Cell 0"/>
          <p:cNvSpPr/>
          <p:nvPr/>
        </p:nvSpPr>
        <p:spPr>
          <a:xfrm>
            <a:off x="5897880" y="2075688"/>
            <a:ext cx="1298448" cy="548640"/>
          </a:xfrm>
          <a:prstGeom prst="roundRect">
            <a:avLst>
              <a:gd name="adj" fmla="val 13333"/>
            </a:avLst>
          </a:prstGeom>
          <a:solidFill>
            <a:schemeClr val="tx2">
              <a:alpha val="6000"/>
            </a:schemeClr>
          </a:solidFill>
          <a:ln w="15875">
            <a:solidFill>
              <a:schemeClr val="tx2"/>
            </a:solidFill>
          </a:ln>
        </p:spPr>
        <p:txBody>
          <a:bodyPr wrap="square" lIns="0" tIns="0" rIns="0" bIns="0" rtlCol="0" anchor="ctr"/>
          <a:lstStyle/>
          <a:p>
            <a:pPr algn="ctr" indent="0" marL="0">
              <a:buNone/>
            </a:pPr>
            <a:r>
              <a:rPr lang="en-IE" sz="1500" dirty="0">
                <a:solidFill>
                  <a:schemeClr val="tx1"/>
                </a:solidFill>
                <a:latin typeface="Consolas" pitchFamily="34" charset="0"/>
                <a:ea typeface="Consolas" pitchFamily="34" charset="-122"/>
                <a:cs typeface="Consolas" pitchFamily="34" charset="-120"/>
              </a:rPr>
              <a:t>42</a:t>
            </a:r>
            <a:endParaRPr lang="en-IE" sz="1500" dirty="0"/>
          </a:p>
        </p:txBody>
      </p:sp>
      <p:sp>
        <p:nvSpPr>
          <p:cNvPr id="8" name="Cell 1"/>
          <p:cNvSpPr/>
          <p:nvPr/>
        </p:nvSpPr>
        <p:spPr>
          <a:xfrm>
            <a:off x="7269480" y="2075688"/>
            <a:ext cx="1298448" cy="548640"/>
          </a:xfrm>
          <a:prstGeom prst="roundRect">
            <a:avLst>
              <a:gd name="adj" fmla="val 13333"/>
            </a:avLst>
          </a:prstGeom>
          <a:solidFill>
            <a:schemeClr val="tx2">
              <a:alpha val="6000"/>
            </a:schemeClr>
          </a:solidFill>
          <a:ln w="15875">
            <a:solidFill>
              <a:schemeClr val="tx2"/>
            </a:solidFill>
          </a:ln>
        </p:spPr>
        <p:txBody>
          <a:bodyPr wrap="square" lIns="0" tIns="0" rIns="0" bIns="0" rtlCol="0" anchor="ctr"/>
          <a:lstStyle/>
          <a:p>
            <a:pPr algn="ctr" indent="0" marL="0">
              <a:buNone/>
            </a:pPr>
            <a:r>
              <a:rPr lang="en-IE" sz="1500" dirty="0">
                <a:solidFill>
                  <a:schemeClr val="tx1"/>
                </a:solidFill>
                <a:latin typeface="Consolas" pitchFamily="34" charset="0"/>
                <a:ea typeface="Consolas" pitchFamily="34" charset="-122"/>
                <a:cs typeface="Consolas" pitchFamily="34" charset="-120"/>
              </a:rPr>
              <a:t>7</a:t>
            </a:r>
            <a:endParaRPr lang="en-IE" sz="1500" dirty="0"/>
          </a:p>
        </p:txBody>
      </p:sp>
      <p:sp>
        <p:nvSpPr>
          <p:cNvPr id="9" name="Cell 2"/>
          <p:cNvSpPr/>
          <p:nvPr/>
        </p:nvSpPr>
        <p:spPr>
          <a:xfrm>
            <a:off x="8641080" y="2075688"/>
            <a:ext cx="1298448" cy="548640"/>
          </a:xfrm>
          <a:prstGeom prst="roundRect">
            <a:avLst>
              <a:gd name="adj" fmla="val 13333"/>
            </a:avLst>
          </a:prstGeom>
          <a:solidFill>
            <a:schemeClr val="tx2">
              <a:alpha val="6000"/>
            </a:schemeClr>
          </a:solidFill>
          <a:ln w="15875">
            <a:solidFill>
              <a:schemeClr val="tx2"/>
            </a:solidFill>
          </a:ln>
        </p:spPr>
        <p:txBody>
          <a:bodyPr wrap="square" lIns="0" tIns="0" rIns="0" bIns="0" rtlCol="0" anchor="ctr"/>
          <a:lstStyle/>
          <a:p>
            <a:pPr algn="ctr" indent="0" marL="0">
              <a:buNone/>
            </a:pPr>
            <a:r>
              <a:rPr lang="en-IE" sz="1500" dirty="0">
                <a:solidFill>
                  <a:schemeClr val="tx1"/>
                </a:solidFill>
                <a:latin typeface="Consolas" pitchFamily="34" charset="0"/>
                <a:ea typeface="Consolas" pitchFamily="34" charset="-122"/>
                <a:cs typeface="Consolas" pitchFamily="34" charset="-120"/>
              </a:rPr>
              <a:t>19</a:t>
            </a:r>
            <a:endParaRPr lang="en-IE" sz="1500" dirty="0"/>
          </a:p>
        </p:txBody>
      </p:sp>
      <p:sp>
        <p:nvSpPr>
          <p:cNvPr id="10" name="Cell 3"/>
          <p:cNvSpPr/>
          <p:nvPr/>
        </p:nvSpPr>
        <p:spPr>
          <a:xfrm>
            <a:off x="10012680" y="2075688"/>
            <a:ext cx="1298448" cy="548640"/>
          </a:xfrm>
          <a:prstGeom prst="roundRect">
            <a:avLst>
              <a:gd name="adj" fmla="val 13333"/>
            </a:avLst>
          </a:prstGeom>
          <a:solidFill>
            <a:schemeClr val="tx2">
              <a:alpha val="6000"/>
            </a:schemeClr>
          </a:solidFill>
          <a:ln w="15875">
            <a:solidFill>
              <a:schemeClr val="tx2"/>
            </a:solidFill>
          </a:ln>
        </p:spPr>
        <p:txBody>
          <a:bodyPr wrap="square" lIns="0" tIns="0" rIns="0" bIns="0" rtlCol="0" anchor="ctr"/>
          <a:lstStyle/>
          <a:p>
            <a:pPr algn="ctr" indent="0" marL="0">
              <a:buNone/>
            </a:pPr>
            <a:r>
              <a:rPr lang="en-IE" sz="1500" dirty="0">
                <a:solidFill>
                  <a:schemeClr val="tx1"/>
                </a:solidFill>
                <a:latin typeface="Consolas" pitchFamily="34" charset="0"/>
                <a:ea typeface="Consolas" pitchFamily="34" charset="-122"/>
                <a:cs typeface="Consolas" pitchFamily="34" charset="-120"/>
              </a:rPr>
              <a:t>3</a:t>
            </a:r>
            <a:endParaRPr lang="en-IE" sz="1500" dirty="0"/>
          </a:p>
        </p:txBody>
      </p:sp>
      <p:sp>
        <p:nvSpPr>
          <p:cNvPr id="11" name="Code chip"/>
          <p:cNvSpPr/>
          <p:nvPr/>
        </p:nvSpPr>
        <p:spPr>
          <a:xfrm>
            <a:off x="5897880" y="2788920"/>
            <a:ext cx="3291840" cy="402336"/>
          </a:xfrm>
          <a:prstGeom prst="roundRect">
            <a:avLst>
              <a:gd name="adj" fmla="val 18182"/>
            </a:avLst>
          </a:prstGeom>
          <a:solidFill>
            <a:schemeClr val="bg2"/>
          </a:solidFill>
          <a:ln/>
        </p:spPr>
        <p:txBody>
          <a:bodyPr wrap="square" lIns="0" tIns="0" rIns="0" bIns="0" rtlCol="0" anchor="ctr"/>
          <a:lstStyle/>
          <a:p>
            <a:pPr algn="ctr" indent="0" marL="0">
              <a:buNone/>
            </a:pPr>
            <a:r>
              <a:rPr lang="en-IE" sz="1400" dirty="0">
                <a:solidFill>
                  <a:schemeClr val="accent2"/>
                </a:solidFill>
                <a:latin typeface="Consolas" pitchFamily="34" charset="0"/>
                <a:ea typeface="Consolas" pitchFamily="34" charset="-122"/>
                <a:cs typeface="Consolas" pitchFamily="34" charset="-120"/>
              </a:rPr>
              <a:t>Collections.sort(numbers);</a:t>
            </a:r>
            <a:endParaRPr lang="en-IE" sz="1400" dirty="0"/>
          </a:p>
        </p:txBody>
      </p:sp>
      <p:sp>
        <p:nvSpPr>
          <p:cNvPr id="12" name="Cell 0"/>
          <p:cNvSpPr/>
          <p:nvPr/>
        </p:nvSpPr>
        <p:spPr>
          <a:xfrm>
            <a:off x="5897880" y="3355848"/>
            <a:ext cx="1298448" cy="548640"/>
          </a:xfrm>
          <a:prstGeom prst="roundRect">
            <a:avLst>
              <a:gd name="adj" fmla="val 13333"/>
            </a:avLst>
          </a:prstGeom>
          <a:solidFill>
            <a:schemeClr val="accent3">
              <a:alpha val="20000"/>
            </a:schemeClr>
          </a:solidFill>
          <a:ln w="15875">
            <a:solidFill>
              <a:schemeClr val="accent3"/>
            </a:solidFill>
          </a:ln>
        </p:spPr>
        <p:txBody>
          <a:bodyPr wrap="square" lIns="0" tIns="0" rIns="0" bIns="0" rtlCol="0" anchor="ctr"/>
          <a:lstStyle/>
          <a:p>
            <a:pPr algn="ctr" indent="0" marL="0">
              <a:buNone/>
            </a:pPr>
            <a:r>
              <a:rPr lang="en-IE" sz="1500" b="1" dirty="0">
                <a:solidFill>
                  <a:schemeClr val="tx1"/>
                </a:solidFill>
                <a:latin typeface="Consolas" pitchFamily="34" charset="0"/>
                <a:ea typeface="Consolas" pitchFamily="34" charset="-122"/>
                <a:cs typeface="Consolas" pitchFamily="34" charset="-120"/>
              </a:rPr>
              <a:t>3</a:t>
            </a:r>
            <a:endParaRPr lang="en-IE" sz="1500" dirty="0"/>
          </a:p>
        </p:txBody>
      </p:sp>
      <p:sp>
        <p:nvSpPr>
          <p:cNvPr id="13" name="Cell 1"/>
          <p:cNvSpPr/>
          <p:nvPr/>
        </p:nvSpPr>
        <p:spPr>
          <a:xfrm>
            <a:off x="7269480" y="3355848"/>
            <a:ext cx="1298448" cy="548640"/>
          </a:xfrm>
          <a:prstGeom prst="roundRect">
            <a:avLst>
              <a:gd name="adj" fmla="val 13333"/>
            </a:avLst>
          </a:prstGeom>
          <a:solidFill>
            <a:schemeClr val="accent3">
              <a:alpha val="20000"/>
            </a:schemeClr>
          </a:solidFill>
          <a:ln w="15875">
            <a:solidFill>
              <a:schemeClr val="accent3"/>
            </a:solidFill>
          </a:ln>
        </p:spPr>
        <p:txBody>
          <a:bodyPr wrap="square" lIns="0" tIns="0" rIns="0" bIns="0" rtlCol="0" anchor="ctr"/>
          <a:lstStyle/>
          <a:p>
            <a:pPr algn="ctr" indent="0" marL="0">
              <a:buNone/>
            </a:pPr>
            <a:r>
              <a:rPr lang="en-IE" sz="1500" b="1" dirty="0">
                <a:solidFill>
                  <a:schemeClr val="tx1"/>
                </a:solidFill>
                <a:latin typeface="Consolas" pitchFamily="34" charset="0"/>
                <a:ea typeface="Consolas" pitchFamily="34" charset="-122"/>
                <a:cs typeface="Consolas" pitchFamily="34" charset="-120"/>
              </a:rPr>
              <a:t>7</a:t>
            </a:r>
            <a:endParaRPr lang="en-IE" sz="1500" dirty="0"/>
          </a:p>
        </p:txBody>
      </p:sp>
      <p:sp>
        <p:nvSpPr>
          <p:cNvPr id="14" name="Cell 2"/>
          <p:cNvSpPr/>
          <p:nvPr/>
        </p:nvSpPr>
        <p:spPr>
          <a:xfrm>
            <a:off x="8641080" y="3355848"/>
            <a:ext cx="1298448" cy="548640"/>
          </a:xfrm>
          <a:prstGeom prst="roundRect">
            <a:avLst>
              <a:gd name="adj" fmla="val 13333"/>
            </a:avLst>
          </a:prstGeom>
          <a:solidFill>
            <a:schemeClr val="accent3">
              <a:alpha val="20000"/>
            </a:schemeClr>
          </a:solidFill>
          <a:ln w="15875">
            <a:solidFill>
              <a:schemeClr val="accent3"/>
            </a:solidFill>
          </a:ln>
        </p:spPr>
        <p:txBody>
          <a:bodyPr wrap="square" lIns="0" tIns="0" rIns="0" bIns="0" rtlCol="0" anchor="ctr"/>
          <a:lstStyle/>
          <a:p>
            <a:pPr algn="ctr" indent="0" marL="0">
              <a:buNone/>
            </a:pPr>
            <a:r>
              <a:rPr lang="en-IE" sz="1500" b="1" dirty="0">
                <a:solidFill>
                  <a:schemeClr val="tx1"/>
                </a:solidFill>
                <a:latin typeface="Consolas" pitchFamily="34" charset="0"/>
                <a:ea typeface="Consolas" pitchFamily="34" charset="-122"/>
                <a:cs typeface="Consolas" pitchFamily="34" charset="-120"/>
              </a:rPr>
              <a:t>19</a:t>
            </a:r>
            <a:endParaRPr lang="en-IE" sz="1500" dirty="0"/>
          </a:p>
        </p:txBody>
      </p:sp>
      <p:sp>
        <p:nvSpPr>
          <p:cNvPr id="15" name="Cell 3"/>
          <p:cNvSpPr/>
          <p:nvPr/>
        </p:nvSpPr>
        <p:spPr>
          <a:xfrm>
            <a:off x="10012680" y="3355848"/>
            <a:ext cx="1298448" cy="548640"/>
          </a:xfrm>
          <a:prstGeom prst="roundRect">
            <a:avLst>
              <a:gd name="adj" fmla="val 13333"/>
            </a:avLst>
          </a:prstGeom>
          <a:solidFill>
            <a:schemeClr val="accent3">
              <a:alpha val="20000"/>
            </a:schemeClr>
          </a:solidFill>
          <a:ln w="15875">
            <a:solidFill>
              <a:schemeClr val="accent3"/>
            </a:solidFill>
          </a:ln>
        </p:spPr>
        <p:txBody>
          <a:bodyPr wrap="square" lIns="0" tIns="0" rIns="0" bIns="0" rtlCol="0" anchor="ctr"/>
          <a:lstStyle/>
          <a:p>
            <a:pPr algn="ctr" indent="0" marL="0">
              <a:buNone/>
            </a:pPr>
            <a:r>
              <a:rPr lang="en-IE" sz="1500" b="1" dirty="0">
                <a:solidFill>
                  <a:schemeClr val="tx1"/>
                </a:solidFill>
                <a:latin typeface="Consolas" pitchFamily="34" charset="0"/>
                <a:ea typeface="Consolas" pitchFamily="34" charset="-122"/>
                <a:cs typeface="Consolas" pitchFamily="34" charset="-120"/>
              </a:rPr>
              <a:t>42</a:t>
            </a:r>
            <a:endParaRPr lang="en-IE" sz="1500" dirty="0"/>
          </a:p>
        </p:txBody>
      </p:sp>
      <p:sp>
        <p:nvSpPr>
          <p:cNvPr id="16" name="Text 13"/>
          <p:cNvSpPr txBox="1"/>
          <p:nvPr/>
        </p:nvSpPr>
        <p:spPr>
          <a:xfrm>
            <a:off x="5897880" y="4160520"/>
            <a:ext cx="2743200" cy="292608"/>
          </a:xfrm>
          <a:prstGeom prst="rect">
            <a:avLst/>
          </a:prstGeom>
          <a:noFill/>
          <a:ln/>
        </p:spPr>
        <p:txBody>
          <a:bodyPr wrap="square" lIns="0" tIns="0" rIns="0" bIns="0" rtlCol="0" anchor="t"/>
          <a:lstStyle/>
          <a:p>
            <a:pPr indent="0" marL="0">
              <a:buNone/>
            </a:pPr>
            <a:r>
              <a:rPr lang="en-IE" sz="1350" b="1" dirty="0">
                <a:solidFill>
                  <a:schemeClr val="tx2"/>
                </a:solidFill>
              </a:rPr>
              <a:t>Strings</a:t>
            </a:r>
            <a:endParaRPr lang="en-IE" sz="1350" dirty="0"/>
          </a:p>
        </p:txBody>
      </p:sp>
      <p:sp>
        <p:nvSpPr>
          <p:cNvPr id="17" name="Cell 0"/>
          <p:cNvSpPr/>
          <p:nvPr/>
        </p:nvSpPr>
        <p:spPr>
          <a:xfrm>
            <a:off x="5897880" y="4498848"/>
            <a:ext cx="1298448" cy="548640"/>
          </a:xfrm>
          <a:prstGeom prst="roundRect">
            <a:avLst>
              <a:gd name="adj" fmla="val 13333"/>
            </a:avLst>
          </a:prstGeom>
          <a:solidFill>
            <a:schemeClr val="tx2">
              <a:alpha val="6000"/>
            </a:schemeClr>
          </a:solidFill>
          <a:ln w="15875">
            <a:solidFill>
              <a:schemeClr val="tx2"/>
            </a:solidFill>
          </a:ln>
        </p:spPr>
        <p:txBody>
          <a:bodyPr wrap="square" lIns="0" tIns="0" rIns="0" bIns="0" rtlCol="0" anchor="ctr"/>
          <a:lstStyle/>
          <a:p>
            <a:pPr algn="ctr" indent="0" marL="0">
              <a:buNone/>
            </a:pPr>
            <a:r>
              <a:rPr lang="en-IE" sz="1400" dirty="0">
                <a:solidFill>
                  <a:schemeClr val="tx1"/>
                </a:solidFill>
                <a:latin typeface="Consolas" pitchFamily="34" charset="0"/>
                <a:ea typeface="Consolas" pitchFamily="34" charset="-122"/>
                <a:cs typeface="Consolas" pitchFamily="34" charset="-120"/>
              </a:rPr>
              <a:t>"bob"</a:t>
            </a:r>
            <a:endParaRPr lang="en-IE" sz="1400" dirty="0"/>
          </a:p>
        </p:txBody>
      </p:sp>
      <p:sp>
        <p:nvSpPr>
          <p:cNvPr id="18" name="Cell 1"/>
          <p:cNvSpPr/>
          <p:nvPr/>
        </p:nvSpPr>
        <p:spPr>
          <a:xfrm>
            <a:off x="7269480" y="4498848"/>
            <a:ext cx="1298448" cy="548640"/>
          </a:xfrm>
          <a:prstGeom prst="roundRect">
            <a:avLst>
              <a:gd name="adj" fmla="val 13333"/>
            </a:avLst>
          </a:prstGeom>
          <a:solidFill>
            <a:schemeClr val="tx2">
              <a:alpha val="6000"/>
            </a:schemeClr>
          </a:solidFill>
          <a:ln w="15875">
            <a:solidFill>
              <a:schemeClr val="tx2"/>
            </a:solidFill>
          </a:ln>
        </p:spPr>
        <p:txBody>
          <a:bodyPr wrap="square" lIns="0" tIns="0" rIns="0" bIns="0" rtlCol="0" anchor="ctr"/>
          <a:lstStyle/>
          <a:p>
            <a:pPr algn="ctr" indent="0" marL="0">
              <a:buNone/>
            </a:pPr>
            <a:r>
              <a:rPr lang="en-IE" sz="1400" dirty="0">
                <a:solidFill>
                  <a:schemeClr val="tx1"/>
                </a:solidFill>
                <a:latin typeface="Consolas" pitchFamily="34" charset="0"/>
                <a:ea typeface="Consolas" pitchFamily="34" charset="-122"/>
                <a:cs typeface="Consolas" pitchFamily="34" charset="-120"/>
              </a:rPr>
              <a:t>"Zoe"</a:t>
            </a:r>
            <a:endParaRPr lang="en-IE" sz="1400" dirty="0"/>
          </a:p>
        </p:txBody>
      </p:sp>
      <p:sp>
        <p:nvSpPr>
          <p:cNvPr id="19" name="Cell 2"/>
          <p:cNvSpPr/>
          <p:nvPr/>
        </p:nvSpPr>
        <p:spPr>
          <a:xfrm>
            <a:off x="8641080" y="4498848"/>
            <a:ext cx="1298448" cy="548640"/>
          </a:xfrm>
          <a:prstGeom prst="roundRect">
            <a:avLst>
              <a:gd name="adj" fmla="val 13333"/>
            </a:avLst>
          </a:prstGeom>
          <a:solidFill>
            <a:schemeClr val="tx2">
              <a:alpha val="6000"/>
            </a:schemeClr>
          </a:solidFill>
          <a:ln w="15875">
            <a:solidFill>
              <a:schemeClr val="tx2"/>
            </a:solidFill>
          </a:ln>
        </p:spPr>
        <p:txBody>
          <a:bodyPr wrap="square" lIns="0" tIns="0" rIns="0" bIns="0" rtlCol="0" anchor="ctr"/>
          <a:lstStyle/>
          <a:p>
            <a:pPr algn="ctr" indent="0" marL="0">
              <a:buNone/>
            </a:pPr>
            <a:r>
              <a:rPr lang="en-IE" sz="1400" dirty="0">
                <a:solidFill>
                  <a:schemeClr val="tx1"/>
                </a:solidFill>
                <a:latin typeface="Consolas" pitchFamily="34" charset="0"/>
                <a:ea typeface="Consolas" pitchFamily="34" charset="-122"/>
                <a:cs typeface="Consolas" pitchFamily="34" charset="-120"/>
              </a:rPr>
              <a:t>"anne"</a:t>
            </a:r>
            <a:endParaRPr lang="en-IE" sz="1400" dirty="0"/>
          </a:p>
        </p:txBody>
      </p:sp>
      <p:sp>
        <p:nvSpPr>
          <p:cNvPr id="20" name="Cell 3"/>
          <p:cNvSpPr/>
          <p:nvPr/>
        </p:nvSpPr>
        <p:spPr>
          <a:xfrm>
            <a:off x="10012680" y="4498848"/>
            <a:ext cx="1298448" cy="548640"/>
          </a:xfrm>
          <a:prstGeom prst="roundRect">
            <a:avLst>
              <a:gd name="adj" fmla="val 13333"/>
            </a:avLst>
          </a:prstGeom>
          <a:solidFill>
            <a:schemeClr val="tx2">
              <a:alpha val="6000"/>
            </a:schemeClr>
          </a:solidFill>
          <a:ln w="15875">
            <a:solidFill>
              <a:schemeClr val="tx2"/>
            </a:solidFill>
          </a:ln>
        </p:spPr>
        <p:txBody>
          <a:bodyPr wrap="square" lIns="0" tIns="0" rIns="0" bIns="0" rtlCol="0" anchor="ctr"/>
          <a:lstStyle/>
          <a:p>
            <a:pPr algn="ctr" indent="0" marL="0">
              <a:buNone/>
            </a:pPr>
            <a:r>
              <a:rPr lang="en-IE" sz="1400" dirty="0">
                <a:solidFill>
                  <a:schemeClr val="tx1"/>
                </a:solidFill>
                <a:latin typeface="Consolas" pitchFamily="34" charset="0"/>
                <a:ea typeface="Consolas" pitchFamily="34" charset="-122"/>
                <a:cs typeface="Consolas" pitchFamily="34" charset="-120"/>
              </a:rPr>
              <a:t>"Adam"</a:t>
            </a:r>
            <a:endParaRPr lang="en-IE" sz="1400" dirty="0"/>
          </a:p>
        </p:txBody>
      </p:sp>
      <p:sp>
        <p:nvSpPr>
          <p:cNvPr id="21" name="Code chip"/>
          <p:cNvSpPr/>
          <p:nvPr/>
        </p:nvSpPr>
        <p:spPr>
          <a:xfrm>
            <a:off x="5897880" y="5212080"/>
            <a:ext cx="3291840" cy="402336"/>
          </a:xfrm>
          <a:prstGeom prst="roundRect">
            <a:avLst>
              <a:gd name="adj" fmla="val 18182"/>
            </a:avLst>
          </a:prstGeom>
          <a:solidFill>
            <a:schemeClr val="bg2"/>
          </a:solidFill>
          <a:ln/>
        </p:spPr>
        <p:txBody>
          <a:bodyPr wrap="square" lIns="0" tIns="0" rIns="0" bIns="0" rtlCol="0" anchor="ctr"/>
          <a:lstStyle/>
          <a:p>
            <a:pPr algn="ctr" indent="0" marL="0">
              <a:buNone/>
            </a:pPr>
            <a:r>
              <a:rPr lang="en-IE" sz="1400" dirty="0">
                <a:solidFill>
                  <a:schemeClr val="accent2"/>
                </a:solidFill>
                <a:latin typeface="Consolas" pitchFamily="34" charset="0"/>
                <a:ea typeface="Consolas" pitchFamily="34" charset="-122"/>
                <a:cs typeface="Consolas" pitchFamily="34" charset="-120"/>
              </a:rPr>
              <a:t>Collections.sort(names);</a:t>
            </a:r>
            <a:endParaRPr lang="en-IE" sz="1400" dirty="0"/>
          </a:p>
        </p:txBody>
      </p:sp>
      <p:sp>
        <p:nvSpPr>
          <p:cNvPr id="22" name="Cell 0"/>
          <p:cNvSpPr/>
          <p:nvPr/>
        </p:nvSpPr>
        <p:spPr>
          <a:xfrm>
            <a:off x="5897880" y="5779008"/>
            <a:ext cx="1298448" cy="548640"/>
          </a:xfrm>
          <a:prstGeom prst="roundRect">
            <a:avLst>
              <a:gd name="adj" fmla="val 13333"/>
            </a:avLst>
          </a:prstGeom>
          <a:solidFill>
            <a:schemeClr val="accent3">
              <a:alpha val="20000"/>
            </a:schemeClr>
          </a:solidFill>
          <a:ln w="15875">
            <a:solidFill>
              <a:schemeClr val="accent3"/>
            </a:solidFill>
          </a:ln>
        </p:spPr>
        <p:txBody>
          <a:bodyPr wrap="square" lIns="0" tIns="0" rIns="0" bIns="0" rtlCol="0" anchor="ctr"/>
          <a:lstStyle/>
          <a:p>
            <a:pPr algn="ctr" indent="0" marL="0">
              <a:buNone/>
            </a:pPr>
            <a:r>
              <a:rPr lang="en-IE" sz="1400" b="1" dirty="0">
                <a:solidFill>
                  <a:schemeClr val="tx1"/>
                </a:solidFill>
                <a:latin typeface="Consolas" pitchFamily="34" charset="0"/>
                <a:ea typeface="Consolas" pitchFamily="34" charset="-122"/>
                <a:cs typeface="Consolas" pitchFamily="34" charset="-120"/>
              </a:rPr>
              <a:t>"Adam"</a:t>
            </a:r>
            <a:endParaRPr lang="en-IE" sz="1400" dirty="0"/>
          </a:p>
        </p:txBody>
      </p:sp>
      <p:sp>
        <p:nvSpPr>
          <p:cNvPr id="23" name="Cell 1"/>
          <p:cNvSpPr/>
          <p:nvPr/>
        </p:nvSpPr>
        <p:spPr>
          <a:xfrm>
            <a:off x="7269480" y="5779008"/>
            <a:ext cx="1298448" cy="548640"/>
          </a:xfrm>
          <a:prstGeom prst="roundRect">
            <a:avLst>
              <a:gd name="adj" fmla="val 13333"/>
            </a:avLst>
          </a:prstGeom>
          <a:solidFill>
            <a:schemeClr val="accent3">
              <a:alpha val="20000"/>
            </a:schemeClr>
          </a:solidFill>
          <a:ln w="15875">
            <a:solidFill>
              <a:schemeClr val="accent3"/>
            </a:solidFill>
          </a:ln>
        </p:spPr>
        <p:txBody>
          <a:bodyPr wrap="square" lIns="0" tIns="0" rIns="0" bIns="0" rtlCol="0" anchor="ctr"/>
          <a:lstStyle/>
          <a:p>
            <a:pPr algn="ctr" indent="0" marL="0">
              <a:buNone/>
            </a:pPr>
            <a:r>
              <a:rPr lang="en-IE" sz="1400" b="1" dirty="0">
                <a:solidFill>
                  <a:schemeClr val="tx1"/>
                </a:solidFill>
                <a:latin typeface="Consolas" pitchFamily="34" charset="0"/>
                <a:ea typeface="Consolas" pitchFamily="34" charset="-122"/>
                <a:cs typeface="Consolas" pitchFamily="34" charset="-120"/>
              </a:rPr>
              <a:t>"Zoe"</a:t>
            </a:r>
            <a:endParaRPr lang="en-IE" sz="1400" dirty="0"/>
          </a:p>
        </p:txBody>
      </p:sp>
      <p:sp>
        <p:nvSpPr>
          <p:cNvPr id="24" name="Cell 2"/>
          <p:cNvSpPr/>
          <p:nvPr/>
        </p:nvSpPr>
        <p:spPr>
          <a:xfrm>
            <a:off x="8641080" y="5779008"/>
            <a:ext cx="1298448" cy="548640"/>
          </a:xfrm>
          <a:prstGeom prst="roundRect">
            <a:avLst>
              <a:gd name="adj" fmla="val 13333"/>
            </a:avLst>
          </a:prstGeom>
          <a:solidFill>
            <a:schemeClr val="accent3">
              <a:alpha val="20000"/>
            </a:schemeClr>
          </a:solidFill>
          <a:ln w="15875">
            <a:solidFill>
              <a:schemeClr val="accent3"/>
            </a:solidFill>
          </a:ln>
        </p:spPr>
        <p:txBody>
          <a:bodyPr wrap="square" lIns="0" tIns="0" rIns="0" bIns="0" rtlCol="0" anchor="ctr"/>
          <a:lstStyle/>
          <a:p>
            <a:pPr algn="ctr" indent="0" marL="0">
              <a:buNone/>
            </a:pPr>
            <a:r>
              <a:rPr lang="en-IE" sz="1400" b="1" dirty="0">
                <a:solidFill>
                  <a:schemeClr val="tx1"/>
                </a:solidFill>
                <a:latin typeface="Consolas" pitchFamily="34" charset="0"/>
                <a:ea typeface="Consolas" pitchFamily="34" charset="-122"/>
                <a:cs typeface="Consolas" pitchFamily="34" charset="-120"/>
              </a:rPr>
              <a:t>"anne"</a:t>
            </a:r>
            <a:endParaRPr lang="en-IE" sz="1400" dirty="0"/>
          </a:p>
        </p:txBody>
      </p:sp>
      <p:sp>
        <p:nvSpPr>
          <p:cNvPr id="25" name="Cell 3"/>
          <p:cNvSpPr/>
          <p:nvPr/>
        </p:nvSpPr>
        <p:spPr>
          <a:xfrm>
            <a:off x="10012680" y="5779008"/>
            <a:ext cx="1298448" cy="548640"/>
          </a:xfrm>
          <a:prstGeom prst="roundRect">
            <a:avLst>
              <a:gd name="adj" fmla="val 13333"/>
            </a:avLst>
          </a:prstGeom>
          <a:solidFill>
            <a:schemeClr val="accent3">
              <a:alpha val="20000"/>
            </a:schemeClr>
          </a:solidFill>
          <a:ln w="15875">
            <a:solidFill>
              <a:schemeClr val="accent3"/>
            </a:solidFill>
          </a:ln>
        </p:spPr>
        <p:txBody>
          <a:bodyPr wrap="square" lIns="0" tIns="0" rIns="0" bIns="0" rtlCol="0" anchor="ctr"/>
          <a:lstStyle/>
          <a:p>
            <a:pPr algn="ctr" indent="0" marL="0">
              <a:buNone/>
            </a:pPr>
            <a:r>
              <a:rPr lang="en-IE" sz="1400" b="1" dirty="0">
                <a:solidFill>
                  <a:schemeClr val="tx1"/>
                </a:solidFill>
                <a:latin typeface="Consolas" pitchFamily="34" charset="0"/>
                <a:ea typeface="Consolas" pitchFamily="34" charset="-122"/>
                <a:cs typeface="Consolas" pitchFamily="34" charset="-120"/>
              </a:rPr>
              <a:t>"bob"</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57</a:t>
            </a:fld>
            <a:endParaRPr lang="en-IE"/>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17</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Collections.sort</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this code print?</a:t>
            </a:r>
            <a:endParaRPr lang="en-IE" sz="2800" dirty="0"/>
          </a:p>
        </p:txBody>
      </p:sp>
      <p:sp>
        <p:nvSpPr>
          <p:cNvPr id="5" name="Question code card"/>
          <p:cNvSpPr/>
          <p:nvPr/>
        </p:nvSpPr>
        <p:spPr>
          <a:xfrm>
            <a:off x="548640" y="1965960"/>
            <a:ext cx="11094415" cy="1879600"/>
          </a:xfrm>
          <a:prstGeom prst="roundRect">
            <a:avLst>
              <a:gd name="adj" fmla="val 5838"/>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text"/>
          <p:cNvSpPr txBox="1"/>
          <p:nvPr/>
        </p:nvSpPr>
        <p:spPr>
          <a:xfrm>
            <a:off x="822960" y="2167128"/>
            <a:ext cx="10545775" cy="1477264"/>
          </a:xfrm>
          <a:prstGeom prst="rect">
            <a:avLst/>
          </a:prstGeom>
          <a:noFill/>
          <a:ln/>
        </p:spPr>
        <p:txBody>
          <a:bodyPr wrap="square" lIns="0" tIns="0" rIns="0" bIns="0" rtlCol="0" anchor="t"/>
          <a:lstStyle/>
          <a:p>
            <a:pPr indent="0" marL="0">
              <a:lnSpc>
                <a:spcPts val="2240"/>
              </a:lnSpc>
              <a:buNone/>
            </a:pPr>
            <a:r>
              <a:rPr lang="en-IE" sz="1700" dirty="0">
                <a:solidFill>
                  <a:srgbClr val="6CC4E8"/>
                </a:solidFill>
                <a:latin typeface="Consolas" pitchFamily="34" charset="0"/>
                <a:ea typeface="Consolas" pitchFamily="34" charset="-122"/>
                <a:cs typeface="Consolas" pitchFamily="34" charset="-120"/>
              </a:rPr>
              <a:t>ArrayList</a:t>
            </a:r>
            <a:r>
              <a:rPr lang="en-IE" sz="1700" dirty="0">
                <a:solidFill>
                  <a:srgbClr val="E6EBF2"/>
                </a:solidFill>
                <a:latin typeface="Consolas" pitchFamily="34" charset="0"/>
                <a:ea typeface="Consolas" pitchFamily="34" charset="-122"/>
                <a:cs typeface="Consolas" pitchFamily="34" charset="-120"/>
              </a:rPr>
              <a:t>&lt;String&gt; fruit = </a:t>
            </a:r>
            <a:r>
              <a:rPr lang="en-IE" sz="1700" dirty="0">
                <a:solidFill>
                  <a:srgbClr val="FF9F5A"/>
                </a:solidFill>
                <a:latin typeface="Consolas" pitchFamily="34" charset="0"/>
                <a:ea typeface="Consolas" pitchFamily="34" charset="-122"/>
                <a:cs typeface="Consolas" pitchFamily="34" charset="-120"/>
              </a:rPr>
              <a:t>new</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6CC4E8"/>
                </a:solidFill>
                <a:latin typeface="Consolas" pitchFamily="34" charset="0"/>
                <a:ea typeface="Consolas" pitchFamily="34" charset="-122"/>
                <a:cs typeface="Consolas" pitchFamily="34" charset="-120"/>
              </a:rPr>
              <a:t>ArrayList</a:t>
            </a:r>
            <a:r>
              <a:rPr lang="en-IE" sz="1700" dirty="0">
                <a:solidFill>
                  <a:srgbClr val="E6EBF2"/>
                </a:solidFill>
                <a:latin typeface="Consolas" pitchFamily="34" charset="0"/>
                <a:ea typeface="Consolas" pitchFamily="34" charset="-122"/>
                <a:cs typeface="Consolas" pitchFamily="34" charset="-120"/>
              </a:rPr>
              <a:t>&lt;String&gt;();</a:t>
            </a:r>
            <a:endParaRPr lang="en-IE" sz="1700" dirty="0"/>
          </a:p>
          <a:p>
            <a:pPr indent="0" marL="0">
              <a:lnSpc>
                <a:spcPts val="2240"/>
              </a:lnSpc>
              <a:buNone/>
            </a:pPr>
            <a:r>
              <a:rPr lang="en-IE" sz="1700" dirty="0">
                <a:solidFill>
                  <a:srgbClr val="E6EBF2"/>
                </a:solidFill>
                <a:latin typeface="Consolas" pitchFamily="34" charset="0"/>
                <a:ea typeface="Consolas" pitchFamily="34" charset="-122"/>
                <a:cs typeface="Consolas" pitchFamily="34" charset="-120"/>
              </a:rPr>
              <a:t>fruit.</a:t>
            </a:r>
            <a:r>
              <a:rPr lang="en-IE" sz="1700" dirty="0">
                <a:solidFill>
                  <a:srgbClr val="C9B0FF"/>
                </a:solidFill>
                <a:latin typeface="Consolas" pitchFamily="34" charset="0"/>
                <a:ea typeface="Consolas" pitchFamily="34" charset="-122"/>
                <a:cs typeface="Consolas" pitchFamily="34" charset="-120"/>
              </a:rPr>
              <a:t>add</a:t>
            </a:r>
            <a:r>
              <a:rPr lang="en-IE" sz="1700" dirty="0">
                <a:solidFill>
                  <a:srgbClr val="E6EBF2"/>
                </a:solidFill>
                <a:latin typeface="Consolas" pitchFamily="34" charset="0"/>
                <a:ea typeface="Consolas" pitchFamily="34" charset="-122"/>
                <a:cs typeface="Consolas" pitchFamily="34" charset="-120"/>
              </a:rPr>
              <a:t>(</a:t>
            </a:r>
            <a:r>
              <a:rPr lang="en-IE" sz="1700" dirty="0">
                <a:solidFill>
                  <a:srgbClr val="A9DB8C"/>
                </a:solidFill>
                <a:latin typeface="Consolas" pitchFamily="34" charset="0"/>
                <a:ea typeface="Consolas" pitchFamily="34" charset="-122"/>
                <a:cs typeface="Consolas" pitchFamily="34" charset="-120"/>
              </a:rPr>
              <a:t>"pear"</a:t>
            </a:r>
            <a:r>
              <a:rPr lang="en-IE" sz="1700" dirty="0">
                <a:solidFill>
                  <a:srgbClr val="E6EBF2"/>
                </a:solidFill>
                <a:latin typeface="Consolas" pitchFamily="34" charset="0"/>
                <a:ea typeface="Consolas" pitchFamily="34" charset="-122"/>
                <a:cs typeface="Consolas" pitchFamily="34" charset="-120"/>
              </a:rPr>
              <a:t>);    fruit.</a:t>
            </a:r>
            <a:r>
              <a:rPr lang="en-IE" sz="1700" dirty="0">
                <a:solidFill>
                  <a:srgbClr val="C9B0FF"/>
                </a:solidFill>
                <a:latin typeface="Consolas" pitchFamily="34" charset="0"/>
                <a:ea typeface="Consolas" pitchFamily="34" charset="-122"/>
                <a:cs typeface="Consolas" pitchFamily="34" charset="-120"/>
              </a:rPr>
              <a:t>add</a:t>
            </a:r>
            <a:r>
              <a:rPr lang="en-IE" sz="1700" dirty="0">
                <a:solidFill>
                  <a:srgbClr val="E6EBF2"/>
                </a:solidFill>
                <a:latin typeface="Consolas" pitchFamily="34" charset="0"/>
                <a:ea typeface="Consolas" pitchFamily="34" charset="-122"/>
                <a:cs typeface="Consolas" pitchFamily="34" charset="-120"/>
              </a:rPr>
              <a:t>(</a:t>
            </a:r>
            <a:r>
              <a:rPr lang="en-IE" sz="1700" dirty="0">
                <a:solidFill>
                  <a:srgbClr val="A9DB8C"/>
                </a:solidFill>
                <a:latin typeface="Consolas" pitchFamily="34" charset="0"/>
                <a:ea typeface="Consolas" pitchFamily="34" charset="-122"/>
                <a:cs typeface="Consolas" pitchFamily="34" charset="-120"/>
              </a:rPr>
              <a:t>"Apple"</a:t>
            </a:r>
            <a:r>
              <a:rPr lang="en-IE" sz="1700" dirty="0">
                <a:solidFill>
                  <a:srgbClr val="E6EBF2"/>
                </a:solidFill>
                <a:latin typeface="Consolas" pitchFamily="34" charset="0"/>
                <a:ea typeface="Consolas" pitchFamily="34" charset="-122"/>
                <a:cs typeface="Consolas" pitchFamily="34" charset="-120"/>
              </a:rPr>
              <a:t>);</a:t>
            </a:r>
            <a:endParaRPr lang="en-IE" sz="1700" dirty="0"/>
          </a:p>
          <a:p>
            <a:pPr indent="0" marL="0">
              <a:lnSpc>
                <a:spcPts val="2240"/>
              </a:lnSpc>
              <a:buNone/>
            </a:pPr>
            <a:r>
              <a:rPr lang="en-IE" sz="1700" dirty="0">
                <a:solidFill>
                  <a:srgbClr val="E6EBF2"/>
                </a:solidFill>
                <a:latin typeface="Consolas" pitchFamily="34" charset="0"/>
                <a:ea typeface="Consolas" pitchFamily="34" charset="-122"/>
                <a:cs typeface="Consolas" pitchFamily="34" charset="-120"/>
              </a:rPr>
              <a:t>fruit.</a:t>
            </a:r>
            <a:r>
              <a:rPr lang="en-IE" sz="1700" dirty="0">
                <a:solidFill>
                  <a:srgbClr val="C9B0FF"/>
                </a:solidFill>
                <a:latin typeface="Consolas" pitchFamily="34" charset="0"/>
                <a:ea typeface="Consolas" pitchFamily="34" charset="-122"/>
                <a:cs typeface="Consolas" pitchFamily="34" charset="-120"/>
              </a:rPr>
              <a:t>add</a:t>
            </a:r>
            <a:r>
              <a:rPr lang="en-IE" sz="1700" dirty="0">
                <a:solidFill>
                  <a:srgbClr val="E6EBF2"/>
                </a:solidFill>
                <a:latin typeface="Consolas" pitchFamily="34" charset="0"/>
                <a:ea typeface="Consolas" pitchFamily="34" charset="-122"/>
                <a:cs typeface="Consolas" pitchFamily="34" charset="-120"/>
              </a:rPr>
              <a:t>(</a:t>
            </a:r>
            <a:r>
              <a:rPr lang="en-IE" sz="1700" dirty="0">
                <a:solidFill>
                  <a:srgbClr val="A9DB8C"/>
                </a:solidFill>
                <a:latin typeface="Consolas" pitchFamily="34" charset="0"/>
                <a:ea typeface="Consolas" pitchFamily="34" charset="-122"/>
                <a:cs typeface="Consolas" pitchFamily="34" charset="-120"/>
              </a:rPr>
              <a:t>"banana"</a:t>
            </a:r>
            <a:r>
              <a:rPr lang="en-IE" sz="1700" dirty="0">
                <a:solidFill>
                  <a:srgbClr val="E6EBF2"/>
                </a:solidFill>
                <a:latin typeface="Consolas" pitchFamily="34" charset="0"/>
                <a:ea typeface="Consolas" pitchFamily="34" charset="-122"/>
                <a:cs typeface="Consolas" pitchFamily="34" charset="-120"/>
              </a:rPr>
              <a:t>);  fruit.</a:t>
            </a:r>
            <a:r>
              <a:rPr lang="en-IE" sz="1700" dirty="0">
                <a:solidFill>
                  <a:srgbClr val="C9B0FF"/>
                </a:solidFill>
                <a:latin typeface="Consolas" pitchFamily="34" charset="0"/>
                <a:ea typeface="Consolas" pitchFamily="34" charset="-122"/>
                <a:cs typeface="Consolas" pitchFamily="34" charset="-120"/>
              </a:rPr>
              <a:t>add</a:t>
            </a:r>
            <a:r>
              <a:rPr lang="en-IE" sz="1700" dirty="0">
                <a:solidFill>
                  <a:srgbClr val="E6EBF2"/>
                </a:solidFill>
                <a:latin typeface="Consolas" pitchFamily="34" charset="0"/>
                <a:ea typeface="Consolas" pitchFamily="34" charset="-122"/>
                <a:cs typeface="Consolas" pitchFamily="34" charset="-120"/>
              </a:rPr>
              <a:t>(</a:t>
            </a:r>
            <a:r>
              <a:rPr lang="en-IE" sz="1700" dirty="0">
                <a:solidFill>
                  <a:srgbClr val="A9DB8C"/>
                </a:solidFill>
                <a:latin typeface="Consolas" pitchFamily="34" charset="0"/>
                <a:ea typeface="Consolas" pitchFamily="34" charset="-122"/>
                <a:cs typeface="Consolas" pitchFamily="34" charset="-120"/>
              </a:rPr>
              <a:t>"Cherry"</a:t>
            </a:r>
            <a:r>
              <a:rPr lang="en-IE" sz="1700" dirty="0">
                <a:solidFill>
                  <a:srgbClr val="E6EBF2"/>
                </a:solidFill>
                <a:latin typeface="Consolas" pitchFamily="34" charset="0"/>
                <a:ea typeface="Consolas" pitchFamily="34" charset="-122"/>
                <a:cs typeface="Consolas" pitchFamily="34" charset="-120"/>
              </a:rPr>
              <a:t>);</a:t>
            </a:r>
            <a:endParaRPr lang="en-IE" sz="1700" dirty="0"/>
          </a:p>
          <a:p>
            <a:pPr indent="0" marL="0">
              <a:lnSpc>
                <a:spcPts val="2240"/>
              </a:lnSpc>
              <a:buNone/>
            </a:pPr>
            <a:r>
              <a:rPr lang="en-IE" sz="1700" dirty="0">
                <a:solidFill>
                  <a:srgbClr val="6CC4E8"/>
                </a:solidFill>
                <a:latin typeface="Consolas" pitchFamily="34" charset="0"/>
                <a:ea typeface="Consolas" pitchFamily="34" charset="-122"/>
                <a:cs typeface="Consolas" pitchFamily="34" charset="-120"/>
              </a:rPr>
              <a:t>Collections</a:t>
            </a:r>
            <a:r>
              <a:rPr lang="en-IE" sz="1700" dirty="0">
                <a:solidFill>
                  <a:srgbClr val="E6EBF2"/>
                </a:solidFill>
                <a:latin typeface="Consolas" pitchFamily="34" charset="0"/>
                <a:ea typeface="Consolas" pitchFamily="34" charset="-122"/>
                <a:cs typeface="Consolas" pitchFamily="34" charset="-120"/>
              </a:rPr>
              <a:t>.</a:t>
            </a:r>
            <a:r>
              <a:rPr lang="en-IE" sz="1700" dirty="0">
                <a:solidFill>
                  <a:srgbClr val="C9B0FF"/>
                </a:solidFill>
                <a:latin typeface="Consolas" pitchFamily="34" charset="0"/>
                <a:ea typeface="Consolas" pitchFamily="34" charset="-122"/>
                <a:cs typeface="Consolas" pitchFamily="34" charset="-120"/>
              </a:rPr>
              <a:t>sort</a:t>
            </a:r>
            <a:r>
              <a:rPr lang="en-IE" sz="1700" dirty="0">
                <a:solidFill>
                  <a:srgbClr val="E6EBF2"/>
                </a:solidFill>
                <a:latin typeface="Consolas" pitchFamily="34" charset="0"/>
                <a:ea typeface="Consolas" pitchFamily="34" charset="-122"/>
                <a:cs typeface="Consolas" pitchFamily="34" charset="-120"/>
              </a:rPr>
              <a:t>(fruit);</a:t>
            </a:r>
            <a:endParaRPr lang="en-IE" sz="1700" dirty="0"/>
          </a:p>
          <a:p>
            <a:pPr indent="0" marL="0">
              <a:lnSpc>
                <a:spcPts val="2240"/>
              </a:lnSpc>
              <a:buNone/>
            </a:pPr>
            <a:r>
              <a:rPr lang="en-IE" sz="1700" dirty="0">
                <a:solidFill>
                  <a:srgbClr val="6CC4E8"/>
                </a:solidFill>
                <a:latin typeface="Consolas" pitchFamily="34" charset="0"/>
                <a:ea typeface="Consolas" pitchFamily="34" charset="-122"/>
                <a:cs typeface="Consolas" pitchFamily="34" charset="-120"/>
              </a:rPr>
              <a:t>System</a:t>
            </a:r>
            <a:r>
              <a:rPr lang="en-IE" sz="1700" dirty="0">
                <a:solidFill>
                  <a:srgbClr val="E6EBF2"/>
                </a:solidFill>
                <a:latin typeface="Consolas" pitchFamily="34" charset="0"/>
                <a:ea typeface="Consolas" pitchFamily="34" charset="-122"/>
                <a:cs typeface="Consolas" pitchFamily="34" charset="-120"/>
              </a:rPr>
              <a:t>.out.</a:t>
            </a:r>
            <a:r>
              <a:rPr lang="en-IE" sz="1700" dirty="0">
                <a:solidFill>
                  <a:srgbClr val="C9B0FF"/>
                </a:solidFill>
                <a:latin typeface="Consolas" pitchFamily="34" charset="0"/>
                <a:ea typeface="Consolas" pitchFamily="34" charset="-122"/>
                <a:cs typeface="Consolas" pitchFamily="34" charset="-120"/>
              </a:rPr>
              <a:t>println</a:t>
            </a:r>
            <a:r>
              <a:rPr lang="en-IE" sz="1700" dirty="0">
                <a:solidFill>
                  <a:srgbClr val="E6EBF2"/>
                </a:solidFill>
                <a:latin typeface="Consolas" pitchFamily="34" charset="0"/>
                <a:ea typeface="Consolas" pitchFamily="34" charset="-122"/>
                <a:cs typeface="Consolas" pitchFamily="34" charset="-120"/>
              </a:rPr>
              <a:t>(fruit);</a:t>
            </a:r>
            <a:endParaRPr lang="en-IE" sz="1700" dirty="0"/>
          </a:p>
        </p:txBody>
      </p:sp>
      <p:sp>
        <p:nvSpPr>
          <p:cNvPr id="7" name="Option A"/>
          <p:cNvSpPr/>
          <p:nvPr/>
        </p:nvSpPr>
        <p:spPr>
          <a:xfrm>
            <a:off x="548640" y="4165600"/>
            <a:ext cx="5410048" cy="889000"/>
          </a:xfrm>
          <a:prstGeom prst="roundRect">
            <a:avLst>
              <a:gd name="adj" fmla="val 14400"/>
            </a:avLst>
          </a:prstGeom>
          <a:solidFill>
            <a:schemeClr val="bg1"/>
          </a:solidFill>
          <a:ln/>
          <a:effectLst>
            <a:outerShdw sx="100000" sy="100000" kx="0" ky="0" algn="bl" rotWithShape="0" blurRad="114300" dist="31750" dir="5400000">
              <a:srgbClr val="1D2433">
                <a:alpha val="12000"/>
              </a:srgbClr>
            </a:outerShdw>
          </a:effectLst>
        </p:spPr>
      </p:sp>
      <p:sp>
        <p:nvSpPr>
          <p:cNvPr id="8" name="Letter A"/>
          <p:cNvSpPr/>
          <p:nvPr/>
        </p:nvSpPr>
        <p:spPr>
          <a:xfrm>
            <a:off x="822960" y="43632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9" name="Option A text"/>
          <p:cNvSpPr txBox="1"/>
          <p:nvPr/>
        </p:nvSpPr>
        <p:spPr>
          <a:xfrm>
            <a:off x="1572768" y="4211320"/>
            <a:ext cx="4111600" cy="797560"/>
          </a:xfrm>
          <a:prstGeom prst="rect">
            <a:avLst/>
          </a:prstGeom>
          <a:noFill/>
          <a:ln/>
        </p:spPr>
        <p:txBody>
          <a:bodyPr wrap="square" lIns="0" tIns="0" rIns="0" bIns="0" rtlCol="0" anchor="ctr"/>
          <a:lstStyle/>
          <a:p>
            <a:pPr indent="0" marL="0">
              <a:buNone/>
            </a:pPr>
            <a:r>
              <a:rPr lang="en-IE" sz="1700" dirty="0">
                <a:solidFill>
                  <a:schemeClr val="tx1"/>
                </a:solidFill>
                <a:latin typeface="Consolas" pitchFamily="34" charset="0"/>
                <a:ea typeface="Consolas" pitchFamily="34" charset="-122"/>
                <a:cs typeface="Consolas" pitchFamily="34" charset="-120"/>
              </a:rPr>
              <a:t>[Apple, banana, Cherry, pear]</a:t>
            </a:r>
            <a:endParaRPr lang="en-IE" sz="1700" dirty="0"/>
          </a:p>
        </p:txBody>
      </p:sp>
      <p:sp>
        <p:nvSpPr>
          <p:cNvPr id="10" name="Option B"/>
          <p:cNvSpPr/>
          <p:nvPr/>
        </p:nvSpPr>
        <p:spPr>
          <a:xfrm>
            <a:off x="6233008" y="4165600"/>
            <a:ext cx="5410048" cy="889000"/>
          </a:xfrm>
          <a:prstGeom prst="roundRect">
            <a:avLst>
              <a:gd name="adj" fmla="val 14400"/>
            </a:avLst>
          </a:prstGeom>
          <a:solidFill>
            <a:schemeClr val="bg1"/>
          </a:solidFill>
          <a:ln/>
          <a:effectLst>
            <a:outerShdw sx="100000" sy="100000" kx="0" ky="0" algn="bl" rotWithShape="0" blurRad="114300" dist="31750" dir="5400000">
              <a:srgbClr val="1D2433">
                <a:alpha val="12000"/>
              </a:srgbClr>
            </a:outerShdw>
          </a:effectLst>
        </p:spPr>
      </p:sp>
      <p:sp>
        <p:nvSpPr>
          <p:cNvPr id="11" name="Letter B"/>
          <p:cNvSpPr/>
          <p:nvPr/>
        </p:nvSpPr>
        <p:spPr>
          <a:xfrm>
            <a:off x="6507328" y="43632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2" name="Option B text"/>
          <p:cNvSpPr txBox="1"/>
          <p:nvPr/>
        </p:nvSpPr>
        <p:spPr>
          <a:xfrm>
            <a:off x="7257136" y="4211320"/>
            <a:ext cx="4111600" cy="797560"/>
          </a:xfrm>
          <a:prstGeom prst="rect">
            <a:avLst/>
          </a:prstGeom>
          <a:noFill/>
          <a:ln/>
        </p:spPr>
        <p:txBody>
          <a:bodyPr wrap="square" lIns="0" tIns="0" rIns="0" bIns="0" rtlCol="0" anchor="ctr"/>
          <a:lstStyle/>
          <a:p>
            <a:pPr indent="0" marL="0">
              <a:buNone/>
            </a:pPr>
            <a:r>
              <a:rPr lang="en-IE" sz="1700" dirty="0">
                <a:solidFill>
                  <a:schemeClr val="tx1"/>
                </a:solidFill>
                <a:latin typeface="Consolas" pitchFamily="34" charset="0"/>
                <a:ea typeface="Consolas" pitchFamily="34" charset="-122"/>
                <a:cs typeface="Consolas" pitchFamily="34" charset="-120"/>
              </a:rPr>
              <a:t>[Apple, Cherry, banana, pear]</a:t>
            </a:r>
            <a:endParaRPr lang="en-IE" sz="1700" dirty="0"/>
          </a:p>
        </p:txBody>
      </p:sp>
      <p:sp>
        <p:nvSpPr>
          <p:cNvPr id="13" name="Option C"/>
          <p:cNvSpPr/>
          <p:nvPr/>
        </p:nvSpPr>
        <p:spPr>
          <a:xfrm>
            <a:off x="548640" y="5283200"/>
            <a:ext cx="5410048" cy="889000"/>
          </a:xfrm>
          <a:prstGeom prst="roundRect">
            <a:avLst>
              <a:gd name="adj" fmla="val 14400"/>
            </a:avLst>
          </a:prstGeom>
          <a:solidFill>
            <a:schemeClr val="bg1"/>
          </a:solidFill>
          <a:ln/>
          <a:effectLst>
            <a:outerShdw sx="100000" sy="100000" kx="0" ky="0" algn="bl" rotWithShape="0" blurRad="114300" dist="31750" dir="5400000">
              <a:srgbClr val="1D2433">
                <a:alpha val="12000"/>
              </a:srgbClr>
            </a:outerShdw>
          </a:effectLst>
        </p:spPr>
      </p:sp>
      <p:sp>
        <p:nvSpPr>
          <p:cNvPr id="14" name="Letter C"/>
          <p:cNvSpPr/>
          <p:nvPr/>
        </p:nvSpPr>
        <p:spPr>
          <a:xfrm>
            <a:off x="822960" y="54808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5" name="Option C text"/>
          <p:cNvSpPr txBox="1"/>
          <p:nvPr/>
        </p:nvSpPr>
        <p:spPr>
          <a:xfrm>
            <a:off x="1572768" y="5328920"/>
            <a:ext cx="4111600" cy="797560"/>
          </a:xfrm>
          <a:prstGeom prst="rect">
            <a:avLst/>
          </a:prstGeom>
          <a:noFill/>
          <a:ln/>
        </p:spPr>
        <p:txBody>
          <a:bodyPr wrap="square" lIns="0" tIns="0" rIns="0" bIns="0" rtlCol="0" anchor="ctr"/>
          <a:lstStyle/>
          <a:p>
            <a:pPr indent="0" marL="0">
              <a:buNone/>
            </a:pPr>
            <a:r>
              <a:rPr lang="en-IE" sz="1700" dirty="0">
                <a:solidFill>
                  <a:schemeClr val="tx1"/>
                </a:solidFill>
                <a:latin typeface="Consolas" pitchFamily="34" charset="0"/>
                <a:ea typeface="Consolas" pitchFamily="34" charset="-122"/>
                <a:cs typeface="Consolas" pitchFamily="34" charset="-120"/>
              </a:rPr>
              <a:t>[pear, banana, Cherry, Apple]</a:t>
            </a:r>
            <a:endParaRPr lang="en-IE" sz="1700" dirty="0"/>
          </a:p>
        </p:txBody>
      </p:sp>
      <p:sp>
        <p:nvSpPr>
          <p:cNvPr id="16" name="Option D"/>
          <p:cNvSpPr/>
          <p:nvPr/>
        </p:nvSpPr>
        <p:spPr>
          <a:xfrm>
            <a:off x="6233008" y="5283200"/>
            <a:ext cx="5410048" cy="889000"/>
          </a:xfrm>
          <a:prstGeom prst="roundRect">
            <a:avLst>
              <a:gd name="adj" fmla="val 14400"/>
            </a:avLst>
          </a:prstGeom>
          <a:solidFill>
            <a:schemeClr val="bg1"/>
          </a:solidFill>
          <a:ln/>
          <a:effectLst>
            <a:outerShdw sx="100000" sy="100000" kx="0" ky="0" algn="bl" rotWithShape="0" blurRad="114300" dist="31750" dir="5400000">
              <a:srgbClr val="1D2433">
                <a:alpha val="12000"/>
              </a:srgbClr>
            </a:outerShdw>
          </a:effectLst>
        </p:spPr>
      </p:sp>
      <p:sp>
        <p:nvSpPr>
          <p:cNvPr id="17" name="Letter D"/>
          <p:cNvSpPr/>
          <p:nvPr/>
        </p:nvSpPr>
        <p:spPr>
          <a:xfrm>
            <a:off x="6507328" y="54808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8" name="Option D text"/>
          <p:cNvSpPr txBox="1"/>
          <p:nvPr/>
        </p:nvSpPr>
        <p:spPr>
          <a:xfrm>
            <a:off x="7257136" y="5328920"/>
            <a:ext cx="4111600" cy="797560"/>
          </a:xfrm>
          <a:prstGeom prst="rect">
            <a:avLst/>
          </a:prstGeom>
          <a:noFill/>
          <a:ln/>
        </p:spPr>
        <p:txBody>
          <a:bodyPr wrap="square" lIns="0" tIns="0" rIns="0" bIns="0" rtlCol="0" anchor="ctr"/>
          <a:lstStyle/>
          <a:p>
            <a:pPr indent="0" marL="0">
              <a:buNone/>
            </a:pPr>
            <a:r>
              <a:rPr lang="en-IE" sz="1700" dirty="0">
                <a:solidFill>
                  <a:schemeClr val="tx1"/>
                </a:solidFill>
                <a:latin typeface="Consolas" pitchFamily="34" charset="0"/>
                <a:ea typeface="Consolas" pitchFamily="34" charset="-122"/>
                <a:cs typeface="Consolas" pitchFamily="34" charset="-120"/>
              </a:rPr>
              <a:t>[banana, pear, Apple, Cherry]</a:t>
            </a:r>
            <a:endParaRPr lang="en-IE"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58</a:t>
            </a:fld>
            <a:endParaRPr lang="en-IE"/>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17</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Collections.sort</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this code print?</a:t>
            </a:r>
            <a:endParaRPr lang="en-IE" sz="2000" dirty="0"/>
          </a:p>
        </p:txBody>
      </p:sp>
      <p:sp>
        <p:nvSpPr>
          <p:cNvPr id="5" name="Answer code card"/>
          <p:cNvSpPr/>
          <p:nvPr/>
        </p:nvSpPr>
        <p:spPr>
          <a:xfrm>
            <a:off x="548640" y="1874520"/>
            <a:ext cx="5623560" cy="843280"/>
          </a:xfrm>
          <a:prstGeom prst="roundRect">
            <a:avLst>
              <a:gd name="adj" fmla="val 13012"/>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440944"/>
          </a:xfrm>
          <a:prstGeom prst="rect">
            <a:avLst/>
          </a:prstGeom>
          <a:noFill/>
          <a:ln/>
        </p:spPr>
        <p:txBody>
          <a:bodyPr wrap="square" lIns="0" tIns="0" rIns="0" bIns="0" rtlCol="0" anchor="t"/>
          <a:lstStyle/>
          <a:p>
            <a:pPr indent="0" marL="0">
              <a:lnSpc>
                <a:spcPts val="1520"/>
              </a:lnSpc>
              <a:buNone/>
            </a:pPr>
            <a:r>
              <a:rPr lang="en-IE" sz="1150" i="1" dirty="0">
                <a:solidFill>
                  <a:srgbClr val="A3AEC2"/>
                </a:solidFill>
                <a:latin typeface="Consolas" pitchFamily="34" charset="0"/>
                <a:ea typeface="Consolas" pitchFamily="34" charset="-122"/>
                <a:cs typeface="Consolas" pitchFamily="34" charset="-120"/>
              </a:rPr>
              <a:t>// capitals (A = 65) come before small letters (a = 97)</a:t>
            </a:r>
            <a:endParaRPr lang="en-IE" sz="1150" dirty="0"/>
          </a:p>
          <a:p>
            <a:pPr indent="0" marL="0">
              <a:lnSpc>
                <a:spcPts val="1520"/>
              </a:lnSpc>
              <a:buNone/>
            </a:pPr>
            <a:r>
              <a:rPr lang="en-IE" sz="1150" dirty="0">
                <a:solidFill>
                  <a:srgbClr val="E6EBF2"/>
                </a:solidFill>
                <a:latin typeface="Consolas" pitchFamily="34" charset="0"/>
                <a:ea typeface="Consolas" pitchFamily="34" charset="-122"/>
                <a:cs typeface="Consolas" pitchFamily="34" charset="-120"/>
              </a:rPr>
              <a:t>[</a:t>
            </a:r>
            <a:r>
              <a:rPr lang="en-IE" sz="1150" dirty="0">
                <a:solidFill>
                  <a:srgbClr val="6CC4E8"/>
                </a:solidFill>
                <a:latin typeface="Consolas" pitchFamily="34" charset="0"/>
                <a:ea typeface="Consolas" pitchFamily="34" charset="-122"/>
                <a:cs typeface="Consolas" pitchFamily="34" charset="-120"/>
              </a:rPr>
              <a:t>Apple</a:t>
            </a:r>
            <a:r>
              <a:rPr lang="en-IE" sz="1150" dirty="0">
                <a:solidFill>
                  <a:srgbClr val="E6EBF2"/>
                </a:solidFill>
                <a:latin typeface="Consolas" pitchFamily="34" charset="0"/>
                <a:ea typeface="Consolas" pitchFamily="34" charset="-122"/>
                <a:cs typeface="Consolas" pitchFamily="34" charset="-120"/>
              </a:rPr>
              <a:t>, </a:t>
            </a:r>
            <a:r>
              <a:rPr lang="en-IE" sz="1150" dirty="0">
                <a:solidFill>
                  <a:srgbClr val="6CC4E8"/>
                </a:solidFill>
                <a:latin typeface="Consolas" pitchFamily="34" charset="0"/>
                <a:ea typeface="Consolas" pitchFamily="34" charset="-122"/>
                <a:cs typeface="Consolas" pitchFamily="34" charset="-120"/>
              </a:rPr>
              <a:t>Cherry</a:t>
            </a:r>
            <a:r>
              <a:rPr lang="en-IE" sz="1150" dirty="0">
                <a:solidFill>
                  <a:srgbClr val="E6EBF2"/>
                </a:solidFill>
                <a:latin typeface="Consolas" pitchFamily="34" charset="0"/>
                <a:ea typeface="Consolas" pitchFamily="34" charset="-122"/>
                <a:cs typeface="Consolas" pitchFamily="34" charset="-120"/>
              </a:rPr>
              <a:t>, banana, pear]</a:t>
            </a:r>
            <a:endParaRPr lang="en-IE" sz="1150" dirty="0"/>
          </a:p>
        </p:txBody>
      </p:sp>
      <p:sp>
        <p:nvSpPr>
          <p:cNvPr id="7" name="Option A"/>
          <p:cNvSpPr/>
          <p:nvPr/>
        </p:nvSpPr>
        <p:spPr>
          <a:xfrm>
            <a:off x="548640" y="2946400"/>
            <a:ext cx="5623560" cy="673862"/>
          </a:xfrm>
          <a:prstGeom prst="roundRect">
            <a:avLst>
              <a:gd name="adj" fmla="val 16283"/>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073019"/>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71600" y="2946400"/>
            <a:ext cx="4572000" cy="673862"/>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[Apple, banana, Cherry, pear]</a:t>
            </a:r>
            <a:endParaRPr lang="en-IE" sz="1700" dirty="0"/>
          </a:p>
        </p:txBody>
      </p:sp>
      <p:sp>
        <p:nvSpPr>
          <p:cNvPr id="10" name="Option B (correct)"/>
          <p:cNvSpPr/>
          <p:nvPr/>
        </p:nvSpPr>
        <p:spPr>
          <a:xfrm>
            <a:off x="548640" y="3766566"/>
            <a:ext cx="5623560" cy="673862"/>
          </a:xfrm>
          <a:prstGeom prst="roundRect">
            <a:avLst>
              <a:gd name="adj" fmla="val 16283"/>
            </a:avLst>
          </a:prstGeom>
          <a:solidFill>
            <a:schemeClr val="accent3"/>
          </a:solidFill>
          <a:ln/>
          <a:effectLst>
            <a:outerShdw sx="100000" sy="100000" kx="0" ky="0" algn="bl" rotWithShape="0" blurRad="114300" dist="31750" dir="5400000">
              <a:srgbClr val="1D2433">
                <a:alpha val="12000"/>
              </a:srgbClr>
            </a:outerShdw>
          </a:effectLst>
        </p:spPr>
      </p:sp>
      <p:sp>
        <p:nvSpPr>
          <p:cNvPr id="11" name="Letter B"/>
          <p:cNvSpPr/>
          <p:nvPr/>
        </p:nvSpPr>
        <p:spPr>
          <a:xfrm>
            <a:off x="749808" y="3893185"/>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2" name="Option B text"/>
          <p:cNvSpPr txBox="1"/>
          <p:nvPr/>
        </p:nvSpPr>
        <p:spPr>
          <a:xfrm>
            <a:off x="1371600" y="3766566"/>
            <a:ext cx="4142232" cy="673862"/>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[Apple, Cherry, banana, pear]</a:t>
            </a:r>
            <a:endParaRPr lang="en-IE" sz="1700" dirty="0"/>
          </a:p>
        </p:txBody>
      </p:sp>
      <p:pic>
        <p:nvPicPr>
          <p:cNvPr id="13" name="Correct mark" descr="Correct mark">    </p:cNvPr>
          <p:cNvPicPr>
            <a:picLocks noChangeAspect="1"/>
          </p:cNvPicPr>
          <p:nvPr/>
        </p:nvPicPr>
        <p:blipFill>
          <a:blip r:embed="rId1"/>
          <a:stretch>
            <a:fillRect/>
          </a:stretch>
        </p:blipFill>
        <p:spPr>
          <a:xfrm>
            <a:off x="5623560" y="3920617"/>
            <a:ext cx="365760" cy="365760"/>
          </a:xfrm>
          <a:prstGeom prst="rect">
            <a:avLst/>
          </a:prstGeom>
        </p:spPr>
      </p:pic>
      <p:sp>
        <p:nvSpPr>
          <p:cNvPr id="14" name="Option C"/>
          <p:cNvSpPr/>
          <p:nvPr/>
        </p:nvSpPr>
        <p:spPr>
          <a:xfrm>
            <a:off x="548640" y="4586732"/>
            <a:ext cx="5623560" cy="673862"/>
          </a:xfrm>
          <a:prstGeom prst="roundRect">
            <a:avLst>
              <a:gd name="adj" fmla="val 16283"/>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713351"/>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6" name="Option C text"/>
          <p:cNvSpPr txBox="1"/>
          <p:nvPr/>
        </p:nvSpPr>
        <p:spPr>
          <a:xfrm>
            <a:off x="1371600" y="4586732"/>
            <a:ext cx="4572000" cy="673862"/>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[pear, banana, Cherry, Apple]</a:t>
            </a:r>
            <a:endParaRPr lang="en-IE" sz="1700" dirty="0"/>
          </a:p>
        </p:txBody>
      </p:sp>
      <p:sp>
        <p:nvSpPr>
          <p:cNvPr id="17" name="Option D"/>
          <p:cNvSpPr/>
          <p:nvPr/>
        </p:nvSpPr>
        <p:spPr>
          <a:xfrm>
            <a:off x="548640" y="5406898"/>
            <a:ext cx="5623560" cy="673862"/>
          </a:xfrm>
          <a:prstGeom prst="roundRect">
            <a:avLst>
              <a:gd name="adj" fmla="val 16283"/>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33517"/>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71600" y="5406898"/>
            <a:ext cx="4572000" cy="673862"/>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[banana, pear, Apple, Cherry]</a:t>
            </a:r>
            <a:endParaRPr lang="en-IE"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tx1"/>
                </a:solidFill>
              </a:rPr>
              <a:t>Strings are sorted by the Unicode values of their characters, and every capital letter comes before every small letter. So the words with capitals come first: Apple, Cherry, then banana, pear.</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59</a:t>
            </a:fld>
            <a:endParaRPr lang="en-IE"/>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SORTING OBJECTS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compareTo: before, same or after</a:t>
            </a:r>
            <a:endParaRPr lang="en-IE" sz="3400" dirty="0"/>
          </a:p>
        </p:txBody>
      </p:sp>
      <p:sp>
        <p:nvSpPr>
          <p:cNvPr id="5" name="Text 2"/>
          <p:cNvSpPr txBox="1"/>
          <p:nvPr/>
        </p:nvSpPr>
        <p:spPr>
          <a:xfrm>
            <a:off x="548640" y="1783080"/>
            <a:ext cx="4937760" cy="3291840"/>
          </a:xfrm>
          <a:prstGeom prst="rect">
            <a:avLst/>
          </a:prstGeom>
          <a:noFill/>
          <a:ln/>
        </p:spPr>
        <p:txBody>
          <a:bodyPr wrap="square" lIns="0" tIns="0" rIns="0" bIns="0" rtlCol="0" anchor="t"/>
          <a:lstStyle/>
          <a:p>
            <a:pPr marL="228600" indent="-228600">
              <a:spcAft>
                <a:spcPts val="1100"/>
              </a:spcAft>
              <a:buSzPct val="100000"/>
              <a:buChar char="•"/>
            </a:pPr>
            <a:r>
              <a:rPr lang="en-IE" sz="1700" dirty="0">
                <a:solidFill>
                  <a:schemeClr val="tx1"/>
                </a:solidFill>
              </a:rPr>
              <a:t>Sorting compares two items at a time with </a:t>
            </a:r>
            <a:r>
              <a:rPr lang="en-IE" sz="1700" dirty="0">
                <a:solidFill>
                  <a:schemeClr val="accent2"/>
                </a:solidFill>
                <a:latin typeface="Consolas" pitchFamily="34" charset="0"/>
                <a:ea typeface="Consolas" pitchFamily="34" charset="-122"/>
                <a:cs typeface="Consolas" pitchFamily="34" charset="-120"/>
              </a:rPr>
              <a:t>compareTo</a:t>
            </a:r>
            <a:r>
              <a:rPr lang="en-IE" sz="1700" dirty="0">
                <a:solidFill>
                  <a:schemeClr val="tx1"/>
                </a:solidFill>
              </a:rPr>
              <a:t>.</a:t>
            </a:r>
            <a:endParaRPr lang="en-IE" sz="1700" dirty="0"/>
          </a:p>
          <a:p>
            <a:pPr marL="228600" indent="-228600">
              <a:spcAft>
                <a:spcPts val="1100"/>
              </a:spcAft>
              <a:buSzPct val="100000"/>
              <a:buChar char="•"/>
            </a:pPr>
            <a:r>
              <a:rPr lang="en-IE" sz="1700" dirty="0">
                <a:solidFill>
                  <a:schemeClr val="accent2"/>
                </a:solidFill>
                <a:latin typeface="Consolas" pitchFamily="34" charset="0"/>
                <a:ea typeface="Consolas" pitchFamily="34" charset="-122"/>
                <a:cs typeface="Consolas" pitchFamily="34" charset="-120"/>
              </a:rPr>
              <a:t>a.compareTo(b)</a:t>
            </a:r>
            <a:r>
              <a:rPr lang="en-IE" sz="1700" dirty="0">
                <a:solidFill>
                  <a:schemeClr val="tx1"/>
                </a:solidFill>
              </a:rPr>
              <a:t> returns a negative number if a comes first, 0 if they’re equal, and a positive number if a comes after.</a:t>
            </a:r>
            <a:endParaRPr lang="en-IE" sz="1700" dirty="0"/>
          </a:p>
          <a:p>
            <a:pPr marL="228600" indent="-228600">
              <a:buSzPct val="100000"/>
              <a:buChar char="•"/>
            </a:pPr>
            <a:r>
              <a:rPr lang="en-IE" sz="1700" dirty="0">
                <a:solidFill>
                  <a:schemeClr val="tx1"/>
                </a:solidFill>
              </a:rPr>
              <a:t>Strings are compared character by character. The first character that differs decides.</a:t>
            </a:r>
            <a:endParaRPr lang="en-IE" sz="1700" dirty="0"/>
          </a:p>
        </p:txBody>
      </p:sp>
      <p:sp>
        <p:nvSpPr>
          <p:cNvPr id="6" name="Outcome negative"/>
          <p:cNvSpPr/>
          <p:nvPr/>
        </p:nvSpPr>
        <p:spPr>
          <a:xfrm>
            <a:off x="5897880" y="1783080"/>
            <a:ext cx="1783080" cy="566928"/>
          </a:xfrm>
          <a:prstGeom prst="roundRect">
            <a:avLst>
              <a:gd name="adj" fmla="val 16129"/>
            </a:avLst>
          </a:prstGeom>
          <a:solidFill>
            <a:schemeClr val="accent2">
              <a:alpha val="15000"/>
            </a:schemeClr>
          </a:solidFill>
          <a:ln w="19050">
            <a:solidFill>
              <a:schemeClr val="accent2"/>
            </a:solidFill>
          </a:ln>
        </p:spPr>
        <p:txBody>
          <a:bodyPr wrap="square" lIns="0" tIns="0" rIns="0" bIns="0" rtlCol="0" anchor="ctr"/>
          <a:lstStyle/>
          <a:p>
            <a:pPr algn="ctr" indent="0" marL="0">
              <a:buNone/>
            </a:pPr>
            <a:r>
              <a:rPr lang="en-IE" sz="1700" b="1" dirty="0">
                <a:solidFill>
                  <a:schemeClr val="tx1"/>
                </a:solidFill>
              </a:rPr>
              <a:t>negative</a:t>
            </a:r>
            <a:endParaRPr lang="en-IE" sz="1700" dirty="0"/>
          </a:p>
        </p:txBody>
      </p:sp>
      <p:sp>
        <p:nvSpPr>
          <p:cNvPr id="7" name="Text 4"/>
          <p:cNvSpPr txBox="1"/>
          <p:nvPr/>
        </p:nvSpPr>
        <p:spPr>
          <a:xfrm>
            <a:off x="5897880" y="2423160"/>
            <a:ext cx="1783080" cy="292608"/>
          </a:xfrm>
          <a:prstGeom prst="rect">
            <a:avLst/>
          </a:prstGeom>
          <a:noFill/>
          <a:ln/>
        </p:spPr>
        <p:txBody>
          <a:bodyPr wrap="square" lIns="0" tIns="0" rIns="0" bIns="0" rtlCol="0" anchor="t"/>
          <a:lstStyle/>
          <a:p>
            <a:pPr algn="ctr" indent="0" marL="0">
              <a:buNone/>
            </a:pPr>
            <a:r>
              <a:rPr lang="en-IE" sz="1350" i="1" dirty="0">
                <a:solidFill>
                  <a:schemeClr val="tx2"/>
                </a:solidFill>
              </a:rPr>
              <a:t>a comes before b</a:t>
            </a:r>
            <a:endParaRPr lang="en-IE" sz="1350" dirty="0"/>
          </a:p>
        </p:txBody>
      </p:sp>
      <p:sp>
        <p:nvSpPr>
          <p:cNvPr id="8" name="Outcome 0"/>
          <p:cNvSpPr/>
          <p:nvPr/>
        </p:nvSpPr>
        <p:spPr>
          <a:xfrm>
            <a:off x="7818120" y="1783080"/>
            <a:ext cx="1783080" cy="566928"/>
          </a:xfrm>
          <a:prstGeom prst="roundRect">
            <a:avLst>
              <a:gd name="adj" fmla="val 16129"/>
            </a:avLst>
          </a:prstGeom>
          <a:solidFill>
            <a:schemeClr val="tx2">
              <a:alpha val="15000"/>
            </a:schemeClr>
          </a:solidFill>
          <a:ln w="19050">
            <a:solidFill>
              <a:schemeClr val="tx2"/>
            </a:solidFill>
          </a:ln>
        </p:spPr>
        <p:txBody>
          <a:bodyPr wrap="square" lIns="0" tIns="0" rIns="0" bIns="0" rtlCol="0" anchor="ctr"/>
          <a:lstStyle/>
          <a:p>
            <a:pPr algn="ctr" indent="0" marL="0">
              <a:buNone/>
            </a:pPr>
            <a:r>
              <a:rPr lang="en-IE" sz="1700" b="1" dirty="0">
                <a:solidFill>
                  <a:schemeClr val="tx1"/>
                </a:solidFill>
              </a:rPr>
              <a:t>0</a:t>
            </a:r>
            <a:endParaRPr lang="en-IE" sz="1700" dirty="0"/>
          </a:p>
        </p:txBody>
      </p:sp>
      <p:sp>
        <p:nvSpPr>
          <p:cNvPr id="9" name="Text 6"/>
          <p:cNvSpPr txBox="1"/>
          <p:nvPr/>
        </p:nvSpPr>
        <p:spPr>
          <a:xfrm>
            <a:off x="7818120" y="2423160"/>
            <a:ext cx="1783080" cy="292608"/>
          </a:xfrm>
          <a:prstGeom prst="rect">
            <a:avLst/>
          </a:prstGeom>
          <a:noFill/>
          <a:ln/>
        </p:spPr>
        <p:txBody>
          <a:bodyPr wrap="square" lIns="0" tIns="0" rIns="0" bIns="0" rtlCol="0" anchor="t"/>
          <a:lstStyle/>
          <a:p>
            <a:pPr algn="ctr" indent="0" marL="0">
              <a:buNone/>
            </a:pPr>
            <a:r>
              <a:rPr lang="en-IE" sz="1350" i="1" dirty="0">
                <a:solidFill>
                  <a:schemeClr val="tx2"/>
                </a:solidFill>
              </a:rPr>
              <a:t>same place</a:t>
            </a:r>
            <a:endParaRPr lang="en-IE" sz="1350" dirty="0"/>
          </a:p>
        </p:txBody>
      </p:sp>
      <p:sp>
        <p:nvSpPr>
          <p:cNvPr id="10" name="Outcome positive"/>
          <p:cNvSpPr/>
          <p:nvPr/>
        </p:nvSpPr>
        <p:spPr>
          <a:xfrm>
            <a:off x="9738360" y="1783080"/>
            <a:ext cx="1783080" cy="566928"/>
          </a:xfrm>
          <a:prstGeom prst="roundRect">
            <a:avLst>
              <a:gd name="adj" fmla="val 16129"/>
            </a:avLst>
          </a:prstGeom>
          <a:solidFill>
            <a:schemeClr val="accent1">
              <a:alpha val="15000"/>
            </a:schemeClr>
          </a:solidFill>
          <a:ln w="19050">
            <a:solidFill>
              <a:schemeClr val="accent1"/>
            </a:solidFill>
          </a:ln>
        </p:spPr>
        <p:txBody>
          <a:bodyPr wrap="square" lIns="0" tIns="0" rIns="0" bIns="0" rtlCol="0" anchor="ctr"/>
          <a:lstStyle/>
          <a:p>
            <a:pPr algn="ctr" indent="0" marL="0">
              <a:buNone/>
            </a:pPr>
            <a:r>
              <a:rPr lang="en-IE" sz="1700" b="1" dirty="0">
                <a:solidFill>
                  <a:schemeClr val="tx1"/>
                </a:solidFill>
              </a:rPr>
              <a:t>positive</a:t>
            </a:r>
            <a:endParaRPr lang="en-IE" sz="1700" dirty="0"/>
          </a:p>
        </p:txBody>
      </p:sp>
      <p:sp>
        <p:nvSpPr>
          <p:cNvPr id="11" name="Text 8"/>
          <p:cNvSpPr txBox="1"/>
          <p:nvPr/>
        </p:nvSpPr>
        <p:spPr>
          <a:xfrm>
            <a:off x="9738360" y="2423160"/>
            <a:ext cx="1783080" cy="292608"/>
          </a:xfrm>
          <a:prstGeom prst="rect">
            <a:avLst/>
          </a:prstGeom>
          <a:noFill/>
          <a:ln/>
        </p:spPr>
        <p:txBody>
          <a:bodyPr wrap="square" lIns="0" tIns="0" rIns="0" bIns="0" rtlCol="0" anchor="t"/>
          <a:lstStyle/>
          <a:p>
            <a:pPr algn="ctr" indent="0" marL="0">
              <a:buNone/>
            </a:pPr>
            <a:r>
              <a:rPr lang="en-IE" sz="1350" i="1" dirty="0">
                <a:solidFill>
                  <a:schemeClr val="tx2"/>
                </a:solidFill>
              </a:rPr>
              <a:t>a comes after b</a:t>
            </a:r>
            <a:endParaRPr lang="en-IE" sz="1350" dirty="0"/>
          </a:p>
        </p:txBody>
      </p:sp>
      <p:sp>
        <p:nvSpPr>
          <p:cNvPr id="12" name="compareTo examples card"/>
          <p:cNvSpPr/>
          <p:nvPr/>
        </p:nvSpPr>
        <p:spPr>
          <a:xfrm>
            <a:off x="5897880" y="3017520"/>
            <a:ext cx="5745175" cy="1427988"/>
          </a:xfrm>
          <a:prstGeom prst="roundRect">
            <a:avLst>
              <a:gd name="adj" fmla="val 7684"/>
            </a:avLst>
          </a:prstGeom>
          <a:solidFill>
            <a:schemeClr val="tx1"/>
          </a:solidFill>
          <a:ln/>
          <a:effectLst>
            <a:outerShdw sx="100000" sy="100000" kx="0" ky="0" algn="bl" rotWithShape="0" blurRad="114300" dist="31750" dir="5400000">
              <a:srgbClr val="1D2433">
                <a:alpha val="12000"/>
              </a:srgbClr>
            </a:outerShdw>
          </a:effectLst>
        </p:spPr>
      </p:sp>
      <p:sp>
        <p:nvSpPr>
          <p:cNvPr id="13" name="compareTo examples language"/>
          <p:cNvSpPr txBox="1"/>
          <p:nvPr/>
        </p:nvSpPr>
        <p:spPr>
          <a:xfrm>
            <a:off x="6172200" y="3136392"/>
            <a:ext cx="519653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4" name="compareTo examples text"/>
          <p:cNvSpPr txBox="1"/>
          <p:nvPr/>
        </p:nvSpPr>
        <p:spPr>
          <a:xfrm>
            <a:off x="6172200" y="3511296"/>
            <a:ext cx="5196535" cy="733044"/>
          </a:xfrm>
          <a:prstGeom prst="rect">
            <a:avLst/>
          </a:prstGeom>
          <a:noFill/>
          <a:ln/>
        </p:spPr>
        <p:txBody>
          <a:bodyPr wrap="square" lIns="0" tIns="0" rIns="0" bIns="0" rtlCol="0" anchor="t"/>
          <a:lstStyle/>
          <a:p>
            <a:pPr indent="0" marL="0">
              <a:lnSpc>
                <a:spcPts val="1780"/>
              </a:lnSpc>
              <a:buNone/>
            </a:pPr>
            <a:r>
              <a:rPr lang="en-IE" sz="1350" dirty="0">
                <a:solidFill>
                  <a:srgbClr val="A9DB8C"/>
                </a:solidFill>
                <a:latin typeface="Consolas" pitchFamily="34" charset="0"/>
                <a:ea typeface="Consolas" pitchFamily="34" charset="-122"/>
                <a:cs typeface="Consolas" pitchFamily="34" charset="-120"/>
              </a:rPr>
              <a:t>"apple"</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C9B0FF"/>
                </a:solidFill>
                <a:latin typeface="Consolas" pitchFamily="34" charset="0"/>
                <a:ea typeface="Consolas" pitchFamily="34" charset="-122"/>
                <a:cs typeface="Consolas" pitchFamily="34" charset="-120"/>
              </a:rPr>
              <a:t>compareTo</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A9DB8C"/>
                </a:solidFill>
                <a:latin typeface="Consolas" pitchFamily="34" charset="0"/>
                <a:ea typeface="Consolas" pitchFamily="34" charset="-122"/>
                <a:cs typeface="Consolas" pitchFamily="34" charset="-120"/>
              </a:rPr>
              <a:t>"banana"</a:t>
            </a:r>
            <a:r>
              <a:rPr lang="en-IE" sz="1350" dirty="0">
                <a:solidFill>
                  <a:srgbClr val="E6EBF2"/>
                </a:solidFill>
                <a:latin typeface="Consolas" pitchFamily="34" charset="0"/>
                <a:ea typeface="Consolas" pitchFamily="34" charset="-122"/>
                <a:cs typeface="Consolas" pitchFamily="34" charset="-120"/>
              </a:rPr>
              <a:t>)   </a:t>
            </a:r>
            <a:r>
              <a:rPr lang="en-IE" sz="1350" i="1" dirty="0">
                <a:solidFill>
                  <a:srgbClr val="A3AEC2"/>
                </a:solidFill>
                <a:latin typeface="Consolas" pitchFamily="34" charset="0"/>
                <a:ea typeface="Consolas" pitchFamily="34" charset="-122"/>
                <a:cs typeface="Consolas" pitchFamily="34" charset="-120"/>
              </a:rPr>
              <a:t>// -1  apple first</a:t>
            </a:r>
            <a:endParaRPr lang="en-IE" sz="1350" dirty="0"/>
          </a:p>
          <a:p>
            <a:pPr indent="0" marL="0">
              <a:lnSpc>
                <a:spcPts val="1780"/>
              </a:lnSpc>
              <a:buNone/>
            </a:pPr>
            <a:r>
              <a:rPr lang="en-IE" sz="1350" dirty="0">
                <a:solidFill>
                  <a:srgbClr val="A9DB8C"/>
                </a:solidFill>
                <a:latin typeface="Consolas" pitchFamily="34" charset="0"/>
                <a:ea typeface="Consolas" pitchFamily="34" charset="-122"/>
                <a:cs typeface="Consolas" pitchFamily="34" charset="-120"/>
              </a:rPr>
              <a:t>"cat"</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C9B0FF"/>
                </a:solidFill>
                <a:latin typeface="Consolas" pitchFamily="34" charset="0"/>
                <a:ea typeface="Consolas" pitchFamily="34" charset="-122"/>
                <a:cs typeface="Consolas" pitchFamily="34" charset="-120"/>
              </a:rPr>
              <a:t>compareTo</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A9DB8C"/>
                </a:solidFill>
                <a:latin typeface="Consolas" pitchFamily="34" charset="0"/>
                <a:ea typeface="Consolas" pitchFamily="34" charset="-122"/>
                <a:cs typeface="Consolas" pitchFamily="34" charset="-120"/>
              </a:rPr>
              <a:t>"cat"</a:t>
            </a:r>
            <a:r>
              <a:rPr lang="en-IE" sz="1350" dirty="0">
                <a:solidFill>
                  <a:srgbClr val="E6EBF2"/>
                </a:solidFill>
                <a:latin typeface="Consolas" pitchFamily="34" charset="0"/>
                <a:ea typeface="Consolas" pitchFamily="34" charset="-122"/>
                <a:cs typeface="Consolas" pitchFamily="34" charset="-120"/>
              </a:rPr>
              <a:t>)         </a:t>
            </a:r>
            <a:r>
              <a:rPr lang="en-IE" sz="1350" i="1" dirty="0">
                <a:solidFill>
                  <a:srgbClr val="A3AEC2"/>
                </a:solidFill>
                <a:latin typeface="Consolas" pitchFamily="34" charset="0"/>
                <a:ea typeface="Consolas" pitchFamily="34" charset="-122"/>
                <a:cs typeface="Consolas" pitchFamily="34" charset="-120"/>
              </a:rPr>
              <a:t>// 0   equal</a:t>
            </a:r>
            <a:endParaRPr lang="en-IE" sz="1350" dirty="0"/>
          </a:p>
          <a:p>
            <a:pPr indent="0" marL="0">
              <a:lnSpc>
                <a:spcPts val="1780"/>
              </a:lnSpc>
              <a:buNone/>
            </a:pPr>
            <a:r>
              <a:rPr lang="en-IE" sz="1350" dirty="0">
                <a:solidFill>
                  <a:srgbClr val="A9DB8C"/>
                </a:solidFill>
                <a:latin typeface="Consolas" pitchFamily="34" charset="0"/>
                <a:ea typeface="Consolas" pitchFamily="34" charset="-122"/>
                <a:cs typeface="Consolas" pitchFamily="34" charset="-120"/>
              </a:rPr>
              <a:t>"pear"</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C9B0FF"/>
                </a:solidFill>
                <a:latin typeface="Consolas" pitchFamily="34" charset="0"/>
                <a:ea typeface="Consolas" pitchFamily="34" charset="-122"/>
                <a:cs typeface="Consolas" pitchFamily="34" charset="-120"/>
              </a:rPr>
              <a:t>compareTo</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A9DB8C"/>
                </a:solidFill>
                <a:latin typeface="Consolas" pitchFamily="34" charset="0"/>
                <a:ea typeface="Consolas" pitchFamily="34" charset="-122"/>
                <a:cs typeface="Consolas" pitchFamily="34" charset="-120"/>
              </a:rPr>
              <a:t>"Pear"</a:t>
            </a:r>
            <a:r>
              <a:rPr lang="en-IE" sz="1350" dirty="0">
                <a:solidFill>
                  <a:srgbClr val="E6EBF2"/>
                </a:solidFill>
                <a:latin typeface="Consolas" pitchFamily="34" charset="0"/>
                <a:ea typeface="Consolas" pitchFamily="34" charset="-122"/>
                <a:cs typeface="Consolas" pitchFamily="34" charset="-120"/>
              </a:rPr>
              <a:t>)       </a:t>
            </a:r>
            <a:r>
              <a:rPr lang="en-IE" sz="1350" i="1" dirty="0">
                <a:solidFill>
                  <a:srgbClr val="A3AEC2"/>
                </a:solidFill>
                <a:latin typeface="Consolas" pitchFamily="34" charset="0"/>
                <a:ea typeface="Consolas" pitchFamily="34" charset="-122"/>
                <a:cs typeface="Consolas" pitchFamily="34" charset="-120"/>
              </a:rPr>
              <a:t>// 32  Pear first</a:t>
            </a:r>
            <a:endParaRPr lang="en-IE" sz="1350" dirty="0"/>
          </a:p>
        </p:txBody>
      </p:sp>
      <p:sp>
        <p:nvSpPr>
          <p:cNvPr id="15" name="Note"/>
          <p:cNvSpPr/>
          <p:nvPr/>
        </p:nvSpPr>
        <p:spPr>
          <a:xfrm>
            <a:off x="5897880" y="4892040"/>
            <a:ext cx="5745175" cy="777240"/>
          </a:xfrm>
          <a:prstGeom prst="roundRect">
            <a:avLst>
              <a:gd name="adj" fmla="val 14118"/>
            </a:avLst>
          </a:prstGeom>
          <a:solidFill>
            <a:schemeClr val="bg2"/>
          </a:solidFill>
          <a:ln/>
        </p:spPr>
      </p:sp>
      <p:sp>
        <p:nvSpPr>
          <p:cNvPr id="16" name="Icon tile"/>
          <p:cNvSpPr/>
          <p:nvPr/>
        </p:nvSpPr>
        <p:spPr>
          <a:xfrm>
            <a:off x="6172200" y="5015484"/>
            <a:ext cx="530352" cy="530352"/>
          </a:xfrm>
          <a:prstGeom prst="roundRect">
            <a:avLst>
              <a:gd name="adj" fmla="val 24000"/>
            </a:avLst>
          </a:prstGeom>
          <a:solidFill>
            <a:schemeClr val="accent2">
              <a:alpha val="14000"/>
            </a:schemeClr>
          </a:solidFill>
          <a:ln/>
        </p:spPr>
      </p:sp>
      <p:pic>
        <p:nvPicPr>
          <p:cNvPr id="17" name="info icon" descr="info icon">    </p:cNvPr>
          <p:cNvPicPr>
            <a:picLocks noChangeAspect="1"/>
          </p:cNvPicPr>
          <p:nvPr/>
        </p:nvPicPr>
        <p:blipFill>
          <a:blip r:embed="rId1"/>
          <a:stretch>
            <a:fillRect/>
          </a:stretch>
        </p:blipFill>
        <p:spPr>
          <a:xfrm>
            <a:off x="6283574" y="5126858"/>
            <a:ext cx="307604" cy="307604"/>
          </a:xfrm>
          <a:prstGeom prst="rect">
            <a:avLst/>
          </a:prstGeom>
        </p:spPr>
      </p:pic>
      <p:sp>
        <p:nvSpPr>
          <p:cNvPr id="18" name="Text 14"/>
          <p:cNvSpPr txBox="1"/>
          <p:nvPr/>
        </p:nvSpPr>
        <p:spPr>
          <a:xfrm>
            <a:off x="6922008" y="4892040"/>
            <a:ext cx="4465015" cy="777240"/>
          </a:xfrm>
          <a:prstGeom prst="rect">
            <a:avLst/>
          </a:prstGeom>
          <a:noFill/>
          <a:ln/>
        </p:spPr>
        <p:txBody>
          <a:bodyPr wrap="square" lIns="0" tIns="0" rIns="0" bIns="0" rtlCol="0" anchor="ctr"/>
          <a:lstStyle/>
          <a:p>
            <a:pPr indent="0" marL="0">
              <a:buNone/>
            </a:pPr>
            <a:r>
              <a:rPr lang="en-IE" sz="1600" dirty="0">
                <a:solidFill>
                  <a:schemeClr val="tx1"/>
                </a:solidFill>
              </a:rPr>
              <a:t>Only the sign matters: negative, zero or positive.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60</a:t>
            </a:fld>
            <a:endParaRPr lang="en-IE"/>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18</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compareTo</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a:t>
            </a:r>
            <a:r>
              <a:rPr lang="en-IE" sz="2800" b="1" dirty="0">
                <a:solidFill>
                  <a:schemeClr val="accent2"/>
                </a:solidFill>
                <a:latin typeface="Consolas" pitchFamily="34" charset="0"/>
                <a:ea typeface="Consolas" pitchFamily="34" charset="-122"/>
                <a:cs typeface="Consolas" pitchFamily="34" charset="-120"/>
              </a:rPr>
              <a:t>"cat".compareTo("act")</a:t>
            </a:r>
            <a:r>
              <a:rPr lang="en-IE" sz="2800" b="1" dirty="0">
                <a:solidFill>
                  <a:schemeClr val="tx1"/>
                </a:solidFill>
              </a:rPr>
              <a:t> return?</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0, as they have the same letters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negative number</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positive number</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compile error</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61</a:t>
            </a:fld>
            <a:endParaRPr lang="en-IE"/>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18</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compareTo</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a:t>
            </a:r>
            <a:r>
              <a:rPr lang="en-IE" sz="2000" b="1" dirty="0">
                <a:solidFill>
                  <a:schemeClr val="tx2"/>
                </a:solidFill>
                <a:latin typeface="Consolas" pitchFamily="34" charset="0"/>
                <a:ea typeface="Consolas" pitchFamily="34" charset="-122"/>
                <a:cs typeface="Consolas" pitchFamily="34" charset="-120"/>
              </a:rPr>
              <a:t>"cat".compareTo("act")</a:t>
            </a:r>
            <a:r>
              <a:rPr lang="en-IE" sz="2000" b="1" dirty="0">
                <a:solidFill>
                  <a:schemeClr val="tx2"/>
                </a:solidFill>
              </a:rPr>
              <a:t> return?</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0, as they have the same letters</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A negative number</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A positive number</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A compile error</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compareTo goes through the characters one by one and stops at the first difference: c (99) against a (97). c comes later, so the result is positive (99 − 97 = 2) and “cat” sorts after “act”. Adding up the letters would give 0, but that’s not how it works.</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62</a:t>
            </a:fld>
            <a:endParaRPr lang="en-IE"/>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SORTING OBJECTS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Sorting our own objects with Comparable</a:t>
            </a:r>
            <a:endParaRPr lang="en-IE" sz="3400" dirty="0"/>
          </a:p>
        </p:txBody>
      </p:sp>
      <p:sp>
        <p:nvSpPr>
          <p:cNvPr id="5" name="Text 2"/>
          <p:cNvSpPr txBox="1"/>
          <p:nvPr/>
        </p:nvSpPr>
        <p:spPr>
          <a:xfrm>
            <a:off x="548640" y="1783080"/>
            <a:ext cx="4937760" cy="4206240"/>
          </a:xfrm>
          <a:prstGeom prst="rect">
            <a:avLst/>
          </a:prstGeom>
          <a:noFill/>
          <a:ln/>
        </p:spPr>
        <p:txBody>
          <a:bodyPr wrap="square" lIns="0" tIns="0" rIns="0" bIns="0" rtlCol="0" anchor="t"/>
          <a:lstStyle/>
          <a:p>
            <a:pPr marL="228600" indent="-228600">
              <a:spcAft>
                <a:spcPts val="1100"/>
              </a:spcAft>
              <a:buSzPct val="100000"/>
              <a:buChar char="•"/>
            </a:pPr>
            <a:r>
              <a:rPr lang="en-IE" sz="1700" dirty="0">
                <a:solidFill>
                  <a:schemeClr val="accent2"/>
                </a:solidFill>
                <a:latin typeface="Consolas" pitchFamily="34" charset="0"/>
                <a:ea typeface="Consolas" pitchFamily="34" charset="-122"/>
                <a:cs typeface="Consolas" pitchFamily="34" charset="-120"/>
              </a:rPr>
              <a:t>Collections.sort</a:t>
            </a:r>
            <a:r>
              <a:rPr lang="en-IE" sz="1700" dirty="0">
                <a:solidFill>
                  <a:schemeClr val="tx1"/>
                </a:solidFill>
              </a:rPr>
              <a:t> doesn’t know how to order Students until we tell it.</a:t>
            </a:r>
            <a:endParaRPr lang="en-IE" sz="1700" dirty="0"/>
          </a:p>
          <a:p>
            <a:pPr marL="228600" indent="-228600">
              <a:spcAft>
                <a:spcPts val="1100"/>
              </a:spcAft>
              <a:buSzPct val="100000"/>
              <a:buChar char="•"/>
            </a:pPr>
            <a:r>
              <a:rPr lang="en-IE" sz="1700" dirty="0">
                <a:solidFill>
                  <a:schemeClr val="tx1"/>
                </a:solidFill>
              </a:rPr>
              <a:t>Student implements the </a:t>
            </a:r>
            <a:r>
              <a:rPr lang="en-IE" sz="1700" dirty="0">
                <a:solidFill>
                  <a:schemeClr val="accent2"/>
                </a:solidFill>
                <a:latin typeface="Consolas" pitchFamily="34" charset="0"/>
                <a:ea typeface="Consolas" pitchFamily="34" charset="-122"/>
                <a:cs typeface="Consolas" pitchFamily="34" charset="-120"/>
              </a:rPr>
              <a:t>Comparable&lt;Student&gt;</a:t>
            </a:r>
            <a:r>
              <a:rPr lang="en-IE" sz="1700" dirty="0">
                <a:solidFill>
                  <a:schemeClr val="tx1"/>
                </a:solidFill>
              </a:rPr>
              <a:t> interface (in java.lang, so no import).</a:t>
            </a:r>
            <a:endParaRPr lang="en-IE" sz="1700" dirty="0"/>
          </a:p>
          <a:p>
            <a:pPr marL="228600" indent="-228600">
              <a:spcAft>
                <a:spcPts val="1100"/>
              </a:spcAft>
              <a:buSzPct val="100000"/>
              <a:buChar char="•"/>
            </a:pPr>
            <a:r>
              <a:rPr lang="en-IE" sz="1700" dirty="0">
                <a:solidFill>
                  <a:schemeClr val="tx1"/>
                </a:solidFill>
              </a:rPr>
              <a:t>Its one method, </a:t>
            </a:r>
            <a:r>
              <a:rPr lang="en-IE" sz="1700" dirty="0">
                <a:solidFill>
                  <a:schemeClr val="accent2"/>
                </a:solidFill>
                <a:latin typeface="Consolas" pitchFamily="34" charset="0"/>
                <a:ea typeface="Consolas" pitchFamily="34" charset="-122"/>
                <a:cs typeface="Consolas" pitchFamily="34" charset="-120"/>
              </a:rPr>
              <a:t>compareTo</a:t>
            </a:r>
            <a:r>
              <a:rPr lang="en-IE" sz="1700" dirty="0">
                <a:solidFill>
                  <a:schemeClr val="tx1"/>
                </a:solidFill>
              </a:rPr>
              <a:t>, returns negative, 0 or positive, just like String’s.</a:t>
            </a:r>
            <a:endParaRPr lang="en-IE" sz="1700" dirty="0"/>
          </a:p>
          <a:p>
            <a:pPr marL="228600" indent="-228600">
              <a:buSzPct val="100000"/>
              <a:buChar char="•"/>
            </a:pPr>
            <a:r>
              <a:rPr lang="en-IE" sz="1700" dirty="0">
                <a:solidFill>
                  <a:schemeClr val="tx1"/>
                </a:solidFill>
              </a:rPr>
              <a:t>Here students are ordered by id.</a:t>
            </a:r>
            <a:endParaRPr lang="en-IE" sz="1700" dirty="0"/>
          </a:p>
        </p:txBody>
      </p:sp>
      <p:sp>
        <p:nvSpPr>
          <p:cNvPr id="6" name="Student card"/>
          <p:cNvSpPr/>
          <p:nvPr/>
        </p:nvSpPr>
        <p:spPr>
          <a:xfrm>
            <a:off x="5806440" y="1691640"/>
            <a:ext cx="5836615" cy="4161028"/>
          </a:xfrm>
          <a:prstGeom prst="roundRect">
            <a:avLst>
              <a:gd name="adj" fmla="val 2637"/>
            </a:avLst>
          </a:prstGeom>
          <a:solidFill>
            <a:schemeClr val="tx1"/>
          </a:solidFill>
          <a:ln/>
          <a:effectLst>
            <a:outerShdw sx="100000" sy="100000" kx="0" ky="0" algn="bl" rotWithShape="0" blurRad="114300" dist="31750" dir="5400000">
              <a:srgbClr val="1D2433">
                <a:alpha val="12000"/>
              </a:srgbClr>
            </a:outerShdw>
          </a:effectLst>
        </p:spPr>
      </p:sp>
      <p:sp>
        <p:nvSpPr>
          <p:cNvPr id="7" name="Student language"/>
          <p:cNvSpPr txBox="1"/>
          <p:nvPr/>
        </p:nvSpPr>
        <p:spPr>
          <a:xfrm>
            <a:off x="6080760" y="1810512"/>
            <a:ext cx="52879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Student text"/>
          <p:cNvSpPr txBox="1"/>
          <p:nvPr/>
        </p:nvSpPr>
        <p:spPr>
          <a:xfrm>
            <a:off x="6080760" y="2185416"/>
            <a:ext cx="5287975" cy="3466084"/>
          </a:xfrm>
          <a:prstGeom prst="rect">
            <a:avLst/>
          </a:prstGeom>
          <a:noFill/>
          <a:ln/>
        </p:spPr>
        <p:txBody>
          <a:bodyPr wrap="square" lIns="0" tIns="0" rIns="0" bIns="0" rtlCol="0" anchor="t"/>
          <a:lstStyle/>
          <a:p>
            <a:pPr indent="0" marL="0">
              <a:lnSpc>
                <a:spcPts val="1580"/>
              </a:lnSpc>
              <a:buNone/>
            </a:pPr>
            <a:r>
              <a:rPr lang="en-IE" sz="1200" dirty="0">
                <a:solidFill>
                  <a:srgbClr val="FF9F5A"/>
                </a:solidFill>
                <a:latin typeface="Consolas" pitchFamily="34" charset="0"/>
                <a:ea typeface="Consolas" pitchFamily="34" charset="-122"/>
                <a:cs typeface="Consolas" pitchFamily="34" charset="-120"/>
              </a:rPr>
              <a:t>public</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class</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6CC4E8"/>
                </a:solidFill>
                <a:latin typeface="Consolas" pitchFamily="34" charset="0"/>
                <a:ea typeface="Consolas" pitchFamily="34" charset="-122"/>
                <a:cs typeface="Consolas" pitchFamily="34" charset="-120"/>
              </a:rPr>
              <a:t>Student</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implements</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6CC4E8"/>
                </a:solidFill>
                <a:latin typeface="Consolas" pitchFamily="34" charset="0"/>
                <a:ea typeface="Consolas" pitchFamily="34" charset="-122"/>
                <a:cs typeface="Consolas" pitchFamily="34" charset="-120"/>
              </a:rPr>
              <a:t>Comparable</a:t>
            </a:r>
            <a:r>
              <a:rPr lang="en-IE" sz="1200" dirty="0">
                <a:solidFill>
                  <a:srgbClr val="E6EBF2"/>
                </a:solidFill>
                <a:latin typeface="Consolas" pitchFamily="34" charset="0"/>
                <a:ea typeface="Consolas" pitchFamily="34" charset="-122"/>
                <a:cs typeface="Consolas" pitchFamily="34" charset="-120"/>
              </a:rPr>
              <a:t>&lt;Student&gt;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private</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6CC4E8"/>
                </a:solidFill>
                <a:latin typeface="Consolas" pitchFamily="34" charset="0"/>
                <a:ea typeface="Consolas" pitchFamily="34" charset="-122"/>
                <a:cs typeface="Consolas" pitchFamily="34" charset="-120"/>
              </a:rPr>
              <a:t>String</a:t>
            </a:r>
            <a:r>
              <a:rPr lang="en-IE" sz="1200" dirty="0">
                <a:solidFill>
                  <a:srgbClr val="E6EBF2"/>
                </a:solidFill>
                <a:latin typeface="Consolas" pitchFamily="34" charset="0"/>
                <a:ea typeface="Consolas" pitchFamily="34" charset="-122"/>
                <a:cs typeface="Consolas" pitchFamily="34" charset="-120"/>
              </a:rPr>
              <a:t> name;</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private</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int</a:t>
            </a:r>
            <a:r>
              <a:rPr lang="en-IE" sz="1200" dirty="0">
                <a:solidFill>
                  <a:srgbClr val="E6EBF2"/>
                </a:solidFill>
                <a:latin typeface="Consolas" pitchFamily="34" charset="0"/>
                <a:ea typeface="Consolas" pitchFamily="34" charset="-122"/>
                <a:cs typeface="Consolas" pitchFamily="34" charset="-120"/>
              </a:rPr>
              <a:t> id;</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public</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C9B0FF"/>
                </a:solidFill>
                <a:latin typeface="Consolas" pitchFamily="34" charset="0"/>
                <a:ea typeface="Consolas" pitchFamily="34" charset="-122"/>
                <a:cs typeface="Consolas" pitchFamily="34" charset="-120"/>
              </a:rPr>
              <a:t>Student</a:t>
            </a:r>
            <a:r>
              <a:rPr lang="en-IE" sz="1200" dirty="0">
                <a:solidFill>
                  <a:srgbClr val="E6EBF2"/>
                </a:solidFill>
                <a:latin typeface="Consolas" pitchFamily="34" charset="0"/>
                <a:ea typeface="Consolas" pitchFamily="34" charset="-122"/>
                <a:cs typeface="Consolas" pitchFamily="34" charset="-120"/>
              </a:rPr>
              <a:t>(</a:t>
            </a:r>
            <a:r>
              <a:rPr lang="en-IE" sz="1200" dirty="0">
                <a:solidFill>
                  <a:srgbClr val="6CC4E8"/>
                </a:solidFill>
                <a:latin typeface="Consolas" pitchFamily="34" charset="0"/>
                <a:ea typeface="Consolas" pitchFamily="34" charset="-122"/>
                <a:cs typeface="Consolas" pitchFamily="34" charset="-120"/>
              </a:rPr>
              <a:t>String</a:t>
            </a:r>
            <a:r>
              <a:rPr lang="en-IE" sz="1200" dirty="0">
                <a:solidFill>
                  <a:srgbClr val="E6EBF2"/>
                </a:solidFill>
                <a:latin typeface="Consolas" pitchFamily="34" charset="0"/>
                <a:ea typeface="Consolas" pitchFamily="34" charset="-122"/>
                <a:cs typeface="Consolas" pitchFamily="34" charset="-120"/>
              </a:rPr>
              <a:t> name, </a:t>
            </a:r>
            <a:r>
              <a:rPr lang="en-IE" sz="1200" dirty="0">
                <a:solidFill>
                  <a:srgbClr val="FF9F5A"/>
                </a:solidFill>
                <a:latin typeface="Consolas" pitchFamily="34" charset="0"/>
                <a:ea typeface="Consolas" pitchFamily="34" charset="-122"/>
                <a:cs typeface="Consolas" pitchFamily="34" charset="-120"/>
              </a:rPr>
              <a:t>int</a:t>
            </a:r>
            <a:r>
              <a:rPr lang="en-IE" sz="1200" dirty="0">
                <a:solidFill>
                  <a:srgbClr val="E6EBF2"/>
                </a:solidFill>
                <a:latin typeface="Consolas" pitchFamily="34" charset="0"/>
                <a:ea typeface="Consolas" pitchFamily="34" charset="-122"/>
                <a:cs typeface="Consolas" pitchFamily="34" charset="-120"/>
              </a:rPr>
              <a:t> id)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this</a:t>
            </a:r>
            <a:r>
              <a:rPr lang="en-IE" sz="1200" dirty="0">
                <a:solidFill>
                  <a:srgbClr val="E6EBF2"/>
                </a:solidFill>
                <a:latin typeface="Consolas" pitchFamily="34" charset="0"/>
                <a:ea typeface="Consolas" pitchFamily="34" charset="-122"/>
                <a:cs typeface="Consolas" pitchFamily="34" charset="-120"/>
              </a:rPr>
              <a:t>.name = name;</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this</a:t>
            </a:r>
            <a:r>
              <a:rPr lang="en-IE" sz="1200" dirty="0">
                <a:solidFill>
                  <a:srgbClr val="E6EBF2"/>
                </a:solidFill>
                <a:latin typeface="Consolas" pitchFamily="34" charset="0"/>
                <a:ea typeface="Consolas" pitchFamily="34" charset="-122"/>
                <a:cs typeface="Consolas" pitchFamily="34" charset="-120"/>
              </a:rPr>
              <a:t>.id = id;</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E8C468"/>
                </a:solidFill>
                <a:latin typeface="Consolas" pitchFamily="34" charset="0"/>
                <a:ea typeface="Consolas" pitchFamily="34" charset="-122"/>
                <a:cs typeface="Consolas" pitchFamily="34" charset="-120"/>
              </a:rPr>
              <a:t>@Override</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public</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int</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C9B0FF"/>
                </a:solidFill>
                <a:latin typeface="Consolas" pitchFamily="34" charset="0"/>
                <a:ea typeface="Consolas" pitchFamily="34" charset="-122"/>
                <a:cs typeface="Consolas" pitchFamily="34" charset="-120"/>
              </a:rPr>
              <a:t>compareTo</a:t>
            </a:r>
            <a:r>
              <a:rPr lang="en-IE" sz="1200" dirty="0">
                <a:solidFill>
                  <a:srgbClr val="E6EBF2"/>
                </a:solidFill>
                <a:latin typeface="Consolas" pitchFamily="34" charset="0"/>
                <a:ea typeface="Consolas" pitchFamily="34" charset="-122"/>
                <a:cs typeface="Consolas" pitchFamily="34" charset="-120"/>
              </a:rPr>
              <a:t>(</a:t>
            </a:r>
            <a:r>
              <a:rPr lang="en-IE" sz="1200" dirty="0">
                <a:solidFill>
                  <a:srgbClr val="6CC4E8"/>
                </a:solidFill>
                <a:latin typeface="Consolas" pitchFamily="34" charset="0"/>
                <a:ea typeface="Consolas" pitchFamily="34" charset="-122"/>
                <a:cs typeface="Consolas" pitchFamily="34" charset="-120"/>
              </a:rPr>
              <a:t>Student</a:t>
            </a:r>
            <a:r>
              <a:rPr lang="en-IE" sz="1200" dirty="0">
                <a:solidFill>
                  <a:srgbClr val="E6EBF2"/>
                </a:solidFill>
                <a:latin typeface="Consolas" pitchFamily="34" charset="0"/>
                <a:ea typeface="Consolas" pitchFamily="34" charset="-122"/>
                <a:cs typeface="Consolas" pitchFamily="34" charset="-120"/>
              </a:rPr>
              <a:t> other)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return</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this</a:t>
            </a:r>
            <a:r>
              <a:rPr lang="en-IE" sz="1200" dirty="0">
                <a:solidFill>
                  <a:srgbClr val="E6EBF2"/>
                </a:solidFill>
                <a:latin typeface="Consolas" pitchFamily="34" charset="0"/>
                <a:ea typeface="Consolas" pitchFamily="34" charset="-122"/>
                <a:cs typeface="Consolas" pitchFamily="34" charset="-120"/>
              </a:rPr>
              <a:t>.id - other.id;   </a:t>
            </a:r>
            <a:r>
              <a:rPr lang="en-IE" sz="1200" i="1" dirty="0">
                <a:solidFill>
                  <a:srgbClr val="A3AEC2"/>
                </a:solidFill>
                <a:latin typeface="Consolas" pitchFamily="34" charset="0"/>
                <a:ea typeface="Consolas" pitchFamily="34" charset="-122"/>
                <a:cs typeface="Consolas" pitchFamily="34" charset="-120"/>
              </a:rPr>
              <a:t>// by id</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E8C468"/>
                </a:solidFill>
                <a:latin typeface="Consolas" pitchFamily="34" charset="0"/>
                <a:ea typeface="Consolas" pitchFamily="34" charset="-122"/>
                <a:cs typeface="Consolas" pitchFamily="34" charset="-120"/>
              </a:rPr>
              <a:t>@Override</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public</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6CC4E8"/>
                </a:solidFill>
                <a:latin typeface="Consolas" pitchFamily="34" charset="0"/>
                <a:ea typeface="Consolas" pitchFamily="34" charset="-122"/>
                <a:cs typeface="Consolas" pitchFamily="34" charset="-120"/>
              </a:rPr>
              <a:t>String</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C9B0FF"/>
                </a:solidFill>
                <a:latin typeface="Consolas" pitchFamily="34" charset="0"/>
                <a:ea typeface="Consolas" pitchFamily="34" charset="-122"/>
                <a:cs typeface="Consolas" pitchFamily="34" charset="-120"/>
              </a:rPr>
              <a:t>toString</a:t>
            </a:r>
            <a:r>
              <a:rPr lang="en-IE" sz="1200" dirty="0">
                <a:solidFill>
                  <a:srgbClr val="E6EBF2"/>
                </a:solidFill>
                <a:latin typeface="Consolas" pitchFamily="34" charset="0"/>
                <a:ea typeface="Consolas" pitchFamily="34" charset="-122"/>
                <a:cs typeface="Consolas" pitchFamily="34" charset="-120"/>
              </a:rPr>
              <a:t>() { </a:t>
            </a:r>
            <a:r>
              <a:rPr lang="en-IE" sz="1200" dirty="0">
                <a:solidFill>
                  <a:srgbClr val="FF9F5A"/>
                </a:solidFill>
                <a:latin typeface="Consolas" pitchFamily="34" charset="0"/>
                <a:ea typeface="Consolas" pitchFamily="34" charset="-122"/>
                <a:cs typeface="Consolas" pitchFamily="34" charset="-120"/>
              </a:rPr>
              <a:t>return</a:t>
            </a:r>
            <a:r>
              <a:rPr lang="en-IE" sz="1200" dirty="0">
                <a:solidFill>
                  <a:srgbClr val="E6EBF2"/>
                </a:solidFill>
                <a:latin typeface="Consolas" pitchFamily="34" charset="0"/>
                <a:ea typeface="Consolas" pitchFamily="34" charset="-122"/>
                <a:cs typeface="Consolas" pitchFamily="34" charset="-120"/>
              </a:rPr>
              <a:t> id + </a:t>
            </a:r>
            <a:r>
              <a:rPr lang="en-IE" sz="1200" dirty="0">
                <a:solidFill>
                  <a:srgbClr val="A9DB8C"/>
                </a:solidFill>
                <a:latin typeface="Consolas" pitchFamily="34" charset="0"/>
                <a:ea typeface="Consolas" pitchFamily="34" charset="-122"/>
                <a:cs typeface="Consolas" pitchFamily="34" charset="-120"/>
              </a:rPr>
              <a:t>" "</a:t>
            </a:r>
            <a:r>
              <a:rPr lang="en-IE" sz="1200" dirty="0">
                <a:solidFill>
                  <a:srgbClr val="E6EBF2"/>
                </a:solidFill>
                <a:latin typeface="Consolas" pitchFamily="34" charset="0"/>
                <a:ea typeface="Consolas" pitchFamily="34" charset="-122"/>
                <a:cs typeface="Consolas" pitchFamily="34" charset="-120"/>
              </a:rPr>
              <a:t> + name;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a:t>
            </a:r>
            <a:endParaRPr lang="en-IE" sz="12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63</a:t>
            </a:fld>
            <a:endParaRPr lang="en-IE"/>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SORTING OBJECTS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Sorting the students</a:t>
            </a:r>
            <a:endParaRPr lang="en-IE" sz="3400" dirty="0"/>
          </a:p>
        </p:txBody>
      </p:sp>
      <p:sp>
        <p:nvSpPr>
          <p:cNvPr id="5" name="Sorting card"/>
          <p:cNvSpPr/>
          <p:nvPr/>
        </p:nvSpPr>
        <p:spPr>
          <a:xfrm>
            <a:off x="548640" y="1691640"/>
            <a:ext cx="6263640" cy="3152648"/>
          </a:xfrm>
          <a:prstGeom prst="roundRect">
            <a:avLst>
              <a:gd name="adj" fmla="val 3481"/>
            </a:avLst>
          </a:prstGeom>
          <a:solidFill>
            <a:schemeClr val="tx1"/>
          </a:solidFill>
          <a:ln/>
          <a:effectLst>
            <a:outerShdw sx="100000" sy="100000" kx="0" ky="0" algn="bl" rotWithShape="0" blurRad="114300" dist="31750" dir="5400000">
              <a:srgbClr val="1D2433">
                <a:alpha val="12000"/>
              </a:srgbClr>
            </a:outerShdw>
          </a:effectLst>
        </p:spPr>
      </p:sp>
      <p:sp>
        <p:nvSpPr>
          <p:cNvPr id="6" name="Sorting language"/>
          <p:cNvSpPr txBox="1"/>
          <p:nvPr/>
        </p:nvSpPr>
        <p:spPr>
          <a:xfrm>
            <a:off x="822960" y="1810512"/>
            <a:ext cx="57150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Sorting text"/>
          <p:cNvSpPr txBox="1"/>
          <p:nvPr/>
        </p:nvSpPr>
        <p:spPr>
          <a:xfrm>
            <a:off x="822960" y="2185416"/>
            <a:ext cx="5715000" cy="2457704"/>
          </a:xfrm>
          <a:prstGeom prst="rect">
            <a:avLst/>
          </a:prstGeom>
          <a:noFill/>
          <a:ln/>
        </p:spPr>
        <p:txBody>
          <a:bodyPr wrap="square" lIns="0" tIns="0" rIns="0" bIns="0" rtlCol="0" anchor="t"/>
          <a:lstStyle/>
          <a:p>
            <a:pPr indent="0" marL="0">
              <a:lnSpc>
                <a:spcPts val="1720"/>
              </a:lnSpc>
              <a:buNone/>
            </a:pPr>
            <a:r>
              <a:rPr lang="en-IE" sz="1300" dirty="0">
                <a:solidFill>
                  <a:srgbClr val="6CC4E8"/>
                </a:solidFill>
                <a:latin typeface="Consolas" pitchFamily="34" charset="0"/>
                <a:ea typeface="Consolas" pitchFamily="34" charset="-122"/>
                <a:cs typeface="Consolas" pitchFamily="34" charset="-120"/>
              </a:rPr>
              <a:t>ArrayList</a:t>
            </a:r>
            <a:r>
              <a:rPr lang="en-IE" sz="1300" dirty="0">
                <a:solidFill>
                  <a:srgbClr val="E6EBF2"/>
                </a:solidFill>
                <a:latin typeface="Consolas" pitchFamily="34" charset="0"/>
                <a:ea typeface="Consolas" pitchFamily="34" charset="-122"/>
                <a:cs typeface="Consolas" pitchFamily="34" charset="-120"/>
              </a:rPr>
              <a:t>&lt;Student&gt; students = </a:t>
            </a:r>
            <a:r>
              <a:rPr lang="en-IE" sz="1300" dirty="0">
                <a:solidFill>
                  <a:srgbClr val="FF9F5A"/>
                </a:solidFill>
                <a:latin typeface="Consolas" pitchFamily="34" charset="0"/>
                <a:ea typeface="Consolas" pitchFamily="34" charset="-122"/>
                <a:cs typeface="Consolas" pitchFamily="34" charset="-120"/>
              </a:rPr>
              <a:t>new</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ArrayList</a:t>
            </a:r>
            <a:r>
              <a:rPr lang="en-IE" sz="1300" dirty="0">
                <a:solidFill>
                  <a:srgbClr val="E6EBF2"/>
                </a:solidFill>
                <a:latin typeface="Consolas" pitchFamily="34" charset="0"/>
                <a:ea typeface="Consolas" pitchFamily="34" charset="-122"/>
                <a:cs typeface="Consolas" pitchFamily="34" charset="-120"/>
              </a:rPr>
              <a:t>&lt;Student&gt;();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students.</a:t>
            </a:r>
            <a:r>
              <a:rPr lang="en-IE" sz="1300" dirty="0">
                <a:solidFill>
                  <a:srgbClr val="C9B0FF"/>
                </a:solidFill>
                <a:latin typeface="Consolas" pitchFamily="34" charset="0"/>
                <a:ea typeface="Consolas" pitchFamily="34" charset="-122"/>
                <a:cs typeface="Consolas" pitchFamily="34" charset="-120"/>
              </a:rPr>
              <a:t>add</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FF9F5A"/>
                </a:solidFill>
                <a:latin typeface="Consolas" pitchFamily="34" charset="0"/>
                <a:ea typeface="Consolas" pitchFamily="34" charset="-122"/>
                <a:cs typeface="Consolas" pitchFamily="34" charset="-120"/>
              </a:rPr>
              <a:t>new</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Student</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A9DB8C"/>
                </a:solidFill>
                <a:latin typeface="Consolas" pitchFamily="34" charset="0"/>
                <a:ea typeface="Consolas" pitchFamily="34" charset="-122"/>
                <a:cs typeface="Consolas" pitchFamily="34" charset="-120"/>
              </a:rPr>
              <a:t>"Cara"</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2C14E"/>
                </a:solidFill>
                <a:latin typeface="Consolas" pitchFamily="34" charset="0"/>
                <a:ea typeface="Consolas" pitchFamily="34" charset="-122"/>
                <a:cs typeface="Consolas" pitchFamily="34" charset="-120"/>
              </a:rPr>
              <a:t>3</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students.</a:t>
            </a:r>
            <a:r>
              <a:rPr lang="en-IE" sz="1300" dirty="0">
                <a:solidFill>
                  <a:srgbClr val="C9B0FF"/>
                </a:solidFill>
                <a:latin typeface="Consolas" pitchFamily="34" charset="0"/>
                <a:ea typeface="Consolas" pitchFamily="34" charset="-122"/>
                <a:cs typeface="Consolas" pitchFamily="34" charset="-120"/>
              </a:rPr>
              <a:t>add</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FF9F5A"/>
                </a:solidFill>
                <a:latin typeface="Consolas" pitchFamily="34" charset="0"/>
                <a:ea typeface="Consolas" pitchFamily="34" charset="-122"/>
                <a:cs typeface="Consolas" pitchFamily="34" charset="-120"/>
              </a:rPr>
              <a:t>new</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Student</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A9DB8C"/>
                </a:solidFill>
                <a:latin typeface="Consolas" pitchFamily="34" charset="0"/>
                <a:ea typeface="Consolas" pitchFamily="34" charset="-122"/>
                <a:cs typeface="Consolas" pitchFamily="34" charset="-120"/>
              </a:rPr>
              <a:t>"Bob"</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2C14E"/>
                </a:solidFill>
                <a:latin typeface="Consolas" pitchFamily="34" charset="0"/>
                <a:ea typeface="Consolas" pitchFamily="34" charset="-122"/>
                <a:cs typeface="Consolas" pitchFamily="34" charset="-120"/>
              </a:rPr>
              <a:t>2</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students.</a:t>
            </a:r>
            <a:r>
              <a:rPr lang="en-IE" sz="1300" dirty="0">
                <a:solidFill>
                  <a:srgbClr val="C9B0FF"/>
                </a:solidFill>
                <a:latin typeface="Consolas" pitchFamily="34" charset="0"/>
                <a:ea typeface="Consolas" pitchFamily="34" charset="-122"/>
                <a:cs typeface="Consolas" pitchFamily="34" charset="-120"/>
              </a:rPr>
              <a:t>add</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FF9F5A"/>
                </a:solidFill>
                <a:latin typeface="Consolas" pitchFamily="34" charset="0"/>
                <a:ea typeface="Consolas" pitchFamily="34" charset="-122"/>
                <a:cs typeface="Consolas" pitchFamily="34" charset="-120"/>
              </a:rPr>
              <a:t>new</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Student</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A9DB8C"/>
                </a:solidFill>
                <a:latin typeface="Consolas" pitchFamily="34" charset="0"/>
                <a:ea typeface="Consolas" pitchFamily="34" charset="-122"/>
                <a:cs typeface="Consolas" pitchFamily="34" charset="-120"/>
              </a:rPr>
              <a:t>"Anne"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2C14E"/>
                </a:solidFill>
                <a:latin typeface="Consolas" pitchFamily="34" charset="0"/>
                <a:ea typeface="Consolas" pitchFamily="34" charset="-122"/>
                <a:cs typeface="Consolas" pitchFamily="34" charset="-120"/>
              </a:rPr>
              <a:t>5</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students.</a:t>
            </a:r>
            <a:r>
              <a:rPr lang="en-IE" sz="1300" dirty="0">
                <a:solidFill>
                  <a:srgbClr val="C9B0FF"/>
                </a:solidFill>
                <a:latin typeface="Consolas" pitchFamily="34" charset="0"/>
                <a:ea typeface="Consolas" pitchFamily="34" charset="-122"/>
                <a:cs typeface="Consolas" pitchFamily="34" charset="-120"/>
              </a:rPr>
              <a:t>add</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FF9F5A"/>
                </a:solidFill>
                <a:latin typeface="Consolas" pitchFamily="34" charset="0"/>
                <a:ea typeface="Consolas" pitchFamily="34" charset="-122"/>
                <a:cs typeface="Consolas" pitchFamily="34" charset="-120"/>
              </a:rPr>
              <a:t>new</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Student</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A9DB8C"/>
                </a:solidFill>
                <a:latin typeface="Consolas" pitchFamily="34" charset="0"/>
                <a:ea typeface="Consolas" pitchFamily="34" charset="-122"/>
                <a:cs typeface="Consolas" pitchFamily="34" charset="-120"/>
              </a:rPr>
              <a:t>"Dan"</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2C14E"/>
                </a:solidFill>
                <a:latin typeface="Consolas" pitchFamily="34" charset="0"/>
                <a:ea typeface="Consolas" pitchFamily="34" charset="-122"/>
                <a:cs typeface="Consolas" pitchFamily="34" charset="-120"/>
              </a:rPr>
              <a:t>1</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6CC4E8"/>
                </a:solidFill>
                <a:latin typeface="Consolas" pitchFamily="34" charset="0"/>
                <a:ea typeface="Consolas" pitchFamily="34" charset="-122"/>
                <a:cs typeface="Consolas" pitchFamily="34" charset="-120"/>
              </a:rPr>
              <a:t>Collections</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C9B0FF"/>
                </a:solidFill>
                <a:latin typeface="Consolas" pitchFamily="34" charset="0"/>
                <a:ea typeface="Consolas" pitchFamily="34" charset="-122"/>
                <a:cs typeface="Consolas" pitchFamily="34" charset="-120"/>
              </a:rPr>
              <a:t>sort</a:t>
            </a:r>
            <a:r>
              <a:rPr lang="en-IE" sz="1300" dirty="0">
                <a:solidFill>
                  <a:srgbClr val="E6EBF2"/>
                </a:solidFill>
                <a:latin typeface="Consolas" pitchFamily="34" charset="0"/>
                <a:ea typeface="Consolas" pitchFamily="34" charset="-122"/>
                <a:cs typeface="Consolas" pitchFamily="34" charset="-120"/>
              </a:rPr>
              <a:t>(students);   </a:t>
            </a:r>
            <a:r>
              <a:rPr lang="en-IE" sz="1300" i="1" dirty="0">
                <a:solidFill>
                  <a:srgbClr val="A3AEC2"/>
                </a:solidFill>
                <a:latin typeface="Consolas" pitchFamily="34" charset="0"/>
                <a:ea typeface="Consolas" pitchFamily="34" charset="-122"/>
                <a:cs typeface="Consolas" pitchFamily="34" charset="-120"/>
              </a:rPr>
              <a:t>// uses compareTo</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for</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Student</a:t>
            </a:r>
            <a:r>
              <a:rPr lang="en-IE" sz="1300" dirty="0">
                <a:solidFill>
                  <a:srgbClr val="E6EBF2"/>
                </a:solidFill>
                <a:latin typeface="Consolas" pitchFamily="34" charset="0"/>
                <a:ea typeface="Consolas" pitchFamily="34" charset="-122"/>
                <a:cs typeface="Consolas" pitchFamily="34" charset="-120"/>
              </a:rPr>
              <a:t> student : students)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System</a:t>
            </a:r>
            <a:r>
              <a:rPr lang="en-IE" sz="1300" dirty="0">
                <a:solidFill>
                  <a:srgbClr val="E6EBF2"/>
                </a:solidFill>
                <a:latin typeface="Consolas" pitchFamily="34" charset="0"/>
                <a:ea typeface="Consolas" pitchFamily="34" charset="-122"/>
                <a:cs typeface="Consolas" pitchFamily="34" charset="-120"/>
              </a:rPr>
              <a:t>.out.</a:t>
            </a:r>
            <a:r>
              <a:rPr lang="en-IE" sz="1300" dirty="0">
                <a:solidFill>
                  <a:srgbClr val="C9B0FF"/>
                </a:solidFill>
                <a:latin typeface="Consolas" pitchFamily="34" charset="0"/>
                <a:ea typeface="Consolas" pitchFamily="34" charset="-122"/>
                <a:cs typeface="Consolas" pitchFamily="34" charset="-120"/>
              </a:rPr>
              <a:t>println</a:t>
            </a:r>
            <a:r>
              <a:rPr lang="en-IE" sz="1300" dirty="0">
                <a:solidFill>
                  <a:srgbClr val="E6EBF2"/>
                </a:solidFill>
                <a:latin typeface="Consolas" pitchFamily="34" charset="0"/>
                <a:ea typeface="Consolas" pitchFamily="34" charset="-122"/>
                <a:cs typeface="Consolas" pitchFamily="34" charset="-120"/>
              </a:rPr>
              <a:t>(student);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p:txBody>
      </p:sp>
      <p:sp>
        <p:nvSpPr>
          <p:cNvPr id="8" name="Text 5"/>
          <p:cNvSpPr txBox="1"/>
          <p:nvPr/>
        </p:nvSpPr>
        <p:spPr>
          <a:xfrm>
            <a:off x="7178040" y="1737360"/>
            <a:ext cx="4114800" cy="292608"/>
          </a:xfrm>
          <a:prstGeom prst="rect">
            <a:avLst/>
          </a:prstGeom>
          <a:noFill/>
          <a:ln/>
        </p:spPr>
        <p:txBody>
          <a:bodyPr wrap="square" lIns="0" tIns="0" rIns="0" bIns="0" rtlCol="0" anchor="t"/>
          <a:lstStyle/>
          <a:p>
            <a:pPr indent="0" marL="0">
              <a:buNone/>
            </a:pPr>
            <a:r>
              <a:rPr lang="en-IE" sz="1350" b="1" dirty="0">
                <a:solidFill>
                  <a:schemeClr val="tx2"/>
                </a:solidFill>
              </a:rPr>
              <a:t>Added in this order</a:t>
            </a:r>
            <a:endParaRPr lang="en-IE" sz="1350" dirty="0"/>
          </a:p>
        </p:txBody>
      </p:sp>
      <p:sp>
        <p:nvSpPr>
          <p:cNvPr id="9" name="Cell 0"/>
          <p:cNvSpPr/>
          <p:nvPr/>
        </p:nvSpPr>
        <p:spPr>
          <a:xfrm>
            <a:off x="7178040" y="2075688"/>
            <a:ext cx="1024128" cy="548640"/>
          </a:xfrm>
          <a:prstGeom prst="roundRect">
            <a:avLst>
              <a:gd name="adj" fmla="val 13333"/>
            </a:avLst>
          </a:prstGeom>
          <a:solidFill>
            <a:schemeClr val="tx2">
              <a:alpha val="6000"/>
            </a:schemeClr>
          </a:solidFill>
          <a:ln w="15875">
            <a:solidFill>
              <a:schemeClr val="tx2"/>
            </a:solidFill>
          </a:ln>
        </p:spPr>
        <p:txBody>
          <a:bodyPr wrap="square" lIns="0" tIns="0" rIns="0" bIns="0" rtlCol="0" anchor="ctr"/>
          <a:lstStyle/>
          <a:p>
            <a:pPr algn="ctr" indent="0" marL="0">
              <a:buNone/>
            </a:pPr>
            <a:r>
              <a:rPr lang="en-IE" sz="1300" dirty="0">
                <a:solidFill>
                  <a:schemeClr val="tx1"/>
                </a:solidFill>
                <a:latin typeface="Consolas" pitchFamily="34" charset="0"/>
                <a:ea typeface="Consolas" pitchFamily="34" charset="-122"/>
                <a:cs typeface="Consolas" pitchFamily="34" charset="-120"/>
              </a:rPr>
              <a:t>3 Cara</a:t>
            </a:r>
            <a:endParaRPr lang="en-IE" sz="1300" dirty="0"/>
          </a:p>
        </p:txBody>
      </p:sp>
      <p:sp>
        <p:nvSpPr>
          <p:cNvPr id="10" name="Cell 1"/>
          <p:cNvSpPr/>
          <p:nvPr/>
        </p:nvSpPr>
        <p:spPr>
          <a:xfrm>
            <a:off x="8275320" y="2075688"/>
            <a:ext cx="1024128" cy="548640"/>
          </a:xfrm>
          <a:prstGeom prst="roundRect">
            <a:avLst>
              <a:gd name="adj" fmla="val 13333"/>
            </a:avLst>
          </a:prstGeom>
          <a:solidFill>
            <a:schemeClr val="tx2">
              <a:alpha val="6000"/>
            </a:schemeClr>
          </a:solidFill>
          <a:ln w="15875">
            <a:solidFill>
              <a:schemeClr val="tx2"/>
            </a:solidFill>
          </a:ln>
        </p:spPr>
        <p:txBody>
          <a:bodyPr wrap="square" lIns="0" tIns="0" rIns="0" bIns="0" rtlCol="0" anchor="ctr"/>
          <a:lstStyle/>
          <a:p>
            <a:pPr algn="ctr" indent="0" marL="0">
              <a:buNone/>
            </a:pPr>
            <a:r>
              <a:rPr lang="en-IE" sz="1300" dirty="0">
                <a:solidFill>
                  <a:schemeClr val="tx1"/>
                </a:solidFill>
                <a:latin typeface="Consolas" pitchFamily="34" charset="0"/>
                <a:ea typeface="Consolas" pitchFamily="34" charset="-122"/>
                <a:cs typeface="Consolas" pitchFamily="34" charset="-120"/>
              </a:rPr>
              <a:t>2 Bob</a:t>
            </a:r>
            <a:endParaRPr lang="en-IE" sz="1300" dirty="0"/>
          </a:p>
        </p:txBody>
      </p:sp>
      <p:sp>
        <p:nvSpPr>
          <p:cNvPr id="11" name="Cell 2"/>
          <p:cNvSpPr/>
          <p:nvPr/>
        </p:nvSpPr>
        <p:spPr>
          <a:xfrm>
            <a:off x="9372600" y="2075688"/>
            <a:ext cx="1024128" cy="548640"/>
          </a:xfrm>
          <a:prstGeom prst="roundRect">
            <a:avLst>
              <a:gd name="adj" fmla="val 13333"/>
            </a:avLst>
          </a:prstGeom>
          <a:solidFill>
            <a:schemeClr val="tx2">
              <a:alpha val="6000"/>
            </a:schemeClr>
          </a:solidFill>
          <a:ln w="15875">
            <a:solidFill>
              <a:schemeClr val="tx2"/>
            </a:solidFill>
          </a:ln>
        </p:spPr>
        <p:txBody>
          <a:bodyPr wrap="square" lIns="0" tIns="0" rIns="0" bIns="0" rtlCol="0" anchor="ctr"/>
          <a:lstStyle/>
          <a:p>
            <a:pPr algn="ctr" indent="0" marL="0">
              <a:buNone/>
            </a:pPr>
            <a:r>
              <a:rPr lang="en-IE" sz="1300" dirty="0">
                <a:solidFill>
                  <a:schemeClr val="tx1"/>
                </a:solidFill>
                <a:latin typeface="Consolas" pitchFamily="34" charset="0"/>
                <a:ea typeface="Consolas" pitchFamily="34" charset="-122"/>
                <a:cs typeface="Consolas" pitchFamily="34" charset="-120"/>
              </a:rPr>
              <a:t>5 Anne</a:t>
            </a:r>
            <a:endParaRPr lang="en-IE" sz="1300" dirty="0"/>
          </a:p>
        </p:txBody>
      </p:sp>
      <p:sp>
        <p:nvSpPr>
          <p:cNvPr id="12" name="Cell 3"/>
          <p:cNvSpPr/>
          <p:nvPr/>
        </p:nvSpPr>
        <p:spPr>
          <a:xfrm>
            <a:off x="10469880" y="2075688"/>
            <a:ext cx="1024128" cy="548640"/>
          </a:xfrm>
          <a:prstGeom prst="roundRect">
            <a:avLst>
              <a:gd name="adj" fmla="val 13333"/>
            </a:avLst>
          </a:prstGeom>
          <a:solidFill>
            <a:schemeClr val="tx2">
              <a:alpha val="6000"/>
            </a:schemeClr>
          </a:solidFill>
          <a:ln w="15875">
            <a:solidFill>
              <a:schemeClr val="tx2"/>
            </a:solidFill>
          </a:ln>
        </p:spPr>
        <p:txBody>
          <a:bodyPr wrap="square" lIns="0" tIns="0" rIns="0" bIns="0" rtlCol="0" anchor="ctr"/>
          <a:lstStyle/>
          <a:p>
            <a:pPr algn="ctr" indent="0" marL="0">
              <a:buNone/>
            </a:pPr>
            <a:r>
              <a:rPr lang="en-IE" sz="1300" dirty="0">
                <a:solidFill>
                  <a:schemeClr val="tx1"/>
                </a:solidFill>
                <a:latin typeface="Consolas" pitchFamily="34" charset="0"/>
                <a:ea typeface="Consolas" pitchFamily="34" charset="-122"/>
                <a:cs typeface="Consolas" pitchFamily="34" charset="-120"/>
              </a:rPr>
              <a:t>1 Dan</a:t>
            </a:r>
            <a:endParaRPr lang="en-IE" sz="1300" dirty="0"/>
          </a:p>
        </p:txBody>
      </p:sp>
      <p:sp>
        <p:nvSpPr>
          <p:cNvPr id="13" name="Connector"/>
          <p:cNvSpPr/>
          <p:nvPr/>
        </p:nvSpPr>
        <p:spPr>
          <a:xfrm>
            <a:off x="9336024" y="2743200"/>
            <a:ext cx="0" cy="685800"/>
          </a:xfrm>
          <a:prstGeom prst="line">
            <a:avLst/>
          </a:prstGeom>
          <a:noFill/>
          <a:ln w="25400">
            <a:solidFill>
              <a:schemeClr val="accent1"/>
            </a:solidFill>
            <a:prstDash val="solid"/>
            <a:tailEnd type="triangle"/>
          </a:ln>
        </p:spPr>
      </p:sp>
      <p:sp>
        <p:nvSpPr>
          <p:cNvPr id="14" name="Text 11"/>
          <p:cNvSpPr txBox="1"/>
          <p:nvPr/>
        </p:nvSpPr>
        <p:spPr>
          <a:xfrm>
            <a:off x="9464040" y="2907792"/>
            <a:ext cx="2194560" cy="292608"/>
          </a:xfrm>
          <a:prstGeom prst="rect">
            <a:avLst/>
          </a:prstGeom>
          <a:noFill/>
          <a:ln/>
        </p:spPr>
        <p:txBody>
          <a:bodyPr wrap="square" lIns="0" tIns="0" rIns="0" bIns="0" rtlCol="0" anchor="t"/>
          <a:lstStyle/>
          <a:p>
            <a:pPr indent="0" marL="0">
              <a:buNone/>
            </a:pPr>
            <a:r>
              <a:rPr lang="en-IE" sz="1250" i="1" dirty="0">
                <a:solidFill>
                  <a:schemeClr val="accent1"/>
                </a:solidFill>
              </a:rPr>
              <a:t>compareTo: lower id first</a:t>
            </a:r>
            <a:endParaRPr lang="en-IE" sz="1250" dirty="0"/>
          </a:p>
        </p:txBody>
      </p:sp>
      <p:sp>
        <p:nvSpPr>
          <p:cNvPr id="15" name="Text 12"/>
          <p:cNvSpPr txBox="1"/>
          <p:nvPr/>
        </p:nvSpPr>
        <p:spPr>
          <a:xfrm>
            <a:off x="7178040" y="3520440"/>
            <a:ext cx="4114800" cy="292608"/>
          </a:xfrm>
          <a:prstGeom prst="rect">
            <a:avLst/>
          </a:prstGeom>
          <a:noFill/>
          <a:ln/>
        </p:spPr>
        <p:txBody>
          <a:bodyPr wrap="square" lIns="0" tIns="0" rIns="0" bIns="0" rtlCol="0" anchor="t"/>
          <a:lstStyle/>
          <a:p>
            <a:pPr indent="0" marL="0">
              <a:buNone/>
            </a:pPr>
            <a:r>
              <a:rPr lang="en-IE" sz="1350" b="1" dirty="0">
                <a:solidFill>
                  <a:schemeClr val="tx2"/>
                </a:solidFill>
              </a:rPr>
              <a:t>After Collections.sort</a:t>
            </a:r>
            <a:endParaRPr lang="en-IE" sz="1350" dirty="0"/>
          </a:p>
        </p:txBody>
      </p:sp>
      <p:sp>
        <p:nvSpPr>
          <p:cNvPr id="16" name="Cell 0"/>
          <p:cNvSpPr/>
          <p:nvPr/>
        </p:nvSpPr>
        <p:spPr>
          <a:xfrm>
            <a:off x="7178040" y="3858768"/>
            <a:ext cx="1024128" cy="548640"/>
          </a:xfrm>
          <a:prstGeom prst="roundRect">
            <a:avLst>
              <a:gd name="adj" fmla="val 13333"/>
            </a:avLst>
          </a:prstGeom>
          <a:solidFill>
            <a:schemeClr val="accent3">
              <a:alpha val="20000"/>
            </a:schemeClr>
          </a:solidFill>
          <a:ln w="15875">
            <a:solidFill>
              <a:schemeClr val="accent3"/>
            </a:solidFill>
          </a:ln>
        </p:spPr>
        <p:txBody>
          <a:bodyPr wrap="square" lIns="0" tIns="0" rIns="0" bIns="0" rtlCol="0" anchor="ctr"/>
          <a:lstStyle/>
          <a:p>
            <a:pPr algn="ctr" indent="0" marL="0">
              <a:buNone/>
            </a:pPr>
            <a:r>
              <a:rPr lang="en-IE" sz="1300" b="1" dirty="0">
                <a:solidFill>
                  <a:schemeClr val="tx1"/>
                </a:solidFill>
                <a:latin typeface="Consolas" pitchFamily="34" charset="0"/>
                <a:ea typeface="Consolas" pitchFamily="34" charset="-122"/>
                <a:cs typeface="Consolas" pitchFamily="34" charset="-120"/>
              </a:rPr>
              <a:t>1 Dan</a:t>
            </a:r>
            <a:endParaRPr lang="en-IE" sz="1300" dirty="0"/>
          </a:p>
        </p:txBody>
      </p:sp>
      <p:sp>
        <p:nvSpPr>
          <p:cNvPr id="17" name="Cell 1"/>
          <p:cNvSpPr/>
          <p:nvPr/>
        </p:nvSpPr>
        <p:spPr>
          <a:xfrm>
            <a:off x="8275320" y="3858768"/>
            <a:ext cx="1024128" cy="548640"/>
          </a:xfrm>
          <a:prstGeom prst="roundRect">
            <a:avLst>
              <a:gd name="adj" fmla="val 13333"/>
            </a:avLst>
          </a:prstGeom>
          <a:solidFill>
            <a:schemeClr val="accent3">
              <a:alpha val="20000"/>
            </a:schemeClr>
          </a:solidFill>
          <a:ln w="15875">
            <a:solidFill>
              <a:schemeClr val="accent3"/>
            </a:solidFill>
          </a:ln>
        </p:spPr>
        <p:txBody>
          <a:bodyPr wrap="square" lIns="0" tIns="0" rIns="0" bIns="0" rtlCol="0" anchor="ctr"/>
          <a:lstStyle/>
          <a:p>
            <a:pPr algn="ctr" indent="0" marL="0">
              <a:buNone/>
            </a:pPr>
            <a:r>
              <a:rPr lang="en-IE" sz="1300" b="1" dirty="0">
                <a:solidFill>
                  <a:schemeClr val="tx1"/>
                </a:solidFill>
                <a:latin typeface="Consolas" pitchFamily="34" charset="0"/>
                <a:ea typeface="Consolas" pitchFamily="34" charset="-122"/>
                <a:cs typeface="Consolas" pitchFamily="34" charset="-120"/>
              </a:rPr>
              <a:t>2 Bob</a:t>
            </a:r>
            <a:endParaRPr lang="en-IE" sz="1300" dirty="0"/>
          </a:p>
        </p:txBody>
      </p:sp>
      <p:sp>
        <p:nvSpPr>
          <p:cNvPr id="18" name="Cell 2"/>
          <p:cNvSpPr/>
          <p:nvPr/>
        </p:nvSpPr>
        <p:spPr>
          <a:xfrm>
            <a:off x="9372600" y="3858768"/>
            <a:ext cx="1024128" cy="548640"/>
          </a:xfrm>
          <a:prstGeom prst="roundRect">
            <a:avLst>
              <a:gd name="adj" fmla="val 13333"/>
            </a:avLst>
          </a:prstGeom>
          <a:solidFill>
            <a:schemeClr val="accent3">
              <a:alpha val="20000"/>
            </a:schemeClr>
          </a:solidFill>
          <a:ln w="15875">
            <a:solidFill>
              <a:schemeClr val="accent3"/>
            </a:solidFill>
          </a:ln>
        </p:spPr>
        <p:txBody>
          <a:bodyPr wrap="square" lIns="0" tIns="0" rIns="0" bIns="0" rtlCol="0" anchor="ctr"/>
          <a:lstStyle/>
          <a:p>
            <a:pPr algn="ctr" indent="0" marL="0">
              <a:buNone/>
            </a:pPr>
            <a:r>
              <a:rPr lang="en-IE" sz="1300" b="1" dirty="0">
                <a:solidFill>
                  <a:schemeClr val="tx1"/>
                </a:solidFill>
                <a:latin typeface="Consolas" pitchFamily="34" charset="0"/>
                <a:ea typeface="Consolas" pitchFamily="34" charset="-122"/>
                <a:cs typeface="Consolas" pitchFamily="34" charset="-120"/>
              </a:rPr>
              <a:t>3 Cara</a:t>
            </a:r>
            <a:endParaRPr lang="en-IE" sz="1300" dirty="0"/>
          </a:p>
        </p:txBody>
      </p:sp>
      <p:sp>
        <p:nvSpPr>
          <p:cNvPr id="19" name="Cell 3"/>
          <p:cNvSpPr/>
          <p:nvPr/>
        </p:nvSpPr>
        <p:spPr>
          <a:xfrm>
            <a:off x="10469880" y="3858768"/>
            <a:ext cx="1024128" cy="548640"/>
          </a:xfrm>
          <a:prstGeom prst="roundRect">
            <a:avLst>
              <a:gd name="adj" fmla="val 13333"/>
            </a:avLst>
          </a:prstGeom>
          <a:solidFill>
            <a:schemeClr val="accent3">
              <a:alpha val="20000"/>
            </a:schemeClr>
          </a:solidFill>
          <a:ln w="15875">
            <a:solidFill>
              <a:schemeClr val="accent3"/>
            </a:solidFill>
          </a:ln>
        </p:spPr>
        <p:txBody>
          <a:bodyPr wrap="square" lIns="0" tIns="0" rIns="0" bIns="0" rtlCol="0" anchor="ctr"/>
          <a:lstStyle/>
          <a:p>
            <a:pPr algn="ctr" indent="0" marL="0">
              <a:buNone/>
            </a:pPr>
            <a:r>
              <a:rPr lang="en-IE" sz="1300" b="1" dirty="0">
                <a:solidFill>
                  <a:schemeClr val="tx1"/>
                </a:solidFill>
                <a:latin typeface="Consolas" pitchFamily="34" charset="0"/>
                <a:ea typeface="Consolas" pitchFamily="34" charset="-122"/>
                <a:cs typeface="Consolas" pitchFamily="34" charset="-120"/>
              </a:rPr>
              <a:t>5 Anne</a:t>
            </a:r>
            <a:endParaRPr lang="en-IE" sz="1300" dirty="0"/>
          </a:p>
        </p:txBody>
      </p:sp>
      <p:sp>
        <p:nvSpPr>
          <p:cNvPr id="20" name="Output card"/>
          <p:cNvSpPr/>
          <p:nvPr/>
        </p:nvSpPr>
        <p:spPr>
          <a:xfrm>
            <a:off x="7178040" y="4617720"/>
            <a:ext cx="4465015" cy="1463040"/>
          </a:xfrm>
          <a:prstGeom prst="roundRect">
            <a:avLst>
              <a:gd name="adj" fmla="val 7500"/>
            </a:avLst>
          </a:prstGeom>
          <a:solidFill>
            <a:schemeClr val="tx1"/>
          </a:solidFill>
          <a:ln/>
          <a:effectLst>
            <a:outerShdw sx="100000" sy="100000" kx="0" ky="0" algn="bl" rotWithShape="0" blurRad="114300" dist="31750" dir="5400000">
              <a:srgbClr val="1D2433">
                <a:alpha val="12000"/>
              </a:srgbClr>
            </a:outerShdw>
          </a:effectLst>
        </p:spPr>
      </p:sp>
      <p:sp>
        <p:nvSpPr>
          <p:cNvPr id="21" name="Text 18"/>
          <p:cNvSpPr txBox="1"/>
          <p:nvPr/>
        </p:nvSpPr>
        <p:spPr>
          <a:xfrm>
            <a:off x="7452360" y="4736592"/>
            <a:ext cx="39163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Output</a:t>
            </a:r>
            <a:endParaRPr lang="en-IE" sz="1050" dirty="0"/>
          </a:p>
        </p:txBody>
      </p:sp>
      <p:sp>
        <p:nvSpPr>
          <p:cNvPr id="22" name="Output text"/>
          <p:cNvSpPr txBox="1"/>
          <p:nvPr/>
        </p:nvSpPr>
        <p:spPr>
          <a:xfrm>
            <a:off x="7452360" y="5074920"/>
            <a:ext cx="3916375" cy="822960"/>
          </a:xfrm>
          <a:prstGeom prst="rect">
            <a:avLst/>
          </a:prstGeom>
          <a:noFill/>
          <a:ln/>
        </p:spPr>
        <p:txBody>
          <a:bodyPr wrap="square" lIns="0" tIns="0" rIns="0" bIns="0" rtlCol="0" anchor="t"/>
          <a:lstStyle/>
          <a:p>
            <a:pPr indent="0" marL="0">
              <a:lnSpc>
                <a:spcPts val="1890"/>
              </a:lnSpc>
              <a:buNone/>
            </a:pPr>
            <a:r>
              <a:rPr lang="en-IE" sz="1400" dirty="0">
                <a:solidFill>
                  <a:srgbClr val="A9DB8C"/>
                </a:solidFill>
                <a:latin typeface="Consolas" pitchFamily="34" charset="0"/>
                <a:ea typeface="Consolas" pitchFamily="34" charset="-122"/>
                <a:cs typeface="Consolas" pitchFamily="34" charset="-120"/>
              </a:rPr>
              <a:t>1 Dan</a:t>
            </a:r>
            <a:endParaRPr lang="en-IE" sz="1400" dirty="0"/>
          </a:p>
          <a:p>
            <a:pPr indent="0" marL="0">
              <a:lnSpc>
                <a:spcPts val="1890"/>
              </a:lnSpc>
              <a:buNone/>
            </a:pPr>
            <a:r>
              <a:rPr lang="en-IE" sz="1400" dirty="0">
                <a:solidFill>
                  <a:srgbClr val="A9DB8C"/>
                </a:solidFill>
                <a:latin typeface="Consolas" pitchFamily="34" charset="0"/>
                <a:ea typeface="Consolas" pitchFamily="34" charset="-122"/>
                <a:cs typeface="Consolas" pitchFamily="34" charset="-120"/>
              </a:rPr>
              <a:t>2 Bob</a:t>
            </a:r>
            <a:endParaRPr lang="en-IE" sz="1400" dirty="0"/>
          </a:p>
          <a:p>
            <a:pPr indent="0" marL="0">
              <a:lnSpc>
                <a:spcPts val="1890"/>
              </a:lnSpc>
              <a:buNone/>
            </a:pPr>
            <a:r>
              <a:rPr lang="en-IE" sz="1400" dirty="0">
                <a:solidFill>
                  <a:srgbClr val="A9DB8C"/>
                </a:solidFill>
                <a:latin typeface="Consolas" pitchFamily="34" charset="0"/>
                <a:ea typeface="Consolas" pitchFamily="34" charset="-122"/>
                <a:cs typeface="Consolas" pitchFamily="34" charset="-120"/>
              </a:rPr>
              <a:t>3 Cara</a:t>
            </a:r>
            <a:endParaRPr lang="en-IE" sz="1400" dirty="0"/>
          </a:p>
          <a:p>
            <a:pPr indent="0" marL="0">
              <a:lnSpc>
                <a:spcPts val="1890"/>
              </a:lnSpc>
              <a:buNone/>
            </a:pPr>
            <a:r>
              <a:rPr lang="en-IE" sz="1400" dirty="0">
                <a:solidFill>
                  <a:srgbClr val="A9DB8C"/>
                </a:solidFill>
                <a:latin typeface="Consolas" pitchFamily="34" charset="0"/>
                <a:ea typeface="Consolas" pitchFamily="34" charset="-122"/>
                <a:cs typeface="Consolas" pitchFamily="34" charset="-120"/>
              </a:rPr>
              <a:t>5 Anne</a:t>
            </a:r>
            <a:endParaRPr lang="en-IE" sz="1400" dirty="0"/>
          </a:p>
        </p:txBody>
      </p:sp>
      <p:sp>
        <p:nvSpPr>
          <p:cNvPr id="23" name="Note"/>
          <p:cNvSpPr/>
          <p:nvPr/>
        </p:nvSpPr>
        <p:spPr>
          <a:xfrm>
            <a:off x="548640" y="5072888"/>
            <a:ext cx="6263640" cy="731520"/>
          </a:xfrm>
          <a:prstGeom prst="roundRect">
            <a:avLst>
              <a:gd name="adj" fmla="val 15000"/>
            </a:avLst>
          </a:prstGeom>
          <a:solidFill>
            <a:schemeClr val="bg2"/>
          </a:solidFill>
          <a:ln/>
        </p:spPr>
      </p:sp>
      <p:sp>
        <p:nvSpPr>
          <p:cNvPr id="24" name="Icon tile"/>
          <p:cNvSpPr/>
          <p:nvPr/>
        </p:nvSpPr>
        <p:spPr>
          <a:xfrm>
            <a:off x="822960" y="5173472"/>
            <a:ext cx="530352" cy="530352"/>
          </a:xfrm>
          <a:prstGeom prst="roundRect">
            <a:avLst>
              <a:gd name="adj" fmla="val 24000"/>
            </a:avLst>
          </a:prstGeom>
          <a:solidFill>
            <a:schemeClr val="accent2">
              <a:alpha val="14000"/>
            </a:schemeClr>
          </a:solidFill>
          <a:ln/>
        </p:spPr>
      </p:sp>
      <p:pic>
        <p:nvPicPr>
          <p:cNvPr id="25" name="info icon" descr="info icon">    </p:cNvPr>
          <p:cNvPicPr>
            <a:picLocks noChangeAspect="1"/>
          </p:cNvPicPr>
          <p:nvPr/>
        </p:nvPicPr>
        <p:blipFill>
          <a:blip r:embed="rId1"/>
          <a:stretch>
            <a:fillRect/>
          </a:stretch>
        </p:blipFill>
        <p:spPr>
          <a:xfrm>
            <a:off x="934334" y="5284846"/>
            <a:ext cx="307604" cy="307604"/>
          </a:xfrm>
          <a:prstGeom prst="rect">
            <a:avLst/>
          </a:prstGeom>
        </p:spPr>
      </p:pic>
      <p:sp>
        <p:nvSpPr>
          <p:cNvPr id="26" name="Text 22"/>
          <p:cNvSpPr txBox="1"/>
          <p:nvPr/>
        </p:nvSpPr>
        <p:spPr>
          <a:xfrm>
            <a:off x="1572768" y="5072888"/>
            <a:ext cx="4983480" cy="731520"/>
          </a:xfrm>
          <a:prstGeom prst="rect">
            <a:avLst/>
          </a:prstGeom>
          <a:noFill/>
          <a:ln/>
        </p:spPr>
        <p:txBody>
          <a:bodyPr wrap="square" lIns="0" tIns="0" rIns="0" bIns="0" rtlCol="0" anchor="ctr"/>
          <a:lstStyle/>
          <a:p>
            <a:pPr indent="0" marL="0">
              <a:buNone/>
            </a:pPr>
            <a:r>
              <a:rPr lang="en-IE" sz="1450" dirty="0">
                <a:solidFill>
                  <a:schemeClr val="tx1"/>
                </a:solidFill>
              </a:rPr>
              <a:t>For any ints, </a:t>
            </a:r>
            <a:r>
              <a:rPr lang="en-IE" sz="1450" dirty="0">
                <a:solidFill>
                  <a:schemeClr val="accent2"/>
                </a:solidFill>
                <a:latin typeface="Consolas" pitchFamily="34" charset="0"/>
                <a:ea typeface="Consolas" pitchFamily="34" charset="-122"/>
                <a:cs typeface="Consolas" pitchFamily="34" charset="-120"/>
              </a:rPr>
              <a:t>Integer.compare(this.id, other.id)</a:t>
            </a:r>
            <a:r>
              <a:rPr lang="en-IE" sz="1450" dirty="0">
                <a:solidFill>
                  <a:schemeClr val="tx1"/>
                </a:solidFill>
              </a:rPr>
              <a:t> is the safe way.</a:t>
            </a:r>
            <a:endParaRPr lang="en-IE" sz="14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64</a:t>
            </a:fld>
            <a:endParaRPr lang="en-IE"/>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19</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Comparable</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compareTo returns </a:t>
            </a:r>
            <a:r>
              <a:rPr lang="en-IE" sz="2800" b="1" dirty="0">
                <a:solidFill>
                  <a:schemeClr val="accent2"/>
                </a:solidFill>
                <a:latin typeface="Consolas" pitchFamily="34" charset="0"/>
                <a:ea typeface="Consolas" pitchFamily="34" charset="-122"/>
                <a:cs typeface="Consolas" pitchFamily="34" charset="-120"/>
              </a:rPr>
              <a:t>this.id - other.id</a:t>
            </a:r>
            <a:r>
              <a:rPr lang="en-IE" sz="2800" b="1" dirty="0">
                <a:solidFill>
                  <a:schemeClr val="tx1"/>
                </a:solidFill>
              </a:rPr>
              <a:t>. x has id 7 and y has id 3. What does </a:t>
            </a:r>
            <a:r>
              <a:rPr lang="en-IE" sz="2800" b="1" dirty="0">
                <a:solidFill>
                  <a:schemeClr val="accent2"/>
                </a:solidFill>
                <a:latin typeface="Consolas" pitchFamily="34" charset="0"/>
                <a:ea typeface="Consolas" pitchFamily="34" charset="-122"/>
                <a:cs typeface="Consolas" pitchFamily="34" charset="-120"/>
              </a:rPr>
              <a:t>x.compareTo(y)</a:t>
            </a:r>
            <a:r>
              <a:rPr lang="en-IE" sz="2800" b="1" dirty="0">
                <a:solidFill>
                  <a:schemeClr val="tx1"/>
                </a:solidFill>
              </a:rPr>
              <a:t> return, and who comes first?</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−4, and x comes first</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4, and y comes first</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4, and x comes first</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0, so the order stays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65</a:t>
            </a:fld>
            <a:endParaRPr lang="en-IE"/>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19</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Comparable</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compareTo returns </a:t>
            </a:r>
            <a:r>
              <a:rPr lang="en-IE" sz="2000" b="1" dirty="0">
                <a:solidFill>
                  <a:schemeClr val="tx2"/>
                </a:solidFill>
                <a:latin typeface="Consolas" pitchFamily="34" charset="0"/>
                <a:ea typeface="Consolas" pitchFamily="34" charset="-122"/>
                <a:cs typeface="Consolas" pitchFamily="34" charset="-120"/>
              </a:rPr>
              <a:t>this.id - other.id</a:t>
            </a:r>
            <a:r>
              <a:rPr lang="en-IE" sz="2000" b="1" dirty="0">
                <a:solidFill>
                  <a:schemeClr val="tx2"/>
                </a:solidFill>
              </a:rPr>
              <a:t>. x has id 7 and y has id 3. What does </a:t>
            </a:r>
            <a:r>
              <a:rPr lang="en-IE" sz="2000" b="1" dirty="0">
                <a:solidFill>
                  <a:schemeClr val="tx2"/>
                </a:solidFill>
                <a:latin typeface="Consolas" pitchFamily="34" charset="0"/>
                <a:ea typeface="Consolas" pitchFamily="34" charset="-122"/>
                <a:cs typeface="Consolas" pitchFamily="34" charset="-120"/>
              </a:rPr>
              <a:t>x.compareTo(y)</a:t>
            </a:r>
            <a:r>
              <a:rPr lang="en-IE" sz="2000" b="1" dirty="0">
                <a:solidFill>
                  <a:schemeClr val="tx2"/>
                </a:solidFill>
              </a:rPr>
              <a:t> return, and who comes first?</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−4, and x comes first</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4, and y comes first</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4, and x comes first</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0, so the order stays</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7 − 3 = 4, a positive number, which means x belongs after y. So </a:t>
            </a:r>
            <a:r>
              <a:rPr lang="en-IE" sz="1800" dirty="0">
                <a:solidFill>
                  <a:schemeClr val="accent2"/>
                </a:solidFill>
                <a:latin typeface="Consolas" pitchFamily="34" charset="0"/>
                <a:ea typeface="Consolas" pitchFamily="34" charset="-122"/>
                <a:cs typeface="Consolas" pitchFamily="34" charset="-120"/>
              </a:rPr>
              <a:t>Collections.sort</a:t>
            </a:r>
            <a:r>
              <a:rPr lang="en-IE" sz="1800" dirty="0">
                <a:solidFill>
                  <a:schemeClr val="tx1"/>
                </a:solidFill>
              </a:rPr>
              <a:t> puts the lower id first: y (3), then x (7).</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66</a:t>
            </a:fld>
            <a:endParaRPr lang="en-IE"/>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SORTING OBJECTS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Changing the order</a:t>
            </a:r>
            <a:endParaRPr lang="en-IE" sz="3400" dirty="0"/>
          </a:p>
        </p:txBody>
      </p:sp>
      <p:sp>
        <p:nvSpPr>
          <p:cNvPr id="5" name="Text 2"/>
          <p:cNvSpPr txBox="1"/>
          <p:nvPr/>
        </p:nvSpPr>
        <p:spPr>
          <a:xfrm>
            <a:off x="548640" y="1783080"/>
            <a:ext cx="4937760" cy="4206240"/>
          </a:xfrm>
          <a:prstGeom prst="rect">
            <a:avLst/>
          </a:prstGeom>
          <a:noFill/>
          <a:ln/>
        </p:spPr>
        <p:txBody>
          <a:bodyPr wrap="square" lIns="0" tIns="0" rIns="0" bIns="0" rtlCol="0" anchor="t"/>
          <a:lstStyle/>
          <a:p>
            <a:pPr marL="228600" indent="-228600">
              <a:spcAft>
                <a:spcPts val="1100"/>
              </a:spcAft>
              <a:buSzPct val="100000"/>
              <a:buChar char="•"/>
            </a:pPr>
            <a:r>
              <a:rPr lang="en-IE" sz="1700" dirty="0">
                <a:solidFill>
                  <a:schemeClr val="accent2"/>
                </a:solidFill>
                <a:latin typeface="Consolas" pitchFamily="34" charset="0"/>
                <a:ea typeface="Consolas" pitchFamily="34" charset="-122"/>
                <a:cs typeface="Consolas" pitchFamily="34" charset="-120"/>
              </a:rPr>
              <a:t>compareTo</a:t>
            </a:r>
            <a:r>
              <a:rPr lang="en-IE" sz="1700" dirty="0">
                <a:solidFill>
                  <a:schemeClr val="tx1"/>
                </a:solidFill>
              </a:rPr>
              <a:t> decides the order, so changing it changes how the list sorts.</a:t>
            </a:r>
            <a:endParaRPr lang="en-IE" sz="1700" dirty="0"/>
          </a:p>
          <a:p>
            <a:pPr marL="228600" indent="-228600">
              <a:spcAft>
                <a:spcPts val="1100"/>
              </a:spcAft>
              <a:buSzPct val="100000"/>
              <a:buChar char="•"/>
            </a:pPr>
            <a:r>
              <a:rPr lang="en-IE" sz="1700" dirty="0">
                <a:solidFill>
                  <a:schemeClr val="tx1"/>
                </a:solidFill>
              </a:rPr>
              <a:t>To sort by name, use String’s own </a:t>
            </a:r>
            <a:r>
              <a:rPr lang="en-IE" sz="1700" dirty="0">
                <a:solidFill>
                  <a:schemeClr val="accent2"/>
                </a:solidFill>
                <a:latin typeface="Consolas" pitchFamily="34" charset="0"/>
                <a:ea typeface="Consolas" pitchFamily="34" charset="-122"/>
                <a:cs typeface="Consolas" pitchFamily="34" charset="-120"/>
              </a:rPr>
              <a:t>compareTo</a:t>
            </a:r>
            <a:r>
              <a:rPr lang="en-IE" sz="1700" dirty="0">
                <a:solidFill>
                  <a:schemeClr val="tx1"/>
                </a:solidFill>
              </a:rPr>
              <a:t>.</a:t>
            </a:r>
            <a:endParaRPr lang="en-IE" sz="1700" dirty="0"/>
          </a:p>
          <a:p>
            <a:pPr marL="228600" indent="-228600">
              <a:spcAft>
                <a:spcPts val="1100"/>
              </a:spcAft>
              <a:buSzPct val="100000"/>
              <a:buChar char="•"/>
            </a:pPr>
            <a:r>
              <a:rPr lang="en-IE" sz="1700" dirty="0">
                <a:solidFill>
                  <a:schemeClr val="tx1"/>
                </a:solidFill>
              </a:rPr>
              <a:t>To sort by id, then by name when two ids match, compare the ids first.</a:t>
            </a:r>
            <a:endParaRPr lang="en-IE" sz="1700" dirty="0"/>
          </a:p>
          <a:p>
            <a:pPr marL="228600" indent="-228600">
              <a:buSzPct val="100000"/>
              <a:buChar char="•"/>
            </a:pPr>
            <a:r>
              <a:rPr lang="en-IE" sz="1700" dirty="0">
                <a:solidFill>
                  <a:schemeClr val="tx1"/>
                </a:solidFill>
              </a:rPr>
              <a:t>A class has only one </a:t>
            </a:r>
            <a:r>
              <a:rPr lang="en-IE" sz="1700" dirty="0">
                <a:solidFill>
                  <a:schemeClr val="accent2"/>
                </a:solidFill>
                <a:latin typeface="Consolas" pitchFamily="34" charset="0"/>
                <a:ea typeface="Consolas" pitchFamily="34" charset="-122"/>
                <a:cs typeface="Consolas" pitchFamily="34" charset="-120"/>
              </a:rPr>
              <a:t>compareTo</a:t>
            </a:r>
            <a:r>
              <a:rPr lang="en-IE" sz="1700" dirty="0">
                <a:solidFill>
                  <a:schemeClr val="tx1"/>
                </a:solidFill>
              </a:rPr>
              <a:t>, so it has one natural order.</a:t>
            </a:r>
            <a:endParaRPr lang="en-IE" sz="1700" dirty="0"/>
          </a:p>
        </p:txBody>
      </p:sp>
      <p:sp>
        <p:nvSpPr>
          <p:cNvPr id="6" name="Text 3"/>
          <p:cNvSpPr txBox="1"/>
          <p:nvPr/>
        </p:nvSpPr>
        <p:spPr>
          <a:xfrm>
            <a:off x="5806440" y="1691640"/>
            <a:ext cx="3657600" cy="292608"/>
          </a:xfrm>
          <a:prstGeom prst="rect">
            <a:avLst/>
          </a:prstGeom>
          <a:noFill/>
          <a:ln/>
        </p:spPr>
        <p:txBody>
          <a:bodyPr wrap="square" lIns="0" tIns="0" rIns="0" bIns="0" rtlCol="0" anchor="t"/>
          <a:lstStyle/>
          <a:p>
            <a:pPr indent="0" marL="0">
              <a:buNone/>
            </a:pPr>
            <a:r>
              <a:rPr lang="en-IE" sz="1350" b="1" dirty="0">
                <a:solidFill>
                  <a:schemeClr val="tx2"/>
                </a:solidFill>
              </a:rPr>
              <a:t>By name</a:t>
            </a:r>
            <a:endParaRPr lang="en-IE" sz="1350" dirty="0"/>
          </a:p>
        </p:txBody>
      </p:sp>
      <p:sp>
        <p:nvSpPr>
          <p:cNvPr id="7" name="By name card"/>
          <p:cNvSpPr/>
          <p:nvPr/>
        </p:nvSpPr>
        <p:spPr>
          <a:xfrm>
            <a:off x="5806440" y="2029968"/>
            <a:ext cx="5836615" cy="1397000"/>
          </a:xfrm>
          <a:prstGeom prst="roundRect">
            <a:avLst>
              <a:gd name="adj" fmla="val 7855"/>
            </a:avLst>
          </a:prstGeom>
          <a:solidFill>
            <a:schemeClr val="tx1"/>
          </a:solidFill>
          <a:ln/>
          <a:effectLst>
            <a:outerShdw sx="100000" sy="100000" kx="0" ky="0" algn="bl" rotWithShape="0" blurRad="114300" dist="31750" dir="5400000">
              <a:srgbClr val="1D2433">
                <a:alpha val="12000"/>
              </a:srgbClr>
            </a:outerShdw>
          </a:effectLst>
        </p:spPr>
      </p:sp>
      <p:sp>
        <p:nvSpPr>
          <p:cNvPr id="8" name="By name text"/>
          <p:cNvSpPr txBox="1"/>
          <p:nvPr/>
        </p:nvSpPr>
        <p:spPr>
          <a:xfrm>
            <a:off x="6080760" y="2231136"/>
            <a:ext cx="5287975" cy="994664"/>
          </a:xfrm>
          <a:prstGeom prst="rect">
            <a:avLst/>
          </a:prstGeom>
          <a:noFill/>
          <a:ln/>
        </p:spPr>
        <p:txBody>
          <a:bodyPr wrap="square" lIns="0" tIns="0" rIns="0" bIns="0" rtlCol="0" anchor="t"/>
          <a:lstStyle/>
          <a:p>
            <a:pPr indent="0" marL="0">
              <a:lnSpc>
                <a:spcPts val="1850"/>
              </a:lnSpc>
              <a:buNone/>
            </a:pPr>
            <a:r>
              <a:rPr lang="en-IE" sz="1400" dirty="0">
                <a:solidFill>
                  <a:srgbClr val="E8C468"/>
                </a:solidFill>
                <a:latin typeface="Consolas" pitchFamily="34" charset="0"/>
                <a:ea typeface="Consolas" pitchFamily="34" charset="-122"/>
                <a:cs typeface="Consolas" pitchFamily="34" charset="-120"/>
              </a:rPr>
              <a:t>@Override</a:t>
            </a:r>
            <a:endParaRPr lang="en-IE" sz="1400" dirty="0"/>
          </a:p>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int</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compareTo</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6CC4E8"/>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 other)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return</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this</a:t>
            </a:r>
            <a:r>
              <a:rPr lang="en-IE" sz="1400" dirty="0">
                <a:solidFill>
                  <a:srgbClr val="E6EBF2"/>
                </a:solidFill>
                <a:latin typeface="Consolas" pitchFamily="34" charset="0"/>
                <a:ea typeface="Consolas" pitchFamily="34" charset="-122"/>
                <a:cs typeface="Consolas" pitchFamily="34" charset="-120"/>
              </a:rPr>
              <a:t>.name.</a:t>
            </a:r>
            <a:r>
              <a:rPr lang="en-IE" sz="1400" dirty="0">
                <a:solidFill>
                  <a:srgbClr val="C9B0FF"/>
                </a:solidFill>
                <a:latin typeface="Consolas" pitchFamily="34" charset="0"/>
                <a:ea typeface="Consolas" pitchFamily="34" charset="-122"/>
                <a:cs typeface="Consolas" pitchFamily="34" charset="-120"/>
              </a:rPr>
              <a:t>compareTo</a:t>
            </a:r>
            <a:r>
              <a:rPr lang="en-IE" sz="1400" dirty="0">
                <a:solidFill>
                  <a:srgbClr val="E6EBF2"/>
                </a:solidFill>
                <a:latin typeface="Consolas" pitchFamily="34" charset="0"/>
                <a:ea typeface="Consolas" pitchFamily="34" charset="-122"/>
                <a:cs typeface="Consolas" pitchFamily="34" charset="-120"/>
              </a:rPr>
              <a:t>(other.name);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9" name="Text 6"/>
          <p:cNvSpPr txBox="1"/>
          <p:nvPr/>
        </p:nvSpPr>
        <p:spPr>
          <a:xfrm>
            <a:off x="5806440" y="3838448"/>
            <a:ext cx="5486400" cy="292608"/>
          </a:xfrm>
          <a:prstGeom prst="rect">
            <a:avLst/>
          </a:prstGeom>
          <a:noFill/>
          <a:ln/>
        </p:spPr>
        <p:txBody>
          <a:bodyPr wrap="square" lIns="0" tIns="0" rIns="0" bIns="0" rtlCol="0" anchor="t"/>
          <a:lstStyle/>
          <a:p>
            <a:pPr indent="0" marL="0">
              <a:buNone/>
            </a:pPr>
            <a:r>
              <a:rPr lang="en-IE" sz="1350" b="1" dirty="0">
                <a:solidFill>
                  <a:schemeClr val="tx2"/>
                </a:solidFill>
              </a:rPr>
              <a:t>By id, then by name when the ids match</a:t>
            </a:r>
            <a:endParaRPr lang="en-IE" sz="1350" dirty="0"/>
          </a:p>
        </p:txBody>
      </p:sp>
      <p:sp>
        <p:nvSpPr>
          <p:cNvPr id="10" name="By id then name card"/>
          <p:cNvSpPr/>
          <p:nvPr/>
        </p:nvSpPr>
        <p:spPr>
          <a:xfrm>
            <a:off x="5806440" y="4176776"/>
            <a:ext cx="5836615" cy="2101850"/>
          </a:xfrm>
          <a:prstGeom prst="roundRect">
            <a:avLst>
              <a:gd name="adj" fmla="val 5221"/>
            </a:avLst>
          </a:prstGeom>
          <a:solidFill>
            <a:schemeClr val="tx1"/>
          </a:solidFill>
          <a:ln/>
          <a:effectLst>
            <a:outerShdw sx="100000" sy="100000" kx="0" ky="0" algn="bl" rotWithShape="0" blurRad="114300" dist="31750" dir="5400000">
              <a:srgbClr val="1D2433">
                <a:alpha val="12000"/>
              </a:srgbClr>
            </a:outerShdw>
          </a:effectLst>
        </p:spPr>
      </p:sp>
      <p:sp>
        <p:nvSpPr>
          <p:cNvPr id="11" name="By id then name text"/>
          <p:cNvSpPr txBox="1"/>
          <p:nvPr/>
        </p:nvSpPr>
        <p:spPr>
          <a:xfrm>
            <a:off x="6080760" y="4377944"/>
            <a:ext cx="5287975" cy="1699514"/>
          </a:xfrm>
          <a:prstGeom prst="rect">
            <a:avLst/>
          </a:prstGeom>
          <a:noFill/>
          <a:ln/>
        </p:spPr>
        <p:txBody>
          <a:bodyPr wrap="square" lIns="0" tIns="0" rIns="0" bIns="0" rtlCol="0" anchor="t"/>
          <a:lstStyle/>
          <a:p>
            <a:pPr indent="0" marL="0">
              <a:lnSpc>
                <a:spcPts val="1850"/>
              </a:lnSpc>
              <a:buNone/>
            </a:pPr>
            <a:r>
              <a:rPr lang="en-IE" sz="1400" dirty="0">
                <a:solidFill>
                  <a:srgbClr val="E8C468"/>
                </a:solidFill>
                <a:latin typeface="Consolas" pitchFamily="34" charset="0"/>
                <a:ea typeface="Consolas" pitchFamily="34" charset="-122"/>
                <a:cs typeface="Consolas" pitchFamily="34" charset="-120"/>
              </a:rPr>
              <a:t>@Override</a:t>
            </a:r>
            <a:endParaRPr lang="en-IE" sz="1400" dirty="0"/>
          </a:p>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int</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compareTo</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6CC4E8"/>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 other)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if</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this</a:t>
            </a:r>
            <a:r>
              <a:rPr lang="en-IE" sz="1400" dirty="0">
                <a:solidFill>
                  <a:srgbClr val="E6EBF2"/>
                </a:solidFill>
                <a:latin typeface="Consolas" pitchFamily="34" charset="0"/>
                <a:ea typeface="Consolas" pitchFamily="34" charset="-122"/>
                <a:cs typeface="Consolas" pitchFamily="34" charset="-120"/>
              </a:rPr>
              <a:t>.id != other.id)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return</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this</a:t>
            </a:r>
            <a:r>
              <a:rPr lang="en-IE" sz="1400" dirty="0">
                <a:solidFill>
                  <a:srgbClr val="E6EBF2"/>
                </a:solidFill>
                <a:latin typeface="Consolas" pitchFamily="34" charset="0"/>
                <a:ea typeface="Consolas" pitchFamily="34" charset="-122"/>
                <a:cs typeface="Consolas" pitchFamily="34" charset="-120"/>
              </a:rPr>
              <a:t>.id - other.id;</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return</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this</a:t>
            </a:r>
            <a:r>
              <a:rPr lang="en-IE" sz="1400" dirty="0">
                <a:solidFill>
                  <a:srgbClr val="E6EBF2"/>
                </a:solidFill>
                <a:latin typeface="Consolas" pitchFamily="34" charset="0"/>
                <a:ea typeface="Consolas" pitchFamily="34" charset="-122"/>
                <a:cs typeface="Consolas" pitchFamily="34" charset="-120"/>
              </a:rPr>
              <a:t>.name.</a:t>
            </a:r>
            <a:r>
              <a:rPr lang="en-IE" sz="1400" dirty="0">
                <a:solidFill>
                  <a:srgbClr val="C9B0FF"/>
                </a:solidFill>
                <a:latin typeface="Consolas" pitchFamily="34" charset="0"/>
                <a:ea typeface="Consolas" pitchFamily="34" charset="-122"/>
                <a:cs typeface="Consolas" pitchFamily="34" charset="-120"/>
              </a:rPr>
              <a:t>compareTo</a:t>
            </a:r>
            <a:r>
              <a:rPr lang="en-IE" sz="1400" dirty="0">
                <a:solidFill>
                  <a:srgbClr val="E6EBF2"/>
                </a:solidFill>
                <a:latin typeface="Consolas" pitchFamily="34" charset="0"/>
                <a:ea typeface="Consolas" pitchFamily="34" charset="-122"/>
                <a:cs typeface="Consolas" pitchFamily="34" charset="-120"/>
              </a:rPr>
              <a:t>(other.name);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67</a:t>
            </a:fld>
            <a:endParaRPr lang="en-IE"/>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20</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Comparable</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compareTo sorts students from the highest id to the lowest?</a:t>
            </a:r>
            <a:endParaRPr lang="en-IE"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return this.id - other.id;</a:t>
            </a:r>
            <a:endParaRPr lang="en-IE"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return this.id + other.id;</a:t>
            </a:r>
            <a:endParaRPr lang="en-IE"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return other.id - this.id;</a:t>
            </a:r>
            <a:endParaRPr lang="en-IE"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return this.id == other.id;</a:t>
            </a:r>
            <a:endParaRPr lang="en-IE"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68</a:t>
            </a:fld>
            <a:endParaRPr lang="en-IE"/>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20</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Comparable</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compareTo sorts students from the highest id to the lowest?</a:t>
            </a:r>
            <a:endParaRPr lang="en-IE"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return this.id - other.id;</a:t>
            </a:r>
            <a:endParaRPr lang="en-IE" sz="1700" dirty="0"/>
          </a:p>
        </p:txBody>
      </p:sp>
      <p:sp>
        <p:nvSpPr>
          <p:cNvPr id="8"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return this.id + other.id;</a:t>
            </a:r>
            <a:endParaRPr lang="en-IE" sz="1700" dirty="0"/>
          </a:p>
        </p:txBody>
      </p:sp>
      <p:sp>
        <p:nvSpPr>
          <p:cNvPr id="11" name="Option C (correct)"/>
          <p:cNvSpPr/>
          <p:nvPr/>
        </p:nvSpPr>
        <p:spPr>
          <a:xfrm>
            <a:off x="548640" y="3236976"/>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3192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236976"/>
            <a:ext cx="9613087" cy="585216"/>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return other.id - this.id;</a:t>
            </a:r>
            <a:endParaRPr lang="en-IE" sz="1700" dirty="0"/>
          </a:p>
        </p:txBody>
      </p:sp>
      <p:pic>
        <p:nvPicPr>
          <p:cNvPr id="14" name="Correct mark" descr="Correct mark">    </p:cNvPr>
          <p:cNvPicPr>
            <a:picLocks noChangeAspect="1"/>
          </p:cNvPicPr>
          <p:nvPr/>
        </p:nvPicPr>
        <p:blipFill>
          <a:blip r:embed="rId1"/>
          <a:stretch>
            <a:fillRect/>
          </a:stretch>
        </p:blipFill>
        <p:spPr>
          <a:xfrm>
            <a:off x="11094415" y="3346704"/>
            <a:ext cx="365760" cy="365760"/>
          </a:xfrm>
          <a:prstGeom prst="rect">
            <a:avLst/>
          </a:prstGeom>
        </p:spPr>
      </p:pic>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return this.id == other.id;</a:t>
            </a:r>
            <a:endParaRPr lang="en-IE"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indent="0" marL="0">
              <a:buNone/>
            </a:pPr>
            <a:r>
              <a:rPr lang="en-IE" sz="1600" dirty="0">
                <a:solidFill>
                  <a:schemeClr val="tx1"/>
                </a:solidFill>
              </a:rPr>
              <a:t>Swapping the two ids flips every result, so the higher id now counts as the smaller one and comes first. A sorts lowest first, B doesn’t say which is smaller, and D returns a boolean, so it won’t compile.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69</a:t>
            </a:fld>
            <a:endParaRPr lang="en-IE"/>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SORTING OBJECTS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Comparator: an order from outside the class</a:t>
            </a:r>
            <a:endParaRPr lang="en-IE" sz="3400" dirty="0"/>
          </a:p>
        </p:txBody>
      </p:sp>
      <p:sp>
        <p:nvSpPr>
          <p:cNvPr id="5" name="Text 2"/>
          <p:cNvSpPr txBox="1"/>
          <p:nvPr/>
        </p:nvSpPr>
        <p:spPr>
          <a:xfrm>
            <a:off x="548640" y="1783080"/>
            <a:ext cx="4937760" cy="4206240"/>
          </a:xfrm>
          <a:prstGeom prst="rect">
            <a:avLst/>
          </a:prstGeom>
          <a:noFill/>
          <a:ln/>
        </p:spPr>
        <p:txBody>
          <a:bodyPr wrap="square" lIns="0" tIns="0" rIns="0" bIns="0" rtlCol="0" anchor="t"/>
          <a:lstStyle/>
          <a:p>
            <a:pPr marL="228600" indent="-228600">
              <a:spcAft>
                <a:spcPts val="1100"/>
              </a:spcAft>
              <a:buSzPct val="100000"/>
              <a:buChar char="•"/>
            </a:pPr>
            <a:r>
              <a:rPr lang="en-IE" sz="1700" dirty="0">
                <a:solidFill>
                  <a:schemeClr val="tx1"/>
                </a:solidFill>
              </a:rPr>
              <a:t>A Comparator is a separate object that compares two Students. Student itself doesn’t change.</a:t>
            </a:r>
            <a:endParaRPr lang="en-IE" sz="1700" dirty="0"/>
          </a:p>
          <a:p>
            <a:pPr marL="228600" indent="-228600">
              <a:spcAft>
                <a:spcPts val="1100"/>
              </a:spcAft>
              <a:buSzPct val="100000"/>
              <a:buChar char="•"/>
            </a:pPr>
            <a:r>
              <a:rPr lang="en-IE" sz="1700" dirty="0">
                <a:solidFill>
                  <a:schemeClr val="accent2"/>
                </a:solidFill>
                <a:latin typeface="Consolas" pitchFamily="34" charset="0"/>
                <a:ea typeface="Consolas" pitchFamily="34" charset="-122"/>
                <a:cs typeface="Consolas" pitchFamily="34" charset="-120"/>
              </a:rPr>
              <a:t>Comparator.comparing</a:t>
            </a:r>
            <a:r>
              <a:rPr lang="en-IE" sz="1700" dirty="0">
                <a:solidFill>
                  <a:schemeClr val="tx1"/>
                </a:solidFill>
              </a:rPr>
              <a:t> builds one from a getter.</a:t>
            </a:r>
            <a:endParaRPr lang="en-IE" sz="1700" dirty="0"/>
          </a:p>
          <a:p>
            <a:pPr marL="228600" indent="-228600">
              <a:spcAft>
                <a:spcPts val="1100"/>
              </a:spcAft>
              <a:buSzPct val="100000"/>
              <a:buChar char="•"/>
            </a:pPr>
            <a:r>
              <a:rPr lang="en-IE" sz="1700" dirty="0">
                <a:solidFill>
                  <a:schemeClr val="tx1"/>
                </a:solidFill>
              </a:rPr>
              <a:t>We pass it to </a:t>
            </a:r>
            <a:r>
              <a:rPr lang="en-IE" sz="1700" dirty="0">
                <a:solidFill>
                  <a:schemeClr val="accent2"/>
                </a:solidFill>
                <a:latin typeface="Consolas" pitchFamily="34" charset="0"/>
                <a:ea typeface="Consolas" pitchFamily="34" charset="-122"/>
                <a:cs typeface="Consolas" pitchFamily="34" charset="-120"/>
              </a:rPr>
              <a:t>Collections.sort</a:t>
            </a:r>
            <a:r>
              <a:rPr lang="en-IE" sz="1700" dirty="0">
                <a:solidFill>
                  <a:schemeClr val="tx1"/>
                </a:solidFill>
              </a:rPr>
              <a:t> as a second argument.</a:t>
            </a:r>
            <a:endParaRPr lang="en-IE" sz="1700" dirty="0"/>
          </a:p>
          <a:p>
            <a:pPr marL="228600" indent="-228600">
              <a:buSzPct val="100000"/>
              <a:buChar char="•"/>
            </a:pPr>
            <a:r>
              <a:rPr lang="en-IE" sz="1700" dirty="0">
                <a:solidFill>
                  <a:schemeClr val="tx1"/>
                </a:solidFill>
              </a:rPr>
              <a:t>It’s in java.util, so we import java.util.Comparator.</a:t>
            </a:r>
            <a:endParaRPr lang="en-IE" sz="1700" dirty="0"/>
          </a:p>
        </p:txBody>
      </p:sp>
      <p:sp>
        <p:nvSpPr>
          <p:cNvPr id="6" name="Comparator card"/>
          <p:cNvSpPr/>
          <p:nvPr/>
        </p:nvSpPr>
        <p:spPr>
          <a:xfrm>
            <a:off x="5806440" y="1691640"/>
            <a:ext cx="5836615" cy="1477518"/>
          </a:xfrm>
          <a:prstGeom prst="roundRect">
            <a:avLst>
              <a:gd name="adj" fmla="val 7427"/>
            </a:avLst>
          </a:prstGeom>
          <a:solidFill>
            <a:schemeClr val="tx1"/>
          </a:solidFill>
          <a:ln/>
          <a:effectLst>
            <a:outerShdw sx="100000" sy="100000" kx="0" ky="0" algn="bl" rotWithShape="0" blurRad="114300" dist="31750" dir="5400000">
              <a:srgbClr val="1D2433">
                <a:alpha val="12000"/>
              </a:srgbClr>
            </a:outerShdw>
          </a:effectLst>
        </p:spPr>
      </p:sp>
      <p:sp>
        <p:nvSpPr>
          <p:cNvPr id="7" name="Comparator language"/>
          <p:cNvSpPr txBox="1"/>
          <p:nvPr/>
        </p:nvSpPr>
        <p:spPr>
          <a:xfrm>
            <a:off x="6080760" y="1810512"/>
            <a:ext cx="52879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Comparator text"/>
          <p:cNvSpPr txBox="1"/>
          <p:nvPr/>
        </p:nvSpPr>
        <p:spPr>
          <a:xfrm>
            <a:off x="6080760" y="2185416"/>
            <a:ext cx="5287975" cy="782574"/>
          </a:xfrm>
          <a:prstGeom prst="rect">
            <a:avLst/>
          </a:prstGeom>
          <a:noFill/>
          <a:ln/>
        </p:spPr>
        <p:txBody>
          <a:bodyPr wrap="square" lIns="0" tIns="0" rIns="0" bIns="0" rtlCol="0" anchor="t"/>
          <a:lstStyle/>
          <a:p>
            <a:pPr indent="0" marL="0">
              <a:lnSpc>
                <a:spcPts val="1910"/>
              </a:lnSpc>
              <a:buNone/>
            </a:pPr>
            <a:r>
              <a:rPr lang="en-IE" sz="1450" dirty="0">
                <a:solidFill>
                  <a:srgbClr val="6CC4E8"/>
                </a:solidFill>
                <a:latin typeface="Consolas" pitchFamily="34" charset="0"/>
                <a:ea typeface="Consolas" pitchFamily="34" charset="-122"/>
                <a:cs typeface="Consolas" pitchFamily="34" charset="-120"/>
              </a:rPr>
              <a:t>Comparator</a:t>
            </a:r>
            <a:r>
              <a:rPr lang="en-IE" sz="1450" dirty="0">
                <a:solidFill>
                  <a:srgbClr val="E6EBF2"/>
                </a:solidFill>
                <a:latin typeface="Consolas" pitchFamily="34" charset="0"/>
                <a:ea typeface="Consolas" pitchFamily="34" charset="-122"/>
                <a:cs typeface="Consolas" pitchFamily="34" charset="-120"/>
              </a:rPr>
              <a:t>&lt;Student&gt; byName =</a:t>
            </a:r>
            <a:endParaRPr lang="en-IE" sz="1450" dirty="0"/>
          </a:p>
          <a:p>
            <a:pPr indent="0" marL="0">
              <a:lnSpc>
                <a:spcPts val="1910"/>
              </a:lnSpc>
              <a:buNone/>
            </a:pPr>
            <a:r>
              <a:rPr lang="en-IE" sz="1450" dirty="0">
                <a:solidFill>
                  <a:srgbClr val="E6EBF2"/>
                </a:solidFill>
                <a:latin typeface="Consolas" pitchFamily="34" charset="0"/>
                <a:ea typeface="Consolas" pitchFamily="34" charset="-122"/>
                <a:cs typeface="Consolas" pitchFamily="34" charset="-120"/>
              </a:rPr>
              <a:t>        </a:t>
            </a:r>
            <a:r>
              <a:rPr lang="en-IE" sz="1450" dirty="0">
                <a:solidFill>
                  <a:srgbClr val="6CC4E8"/>
                </a:solidFill>
                <a:latin typeface="Consolas" pitchFamily="34" charset="0"/>
                <a:ea typeface="Consolas" pitchFamily="34" charset="-122"/>
                <a:cs typeface="Consolas" pitchFamily="34" charset="-120"/>
              </a:rPr>
              <a:t>Comparator</a:t>
            </a:r>
            <a:r>
              <a:rPr lang="en-IE" sz="1450" dirty="0">
                <a:solidFill>
                  <a:srgbClr val="E6EBF2"/>
                </a:solidFill>
                <a:latin typeface="Consolas" pitchFamily="34" charset="0"/>
                <a:ea typeface="Consolas" pitchFamily="34" charset="-122"/>
                <a:cs typeface="Consolas" pitchFamily="34" charset="-120"/>
              </a:rPr>
              <a:t>.</a:t>
            </a:r>
            <a:r>
              <a:rPr lang="en-IE" sz="1450" dirty="0">
                <a:solidFill>
                  <a:srgbClr val="C9B0FF"/>
                </a:solidFill>
                <a:latin typeface="Consolas" pitchFamily="34" charset="0"/>
                <a:ea typeface="Consolas" pitchFamily="34" charset="-122"/>
                <a:cs typeface="Consolas" pitchFamily="34" charset="-120"/>
              </a:rPr>
              <a:t>comparing</a:t>
            </a:r>
            <a:r>
              <a:rPr lang="en-IE" sz="1450" dirty="0">
                <a:solidFill>
                  <a:srgbClr val="E6EBF2"/>
                </a:solidFill>
                <a:latin typeface="Consolas" pitchFamily="34" charset="0"/>
                <a:ea typeface="Consolas" pitchFamily="34" charset="-122"/>
                <a:cs typeface="Consolas" pitchFamily="34" charset="-120"/>
              </a:rPr>
              <a:t>(</a:t>
            </a:r>
            <a:r>
              <a:rPr lang="en-IE" sz="1450" dirty="0">
                <a:solidFill>
                  <a:srgbClr val="6CC4E8"/>
                </a:solidFill>
                <a:latin typeface="Consolas" pitchFamily="34" charset="0"/>
                <a:ea typeface="Consolas" pitchFamily="34" charset="-122"/>
                <a:cs typeface="Consolas" pitchFamily="34" charset="-120"/>
              </a:rPr>
              <a:t>Student</a:t>
            </a:r>
            <a:r>
              <a:rPr lang="en-IE" sz="1450" dirty="0">
                <a:solidFill>
                  <a:srgbClr val="E6EBF2"/>
                </a:solidFill>
                <a:latin typeface="Consolas" pitchFamily="34" charset="0"/>
                <a:ea typeface="Consolas" pitchFamily="34" charset="-122"/>
                <a:cs typeface="Consolas" pitchFamily="34" charset="-120"/>
              </a:rPr>
              <a:t>::getName);</a:t>
            </a:r>
            <a:endParaRPr lang="en-IE" sz="1450" dirty="0"/>
          </a:p>
          <a:p>
            <a:pPr indent="0" marL="0">
              <a:lnSpc>
                <a:spcPts val="1910"/>
              </a:lnSpc>
              <a:buNone/>
            </a:pPr>
            <a:r>
              <a:rPr lang="en-IE" sz="1450" dirty="0">
                <a:solidFill>
                  <a:srgbClr val="6CC4E8"/>
                </a:solidFill>
                <a:latin typeface="Consolas" pitchFamily="34" charset="0"/>
                <a:ea typeface="Consolas" pitchFamily="34" charset="-122"/>
                <a:cs typeface="Consolas" pitchFamily="34" charset="-120"/>
              </a:rPr>
              <a:t>Collections</a:t>
            </a:r>
            <a:r>
              <a:rPr lang="en-IE" sz="1450" dirty="0">
                <a:solidFill>
                  <a:srgbClr val="E6EBF2"/>
                </a:solidFill>
                <a:latin typeface="Consolas" pitchFamily="34" charset="0"/>
                <a:ea typeface="Consolas" pitchFamily="34" charset="-122"/>
                <a:cs typeface="Consolas" pitchFamily="34" charset="-120"/>
              </a:rPr>
              <a:t>.</a:t>
            </a:r>
            <a:r>
              <a:rPr lang="en-IE" sz="1450" dirty="0">
                <a:solidFill>
                  <a:srgbClr val="C9B0FF"/>
                </a:solidFill>
                <a:latin typeface="Consolas" pitchFamily="34" charset="0"/>
                <a:ea typeface="Consolas" pitchFamily="34" charset="-122"/>
                <a:cs typeface="Consolas" pitchFamily="34" charset="-120"/>
              </a:rPr>
              <a:t>sort</a:t>
            </a:r>
            <a:r>
              <a:rPr lang="en-IE" sz="1450" dirty="0">
                <a:solidFill>
                  <a:srgbClr val="E6EBF2"/>
                </a:solidFill>
                <a:latin typeface="Consolas" pitchFamily="34" charset="0"/>
                <a:ea typeface="Consolas" pitchFamily="34" charset="-122"/>
                <a:cs typeface="Consolas" pitchFamily="34" charset="-120"/>
              </a:rPr>
              <a:t>(students, byName);</a:t>
            </a:r>
            <a:endParaRPr lang="en-IE" sz="1450" dirty="0"/>
          </a:p>
        </p:txBody>
      </p:sp>
      <p:sp>
        <p:nvSpPr>
          <p:cNvPr id="9" name="Text 6"/>
          <p:cNvSpPr txBox="1"/>
          <p:nvPr/>
        </p:nvSpPr>
        <p:spPr>
          <a:xfrm>
            <a:off x="5806440" y="3337560"/>
            <a:ext cx="5760720" cy="292608"/>
          </a:xfrm>
          <a:prstGeom prst="rect">
            <a:avLst/>
          </a:prstGeom>
          <a:noFill/>
          <a:ln/>
        </p:spPr>
        <p:txBody>
          <a:bodyPr wrap="square" lIns="0" tIns="0" rIns="0" bIns="0" rtlCol="0" anchor="t"/>
          <a:lstStyle/>
          <a:p>
            <a:pPr indent="0" marL="0">
              <a:buNone/>
            </a:pPr>
            <a:r>
              <a:rPr lang="en-IE" sz="1350" b="1" dirty="0">
                <a:solidFill>
                  <a:schemeClr val="tx2"/>
                </a:solidFill>
              </a:rPr>
              <a:t>Inside the brackets: a method reference</a:t>
            </a:r>
            <a:endParaRPr lang="en-IE" sz="1350" dirty="0"/>
          </a:p>
        </p:txBody>
      </p:sp>
      <p:sp>
        <p:nvSpPr>
          <p:cNvPr id="10" name="Part: the class"/>
          <p:cNvSpPr/>
          <p:nvPr/>
        </p:nvSpPr>
        <p:spPr>
          <a:xfrm>
            <a:off x="5989320" y="3749040"/>
            <a:ext cx="1633220" cy="658368"/>
          </a:xfrm>
          <a:prstGeom prst="roundRect">
            <a:avLst>
              <a:gd name="adj" fmla="val 16667"/>
            </a:avLst>
          </a:prstGeom>
          <a:solidFill>
            <a:schemeClr val="accent2">
              <a:alpha val="14000"/>
            </a:schemeClr>
          </a:solidFill>
          <a:ln w="19050">
            <a:solidFill>
              <a:schemeClr val="accent2"/>
            </a:solidFill>
          </a:ln>
        </p:spPr>
        <p:txBody>
          <a:bodyPr wrap="square" lIns="0" tIns="0" rIns="0" bIns="0" rtlCol="0" anchor="ctr"/>
          <a:lstStyle/>
          <a:p>
            <a:pPr algn="ctr" indent="0" marL="0">
              <a:buNone/>
            </a:pPr>
            <a:r>
              <a:rPr lang="en-IE" sz="2000" b="1" dirty="0">
                <a:solidFill>
                  <a:schemeClr val="tx1"/>
                </a:solidFill>
                <a:latin typeface="Consolas" pitchFamily="34" charset="0"/>
                <a:ea typeface="Consolas" pitchFamily="34" charset="-122"/>
                <a:cs typeface="Consolas" pitchFamily="34" charset="-120"/>
              </a:rPr>
              <a:t>Student</a:t>
            </a:r>
            <a:endParaRPr lang="en-IE" sz="2000" dirty="0"/>
          </a:p>
        </p:txBody>
      </p:sp>
      <p:sp>
        <p:nvSpPr>
          <p:cNvPr id="11" name="Connector"/>
          <p:cNvSpPr/>
          <p:nvPr/>
        </p:nvSpPr>
        <p:spPr>
          <a:xfrm>
            <a:off x="6805930" y="4453128"/>
            <a:ext cx="0" cy="301752"/>
          </a:xfrm>
          <a:prstGeom prst="line">
            <a:avLst/>
          </a:prstGeom>
          <a:noFill/>
          <a:ln w="19050">
            <a:solidFill>
              <a:schemeClr val="accent2"/>
            </a:solidFill>
            <a:prstDash val="solid"/>
          </a:ln>
        </p:spPr>
      </p:sp>
      <p:sp>
        <p:nvSpPr>
          <p:cNvPr id="12" name="Text 9"/>
          <p:cNvSpPr txBox="1"/>
          <p:nvPr/>
        </p:nvSpPr>
        <p:spPr>
          <a:xfrm>
            <a:off x="5897880" y="4800600"/>
            <a:ext cx="1816100" cy="329184"/>
          </a:xfrm>
          <a:prstGeom prst="rect">
            <a:avLst/>
          </a:prstGeom>
          <a:noFill/>
          <a:ln/>
        </p:spPr>
        <p:txBody>
          <a:bodyPr wrap="square" lIns="0" tIns="0" rIns="0" bIns="0" rtlCol="0" anchor="t"/>
          <a:lstStyle/>
          <a:p>
            <a:pPr algn="ctr" indent="0" marL="0">
              <a:buNone/>
            </a:pPr>
            <a:r>
              <a:rPr lang="en-IE" sz="1600" b="1" dirty="0">
                <a:solidFill>
                  <a:schemeClr val="tx1"/>
                </a:solidFill>
              </a:rPr>
              <a:t>the class</a:t>
            </a:r>
            <a:endParaRPr lang="en-IE" sz="1600" dirty="0"/>
          </a:p>
        </p:txBody>
      </p:sp>
      <p:sp>
        <p:nvSpPr>
          <p:cNvPr id="13" name="Text 10"/>
          <p:cNvSpPr txBox="1"/>
          <p:nvPr/>
        </p:nvSpPr>
        <p:spPr>
          <a:xfrm>
            <a:off x="5897880" y="5138928"/>
            <a:ext cx="1816100" cy="566928"/>
          </a:xfrm>
          <a:prstGeom prst="rect">
            <a:avLst/>
          </a:prstGeom>
          <a:noFill/>
          <a:ln/>
        </p:spPr>
        <p:txBody>
          <a:bodyPr wrap="square" lIns="0" tIns="0" rIns="0" bIns="0" rtlCol="0" anchor="t"/>
          <a:lstStyle/>
          <a:p>
            <a:pPr algn="ctr" indent="0" marL="0">
              <a:buNone/>
            </a:pPr>
            <a:r>
              <a:rPr lang="en-IE" sz="1300" dirty="0">
                <a:solidFill>
                  <a:schemeClr val="tx2"/>
                </a:solidFill>
              </a:rPr>
              <a:t>where the method is</a:t>
            </a:r>
            <a:endParaRPr lang="en-IE" sz="1300" dirty="0"/>
          </a:p>
        </p:txBody>
      </p:sp>
      <p:sp>
        <p:nvSpPr>
          <p:cNvPr id="14" name="Part: method reference"/>
          <p:cNvSpPr/>
          <p:nvPr/>
        </p:nvSpPr>
        <p:spPr>
          <a:xfrm>
            <a:off x="7896860" y="3749040"/>
            <a:ext cx="858520" cy="658368"/>
          </a:xfrm>
          <a:prstGeom prst="roundRect">
            <a:avLst>
              <a:gd name="adj" fmla="val 16667"/>
            </a:avLst>
          </a:prstGeom>
          <a:solidFill>
            <a:schemeClr val="accent1">
              <a:alpha val="14000"/>
            </a:schemeClr>
          </a:solidFill>
          <a:ln w="19050">
            <a:solidFill>
              <a:schemeClr val="accent1"/>
            </a:solidFill>
          </a:ln>
        </p:spPr>
        <p:txBody>
          <a:bodyPr wrap="square" lIns="0" tIns="0" rIns="0" bIns="0" rtlCol="0" anchor="ctr"/>
          <a:lstStyle/>
          <a:p>
            <a:pPr algn="ctr" indent="0" marL="0">
              <a:buNone/>
            </a:pPr>
            <a:r>
              <a:rPr lang="en-IE" sz="2000" b="1" dirty="0">
                <a:solidFill>
                  <a:schemeClr val="tx1"/>
                </a:solidFill>
                <a:latin typeface="Consolas" pitchFamily="34" charset="0"/>
                <a:ea typeface="Consolas" pitchFamily="34" charset="-122"/>
                <a:cs typeface="Consolas" pitchFamily="34" charset="-120"/>
              </a:rPr>
              <a:t>::</a:t>
            </a:r>
            <a:endParaRPr lang="en-IE" sz="2000" dirty="0"/>
          </a:p>
        </p:txBody>
      </p:sp>
      <p:sp>
        <p:nvSpPr>
          <p:cNvPr id="15" name="Connector"/>
          <p:cNvSpPr/>
          <p:nvPr/>
        </p:nvSpPr>
        <p:spPr>
          <a:xfrm>
            <a:off x="8326120" y="4453128"/>
            <a:ext cx="0" cy="301752"/>
          </a:xfrm>
          <a:prstGeom prst="line">
            <a:avLst/>
          </a:prstGeom>
          <a:noFill/>
          <a:ln w="19050">
            <a:solidFill>
              <a:schemeClr val="accent1"/>
            </a:solidFill>
            <a:prstDash val="solid"/>
          </a:ln>
        </p:spPr>
      </p:sp>
      <p:sp>
        <p:nvSpPr>
          <p:cNvPr id="16" name="Text 13"/>
          <p:cNvSpPr txBox="1"/>
          <p:nvPr/>
        </p:nvSpPr>
        <p:spPr>
          <a:xfrm>
            <a:off x="7503160" y="4800600"/>
            <a:ext cx="1645920" cy="329184"/>
          </a:xfrm>
          <a:prstGeom prst="rect">
            <a:avLst/>
          </a:prstGeom>
          <a:noFill/>
          <a:ln/>
        </p:spPr>
        <p:txBody>
          <a:bodyPr wrap="square" lIns="0" tIns="0" rIns="0" bIns="0" rtlCol="0" anchor="t"/>
          <a:lstStyle/>
          <a:p>
            <a:pPr algn="ctr" indent="0" marL="0">
              <a:buNone/>
            </a:pPr>
            <a:r>
              <a:rPr lang="en-IE" sz="1600" b="1" dirty="0">
                <a:solidFill>
                  <a:schemeClr val="tx1"/>
                </a:solidFill>
              </a:rPr>
              <a:t>method reference</a:t>
            </a:r>
            <a:endParaRPr lang="en-IE" sz="1600" dirty="0"/>
          </a:p>
        </p:txBody>
      </p:sp>
      <p:sp>
        <p:nvSpPr>
          <p:cNvPr id="17" name="Text 14"/>
          <p:cNvSpPr txBox="1"/>
          <p:nvPr/>
        </p:nvSpPr>
        <p:spPr>
          <a:xfrm>
            <a:off x="7503160" y="5138928"/>
            <a:ext cx="1645920" cy="566928"/>
          </a:xfrm>
          <a:prstGeom prst="rect">
            <a:avLst/>
          </a:prstGeom>
          <a:noFill/>
          <a:ln/>
        </p:spPr>
        <p:txBody>
          <a:bodyPr wrap="square" lIns="0" tIns="0" rIns="0" bIns="0" rtlCol="0" anchor="t"/>
          <a:lstStyle/>
          <a:p>
            <a:pPr algn="ctr" indent="0" marL="0">
              <a:buNone/>
            </a:pPr>
            <a:r>
              <a:rPr lang="en-IE" sz="1300" dirty="0">
                <a:solidFill>
                  <a:schemeClr val="tx2"/>
                </a:solidFill>
              </a:rPr>
              <a:t>points to a method</a:t>
            </a:r>
            <a:endParaRPr lang="en-IE" sz="1300" dirty="0"/>
          </a:p>
        </p:txBody>
      </p:sp>
      <p:sp>
        <p:nvSpPr>
          <p:cNvPr id="18" name="Part: the method"/>
          <p:cNvSpPr/>
          <p:nvPr/>
        </p:nvSpPr>
        <p:spPr>
          <a:xfrm>
            <a:off x="9029700" y="3749040"/>
            <a:ext cx="1633220" cy="658368"/>
          </a:xfrm>
          <a:prstGeom prst="roundRect">
            <a:avLst>
              <a:gd name="adj" fmla="val 16667"/>
            </a:avLst>
          </a:prstGeom>
          <a:solidFill>
            <a:schemeClr val="accent3">
              <a:alpha val="14000"/>
            </a:schemeClr>
          </a:solidFill>
          <a:ln w="19050">
            <a:solidFill>
              <a:schemeClr val="accent3"/>
            </a:solidFill>
          </a:ln>
        </p:spPr>
        <p:txBody>
          <a:bodyPr wrap="square" lIns="0" tIns="0" rIns="0" bIns="0" rtlCol="0" anchor="ctr"/>
          <a:lstStyle/>
          <a:p>
            <a:pPr algn="ctr" indent="0" marL="0">
              <a:buNone/>
            </a:pPr>
            <a:r>
              <a:rPr lang="en-IE" sz="2000" b="1" dirty="0">
                <a:solidFill>
                  <a:schemeClr val="tx1"/>
                </a:solidFill>
                <a:latin typeface="Consolas" pitchFamily="34" charset="0"/>
                <a:ea typeface="Consolas" pitchFamily="34" charset="-122"/>
                <a:cs typeface="Consolas" pitchFamily="34" charset="-120"/>
              </a:rPr>
              <a:t>getName</a:t>
            </a:r>
            <a:endParaRPr lang="en-IE" sz="2000" dirty="0"/>
          </a:p>
        </p:txBody>
      </p:sp>
      <p:sp>
        <p:nvSpPr>
          <p:cNvPr id="19" name="Connector"/>
          <p:cNvSpPr/>
          <p:nvPr/>
        </p:nvSpPr>
        <p:spPr>
          <a:xfrm>
            <a:off x="9846310" y="4453128"/>
            <a:ext cx="0" cy="301752"/>
          </a:xfrm>
          <a:prstGeom prst="line">
            <a:avLst/>
          </a:prstGeom>
          <a:noFill/>
          <a:ln w="19050">
            <a:solidFill>
              <a:schemeClr val="accent3"/>
            </a:solidFill>
            <a:prstDash val="solid"/>
          </a:ln>
        </p:spPr>
      </p:sp>
      <p:sp>
        <p:nvSpPr>
          <p:cNvPr id="20" name="Text 17"/>
          <p:cNvSpPr txBox="1"/>
          <p:nvPr/>
        </p:nvSpPr>
        <p:spPr>
          <a:xfrm>
            <a:off x="8938260" y="4800600"/>
            <a:ext cx="1816100" cy="329184"/>
          </a:xfrm>
          <a:prstGeom prst="rect">
            <a:avLst/>
          </a:prstGeom>
          <a:noFill/>
          <a:ln/>
        </p:spPr>
        <p:txBody>
          <a:bodyPr wrap="square" lIns="0" tIns="0" rIns="0" bIns="0" rtlCol="0" anchor="t"/>
          <a:lstStyle/>
          <a:p>
            <a:pPr algn="ctr" indent="0" marL="0">
              <a:buNone/>
            </a:pPr>
            <a:r>
              <a:rPr lang="en-IE" sz="1600" b="1" dirty="0">
                <a:solidFill>
                  <a:schemeClr val="tx1"/>
                </a:solidFill>
              </a:rPr>
              <a:t>the method</a:t>
            </a:r>
            <a:endParaRPr lang="en-IE" sz="1600" dirty="0"/>
          </a:p>
        </p:txBody>
      </p:sp>
      <p:sp>
        <p:nvSpPr>
          <p:cNvPr id="21" name="Text 18"/>
          <p:cNvSpPr txBox="1"/>
          <p:nvPr/>
        </p:nvSpPr>
        <p:spPr>
          <a:xfrm>
            <a:off x="8938260" y="5138928"/>
            <a:ext cx="1816100" cy="566928"/>
          </a:xfrm>
          <a:prstGeom prst="rect">
            <a:avLst/>
          </a:prstGeom>
          <a:noFill/>
          <a:ln/>
        </p:spPr>
        <p:txBody>
          <a:bodyPr wrap="square" lIns="0" tIns="0" rIns="0" bIns="0" rtlCol="0" anchor="t"/>
          <a:lstStyle/>
          <a:p>
            <a:pPr algn="ctr" indent="0" marL="0">
              <a:buNone/>
            </a:pPr>
            <a:r>
              <a:rPr lang="en-IE" sz="1300" dirty="0">
                <a:solidFill>
                  <a:schemeClr val="tx2"/>
                </a:solidFill>
              </a:rPr>
              <a:t>called for each student</a:t>
            </a:r>
            <a:endParaRPr lang="en-IE"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70</a:t>
            </a:fld>
            <a:endParaRPr lang="en-IE"/>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21</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Comparator</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Why does </a:t>
            </a:r>
            <a:r>
              <a:rPr lang="en-IE" sz="2800" b="1" dirty="0">
                <a:solidFill>
                  <a:schemeClr val="accent2"/>
                </a:solidFill>
                <a:latin typeface="Consolas" pitchFamily="34" charset="0"/>
                <a:ea typeface="Consolas" pitchFamily="34" charset="-122"/>
                <a:cs typeface="Consolas" pitchFamily="34" charset="-120"/>
              </a:rPr>
              <a:t>Comparator.comparing(Student::getName)</a:t>
            </a:r>
            <a:r>
              <a:rPr lang="en-IE" sz="2800" b="1" dirty="0">
                <a:solidFill>
                  <a:schemeClr val="tx1"/>
                </a:solidFill>
              </a:rPr>
              <a:t> need a getter, or a public attribute?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Private attributes are hidden from it</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Comparators only work with Strings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 getter makes the sort faster</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Otherwise Student must be Comparable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71</a:t>
            </a:fld>
            <a:endParaRPr lang="en-IE"/>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21</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Comparator</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Why does </a:t>
            </a:r>
            <a:r>
              <a:rPr lang="en-IE" sz="2000" b="1" dirty="0">
                <a:solidFill>
                  <a:schemeClr val="tx2"/>
                </a:solidFill>
                <a:latin typeface="Consolas" pitchFamily="34" charset="0"/>
                <a:ea typeface="Consolas" pitchFamily="34" charset="-122"/>
                <a:cs typeface="Consolas" pitchFamily="34" charset="-120"/>
              </a:rPr>
              <a:t>Comparator.comparing(Student::getName)</a:t>
            </a:r>
            <a:r>
              <a:rPr lang="en-IE" sz="2000" b="1" dirty="0">
                <a:solidFill>
                  <a:schemeClr val="tx2"/>
                </a:solidFill>
              </a:rPr>
              <a:t> need a getter, or a public attribute?</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Private attributes are hidden from it</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Comparators only work with Strings</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The getter makes the sort faster</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Otherwise Student must be Comparable</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Comparator is a separate object, not part of Student. Like any other class outside Student, it can’t read private attributes, so it calls a public method such as </a:t>
            </a:r>
            <a:r>
              <a:rPr lang="en-IE" sz="1800" dirty="0">
                <a:solidFill>
                  <a:schemeClr val="accent2"/>
                </a:solidFill>
                <a:latin typeface="Consolas" pitchFamily="34" charset="0"/>
                <a:ea typeface="Consolas" pitchFamily="34" charset="-122"/>
                <a:cs typeface="Consolas" pitchFamily="34" charset="-120"/>
              </a:rPr>
              <a:t>getName()</a:t>
            </a:r>
            <a:r>
              <a:rPr lang="en-IE" sz="1800" dirty="0">
                <a:solidFill>
                  <a:schemeClr val="tx1"/>
                </a:solidFill>
              </a:rPr>
              <a:t>. If </a:t>
            </a:r>
            <a:r>
              <a:rPr lang="en-IE" sz="1800" dirty="0">
                <a:solidFill>
                  <a:schemeClr val="accent2"/>
                </a:solidFill>
                <a:latin typeface="Consolas" pitchFamily="34" charset="0"/>
                <a:ea typeface="Consolas" pitchFamily="34" charset="-122"/>
                <a:cs typeface="Consolas" pitchFamily="34" charset="-120"/>
              </a:rPr>
              <a:t>getName()</a:t>
            </a:r>
            <a:r>
              <a:rPr lang="en-IE" sz="1800" dirty="0">
                <a:solidFill>
                  <a:schemeClr val="tx1"/>
                </a:solidFill>
              </a:rPr>
              <a:t> were private, the compiler would say it has private access in Student.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72</a:t>
            </a:fld>
            <a:endParaRPr lang="en-IE"/>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SORTING OBJECTS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Numbers and reverse order</a:t>
            </a:r>
            <a:endParaRPr lang="en-IE" sz="3400" dirty="0"/>
          </a:p>
        </p:txBody>
      </p:sp>
      <p:sp>
        <p:nvSpPr>
          <p:cNvPr id="5" name="Code chip"/>
          <p:cNvSpPr/>
          <p:nvPr/>
        </p:nvSpPr>
        <p:spPr>
          <a:xfrm>
            <a:off x="548640" y="1737360"/>
            <a:ext cx="5852160" cy="548640"/>
          </a:xfrm>
          <a:prstGeom prst="roundRect">
            <a:avLst>
              <a:gd name="adj" fmla="val 13333"/>
            </a:avLst>
          </a:prstGeom>
          <a:solidFill>
            <a:schemeClr val="bg2"/>
          </a:solidFill>
          <a:ln/>
        </p:spPr>
        <p:txBody>
          <a:bodyPr wrap="square" lIns="0" tIns="0" rIns="0" bIns="0" rtlCol="0" anchor="ctr"/>
          <a:lstStyle/>
          <a:p>
            <a:pPr algn="ctr" indent="0" marL="0">
              <a:buNone/>
            </a:pPr>
            <a:r>
              <a:rPr lang="en-IE" sz="1550" dirty="0">
                <a:solidFill>
                  <a:schemeClr val="accent2"/>
                </a:solidFill>
                <a:latin typeface="Consolas" pitchFamily="34" charset="0"/>
                <a:ea typeface="Consolas" pitchFamily="34" charset="-122"/>
                <a:cs typeface="Consolas" pitchFamily="34" charset="-120"/>
              </a:rPr>
              <a:t>Comparator.comparing(Student::getName)</a:t>
            </a:r>
            <a:endParaRPr lang="en-IE" sz="1550" dirty="0"/>
          </a:p>
        </p:txBody>
      </p:sp>
      <p:sp>
        <p:nvSpPr>
          <p:cNvPr id="6" name="Text 3"/>
          <p:cNvSpPr txBox="1"/>
          <p:nvPr/>
        </p:nvSpPr>
        <p:spPr>
          <a:xfrm>
            <a:off x="6629400" y="1737360"/>
            <a:ext cx="5013655" cy="548640"/>
          </a:xfrm>
          <a:prstGeom prst="rect">
            <a:avLst/>
          </a:prstGeom>
          <a:noFill/>
          <a:ln/>
        </p:spPr>
        <p:txBody>
          <a:bodyPr wrap="square" lIns="0" tIns="0" rIns="0" bIns="0" rtlCol="0" anchor="ctr"/>
          <a:lstStyle/>
          <a:p>
            <a:pPr indent="0" marL="0">
              <a:buNone/>
            </a:pPr>
            <a:r>
              <a:rPr lang="en-IE" sz="1600" dirty="0">
                <a:solidFill>
                  <a:schemeClr val="tx2"/>
                </a:solidFill>
              </a:rPr>
              <a:t>For values that are objects, like Strings.</a:t>
            </a:r>
            <a:endParaRPr lang="en-IE" sz="1600" dirty="0"/>
          </a:p>
        </p:txBody>
      </p:sp>
      <p:sp>
        <p:nvSpPr>
          <p:cNvPr id="7" name="Code chip"/>
          <p:cNvSpPr/>
          <p:nvPr/>
        </p:nvSpPr>
        <p:spPr>
          <a:xfrm>
            <a:off x="548640" y="2606040"/>
            <a:ext cx="5852160" cy="548640"/>
          </a:xfrm>
          <a:prstGeom prst="roundRect">
            <a:avLst>
              <a:gd name="adj" fmla="val 13333"/>
            </a:avLst>
          </a:prstGeom>
          <a:solidFill>
            <a:schemeClr val="bg2"/>
          </a:solidFill>
          <a:ln/>
        </p:spPr>
        <p:txBody>
          <a:bodyPr wrap="square" lIns="0" tIns="0" rIns="0" bIns="0" rtlCol="0" anchor="ctr"/>
          <a:lstStyle/>
          <a:p>
            <a:pPr algn="ctr" indent="0" marL="0">
              <a:buNone/>
            </a:pPr>
            <a:r>
              <a:rPr lang="en-IE" sz="1550" dirty="0">
                <a:solidFill>
                  <a:schemeClr val="accent2"/>
                </a:solidFill>
                <a:latin typeface="Consolas" pitchFamily="34" charset="0"/>
                <a:ea typeface="Consolas" pitchFamily="34" charset="-122"/>
                <a:cs typeface="Consolas" pitchFamily="34" charset="-120"/>
              </a:rPr>
              <a:t>Comparator.comparingInt(Student::getId)</a:t>
            </a:r>
            <a:endParaRPr lang="en-IE" sz="1550" dirty="0"/>
          </a:p>
        </p:txBody>
      </p:sp>
      <p:sp>
        <p:nvSpPr>
          <p:cNvPr id="8" name="Text 5"/>
          <p:cNvSpPr txBox="1"/>
          <p:nvPr/>
        </p:nvSpPr>
        <p:spPr>
          <a:xfrm>
            <a:off x="6629400" y="2606040"/>
            <a:ext cx="5013655" cy="548640"/>
          </a:xfrm>
          <a:prstGeom prst="rect">
            <a:avLst/>
          </a:prstGeom>
          <a:noFill/>
          <a:ln/>
        </p:spPr>
        <p:txBody>
          <a:bodyPr wrap="square" lIns="0" tIns="0" rIns="0" bIns="0" rtlCol="0" anchor="ctr"/>
          <a:lstStyle/>
          <a:p>
            <a:pPr indent="0" marL="0">
              <a:buNone/>
            </a:pPr>
            <a:r>
              <a:rPr lang="en-IE" sz="1600" dirty="0">
                <a:solidFill>
                  <a:schemeClr val="tx2"/>
                </a:solidFill>
              </a:rPr>
              <a:t>For int values, such as an id or an age.</a:t>
            </a:r>
            <a:endParaRPr lang="en-IE" sz="1600" dirty="0"/>
          </a:p>
        </p:txBody>
      </p:sp>
      <p:sp>
        <p:nvSpPr>
          <p:cNvPr id="9" name="Code chip"/>
          <p:cNvSpPr/>
          <p:nvPr/>
        </p:nvSpPr>
        <p:spPr>
          <a:xfrm>
            <a:off x="548640" y="3474720"/>
            <a:ext cx="5852160" cy="548640"/>
          </a:xfrm>
          <a:prstGeom prst="roundRect">
            <a:avLst>
              <a:gd name="adj" fmla="val 13333"/>
            </a:avLst>
          </a:prstGeom>
          <a:solidFill>
            <a:schemeClr val="bg2"/>
          </a:solidFill>
          <a:ln/>
        </p:spPr>
        <p:txBody>
          <a:bodyPr wrap="square" lIns="0" tIns="0" rIns="0" bIns="0" rtlCol="0" anchor="ctr"/>
          <a:lstStyle/>
          <a:p>
            <a:pPr algn="ctr" indent="0" marL="0">
              <a:buNone/>
            </a:pPr>
            <a:r>
              <a:rPr lang="en-IE" sz="1550" dirty="0">
                <a:solidFill>
                  <a:schemeClr val="accent2"/>
                </a:solidFill>
                <a:latin typeface="Consolas" pitchFamily="34" charset="0"/>
                <a:ea typeface="Consolas" pitchFamily="34" charset="-122"/>
                <a:cs typeface="Consolas" pitchFamily="34" charset="-120"/>
              </a:rPr>
              <a:t>byId.reversed()</a:t>
            </a:r>
            <a:endParaRPr lang="en-IE" sz="1550" dirty="0"/>
          </a:p>
        </p:txBody>
      </p:sp>
      <p:sp>
        <p:nvSpPr>
          <p:cNvPr id="10" name="Text 7"/>
          <p:cNvSpPr txBox="1"/>
          <p:nvPr/>
        </p:nvSpPr>
        <p:spPr>
          <a:xfrm>
            <a:off x="6629400" y="3474720"/>
            <a:ext cx="5013655" cy="548640"/>
          </a:xfrm>
          <a:prstGeom prst="rect">
            <a:avLst/>
          </a:prstGeom>
          <a:noFill/>
          <a:ln/>
        </p:spPr>
        <p:txBody>
          <a:bodyPr wrap="square" lIns="0" tIns="0" rIns="0" bIns="0" rtlCol="0" anchor="ctr"/>
          <a:lstStyle/>
          <a:p>
            <a:pPr indent="0" marL="0">
              <a:buNone/>
            </a:pPr>
            <a:r>
              <a:rPr lang="en-IE" sz="1600" dirty="0">
                <a:solidFill>
                  <a:schemeClr val="tx2"/>
                </a:solidFill>
              </a:rPr>
              <a:t>Flips any comparator: highest or last first.</a:t>
            </a:r>
            <a:endParaRPr lang="en-IE" sz="1600" dirty="0"/>
          </a:p>
        </p:txBody>
      </p:sp>
      <p:sp>
        <p:nvSpPr>
          <p:cNvPr id="11" name="comparingInt and reversed card"/>
          <p:cNvSpPr/>
          <p:nvPr/>
        </p:nvSpPr>
        <p:spPr>
          <a:xfrm>
            <a:off x="548640" y="4434840"/>
            <a:ext cx="11094415" cy="1477518"/>
          </a:xfrm>
          <a:prstGeom prst="roundRect">
            <a:avLst>
              <a:gd name="adj" fmla="val 7427"/>
            </a:avLst>
          </a:prstGeom>
          <a:solidFill>
            <a:schemeClr val="tx1"/>
          </a:solidFill>
          <a:ln/>
          <a:effectLst>
            <a:outerShdw sx="100000" sy="100000" kx="0" ky="0" algn="bl" rotWithShape="0" blurRad="114300" dist="31750" dir="5400000">
              <a:srgbClr val="1D2433">
                <a:alpha val="12000"/>
              </a:srgbClr>
            </a:outerShdw>
          </a:effectLst>
        </p:spPr>
      </p:sp>
      <p:sp>
        <p:nvSpPr>
          <p:cNvPr id="12" name="comparingInt and reversed language"/>
          <p:cNvSpPr txBox="1"/>
          <p:nvPr/>
        </p:nvSpPr>
        <p:spPr>
          <a:xfrm>
            <a:off x="822960" y="4553712"/>
            <a:ext cx="105457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3" name="comparingInt and reversed text"/>
          <p:cNvSpPr txBox="1"/>
          <p:nvPr/>
        </p:nvSpPr>
        <p:spPr>
          <a:xfrm>
            <a:off x="822960" y="4928616"/>
            <a:ext cx="10545775" cy="782574"/>
          </a:xfrm>
          <a:prstGeom prst="rect">
            <a:avLst/>
          </a:prstGeom>
          <a:noFill/>
          <a:ln/>
        </p:spPr>
        <p:txBody>
          <a:bodyPr wrap="square" lIns="0" tIns="0" rIns="0" bIns="0" rtlCol="0" anchor="t"/>
          <a:lstStyle/>
          <a:p>
            <a:pPr indent="0" marL="0">
              <a:lnSpc>
                <a:spcPts val="1910"/>
              </a:lnSpc>
              <a:buNone/>
            </a:pPr>
            <a:r>
              <a:rPr lang="en-IE" sz="1450" dirty="0">
                <a:solidFill>
                  <a:srgbClr val="6CC4E8"/>
                </a:solidFill>
                <a:latin typeface="Consolas" pitchFamily="34" charset="0"/>
                <a:ea typeface="Consolas" pitchFamily="34" charset="-122"/>
                <a:cs typeface="Consolas" pitchFamily="34" charset="-120"/>
              </a:rPr>
              <a:t>Comparator</a:t>
            </a:r>
            <a:r>
              <a:rPr lang="en-IE" sz="1450" dirty="0">
                <a:solidFill>
                  <a:srgbClr val="E6EBF2"/>
                </a:solidFill>
                <a:latin typeface="Consolas" pitchFamily="34" charset="0"/>
                <a:ea typeface="Consolas" pitchFamily="34" charset="-122"/>
                <a:cs typeface="Consolas" pitchFamily="34" charset="-120"/>
              </a:rPr>
              <a:t>&lt;Student&gt; byId = </a:t>
            </a:r>
            <a:r>
              <a:rPr lang="en-IE" sz="1450" dirty="0">
                <a:solidFill>
                  <a:srgbClr val="6CC4E8"/>
                </a:solidFill>
                <a:latin typeface="Consolas" pitchFamily="34" charset="0"/>
                <a:ea typeface="Consolas" pitchFamily="34" charset="-122"/>
                <a:cs typeface="Consolas" pitchFamily="34" charset="-120"/>
              </a:rPr>
              <a:t>Comparator</a:t>
            </a:r>
            <a:r>
              <a:rPr lang="en-IE" sz="1450" dirty="0">
                <a:solidFill>
                  <a:srgbClr val="E6EBF2"/>
                </a:solidFill>
                <a:latin typeface="Consolas" pitchFamily="34" charset="0"/>
                <a:ea typeface="Consolas" pitchFamily="34" charset="-122"/>
                <a:cs typeface="Consolas" pitchFamily="34" charset="-120"/>
              </a:rPr>
              <a:t>.</a:t>
            </a:r>
            <a:r>
              <a:rPr lang="en-IE" sz="1450" dirty="0">
                <a:solidFill>
                  <a:srgbClr val="C9B0FF"/>
                </a:solidFill>
                <a:latin typeface="Consolas" pitchFamily="34" charset="0"/>
                <a:ea typeface="Consolas" pitchFamily="34" charset="-122"/>
                <a:cs typeface="Consolas" pitchFamily="34" charset="-120"/>
              </a:rPr>
              <a:t>comparingInt</a:t>
            </a:r>
            <a:r>
              <a:rPr lang="en-IE" sz="1450" dirty="0">
                <a:solidFill>
                  <a:srgbClr val="E6EBF2"/>
                </a:solidFill>
                <a:latin typeface="Consolas" pitchFamily="34" charset="0"/>
                <a:ea typeface="Consolas" pitchFamily="34" charset="-122"/>
                <a:cs typeface="Consolas" pitchFamily="34" charset="-120"/>
              </a:rPr>
              <a:t>(</a:t>
            </a:r>
            <a:r>
              <a:rPr lang="en-IE" sz="1450" dirty="0">
                <a:solidFill>
                  <a:srgbClr val="6CC4E8"/>
                </a:solidFill>
                <a:latin typeface="Consolas" pitchFamily="34" charset="0"/>
                <a:ea typeface="Consolas" pitchFamily="34" charset="-122"/>
                <a:cs typeface="Consolas" pitchFamily="34" charset="-120"/>
              </a:rPr>
              <a:t>Student</a:t>
            </a:r>
            <a:r>
              <a:rPr lang="en-IE" sz="1450" dirty="0">
                <a:solidFill>
                  <a:srgbClr val="E6EBF2"/>
                </a:solidFill>
                <a:latin typeface="Consolas" pitchFamily="34" charset="0"/>
                <a:ea typeface="Consolas" pitchFamily="34" charset="-122"/>
                <a:cs typeface="Consolas" pitchFamily="34" charset="-120"/>
              </a:rPr>
              <a:t>::getId);</a:t>
            </a:r>
            <a:endParaRPr lang="en-IE" sz="1450" dirty="0"/>
          </a:p>
          <a:p>
            <a:pPr indent="0" marL="0">
              <a:lnSpc>
                <a:spcPts val="1910"/>
              </a:lnSpc>
              <a:buNone/>
            </a:pPr>
            <a:r>
              <a:rPr lang="en-IE" sz="1450" dirty="0">
                <a:solidFill>
                  <a:srgbClr val="6CC4E8"/>
                </a:solidFill>
                <a:latin typeface="Consolas" pitchFamily="34" charset="0"/>
                <a:ea typeface="Consolas" pitchFamily="34" charset="-122"/>
                <a:cs typeface="Consolas" pitchFamily="34" charset="-120"/>
              </a:rPr>
              <a:t>Collections</a:t>
            </a:r>
            <a:r>
              <a:rPr lang="en-IE" sz="1450" dirty="0">
                <a:solidFill>
                  <a:srgbClr val="E6EBF2"/>
                </a:solidFill>
                <a:latin typeface="Consolas" pitchFamily="34" charset="0"/>
                <a:ea typeface="Consolas" pitchFamily="34" charset="-122"/>
                <a:cs typeface="Consolas" pitchFamily="34" charset="-120"/>
              </a:rPr>
              <a:t>.</a:t>
            </a:r>
            <a:r>
              <a:rPr lang="en-IE" sz="1450" dirty="0">
                <a:solidFill>
                  <a:srgbClr val="C9B0FF"/>
                </a:solidFill>
                <a:latin typeface="Consolas" pitchFamily="34" charset="0"/>
                <a:ea typeface="Consolas" pitchFamily="34" charset="-122"/>
                <a:cs typeface="Consolas" pitchFamily="34" charset="-120"/>
              </a:rPr>
              <a:t>sort</a:t>
            </a:r>
            <a:r>
              <a:rPr lang="en-IE" sz="1450" dirty="0">
                <a:solidFill>
                  <a:srgbClr val="E6EBF2"/>
                </a:solidFill>
                <a:latin typeface="Consolas" pitchFamily="34" charset="0"/>
                <a:ea typeface="Consolas" pitchFamily="34" charset="-122"/>
                <a:cs typeface="Consolas" pitchFamily="34" charset="-120"/>
              </a:rPr>
              <a:t>(students, byId);              </a:t>
            </a:r>
            <a:r>
              <a:rPr lang="en-IE" sz="1450" i="1" dirty="0">
                <a:solidFill>
                  <a:srgbClr val="A3AEC2"/>
                </a:solidFill>
                <a:latin typeface="Consolas" pitchFamily="34" charset="0"/>
                <a:ea typeface="Consolas" pitchFamily="34" charset="-122"/>
                <a:cs typeface="Consolas" pitchFamily="34" charset="-120"/>
              </a:rPr>
              <a:t>// 1 Dan, 2 Bob, 3 Cara, 5 Anne</a:t>
            </a:r>
            <a:endParaRPr lang="en-IE" sz="1450" dirty="0"/>
          </a:p>
          <a:p>
            <a:pPr indent="0" marL="0">
              <a:lnSpc>
                <a:spcPts val="1910"/>
              </a:lnSpc>
              <a:buNone/>
            </a:pPr>
            <a:r>
              <a:rPr lang="en-IE" sz="1450" dirty="0">
                <a:solidFill>
                  <a:srgbClr val="6CC4E8"/>
                </a:solidFill>
                <a:latin typeface="Consolas" pitchFamily="34" charset="0"/>
                <a:ea typeface="Consolas" pitchFamily="34" charset="-122"/>
                <a:cs typeface="Consolas" pitchFamily="34" charset="-120"/>
              </a:rPr>
              <a:t>Collections</a:t>
            </a:r>
            <a:r>
              <a:rPr lang="en-IE" sz="1450" dirty="0">
                <a:solidFill>
                  <a:srgbClr val="E6EBF2"/>
                </a:solidFill>
                <a:latin typeface="Consolas" pitchFamily="34" charset="0"/>
                <a:ea typeface="Consolas" pitchFamily="34" charset="-122"/>
                <a:cs typeface="Consolas" pitchFamily="34" charset="-120"/>
              </a:rPr>
              <a:t>.</a:t>
            </a:r>
            <a:r>
              <a:rPr lang="en-IE" sz="1450" dirty="0">
                <a:solidFill>
                  <a:srgbClr val="C9B0FF"/>
                </a:solidFill>
                <a:latin typeface="Consolas" pitchFamily="34" charset="0"/>
                <a:ea typeface="Consolas" pitchFamily="34" charset="-122"/>
                <a:cs typeface="Consolas" pitchFamily="34" charset="-120"/>
              </a:rPr>
              <a:t>sort</a:t>
            </a:r>
            <a:r>
              <a:rPr lang="en-IE" sz="1450" dirty="0">
                <a:solidFill>
                  <a:srgbClr val="E6EBF2"/>
                </a:solidFill>
                <a:latin typeface="Consolas" pitchFamily="34" charset="0"/>
                <a:ea typeface="Consolas" pitchFamily="34" charset="-122"/>
                <a:cs typeface="Consolas" pitchFamily="34" charset="-120"/>
              </a:rPr>
              <a:t>(students, byId.</a:t>
            </a:r>
            <a:r>
              <a:rPr lang="en-IE" sz="1450" dirty="0">
                <a:solidFill>
                  <a:srgbClr val="C9B0FF"/>
                </a:solidFill>
                <a:latin typeface="Consolas" pitchFamily="34" charset="0"/>
                <a:ea typeface="Consolas" pitchFamily="34" charset="-122"/>
                <a:cs typeface="Consolas" pitchFamily="34" charset="-120"/>
              </a:rPr>
              <a:t>reversed</a:t>
            </a:r>
            <a:r>
              <a:rPr lang="en-IE" sz="1450" dirty="0">
                <a:solidFill>
                  <a:srgbClr val="E6EBF2"/>
                </a:solidFill>
                <a:latin typeface="Consolas" pitchFamily="34" charset="0"/>
                <a:ea typeface="Consolas" pitchFamily="34" charset="-122"/>
                <a:cs typeface="Consolas" pitchFamily="34" charset="-120"/>
              </a:rPr>
              <a:t>());   </a:t>
            </a:r>
            <a:r>
              <a:rPr lang="en-IE" sz="1450" i="1" dirty="0">
                <a:solidFill>
                  <a:srgbClr val="A3AEC2"/>
                </a:solidFill>
                <a:latin typeface="Consolas" pitchFamily="34" charset="0"/>
                <a:ea typeface="Consolas" pitchFamily="34" charset="-122"/>
                <a:cs typeface="Consolas" pitchFamily="34" charset="-120"/>
              </a:rPr>
              <a:t>// 5 Anne, 3 Cara, 2 Bob, 1 Dan</a:t>
            </a:r>
            <a:endParaRPr lang="en-IE" sz="14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73</a:t>
            </a:fld>
            <a:endParaRPr lang="en-IE"/>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22</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Comparator</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accent2"/>
                </a:solidFill>
                <a:latin typeface="Consolas" pitchFamily="34" charset="0"/>
                <a:ea typeface="Consolas" pitchFamily="34" charset="-122"/>
                <a:cs typeface="Consolas" pitchFamily="34" charset="-120"/>
              </a:rPr>
              <a:t>byId</a:t>
            </a:r>
            <a:r>
              <a:rPr lang="en-IE" sz="2800" b="1" dirty="0">
                <a:solidFill>
                  <a:schemeClr val="tx1"/>
                </a:solidFill>
              </a:rPr>
              <a:t> is </a:t>
            </a:r>
            <a:r>
              <a:rPr lang="en-IE" sz="2800" b="1" dirty="0">
                <a:solidFill>
                  <a:schemeClr val="accent2"/>
                </a:solidFill>
                <a:latin typeface="Consolas" pitchFamily="34" charset="0"/>
                <a:ea typeface="Consolas" pitchFamily="34" charset="-122"/>
                <a:cs typeface="Consolas" pitchFamily="34" charset="-120"/>
              </a:rPr>
              <a:t>Comparator.comparingInt(Student::getId)</a:t>
            </a:r>
            <a:r>
              <a:rPr lang="en-IE" sz="2800" b="1" dirty="0">
                <a:solidFill>
                  <a:schemeClr val="tx1"/>
                </a:solidFill>
              </a:rPr>
              <a:t>. Which line sorts students by id, highest first?</a:t>
            </a:r>
            <a:endParaRPr lang="en-IE"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Collections.sort(list, byId);</a:t>
            </a:r>
            <a:endParaRPr lang="en-IE"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Collections.sort(byId.reversed());</a:t>
            </a:r>
            <a:endParaRPr lang="en-IE"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Collections.reverse(byId);</a:t>
            </a:r>
            <a:endParaRPr lang="en-IE"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Collections.sort(list, byId.reversed());</a:t>
            </a:r>
            <a:endParaRPr lang="en-IE"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74</a:t>
            </a:fld>
            <a:endParaRPr lang="en-IE"/>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22</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Comparator</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latin typeface="Consolas" pitchFamily="34" charset="0"/>
                <a:ea typeface="Consolas" pitchFamily="34" charset="-122"/>
                <a:cs typeface="Consolas" pitchFamily="34" charset="-120"/>
              </a:rPr>
              <a:t>byId</a:t>
            </a:r>
            <a:r>
              <a:rPr lang="en-IE" sz="2000" b="1" dirty="0">
                <a:solidFill>
                  <a:schemeClr val="tx2"/>
                </a:solidFill>
              </a:rPr>
              <a:t> is </a:t>
            </a:r>
            <a:r>
              <a:rPr lang="en-IE" sz="2000" b="1" dirty="0">
                <a:solidFill>
                  <a:schemeClr val="tx2"/>
                </a:solidFill>
                <a:latin typeface="Consolas" pitchFamily="34" charset="0"/>
                <a:ea typeface="Consolas" pitchFamily="34" charset="-122"/>
                <a:cs typeface="Consolas" pitchFamily="34" charset="-120"/>
              </a:rPr>
              <a:t>Comparator.comparingInt(Student::getId)</a:t>
            </a:r>
            <a:r>
              <a:rPr lang="en-IE" sz="2000" b="1" dirty="0">
                <a:solidFill>
                  <a:schemeClr val="tx2"/>
                </a:solidFill>
              </a:rPr>
              <a:t>. Which line sorts students by id, highest first?</a:t>
            </a:r>
            <a:endParaRPr lang="en-IE"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Collections.sort(list, byId);</a:t>
            </a:r>
            <a:endParaRPr lang="en-IE" sz="1700" dirty="0"/>
          </a:p>
        </p:txBody>
      </p:sp>
      <p:sp>
        <p:nvSpPr>
          <p:cNvPr id="8"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Collections.sort(byId.reversed());</a:t>
            </a:r>
            <a:endParaRPr lang="en-IE" sz="1700" dirty="0"/>
          </a:p>
        </p:txBody>
      </p:sp>
      <p:sp>
        <p:nvSpPr>
          <p:cNvPr id="11"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Collections.reverse(byId);</a:t>
            </a:r>
            <a:endParaRPr lang="en-IE" sz="1700" dirty="0"/>
          </a:p>
        </p:txBody>
      </p:sp>
      <p:sp>
        <p:nvSpPr>
          <p:cNvPr id="14" name="Option D (correct)"/>
          <p:cNvSpPr/>
          <p:nvPr/>
        </p:nvSpPr>
        <p:spPr>
          <a:xfrm>
            <a:off x="548640" y="3941064"/>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0233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3941064"/>
            <a:ext cx="9613087" cy="585216"/>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Collections.sort(list, byId.reversed());</a:t>
            </a:r>
            <a:endParaRPr lang="en-IE" sz="1700" dirty="0"/>
          </a:p>
        </p:txBody>
      </p:sp>
      <p:pic>
        <p:nvPicPr>
          <p:cNvPr id="17" name="Correct mark" descr="Correct mark">    </p:cNvPr>
          <p:cNvPicPr>
            <a:picLocks noChangeAspect="1"/>
          </p:cNvPicPr>
          <p:nvPr/>
        </p:nvPicPr>
        <p:blipFill>
          <a:blip r:embed="rId1"/>
          <a:stretch>
            <a:fillRect/>
          </a:stretch>
        </p:blipFill>
        <p:spPr>
          <a:xfrm>
            <a:off x="11094415" y="4050792"/>
            <a:ext cx="365760" cy="365760"/>
          </a:xfrm>
          <a:prstGeom prst="rect">
            <a:avLst/>
          </a:prstGeom>
        </p:spPr>
      </p:pic>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indent="0" marL="0">
              <a:buNone/>
            </a:pPr>
            <a:r>
              <a:rPr lang="en-IE" sz="1600" dirty="0">
                <a:solidFill>
                  <a:schemeClr val="accent2"/>
                </a:solidFill>
                <a:latin typeface="Consolas" pitchFamily="34" charset="0"/>
                <a:ea typeface="Consolas" pitchFamily="34" charset="-122"/>
                <a:cs typeface="Consolas" pitchFamily="34" charset="-120"/>
              </a:rPr>
              <a:t>reversed()</a:t>
            </a:r>
            <a:r>
              <a:rPr lang="en-IE" sz="1600" dirty="0">
                <a:solidFill>
                  <a:schemeClr val="tx1"/>
                </a:solidFill>
              </a:rPr>
              <a:t> gives a comparator with the opposite order, and we pass it to </a:t>
            </a:r>
            <a:r>
              <a:rPr lang="en-IE" sz="1600" dirty="0">
                <a:solidFill>
                  <a:schemeClr val="accent2"/>
                </a:solidFill>
                <a:latin typeface="Consolas" pitchFamily="34" charset="0"/>
                <a:ea typeface="Consolas" pitchFamily="34" charset="-122"/>
                <a:cs typeface="Consolas" pitchFamily="34" charset="-120"/>
              </a:rPr>
              <a:t>Collections.sort</a:t>
            </a:r>
            <a:r>
              <a:rPr lang="en-IE" sz="1600" dirty="0">
                <a:solidFill>
                  <a:schemeClr val="tx1"/>
                </a:solidFill>
              </a:rPr>
              <a:t> together with the list. A sorts lowest first, and B and C don’t compile, because neither passes the list.</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75</a:t>
            </a:fld>
            <a:endParaRPr lang="en-IE"/>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SORTING OBJECTS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Sorting by more than one thing</a:t>
            </a:r>
            <a:endParaRPr lang="en-IE" sz="3400" dirty="0"/>
          </a:p>
        </p:txBody>
      </p:sp>
      <p:sp>
        <p:nvSpPr>
          <p:cNvPr id="5" name="Text 2"/>
          <p:cNvSpPr txBox="1"/>
          <p:nvPr/>
        </p:nvSpPr>
        <p:spPr>
          <a:xfrm>
            <a:off x="548640" y="1783080"/>
            <a:ext cx="4937760" cy="3108960"/>
          </a:xfrm>
          <a:prstGeom prst="rect">
            <a:avLst/>
          </a:prstGeom>
          <a:noFill/>
          <a:ln/>
        </p:spPr>
        <p:txBody>
          <a:bodyPr wrap="square" lIns="0" tIns="0" rIns="0" bIns="0" rtlCol="0" anchor="t"/>
          <a:lstStyle/>
          <a:p>
            <a:pPr marL="228600" indent="-228600">
              <a:spcAft>
                <a:spcPts val="1100"/>
              </a:spcAft>
              <a:buSzPct val="100000"/>
              <a:buChar char="•"/>
            </a:pPr>
            <a:r>
              <a:rPr lang="en-IE" sz="1700" dirty="0">
                <a:solidFill>
                  <a:schemeClr val="accent2"/>
                </a:solidFill>
                <a:latin typeface="Consolas" pitchFamily="34" charset="0"/>
                <a:ea typeface="Consolas" pitchFamily="34" charset="-122"/>
                <a:cs typeface="Consolas" pitchFamily="34" charset="-120"/>
              </a:rPr>
              <a:t>thenComparing</a:t>
            </a:r>
            <a:r>
              <a:rPr lang="en-IE" sz="1700" dirty="0">
                <a:solidFill>
                  <a:schemeClr val="tx1"/>
                </a:solidFill>
              </a:rPr>
              <a:t> adds a second order, used only when the first one is a tie.</a:t>
            </a:r>
            <a:endParaRPr lang="en-IE" sz="1700" dirty="0"/>
          </a:p>
          <a:p>
            <a:pPr marL="228600" indent="-228600">
              <a:spcAft>
                <a:spcPts val="1100"/>
              </a:spcAft>
              <a:buSzPct val="100000"/>
              <a:buChar char="•"/>
            </a:pPr>
            <a:r>
              <a:rPr lang="en-IE" sz="1700" dirty="0">
                <a:solidFill>
                  <a:schemeClr val="tx1"/>
                </a:solidFill>
              </a:rPr>
              <a:t>Use </a:t>
            </a:r>
            <a:r>
              <a:rPr lang="en-IE" sz="1700" dirty="0">
                <a:solidFill>
                  <a:schemeClr val="accent2"/>
                </a:solidFill>
                <a:latin typeface="Consolas" pitchFamily="34" charset="0"/>
                <a:ea typeface="Consolas" pitchFamily="34" charset="-122"/>
                <a:cs typeface="Consolas" pitchFamily="34" charset="-120"/>
              </a:rPr>
              <a:t>thenComparingInt</a:t>
            </a:r>
            <a:r>
              <a:rPr lang="en-IE" sz="1700" dirty="0">
                <a:solidFill>
                  <a:schemeClr val="tx1"/>
                </a:solidFill>
              </a:rPr>
              <a:t> when the second value is an int.</a:t>
            </a:r>
            <a:endParaRPr lang="en-IE" sz="1700" dirty="0"/>
          </a:p>
          <a:p>
            <a:pPr marL="228600" indent="-228600">
              <a:buSzPct val="100000"/>
              <a:buChar char="•"/>
            </a:pPr>
            <a:r>
              <a:rPr lang="en-IE" sz="1700" dirty="0">
                <a:solidFill>
                  <a:schemeClr val="tx1"/>
                </a:solidFill>
              </a:rPr>
              <a:t>Here: by name, then by id for students with the same name.</a:t>
            </a:r>
            <a:endParaRPr lang="en-IE" sz="1700" dirty="0"/>
          </a:p>
        </p:txBody>
      </p:sp>
      <p:sp>
        <p:nvSpPr>
          <p:cNvPr id="6" name="thenComparing card"/>
          <p:cNvSpPr/>
          <p:nvPr/>
        </p:nvSpPr>
        <p:spPr>
          <a:xfrm>
            <a:off x="5806440" y="1691640"/>
            <a:ext cx="5836615" cy="1623568"/>
          </a:xfrm>
          <a:prstGeom prst="roundRect">
            <a:avLst>
              <a:gd name="adj" fmla="val 6758"/>
            </a:avLst>
          </a:prstGeom>
          <a:solidFill>
            <a:schemeClr val="tx1"/>
          </a:solidFill>
          <a:ln/>
          <a:effectLst>
            <a:outerShdw sx="100000" sy="100000" kx="0" ky="0" algn="bl" rotWithShape="0" blurRad="114300" dist="31750" dir="5400000">
              <a:srgbClr val="1D2433">
                <a:alpha val="12000"/>
              </a:srgbClr>
            </a:outerShdw>
          </a:effectLst>
        </p:spPr>
      </p:sp>
      <p:sp>
        <p:nvSpPr>
          <p:cNvPr id="7" name="thenComparing language"/>
          <p:cNvSpPr txBox="1"/>
          <p:nvPr/>
        </p:nvSpPr>
        <p:spPr>
          <a:xfrm>
            <a:off x="6080760" y="1810512"/>
            <a:ext cx="52879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thenComparing text"/>
          <p:cNvSpPr txBox="1"/>
          <p:nvPr/>
        </p:nvSpPr>
        <p:spPr>
          <a:xfrm>
            <a:off x="6080760" y="2185416"/>
            <a:ext cx="5287975" cy="928624"/>
          </a:xfrm>
          <a:prstGeom prst="rect">
            <a:avLst/>
          </a:prstGeom>
          <a:noFill/>
          <a:ln/>
        </p:spPr>
        <p:txBody>
          <a:bodyPr wrap="square" lIns="0" tIns="0" rIns="0" bIns="0" rtlCol="0" anchor="t"/>
          <a:lstStyle/>
          <a:p>
            <a:pPr indent="0" marL="0">
              <a:lnSpc>
                <a:spcPts val="1720"/>
              </a:lnSpc>
              <a:buNone/>
            </a:pPr>
            <a:r>
              <a:rPr lang="en-IE" sz="1300" dirty="0">
                <a:solidFill>
                  <a:srgbClr val="6CC4E8"/>
                </a:solidFill>
                <a:latin typeface="Consolas" pitchFamily="34" charset="0"/>
                <a:ea typeface="Consolas" pitchFamily="34" charset="-122"/>
                <a:cs typeface="Consolas" pitchFamily="34" charset="-120"/>
              </a:rPr>
              <a:t>Comparator</a:t>
            </a:r>
            <a:r>
              <a:rPr lang="en-IE" sz="1300" dirty="0">
                <a:solidFill>
                  <a:srgbClr val="E6EBF2"/>
                </a:solidFill>
                <a:latin typeface="Consolas" pitchFamily="34" charset="0"/>
                <a:ea typeface="Consolas" pitchFamily="34" charset="-122"/>
                <a:cs typeface="Consolas" pitchFamily="34" charset="-120"/>
              </a:rPr>
              <a:t>&lt;Student&gt; comp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Comparator</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C9B0FF"/>
                </a:solidFill>
                <a:latin typeface="Consolas" pitchFamily="34" charset="0"/>
                <a:ea typeface="Consolas" pitchFamily="34" charset="-122"/>
                <a:cs typeface="Consolas" pitchFamily="34" charset="-120"/>
              </a:rPr>
              <a:t>comparing</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6CC4E8"/>
                </a:solidFill>
                <a:latin typeface="Consolas" pitchFamily="34" charset="0"/>
                <a:ea typeface="Consolas" pitchFamily="34" charset="-122"/>
                <a:cs typeface="Consolas" pitchFamily="34" charset="-120"/>
              </a:rPr>
              <a:t>Student</a:t>
            </a:r>
            <a:r>
              <a:rPr lang="en-IE" sz="1300" dirty="0">
                <a:solidFill>
                  <a:srgbClr val="E6EBF2"/>
                </a:solidFill>
                <a:latin typeface="Consolas" pitchFamily="34" charset="0"/>
                <a:ea typeface="Consolas" pitchFamily="34" charset="-122"/>
                <a:cs typeface="Consolas" pitchFamily="34" charset="-120"/>
              </a:rPr>
              <a:t>::getName)</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thenComparingInt</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6CC4E8"/>
                </a:solidFill>
                <a:latin typeface="Consolas" pitchFamily="34" charset="0"/>
                <a:ea typeface="Consolas" pitchFamily="34" charset="-122"/>
                <a:cs typeface="Consolas" pitchFamily="34" charset="-120"/>
              </a:rPr>
              <a:t>Student</a:t>
            </a:r>
            <a:r>
              <a:rPr lang="en-IE" sz="1300" dirty="0">
                <a:solidFill>
                  <a:srgbClr val="E6EBF2"/>
                </a:solidFill>
                <a:latin typeface="Consolas" pitchFamily="34" charset="0"/>
                <a:ea typeface="Consolas" pitchFamily="34" charset="-122"/>
                <a:cs typeface="Consolas" pitchFamily="34" charset="-120"/>
              </a:rPr>
              <a:t>::getId);</a:t>
            </a:r>
            <a:endParaRPr lang="en-IE" sz="1300" dirty="0"/>
          </a:p>
          <a:p>
            <a:pPr indent="0" marL="0">
              <a:lnSpc>
                <a:spcPts val="1720"/>
              </a:lnSpc>
              <a:buNone/>
            </a:pPr>
            <a:r>
              <a:rPr lang="en-IE" sz="1300" dirty="0">
                <a:solidFill>
                  <a:srgbClr val="6CC4E8"/>
                </a:solidFill>
                <a:latin typeface="Consolas" pitchFamily="34" charset="0"/>
                <a:ea typeface="Consolas" pitchFamily="34" charset="-122"/>
                <a:cs typeface="Consolas" pitchFamily="34" charset="-120"/>
              </a:rPr>
              <a:t>Collections</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C9B0FF"/>
                </a:solidFill>
                <a:latin typeface="Consolas" pitchFamily="34" charset="0"/>
                <a:ea typeface="Consolas" pitchFamily="34" charset="-122"/>
                <a:cs typeface="Consolas" pitchFamily="34" charset="-120"/>
              </a:rPr>
              <a:t>sort</a:t>
            </a:r>
            <a:r>
              <a:rPr lang="en-IE" sz="1300" dirty="0">
                <a:solidFill>
                  <a:srgbClr val="E6EBF2"/>
                </a:solidFill>
                <a:latin typeface="Consolas" pitchFamily="34" charset="0"/>
                <a:ea typeface="Consolas" pitchFamily="34" charset="-122"/>
                <a:cs typeface="Consolas" pitchFamily="34" charset="-120"/>
              </a:rPr>
              <a:t>(students, comp);</a:t>
            </a:r>
            <a:endParaRPr lang="en-IE" sz="1300" dirty="0"/>
          </a:p>
        </p:txBody>
      </p:sp>
      <p:sp>
        <p:nvSpPr>
          <p:cNvPr id="9" name="Text 6"/>
          <p:cNvSpPr txBox="1"/>
          <p:nvPr/>
        </p:nvSpPr>
        <p:spPr>
          <a:xfrm>
            <a:off x="5806440" y="3589528"/>
            <a:ext cx="3657600" cy="292608"/>
          </a:xfrm>
          <a:prstGeom prst="rect">
            <a:avLst/>
          </a:prstGeom>
          <a:noFill/>
          <a:ln/>
        </p:spPr>
        <p:txBody>
          <a:bodyPr wrap="square" lIns="0" tIns="0" rIns="0" bIns="0" rtlCol="0" anchor="t"/>
          <a:lstStyle/>
          <a:p>
            <a:pPr indent="0" marL="0">
              <a:buNone/>
            </a:pPr>
            <a:r>
              <a:rPr lang="en-IE" sz="1350" b="1" dirty="0">
                <a:solidFill>
                  <a:schemeClr val="tx2"/>
                </a:solidFill>
              </a:rPr>
              <a:t>Before</a:t>
            </a:r>
            <a:endParaRPr lang="en-IE" sz="1350" dirty="0"/>
          </a:p>
        </p:txBody>
      </p:sp>
      <p:sp>
        <p:nvSpPr>
          <p:cNvPr id="10" name="Cell 0"/>
          <p:cNvSpPr/>
          <p:nvPr/>
        </p:nvSpPr>
        <p:spPr>
          <a:xfrm>
            <a:off x="5806440" y="3927856"/>
            <a:ext cx="1298448" cy="548640"/>
          </a:xfrm>
          <a:prstGeom prst="roundRect">
            <a:avLst>
              <a:gd name="adj" fmla="val 13333"/>
            </a:avLst>
          </a:prstGeom>
          <a:solidFill>
            <a:schemeClr val="tx2">
              <a:alpha val="6000"/>
            </a:schemeClr>
          </a:solidFill>
          <a:ln w="15875">
            <a:solidFill>
              <a:schemeClr val="tx2"/>
            </a:solidFill>
          </a:ln>
        </p:spPr>
        <p:txBody>
          <a:bodyPr wrap="square" lIns="0" tIns="0" rIns="0" bIns="0" rtlCol="0" anchor="ctr"/>
          <a:lstStyle/>
          <a:p>
            <a:pPr algn="ctr" indent="0" marL="0">
              <a:buNone/>
            </a:pPr>
            <a:r>
              <a:rPr lang="en-IE" sz="1400" dirty="0">
                <a:solidFill>
                  <a:schemeClr val="tx1"/>
                </a:solidFill>
                <a:latin typeface="Consolas" pitchFamily="34" charset="0"/>
                <a:ea typeface="Consolas" pitchFamily="34" charset="-122"/>
                <a:cs typeface="Consolas" pitchFamily="34" charset="-120"/>
              </a:rPr>
              <a:t>4 Tom</a:t>
            </a:r>
            <a:endParaRPr lang="en-IE" sz="1400" dirty="0"/>
          </a:p>
        </p:txBody>
      </p:sp>
      <p:sp>
        <p:nvSpPr>
          <p:cNvPr id="11" name="Cell 1"/>
          <p:cNvSpPr/>
          <p:nvPr/>
        </p:nvSpPr>
        <p:spPr>
          <a:xfrm>
            <a:off x="7178040" y="3927856"/>
            <a:ext cx="1298448" cy="548640"/>
          </a:xfrm>
          <a:prstGeom prst="roundRect">
            <a:avLst>
              <a:gd name="adj" fmla="val 13333"/>
            </a:avLst>
          </a:prstGeom>
          <a:solidFill>
            <a:schemeClr val="tx2">
              <a:alpha val="6000"/>
            </a:schemeClr>
          </a:solidFill>
          <a:ln w="15875">
            <a:solidFill>
              <a:schemeClr val="tx2"/>
            </a:solidFill>
          </a:ln>
        </p:spPr>
        <p:txBody>
          <a:bodyPr wrap="square" lIns="0" tIns="0" rIns="0" bIns="0" rtlCol="0" anchor="ctr"/>
          <a:lstStyle/>
          <a:p>
            <a:pPr algn="ctr" indent="0" marL="0">
              <a:buNone/>
            </a:pPr>
            <a:r>
              <a:rPr lang="en-IE" sz="1400" dirty="0">
                <a:solidFill>
                  <a:schemeClr val="tx1"/>
                </a:solidFill>
                <a:latin typeface="Consolas" pitchFamily="34" charset="0"/>
                <a:ea typeface="Consolas" pitchFamily="34" charset="-122"/>
                <a:cs typeface="Consolas" pitchFamily="34" charset="-120"/>
              </a:rPr>
              <a:t>9 Amy</a:t>
            </a:r>
            <a:endParaRPr lang="en-IE" sz="1400" dirty="0"/>
          </a:p>
        </p:txBody>
      </p:sp>
      <p:sp>
        <p:nvSpPr>
          <p:cNvPr id="12" name="Cell 2"/>
          <p:cNvSpPr/>
          <p:nvPr/>
        </p:nvSpPr>
        <p:spPr>
          <a:xfrm>
            <a:off x="8549640" y="3927856"/>
            <a:ext cx="1298448" cy="548640"/>
          </a:xfrm>
          <a:prstGeom prst="roundRect">
            <a:avLst>
              <a:gd name="adj" fmla="val 13333"/>
            </a:avLst>
          </a:prstGeom>
          <a:solidFill>
            <a:schemeClr val="tx2">
              <a:alpha val="6000"/>
            </a:schemeClr>
          </a:solidFill>
          <a:ln w="15875">
            <a:solidFill>
              <a:schemeClr val="tx2"/>
            </a:solidFill>
          </a:ln>
        </p:spPr>
        <p:txBody>
          <a:bodyPr wrap="square" lIns="0" tIns="0" rIns="0" bIns="0" rtlCol="0" anchor="ctr"/>
          <a:lstStyle/>
          <a:p>
            <a:pPr algn="ctr" indent="0" marL="0">
              <a:buNone/>
            </a:pPr>
            <a:r>
              <a:rPr lang="en-IE" sz="1400" dirty="0">
                <a:solidFill>
                  <a:schemeClr val="tx1"/>
                </a:solidFill>
                <a:latin typeface="Consolas" pitchFamily="34" charset="0"/>
                <a:ea typeface="Consolas" pitchFamily="34" charset="-122"/>
                <a:cs typeface="Consolas" pitchFamily="34" charset="-120"/>
              </a:rPr>
              <a:t>2 Tom</a:t>
            </a:r>
            <a:endParaRPr lang="en-IE" sz="1400" dirty="0"/>
          </a:p>
        </p:txBody>
      </p:sp>
      <p:sp>
        <p:nvSpPr>
          <p:cNvPr id="13" name="Cell 3"/>
          <p:cNvSpPr/>
          <p:nvPr/>
        </p:nvSpPr>
        <p:spPr>
          <a:xfrm>
            <a:off x="9921240" y="3927856"/>
            <a:ext cx="1298448" cy="548640"/>
          </a:xfrm>
          <a:prstGeom prst="roundRect">
            <a:avLst>
              <a:gd name="adj" fmla="val 13333"/>
            </a:avLst>
          </a:prstGeom>
          <a:solidFill>
            <a:schemeClr val="tx2">
              <a:alpha val="6000"/>
            </a:schemeClr>
          </a:solidFill>
          <a:ln w="15875">
            <a:solidFill>
              <a:schemeClr val="tx2"/>
            </a:solidFill>
          </a:ln>
        </p:spPr>
        <p:txBody>
          <a:bodyPr wrap="square" lIns="0" tIns="0" rIns="0" bIns="0" rtlCol="0" anchor="ctr"/>
          <a:lstStyle/>
          <a:p>
            <a:pPr algn="ctr" indent="0" marL="0">
              <a:buNone/>
            </a:pPr>
            <a:r>
              <a:rPr lang="en-IE" sz="1400" dirty="0">
                <a:solidFill>
                  <a:schemeClr val="tx1"/>
                </a:solidFill>
                <a:latin typeface="Consolas" pitchFamily="34" charset="0"/>
                <a:ea typeface="Consolas" pitchFamily="34" charset="-122"/>
                <a:cs typeface="Consolas" pitchFamily="34" charset="-120"/>
              </a:rPr>
              <a:t>3 Amy</a:t>
            </a:r>
            <a:endParaRPr lang="en-IE" sz="1400" dirty="0"/>
          </a:p>
        </p:txBody>
      </p:sp>
      <p:sp>
        <p:nvSpPr>
          <p:cNvPr id="14" name="Text 11"/>
          <p:cNvSpPr txBox="1"/>
          <p:nvPr/>
        </p:nvSpPr>
        <p:spPr>
          <a:xfrm>
            <a:off x="5806440" y="4778248"/>
            <a:ext cx="4572000" cy="292608"/>
          </a:xfrm>
          <a:prstGeom prst="rect">
            <a:avLst/>
          </a:prstGeom>
          <a:noFill/>
          <a:ln/>
        </p:spPr>
        <p:txBody>
          <a:bodyPr wrap="square" lIns="0" tIns="0" rIns="0" bIns="0" rtlCol="0" anchor="t"/>
          <a:lstStyle/>
          <a:p>
            <a:pPr indent="0" marL="0">
              <a:buNone/>
            </a:pPr>
            <a:r>
              <a:rPr lang="en-IE" sz="1350" b="1" dirty="0">
                <a:solidFill>
                  <a:schemeClr val="tx2"/>
                </a:solidFill>
              </a:rPr>
              <a:t>After: by name, then by id</a:t>
            </a:r>
            <a:endParaRPr lang="en-IE" sz="1350" dirty="0"/>
          </a:p>
        </p:txBody>
      </p:sp>
      <p:sp>
        <p:nvSpPr>
          <p:cNvPr id="15" name="Cell 0"/>
          <p:cNvSpPr/>
          <p:nvPr/>
        </p:nvSpPr>
        <p:spPr>
          <a:xfrm>
            <a:off x="5806440" y="5116576"/>
            <a:ext cx="1298448" cy="548640"/>
          </a:xfrm>
          <a:prstGeom prst="roundRect">
            <a:avLst>
              <a:gd name="adj" fmla="val 13333"/>
            </a:avLst>
          </a:prstGeom>
          <a:solidFill>
            <a:schemeClr val="accent3">
              <a:alpha val="20000"/>
            </a:schemeClr>
          </a:solidFill>
          <a:ln w="15875">
            <a:solidFill>
              <a:schemeClr val="accent3"/>
            </a:solidFill>
          </a:ln>
        </p:spPr>
        <p:txBody>
          <a:bodyPr wrap="square" lIns="0" tIns="0" rIns="0" bIns="0" rtlCol="0" anchor="ctr"/>
          <a:lstStyle/>
          <a:p>
            <a:pPr algn="ctr" indent="0" marL="0">
              <a:buNone/>
            </a:pPr>
            <a:r>
              <a:rPr lang="en-IE" sz="1400" b="1" dirty="0">
                <a:solidFill>
                  <a:schemeClr val="tx1"/>
                </a:solidFill>
                <a:latin typeface="Consolas" pitchFamily="34" charset="0"/>
                <a:ea typeface="Consolas" pitchFamily="34" charset="-122"/>
                <a:cs typeface="Consolas" pitchFamily="34" charset="-120"/>
              </a:rPr>
              <a:t>3 Amy</a:t>
            </a:r>
            <a:endParaRPr lang="en-IE" sz="1400" dirty="0"/>
          </a:p>
        </p:txBody>
      </p:sp>
      <p:sp>
        <p:nvSpPr>
          <p:cNvPr id="16" name="Cell 1"/>
          <p:cNvSpPr/>
          <p:nvPr/>
        </p:nvSpPr>
        <p:spPr>
          <a:xfrm>
            <a:off x="7178040" y="5116576"/>
            <a:ext cx="1298448" cy="548640"/>
          </a:xfrm>
          <a:prstGeom prst="roundRect">
            <a:avLst>
              <a:gd name="adj" fmla="val 13333"/>
            </a:avLst>
          </a:prstGeom>
          <a:solidFill>
            <a:schemeClr val="accent3">
              <a:alpha val="20000"/>
            </a:schemeClr>
          </a:solidFill>
          <a:ln w="15875">
            <a:solidFill>
              <a:schemeClr val="accent3"/>
            </a:solidFill>
          </a:ln>
        </p:spPr>
        <p:txBody>
          <a:bodyPr wrap="square" lIns="0" tIns="0" rIns="0" bIns="0" rtlCol="0" anchor="ctr"/>
          <a:lstStyle/>
          <a:p>
            <a:pPr algn="ctr" indent="0" marL="0">
              <a:buNone/>
            </a:pPr>
            <a:r>
              <a:rPr lang="en-IE" sz="1400" b="1" dirty="0">
                <a:solidFill>
                  <a:schemeClr val="tx1"/>
                </a:solidFill>
                <a:latin typeface="Consolas" pitchFamily="34" charset="0"/>
                <a:ea typeface="Consolas" pitchFamily="34" charset="-122"/>
                <a:cs typeface="Consolas" pitchFamily="34" charset="-120"/>
              </a:rPr>
              <a:t>9 Amy</a:t>
            </a:r>
            <a:endParaRPr lang="en-IE" sz="1400" dirty="0"/>
          </a:p>
        </p:txBody>
      </p:sp>
      <p:sp>
        <p:nvSpPr>
          <p:cNvPr id="17" name="Cell 2"/>
          <p:cNvSpPr/>
          <p:nvPr/>
        </p:nvSpPr>
        <p:spPr>
          <a:xfrm>
            <a:off x="8549640" y="5116576"/>
            <a:ext cx="1298448" cy="548640"/>
          </a:xfrm>
          <a:prstGeom prst="roundRect">
            <a:avLst>
              <a:gd name="adj" fmla="val 13333"/>
            </a:avLst>
          </a:prstGeom>
          <a:solidFill>
            <a:schemeClr val="accent3">
              <a:alpha val="20000"/>
            </a:schemeClr>
          </a:solidFill>
          <a:ln w="15875">
            <a:solidFill>
              <a:schemeClr val="accent3"/>
            </a:solidFill>
          </a:ln>
        </p:spPr>
        <p:txBody>
          <a:bodyPr wrap="square" lIns="0" tIns="0" rIns="0" bIns="0" rtlCol="0" anchor="ctr"/>
          <a:lstStyle/>
          <a:p>
            <a:pPr algn="ctr" indent="0" marL="0">
              <a:buNone/>
            </a:pPr>
            <a:r>
              <a:rPr lang="en-IE" sz="1400" b="1" dirty="0">
                <a:solidFill>
                  <a:schemeClr val="tx1"/>
                </a:solidFill>
                <a:latin typeface="Consolas" pitchFamily="34" charset="0"/>
                <a:ea typeface="Consolas" pitchFamily="34" charset="-122"/>
                <a:cs typeface="Consolas" pitchFamily="34" charset="-120"/>
              </a:rPr>
              <a:t>2 Tom</a:t>
            </a:r>
            <a:endParaRPr lang="en-IE" sz="1400" dirty="0"/>
          </a:p>
        </p:txBody>
      </p:sp>
      <p:sp>
        <p:nvSpPr>
          <p:cNvPr id="18" name="Cell 3"/>
          <p:cNvSpPr/>
          <p:nvPr/>
        </p:nvSpPr>
        <p:spPr>
          <a:xfrm>
            <a:off x="9921240" y="5116576"/>
            <a:ext cx="1298448" cy="548640"/>
          </a:xfrm>
          <a:prstGeom prst="roundRect">
            <a:avLst>
              <a:gd name="adj" fmla="val 13333"/>
            </a:avLst>
          </a:prstGeom>
          <a:solidFill>
            <a:schemeClr val="accent3">
              <a:alpha val="20000"/>
            </a:schemeClr>
          </a:solidFill>
          <a:ln w="15875">
            <a:solidFill>
              <a:schemeClr val="accent3"/>
            </a:solidFill>
          </a:ln>
        </p:spPr>
        <p:txBody>
          <a:bodyPr wrap="square" lIns="0" tIns="0" rIns="0" bIns="0" rtlCol="0" anchor="ctr"/>
          <a:lstStyle/>
          <a:p>
            <a:pPr algn="ctr" indent="0" marL="0">
              <a:buNone/>
            </a:pPr>
            <a:r>
              <a:rPr lang="en-IE" sz="1400" b="1" dirty="0">
                <a:solidFill>
                  <a:schemeClr val="tx1"/>
                </a:solidFill>
                <a:latin typeface="Consolas" pitchFamily="34" charset="0"/>
                <a:ea typeface="Consolas" pitchFamily="34" charset="-122"/>
                <a:cs typeface="Consolas" pitchFamily="34" charset="-120"/>
              </a:rPr>
              <a:t>4 Tom</a:t>
            </a:r>
            <a:endParaRPr lang="en-IE" sz="1400" dirty="0"/>
          </a:p>
        </p:txBody>
      </p:sp>
      <p:sp>
        <p:nvSpPr>
          <p:cNvPr id="19" name="Note"/>
          <p:cNvSpPr/>
          <p:nvPr/>
        </p:nvSpPr>
        <p:spPr>
          <a:xfrm>
            <a:off x="548640" y="5074920"/>
            <a:ext cx="4937760" cy="868680"/>
          </a:xfrm>
          <a:prstGeom prst="roundRect">
            <a:avLst>
              <a:gd name="adj" fmla="val 12632"/>
            </a:avLst>
          </a:prstGeom>
          <a:solidFill>
            <a:schemeClr val="bg2"/>
          </a:solidFill>
          <a:ln/>
        </p:spPr>
      </p:sp>
      <p:sp>
        <p:nvSpPr>
          <p:cNvPr id="20" name="Icon tile"/>
          <p:cNvSpPr/>
          <p:nvPr/>
        </p:nvSpPr>
        <p:spPr>
          <a:xfrm>
            <a:off x="822960" y="5244084"/>
            <a:ext cx="530352" cy="530352"/>
          </a:xfrm>
          <a:prstGeom prst="roundRect">
            <a:avLst>
              <a:gd name="adj" fmla="val 24000"/>
            </a:avLst>
          </a:prstGeom>
          <a:solidFill>
            <a:schemeClr val="accent2">
              <a:alpha val="14000"/>
            </a:schemeClr>
          </a:solidFill>
          <a:ln/>
        </p:spPr>
      </p:sp>
      <p:pic>
        <p:nvPicPr>
          <p:cNvPr id="21" name="info icon" descr="info icon">    </p:cNvPr>
          <p:cNvPicPr>
            <a:picLocks noChangeAspect="1"/>
          </p:cNvPicPr>
          <p:nvPr/>
        </p:nvPicPr>
        <p:blipFill>
          <a:blip r:embed="rId1"/>
          <a:stretch>
            <a:fillRect/>
          </a:stretch>
        </p:blipFill>
        <p:spPr>
          <a:xfrm>
            <a:off x="934334" y="5355458"/>
            <a:ext cx="307604" cy="307604"/>
          </a:xfrm>
          <a:prstGeom prst="rect">
            <a:avLst/>
          </a:prstGeom>
        </p:spPr>
      </p:pic>
      <p:sp>
        <p:nvSpPr>
          <p:cNvPr id="22" name="Text 18"/>
          <p:cNvSpPr txBox="1"/>
          <p:nvPr/>
        </p:nvSpPr>
        <p:spPr>
          <a:xfrm>
            <a:off x="1572768" y="5074920"/>
            <a:ext cx="3657600" cy="868680"/>
          </a:xfrm>
          <a:prstGeom prst="rect">
            <a:avLst/>
          </a:prstGeom>
          <a:noFill/>
          <a:ln/>
        </p:spPr>
        <p:txBody>
          <a:bodyPr wrap="square" lIns="0" tIns="0" rIns="0" bIns="0" rtlCol="0" anchor="ctr"/>
          <a:lstStyle/>
          <a:p>
            <a:pPr indent="0" marL="0">
              <a:buNone/>
            </a:pPr>
            <a:r>
              <a:rPr lang="en-IE" sz="1550" dirty="0">
                <a:solidFill>
                  <a:schemeClr val="tx1"/>
                </a:solidFill>
              </a:rPr>
              <a:t>The second order only matters when the first one is a tie.</a:t>
            </a:r>
            <a:endParaRPr lang="en-IE" sz="15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76</a:t>
            </a:fld>
            <a:endParaRPr lang="en-IE"/>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23</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Sorting by two things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comparator sorts students by course, then by name within each course?</a:t>
            </a:r>
            <a:endParaRPr lang="en-IE"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IE" sz="1550" dirty="0">
                <a:solidFill>
                  <a:schemeClr val="tx1"/>
                </a:solidFill>
                <a:latin typeface="Consolas" pitchFamily="34" charset="0"/>
                <a:ea typeface="Consolas" pitchFamily="34" charset="-122"/>
                <a:cs typeface="Consolas" pitchFamily="34" charset="-120"/>
              </a:rPr>
              <a:t>Comparator.comparing(Student::getName).thenComparing(Student::getCourse)</a:t>
            </a:r>
            <a:endParaRPr lang="en-IE" sz="155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IE" sz="1550" dirty="0">
                <a:solidFill>
                  <a:schemeClr val="tx1"/>
                </a:solidFill>
                <a:latin typeface="Consolas" pitchFamily="34" charset="0"/>
                <a:ea typeface="Consolas" pitchFamily="34" charset="-122"/>
                <a:cs typeface="Consolas" pitchFamily="34" charset="-120"/>
              </a:rPr>
              <a:t>Comparator.comparing(Student::getCourse).reversed()</a:t>
            </a:r>
            <a:endParaRPr lang="en-IE" sz="155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IE" sz="1550" dirty="0">
                <a:solidFill>
                  <a:schemeClr val="tx1"/>
                </a:solidFill>
                <a:latin typeface="Consolas" pitchFamily="34" charset="0"/>
                <a:ea typeface="Consolas" pitchFamily="34" charset="-122"/>
                <a:cs typeface="Consolas" pitchFamily="34" charset="-120"/>
              </a:rPr>
              <a:t>Comparator.comparing(Student::getCourse, Student::getName)</a:t>
            </a:r>
            <a:endParaRPr lang="en-IE" sz="155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IE" sz="1550" dirty="0">
                <a:solidFill>
                  <a:schemeClr val="tx1"/>
                </a:solidFill>
                <a:latin typeface="Consolas" pitchFamily="34" charset="0"/>
                <a:ea typeface="Consolas" pitchFamily="34" charset="-122"/>
                <a:cs typeface="Consolas" pitchFamily="34" charset="-120"/>
              </a:rPr>
              <a:t>Comparator.comparing(Student::getCourse).thenComparing(Student::getName)</a:t>
            </a:r>
            <a:endParaRPr lang="en-IE" sz="15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77</a:t>
            </a:fld>
            <a:endParaRPr lang="en-IE"/>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23</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Sorting by two things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comparator sorts students by course, then by name within each course?</a:t>
            </a:r>
            <a:endParaRPr lang="en-IE"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Comparator.comparing(Student::getName).thenComparing(Student::getCourse)</a:t>
            </a:r>
            <a:endParaRPr lang="en-IE" sz="1700" dirty="0"/>
          </a:p>
        </p:txBody>
      </p:sp>
      <p:sp>
        <p:nvSpPr>
          <p:cNvPr id="8"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Comparator.comparing(Student::getCourse).reversed()</a:t>
            </a:r>
            <a:endParaRPr lang="en-IE" sz="1700" dirty="0"/>
          </a:p>
        </p:txBody>
      </p:sp>
      <p:sp>
        <p:nvSpPr>
          <p:cNvPr id="11"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Comparator.comparing(Student::getCourse, Student::getName)</a:t>
            </a:r>
            <a:endParaRPr lang="en-IE" sz="1700" dirty="0"/>
          </a:p>
        </p:txBody>
      </p:sp>
      <p:sp>
        <p:nvSpPr>
          <p:cNvPr id="14" name="Option D (correct)"/>
          <p:cNvSpPr/>
          <p:nvPr/>
        </p:nvSpPr>
        <p:spPr>
          <a:xfrm>
            <a:off x="548640" y="3941064"/>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0233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3941064"/>
            <a:ext cx="9613087" cy="585216"/>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Comparator.comparing(Student::getCourse).thenComparing(Student::getName)</a:t>
            </a:r>
            <a:endParaRPr lang="en-IE" sz="1700" dirty="0"/>
          </a:p>
        </p:txBody>
      </p:sp>
      <p:pic>
        <p:nvPicPr>
          <p:cNvPr id="17" name="Correct mark" descr="Correct mark">    </p:cNvPr>
          <p:cNvPicPr>
            <a:picLocks noChangeAspect="1"/>
          </p:cNvPicPr>
          <p:nvPr/>
        </p:nvPicPr>
        <p:blipFill>
          <a:blip r:embed="rId1"/>
          <a:stretch>
            <a:fillRect/>
          </a:stretch>
        </p:blipFill>
        <p:spPr>
          <a:xfrm>
            <a:off x="11094415" y="4050792"/>
            <a:ext cx="365760" cy="365760"/>
          </a:xfrm>
          <a:prstGeom prst="rect">
            <a:avLst/>
          </a:prstGeom>
        </p:spPr>
      </p:pic>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indent="0" marL="0">
              <a:buNone/>
            </a:pPr>
            <a:r>
              <a:rPr lang="en-IE" sz="1600" dirty="0">
                <a:solidFill>
                  <a:schemeClr val="tx1"/>
                </a:solidFill>
              </a:rPr>
              <a:t>The first </a:t>
            </a:r>
            <a:r>
              <a:rPr lang="en-IE" sz="1600" dirty="0">
                <a:solidFill>
                  <a:schemeClr val="accent2"/>
                </a:solidFill>
                <a:latin typeface="Consolas" pitchFamily="34" charset="0"/>
                <a:ea typeface="Consolas" pitchFamily="34" charset="-122"/>
                <a:cs typeface="Consolas" pitchFamily="34" charset="-120"/>
              </a:rPr>
              <a:t>comparing()</a:t>
            </a:r>
            <a:r>
              <a:rPr lang="en-IE" sz="1600" dirty="0">
                <a:solidFill>
                  <a:schemeClr val="tx1"/>
                </a:solidFill>
              </a:rPr>
              <a:t> decides the main order, and </a:t>
            </a:r>
            <a:r>
              <a:rPr lang="en-IE" sz="1600" dirty="0">
                <a:solidFill>
                  <a:schemeClr val="accent2"/>
                </a:solidFill>
                <a:latin typeface="Consolas" pitchFamily="34" charset="0"/>
                <a:ea typeface="Consolas" pitchFamily="34" charset="-122"/>
                <a:cs typeface="Consolas" pitchFamily="34" charset="-120"/>
              </a:rPr>
              <a:t>thenComparing()</a:t>
            </a:r>
            <a:r>
              <a:rPr lang="en-IE" sz="1600" dirty="0">
                <a:solidFill>
                  <a:schemeClr val="tx1"/>
                </a:solidFill>
              </a:rPr>
              <a:t> only breaks ties. D sorts by course, and students on the same course by name. A does it the other way round, B only sorts by course, backwards, and C doesn’t compile.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78</a:t>
            </a:fld>
            <a:endParaRPr lang="en-IE"/>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SORTING OBJECTS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Comparable or Comparator?</a:t>
            </a:r>
            <a:endParaRPr lang="en-IE" sz="3400" dirty="0"/>
          </a:p>
        </p:txBody>
      </p:sp>
      <p:graphicFrame>
        <p:nvGraphicFramePr>
          <p:cNvPr id="80" name="Comparable vs Comparator"/>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377440"/>
                <a:gridCol w="4206240"/>
                <a:gridCol w="4507992"/>
              </a:tblGrid>
              <a:tr h="530352">
                <a:tc>
                  <a:txBody>
                    <a:bodyPr/>
                    <a:lstStyle/>
                    <a:p>
                      <a:pPr indent="0" marL="0">
                        <a:buNone/>
                      </a:pPr>
                      <a:endParaRPr lang="en-IE" sz="1600" dirty="0"/>
                    </a:p>
                  </a:txBody>
                  <a:tcPr marL="91440" marR="91440" marT="45720" marB="45720">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algn="l" indent="0" marL="0">
                        <a:buNone/>
                      </a:pPr>
                      <a:r>
                        <a:rPr lang="en-IE" sz="1600" b="1" dirty="0">
                          <a:solidFill>
                            <a:srgbClr val="FFFFFF"/>
                          </a:solidFill>
                        </a:rPr>
                        <a:t>Comparable</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1F3F6B"/>
                    </a:solidFill>
                  </a:tcPr>
                </a:tc>
                <a:tc>
                  <a:txBody>
                    <a:bodyPr/>
                    <a:lstStyle/>
                    <a:p>
                      <a:pPr algn="l" indent="0" marL="0">
                        <a:buNone/>
                      </a:pPr>
                      <a:r>
                        <a:rPr lang="en-IE" sz="1600" b="1" dirty="0">
                          <a:solidFill>
                            <a:srgbClr val="FFFFFF"/>
                          </a:solidFill>
                        </a:rPr>
                        <a:t>Comparator</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1F3F6B"/>
                    </a:solidFill>
                  </a:tcPr>
                </a:tc>
              </a:tr>
              <a:tr h="530352">
                <a:tc>
                  <a:txBody>
                    <a:bodyPr/>
                    <a:lstStyle/>
                    <a:p>
                      <a:pPr algn="l" indent="0" marL="0">
                        <a:buNone/>
                      </a:pPr>
                      <a:r>
                        <a:rPr lang="en-IE" sz="1600" b="1" dirty="0">
                          <a:solidFill>
                            <a:srgbClr val="1D2433"/>
                          </a:solidFill>
                        </a:rPr>
                        <a:t>Where it lives</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algn="l" indent="0" marL="0">
                        <a:buNone/>
                      </a:pPr>
                      <a:r>
                        <a:rPr lang="en-IE" sz="1600" dirty="0">
                          <a:solidFill>
                            <a:srgbClr val="1D2433"/>
                          </a:solidFill>
                        </a:rPr>
                        <a:t>Inside the class, which implements it</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algn="l" indent="0" marL="0">
                        <a:buNone/>
                      </a:pPr>
                      <a:r>
                        <a:rPr lang="en-IE" sz="1600" dirty="0">
                          <a:solidFill>
                            <a:srgbClr val="1D2433"/>
                          </a:solidFill>
                        </a:rPr>
                        <a:t>Outside the class, as a separate object</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530352">
                <a:tc>
                  <a:txBody>
                    <a:bodyPr/>
                    <a:lstStyle/>
                    <a:p>
                      <a:pPr algn="l" indent="0" marL="0">
                        <a:buNone/>
                      </a:pPr>
                      <a:r>
                        <a:rPr lang="en-IE" sz="1600" b="1" dirty="0">
                          <a:solidFill>
                            <a:srgbClr val="1D2433"/>
                          </a:solidFill>
                        </a:rPr>
                        <a:t>How many orders</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algn="l" indent="0" marL="0">
                        <a:buNone/>
                      </a:pPr>
                      <a:r>
                        <a:rPr lang="en-IE" sz="1600" dirty="0">
                          <a:solidFill>
                            <a:srgbClr val="1D2433"/>
                          </a:solidFill>
                        </a:rPr>
                        <a:t>One: the natural order</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algn="l" indent="0" marL="0">
                        <a:buNone/>
                      </a:pPr>
                      <a:r>
                        <a:rPr lang="en-IE" sz="1600" dirty="0">
                          <a:solidFill>
                            <a:srgbClr val="1D2433"/>
                          </a:solidFill>
                        </a:rPr>
                        <a:t>As many as we like</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530352">
                <a:tc>
                  <a:txBody>
                    <a:bodyPr/>
                    <a:lstStyle/>
                    <a:p>
                      <a:pPr algn="l" indent="0" marL="0">
                        <a:buNone/>
                      </a:pPr>
                      <a:r>
                        <a:rPr lang="en-IE" sz="1600" b="1" dirty="0">
                          <a:solidFill>
                            <a:srgbClr val="1D2433"/>
                          </a:solidFill>
                        </a:rPr>
                        <a:t>The method</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algn="l" indent="0" marL="0">
                        <a:buNone/>
                      </a:pPr>
                      <a:r>
                        <a:rPr lang="en-IE" sz="1600" dirty="0">
                          <a:solidFill>
                            <a:srgbClr val="1D2433"/>
                          </a:solidFill>
                          <a:latin typeface="Consolas" pitchFamily="34" charset="0"/>
                          <a:ea typeface="Consolas" pitchFamily="34" charset="-122"/>
                          <a:cs typeface="Consolas" pitchFamily="34" charset="-120"/>
                        </a:rPr>
                        <a:t>compareTo(other)</a:t>
                      </a:r>
                      <a:endParaRPr lang="en-IE" sz="16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algn="l" indent="0" marL="0">
                        <a:buNone/>
                      </a:pPr>
                      <a:r>
                        <a:rPr lang="en-IE" sz="1600" dirty="0">
                          <a:solidFill>
                            <a:srgbClr val="1D2433"/>
                          </a:solidFill>
                          <a:latin typeface="Consolas" pitchFamily="34" charset="0"/>
                          <a:ea typeface="Consolas" pitchFamily="34" charset="-122"/>
                          <a:cs typeface="Consolas" pitchFamily="34" charset="-120"/>
                        </a:rPr>
                        <a:t>compare(a, b)</a:t>
                      </a:r>
                      <a:endParaRPr lang="en-IE" sz="16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530352">
                <a:tc>
                  <a:txBody>
                    <a:bodyPr/>
                    <a:lstStyle/>
                    <a:p>
                      <a:pPr algn="l" indent="0" marL="0">
                        <a:buNone/>
                      </a:pPr>
                      <a:r>
                        <a:rPr lang="en-IE" sz="1600" b="1" dirty="0">
                          <a:solidFill>
                            <a:srgbClr val="1D2433"/>
                          </a:solidFill>
                        </a:rPr>
                        <a:t>Package</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algn="l" indent="0" marL="0">
                        <a:buNone/>
                      </a:pPr>
                      <a:r>
                        <a:rPr lang="en-IE" sz="1600" dirty="0">
                          <a:solidFill>
                            <a:srgbClr val="1D2433"/>
                          </a:solidFill>
                          <a:latin typeface="Consolas" pitchFamily="34" charset="0"/>
                          <a:ea typeface="Consolas" pitchFamily="34" charset="-122"/>
                          <a:cs typeface="Consolas" pitchFamily="34" charset="-120"/>
                        </a:rPr>
                        <a:t>java.lang</a:t>
                      </a:r>
                      <a:endParaRPr lang="en-IE" sz="16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algn="l" indent="0" marL="0">
                        <a:buNone/>
                      </a:pPr>
                      <a:r>
                        <a:rPr lang="en-IE" sz="1600" dirty="0">
                          <a:solidFill>
                            <a:srgbClr val="1D2433"/>
                          </a:solidFill>
                          <a:latin typeface="Consolas" pitchFamily="34" charset="0"/>
                          <a:ea typeface="Consolas" pitchFamily="34" charset="-122"/>
                          <a:cs typeface="Consolas" pitchFamily="34" charset="-120"/>
                        </a:rPr>
                        <a:t>java.util</a:t>
                      </a:r>
                      <a:endParaRPr lang="en-IE" sz="16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530352">
                <a:tc>
                  <a:txBody>
                    <a:bodyPr/>
                    <a:lstStyle/>
                    <a:p>
                      <a:pPr algn="l" indent="0" marL="0">
                        <a:buNone/>
                      </a:pPr>
                      <a:r>
                        <a:rPr lang="en-IE" sz="1600" b="1" dirty="0">
                          <a:solidFill>
                            <a:srgbClr val="1D2433"/>
                          </a:solidFill>
                        </a:rPr>
                        <a:t>Sorting</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algn="l" indent="0" marL="0">
                        <a:buNone/>
                      </a:pPr>
                      <a:r>
                        <a:rPr lang="en-IE" sz="1600" dirty="0">
                          <a:solidFill>
                            <a:srgbClr val="1D2433"/>
                          </a:solidFill>
                          <a:latin typeface="Consolas" pitchFamily="34" charset="0"/>
                          <a:ea typeface="Consolas" pitchFamily="34" charset="-122"/>
                          <a:cs typeface="Consolas" pitchFamily="34" charset="-120"/>
                        </a:rPr>
                        <a:t>Collections.sort(list)</a:t>
                      </a:r>
                      <a:endParaRPr lang="en-IE" sz="16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algn="l" indent="0" marL="0">
                        <a:buNone/>
                      </a:pPr>
                      <a:r>
                        <a:rPr lang="en-IE" sz="1600" dirty="0">
                          <a:solidFill>
                            <a:srgbClr val="1D2433"/>
                          </a:solidFill>
                          <a:latin typeface="Consolas" pitchFamily="34" charset="0"/>
                          <a:ea typeface="Consolas" pitchFamily="34" charset="-122"/>
                          <a:cs typeface="Consolas" pitchFamily="34" charset="-120"/>
                        </a:rPr>
                        <a:t>Collections.sort(list, comparator)</a:t>
                      </a:r>
                      <a:endParaRPr lang="en-IE" sz="16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bl>
          </a:graphicData>
        </a:graphic>
      </p:graphicFrame>
      <p:sp>
        <p:nvSpPr>
          <p:cNvPr id="6" name="Note"/>
          <p:cNvSpPr/>
          <p:nvPr/>
        </p:nvSpPr>
        <p:spPr>
          <a:xfrm>
            <a:off x="548640" y="5257800"/>
            <a:ext cx="11094415" cy="822960"/>
          </a:xfrm>
          <a:prstGeom prst="roundRect">
            <a:avLst>
              <a:gd name="adj" fmla="val 13333"/>
            </a:avLst>
          </a:prstGeom>
          <a:solidFill>
            <a:schemeClr val="bg2"/>
          </a:solidFill>
          <a:ln/>
        </p:spPr>
      </p:sp>
      <p:sp>
        <p:nvSpPr>
          <p:cNvPr id="7" name="Icon tile"/>
          <p:cNvSpPr/>
          <p:nvPr/>
        </p:nvSpPr>
        <p:spPr>
          <a:xfrm>
            <a:off x="822960" y="5404104"/>
            <a:ext cx="530352" cy="530352"/>
          </a:xfrm>
          <a:prstGeom prst="roundRect">
            <a:avLst>
              <a:gd name="adj" fmla="val 24000"/>
            </a:avLst>
          </a:prstGeom>
          <a:solidFill>
            <a:schemeClr val="accent2">
              <a:alpha val="14000"/>
            </a:schemeClr>
          </a:solidFill>
          <a:ln/>
        </p:spPr>
      </p:sp>
      <p:pic>
        <p:nvPicPr>
          <p:cNvPr id="8" name="signpost icon" descr="signpost icon">    </p:cNvPr>
          <p:cNvPicPr>
            <a:picLocks noChangeAspect="1"/>
          </p:cNvPicPr>
          <p:nvPr/>
        </p:nvPicPr>
        <p:blipFill>
          <a:blip r:embed="rId1"/>
          <a:stretch>
            <a:fillRect/>
          </a:stretch>
        </p:blipFill>
        <p:spPr>
          <a:xfrm>
            <a:off x="934334" y="5515478"/>
            <a:ext cx="307604" cy="307604"/>
          </a:xfrm>
          <a:prstGeom prst="rect">
            <a:avLst/>
          </a:prstGeom>
        </p:spPr>
      </p:pic>
      <p:sp>
        <p:nvSpPr>
          <p:cNvPr id="9" name="Text 4"/>
          <p:cNvSpPr txBox="1"/>
          <p:nvPr/>
        </p:nvSpPr>
        <p:spPr>
          <a:xfrm>
            <a:off x="1572768" y="5257800"/>
            <a:ext cx="9814255" cy="822960"/>
          </a:xfrm>
          <a:prstGeom prst="rect">
            <a:avLst/>
          </a:prstGeom>
          <a:noFill/>
          <a:ln/>
        </p:spPr>
        <p:txBody>
          <a:bodyPr wrap="square" lIns="0" tIns="0" rIns="0" bIns="0" rtlCol="0" anchor="ctr"/>
          <a:lstStyle/>
          <a:p>
            <a:pPr indent="0" marL="0">
              <a:buNone/>
            </a:pPr>
            <a:r>
              <a:rPr lang="en-IE" sz="1600" dirty="0">
                <a:solidFill>
                  <a:schemeClr val="tx1"/>
                </a:solidFill>
              </a:rPr>
              <a:t>Comparable for the order a class normally has; Comparators for any other order, or for classes we can’t change.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79</a:t>
            </a:fld>
            <a:endParaRPr lang="en-IE"/>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24</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Comparable or Comparator</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Book comes from a library you can’t change, and you want to sort books by price. What do you use?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Comparable, by editing Book</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Comparator, as Book doesn’t change</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Collections.shuffle()</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 </a:t>
            </a:r>
            <a:r>
              <a:rPr lang="en-IE" sz="2000" dirty="0">
                <a:solidFill>
                  <a:schemeClr val="accent2"/>
                </a:solidFill>
                <a:latin typeface="Consolas" pitchFamily="34" charset="0"/>
                <a:ea typeface="Consolas" pitchFamily="34" charset="-122"/>
                <a:cs typeface="Consolas" pitchFamily="34" charset="-120"/>
              </a:rPr>
              <a:t>equals()</a:t>
            </a:r>
            <a:r>
              <a:rPr lang="en-IE" sz="2000" dirty="0">
                <a:solidFill>
                  <a:schemeClr val="tx1"/>
                </a:solidFill>
              </a:rPr>
              <a:t> method</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80</a:t>
            </a:fld>
            <a:endParaRPr lang="en-IE"/>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24</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Comparable or Comparator</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Book comes from a library you can’t change, and you want to sort books by price. What do you use?</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Comparable, by editing Book</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A Comparator, as Book doesn’t change</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Collections.shuffle()</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The </a:t>
            </a:r>
            <a:r>
              <a:rPr lang="en-IE" sz="1700" dirty="0">
                <a:solidFill>
                  <a:schemeClr val="tx2"/>
                </a:solidFill>
                <a:latin typeface="Consolas" pitchFamily="34" charset="0"/>
                <a:ea typeface="Consolas" pitchFamily="34" charset="-122"/>
                <a:cs typeface="Consolas" pitchFamily="34" charset="-120"/>
              </a:rPr>
              <a:t>equals()</a:t>
            </a:r>
            <a:r>
              <a:rPr lang="en-IE" sz="1700" dirty="0">
                <a:solidFill>
                  <a:schemeClr val="tx2"/>
                </a:solidFill>
              </a:rPr>
              <a:t> method</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Comparator lives outside the class, so it works even when we can’t edit Book, for example with </a:t>
            </a:r>
            <a:r>
              <a:rPr lang="en-IE" sz="1800" dirty="0">
                <a:solidFill>
                  <a:schemeClr val="accent2"/>
                </a:solidFill>
                <a:latin typeface="Consolas" pitchFamily="34" charset="0"/>
                <a:ea typeface="Consolas" pitchFamily="34" charset="-122"/>
                <a:cs typeface="Consolas" pitchFamily="34" charset="-120"/>
              </a:rPr>
              <a:t>comparingDouble(Book::getPrice)</a:t>
            </a:r>
            <a:r>
              <a:rPr lang="en-IE" sz="1800" dirty="0">
                <a:solidFill>
                  <a:schemeClr val="tx1"/>
                </a:solidFill>
              </a:rPr>
              <a:t>. Comparable means adding compareTo to Book itself, which isn’t possible here.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81</a:t>
            </a:fld>
            <a:endParaRPr lang="en-IE"/>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WRAP-UP</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Lecture 7 at a glance</a:t>
            </a:r>
            <a:endParaRPr lang="en-IE" sz="3400" dirty="0"/>
          </a:p>
        </p:txBody>
      </p:sp>
      <p:sp>
        <p:nvSpPr>
          <p:cNvPr id="5" name="Card"/>
          <p:cNvSpPr/>
          <p:nvPr/>
        </p:nvSpPr>
        <p:spPr>
          <a:xfrm>
            <a:off x="548640"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04672" y="2039112"/>
            <a:ext cx="548640" cy="548640"/>
          </a:xfrm>
          <a:prstGeom prst="roundRect">
            <a:avLst>
              <a:gd name="adj" fmla="val 24000"/>
            </a:avLst>
          </a:prstGeom>
          <a:solidFill>
            <a:schemeClr val="accent2">
              <a:alpha val="14000"/>
            </a:schemeClr>
          </a:solidFill>
          <a:ln/>
        </p:spPr>
      </p:sp>
      <p:pic>
        <p:nvPicPr>
          <p:cNvPr id="7" name="equals icon" descr="equals icon">    </p:cNvPr>
          <p:cNvPicPr>
            <a:picLocks noChangeAspect="1"/>
          </p:cNvPicPr>
          <p:nvPr/>
        </p:nvPicPr>
        <p:blipFill>
          <a:blip r:embed="rId1"/>
          <a:stretch>
            <a:fillRect/>
          </a:stretch>
        </p:blipFill>
        <p:spPr>
          <a:xfrm>
            <a:off x="919886" y="2154326"/>
            <a:ext cx="318211" cy="318211"/>
          </a:xfrm>
          <a:prstGeom prst="rect">
            <a:avLst/>
          </a:prstGeom>
        </p:spPr>
      </p:pic>
      <p:sp>
        <p:nvSpPr>
          <p:cNvPr id="8" name="Text 4"/>
          <p:cNvSpPr txBox="1"/>
          <p:nvPr/>
        </p:nvSpPr>
        <p:spPr>
          <a:xfrm>
            <a:off x="1481328"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latin typeface="Consolas" pitchFamily="34" charset="0"/>
                <a:ea typeface="Consolas" pitchFamily="34" charset="-122"/>
                <a:cs typeface="Consolas" pitchFamily="34" charset="-120"/>
              </a:rPr>
              <a:t>equals()</a:t>
            </a:r>
            <a:endParaRPr lang="en-IE" sz="1900" dirty="0"/>
          </a:p>
        </p:txBody>
      </p:sp>
      <p:sp>
        <p:nvSpPr>
          <p:cNvPr id="9" name="Text 5"/>
          <p:cNvSpPr txBox="1"/>
          <p:nvPr/>
        </p:nvSpPr>
        <p:spPr>
          <a:xfrm>
            <a:off x="804672"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Compares content. Override it, taking an Object.</a:t>
            </a:r>
            <a:endParaRPr lang="en-IE" sz="1500" dirty="0"/>
          </a:p>
        </p:txBody>
      </p:sp>
      <p:sp>
        <p:nvSpPr>
          <p:cNvPr id="10" name="Card"/>
          <p:cNvSpPr/>
          <p:nvPr/>
        </p:nvSpPr>
        <p:spPr>
          <a:xfrm>
            <a:off x="3379394"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3635426" y="2039112"/>
            <a:ext cx="548640" cy="548640"/>
          </a:xfrm>
          <a:prstGeom prst="roundRect">
            <a:avLst>
              <a:gd name="adj" fmla="val 24000"/>
            </a:avLst>
          </a:prstGeom>
          <a:solidFill>
            <a:schemeClr val="accent1">
              <a:alpha val="14000"/>
            </a:schemeClr>
          </a:solidFill>
          <a:ln/>
        </p:spPr>
      </p:sp>
      <p:pic>
        <p:nvPicPr>
          <p:cNvPr id="12" name="link icon" descr="link icon">    </p:cNvPr>
          <p:cNvPicPr>
            <a:picLocks noChangeAspect="1"/>
          </p:cNvPicPr>
          <p:nvPr/>
        </p:nvPicPr>
        <p:blipFill>
          <a:blip r:embed="rId2"/>
          <a:stretch>
            <a:fillRect/>
          </a:stretch>
        </p:blipFill>
        <p:spPr>
          <a:xfrm>
            <a:off x="3750640" y="2154326"/>
            <a:ext cx="318211" cy="318211"/>
          </a:xfrm>
          <a:prstGeom prst="rect">
            <a:avLst/>
          </a:prstGeom>
        </p:spPr>
      </p:pic>
      <p:sp>
        <p:nvSpPr>
          <p:cNvPr id="13" name="Text 8"/>
          <p:cNvSpPr txBox="1"/>
          <p:nvPr/>
        </p:nvSpPr>
        <p:spPr>
          <a:xfrm>
            <a:off x="4312082"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latin typeface="Consolas" pitchFamily="34" charset="0"/>
                <a:ea typeface="Consolas" pitchFamily="34" charset="-122"/>
                <a:cs typeface="Consolas" pitchFamily="34" charset="-120"/>
              </a:rPr>
              <a:t>==</a:t>
            </a:r>
            <a:endParaRPr lang="en-IE" sz="1900" dirty="0"/>
          </a:p>
        </p:txBody>
      </p:sp>
      <p:sp>
        <p:nvSpPr>
          <p:cNvPr id="14" name="Text 9"/>
          <p:cNvSpPr txBox="1"/>
          <p:nvPr/>
        </p:nvSpPr>
        <p:spPr>
          <a:xfrm>
            <a:off x="3635426"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Compares references: is it the same object?</a:t>
            </a:r>
            <a:endParaRPr lang="en-IE" sz="1500" dirty="0"/>
          </a:p>
        </p:txBody>
      </p:sp>
      <p:sp>
        <p:nvSpPr>
          <p:cNvPr id="15" name="Card"/>
          <p:cNvSpPr/>
          <p:nvPr/>
        </p:nvSpPr>
        <p:spPr>
          <a:xfrm>
            <a:off x="6210148"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16" name="Icon tile"/>
          <p:cNvSpPr/>
          <p:nvPr/>
        </p:nvSpPr>
        <p:spPr>
          <a:xfrm>
            <a:off x="6466180" y="2039112"/>
            <a:ext cx="548640" cy="548640"/>
          </a:xfrm>
          <a:prstGeom prst="roundRect">
            <a:avLst>
              <a:gd name="adj" fmla="val 24000"/>
            </a:avLst>
          </a:prstGeom>
          <a:solidFill>
            <a:schemeClr val="accent5">
              <a:alpha val="14000"/>
            </a:schemeClr>
          </a:solidFill>
          <a:ln/>
        </p:spPr>
      </p:sp>
      <p:pic>
        <p:nvPicPr>
          <p:cNvPr id="17" name="hash icon" descr="hash icon">    </p:cNvPr>
          <p:cNvPicPr>
            <a:picLocks noChangeAspect="1"/>
          </p:cNvPicPr>
          <p:nvPr/>
        </p:nvPicPr>
        <p:blipFill>
          <a:blip r:embed="rId3"/>
          <a:stretch>
            <a:fillRect/>
          </a:stretch>
        </p:blipFill>
        <p:spPr>
          <a:xfrm>
            <a:off x="6581394" y="2154326"/>
            <a:ext cx="318211" cy="318211"/>
          </a:xfrm>
          <a:prstGeom prst="rect">
            <a:avLst/>
          </a:prstGeom>
        </p:spPr>
      </p:pic>
      <p:sp>
        <p:nvSpPr>
          <p:cNvPr id="18" name="Text 12"/>
          <p:cNvSpPr txBox="1"/>
          <p:nvPr/>
        </p:nvSpPr>
        <p:spPr>
          <a:xfrm>
            <a:off x="7142836"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latin typeface="Consolas" pitchFamily="34" charset="0"/>
                <a:ea typeface="Consolas" pitchFamily="34" charset="-122"/>
                <a:cs typeface="Consolas" pitchFamily="34" charset="-120"/>
              </a:rPr>
              <a:t>hashCode()</a:t>
            </a:r>
            <a:endParaRPr lang="en-IE" sz="1900" dirty="0"/>
          </a:p>
        </p:txBody>
      </p:sp>
      <p:sp>
        <p:nvSpPr>
          <p:cNvPr id="19" name="Text 13"/>
          <p:cNvSpPr txBox="1"/>
          <p:nvPr/>
        </p:nvSpPr>
        <p:spPr>
          <a:xfrm>
            <a:off x="6466180"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Equal objects must have equal hash codes.</a:t>
            </a:r>
            <a:endParaRPr lang="en-IE" sz="1500" dirty="0"/>
          </a:p>
        </p:txBody>
      </p:sp>
      <p:sp>
        <p:nvSpPr>
          <p:cNvPr id="20" name="Card"/>
          <p:cNvSpPr/>
          <p:nvPr/>
        </p:nvSpPr>
        <p:spPr>
          <a:xfrm>
            <a:off x="9040901"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9296933" y="2039112"/>
            <a:ext cx="548640" cy="548640"/>
          </a:xfrm>
          <a:prstGeom prst="roundRect">
            <a:avLst>
              <a:gd name="adj" fmla="val 24000"/>
            </a:avLst>
          </a:prstGeom>
          <a:solidFill>
            <a:schemeClr val="accent4">
              <a:alpha val="14000"/>
            </a:schemeClr>
          </a:solidFill>
          <a:ln/>
        </p:spPr>
      </p:sp>
      <p:pic>
        <p:nvPicPr>
          <p:cNvPr id="22" name="stack icon" descr="stack icon">    </p:cNvPr>
          <p:cNvPicPr>
            <a:picLocks noChangeAspect="1"/>
          </p:cNvPicPr>
          <p:nvPr/>
        </p:nvPicPr>
        <p:blipFill>
          <a:blip r:embed="rId4"/>
          <a:stretch>
            <a:fillRect/>
          </a:stretch>
        </p:blipFill>
        <p:spPr>
          <a:xfrm>
            <a:off x="9412148" y="2154326"/>
            <a:ext cx="318211" cy="318211"/>
          </a:xfrm>
          <a:prstGeom prst="rect">
            <a:avLst/>
          </a:prstGeom>
        </p:spPr>
      </p:pic>
      <p:sp>
        <p:nvSpPr>
          <p:cNvPr id="23" name="Text 16"/>
          <p:cNvSpPr txBox="1"/>
          <p:nvPr/>
        </p:nvSpPr>
        <p:spPr>
          <a:xfrm>
            <a:off x="9973589"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String pool</a:t>
            </a:r>
            <a:endParaRPr lang="en-IE" sz="1900" dirty="0"/>
          </a:p>
        </p:txBody>
      </p:sp>
      <p:sp>
        <p:nvSpPr>
          <p:cNvPr id="24" name="Text 17"/>
          <p:cNvSpPr txBox="1"/>
          <p:nvPr/>
        </p:nvSpPr>
        <p:spPr>
          <a:xfrm>
            <a:off x="9296933"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Literals with the same text share one String.</a:t>
            </a:r>
            <a:endParaRPr lang="en-IE" sz="1500" dirty="0"/>
          </a:p>
        </p:txBody>
      </p:sp>
      <p:sp>
        <p:nvSpPr>
          <p:cNvPr id="25" name="Card"/>
          <p:cNvSpPr/>
          <p:nvPr/>
        </p:nvSpPr>
        <p:spPr>
          <a:xfrm>
            <a:off x="548640"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26" name="Icon tile"/>
          <p:cNvSpPr/>
          <p:nvPr/>
        </p:nvSpPr>
        <p:spPr>
          <a:xfrm>
            <a:off x="804672" y="4279392"/>
            <a:ext cx="548640" cy="548640"/>
          </a:xfrm>
          <a:prstGeom prst="roundRect">
            <a:avLst>
              <a:gd name="adj" fmla="val 24000"/>
            </a:avLst>
          </a:prstGeom>
          <a:solidFill>
            <a:schemeClr val="accent5">
              <a:alpha val="14000"/>
            </a:schemeClr>
          </a:solidFill>
          <a:ln/>
        </p:spPr>
      </p:sp>
      <p:pic>
        <p:nvPicPr>
          <p:cNvPr id="27" name="copy simple icon" descr="copy simple icon">    </p:cNvPr>
          <p:cNvPicPr>
            <a:picLocks noChangeAspect="1"/>
          </p:cNvPicPr>
          <p:nvPr/>
        </p:nvPicPr>
        <p:blipFill>
          <a:blip r:embed="rId5"/>
          <a:stretch>
            <a:fillRect/>
          </a:stretch>
        </p:blipFill>
        <p:spPr>
          <a:xfrm>
            <a:off x="919886" y="4394606"/>
            <a:ext cx="318211" cy="318211"/>
          </a:xfrm>
          <a:prstGeom prst="rect">
            <a:avLst/>
          </a:prstGeom>
        </p:spPr>
      </p:pic>
      <p:sp>
        <p:nvSpPr>
          <p:cNvPr id="28" name="Text 20"/>
          <p:cNvSpPr txBox="1"/>
          <p:nvPr/>
        </p:nvSpPr>
        <p:spPr>
          <a:xfrm>
            <a:off x="1481328"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latin typeface="Consolas" pitchFamily="34" charset="0"/>
                <a:ea typeface="Consolas" pitchFamily="34" charset="-122"/>
                <a:cs typeface="Consolas" pitchFamily="34" charset="-120"/>
              </a:rPr>
              <a:t>clone()</a:t>
            </a:r>
            <a:endParaRPr lang="en-IE" sz="1900" dirty="0"/>
          </a:p>
        </p:txBody>
      </p:sp>
      <p:sp>
        <p:nvSpPr>
          <p:cNvPr id="29" name="Text 21"/>
          <p:cNvSpPr txBox="1"/>
          <p:nvPr/>
        </p:nvSpPr>
        <p:spPr>
          <a:xfrm>
            <a:off x="804672"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A copy with its own reference. Needs Cloneable.</a:t>
            </a:r>
            <a:endParaRPr lang="en-IE" sz="1500" dirty="0"/>
          </a:p>
        </p:txBody>
      </p:sp>
      <p:sp>
        <p:nvSpPr>
          <p:cNvPr id="30" name="Card"/>
          <p:cNvSpPr/>
          <p:nvPr/>
        </p:nvSpPr>
        <p:spPr>
          <a:xfrm>
            <a:off x="3379394"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31" name="Icon tile"/>
          <p:cNvSpPr/>
          <p:nvPr/>
        </p:nvSpPr>
        <p:spPr>
          <a:xfrm>
            <a:off x="3635426" y="4279392"/>
            <a:ext cx="548640" cy="548640"/>
          </a:xfrm>
          <a:prstGeom prst="roundRect">
            <a:avLst>
              <a:gd name="adj" fmla="val 24000"/>
            </a:avLst>
          </a:prstGeom>
          <a:solidFill>
            <a:schemeClr val="accent3">
              <a:alpha val="14000"/>
            </a:schemeClr>
          </a:solidFill>
          <a:ln/>
        </p:spPr>
      </p:sp>
      <p:pic>
        <p:nvPicPr>
          <p:cNvPr id="32" name="copy icon" descr="copy icon">    </p:cNvPr>
          <p:cNvPicPr>
            <a:picLocks noChangeAspect="1"/>
          </p:cNvPicPr>
          <p:nvPr/>
        </p:nvPicPr>
        <p:blipFill>
          <a:blip r:embed="rId6"/>
          <a:stretch>
            <a:fillRect/>
          </a:stretch>
        </p:blipFill>
        <p:spPr>
          <a:xfrm>
            <a:off x="3750640" y="4394606"/>
            <a:ext cx="318211" cy="318211"/>
          </a:xfrm>
          <a:prstGeom prst="rect">
            <a:avLst/>
          </a:prstGeom>
        </p:spPr>
      </p:pic>
      <p:sp>
        <p:nvSpPr>
          <p:cNvPr id="33" name="Text 24"/>
          <p:cNvSpPr txBox="1"/>
          <p:nvPr/>
        </p:nvSpPr>
        <p:spPr>
          <a:xfrm>
            <a:off x="4312082"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Copy constructor</a:t>
            </a:r>
            <a:endParaRPr lang="en-IE" sz="1900" dirty="0"/>
          </a:p>
        </p:txBody>
      </p:sp>
      <p:sp>
        <p:nvSpPr>
          <p:cNvPr id="34" name="Text 25"/>
          <p:cNvSpPr txBox="1"/>
          <p:nvPr/>
        </p:nvSpPr>
        <p:spPr>
          <a:xfrm>
            <a:off x="3635426"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Takes an object of its own class and copies it.</a:t>
            </a:r>
            <a:endParaRPr lang="en-IE" sz="1500" dirty="0"/>
          </a:p>
        </p:txBody>
      </p:sp>
      <p:sp>
        <p:nvSpPr>
          <p:cNvPr id="35" name="Card"/>
          <p:cNvSpPr/>
          <p:nvPr/>
        </p:nvSpPr>
        <p:spPr>
          <a:xfrm>
            <a:off x="6210148"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36" name="Icon tile"/>
          <p:cNvSpPr/>
          <p:nvPr/>
        </p:nvSpPr>
        <p:spPr>
          <a:xfrm>
            <a:off x="6466180" y="4279392"/>
            <a:ext cx="548640" cy="548640"/>
          </a:xfrm>
          <a:prstGeom prst="roundRect">
            <a:avLst>
              <a:gd name="adj" fmla="val 24000"/>
            </a:avLst>
          </a:prstGeom>
          <a:solidFill>
            <a:schemeClr val="accent1">
              <a:alpha val="14000"/>
            </a:schemeClr>
          </a:solidFill>
          <a:ln/>
        </p:spPr>
      </p:sp>
      <p:pic>
        <p:nvPicPr>
          <p:cNvPr id="37" name="sort ascending icon" descr="sort ascending icon">    </p:cNvPr>
          <p:cNvPicPr>
            <a:picLocks noChangeAspect="1"/>
          </p:cNvPicPr>
          <p:nvPr/>
        </p:nvPicPr>
        <p:blipFill>
          <a:blip r:embed="rId7"/>
          <a:stretch>
            <a:fillRect/>
          </a:stretch>
        </p:blipFill>
        <p:spPr>
          <a:xfrm>
            <a:off x="6581394" y="4394606"/>
            <a:ext cx="318211" cy="318211"/>
          </a:xfrm>
          <a:prstGeom prst="rect">
            <a:avLst/>
          </a:prstGeom>
        </p:spPr>
      </p:pic>
      <p:sp>
        <p:nvSpPr>
          <p:cNvPr id="38" name="Text 28"/>
          <p:cNvSpPr txBox="1"/>
          <p:nvPr/>
        </p:nvSpPr>
        <p:spPr>
          <a:xfrm>
            <a:off x="7142836"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Comparable</a:t>
            </a:r>
            <a:endParaRPr lang="en-IE" sz="1900" dirty="0"/>
          </a:p>
        </p:txBody>
      </p:sp>
      <p:sp>
        <p:nvSpPr>
          <p:cNvPr id="39" name="Text 29"/>
          <p:cNvSpPr txBox="1"/>
          <p:nvPr/>
        </p:nvSpPr>
        <p:spPr>
          <a:xfrm>
            <a:off x="6466180"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One natural order, written in compareTo.</a:t>
            </a:r>
            <a:endParaRPr lang="en-IE" sz="1500" dirty="0"/>
          </a:p>
        </p:txBody>
      </p:sp>
      <p:sp>
        <p:nvSpPr>
          <p:cNvPr id="40" name="Card"/>
          <p:cNvSpPr/>
          <p:nvPr/>
        </p:nvSpPr>
        <p:spPr>
          <a:xfrm>
            <a:off x="9040901"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41" name="Icon tile"/>
          <p:cNvSpPr/>
          <p:nvPr/>
        </p:nvSpPr>
        <p:spPr>
          <a:xfrm>
            <a:off x="9296933" y="4279392"/>
            <a:ext cx="548640" cy="548640"/>
          </a:xfrm>
          <a:prstGeom prst="roundRect">
            <a:avLst>
              <a:gd name="adj" fmla="val 24000"/>
            </a:avLst>
          </a:prstGeom>
          <a:solidFill>
            <a:schemeClr val="accent2">
              <a:alpha val="14000"/>
            </a:schemeClr>
          </a:solidFill>
          <a:ln/>
        </p:spPr>
      </p:sp>
      <p:pic>
        <p:nvPicPr>
          <p:cNvPr id="42" name="arrows down up icon" descr="arrows down up icon">    </p:cNvPr>
          <p:cNvPicPr>
            <a:picLocks noChangeAspect="1"/>
          </p:cNvPicPr>
          <p:nvPr/>
        </p:nvPicPr>
        <p:blipFill>
          <a:blip r:embed="rId8"/>
          <a:stretch>
            <a:fillRect/>
          </a:stretch>
        </p:blipFill>
        <p:spPr>
          <a:xfrm>
            <a:off x="9412148" y="4394606"/>
            <a:ext cx="318211" cy="318211"/>
          </a:xfrm>
          <a:prstGeom prst="rect">
            <a:avLst/>
          </a:prstGeom>
        </p:spPr>
      </p:pic>
      <p:sp>
        <p:nvSpPr>
          <p:cNvPr id="43" name="Text 32"/>
          <p:cNvSpPr txBox="1"/>
          <p:nvPr/>
        </p:nvSpPr>
        <p:spPr>
          <a:xfrm>
            <a:off x="9973589"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Comparator</a:t>
            </a:r>
            <a:endParaRPr lang="en-IE" sz="1900" dirty="0"/>
          </a:p>
        </p:txBody>
      </p:sp>
      <p:sp>
        <p:nvSpPr>
          <p:cNvPr id="44" name="Text 33"/>
          <p:cNvSpPr txBox="1"/>
          <p:nvPr/>
        </p:nvSpPr>
        <p:spPr>
          <a:xfrm>
            <a:off x="9296933"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Any other order, from outside the class.</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82</a:t>
            </a:fld>
            <a:endParaRPr lang="en-IE"/>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6949440" cy="1234440"/>
          </a:xfrm>
          <a:prstGeom prst="rect">
            <a:avLst/>
          </a:prstGeom>
          <a:noFill/>
          <a:ln/>
        </p:spPr>
        <p:txBody>
          <a:bodyPr wrap="square" lIns="0" tIns="0" rIns="0" bIns="0" rtlCol="0" anchor="t"/>
          <a:lstStyle/>
          <a:p>
            <a:pPr algn="l" indent="0" marL="0">
              <a:buNone/>
            </a:pPr>
            <a:r>
              <a:rPr lang="en-IE" sz="6400" b="1" dirty="0">
                <a:solidFill>
                  <a:schemeClr val="bg1"/>
                </a:solidFill>
              </a:rPr>
              <a:t>Questions?</a:t>
            </a:r>
            <a:endParaRPr lang="en-IE" sz="6400" dirty="0"/>
          </a:p>
        </p:txBody>
      </p:sp>
      <p:sp>
        <p:nvSpPr>
          <p:cNvPr id="3" name="Text 0"/>
          <p:cNvSpPr/>
          <p:nvPr>
            <p:ph idx="101" type="body" hasCustomPrompt="1"/>
          </p:nvPr>
        </p:nvSpPr>
        <p:spPr>
          <a:xfrm>
            <a:off x="822960" y="3611880"/>
            <a:ext cx="6766560" cy="822960"/>
          </a:xfrm>
          <a:prstGeom prst="rect">
            <a:avLst/>
          </a:prstGeom>
          <a:noFill/>
          <a:ln/>
        </p:spPr>
        <p:txBody>
          <a:bodyPr wrap="square" lIns="0" tIns="0" rIns="0" bIns="0" rtlCol="0" anchor="t"/>
          <a:lstStyle/>
          <a:p>
            <a:pPr indent="0" marL="0">
              <a:buNone/>
            </a:pPr>
            <a:r>
              <a:rPr lang="en-IE" sz="2200" dirty="0">
                <a:solidFill>
                  <a:schemeClr val="bg2"/>
                </a:solidFill>
              </a:rPr>
              <a:t>Object-Oriented Programming  ·  Lecture 7</a:t>
            </a:r>
            <a:endParaRPr lang="en-IE" sz="2200" dirty="0"/>
          </a:p>
        </p:txBody>
      </p:sp>
      <p:pic>
        <p:nvPicPr>
          <p:cNvPr id="4" name="Questions icon" descr="Questions icon">    </p:cNvPr>
          <p:cNvPicPr>
            <a:picLocks noChangeAspect="1"/>
          </p:cNvPicPr>
          <p:nvPr/>
        </p:nvPicPr>
        <p:blipFill>
          <a:blip r:embed="rId1">
            <a:alphaModFix amt="22000"/>
          </a:blip>
          <a:stretch>
            <a:fillRect/>
          </a:stretch>
        </p:blipFill>
        <p:spPr>
          <a:xfrm>
            <a:off x="7955280" y="1463040"/>
            <a:ext cx="3566160" cy="3566160"/>
          </a:xfrm>
          <a:prstGeom prst="rect">
            <a:avLst/>
          </a:prstGeom>
        </p:spPr>
      </p:pic>
    </p:spTree>
  </p:cSld>
  <p:clrMapOvr>
    <a:masterClrMapping/>
  </p:clrMapOvr>
</p:sld>
</file>

<file path=ppt/theme/theme1.xml><?xml version="1.0" encoding="utf-8"?>
<a:theme xmlns:a="http://schemas.openxmlformats.org/drawingml/2006/main" name="Blueprint">
  <a:themeElements>
    <a:clrScheme name="Blueprint">
      <a:dk1>
        <a:srgbClr val="1D2433"/>
      </a:dk1>
      <a:lt1>
        <a:srgbClr val="FFFFFF"/>
      </a:lt1>
      <a:dk2>
        <a:srgbClr val="5A6577"/>
      </a:dk2>
      <a:lt2>
        <a:srgbClr val="F2F5F9"/>
      </a:lt2>
      <a:accent1>
        <a:srgbClr val="E07A1F"/>
      </a:accent1>
      <a:accent2>
        <a:srgbClr val="1F3F6B"/>
      </a:accent2>
      <a:accent3>
        <a:srgbClr val="178A5B"/>
      </a:accent3>
      <a:accent4>
        <a:srgbClr val="2F6DB0"/>
      </a:accent4>
      <a:accent5>
        <a:srgbClr val="7457C2"/>
      </a:accent5>
      <a:accent6>
        <a:srgbClr val="F2C14E"/>
      </a:accent6>
      <a:hlink>
        <a:srgbClr val="2F6DB0"/>
      </a:hlink>
      <a:folHlink>
        <a:srgbClr val="7457C2"/>
      </a:folHlink>
    </a:clrScheme>
    <a:fontScheme name="Blueprin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5520</Words>
  <Application>Microsoft Office PowerPoint</Application>
  <PresentationFormat>On-screen Show (16:9)</PresentationFormat>
  <Paragraphs>1329</Paragraphs>
  <Slides>83</Slides>
  <Notes>83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83</vt:i4>
      </vt:variant>
    </vt:vector>
  </HeadingPairs>
  <TitlesOfParts>
    <vt:vector size="87" baseType="lpstr">
      <vt:lpstr>Arial</vt:lpstr>
      <vt:lpstr>Calibri</vt:lpstr>
      <vt:lpstr>Consolas</vt:lpstr>
      <vt:lpstr>Blueprint</vt:lpstr>
      <vt:lpstr>Object Comparison and Sorting</vt:lpstr>
      <vt:lpstr>What we cover today</vt:lpstr>
      <vt:lpstr>equals and ==</vt:lpstr>
      <vt:lpstr>Methods every class gets from Object</vt:lpstr>
      <vt:lpstr>Which Object method is meant to check whether two objects hold the same content?</vt:lpstr>
      <vt:lpstr>Which Object method is meant to check whether two objects hold the same content?</vt:lpstr>
      <vt:lpstr>equals() compares content, == compares references</vt:lpstr>
      <vt:lpstr>The user types Cork. What does this code print?</vt:lpstr>
      <vt:lpstr>The user types Cork. What does this code print?</vt:lpstr>
      <vt:lpstr>Why == sometimes works for Strings</vt:lpstr>
      <vt:lpstr>What does this code print?</vt:lpstr>
      <vt:lpstr>What does this code print?</vt:lpstr>
      <vt:lpstr>Object’s equals() only checks for the same object</vt:lpstr>
      <vt:lpstr>Student doesn’t override equals(). Which of these is true?</vt:lpstr>
      <vt:lpstr>Student doesn’t override equals(). Which of these is true?</vt:lpstr>
      <vt:lpstr>Overriding equals()</vt:lpstr>
      <vt:lpstr>Which header really overrides equals() in Student?</vt:lpstr>
      <vt:lpstr>Which header really overrides equals() in Student?</vt:lpstr>
      <vt:lpstr>Checking the type first</vt:lpstr>
      <vt:lpstr>What does this code print?</vt:lpstr>
      <vt:lpstr>What does this code print?</vt:lpstr>
      <vt:lpstr>The rules equals() must follow</vt:lpstr>
      <vt:lpstr>a.equals(b) is true. Which of these must also be true?</vt:lpstr>
      <vt:lpstr>a.equals(b) is true. Which of these must also be true?</vt:lpstr>
      <vt:lpstr>Hash codes</vt:lpstr>
      <vt:lpstr>Every object has a hash code</vt:lpstr>
      <vt:lpstr>After Student jack = bob , what do we know about jack.hashCode() and bob.hashCode() ?</vt:lpstr>
      <vt:lpstr>After Student jack = bob , what do we know about jack.hashCode() and bob.hashCode() ?</vt:lpstr>
      <vt:lpstr>Hash codes of numbers, letters and Strings</vt:lpstr>
      <vt:lpstr>‘a’ is 97 and ‘b’ is 98. What does "ba".hashCode() give?</vt:lpstr>
      <vt:lpstr>‘a’ is 97 and ‘b’ is 98. What does "ba".hashCode() give?</vt:lpstr>
      <vt:lpstr>Overriding hashCode()</vt:lpstr>
      <vt:lpstr>We override equals() in Student. Why override hashCode() too?</vt:lpstr>
      <vt:lpstr>We override equals() in Student. Why override hashCode() too?</vt:lpstr>
      <vt:lpstr>The same hash code doesn’t mean equal</vt:lpstr>
      <vt:lpstr>Two objects have the same hash code. What does that tell us?</vt:lpstr>
      <vt:lpstr>Two objects have the same hash code. What does that tell us?</vt:lpstr>
      <vt:lpstr>Copying objects</vt:lpstr>
      <vt:lpstr>Copying a reference isn’t copying the object</vt:lpstr>
      <vt:lpstr>What does clone() give us that employeeTwo = employeeOne; doesn’t?</vt:lpstr>
      <vt:lpstr>What does clone() give us that employeeTwo = employeeOne; doesn’t?</vt:lpstr>
      <vt:lpstr>Making a class cloneable</vt:lpstr>
      <vt:lpstr>Calling clone()</vt:lpstr>
      <vt:lpstr>Employee overrides clone() with return super.clone(); but doesn’t implement Cloneable. What happens when clone() is...</vt:lpstr>
      <vt:lpstr>Employee overrides clone() with return super.clone(); but doesn’t implement Cloneable. What happens when clone() is...</vt:lpstr>
      <vt:lpstr>Copy constructors</vt:lpstr>
      <vt:lpstr>After Job copy = new Job(original); using Job’s copy constructor, what does copy == original give?</vt:lpstr>
      <vt:lpstr>After Job copy = new Job(original); using Job’s copy constructor, what does copy == original give?</vt:lpstr>
      <vt:lpstr>Copying an object inside an object</vt:lpstr>
      <vt:lpstr>Using the copy constructor</vt:lpstr>
      <vt:lpstr>Employee’s copy constructor uses new Job(emp.job) . What does this code print?</vt:lpstr>
      <vt:lpstr>Employee’s copy constructor uses new Job(emp.job) . What does this code print?</vt:lpstr>
      <vt:lpstr>Copy constructor or clone()?</vt:lpstr>
      <vt:lpstr>Which is an advantage of a copy constructor over clone()?</vt:lpstr>
      <vt:lpstr>Which is an advantage of a copy constructor over clone()?</vt:lpstr>
      <vt:lpstr>Sorting objects</vt:lpstr>
      <vt:lpstr>Sorting a list with Collections</vt:lpstr>
      <vt:lpstr>What does this code print?</vt:lpstr>
      <vt:lpstr>What does this code print?</vt:lpstr>
      <vt:lpstr>compareTo: before, same or after</vt:lpstr>
      <vt:lpstr>What does "cat".compareTo("act") return?</vt:lpstr>
      <vt:lpstr>What does "cat".compareTo("act") return?</vt:lpstr>
      <vt:lpstr>Sorting our own objects with Comparable</vt:lpstr>
      <vt:lpstr>Sorting the students</vt:lpstr>
      <vt:lpstr>compareTo returns this.id - other.id . x has id 7 and y has id 3. What does x.compareTo(y) return, and who comes first?</vt:lpstr>
      <vt:lpstr>compareTo returns this.id - other.id . x has id 7 and y has id 3. What does x.compareTo(y) return, and who comes first?</vt:lpstr>
      <vt:lpstr>Changing the order</vt:lpstr>
      <vt:lpstr>Which compareTo sorts students from the highest id to the lowest?</vt:lpstr>
      <vt:lpstr>Which compareTo sorts students from the highest id to the lowest?</vt:lpstr>
      <vt:lpstr>Comparator: an order from outside the class</vt:lpstr>
      <vt:lpstr>Why does Comparator.comparing(Student::getName) need a getter, or a public attribute?</vt:lpstr>
      <vt:lpstr>Why does Comparator.comparing(Student::getName) need a getter, or a public attribute?</vt:lpstr>
      <vt:lpstr>Numbers and reverse order</vt:lpstr>
      <vt:lpstr>byId is Comparator.comparingInt(Student::getId) . Which line sorts students by id, highest first?</vt:lpstr>
      <vt:lpstr>byId is Comparator.comparingInt(Student::getId) . Which line sorts students by id, highest first?</vt:lpstr>
      <vt:lpstr>Sorting by more than one thing</vt:lpstr>
      <vt:lpstr>Which comparator sorts students by course, then by name within each course?</vt:lpstr>
      <vt:lpstr>Which comparator sorts students by course, then by name within each course?</vt:lpstr>
      <vt:lpstr>Comparable or Comparator?</vt:lpstr>
      <vt:lpstr>Book comes from a library you can’t change, and you want to sort books by price. What do you use?</vt:lpstr>
      <vt:lpstr>Book comes from a library you can’t change, and you want to sort books by price. What do you use?</vt:lpstr>
      <vt:lpstr>Lecture 7 at a glance</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Object-Oriented Programming: Lecture 7, Object Comparison and Sorting</dc:title>
  <dc:subject>Lecture 7 ideas in plain words, with quick checks</dc:subject>
  <dc:creator>Saeid Rezaei</dc:creator>
  <cp:lastModifiedBy>Saeid Rezaei</cp:lastModifiedBy>
  <cp:revision>1</cp:revision>
  <dcterms:created xsi:type="dcterms:W3CDTF">2026-10-11T11:15:00Z</dcterms:created>
  <dcterms:modified xsi:type="dcterms:W3CDTF">2026-10-11T11:15:00Z</dcterms:modified>
</cp:coreProperties>
</file>
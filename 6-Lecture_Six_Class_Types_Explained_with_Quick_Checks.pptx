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ba6307-fbe1-844d-644d-6ca5eeb3f704}">
          <p14:sldIdLst>
            <p14:sldId id="256"/>
            <p14:sldId id="257"/>
          </p14:sldIdLst>
        </p14:section>
        <p14:section name="1. Immutable classes" id="{2a4ad1fe-8549-6832-3c62-43e539428f4d}">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2. Design patterns and singletons" id="{abcc4a5a-133b-453a-a013-8d3def1724ed}">
          <p14:sldIdLst>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3. Enums" id="{e1fb8a6a-d3a6-82a9-6087-a1c36bc1021f}">
          <p14:sldIdLst>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Lst>
        </p14:section>
        <p14:section name="Wrap-up" id="{4424536b-623b-74dc-3bea-701be5f087ed}">
          <p14:sldIdLst>
            <p14:sldId id="327"/>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6 looks at three special kinds of class: immutable classes, whose objects never change; singletons, which only ever have one object; and enums, a fixed group of constants.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parts today. After each idea there's a quick check with four options.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immutable objects, starting with one we use every day, 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Immutable means it can't change form. For an object: once the constructor has finished, its state stays exactly as it is. If we need something different, we make a new object. The receipt is a handy picture: you can't edit a printed receipt; a change means printing a new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“Its state can’t change after it is constructed”.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“Its state can’t change after it is constructed”.
Immutable means it can’t change form. Once the constructor has run, the object’s state stays the same. Only one object of a class (A) describes a singleton, which comes later.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Every String object is immutable. When it looks as if we change one, Java actually builds a new String and stores it in the variable. The old "Bob" isn't edited; it just isn't used any more.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“It is unchanged: name got a new 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“It is unchanged: name got a new String”.
Strings are immutable, so Java doesn’t edit "Bob". It builds a whole new String, "Bob Thompson", and stores it in name. The old "Bob" isn’t changed; it is simply no longer used.
If many chose A, ask what name + " Thompson" builds before the = runs.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String methods such as toLowerCase() never change the String they are called on. They return a new String. If we don't store the new String, it's simply lost, which catches people out.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“Bob Thompson”.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“Bob Thompson”.
toUpperCase() gives back a new String, but nothing keeps it. concat() also gives back a new String, and this time it is stored in name, so name now refers to “Bob Thompson”.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rules for an immutable class. On names: upper case is the habit for constants (static final values); the final fields of an immutable class can keep normal names like title. And if a different value is needed, we make a new object, just as String does.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“Setter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“Setter methods”.
An immutable object gets its values once, through the constructor, and after that they can only be read. A setter would let its state change. Private final fields and getters are exactly what it should have.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“No: these fields don’t need upper case”.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“No: these fields don’t need upper case”.
Upper case is a naming habit for constants like static final int MAX = 10. The compiler doesn’t require it, and the final fields of an immutable class usually keep normal names, like title.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Book follows every rule: private final fields, values only through the constructor, getters and no setters. Once a Book has been made, its title and author can never change. Many people also make the class itself final, so that no subclass can override the getters or add state that changes.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“Compile error: title is final”.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“Compile error: title is final”.
A final field can be given a value only once, where it is declared or in the constructor. The setter tries to give title a second value, so the compiler rejects the class. That is why an immutable class has no setters.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what a design pattern is, and the best-known one, the singleton.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design pattern is a known way to structure classes for a problem that comes up again and again. It's an idea rather than code to download, and the same pattern works in Java, C#, Python or any other OO language. The one we look at is the Singleton.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“A known structure for a common design problem”.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“A known structure for a common design problem”.
A design pattern is a known way to structure classes for a common object-oriented design problem. It isn’t tied to Java, so the same idea works in any OO language.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singleton class is built so that only one object of it can ever exist, and everyone who needs it shares that one object. Typical uses: a database connection or a server, where the whole program should share one object. The three boxes are just example parts of a program.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“Only one object of it can ever exist”.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“Only one object of it can ever exist”.
A singleton is designed to create only one object. There will only ever be one instance, and everyone shares it. It’s often used for databases and servers, where the whole program should share one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steps. 1: the class keeps its one instance in a private static variable, null to begin with. 2: a private constructor, so no other class can use new. 3: getInstance() creates the instance the first time it's needed, and returns the same one every time after that. The numbers next to the code match the steps.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“So other classes can’t use new to create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“So other classes can’t use new to create one”.
A private constructor can only be called from inside the class. Other classes can’t write new SingletonExample(), so the only way to get the object is getInstance().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“Creates the object, as instance is still null”.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“Creates the object, as instance is still null”.
instance starts as null, so on the first call the if is true and getInstance() creates the object. It’s inside the class, so the private constructor is fine. On every later call instance isn’t null, and the same object comes back.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calls to getInstance(), three variables, but only one object: the first call creates it and the next two just return it. Comparing two variables with == checks whether they refer to the same object, so this prints true.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“2”.</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“2”.
a and b refer to the same single Config object, so b.addOne() adds to the value that a.addOne() already changed, giving 1 and then 2. With two separate objects it would print 1.</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same pattern used for something real: a Database class that holds the connection. Its constructor is private and getInstance() hands out the one Database object, so the whole program shares one connection. connect() comes on the next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connect() opens the connection with DriverManager from java.sql. The URL, user name and password are the example values from the lecture. Database.java also needs these imports: java.sql.Connection, java.sql.DriverManager and java.sql.SQLException, plus the MySQL driver to really connect.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“Compile error: the constructor is private”.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“Compile error: the constructor is private”.
Database() is private, so only code inside Database can call it. The compiler says “Database() has private access in Database”. Other classes ask for the object with Database.getInstance().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Why go to the trouble of a singleton, instead of a class with only static members, like Math? Because a singleton is a real object. Two notes on the lecture slide. Java has no top-level static classes, so read it as a class with only static members. It also says a singleton class can be inherited from; with a private constructor, no class outside it can extend it, so that point is left out. The lecture slide says we can destroy a singleton object. Java has no destroy, so we'd set instance back to null, for example in a reset method, and the garbage collector removes the object once nothing else refers to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“Be passed to a method as an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“Be passed to a method as an object”.
A singleton is a real object, so we can pass a reference to it to a method, and its class can implement interfaces. Static methods are used without any object (A), and both kinds can hold data and print text.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enums, a special class for a fixed group of constants.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enum (short for enumeration; the lecture slide calls it an enumerator) is a special kind of class that holds a fixed group of constants. A Season variable can only ever hold one of the four seasons, which keeps code easy to read. Think of a traffic light: there are only three possible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“The four seasons of the year”.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“The four seasons of the year”.
An enum represents a fixed group of related constants, like SUMMER, AUTUMN, WINTER and SPRING. Email addresses, prices and typed text can take endless different values, so they aren’t a fixed group.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rules. Each value is a constant: public, static and final, so it can't be modified, and like other constants it is written in upper case. We can't create enum objects with new: the listed values are all there will ever be. An enum can't extend a class, because it already has a parent (java.lang.Enum), but it can implement interfaces. Note: the lecture slide says an enum is always public, static and final. That's true of its values. The enum itself can't be extended, and is static when declared inside a class, but it doesn't have to be public.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“Compile error: enums can’t use new”.</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“Compile error: enums can’t use new”.
LOW and HIGH are the only Level values there will ever be, so we can’t create more with new. The compiler says “enum classes may not be instantiated”. To get one, we write Level.LOW.</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“Implement an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“Implement an interface”.
An enum can implement interfaces, just like a class. It can’t extend a class, we can’t create its values with new, and its values are constants that never change.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We write enum instead of class, then the enum's name, then the values: our constants. To use it, we declare a variable of the enum's type and give it one of the values. Note: the lecture slide calls currentSeason an enum object. Nothing new is created: it's an enum variable that refers to one of the existing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“Season s = Season.WINTER;”.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“Season s = Season.WINTER;”.
We write the enum’s name, a dot and one of its values: Season.WINTER. We can’t use new with an enum (A), a String isn’t a Season (B), and D isn’t valid Java.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Enums and switch go well together: each case is one of the values. Inside a case we write just WINTER (Java 21 also accepts case Season.WINTER:, but Java 17 and older reject it, so plain WINTER is the safe habit). Small fix: the lecture slide prints "Its winter"; it should be "It's winter".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“Sun cream”.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“Sun cream”.
The switch compares s with each case. s is SUMMER, so that case runs and prints Sun cream. Then break stops it before default.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Printing an enum value prints its name, exactly as written. values() gives all the values in order, so a for-each loop goes through every one of them.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“AUTUMN”.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“AUTUMN”.
Printing an enum value prints its name, exactly as it was written: AUTUMN. Its position, 1, comes from ordinal(), coming up next.
Anyone choosing 1 is thinking of ordinal(), which is next.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Each value knows its position, its ordinal, counted from 0 like an array index. WINTER is third, so its ordinal is 2. values() returns an array of all the values, so values()[0] is the first one, SUMMER.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“TUE 1”.</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“TUE 1”.
Printing d gives its name, TUE. ordinal() is its position in the enum, counted from 0, so MON is 0, TUE is 1 and WED is 2.</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“SPRING”.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“SPRING”.
values() gives all the values in an array, in the order they were written. Like any array it starts at 0, so index 3 is the fourth value, SPRING.
WINTER is the off-by-one answer.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enum can sit in its own .java file (in Eclipse: New, then Enum) or inside another class. Either way it behaves much like a class: besides its values, it can have variables and methods. The next slide shows an example. The class name Weather is just for illustration.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“In its own file, or inside another 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“In its own file, or inside another class”.
An enum can have its own file (in Eclipse: New → Enum) or be declared inside another class. A and B each leave out one of these places, and C leaves out both.
Since Java 16 an enum can also be declared inside a method, so C is wrong only because of “nowhere else”.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Each constant passes its number to the enum's constructor, which stores it in a field; getTime() returns it. The values never change, so there are getters but no setters. The lecture slide declares the field as int value; here it is private final so it really can't change. An enum's constructor can't be public (the compiler says 'modifier public not allowed here'), like the singleton's private constructor.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“7”.</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“7”.
Each constant calls the enum’s constructor with its own number, so DAYS stores 7 and getTime() returns it. 2 would be DAYS’ ordinal, and 24 belongs to HOURS.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A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6</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6</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6</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6.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6.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6.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6.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6.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6.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6.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4.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6.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slideLayout" Target="../slideLayouts/slideLayout4.xml"/><Relationship Id="rId1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6.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6.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6.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6.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6.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6.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6.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image" Target="../media/image-72-7.png"/><Relationship Id="rId8" Type="http://schemas.openxmlformats.org/officeDocument/2006/relationships/image" Target="../media/image-72-8.png"/><Relationship Id="rId9" Type="http://schemas.openxmlformats.org/officeDocument/2006/relationships/slideLayout" Target="../slideLayouts/slideLayout4.xml"/><Relationship Id="rId1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7.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6</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Class Types</a:t>
            </a: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lIns="0" tIns="0" rIns="0" bIns="0" rtlCol="0" anchor="t"/>
          <a:lstStyle/>
          <a:p>
            <a:pPr indent="0" marL="0">
              <a:buNone/>
            </a:pPr>
            <a:r>
              <a:rPr lang="en-IE" sz="2000" dirty="0">
                <a:solidFill>
                  <a:schemeClr val="bg2"/>
                </a:solidFill>
              </a:rPr>
              <a:t>Immutable classes, the singleton pattern and enums</a:t>
            </a:r>
            <a:endParaRPr lang="en-IE" sz="2000" dirty="0"/>
          </a:p>
        </p:txBody>
      </p:sp>
      <p:sp>
        <p:nvSpPr>
          <p:cNvPr id="5" name="Immutable card"/>
          <p:cNvSpPr/>
          <p:nvPr/>
        </p:nvSpPr>
        <p:spPr>
          <a:xfrm>
            <a:off x="7086600" y="1508760"/>
            <a:ext cx="4526280" cy="1078992"/>
          </a:xfrm>
          <a:prstGeom prst="roundRect">
            <a:avLst>
              <a:gd name="adj" fmla="val 10169"/>
            </a:avLst>
          </a:prstGeom>
          <a:solidFill>
            <a:schemeClr val="bg1">
              <a:alpha val="10000"/>
            </a:schemeClr>
          </a:solidFill>
          <a:ln w="12700">
            <a:solidFill>
              <a:schemeClr val="bg1">
                <a:alpha val="45000"/>
              </a:schemeClr>
            </a:solidFill>
            <a:prstDash val="solid"/>
          </a:ln>
        </p:spPr>
      </p:sp>
      <p:pic>
        <p:nvPicPr>
          <p:cNvPr id="6" name="Immutable icon" descr="Immutable icon">    </p:cNvPr>
          <p:cNvPicPr>
            <a:picLocks noChangeAspect="1"/>
          </p:cNvPicPr>
          <p:nvPr/>
        </p:nvPicPr>
        <p:blipFill>
          <a:blip r:embed="rId1"/>
          <a:stretch>
            <a:fillRect/>
          </a:stretch>
        </p:blipFill>
        <p:spPr>
          <a:xfrm>
            <a:off x="7379208" y="1764792"/>
            <a:ext cx="566928" cy="566928"/>
          </a:xfrm>
          <a:prstGeom prst="rect">
            <a:avLst/>
          </a:prstGeom>
        </p:spPr>
      </p:pic>
      <p:sp>
        <p:nvSpPr>
          <p:cNvPr id="7" name="Text 4"/>
          <p:cNvSpPr txBox="1"/>
          <p:nvPr/>
        </p:nvSpPr>
        <p:spPr>
          <a:xfrm>
            <a:off x="8183880" y="1655064"/>
            <a:ext cx="3246120" cy="420624"/>
          </a:xfrm>
          <a:prstGeom prst="rect">
            <a:avLst/>
          </a:prstGeom>
          <a:noFill/>
          <a:ln/>
        </p:spPr>
        <p:txBody>
          <a:bodyPr wrap="square" lIns="0" tIns="0" rIns="0" bIns="0" rtlCol="0" anchor="ctr"/>
          <a:lstStyle/>
          <a:p>
            <a:pPr indent="0" marL="0">
              <a:buNone/>
            </a:pPr>
            <a:r>
              <a:rPr lang="en-IE" sz="2100" b="1" dirty="0">
                <a:solidFill>
                  <a:schemeClr val="bg1"/>
                </a:solidFill>
              </a:rPr>
              <a:t>Immutable</a:t>
            </a:r>
            <a:endParaRPr lang="en-IE" sz="2100" dirty="0"/>
          </a:p>
        </p:txBody>
      </p:sp>
      <p:sp>
        <p:nvSpPr>
          <p:cNvPr id="8" name="Text 5"/>
          <p:cNvSpPr txBox="1"/>
          <p:nvPr/>
        </p:nvSpPr>
        <p:spPr>
          <a:xfrm>
            <a:off x="8183880" y="2084832"/>
            <a:ext cx="3246120" cy="329184"/>
          </a:xfrm>
          <a:prstGeom prst="rect">
            <a:avLst/>
          </a:prstGeom>
          <a:noFill/>
          <a:ln/>
        </p:spPr>
        <p:txBody>
          <a:bodyPr wrap="square" lIns="0" tIns="0" rIns="0" bIns="0" rtlCol="0" anchor="ctr"/>
          <a:lstStyle/>
          <a:p>
            <a:pPr indent="0" marL="0">
              <a:buNone/>
            </a:pPr>
            <a:r>
              <a:rPr lang="en-IE" sz="1350" dirty="0">
                <a:solidFill>
                  <a:schemeClr val="bg2"/>
                </a:solidFill>
                <a:latin typeface="Consolas" pitchFamily="34" charset="0"/>
                <a:ea typeface="Consolas" pitchFamily="34" charset="-122"/>
                <a:cs typeface="Consolas" pitchFamily="34" charset="-120"/>
              </a:rPr>
              <a:t>private final String title;</a:t>
            </a:r>
            <a:endParaRPr lang="en-IE" sz="1350" dirty="0"/>
          </a:p>
        </p:txBody>
      </p:sp>
      <p:sp>
        <p:nvSpPr>
          <p:cNvPr id="9" name="Singleton card"/>
          <p:cNvSpPr/>
          <p:nvPr/>
        </p:nvSpPr>
        <p:spPr>
          <a:xfrm>
            <a:off x="7086600" y="2807208"/>
            <a:ext cx="4526280" cy="1078992"/>
          </a:xfrm>
          <a:prstGeom prst="roundRect">
            <a:avLst>
              <a:gd name="adj" fmla="val 10169"/>
            </a:avLst>
          </a:prstGeom>
          <a:solidFill>
            <a:schemeClr val="bg1">
              <a:alpha val="10000"/>
            </a:schemeClr>
          </a:solidFill>
          <a:ln w="12700">
            <a:solidFill>
              <a:schemeClr val="bg1">
                <a:alpha val="45000"/>
              </a:schemeClr>
            </a:solidFill>
            <a:prstDash val="solid"/>
          </a:ln>
        </p:spPr>
      </p:sp>
      <p:pic>
        <p:nvPicPr>
          <p:cNvPr id="10" name="Singleton icon" descr="Singleton icon">    </p:cNvPr>
          <p:cNvPicPr>
            <a:picLocks noChangeAspect="1"/>
          </p:cNvPicPr>
          <p:nvPr/>
        </p:nvPicPr>
        <p:blipFill>
          <a:blip r:embed="rId2"/>
          <a:stretch>
            <a:fillRect/>
          </a:stretch>
        </p:blipFill>
        <p:spPr>
          <a:xfrm>
            <a:off x="7379208" y="3063240"/>
            <a:ext cx="566928" cy="566928"/>
          </a:xfrm>
          <a:prstGeom prst="rect">
            <a:avLst/>
          </a:prstGeom>
        </p:spPr>
      </p:pic>
      <p:sp>
        <p:nvSpPr>
          <p:cNvPr id="11" name="Text 7"/>
          <p:cNvSpPr txBox="1"/>
          <p:nvPr/>
        </p:nvSpPr>
        <p:spPr>
          <a:xfrm>
            <a:off x="8183880" y="2953512"/>
            <a:ext cx="3246120" cy="420624"/>
          </a:xfrm>
          <a:prstGeom prst="rect">
            <a:avLst/>
          </a:prstGeom>
          <a:noFill/>
          <a:ln/>
        </p:spPr>
        <p:txBody>
          <a:bodyPr wrap="square" lIns="0" tIns="0" rIns="0" bIns="0" rtlCol="0" anchor="ctr"/>
          <a:lstStyle/>
          <a:p>
            <a:pPr indent="0" marL="0">
              <a:buNone/>
            </a:pPr>
            <a:r>
              <a:rPr lang="en-IE" sz="2100" b="1" dirty="0">
                <a:solidFill>
                  <a:schemeClr val="bg1"/>
                </a:solidFill>
              </a:rPr>
              <a:t>Singleton</a:t>
            </a:r>
            <a:endParaRPr lang="en-IE" sz="2100" dirty="0"/>
          </a:p>
        </p:txBody>
      </p:sp>
      <p:sp>
        <p:nvSpPr>
          <p:cNvPr id="12" name="Text 8"/>
          <p:cNvSpPr txBox="1"/>
          <p:nvPr/>
        </p:nvSpPr>
        <p:spPr>
          <a:xfrm>
            <a:off x="8183880" y="3383280"/>
            <a:ext cx="3246120" cy="329184"/>
          </a:xfrm>
          <a:prstGeom prst="rect">
            <a:avLst/>
          </a:prstGeom>
          <a:noFill/>
          <a:ln/>
        </p:spPr>
        <p:txBody>
          <a:bodyPr wrap="square" lIns="0" tIns="0" rIns="0" bIns="0" rtlCol="0" anchor="ctr"/>
          <a:lstStyle/>
          <a:p>
            <a:pPr indent="0" marL="0">
              <a:buNone/>
            </a:pPr>
            <a:r>
              <a:rPr lang="en-IE" sz="1350" dirty="0">
                <a:solidFill>
                  <a:schemeClr val="bg2"/>
                </a:solidFill>
                <a:latin typeface="Consolas" pitchFamily="34" charset="0"/>
                <a:ea typeface="Consolas" pitchFamily="34" charset="-122"/>
                <a:cs typeface="Consolas" pitchFamily="34" charset="-120"/>
              </a:rPr>
              <a:t>Database.getInstance()</a:t>
            </a:r>
            <a:endParaRPr lang="en-IE" sz="1350" dirty="0"/>
          </a:p>
        </p:txBody>
      </p:sp>
      <p:sp>
        <p:nvSpPr>
          <p:cNvPr id="13" name="Enum card"/>
          <p:cNvSpPr/>
          <p:nvPr/>
        </p:nvSpPr>
        <p:spPr>
          <a:xfrm>
            <a:off x="7086600" y="4105656"/>
            <a:ext cx="4526280" cy="1078992"/>
          </a:xfrm>
          <a:prstGeom prst="roundRect">
            <a:avLst>
              <a:gd name="adj" fmla="val 10169"/>
            </a:avLst>
          </a:prstGeom>
          <a:solidFill>
            <a:schemeClr val="bg1">
              <a:alpha val="10000"/>
            </a:schemeClr>
          </a:solidFill>
          <a:ln w="12700">
            <a:solidFill>
              <a:schemeClr val="bg1">
                <a:alpha val="45000"/>
              </a:schemeClr>
            </a:solidFill>
            <a:prstDash val="solid"/>
          </a:ln>
        </p:spPr>
      </p:sp>
      <p:pic>
        <p:nvPicPr>
          <p:cNvPr id="14" name="Enum icon" descr="Enum icon">    </p:cNvPr>
          <p:cNvPicPr>
            <a:picLocks noChangeAspect="1"/>
          </p:cNvPicPr>
          <p:nvPr/>
        </p:nvPicPr>
        <p:blipFill>
          <a:blip r:embed="rId3"/>
          <a:stretch>
            <a:fillRect/>
          </a:stretch>
        </p:blipFill>
        <p:spPr>
          <a:xfrm>
            <a:off x="7379208" y="4361688"/>
            <a:ext cx="566928" cy="566928"/>
          </a:xfrm>
          <a:prstGeom prst="rect">
            <a:avLst/>
          </a:prstGeom>
        </p:spPr>
      </p:pic>
      <p:sp>
        <p:nvSpPr>
          <p:cNvPr id="15" name="Text 10"/>
          <p:cNvSpPr txBox="1"/>
          <p:nvPr/>
        </p:nvSpPr>
        <p:spPr>
          <a:xfrm>
            <a:off x="8183880" y="4251960"/>
            <a:ext cx="3246120" cy="420624"/>
          </a:xfrm>
          <a:prstGeom prst="rect">
            <a:avLst/>
          </a:prstGeom>
          <a:noFill/>
          <a:ln/>
        </p:spPr>
        <p:txBody>
          <a:bodyPr wrap="square" lIns="0" tIns="0" rIns="0" bIns="0" rtlCol="0" anchor="ctr"/>
          <a:lstStyle/>
          <a:p>
            <a:pPr indent="0" marL="0">
              <a:buNone/>
            </a:pPr>
            <a:r>
              <a:rPr lang="en-IE" sz="2100" b="1" dirty="0">
                <a:solidFill>
                  <a:schemeClr val="bg1"/>
                </a:solidFill>
              </a:rPr>
              <a:t>Enum</a:t>
            </a:r>
            <a:endParaRPr lang="en-IE" sz="2100" dirty="0"/>
          </a:p>
        </p:txBody>
      </p:sp>
      <p:sp>
        <p:nvSpPr>
          <p:cNvPr id="16" name="Text 11"/>
          <p:cNvSpPr txBox="1"/>
          <p:nvPr/>
        </p:nvSpPr>
        <p:spPr>
          <a:xfrm>
            <a:off x="8183880" y="4681728"/>
            <a:ext cx="3246120" cy="329184"/>
          </a:xfrm>
          <a:prstGeom prst="rect">
            <a:avLst/>
          </a:prstGeom>
          <a:noFill/>
          <a:ln/>
        </p:spPr>
        <p:txBody>
          <a:bodyPr wrap="square" lIns="0" tIns="0" rIns="0" bIns="0" rtlCol="0" anchor="ctr"/>
          <a:lstStyle/>
          <a:p>
            <a:pPr indent="0" marL="0">
              <a:buNone/>
            </a:pPr>
            <a:r>
              <a:rPr lang="en-IE" sz="1350" dirty="0">
                <a:solidFill>
                  <a:schemeClr val="bg2"/>
                </a:solidFill>
                <a:latin typeface="Consolas" pitchFamily="34" charset="0"/>
                <a:ea typeface="Consolas" pitchFamily="34" charset="-122"/>
                <a:cs typeface="Consolas" pitchFamily="34" charset="-120"/>
              </a:rPr>
              <a:t>enum Season { SUMMER, ... }</a:t>
            </a:r>
            <a:endParaRPr lang="en-IE"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6</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Immutable classes</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Objects that never change, like String</a:t>
            </a:r>
            <a:endParaRPr lang="en-IE" sz="1500" dirty="0"/>
          </a:p>
        </p:txBody>
      </p:sp>
      <p:sp>
        <p:nvSpPr>
          <p:cNvPr id="8" name="Text 5"/>
          <p:cNvSpPr txBox="1"/>
          <p:nvPr/>
        </p:nvSpPr>
        <p:spPr>
          <a:xfrm>
            <a:off x="548640" y="307238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3108960"/>
            <a:ext cx="5577840" cy="384048"/>
          </a:xfrm>
          <a:prstGeom prst="rect">
            <a:avLst/>
          </a:prstGeom>
          <a:noFill/>
          <a:ln/>
        </p:spPr>
        <p:txBody>
          <a:bodyPr wrap="square" lIns="0" tIns="0" rIns="0" bIns="0" rtlCol="0" anchor="t"/>
          <a:lstStyle/>
          <a:p>
            <a:pPr indent="0" marL="0">
              <a:buNone/>
            </a:pPr>
            <a:r>
              <a:rPr lang="en-IE" sz="2100" b="1" dirty="0">
                <a:solidFill>
                  <a:schemeClr val="tx1"/>
                </a:solidFill>
              </a:rPr>
              <a:t>The singleton pattern</a:t>
            </a:r>
            <a:endParaRPr lang="en-IE" sz="2100" dirty="0"/>
          </a:p>
        </p:txBody>
      </p:sp>
      <p:sp>
        <p:nvSpPr>
          <p:cNvPr id="10" name="Text 7"/>
          <p:cNvSpPr txBox="1"/>
          <p:nvPr/>
        </p:nvSpPr>
        <p:spPr>
          <a:xfrm>
            <a:off x="1463040" y="3520440"/>
            <a:ext cx="5577840" cy="365760"/>
          </a:xfrm>
          <a:prstGeom prst="rect">
            <a:avLst/>
          </a:prstGeom>
          <a:noFill/>
          <a:ln/>
        </p:spPr>
        <p:txBody>
          <a:bodyPr wrap="square" lIns="0" tIns="0" rIns="0" bIns="0" rtlCol="0" anchor="t"/>
          <a:lstStyle/>
          <a:p>
            <a:pPr indent="0" marL="0">
              <a:buNone/>
            </a:pPr>
            <a:r>
              <a:rPr lang="en-IE" sz="1500" dirty="0">
                <a:solidFill>
                  <a:schemeClr val="tx2"/>
                </a:solidFill>
              </a:rPr>
              <a:t>Design patterns, and a class with only one object</a:t>
            </a:r>
            <a:endParaRPr lang="en-IE" sz="1500" dirty="0"/>
          </a:p>
        </p:txBody>
      </p:sp>
      <p:sp>
        <p:nvSpPr>
          <p:cNvPr id="11" name="Text 8"/>
          <p:cNvSpPr txBox="1"/>
          <p:nvPr/>
        </p:nvSpPr>
        <p:spPr>
          <a:xfrm>
            <a:off x="548640" y="439826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4434840"/>
            <a:ext cx="5577840" cy="384048"/>
          </a:xfrm>
          <a:prstGeom prst="rect">
            <a:avLst/>
          </a:prstGeom>
          <a:noFill/>
          <a:ln/>
        </p:spPr>
        <p:txBody>
          <a:bodyPr wrap="square" lIns="0" tIns="0" rIns="0" bIns="0" rtlCol="0" anchor="t"/>
          <a:lstStyle/>
          <a:p>
            <a:pPr indent="0" marL="0">
              <a:buNone/>
            </a:pPr>
            <a:r>
              <a:rPr lang="en-IE" sz="2100" b="1" dirty="0">
                <a:solidFill>
                  <a:schemeClr val="tx1"/>
                </a:solidFill>
              </a:rPr>
              <a:t>Enums</a:t>
            </a:r>
            <a:endParaRPr lang="en-IE" sz="2100" dirty="0"/>
          </a:p>
        </p:txBody>
      </p:sp>
      <p:sp>
        <p:nvSpPr>
          <p:cNvPr id="13" name="Text 10"/>
          <p:cNvSpPr txBox="1"/>
          <p:nvPr/>
        </p:nvSpPr>
        <p:spPr>
          <a:xfrm>
            <a:off x="1463040" y="4846320"/>
            <a:ext cx="5577840" cy="365760"/>
          </a:xfrm>
          <a:prstGeom prst="rect">
            <a:avLst/>
          </a:prstGeom>
          <a:noFill/>
          <a:ln/>
        </p:spPr>
        <p:txBody>
          <a:bodyPr wrap="square" lIns="0" tIns="0" rIns="0" bIns="0" rtlCol="0" anchor="t"/>
          <a:lstStyle/>
          <a:p>
            <a:pPr indent="0" marL="0">
              <a:buNone/>
            </a:pPr>
            <a:r>
              <a:rPr lang="en-IE" sz="1500" dirty="0">
                <a:solidFill>
                  <a:schemeClr val="tx2"/>
                </a:solidFill>
              </a:rPr>
              <a:t>A fixed group of named constants</a:t>
            </a:r>
            <a:endParaRPr lang="en-IE" sz="1500" dirty="0"/>
          </a:p>
        </p:txBody>
      </p:sp>
      <p:sp>
        <p:nvSpPr>
          <p:cNvPr id="14" name="How it works"/>
          <p:cNvSpPr/>
          <p:nvPr/>
        </p:nvSpPr>
        <p:spPr>
          <a:xfrm>
            <a:off x="7543800" y="1783080"/>
            <a:ext cx="4099255" cy="4160520"/>
          </a:xfrm>
          <a:prstGeom prst="roundRect">
            <a:avLst>
              <a:gd name="adj" fmla="val 2677"/>
            </a:avLst>
          </a:prstGeom>
          <a:solidFill>
            <a:schemeClr val="bg2"/>
          </a:solidFill>
          <a:ln/>
        </p:spPr>
      </p:sp>
      <p:sp>
        <p:nvSpPr>
          <p:cNvPr id="15" name="Text 12"/>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6"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17"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18" name="Text 14"/>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19"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0"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1" name="Text 16"/>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2"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3"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4" name="Text 18"/>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Immutable classes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Objects that never change after they’re built</a:t>
            </a:r>
            <a:endParaRPr lang="en-IE" sz="2000" dirty="0"/>
          </a:p>
        </p:txBody>
      </p:sp>
      <p:sp>
        <p:nvSpPr>
          <p:cNvPr id="5" name="Topic chip"/>
          <p:cNvSpPr/>
          <p:nvPr/>
        </p:nvSpPr>
        <p:spPr>
          <a:xfrm>
            <a:off x="82296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Immutable</a:t>
            </a:r>
            <a:endParaRPr lang="en-IE" sz="1400" dirty="0"/>
          </a:p>
        </p:txBody>
      </p:sp>
      <p:sp>
        <p:nvSpPr>
          <p:cNvPr id="6" name="Topic chip"/>
          <p:cNvSpPr/>
          <p:nvPr/>
        </p:nvSpPr>
        <p:spPr>
          <a:xfrm>
            <a:off x="2203704"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String</a:t>
            </a:r>
            <a:endParaRPr lang="en-IE" sz="1400" dirty="0"/>
          </a:p>
        </p:txBody>
      </p:sp>
      <p:sp>
        <p:nvSpPr>
          <p:cNvPr id="7" name="Topic chip"/>
          <p:cNvSpPr/>
          <p:nvPr/>
        </p:nvSpPr>
        <p:spPr>
          <a:xfrm>
            <a:off x="3307080" y="4846320"/>
            <a:ext cx="151180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final fields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IMMUTABLE CLASSES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does immutable mean?</a:t>
            </a:r>
            <a:endParaRPr lang="en-IE" sz="3400" dirty="0"/>
          </a:p>
        </p:txBody>
      </p:sp>
      <p:sp>
        <p:nvSpPr>
          <p:cNvPr id="5" name="Text 2"/>
          <p:cNvSpPr txBox="1"/>
          <p:nvPr/>
        </p:nvSpPr>
        <p:spPr>
          <a:xfrm>
            <a:off x="548640" y="1783080"/>
            <a:ext cx="5120640" cy="301752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If something is immutable, it cannot change form.</a:t>
            </a:r>
            <a:endParaRPr lang="en-IE" sz="1900" dirty="0"/>
          </a:p>
          <a:p>
            <a:pPr marL="228600" indent="-228600">
              <a:spcAft>
                <a:spcPts val="1400"/>
              </a:spcAft>
              <a:buSzPct val="100000"/>
              <a:buChar char="•"/>
            </a:pPr>
            <a:r>
              <a:rPr lang="en-IE" sz="1900" dirty="0">
                <a:solidFill>
                  <a:schemeClr val="tx1"/>
                </a:solidFill>
              </a:rPr>
              <a:t>An immutable object cannot change its state after it has been constructed.</a:t>
            </a:r>
            <a:endParaRPr lang="en-IE" sz="1900" dirty="0"/>
          </a:p>
          <a:p>
            <a:pPr marL="228600" indent="-228600">
              <a:buSzPct val="100000"/>
              <a:buChar char="•"/>
            </a:pPr>
            <a:r>
              <a:rPr lang="en-IE" sz="1900" dirty="0">
                <a:solidFill>
                  <a:schemeClr val="tx1"/>
                </a:solidFill>
              </a:rPr>
              <a:t>If we need a different value, we create a new object instead.</a:t>
            </a:r>
            <a:endParaRPr lang="en-IE" sz="1900" dirty="0"/>
          </a:p>
        </p:txBody>
      </p:sp>
      <p:sp>
        <p:nvSpPr>
          <p:cNvPr id="6" name="Class book : Book"/>
          <p:cNvSpPr/>
          <p:nvPr/>
        </p:nvSpPr>
        <p:spPr>
          <a:xfrm>
            <a:off x="6355080" y="1965960"/>
            <a:ext cx="4297680" cy="1210945"/>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Class book : Book header"/>
          <p:cNvSpPr/>
          <p:nvPr/>
        </p:nvSpPr>
        <p:spPr>
          <a:xfrm>
            <a:off x="6355080" y="1965960"/>
            <a:ext cx="4297680" cy="457200"/>
          </a:xfrm>
          <a:prstGeom prst="rect">
            <a:avLst/>
          </a:prstGeom>
          <a:solidFill>
            <a:schemeClr val="accent2">
              <a:alpha val="14000"/>
            </a:schemeClr>
          </a:solidFill>
          <a:ln w="19050">
            <a:solidFill>
              <a:schemeClr val="accent2"/>
            </a:solidFill>
            <a:prstDash val="solid"/>
          </a:ln>
        </p:spPr>
      </p:sp>
      <p:sp>
        <p:nvSpPr>
          <p:cNvPr id="8" name="Text 5"/>
          <p:cNvSpPr txBox="1"/>
          <p:nvPr/>
        </p:nvSpPr>
        <p:spPr>
          <a:xfrm>
            <a:off x="6355080" y="2002536"/>
            <a:ext cx="4297680" cy="384048"/>
          </a:xfrm>
          <a:prstGeom prst="rect">
            <a:avLst/>
          </a:prstGeom>
          <a:noFill/>
          <a:ln/>
        </p:spPr>
        <p:txBody>
          <a:bodyPr wrap="square" lIns="0" tIns="0" rIns="0" bIns="0" rtlCol="0" anchor="ctr"/>
          <a:lstStyle/>
          <a:p>
            <a:pPr algn="ctr" indent="0" marL="0">
              <a:buNone/>
            </a:pPr>
            <a:r>
              <a:rPr lang="en-IE" sz="1700" b="1" dirty="0">
                <a:solidFill>
                  <a:schemeClr val="tx1"/>
                </a:solidFill>
              </a:rPr>
              <a:t>book : Book</a:t>
            </a:r>
            <a:endParaRPr lang="en-IE" sz="1700" dirty="0"/>
          </a:p>
        </p:txBody>
      </p:sp>
      <p:sp>
        <p:nvSpPr>
          <p:cNvPr id="9" name="book : Book attributes"/>
          <p:cNvSpPr txBox="1"/>
          <p:nvPr/>
        </p:nvSpPr>
        <p:spPr>
          <a:xfrm>
            <a:off x="6483096" y="2514600"/>
            <a:ext cx="4041648" cy="570865"/>
          </a:xfrm>
          <a:prstGeom prst="rect">
            <a:avLst/>
          </a:prstGeom>
          <a:noFill/>
          <a:ln/>
        </p:spPr>
        <p:txBody>
          <a:bodyPr wrap="square" lIns="0" tIns="0" rIns="0" bIns="0" rtlCol="0" anchor="t"/>
          <a:lstStyle/>
          <a:p>
            <a:pPr indent="0" marL="0">
              <a:lnSpc>
                <a:spcPts val="2247"/>
              </a:lnSpc>
              <a:buNone/>
            </a:pPr>
            <a:r>
              <a:rPr lang="en-IE" sz="1550" dirty="0">
                <a:solidFill>
                  <a:schemeClr val="tx1"/>
                </a:solidFill>
                <a:latin typeface="Consolas" pitchFamily="34" charset="0"/>
                <a:ea typeface="Consolas" pitchFamily="34" charset="-122"/>
                <a:cs typeface="Consolas" pitchFamily="34" charset="-120"/>
              </a:rPr>
              <a:t>title  = "Emma"</a:t>
            </a:r>
            <a:endParaRPr lang="en-IE" sz="1550" dirty="0"/>
          </a:p>
          <a:p>
            <a:pPr indent="0" marL="0">
              <a:lnSpc>
                <a:spcPts val="2247"/>
              </a:lnSpc>
              <a:buNone/>
            </a:pPr>
            <a:r>
              <a:rPr lang="en-IE" sz="1550" dirty="0">
                <a:solidFill>
                  <a:schemeClr val="tx1"/>
                </a:solidFill>
                <a:latin typeface="Consolas" pitchFamily="34" charset="0"/>
                <a:ea typeface="Consolas" pitchFamily="34" charset="-122"/>
                <a:cs typeface="Consolas" pitchFamily="34" charset="-120"/>
              </a:rPr>
              <a:t>author = "Jane Austen"</a:t>
            </a:r>
            <a:endParaRPr lang="en-IE" sz="1550" dirty="0"/>
          </a:p>
        </p:txBody>
      </p:sp>
      <p:sp>
        <p:nvSpPr>
          <p:cNvPr id="10" name="Icon tile"/>
          <p:cNvSpPr/>
          <p:nvPr/>
        </p:nvSpPr>
        <p:spPr>
          <a:xfrm>
            <a:off x="10762488" y="1965960"/>
            <a:ext cx="603504" cy="603504"/>
          </a:xfrm>
          <a:prstGeom prst="roundRect">
            <a:avLst>
              <a:gd name="adj" fmla="val 24000"/>
            </a:avLst>
          </a:prstGeom>
          <a:solidFill>
            <a:schemeClr val="accent2"/>
          </a:solidFill>
          <a:ln/>
        </p:spPr>
      </p:sp>
      <p:pic>
        <p:nvPicPr>
          <p:cNvPr id="11" name="lock simple icon" descr="lock simple icon">    </p:cNvPr>
          <p:cNvPicPr>
            <a:picLocks noChangeAspect="1"/>
          </p:cNvPicPr>
          <p:nvPr/>
        </p:nvPicPr>
        <p:blipFill>
          <a:blip r:embed="rId1"/>
          <a:stretch>
            <a:fillRect/>
          </a:stretch>
        </p:blipFill>
        <p:spPr>
          <a:xfrm>
            <a:off x="10889224" y="2092696"/>
            <a:ext cx="350032" cy="350032"/>
          </a:xfrm>
          <a:prstGeom prst="rect">
            <a:avLst/>
          </a:prstGeom>
        </p:spPr>
      </p:pic>
      <p:sp>
        <p:nvSpPr>
          <p:cNvPr id="12" name="Text 8"/>
          <p:cNvSpPr txBox="1"/>
          <p:nvPr/>
        </p:nvSpPr>
        <p:spPr>
          <a:xfrm>
            <a:off x="6355080" y="3286633"/>
            <a:ext cx="4297680" cy="292608"/>
          </a:xfrm>
          <a:prstGeom prst="rect">
            <a:avLst/>
          </a:prstGeom>
          <a:noFill/>
          <a:ln/>
        </p:spPr>
        <p:txBody>
          <a:bodyPr wrap="square" lIns="0" tIns="0" rIns="0" bIns="0" rtlCol="0" anchor="t"/>
          <a:lstStyle/>
          <a:p>
            <a:pPr algn="ctr" indent="0" marL="0">
              <a:buNone/>
            </a:pPr>
            <a:r>
              <a:rPr lang="en-IE" sz="1300" i="1" dirty="0">
                <a:solidFill>
                  <a:schemeClr val="tx2"/>
                </a:solidFill>
              </a:rPr>
              <a:t>its state is set once, by the constructor</a:t>
            </a:r>
            <a:endParaRPr lang="en-IE" sz="1300" dirty="0"/>
          </a:p>
        </p:txBody>
      </p:sp>
      <p:pic>
        <p:nvPicPr>
          <p:cNvPr id="13" name="Does not work" descr="Does not work">    </p:cNvPr>
          <p:cNvPicPr>
            <a:picLocks noChangeAspect="1"/>
          </p:cNvPicPr>
          <p:nvPr/>
        </p:nvPicPr>
        <p:blipFill>
          <a:blip r:embed="rId2"/>
          <a:stretch>
            <a:fillRect/>
          </a:stretch>
        </p:blipFill>
        <p:spPr>
          <a:xfrm>
            <a:off x="6675120" y="3775837"/>
            <a:ext cx="347472" cy="347472"/>
          </a:xfrm>
          <a:prstGeom prst="rect">
            <a:avLst/>
          </a:prstGeom>
        </p:spPr>
      </p:pic>
      <p:sp>
        <p:nvSpPr>
          <p:cNvPr id="14" name="Text 9"/>
          <p:cNvSpPr txBox="1"/>
          <p:nvPr/>
        </p:nvSpPr>
        <p:spPr>
          <a:xfrm>
            <a:off x="7132320" y="3743833"/>
            <a:ext cx="3520440" cy="411480"/>
          </a:xfrm>
          <a:prstGeom prst="rect">
            <a:avLst/>
          </a:prstGeom>
          <a:noFill/>
          <a:ln/>
        </p:spPr>
        <p:txBody>
          <a:bodyPr wrap="square" lIns="0" tIns="0" rIns="0" bIns="0" rtlCol="0" anchor="ctr"/>
          <a:lstStyle/>
          <a:p>
            <a:pPr indent="0" marL="0">
              <a:buNone/>
            </a:pPr>
            <a:r>
              <a:rPr lang="en-IE" sz="1500" b="1" dirty="0">
                <a:solidFill>
                  <a:srgbClr val="C0392B"/>
                </a:solidFill>
              </a:rPr>
              <a:t>No method can change title or author</a:t>
            </a:r>
            <a:endParaRPr lang="en-IE" sz="1500" dirty="0"/>
          </a:p>
        </p:txBody>
      </p:sp>
      <p:sp>
        <p:nvSpPr>
          <p:cNvPr id="15" name="Note"/>
          <p:cNvSpPr/>
          <p:nvPr/>
        </p:nvSpPr>
        <p:spPr>
          <a:xfrm>
            <a:off x="548640" y="5120640"/>
            <a:ext cx="11094415" cy="868680"/>
          </a:xfrm>
          <a:prstGeom prst="roundRect">
            <a:avLst>
              <a:gd name="adj" fmla="val 12632"/>
            </a:avLst>
          </a:prstGeom>
          <a:solidFill>
            <a:schemeClr val="bg2"/>
          </a:solidFill>
          <a:ln/>
        </p:spPr>
      </p:sp>
      <p:sp>
        <p:nvSpPr>
          <p:cNvPr id="16" name="Icon tile"/>
          <p:cNvSpPr/>
          <p:nvPr/>
        </p:nvSpPr>
        <p:spPr>
          <a:xfrm>
            <a:off x="822960" y="5289804"/>
            <a:ext cx="530352" cy="530352"/>
          </a:xfrm>
          <a:prstGeom prst="roundRect">
            <a:avLst>
              <a:gd name="adj" fmla="val 24000"/>
            </a:avLst>
          </a:prstGeom>
          <a:solidFill>
            <a:schemeClr val="accent1">
              <a:alpha val="14000"/>
            </a:schemeClr>
          </a:solidFill>
          <a:ln/>
        </p:spPr>
      </p:sp>
      <p:pic>
        <p:nvPicPr>
          <p:cNvPr id="17" name="receipt icon" descr="receipt icon">    </p:cNvPr>
          <p:cNvPicPr>
            <a:picLocks noChangeAspect="1"/>
          </p:cNvPicPr>
          <p:nvPr/>
        </p:nvPicPr>
        <p:blipFill>
          <a:blip r:embed="rId3"/>
          <a:stretch>
            <a:fillRect/>
          </a:stretch>
        </p:blipFill>
        <p:spPr>
          <a:xfrm>
            <a:off x="934334" y="5401178"/>
            <a:ext cx="307604" cy="307604"/>
          </a:xfrm>
          <a:prstGeom prst="rect">
            <a:avLst/>
          </a:prstGeom>
        </p:spPr>
      </p:pic>
      <p:sp>
        <p:nvSpPr>
          <p:cNvPr id="18" name="Text 12"/>
          <p:cNvSpPr txBox="1"/>
          <p:nvPr/>
        </p:nvSpPr>
        <p:spPr>
          <a:xfrm>
            <a:off x="1572768" y="5120640"/>
            <a:ext cx="9814255" cy="868680"/>
          </a:xfrm>
          <a:prstGeom prst="rect">
            <a:avLst/>
          </a:prstGeom>
          <a:noFill/>
          <a:ln/>
        </p:spPr>
        <p:txBody>
          <a:bodyPr wrap="square" lIns="0" tIns="0" rIns="0" bIns="0" rtlCol="0" anchor="ctr"/>
          <a:lstStyle/>
          <a:p>
            <a:pPr indent="0" marL="0">
              <a:buNone/>
            </a:pPr>
            <a:r>
              <a:rPr lang="en-IE" sz="1700" dirty="0">
                <a:solidFill>
                  <a:schemeClr val="tx1"/>
                </a:solidFill>
              </a:rPr>
              <a:t>Like a printed receipt: it can’t be edited. If something changes, a new receipt is printed.</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An object is immutable. What does that mean?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one object of its class can ever exist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Its state can’t change after it is constructed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can only be used from inside its own 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All of its methods have to be declared static</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An object is immutable. What does that mean?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one object of its class can ever exist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Its state can’t change after it is constructed</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can only be used from inside its own class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All of its methods have to be declared static</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Immutable means it can’t change form. Once the constructor has run, the object’s state stays the same. Only one object of a class (A) describes a singleton, which comes later.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IMMUTABLE CLASSES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Strings are immutable</a:t>
            </a:r>
            <a:endParaRPr lang="en-IE" sz="3400" dirty="0"/>
          </a:p>
        </p:txBody>
      </p:sp>
      <p:sp>
        <p:nvSpPr>
          <p:cNvPr id="5" name="Text 2"/>
          <p:cNvSpPr txBox="1"/>
          <p:nvPr/>
        </p:nvSpPr>
        <p:spPr>
          <a:xfrm>
            <a:off x="548640" y="1783080"/>
            <a:ext cx="5029200" cy="26517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When we create a String object, it is immutable.</a:t>
            </a:r>
            <a:endParaRPr lang="en-IE" sz="1800" dirty="0"/>
          </a:p>
          <a:p>
            <a:pPr marL="228600" indent="-228600">
              <a:spcAft>
                <a:spcPts val="1200"/>
              </a:spcAft>
              <a:buSzPct val="100000"/>
              <a:buChar char="•"/>
            </a:pPr>
            <a:r>
              <a:rPr lang="en-IE" sz="1800" dirty="0">
                <a:solidFill>
                  <a:schemeClr val="tx1"/>
                </a:solidFill>
              </a:rPr>
              <a:t>We can’t change it directly. Any change creates a new String.</a:t>
            </a:r>
            <a:endParaRPr lang="en-IE" sz="1800" dirty="0"/>
          </a:p>
          <a:p>
            <a:pPr marL="228600" indent="-228600">
              <a:buSzPct val="100000"/>
              <a:buChar char="•"/>
            </a:pPr>
            <a:r>
              <a:rPr lang="en-IE" sz="1800" dirty="0">
                <a:solidFill>
                  <a:schemeClr val="tx1"/>
                </a:solidFill>
              </a:rPr>
              <a:t>Java doesn’t edit “Bob”. It builds a whole new String, “Bob Thompson”, and stores it in name.</a:t>
            </a:r>
            <a:endParaRPr lang="en-IE" sz="1800" dirty="0"/>
          </a:p>
        </p:txBody>
      </p:sp>
      <p:sp>
        <p:nvSpPr>
          <p:cNvPr id="6" name="Changing name card"/>
          <p:cNvSpPr/>
          <p:nvPr/>
        </p:nvSpPr>
        <p:spPr>
          <a:xfrm>
            <a:off x="548640" y="4572000"/>
            <a:ext cx="5029200" cy="1285748"/>
          </a:xfrm>
          <a:prstGeom prst="roundRect">
            <a:avLst>
              <a:gd name="adj" fmla="val 8534"/>
            </a:avLst>
          </a:prstGeom>
          <a:solidFill>
            <a:schemeClr val="tx1"/>
          </a:solidFill>
          <a:ln/>
          <a:effectLst>
            <a:outerShdw sx="100000" sy="100000" kx="0" ky="0" algn="bl" rotWithShape="0" blurRad="114300" dist="31750" dir="5400000">
              <a:srgbClr val="1D2433">
                <a:alpha val="12000"/>
              </a:srgbClr>
            </a:outerShdw>
          </a:effectLst>
        </p:spPr>
      </p:sp>
      <p:sp>
        <p:nvSpPr>
          <p:cNvPr id="7" name="Changing name language"/>
          <p:cNvSpPr txBox="1"/>
          <p:nvPr/>
        </p:nvSpPr>
        <p:spPr>
          <a:xfrm>
            <a:off x="822960" y="4690872"/>
            <a:ext cx="44805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hanging name text"/>
          <p:cNvSpPr txBox="1"/>
          <p:nvPr/>
        </p:nvSpPr>
        <p:spPr>
          <a:xfrm>
            <a:off x="822960" y="5065776"/>
            <a:ext cx="4480560" cy="590804"/>
          </a:xfrm>
          <a:prstGeom prst="rect">
            <a:avLst/>
          </a:prstGeom>
          <a:noFill/>
          <a:ln/>
        </p:spPr>
        <p:txBody>
          <a:bodyPr wrap="square" lIns="0" tIns="0" rIns="0" bIns="0" rtlCol="0" anchor="t"/>
          <a:lstStyle/>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 = </a:t>
            </a:r>
            <a:r>
              <a:rPr lang="en-IE" sz="1600" dirty="0">
                <a:solidFill>
                  <a:srgbClr val="A9DB8C"/>
                </a:solidFill>
                <a:latin typeface="Consolas" pitchFamily="34" charset="0"/>
                <a:ea typeface="Consolas" pitchFamily="34" charset="-122"/>
                <a:cs typeface="Consolas" pitchFamily="34" charset="-120"/>
              </a:rPr>
              <a:t>"Bob"</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name = name + </a:t>
            </a:r>
            <a:r>
              <a:rPr lang="en-IE" sz="1600" dirty="0">
                <a:solidFill>
                  <a:srgbClr val="A9DB8C"/>
                </a:solidFill>
                <a:latin typeface="Consolas" pitchFamily="34" charset="0"/>
                <a:ea typeface="Consolas" pitchFamily="34" charset="-122"/>
                <a:cs typeface="Consolas" pitchFamily="34" charset="-120"/>
              </a:rPr>
              <a:t>" Thompson"</a:t>
            </a: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9" name="Variable name"/>
          <p:cNvSpPr/>
          <p:nvPr/>
        </p:nvSpPr>
        <p:spPr>
          <a:xfrm>
            <a:off x="6126480" y="3566160"/>
            <a:ext cx="1600200" cy="603504"/>
          </a:xfrm>
          <a:prstGeom prst="roundRect">
            <a:avLst>
              <a:gd name="adj" fmla="val 15152"/>
            </a:avLst>
          </a:prstGeom>
          <a:solidFill>
            <a:schemeClr val="bg1"/>
          </a:solidFill>
          <a:ln w="19050">
            <a:solidFill>
              <a:schemeClr val="accent2"/>
            </a:solidFill>
          </a:ln>
        </p:spPr>
        <p:txBody>
          <a:bodyPr wrap="square" lIns="0" tIns="0" rIns="0" bIns="0" rtlCol="0" anchor="ctr"/>
          <a:lstStyle/>
          <a:p>
            <a:pPr algn="ctr" indent="0" marL="0">
              <a:buNone/>
            </a:pPr>
            <a:r>
              <a:rPr lang="en-IE" sz="1800" b="1" dirty="0">
                <a:solidFill>
                  <a:schemeClr val="accent2"/>
                </a:solidFill>
                <a:latin typeface="Consolas" pitchFamily="34" charset="0"/>
                <a:ea typeface="Consolas" pitchFamily="34" charset="-122"/>
                <a:cs typeface="Consolas" pitchFamily="34" charset="-120"/>
              </a:rPr>
              <a:t>name</a:t>
            </a:r>
            <a:endParaRPr lang="en-IE" sz="1800" dirty="0"/>
          </a:p>
        </p:txBody>
      </p:sp>
      <p:sp>
        <p:nvSpPr>
          <p:cNvPr id="10" name="Text 7"/>
          <p:cNvSpPr txBox="1"/>
          <p:nvPr/>
        </p:nvSpPr>
        <p:spPr>
          <a:xfrm>
            <a:off x="6126480" y="4224528"/>
            <a:ext cx="1600200" cy="274320"/>
          </a:xfrm>
          <a:prstGeom prst="rect">
            <a:avLst/>
          </a:prstGeom>
          <a:noFill/>
          <a:ln/>
        </p:spPr>
        <p:txBody>
          <a:bodyPr wrap="square" lIns="0" tIns="0" rIns="0" bIns="0" rtlCol="0" anchor="t"/>
          <a:lstStyle/>
          <a:p>
            <a:pPr algn="ctr" indent="0" marL="0">
              <a:buNone/>
            </a:pPr>
            <a:r>
              <a:rPr lang="en-IE" sz="1200" i="1" dirty="0">
                <a:solidFill>
                  <a:schemeClr val="tx2"/>
                </a:solidFill>
              </a:rPr>
              <a:t>the variable</a:t>
            </a:r>
            <a:endParaRPr lang="en-IE" sz="1200" dirty="0"/>
          </a:p>
        </p:txBody>
      </p:sp>
      <p:sp>
        <p:nvSpPr>
          <p:cNvPr id="11" name="Box &quot;Bob&quot;"/>
          <p:cNvSpPr/>
          <p:nvPr/>
        </p:nvSpPr>
        <p:spPr>
          <a:xfrm>
            <a:off x="8732520" y="2011680"/>
            <a:ext cx="2907792" cy="731520"/>
          </a:xfrm>
          <a:prstGeom prst="roundRect">
            <a:avLst>
              <a:gd name="adj" fmla="val 10000"/>
            </a:avLst>
          </a:prstGeom>
          <a:solidFill>
            <a:schemeClr val="accent2">
              <a:alpha val="6000"/>
            </a:schemeClr>
          </a:solidFill>
          <a:ln w="19050">
            <a:solidFill>
              <a:schemeClr val="tx2"/>
            </a:solidFill>
            <a:prstDash val="dash"/>
          </a:ln>
        </p:spPr>
      </p:sp>
      <p:sp>
        <p:nvSpPr>
          <p:cNvPr id="12" name="Text 9"/>
          <p:cNvSpPr txBox="1"/>
          <p:nvPr/>
        </p:nvSpPr>
        <p:spPr>
          <a:xfrm>
            <a:off x="8732520" y="2011680"/>
            <a:ext cx="2907792" cy="731520"/>
          </a:xfrm>
          <a:prstGeom prst="rect">
            <a:avLst/>
          </a:prstGeom>
          <a:noFill/>
          <a:ln/>
        </p:spPr>
        <p:txBody>
          <a:bodyPr wrap="square" lIns="0" tIns="0" rIns="0" bIns="0" rtlCol="0" anchor="ctr"/>
          <a:lstStyle/>
          <a:p>
            <a:pPr algn="ctr" indent="0" marL="0">
              <a:buNone/>
            </a:pPr>
            <a:r>
              <a:rPr lang="en-IE" sz="1800" b="1" dirty="0">
                <a:solidFill>
                  <a:schemeClr val="tx2"/>
                </a:solidFill>
                <a:latin typeface="Consolas" pitchFamily="34" charset="0"/>
                <a:ea typeface="Consolas" pitchFamily="34" charset="-122"/>
                <a:cs typeface="Consolas" pitchFamily="34" charset="-120"/>
              </a:rPr>
              <a:t>"Bob"</a:t>
            </a:r>
            <a:endParaRPr lang="en-IE" sz="1800" dirty="0"/>
          </a:p>
        </p:txBody>
      </p:sp>
      <p:sp>
        <p:nvSpPr>
          <p:cNvPr id="13" name="Box &quot;Bob Thompson&quot;"/>
          <p:cNvSpPr/>
          <p:nvPr/>
        </p:nvSpPr>
        <p:spPr>
          <a:xfrm>
            <a:off x="8732520" y="4800600"/>
            <a:ext cx="2907792" cy="731520"/>
          </a:xfrm>
          <a:prstGeom prst="roundRect">
            <a:avLst>
              <a:gd name="adj" fmla="val 10000"/>
            </a:avLst>
          </a:prstGeom>
          <a:solidFill>
            <a:schemeClr val="accent3">
              <a:alpha val="14000"/>
            </a:schemeClr>
          </a:solidFill>
          <a:ln w="19050">
            <a:solidFill>
              <a:schemeClr val="accent3"/>
            </a:solidFill>
            <a:prstDash val="solid"/>
          </a:ln>
        </p:spPr>
      </p:sp>
      <p:sp>
        <p:nvSpPr>
          <p:cNvPr id="14" name="Text 11"/>
          <p:cNvSpPr txBox="1"/>
          <p:nvPr/>
        </p:nvSpPr>
        <p:spPr>
          <a:xfrm>
            <a:off x="8732520" y="4800600"/>
            <a:ext cx="2907792" cy="731520"/>
          </a:xfrm>
          <a:prstGeom prst="rect">
            <a:avLst/>
          </a:prstGeom>
          <a:no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"Bob Thompson"</a:t>
            </a:r>
            <a:endParaRPr lang="en-IE" sz="1800" dirty="0"/>
          </a:p>
        </p:txBody>
      </p:sp>
      <p:sp>
        <p:nvSpPr>
          <p:cNvPr id="15" name="Connector"/>
          <p:cNvSpPr/>
          <p:nvPr/>
        </p:nvSpPr>
        <p:spPr>
          <a:xfrm flipV="1">
            <a:off x="7772400" y="2377440"/>
            <a:ext cx="914400" cy="1353312"/>
          </a:xfrm>
          <a:prstGeom prst="line">
            <a:avLst/>
          </a:prstGeom>
          <a:noFill/>
          <a:ln w="19050">
            <a:solidFill>
              <a:schemeClr val="tx2"/>
            </a:solidFill>
            <a:prstDash val="dash"/>
            <a:tailEnd type="triangle"/>
          </a:ln>
        </p:spPr>
      </p:sp>
      <p:sp>
        <p:nvSpPr>
          <p:cNvPr id="16" name="Connector"/>
          <p:cNvSpPr/>
          <p:nvPr/>
        </p:nvSpPr>
        <p:spPr>
          <a:xfrm>
            <a:off x="7772400" y="4005072"/>
            <a:ext cx="914400" cy="1161288"/>
          </a:xfrm>
          <a:prstGeom prst="line">
            <a:avLst/>
          </a:prstGeom>
          <a:noFill/>
          <a:ln w="25400">
            <a:solidFill>
              <a:schemeClr val="accent3"/>
            </a:solidFill>
            <a:prstDash val="solid"/>
            <a:tailEnd type="triangle"/>
          </a:ln>
        </p:spPr>
      </p:sp>
      <p:sp>
        <p:nvSpPr>
          <p:cNvPr id="17" name="Text 14"/>
          <p:cNvSpPr txBox="1"/>
          <p:nvPr/>
        </p:nvSpPr>
        <p:spPr>
          <a:xfrm>
            <a:off x="7452360" y="2606040"/>
            <a:ext cx="822960" cy="274320"/>
          </a:xfrm>
          <a:prstGeom prst="rect">
            <a:avLst/>
          </a:prstGeom>
          <a:noFill/>
          <a:ln/>
        </p:spPr>
        <p:txBody>
          <a:bodyPr wrap="square" lIns="0" tIns="0" rIns="0" bIns="0" rtlCol="0" anchor="t"/>
          <a:lstStyle/>
          <a:p>
            <a:pPr algn="ctr" indent="0" marL="0">
              <a:buNone/>
            </a:pPr>
            <a:r>
              <a:rPr lang="en-IE" sz="1250" i="1" dirty="0">
                <a:solidFill>
                  <a:schemeClr val="tx2"/>
                </a:solidFill>
              </a:rPr>
              <a:t>before</a:t>
            </a:r>
            <a:endParaRPr lang="en-IE" sz="1250" dirty="0"/>
          </a:p>
        </p:txBody>
      </p:sp>
      <p:sp>
        <p:nvSpPr>
          <p:cNvPr id="18" name="Text 15"/>
          <p:cNvSpPr txBox="1"/>
          <p:nvPr/>
        </p:nvSpPr>
        <p:spPr>
          <a:xfrm>
            <a:off x="7452360" y="4709160"/>
            <a:ext cx="822960" cy="274320"/>
          </a:xfrm>
          <a:prstGeom prst="rect">
            <a:avLst/>
          </a:prstGeom>
          <a:noFill/>
          <a:ln/>
        </p:spPr>
        <p:txBody>
          <a:bodyPr wrap="square" lIns="0" tIns="0" rIns="0" bIns="0" rtlCol="0" anchor="t"/>
          <a:lstStyle/>
          <a:p>
            <a:pPr algn="ctr" indent="0" marL="0">
              <a:buNone/>
            </a:pPr>
            <a:r>
              <a:rPr lang="en-IE" sz="1250" b="1" i="1" dirty="0">
                <a:solidFill>
                  <a:schemeClr val="accent3"/>
                </a:solidFill>
              </a:rPr>
              <a:t>now</a:t>
            </a:r>
            <a:endParaRPr lang="en-IE" sz="1250" dirty="0"/>
          </a:p>
        </p:txBody>
      </p:sp>
      <p:sp>
        <p:nvSpPr>
          <p:cNvPr id="19" name="Text 16"/>
          <p:cNvSpPr txBox="1"/>
          <p:nvPr/>
        </p:nvSpPr>
        <p:spPr>
          <a:xfrm>
            <a:off x="8366760" y="2834640"/>
            <a:ext cx="3273552" cy="274320"/>
          </a:xfrm>
          <a:prstGeom prst="rect">
            <a:avLst/>
          </a:prstGeom>
          <a:noFill/>
          <a:ln/>
        </p:spPr>
        <p:txBody>
          <a:bodyPr wrap="square" lIns="0" tIns="0" rIns="0" bIns="0" rtlCol="0" anchor="t"/>
          <a:lstStyle/>
          <a:p>
            <a:pPr algn="ctr" indent="0" marL="0">
              <a:buNone/>
            </a:pPr>
            <a:r>
              <a:rPr lang="en-IE" sz="1250" i="1" dirty="0">
                <a:solidFill>
                  <a:schemeClr val="tx2"/>
                </a:solidFill>
              </a:rPr>
              <a:t>the old String, not edited, just no longer used</a:t>
            </a:r>
            <a:endParaRPr lang="en-IE" sz="1250" dirty="0"/>
          </a:p>
        </p:txBody>
      </p:sp>
      <p:sp>
        <p:nvSpPr>
          <p:cNvPr id="20" name="Text 17"/>
          <p:cNvSpPr txBox="1"/>
          <p:nvPr/>
        </p:nvSpPr>
        <p:spPr>
          <a:xfrm>
            <a:off x="8732520" y="5623560"/>
            <a:ext cx="2907792" cy="274320"/>
          </a:xfrm>
          <a:prstGeom prst="rect">
            <a:avLst/>
          </a:prstGeom>
          <a:noFill/>
          <a:ln/>
        </p:spPr>
        <p:txBody>
          <a:bodyPr wrap="square" lIns="0" tIns="0" rIns="0" bIns="0" rtlCol="0" anchor="t"/>
          <a:lstStyle/>
          <a:p>
            <a:pPr algn="ctr" indent="0" marL="0">
              <a:buNone/>
            </a:pPr>
            <a:r>
              <a:rPr lang="en-IE" sz="1250" i="1" dirty="0">
                <a:solidFill>
                  <a:schemeClr val="tx2"/>
                </a:solidFill>
              </a:rPr>
              <a:t>a brand-new String</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Strings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After this code runs, what has happened to the String “Bob”?</a:t>
            </a:r>
            <a:endParaRPr lang="en-IE" sz="2800" dirty="0"/>
          </a:p>
        </p:txBody>
      </p:sp>
      <p:sp>
        <p:nvSpPr>
          <p:cNvPr id="5" name="Question code card"/>
          <p:cNvSpPr/>
          <p:nvPr/>
        </p:nvSpPr>
        <p:spPr>
          <a:xfrm>
            <a:off x="548640" y="1965960"/>
            <a:ext cx="11094415" cy="1127760"/>
          </a:xfrm>
          <a:prstGeom prst="roundRect">
            <a:avLst>
              <a:gd name="adj" fmla="val 973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725424"/>
          </a:xfrm>
          <a:prstGeom prst="rect">
            <a:avLst/>
          </a:prstGeom>
          <a:noFill/>
          <a:ln/>
        </p:spPr>
        <p:txBody>
          <a:bodyPr wrap="square" lIns="0" tIns="0" rIns="0" bIns="0" rtlCol="0" anchor="t"/>
          <a:lstStyle/>
          <a:p>
            <a:pPr indent="0" marL="0">
              <a:lnSpc>
                <a:spcPts val="2640"/>
              </a:lnSpc>
              <a:buNone/>
            </a:pPr>
            <a:r>
              <a:rPr lang="en-IE" sz="2000" dirty="0">
                <a:solidFill>
                  <a:srgbClr val="6CC4E8"/>
                </a:solidFill>
                <a:latin typeface="Consolas" pitchFamily="34" charset="0"/>
                <a:ea typeface="Consolas" pitchFamily="34" charset="-122"/>
                <a:cs typeface="Consolas" pitchFamily="34" charset="-120"/>
              </a:rPr>
              <a:t>String</a:t>
            </a:r>
            <a:r>
              <a:rPr lang="en-IE" sz="2000" dirty="0">
                <a:solidFill>
                  <a:srgbClr val="E6EBF2"/>
                </a:solidFill>
                <a:latin typeface="Consolas" pitchFamily="34" charset="0"/>
                <a:ea typeface="Consolas" pitchFamily="34" charset="-122"/>
                <a:cs typeface="Consolas" pitchFamily="34" charset="-120"/>
              </a:rPr>
              <a:t> name = </a:t>
            </a:r>
            <a:r>
              <a:rPr lang="en-IE" sz="2000" dirty="0">
                <a:solidFill>
                  <a:srgbClr val="A9DB8C"/>
                </a:solidFill>
                <a:latin typeface="Consolas" pitchFamily="34" charset="0"/>
                <a:ea typeface="Consolas" pitchFamily="34" charset="-122"/>
                <a:cs typeface="Consolas" pitchFamily="34" charset="-120"/>
              </a:rPr>
              <a:t>"Bob"</a:t>
            </a:r>
            <a:r>
              <a:rPr lang="en-IE" sz="2000" dirty="0">
                <a:solidFill>
                  <a:srgbClr val="E6EBF2"/>
                </a:solidFill>
                <a:latin typeface="Consolas" pitchFamily="34" charset="0"/>
                <a:ea typeface="Consolas" pitchFamily="34" charset="-122"/>
                <a:cs typeface="Consolas" pitchFamily="34" charset="-120"/>
              </a:rPr>
              <a:t>;</a:t>
            </a:r>
            <a:endParaRPr lang="en-IE" sz="2000" dirty="0"/>
          </a:p>
          <a:p>
            <a:pPr indent="0" marL="0">
              <a:lnSpc>
                <a:spcPts val="2640"/>
              </a:lnSpc>
              <a:buNone/>
            </a:pPr>
            <a:r>
              <a:rPr lang="en-IE" sz="2000" dirty="0">
                <a:solidFill>
                  <a:srgbClr val="E6EBF2"/>
                </a:solidFill>
                <a:latin typeface="Consolas" pitchFamily="34" charset="0"/>
                <a:ea typeface="Consolas" pitchFamily="34" charset="-122"/>
                <a:cs typeface="Consolas" pitchFamily="34" charset="-120"/>
              </a:rPr>
              <a:t>name = name + </a:t>
            </a:r>
            <a:r>
              <a:rPr lang="en-IE" sz="2000" dirty="0">
                <a:solidFill>
                  <a:srgbClr val="A9DB8C"/>
                </a:solidFill>
                <a:latin typeface="Consolas" pitchFamily="34" charset="0"/>
                <a:ea typeface="Consolas" pitchFamily="34" charset="-122"/>
                <a:cs typeface="Consolas" pitchFamily="34" charset="-120"/>
              </a:rPr>
              <a:t>" Thompson"</a:t>
            </a:r>
            <a:r>
              <a:rPr lang="en-IE" sz="2000" dirty="0">
                <a:solidFill>
                  <a:srgbClr val="E6EBF2"/>
                </a:solidFill>
                <a:latin typeface="Consolas" pitchFamily="34" charset="0"/>
                <a:ea typeface="Consolas" pitchFamily="34" charset="-122"/>
                <a:cs typeface="Consolas" pitchFamily="34" charset="-120"/>
              </a:rPr>
              <a:t>;</a:t>
            </a:r>
            <a:endParaRPr lang="en-IE" sz="2000" dirty="0"/>
          </a:p>
        </p:txBody>
      </p:sp>
      <p:sp>
        <p:nvSpPr>
          <p:cNvPr id="7" name="Option A"/>
          <p:cNvSpPr/>
          <p:nvPr/>
        </p:nvSpPr>
        <p:spPr>
          <a:xfrm>
            <a:off x="548640" y="3413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610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45948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was edited to say “Bob Thompson”</a:t>
            </a:r>
            <a:endParaRPr lang="en-IE" sz="2000" dirty="0"/>
          </a:p>
        </p:txBody>
      </p:sp>
      <p:sp>
        <p:nvSpPr>
          <p:cNvPr id="10" name="Option B"/>
          <p:cNvSpPr/>
          <p:nvPr/>
        </p:nvSpPr>
        <p:spPr>
          <a:xfrm>
            <a:off x="6233008" y="3413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610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45948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was deleted on the spot by Java</a:t>
            </a:r>
            <a:endParaRPr lang="en-IE" sz="2000" dirty="0"/>
          </a:p>
        </p:txBody>
      </p:sp>
      <p:sp>
        <p:nvSpPr>
          <p:cNvPr id="13" name="Option C"/>
          <p:cNvSpPr/>
          <p:nvPr/>
        </p:nvSpPr>
        <p:spPr>
          <a:xfrm>
            <a:off x="548640" y="4602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799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648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is unchanged: name got a new String</a:t>
            </a:r>
            <a:endParaRPr lang="en-IE" sz="2000" dirty="0"/>
          </a:p>
        </p:txBody>
      </p:sp>
      <p:sp>
        <p:nvSpPr>
          <p:cNvPr id="16" name="Option D"/>
          <p:cNvSpPr/>
          <p:nvPr/>
        </p:nvSpPr>
        <p:spPr>
          <a:xfrm>
            <a:off x="6233008" y="4602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4799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648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now holds two Strings joined together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Strings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After this code runs, what has happened to the String “Bob”?</a:t>
            </a:r>
            <a:endParaRPr lang="en-IE" sz="2000" dirty="0"/>
          </a:p>
        </p:txBody>
      </p:sp>
      <p:sp>
        <p:nvSpPr>
          <p:cNvPr id="5" name="Answer code card"/>
          <p:cNvSpPr/>
          <p:nvPr/>
        </p:nvSpPr>
        <p:spPr>
          <a:xfrm>
            <a:off x="548640" y="1874520"/>
            <a:ext cx="56235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5778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name = </a:t>
            </a:r>
            <a:r>
              <a:rPr lang="en-IE" sz="1500" dirty="0">
                <a:solidFill>
                  <a:srgbClr val="A9DB8C"/>
                </a:solidFill>
                <a:latin typeface="Consolas" pitchFamily="34" charset="0"/>
                <a:ea typeface="Consolas" pitchFamily="34" charset="-122"/>
                <a:cs typeface="Consolas" pitchFamily="34" charset="-120"/>
              </a:rPr>
              <a:t>"Bob"</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name = name + </a:t>
            </a:r>
            <a:r>
              <a:rPr lang="en-IE" sz="1500" dirty="0">
                <a:solidFill>
                  <a:srgbClr val="A9DB8C"/>
                </a:solidFill>
                <a:latin typeface="Consolas" pitchFamily="34" charset="0"/>
                <a:ea typeface="Consolas" pitchFamily="34" charset="-122"/>
                <a:cs typeface="Consolas" pitchFamily="34" charset="-120"/>
              </a:rPr>
              <a:t>" Thompson"</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7" name="Option A"/>
          <p:cNvSpPr/>
          <p:nvPr/>
        </p:nvSpPr>
        <p:spPr>
          <a:xfrm>
            <a:off x="548640" y="3063240"/>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7525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063240"/>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was edited to say “Bob Thompson”</a:t>
            </a:r>
            <a:endParaRPr lang="en-IE" sz="1700" dirty="0"/>
          </a:p>
        </p:txBody>
      </p:sp>
      <p:sp>
        <p:nvSpPr>
          <p:cNvPr id="10" name="Option B"/>
          <p:cNvSpPr/>
          <p:nvPr/>
        </p:nvSpPr>
        <p:spPr>
          <a:xfrm>
            <a:off x="548640" y="3854196"/>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96621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3854196"/>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was deleted on the spot by Java</a:t>
            </a:r>
            <a:endParaRPr lang="en-IE" sz="1700" dirty="0"/>
          </a:p>
        </p:txBody>
      </p:sp>
      <p:sp>
        <p:nvSpPr>
          <p:cNvPr id="13" name="Option C (correct)"/>
          <p:cNvSpPr/>
          <p:nvPr/>
        </p:nvSpPr>
        <p:spPr>
          <a:xfrm>
            <a:off x="548640" y="4645152"/>
            <a:ext cx="5623560" cy="644652"/>
          </a:xfrm>
          <a:prstGeom prst="roundRect">
            <a:avLst>
              <a:gd name="adj" fmla="val 17021"/>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75716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71600" y="4645152"/>
            <a:ext cx="4142232" cy="644652"/>
          </a:xfrm>
          <a:prstGeom prst="rect">
            <a:avLst/>
          </a:prstGeom>
          <a:noFill/>
          <a:ln/>
        </p:spPr>
        <p:txBody>
          <a:bodyPr wrap="square" lIns="0" tIns="0" rIns="0" bIns="0" rtlCol="0" anchor="ctr"/>
          <a:lstStyle/>
          <a:p>
            <a:pPr indent="0" marL="0">
              <a:buNone/>
            </a:pPr>
            <a:r>
              <a:rPr lang="en-IE" sz="1700" b="1" dirty="0">
                <a:solidFill>
                  <a:schemeClr val="bg1"/>
                </a:solidFill>
              </a:rPr>
              <a:t>It is unchanged: name got a new String</a:t>
            </a:r>
            <a:endParaRPr lang="en-IE" sz="1700" dirty="0"/>
          </a:p>
        </p:txBody>
      </p:sp>
      <p:pic>
        <p:nvPicPr>
          <p:cNvPr id="16" name="Correct mark" descr="Correct mark">    </p:cNvPr>
          <p:cNvPicPr>
            <a:picLocks noChangeAspect="1"/>
          </p:cNvPicPr>
          <p:nvPr/>
        </p:nvPicPr>
        <p:blipFill>
          <a:blip r:embed="rId1"/>
          <a:stretch>
            <a:fillRect/>
          </a:stretch>
        </p:blipFill>
        <p:spPr>
          <a:xfrm>
            <a:off x="5623560" y="4784598"/>
            <a:ext cx="365760" cy="365760"/>
          </a:xfrm>
          <a:prstGeom prst="rect">
            <a:avLst/>
          </a:prstGeom>
        </p:spPr>
      </p:pic>
      <p:sp>
        <p:nvSpPr>
          <p:cNvPr id="17" name="Option D"/>
          <p:cNvSpPr/>
          <p:nvPr/>
        </p:nvSpPr>
        <p:spPr>
          <a:xfrm>
            <a:off x="548640" y="5436108"/>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812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36108"/>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now holds two Strings joined together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Strings are immutable, so Java doesn’t edit “Bob”. It builds a whole new String, “Bob Thompson”, and stores it in name. The old “Bob” isn’t changed; it is simply no longer used.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IMMUTABLE CLASSES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String methods never change the original</a:t>
            </a:r>
            <a:endParaRPr lang="en-IE" sz="3400" dirty="0"/>
          </a:p>
        </p:txBody>
      </p:sp>
      <p:sp>
        <p:nvSpPr>
          <p:cNvPr id="5" name="Text 2"/>
          <p:cNvSpPr txBox="1"/>
          <p:nvPr/>
        </p:nvSpPr>
        <p:spPr>
          <a:xfrm>
            <a:off x="548640" y="1783080"/>
            <a:ext cx="5029200" cy="301752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accent2"/>
                </a:solidFill>
                <a:latin typeface="Consolas" pitchFamily="34" charset="0"/>
                <a:ea typeface="Consolas" pitchFamily="34" charset="-122"/>
                <a:cs typeface="Consolas" pitchFamily="34" charset="-120"/>
              </a:rPr>
              <a:t>name.toLowerCase()</a:t>
            </a:r>
            <a:r>
              <a:rPr lang="en-IE" sz="1800" dirty="0">
                <a:solidFill>
                  <a:schemeClr val="tx1"/>
                </a:solidFill>
              </a:rPr>
              <a:t> returns a new String, with name in lower case.</a:t>
            </a:r>
            <a:endParaRPr lang="en-IE" sz="1800" dirty="0"/>
          </a:p>
          <a:p>
            <a:pPr marL="228600" indent="-228600">
              <a:spcAft>
                <a:spcPts val="1200"/>
              </a:spcAft>
              <a:buSzPct val="100000"/>
              <a:buChar char="•"/>
            </a:pPr>
            <a:r>
              <a:rPr lang="en-IE" sz="1800" dirty="0">
                <a:solidFill>
                  <a:schemeClr val="tx1"/>
                </a:solidFill>
              </a:rPr>
              <a:t>It doesn’t affect the original name at all.</a:t>
            </a:r>
            <a:endParaRPr lang="en-IE" sz="1800" dirty="0"/>
          </a:p>
          <a:p>
            <a:pPr marL="228600" indent="-228600">
              <a:buSzPct val="100000"/>
              <a:buChar char="•"/>
            </a:pPr>
            <a:r>
              <a:rPr lang="en-IE" sz="1800" dirty="0">
                <a:solidFill>
                  <a:schemeClr val="tx1"/>
                </a:solidFill>
              </a:rPr>
              <a:t>To keep the change, we store the new String, for example </a:t>
            </a:r>
            <a:r>
              <a:rPr lang="en-IE" sz="1800" dirty="0">
                <a:solidFill>
                  <a:schemeClr val="accent2"/>
                </a:solidFill>
                <a:latin typeface="Consolas" pitchFamily="34" charset="0"/>
                <a:ea typeface="Consolas" pitchFamily="34" charset="-122"/>
                <a:cs typeface="Consolas" pitchFamily="34" charset="-120"/>
              </a:rPr>
              <a:t>name = name.toLowerCase();</a:t>
            </a:r>
            <a:endParaRPr lang="en-IE" sz="1800" dirty="0"/>
          </a:p>
        </p:txBody>
      </p:sp>
      <p:sp>
        <p:nvSpPr>
          <p:cNvPr id="6" name="toLowerCase card"/>
          <p:cNvSpPr/>
          <p:nvPr/>
        </p:nvSpPr>
        <p:spPr>
          <a:xfrm>
            <a:off x="5943600" y="1783080"/>
            <a:ext cx="5699455"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7" name="toLowerCase language"/>
          <p:cNvSpPr txBox="1"/>
          <p:nvPr/>
        </p:nvSpPr>
        <p:spPr>
          <a:xfrm>
            <a:off x="6217920" y="1901952"/>
            <a:ext cx="51508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toLowerCase text"/>
          <p:cNvSpPr txBox="1"/>
          <p:nvPr/>
        </p:nvSpPr>
        <p:spPr>
          <a:xfrm>
            <a:off x="6217920" y="2276856"/>
            <a:ext cx="5150815" cy="131216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name = </a:t>
            </a:r>
            <a:r>
              <a:rPr lang="en-IE" sz="1500" dirty="0">
                <a:solidFill>
                  <a:srgbClr val="A9DB8C"/>
                </a:solidFill>
                <a:latin typeface="Consolas" pitchFamily="34" charset="0"/>
                <a:ea typeface="Consolas" pitchFamily="34" charset="-122"/>
                <a:cs typeface="Consolas" pitchFamily="34" charset="-120"/>
              </a:rPr>
              <a:t>"Bob Thompson"</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lower = name.</a:t>
            </a:r>
            <a:r>
              <a:rPr lang="en-IE" sz="1500" dirty="0">
                <a:solidFill>
                  <a:srgbClr val="C9B0FF"/>
                </a:solidFill>
                <a:latin typeface="Consolas" pitchFamily="34" charset="0"/>
                <a:ea typeface="Consolas" pitchFamily="34" charset="-122"/>
                <a:cs typeface="Consolas" pitchFamily="34" charset="-120"/>
              </a:rPr>
              <a:t>toLowerCase</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(lower);</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(name);</a:t>
            </a:r>
            <a:endParaRPr lang="en-IE" sz="1500" dirty="0"/>
          </a:p>
        </p:txBody>
      </p:sp>
      <p:sp>
        <p:nvSpPr>
          <p:cNvPr id="9" name="Output card"/>
          <p:cNvSpPr/>
          <p:nvPr/>
        </p:nvSpPr>
        <p:spPr>
          <a:xfrm>
            <a:off x="5943600" y="4018788"/>
            <a:ext cx="5699455" cy="1234440"/>
          </a:xfrm>
          <a:prstGeom prst="roundRect">
            <a:avLst>
              <a:gd name="adj" fmla="val 8889"/>
            </a:avLst>
          </a:prstGeom>
          <a:solidFill>
            <a:schemeClr val="tx1"/>
          </a:solidFill>
          <a:ln/>
          <a:effectLst>
            <a:outerShdw sx="100000" sy="100000" kx="0" ky="0" algn="bl" rotWithShape="0" blurRad="114300" dist="31750" dir="5400000">
              <a:srgbClr val="1D2433">
                <a:alpha val="12000"/>
              </a:srgbClr>
            </a:outerShdw>
          </a:effectLst>
        </p:spPr>
      </p:sp>
      <p:sp>
        <p:nvSpPr>
          <p:cNvPr id="10" name="Text 7"/>
          <p:cNvSpPr txBox="1"/>
          <p:nvPr/>
        </p:nvSpPr>
        <p:spPr>
          <a:xfrm>
            <a:off x="6217920" y="4137660"/>
            <a:ext cx="51508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1" name="Output text"/>
          <p:cNvSpPr txBox="1"/>
          <p:nvPr/>
        </p:nvSpPr>
        <p:spPr>
          <a:xfrm>
            <a:off x="6217920" y="4475988"/>
            <a:ext cx="5150815" cy="594360"/>
          </a:xfrm>
          <a:prstGeom prst="rect">
            <a:avLst/>
          </a:prstGeom>
          <a:noFill/>
          <a:ln/>
        </p:spPr>
        <p:txBody>
          <a:bodyPr wrap="square" lIns="0" tIns="0" rIns="0" bIns="0" rtlCol="0" anchor="t"/>
          <a:lstStyle/>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bob thompson</a:t>
            </a:r>
            <a:endParaRPr lang="en-IE" sz="1700" dirty="0"/>
          </a:p>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Bob Thompson</a:t>
            </a:r>
            <a:endParaRPr lang="en-IE" sz="1700" dirty="0"/>
          </a:p>
        </p:txBody>
      </p:sp>
      <p:sp>
        <p:nvSpPr>
          <p:cNvPr id="12" name="Note"/>
          <p:cNvSpPr/>
          <p:nvPr/>
        </p:nvSpPr>
        <p:spPr>
          <a:xfrm>
            <a:off x="548640" y="5074920"/>
            <a:ext cx="5029200" cy="914400"/>
          </a:xfrm>
          <a:prstGeom prst="roundRect">
            <a:avLst>
              <a:gd name="adj" fmla="val 12000"/>
            </a:avLst>
          </a:prstGeom>
          <a:solidFill>
            <a:schemeClr val="bg2"/>
          </a:solidFill>
          <a:ln/>
        </p:spPr>
      </p:sp>
      <p:sp>
        <p:nvSpPr>
          <p:cNvPr id="13" name="Icon tile"/>
          <p:cNvSpPr/>
          <p:nvPr/>
        </p:nvSpPr>
        <p:spPr>
          <a:xfrm>
            <a:off x="822960" y="5266944"/>
            <a:ext cx="530352" cy="530352"/>
          </a:xfrm>
          <a:prstGeom prst="roundRect">
            <a:avLst>
              <a:gd name="adj" fmla="val 24000"/>
            </a:avLst>
          </a:prstGeom>
          <a:solidFill>
            <a:schemeClr val="accent2">
              <a:alpha val="14000"/>
            </a:schemeClr>
          </a:solidFill>
          <a:ln/>
        </p:spPr>
      </p:sp>
      <p:pic>
        <p:nvPicPr>
          <p:cNvPr id="14" name="copy icon" descr="copy icon">    </p:cNvPr>
          <p:cNvPicPr>
            <a:picLocks noChangeAspect="1"/>
          </p:cNvPicPr>
          <p:nvPr/>
        </p:nvPicPr>
        <p:blipFill>
          <a:blip r:embed="rId1"/>
          <a:stretch>
            <a:fillRect/>
          </a:stretch>
        </p:blipFill>
        <p:spPr>
          <a:xfrm>
            <a:off x="934334" y="5378318"/>
            <a:ext cx="307604" cy="307604"/>
          </a:xfrm>
          <a:prstGeom prst="rect">
            <a:avLst/>
          </a:prstGeom>
        </p:spPr>
      </p:pic>
      <p:sp>
        <p:nvSpPr>
          <p:cNvPr id="15" name="Text 11"/>
          <p:cNvSpPr txBox="1"/>
          <p:nvPr/>
        </p:nvSpPr>
        <p:spPr>
          <a:xfrm>
            <a:off x="1572768" y="5074920"/>
            <a:ext cx="3749040" cy="914400"/>
          </a:xfrm>
          <a:prstGeom prst="rect">
            <a:avLst/>
          </a:prstGeom>
          <a:noFill/>
          <a:ln/>
        </p:spPr>
        <p:txBody>
          <a:bodyPr wrap="square" lIns="0" tIns="0" rIns="0" bIns="0" rtlCol="0" anchor="ctr"/>
          <a:lstStyle/>
          <a:p>
            <a:pPr indent="0" marL="0">
              <a:buNone/>
            </a:pPr>
            <a:r>
              <a:rPr lang="en-IE" sz="1600" dirty="0">
                <a:solidFill>
                  <a:schemeClr val="tx1"/>
                </a:solidFill>
              </a:rPr>
              <a:t>The original String is never touched. Every “change” is a new String.</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Strings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998216"/>
            <a:ext cx="6035040" cy="1958848"/>
          </a:xfrm>
          <a:prstGeom prst="roundRect">
            <a:avLst>
              <a:gd name="adj" fmla="val 560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311708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491992"/>
            <a:ext cx="5486400" cy="1263904"/>
          </a:xfrm>
          <a:prstGeom prst="rect">
            <a:avLst/>
          </a:prstGeom>
          <a:noFill/>
          <a:ln/>
        </p:spPr>
        <p:txBody>
          <a:bodyPr wrap="square" lIns="0" tIns="0" rIns="0" bIns="0" rtlCol="0" anchor="t"/>
          <a:lstStyle/>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name = </a:t>
            </a:r>
            <a:r>
              <a:rPr lang="en-IE" sz="1800" dirty="0">
                <a:solidFill>
                  <a:srgbClr val="A9DB8C"/>
                </a:solidFill>
                <a:latin typeface="Consolas" pitchFamily="34" charset="0"/>
                <a:ea typeface="Consolas" pitchFamily="34" charset="-122"/>
                <a:cs typeface="Consolas" pitchFamily="34" charset="-120"/>
              </a:rPr>
              <a:t>"Bob"</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name.</a:t>
            </a:r>
            <a:r>
              <a:rPr lang="en-IE" sz="1800" dirty="0">
                <a:solidFill>
                  <a:srgbClr val="C9B0FF"/>
                </a:solidFill>
                <a:latin typeface="Consolas" pitchFamily="34" charset="0"/>
                <a:ea typeface="Consolas" pitchFamily="34" charset="-122"/>
                <a:cs typeface="Consolas" pitchFamily="34" charset="-120"/>
              </a:rPr>
              <a:t>toUpperCase</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name = name.</a:t>
            </a:r>
            <a:r>
              <a:rPr lang="en-IE" sz="1800" dirty="0">
                <a:solidFill>
                  <a:srgbClr val="C9B0FF"/>
                </a:solidFill>
                <a:latin typeface="Consolas" pitchFamily="34" charset="0"/>
                <a:ea typeface="Consolas" pitchFamily="34" charset="-122"/>
                <a:cs typeface="Consolas" pitchFamily="34" charset="-120"/>
              </a:rPr>
              <a:t>concat</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 Thompson"</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(name);</a:t>
            </a:r>
            <a:endParaRPr lang="en-IE"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BOB THOMPSON</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Bob Thompson</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BOB</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Bob</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Strings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085850"/>
          </a:xfrm>
          <a:prstGeom prst="roundRect">
            <a:avLst>
              <a:gd name="adj" fmla="val 10105"/>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683514"/>
          </a:xfrm>
          <a:prstGeom prst="rect">
            <a:avLst/>
          </a:prstGeom>
          <a:noFill/>
          <a:ln/>
        </p:spPr>
        <p:txBody>
          <a:bodyPr wrap="square" lIns="0" tIns="0" rIns="0" bIns="0" rtlCol="0" anchor="t"/>
          <a:lstStyle/>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name.</a:t>
            </a:r>
            <a:r>
              <a:rPr lang="en-IE" sz="1250" dirty="0">
                <a:solidFill>
                  <a:srgbClr val="C9B0FF"/>
                </a:solidFill>
                <a:latin typeface="Consolas" pitchFamily="34" charset="0"/>
                <a:ea typeface="Consolas" pitchFamily="34" charset="-122"/>
                <a:cs typeface="Consolas" pitchFamily="34" charset="-120"/>
              </a:rPr>
              <a:t>toUpperCase</a:t>
            </a: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result not kept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name = name.</a:t>
            </a:r>
            <a:r>
              <a:rPr lang="en-IE" sz="1250" dirty="0">
                <a:solidFill>
                  <a:srgbClr val="C9B0FF"/>
                </a:solidFill>
                <a:latin typeface="Consolas" pitchFamily="34" charset="0"/>
                <a:ea typeface="Consolas" pitchFamily="34" charset="-122"/>
                <a:cs typeface="Consolas" pitchFamily="34" charset="-120"/>
              </a:rPr>
              <a:t>concat</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A9DB8C"/>
                </a:solidFill>
                <a:latin typeface="Consolas" pitchFamily="34" charset="0"/>
                <a:ea typeface="Consolas" pitchFamily="34" charset="-122"/>
                <a:cs typeface="Consolas" pitchFamily="34" charset="-120"/>
              </a:rPr>
              <a:t>" Thompson"</a:t>
            </a: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result kept</a:t>
            </a:r>
            <a:endParaRPr lang="en-IE" sz="1250" dirty="0"/>
          </a:p>
          <a:p>
            <a:pPr indent="0" marL="0">
              <a:lnSpc>
                <a:spcPts val="1650"/>
              </a:lnSpc>
              <a:buNone/>
            </a:pPr>
            <a:r>
              <a:rPr lang="en-IE" sz="1250" dirty="0">
                <a:solidFill>
                  <a:srgbClr val="6CC4E8"/>
                </a:solidFill>
                <a:latin typeface="Consolas" pitchFamily="34" charset="0"/>
                <a:ea typeface="Consolas" pitchFamily="34" charset="-122"/>
                <a:cs typeface="Consolas" pitchFamily="34" charset="-120"/>
              </a:rPr>
              <a:t>System</a:t>
            </a:r>
            <a:r>
              <a:rPr lang="en-IE" sz="1250" dirty="0">
                <a:solidFill>
                  <a:srgbClr val="E6EBF2"/>
                </a:solidFill>
                <a:latin typeface="Consolas" pitchFamily="34" charset="0"/>
                <a:ea typeface="Consolas" pitchFamily="34" charset="-122"/>
                <a:cs typeface="Consolas" pitchFamily="34" charset="-120"/>
              </a:rPr>
              <a:t>.out.</a:t>
            </a:r>
            <a:r>
              <a:rPr lang="en-IE" sz="1250" dirty="0">
                <a:solidFill>
                  <a:srgbClr val="C9B0FF"/>
                </a:solidFill>
                <a:latin typeface="Consolas" pitchFamily="34" charset="0"/>
                <a:ea typeface="Consolas" pitchFamily="34" charset="-122"/>
                <a:cs typeface="Consolas" pitchFamily="34" charset="-120"/>
              </a:rPr>
              <a:t>println</a:t>
            </a:r>
            <a:r>
              <a:rPr lang="en-IE" sz="1250" dirty="0">
                <a:solidFill>
                  <a:srgbClr val="E6EBF2"/>
                </a:solidFill>
                <a:latin typeface="Consolas" pitchFamily="34" charset="0"/>
                <a:ea typeface="Consolas" pitchFamily="34" charset="-122"/>
                <a:cs typeface="Consolas" pitchFamily="34" charset="-120"/>
              </a:rPr>
              <a:t>(name);         </a:t>
            </a:r>
            <a:r>
              <a:rPr lang="en-IE" sz="1250" i="1" dirty="0">
                <a:solidFill>
                  <a:srgbClr val="A3AEC2"/>
                </a:solidFill>
                <a:latin typeface="Consolas" pitchFamily="34" charset="0"/>
                <a:ea typeface="Consolas" pitchFamily="34" charset="-122"/>
                <a:cs typeface="Consolas" pitchFamily="34" charset="-120"/>
              </a:rPr>
              <a:t>// Bob Thompson</a:t>
            </a:r>
            <a:endParaRPr lang="en-IE" sz="1250" dirty="0"/>
          </a:p>
        </p:txBody>
      </p:sp>
      <p:sp>
        <p:nvSpPr>
          <p:cNvPr id="7" name="Option A"/>
          <p:cNvSpPr/>
          <p:nvPr/>
        </p:nvSpPr>
        <p:spPr>
          <a:xfrm>
            <a:off x="548640" y="3188970"/>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28526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188970"/>
            <a:ext cx="4572000" cy="61322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BOB THOMPSON</a:t>
            </a:r>
            <a:endParaRPr lang="en-IE" sz="1700" dirty="0"/>
          </a:p>
        </p:txBody>
      </p:sp>
      <p:sp>
        <p:nvSpPr>
          <p:cNvPr id="10" name="Option B (correct)"/>
          <p:cNvSpPr/>
          <p:nvPr/>
        </p:nvSpPr>
        <p:spPr>
          <a:xfrm>
            <a:off x="548640" y="3948494"/>
            <a:ext cx="5623560" cy="613220"/>
          </a:xfrm>
          <a:prstGeom prst="roundRect">
            <a:avLst>
              <a:gd name="adj" fmla="val 17894"/>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044791"/>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948494"/>
            <a:ext cx="4142232" cy="61322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Bob Thompson</a:t>
            </a:r>
            <a:endParaRPr lang="en-IE" sz="1700" dirty="0"/>
          </a:p>
        </p:txBody>
      </p:sp>
      <p:pic>
        <p:nvPicPr>
          <p:cNvPr id="13" name="Correct mark" descr="Correct mark">    </p:cNvPr>
          <p:cNvPicPr>
            <a:picLocks noChangeAspect="1"/>
          </p:cNvPicPr>
          <p:nvPr/>
        </p:nvPicPr>
        <p:blipFill>
          <a:blip r:embed="rId1"/>
          <a:stretch>
            <a:fillRect/>
          </a:stretch>
        </p:blipFill>
        <p:spPr>
          <a:xfrm>
            <a:off x="5623560" y="4072223"/>
            <a:ext cx="365760" cy="365760"/>
          </a:xfrm>
          <a:prstGeom prst="rect">
            <a:avLst/>
          </a:prstGeom>
        </p:spPr>
      </p:pic>
      <p:sp>
        <p:nvSpPr>
          <p:cNvPr id="14" name="Option C"/>
          <p:cNvSpPr/>
          <p:nvPr/>
        </p:nvSpPr>
        <p:spPr>
          <a:xfrm>
            <a:off x="548640" y="4708017"/>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0431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08017"/>
            <a:ext cx="4572000" cy="61322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BOB</a:t>
            </a:r>
            <a:endParaRPr lang="en-IE" sz="1700" dirty="0"/>
          </a:p>
        </p:txBody>
      </p:sp>
      <p:sp>
        <p:nvSpPr>
          <p:cNvPr id="17" name="Option D"/>
          <p:cNvSpPr/>
          <p:nvPr/>
        </p:nvSpPr>
        <p:spPr>
          <a:xfrm>
            <a:off x="548640" y="5467541"/>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6383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67541"/>
            <a:ext cx="4572000" cy="61322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Bob</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toUpperCase()</a:t>
            </a:r>
            <a:r>
              <a:rPr lang="en-IE" sz="1800" dirty="0">
                <a:solidFill>
                  <a:schemeClr val="tx1"/>
                </a:solidFill>
              </a:rPr>
              <a:t> gives back a new String, but nothing keeps it. </a:t>
            </a:r>
            <a:r>
              <a:rPr lang="en-IE" sz="1800" dirty="0">
                <a:solidFill>
                  <a:schemeClr val="accent2"/>
                </a:solidFill>
                <a:latin typeface="Consolas" pitchFamily="34" charset="0"/>
                <a:ea typeface="Consolas" pitchFamily="34" charset="-122"/>
                <a:cs typeface="Consolas" pitchFamily="34" charset="-120"/>
              </a:rPr>
              <a:t>concat()</a:t>
            </a:r>
            <a:r>
              <a:rPr lang="en-IE" sz="1800" dirty="0">
                <a:solidFill>
                  <a:schemeClr val="tx1"/>
                </a:solidFill>
              </a:rPr>
              <a:t> also gives back a new String, and this time it is stored in name, so name now refers to “Bob Thompson”.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IMMUTABLE CLASSES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Making a class immutable</a:t>
            </a:r>
            <a:endParaRPr lang="en-IE" sz="3400" dirty="0"/>
          </a:p>
        </p:txBody>
      </p:sp>
      <p:sp>
        <p:nvSpPr>
          <p:cNvPr id="5" name="No setters at all"/>
          <p:cNvSpPr/>
          <p:nvPr/>
        </p:nvSpPr>
        <p:spPr>
          <a:xfrm>
            <a:off x="548640" y="173736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25396"/>
            <a:ext cx="658368" cy="658368"/>
          </a:xfrm>
          <a:prstGeom prst="roundRect">
            <a:avLst>
              <a:gd name="adj" fmla="val 24000"/>
            </a:avLst>
          </a:prstGeom>
          <a:solidFill>
            <a:schemeClr val="accent1">
              <a:alpha val="14000"/>
            </a:schemeClr>
          </a:solidFill>
          <a:ln/>
        </p:spPr>
      </p:sp>
      <p:pic>
        <p:nvPicPr>
          <p:cNvPr id="7" name="prohibit icon" descr="prohibit icon">    </p:cNvPr>
          <p:cNvPicPr>
            <a:picLocks noChangeAspect="1"/>
          </p:cNvPicPr>
          <p:nvPr/>
        </p:nvPicPr>
        <p:blipFill>
          <a:blip r:embed="rId1"/>
          <a:stretch>
            <a:fillRect/>
          </a:stretch>
        </p:blipFill>
        <p:spPr>
          <a:xfrm>
            <a:off x="961217" y="2163653"/>
            <a:ext cx="381853" cy="381853"/>
          </a:xfrm>
          <a:prstGeom prst="rect">
            <a:avLst/>
          </a:prstGeom>
        </p:spPr>
      </p:pic>
      <p:sp>
        <p:nvSpPr>
          <p:cNvPr id="8" name="Text 4"/>
          <p:cNvSpPr txBox="1"/>
          <p:nvPr/>
        </p:nvSpPr>
        <p:spPr>
          <a:xfrm>
            <a:off x="1709928" y="193852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No setters at all</a:t>
            </a:r>
            <a:endParaRPr lang="en-IE" sz="1900" dirty="0"/>
          </a:p>
        </p:txBody>
      </p:sp>
      <p:sp>
        <p:nvSpPr>
          <p:cNvPr id="9" name="Text 5"/>
          <p:cNvSpPr txBox="1"/>
          <p:nvPr/>
        </p:nvSpPr>
        <p:spPr>
          <a:xfrm>
            <a:off x="1709928" y="2377440"/>
            <a:ext cx="4038448" cy="457200"/>
          </a:xfrm>
          <a:prstGeom prst="rect">
            <a:avLst/>
          </a:prstGeom>
          <a:noFill/>
          <a:ln/>
        </p:spPr>
        <p:txBody>
          <a:bodyPr wrap="square" lIns="0" tIns="0" rIns="0" bIns="0" rtlCol="0" anchor="t"/>
          <a:lstStyle/>
          <a:p>
            <a:pPr indent="0" marL="0">
              <a:buNone/>
            </a:pPr>
            <a:r>
              <a:rPr lang="en-IE" sz="1550" dirty="0">
                <a:solidFill>
                  <a:schemeClr val="tx2"/>
                </a:solidFill>
              </a:rPr>
              <a:t>Nothing can change the object once it’s built.</a:t>
            </a:r>
            <a:endParaRPr lang="en-IE" sz="1550" dirty="0"/>
          </a:p>
        </p:txBody>
      </p:sp>
      <p:sp>
        <p:nvSpPr>
          <p:cNvPr id="10" name="Values only via the constructor"/>
          <p:cNvSpPr/>
          <p:nvPr/>
        </p:nvSpPr>
        <p:spPr>
          <a:xfrm>
            <a:off x="6233008" y="173736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07328" y="2025396"/>
            <a:ext cx="658368" cy="658368"/>
          </a:xfrm>
          <a:prstGeom prst="roundRect">
            <a:avLst>
              <a:gd name="adj" fmla="val 24000"/>
            </a:avLst>
          </a:prstGeom>
          <a:solidFill>
            <a:schemeClr val="accent2">
              <a:alpha val="14000"/>
            </a:schemeClr>
          </a:solidFill>
          <a:ln/>
        </p:spPr>
      </p:sp>
      <p:pic>
        <p:nvPicPr>
          <p:cNvPr id="12" name="sign in icon" descr="sign in icon">    </p:cNvPr>
          <p:cNvPicPr>
            <a:picLocks noChangeAspect="1"/>
          </p:cNvPicPr>
          <p:nvPr/>
        </p:nvPicPr>
        <p:blipFill>
          <a:blip r:embed="rId2"/>
          <a:stretch>
            <a:fillRect/>
          </a:stretch>
        </p:blipFill>
        <p:spPr>
          <a:xfrm>
            <a:off x="6645585" y="2163653"/>
            <a:ext cx="381853" cy="381853"/>
          </a:xfrm>
          <a:prstGeom prst="rect">
            <a:avLst/>
          </a:prstGeom>
        </p:spPr>
      </p:pic>
      <p:sp>
        <p:nvSpPr>
          <p:cNvPr id="13" name="Text 8"/>
          <p:cNvSpPr txBox="1"/>
          <p:nvPr/>
        </p:nvSpPr>
        <p:spPr>
          <a:xfrm>
            <a:off x="7394296" y="193852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Values only via the constructor</a:t>
            </a:r>
            <a:endParaRPr lang="en-IE" sz="1900" dirty="0"/>
          </a:p>
        </p:txBody>
      </p:sp>
      <p:sp>
        <p:nvSpPr>
          <p:cNvPr id="14" name="Text 9"/>
          <p:cNvSpPr txBox="1"/>
          <p:nvPr/>
        </p:nvSpPr>
        <p:spPr>
          <a:xfrm>
            <a:off x="7394296" y="2377440"/>
            <a:ext cx="4038448" cy="457200"/>
          </a:xfrm>
          <a:prstGeom prst="rect">
            <a:avLst/>
          </a:prstGeom>
          <a:noFill/>
          <a:ln/>
        </p:spPr>
        <p:txBody>
          <a:bodyPr wrap="square" lIns="0" tIns="0" rIns="0" bIns="0" rtlCol="0" anchor="t"/>
          <a:lstStyle/>
          <a:p>
            <a:pPr indent="0" marL="0">
              <a:buNone/>
            </a:pPr>
            <a:r>
              <a:rPr lang="en-IE" sz="1550" dirty="0">
                <a:solidFill>
                  <a:schemeClr val="tx2"/>
                </a:solidFill>
              </a:rPr>
              <a:t>Arguments can only be passed in when it’s created.</a:t>
            </a:r>
            <a:endParaRPr lang="en-IE" sz="1550" dirty="0"/>
          </a:p>
        </p:txBody>
      </p:sp>
      <p:sp>
        <p:nvSpPr>
          <p:cNvPr id="15" name="All fields are final"/>
          <p:cNvSpPr/>
          <p:nvPr/>
        </p:nvSpPr>
        <p:spPr>
          <a:xfrm>
            <a:off x="548640" y="315468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22960" y="3442716"/>
            <a:ext cx="658368" cy="658368"/>
          </a:xfrm>
          <a:prstGeom prst="roundRect">
            <a:avLst>
              <a:gd name="adj" fmla="val 24000"/>
            </a:avLst>
          </a:prstGeom>
          <a:solidFill>
            <a:schemeClr val="accent3">
              <a:alpha val="14000"/>
            </a:schemeClr>
          </a:solidFill>
          <a:ln/>
        </p:spPr>
      </p:sp>
      <p:pic>
        <p:nvPicPr>
          <p:cNvPr id="17" name="lock simple icon" descr="lock simple icon">    </p:cNvPr>
          <p:cNvPicPr>
            <a:picLocks noChangeAspect="1"/>
          </p:cNvPicPr>
          <p:nvPr/>
        </p:nvPicPr>
        <p:blipFill>
          <a:blip r:embed="rId3"/>
          <a:stretch>
            <a:fillRect/>
          </a:stretch>
        </p:blipFill>
        <p:spPr>
          <a:xfrm>
            <a:off x="961217" y="3580973"/>
            <a:ext cx="381853" cy="381853"/>
          </a:xfrm>
          <a:prstGeom prst="rect">
            <a:avLst/>
          </a:prstGeom>
        </p:spPr>
      </p:pic>
      <p:sp>
        <p:nvSpPr>
          <p:cNvPr id="18" name="Text 12"/>
          <p:cNvSpPr txBox="1"/>
          <p:nvPr/>
        </p:nvSpPr>
        <p:spPr>
          <a:xfrm>
            <a:off x="1709928" y="335584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All fields are final</a:t>
            </a:r>
            <a:endParaRPr lang="en-IE" sz="1900" dirty="0"/>
          </a:p>
        </p:txBody>
      </p:sp>
      <p:sp>
        <p:nvSpPr>
          <p:cNvPr id="19" name="Text 13"/>
          <p:cNvSpPr txBox="1"/>
          <p:nvPr/>
        </p:nvSpPr>
        <p:spPr>
          <a:xfrm>
            <a:off x="1709928" y="3794760"/>
            <a:ext cx="4038448" cy="457200"/>
          </a:xfrm>
          <a:prstGeom prst="rect">
            <a:avLst/>
          </a:prstGeom>
          <a:noFill/>
          <a:ln/>
        </p:spPr>
        <p:txBody>
          <a:bodyPr wrap="square" lIns="0" tIns="0" rIns="0" bIns="0" rtlCol="0" anchor="t"/>
          <a:lstStyle/>
          <a:p>
            <a:pPr indent="0" marL="0">
              <a:buNone/>
            </a:pPr>
            <a:r>
              <a:rPr lang="en-IE" sz="1550" dirty="0">
                <a:solidFill>
                  <a:schemeClr val="tx2"/>
                </a:solidFill>
              </a:rPr>
              <a:t>They should never change after creation.</a:t>
            </a:r>
            <a:endParaRPr lang="en-IE" sz="1550" dirty="0"/>
          </a:p>
        </p:txBody>
      </p:sp>
      <p:sp>
        <p:nvSpPr>
          <p:cNvPr id="20" name="All fields are private"/>
          <p:cNvSpPr/>
          <p:nvPr/>
        </p:nvSpPr>
        <p:spPr>
          <a:xfrm>
            <a:off x="6233008" y="315468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507328" y="3442716"/>
            <a:ext cx="658368" cy="658368"/>
          </a:xfrm>
          <a:prstGeom prst="roundRect">
            <a:avLst>
              <a:gd name="adj" fmla="val 24000"/>
            </a:avLst>
          </a:prstGeom>
          <a:solidFill>
            <a:schemeClr val="accent5">
              <a:alpha val="14000"/>
            </a:schemeClr>
          </a:solidFill>
          <a:ln/>
        </p:spPr>
      </p:sp>
      <p:pic>
        <p:nvPicPr>
          <p:cNvPr id="22" name="eye slash icon" descr="eye slash icon">    </p:cNvPr>
          <p:cNvPicPr>
            <a:picLocks noChangeAspect="1"/>
          </p:cNvPicPr>
          <p:nvPr/>
        </p:nvPicPr>
        <p:blipFill>
          <a:blip r:embed="rId4"/>
          <a:stretch>
            <a:fillRect/>
          </a:stretch>
        </p:blipFill>
        <p:spPr>
          <a:xfrm>
            <a:off x="6645585" y="3580973"/>
            <a:ext cx="381853" cy="381853"/>
          </a:xfrm>
          <a:prstGeom prst="rect">
            <a:avLst/>
          </a:prstGeom>
        </p:spPr>
      </p:pic>
      <p:sp>
        <p:nvSpPr>
          <p:cNvPr id="23" name="Text 16"/>
          <p:cNvSpPr txBox="1"/>
          <p:nvPr/>
        </p:nvSpPr>
        <p:spPr>
          <a:xfrm>
            <a:off x="7394296" y="335584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All fields are private</a:t>
            </a:r>
            <a:endParaRPr lang="en-IE" sz="1900" dirty="0"/>
          </a:p>
        </p:txBody>
      </p:sp>
      <p:sp>
        <p:nvSpPr>
          <p:cNvPr id="24" name="Text 17"/>
          <p:cNvSpPr txBox="1"/>
          <p:nvPr/>
        </p:nvSpPr>
        <p:spPr>
          <a:xfrm>
            <a:off x="7394296" y="3794760"/>
            <a:ext cx="4038448" cy="457200"/>
          </a:xfrm>
          <a:prstGeom prst="rect">
            <a:avLst/>
          </a:prstGeom>
          <a:noFill/>
          <a:ln/>
        </p:spPr>
        <p:txBody>
          <a:bodyPr wrap="square" lIns="0" tIns="0" rIns="0" bIns="0" rtlCol="0" anchor="t"/>
          <a:lstStyle/>
          <a:p>
            <a:pPr indent="0" marL="0">
              <a:buNone/>
            </a:pPr>
            <a:r>
              <a:rPr lang="en-IE" sz="1550" dirty="0">
                <a:solidFill>
                  <a:schemeClr val="tx2"/>
                </a:solidFill>
              </a:rPr>
              <a:t>Only accessible through getters.</a:t>
            </a:r>
            <a:endParaRPr lang="en-IE" sz="1550" dirty="0"/>
          </a:p>
        </p:txBody>
      </p:sp>
      <p:sp>
        <p:nvSpPr>
          <p:cNvPr id="25" name="No need for upper case"/>
          <p:cNvSpPr/>
          <p:nvPr/>
        </p:nvSpPr>
        <p:spPr>
          <a:xfrm>
            <a:off x="548640" y="457200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22960" y="4860036"/>
            <a:ext cx="658368" cy="658368"/>
          </a:xfrm>
          <a:prstGeom prst="roundRect">
            <a:avLst>
              <a:gd name="adj" fmla="val 24000"/>
            </a:avLst>
          </a:prstGeom>
          <a:solidFill>
            <a:schemeClr val="accent4">
              <a:alpha val="14000"/>
            </a:schemeClr>
          </a:solidFill>
          <a:ln/>
        </p:spPr>
      </p:sp>
      <p:pic>
        <p:nvPicPr>
          <p:cNvPr id="27" name="text aa icon" descr="text aa icon">    </p:cNvPr>
          <p:cNvPicPr>
            <a:picLocks noChangeAspect="1"/>
          </p:cNvPicPr>
          <p:nvPr/>
        </p:nvPicPr>
        <p:blipFill>
          <a:blip r:embed="rId5"/>
          <a:stretch>
            <a:fillRect/>
          </a:stretch>
        </p:blipFill>
        <p:spPr>
          <a:xfrm>
            <a:off x="961217" y="4998293"/>
            <a:ext cx="381853" cy="381853"/>
          </a:xfrm>
          <a:prstGeom prst="rect">
            <a:avLst/>
          </a:prstGeom>
        </p:spPr>
      </p:pic>
      <p:sp>
        <p:nvSpPr>
          <p:cNvPr id="28" name="Text 20"/>
          <p:cNvSpPr txBox="1"/>
          <p:nvPr/>
        </p:nvSpPr>
        <p:spPr>
          <a:xfrm>
            <a:off x="1709928" y="477316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No need for upper case</a:t>
            </a:r>
            <a:endParaRPr lang="en-IE" sz="1900" dirty="0"/>
          </a:p>
        </p:txBody>
      </p:sp>
      <p:sp>
        <p:nvSpPr>
          <p:cNvPr id="29" name="Text 21"/>
          <p:cNvSpPr txBox="1"/>
          <p:nvPr/>
        </p:nvSpPr>
        <p:spPr>
          <a:xfrm>
            <a:off x="1709928" y="5212080"/>
            <a:ext cx="4038448" cy="457200"/>
          </a:xfrm>
          <a:prstGeom prst="rect">
            <a:avLst/>
          </a:prstGeom>
          <a:noFill/>
          <a:ln/>
        </p:spPr>
        <p:txBody>
          <a:bodyPr wrap="square" lIns="0" tIns="0" rIns="0" bIns="0" rtlCol="0" anchor="t"/>
          <a:lstStyle/>
          <a:p>
            <a:pPr indent="0" marL="0">
              <a:buNone/>
            </a:pPr>
            <a:r>
              <a:rPr lang="en-IE" sz="1550" dirty="0">
                <a:solidFill>
                  <a:schemeClr val="tx2"/>
                </a:solidFill>
              </a:rPr>
              <a:t>Final fields can keep normal names, like title.</a:t>
            </a:r>
            <a:endParaRPr lang="en-IE" sz="1550" dirty="0"/>
          </a:p>
        </p:txBody>
      </p:sp>
      <p:sp>
        <p:nvSpPr>
          <p:cNvPr id="30" name="Changes mean a new object"/>
          <p:cNvSpPr/>
          <p:nvPr/>
        </p:nvSpPr>
        <p:spPr>
          <a:xfrm>
            <a:off x="6233008" y="4572000"/>
            <a:ext cx="5410048"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6507328" y="4860036"/>
            <a:ext cx="658368" cy="658368"/>
          </a:xfrm>
          <a:prstGeom prst="roundRect">
            <a:avLst>
              <a:gd name="adj" fmla="val 24000"/>
            </a:avLst>
          </a:prstGeom>
          <a:solidFill>
            <a:schemeClr val="accent1">
              <a:alpha val="14000"/>
            </a:schemeClr>
          </a:solidFill>
          <a:ln/>
        </p:spPr>
      </p:sp>
      <p:pic>
        <p:nvPicPr>
          <p:cNvPr id="32" name="arrows clockwise icon" descr="arrows clockwise icon">    </p:cNvPr>
          <p:cNvPicPr>
            <a:picLocks noChangeAspect="1"/>
          </p:cNvPicPr>
          <p:nvPr/>
        </p:nvPicPr>
        <p:blipFill>
          <a:blip r:embed="rId6"/>
          <a:stretch>
            <a:fillRect/>
          </a:stretch>
        </p:blipFill>
        <p:spPr>
          <a:xfrm>
            <a:off x="6645585" y="4998293"/>
            <a:ext cx="381853" cy="381853"/>
          </a:xfrm>
          <a:prstGeom prst="rect">
            <a:avLst/>
          </a:prstGeom>
        </p:spPr>
      </p:pic>
      <p:sp>
        <p:nvSpPr>
          <p:cNvPr id="33" name="Text 24"/>
          <p:cNvSpPr txBox="1"/>
          <p:nvPr/>
        </p:nvSpPr>
        <p:spPr>
          <a:xfrm>
            <a:off x="7394296" y="4773168"/>
            <a:ext cx="4038448" cy="411480"/>
          </a:xfrm>
          <a:prstGeom prst="rect">
            <a:avLst/>
          </a:prstGeom>
          <a:noFill/>
          <a:ln/>
        </p:spPr>
        <p:txBody>
          <a:bodyPr wrap="square" lIns="0" tIns="0" rIns="0" bIns="0" rtlCol="0" anchor="ctr"/>
          <a:lstStyle/>
          <a:p>
            <a:pPr indent="0" marL="0">
              <a:buNone/>
            </a:pPr>
            <a:r>
              <a:rPr lang="en-IE" sz="1900" b="1" dirty="0">
                <a:solidFill>
                  <a:schemeClr val="tx1"/>
                </a:solidFill>
              </a:rPr>
              <a:t>Changes mean a new object</a:t>
            </a:r>
            <a:endParaRPr lang="en-IE" sz="1900" dirty="0"/>
          </a:p>
        </p:txBody>
      </p:sp>
      <p:sp>
        <p:nvSpPr>
          <p:cNvPr id="34" name="Text 25"/>
          <p:cNvSpPr txBox="1"/>
          <p:nvPr/>
        </p:nvSpPr>
        <p:spPr>
          <a:xfrm>
            <a:off x="7394296" y="5212080"/>
            <a:ext cx="4038448" cy="457200"/>
          </a:xfrm>
          <a:prstGeom prst="rect">
            <a:avLst/>
          </a:prstGeom>
          <a:noFill/>
          <a:ln/>
        </p:spPr>
        <p:txBody>
          <a:bodyPr wrap="square" lIns="0" tIns="0" rIns="0" bIns="0" rtlCol="0" anchor="t"/>
          <a:lstStyle/>
          <a:p>
            <a:pPr indent="0" marL="0">
              <a:buNone/>
            </a:pPr>
            <a:r>
              <a:rPr lang="en-IE" sz="1550" dirty="0">
                <a:solidFill>
                  <a:schemeClr val="tx2"/>
                </a:solidFill>
              </a:rPr>
              <a:t>Just as with String.</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must an immutable class NOT have?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Setter methods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Private fields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Getter methods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constructor with parameters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must an immutable class NOT have?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Setter methods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Private fields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Getter methods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constructor with parameters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immutable object gets its values once, through the constructor, and after that they can only be read. A setter would let its state change. Private final fields and getters are exactly what it should have.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Book has </a:t>
            </a:r>
            <a:r>
              <a:rPr lang="en-IE" sz="2800" b="1" dirty="0">
                <a:solidFill>
                  <a:schemeClr val="accent2"/>
                </a:solidFill>
                <a:latin typeface="Consolas" pitchFamily="34" charset="0"/>
                <a:ea typeface="Consolas" pitchFamily="34" charset="-122"/>
                <a:cs typeface="Consolas" pitchFamily="34" charset="-120"/>
              </a:rPr>
              <a:t>private final String title</a:t>
            </a:r>
            <a:r>
              <a:rPr lang="en-IE" sz="2800" b="1" dirty="0">
                <a:solidFill>
                  <a:schemeClr val="tx1"/>
                </a:solidFill>
              </a:rPr>
              <a:t>. Does it have to be written in upper case, as TITLE?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Yes: the compiler insists on TITLE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Yes: all private fields are upper case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 these fields don’t need upper case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 final fields must be lower case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Book has </a:t>
            </a:r>
            <a:r>
              <a:rPr lang="en-IE" sz="2000" b="1" dirty="0">
                <a:solidFill>
                  <a:schemeClr val="tx2"/>
                </a:solidFill>
                <a:latin typeface="Consolas" pitchFamily="34" charset="0"/>
                <a:ea typeface="Consolas" pitchFamily="34" charset="-122"/>
                <a:cs typeface="Consolas" pitchFamily="34" charset="-120"/>
              </a:rPr>
              <a:t>private final String title</a:t>
            </a:r>
            <a:r>
              <a:rPr lang="en-IE" sz="2000" b="1" dirty="0">
                <a:solidFill>
                  <a:schemeClr val="tx2"/>
                </a:solidFill>
              </a:rPr>
              <a:t>. Does it have to be written in upper case, as TITLE?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Yes: the compiler insists on TITLE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Yes: all private fields are upper case</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No: these fields don’t need upper case</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No: final fields must be lower case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Upper case is a naming habit for constants like </a:t>
            </a:r>
            <a:r>
              <a:rPr lang="en-IE" sz="1800" dirty="0">
                <a:solidFill>
                  <a:schemeClr val="accent2"/>
                </a:solidFill>
                <a:latin typeface="Consolas" pitchFamily="34" charset="0"/>
                <a:ea typeface="Consolas" pitchFamily="34" charset="-122"/>
                <a:cs typeface="Consolas" pitchFamily="34" charset="-120"/>
              </a:rPr>
              <a:t>static final int MAX = 10</a:t>
            </a:r>
            <a:r>
              <a:rPr lang="en-IE" sz="1800" dirty="0">
                <a:solidFill>
                  <a:schemeClr val="tx1"/>
                </a:solidFill>
              </a:rPr>
              <a:t>. The compiler doesn’t require it, and the final fields of an immutable class usually keep normal names, like title.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IMMUTABLE CLASSES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Example: an immutable Book</a:t>
            </a:r>
            <a:endParaRPr lang="en-IE" sz="3400" dirty="0"/>
          </a:p>
        </p:txBody>
      </p:sp>
      <p:sp>
        <p:nvSpPr>
          <p:cNvPr id="5" name="Book card"/>
          <p:cNvSpPr/>
          <p:nvPr/>
        </p:nvSpPr>
        <p:spPr>
          <a:xfrm>
            <a:off x="960120" y="1691640"/>
            <a:ext cx="5852160" cy="3569208"/>
          </a:xfrm>
          <a:prstGeom prst="roundRect">
            <a:avLst>
              <a:gd name="adj" fmla="val 3074"/>
            </a:avLst>
          </a:prstGeom>
          <a:solidFill>
            <a:schemeClr val="tx1"/>
          </a:solidFill>
          <a:ln/>
          <a:effectLst>
            <a:outerShdw sx="100000" sy="100000" kx="0" ky="0" algn="bl" rotWithShape="0" blurRad="114300" dist="31750" dir="5400000">
              <a:srgbClr val="1D2433">
                <a:alpha val="12000"/>
              </a:srgbClr>
            </a:outerShdw>
          </a:effectLst>
        </p:spPr>
      </p:sp>
      <p:sp>
        <p:nvSpPr>
          <p:cNvPr id="6" name="Book language"/>
          <p:cNvSpPr txBox="1"/>
          <p:nvPr/>
        </p:nvSpPr>
        <p:spPr>
          <a:xfrm>
            <a:off x="1234440" y="1810512"/>
            <a:ext cx="53035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Book text"/>
          <p:cNvSpPr txBox="1"/>
          <p:nvPr/>
        </p:nvSpPr>
        <p:spPr>
          <a:xfrm>
            <a:off x="1234440" y="2185416"/>
            <a:ext cx="5303520" cy="28742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Book</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final</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title;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final</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author;</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Book</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title,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author)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.title = title;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.author = author;</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getTitle</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title;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getAuthor</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author;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Marker 1"/>
          <p:cNvSpPr/>
          <p:nvPr/>
        </p:nvSpPr>
        <p:spPr>
          <a:xfrm>
            <a:off x="548640" y="2496820"/>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1</a:t>
            </a:r>
            <a:endParaRPr lang="en-IE" sz="1300" dirty="0"/>
          </a:p>
        </p:txBody>
      </p:sp>
      <p:sp>
        <p:nvSpPr>
          <p:cNvPr id="9" name="Marker 2"/>
          <p:cNvSpPr/>
          <p:nvPr/>
        </p:nvSpPr>
        <p:spPr>
          <a:xfrm>
            <a:off x="548640" y="3103245"/>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2</a:t>
            </a:r>
            <a:endParaRPr lang="en-IE" sz="1300" dirty="0"/>
          </a:p>
        </p:txBody>
      </p:sp>
      <p:sp>
        <p:nvSpPr>
          <p:cNvPr id="10" name="Marker 3"/>
          <p:cNvSpPr/>
          <p:nvPr/>
        </p:nvSpPr>
        <p:spPr>
          <a:xfrm>
            <a:off x="548640" y="4437380"/>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3</a:t>
            </a:r>
            <a:endParaRPr lang="en-IE" sz="1300" dirty="0"/>
          </a:p>
        </p:txBody>
      </p:sp>
      <p:sp>
        <p:nvSpPr>
          <p:cNvPr id="11" name="Marker 1"/>
          <p:cNvSpPr/>
          <p:nvPr/>
        </p:nvSpPr>
        <p:spPr>
          <a:xfrm>
            <a:off x="7178040" y="1819656"/>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1</a:t>
            </a:r>
            <a:endParaRPr lang="en-IE" sz="1300" dirty="0"/>
          </a:p>
        </p:txBody>
      </p:sp>
      <p:sp>
        <p:nvSpPr>
          <p:cNvPr id="12" name="Text 9"/>
          <p:cNvSpPr txBox="1"/>
          <p:nvPr/>
        </p:nvSpPr>
        <p:spPr>
          <a:xfrm>
            <a:off x="7680960" y="1764792"/>
            <a:ext cx="3962095" cy="384048"/>
          </a:xfrm>
          <a:prstGeom prst="rect">
            <a:avLst/>
          </a:prstGeom>
          <a:noFill/>
          <a:ln/>
        </p:spPr>
        <p:txBody>
          <a:bodyPr wrap="square" lIns="0" tIns="0" rIns="0" bIns="0" rtlCol="0" anchor="ctr"/>
          <a:lstStyle/>
          <a:p>
            <a:pPr indent="0" marL="0">
              <a:buNone/>
            </a:pPr>
            <a:r>
              <a:rPr lang="en-IE" sz="1700" b="1" dirty="0">
                <a:solidFill>
                  <a:schemeClr val="tx1"/>
                </a:solidFill>
              </a:rPr>
              <a:t>private final fields</a:t>
            </a:r>
            <a:endParaRPr lang="en-IE" sz="1700" dirty="0"/>
          </a:p>
        </p:txBody>
      </p:sp>
      <p:sp>
        <p:nvSpPr>
          <p:cNvPr id="13" name="Text 10"/>
          <p:cNvSpPr txBox="1"/>
          <p:nvPr/>
        </p:nvSpPr>
        <p:spPr>
          <a:xfrm>
            <a:off x="7680960" y="2148840"/>
            <a:ext cx="3962095" cy="329184"/>
          </a:xfrm>
          <a:prstGeom prst="rect">
            <a:avLst/>
          </a:prstGeom>
          <a:noFill/>
          <a:ln/>
        </p:spPr>
        <p:txBody>
          <a:bodyPr wrap="square" lIns="0" tIns="0" rIns="0" bIns="0" rtlCol="0" anchor="t"/>
          <a:lstStyle/>
          <a:p>
            <a:pPr indent="0" marL="0">
              <a:buNone/>
            </a:pPr>
            <a:r>
              <a:rPr lang="en-IE" sz="1450" dirty="0">
                <a:solidFill>
                  <a:schemeClr val="tx2"/>
                </a:solidFill>
              </a:rPr>
              <a:t>Set once, then never changed.</a:t>
            </a:r>
            <a:endParaRPr lang="en-IE" sz="1450" dirty="0"/>
          </a:p>
        </p:txBody>
      </p:sp>
      <p:sp>
        <p:nvSpPr>
          <p:cNvPr id="14" name="Marker 2"/>
          <p:cNvSpPr/>
          <p:nvPr/>
        </p:nvSpPr>
        <p:spPr>
          <a:xfrm>
            <a:off x="7178040" y="2688336"/>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2</a:t>
            </a:r>
            <a:endParaRPr lang="en-IE" sz="1300" dirty="0"/>
          </a:p>
        </p:txBody>
      </p:sp>
      <p:sp>
        <p:nvSpPr>
          <p:cNvPr id="15" name="Text 12"/>
          <p:cNvSpPr txBox="1"/>
          <p:nvPr/>
        </p:nvSpPr>
        <p:spPr>
          <a:xfrm>
            <a:off x="7680960" y="2633472"/>
            <a:ext cx="3962095" cy="384048"/>
          </a:xfrm>
          <a:prstGeom prst="rect">
            <a:avLst/>
          </a:prstGeom>
          <a:noFill/>
          <a:ln/>
        </p:spPr>
        <p:txBody>
          <a:bodyPr wrap="square" lIns="0" tIns="0" rIns="0" bIns="0" rtlCol="0" anchor="ctr"/>
          <a:lstStyle/>
          <a:p>
            <a:pPr indent="0" marL="0">
              <a:buNone/>
            </a:pPr>
            <a:r>
              <a:rPr lang="en-IE" sz="1700" b="1" dirty="0">
                <a:solidFill>
                  <a:schemeClr val="tx1"/>
                </a:solidFill>
              </a:rPr>
              <a:t>A constructor with parameters</a:t>
            </a:r>
            <a:endParaRPr lang="en-IE" sz="1700" dirty="0"/>
          </a:p>
        </p:txBody>
      </p:sp>
      <p:sp>
        <p:nvSpPr>
          <p:cNvPr id="16" name="Text 13"/>
          <p:cNvSpPr txBox="1"/>
          <p:nvPr/>
        </p:nvSpPr>
        <p:spPr>
          <a:xfrm>
            <a:off x="7680960" y="3017520"/>
            <a:ext cx="3962095" cy="329184"/>
          </a:xfrm>
          <a:prstGeom prst="rect">
            <a:avLst/>
          </a:prstGeom>
          <a:noFill/>
          <a:ln/>
        </p:spPr>
        <p:txBody>
          <a:bodyPr wrap="square" lIns="0" tIns="0" rIns="0" bIns="0" rtlCol="0" anchor="t"/>
          <a:lstStyle/>
          <a:p>
            <a:pPr indent="0" marL="0">
              <a:buNone/>
            </a:pPr>
            <a:r>
              <a:rPr lang="en-IE" sz="1450" dirty="0">
                <a:solidFill>
                  <a:schemeClr val="tx2"/>
                </a:solidFill>
              </a:rPr>
              <a:t>The only way to give the fields values.</a:t>
            </a:r>
            <a:endParaRPr lang="en-IE" sz="1450" dirty="0"/>
          </a:p>
        </p:txBody>
      </p:sp>
      <p:sp>
        <p:nvSpPr>
          <p:cNvPr id="17" name="Marker 3"/>
          <p:cNvSpPr/>
          <p:nvPr/>
        </p:nvSpPr>
        <p:spPr>
          <a:xfrm>
            <a:off x="7178040" y="3557016"/>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3</a:t>
            </a:r>
            <a:endParaRPr lang="en-IE" sz="1300" dirty="0"/>
          </a:p>
        </p:txBody>
      </p:sp>
      <p:sp>
        <p:nvSpPr>
          <p:cNvPr id="18" name="Text 15"/>
          <p:cNvSpPr txBox="1"/>
          <p:nvPr/>
        </p:nvSpPr>
        <p:spPr>
          <a:xfrm>
            <a:off x="7680960" y="3502152"/>
            <a:ext cx="3962095" cy="384048"/>
          </a:xfrm>
          <a:prstGeom prst="rect">
            <a:avLst/>
          </a:prstGeom>
          <a:noFill/>
          <a:ln/>
        </p:spPr>
        <p:txBody>
          <a:bodyPr wrap="square" lIns="0" tIns="0" rIns="0" bIns="0" rtlCol="0" anchor="ctr"/>
          <a:lstStyle/>
          <a:p>
            <a:pPr indent="0" marL="0">
              <a:buNone/>
            </a:pPr>
            <a:r>
              <a:rPr lang="en-IE" sz="1700" b="1" dirty="0">
                <a:solidFill>
                  <a:schemeClr val="tx1"/>
                </a:solidFill>
              </a:rPr>
              <a:t>Getters only</a:t>
            </a:r>
            <a:endParaRPr lang="en-IE" sz="1700" dirty="0"/>
          </a:p>
        </p:txBody>
      </p:sp>
      <p:sp>
        <p:nvSpPr>
          <p:cNvPr id="19" name="Text 16"/>
          <p:cNvSpPr txBox="1"/>
          <p:nvPr/>
        </p:nvSpPr>
        <p:spPr>
          <a:xfrm>
            <a:off x="7680960" y="3886200"/>
            <a:ext cx="3962095" cy="329184"/>
          </a:xfrm>
          <a:prstGeom prst="rect">
            <a:avLst/>
          </a:prstGeom>
          <a:noFill/>
          <a:ln/>
        </p:spPr>
        <p:txBody>
          <a:bodyPr wrap="square" lIns="0" tIns="0" rIns="0" bIns="0" rtlCol="0" anchor="t"/>
          <a:lstStyle/>
          <a:p>
            <a:pPr indent="0" marL="0">
              <a:buNone/>
            </a:pPr>
            <a:r>
              <a:rPr lang="en-IE" sz="1450" dirty="0">
                <a:solidFill>
                  <a:schemeClr val="tx2"/>
                </a:solidFill>
              </a:rPr>
              <a:t>We can read the values, but there are no setters.</a:t>
            </a:r>
            <a:endParaRPr lang="en-IE" sz="1450" dirty="0"/>
          </a:p>
        </p:txBody>
      </p:sp>
      <p:sp>
        <p:nvSpPr>
          <p:cNvPr id="20" name="Text 17"/>
          <p:cNvSpPr txBox="1"/>
          <p:nvPr/>
        </p:nvSpPr>
        <p:spPr>
          <a:xfrm>
            <a:off x="7178040" y="4434840"/>
            <a:ext cx="2743200" cy="292608"/>
          </a:xfrm>
          <a:prstGeom prst="rect">
            <a:avLst/>
          </a:prstGeom>
          <a:noFill/>
          <a:ln/>
        </p:spPr>
        <p:txBody>
          <a:bodyPr wrap="square" lIns="0" tIns="0" rIns="0" bIns="0" rtlCol="0" anchor="t"/>
          <a:lstStyle/>
          <a:p>
            <a:pPr indent="0" marL="0">
              <a:buNone/>
            </a:pPr>
            <a:r>
              <a:rPr lang="en-IE" sz="1400" b="1" dirty="0">
                <a:solidFill>
                  <a:schemeClr val="tx2"/>
                </a:solidFill>
              </a:rPr>
              <a:t>Using it</a:t>
            </a:r>
            <a:endParaRPr lang="en-IE" sz="1400" dirty="0"/>
          </a:p>
        </p:txBody>
      </p:sp>
      <p:sp>
        <p:nvSpPr>
          <p:cNvPr id="21" name="Using Book card"/>
          <p:cNvSpPr/>
          <p:nvPr/>
        </p:nvSpPr>
        <p:spPr>
          <a:xfrm>
            <a:off x="7178040" y="4773168"/>
            <a:ext cx="4465015" cy="858520"/>
          </a:xfrm>
          <a:prstGeom prst="roundRect">
            <a:avLst>
              <a:gd name="adj" fmla="val 12781"/>
            </a:avLst>
          </a:prstGeom>
          <a:solidFill>
            <a:schemeClr val="tx1"/>
          </a:solidFill>
          <a:ln/>
          <a:effectLst>
            <a:outerShdw sx="100000" sy="100000" kx="0" ky="0" algn="bl" rotWithShape="0" blurRad="114300" dist="31750" dir="5400000">
              <a:srgbClr val="1D2433">
                <a:alpha val="12000"/>
              </a:srgbClr>
            </a:outerShdw>
          </a:effectLst>
        </p:spPr>
      </p:sp>
      <p:sp>
        <p:nvSpPr>
          <p:cNvPr id="22" name="Using Book text"/>
          <p:cNvSpPr txBox="1"/>
          <p:nvPr/>
        </p:nvSpPr>
        <p:spPr>
          <a:xfrm>
            <a:off x="7452360" y="4974336"/>
            <a:ext cx="3916375" cy="456184"/>
          </a:xfrm>
          <a:prstGeom prst="rect">
            <a:avLst/>
          </a:prstGeom>
          <a:noFill/>
          <a:ln/>
        </p:spPr>
        <p:txBody>
          <a:bodyPr wrap="square" lIns="0" tIns="0" rIns="0" bIns="0" rtlCol="0" anchor="t"/>
          <a:lstStyle/>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Book</a:t>
            </a:r>
            <a:r>
              <a:rPr lang="en-IE" sz="1200" dirty="0">
                <a:solidFill>
                  <a:srgbClr val="E6EBF2"/>
                </a:solidFill>
                <a:latin typeface="Consolas" pitchFamily="34" charset="0"/>
                <a:ea typeface="Consolas" pitchFamily="34" charset="-122"/>
                <a:cs typeface="Consolas" pitchFamily="34" charset="-120"/>
              </a:rPr>
              <a:t> b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Book</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A9DB8C"/>
                </a:solidFill>
                <a:latin typeface="Consolas" pitchFamily="34" charset="0"/>
                <a:ea typeface="Consolas" pitchFamily="34" charset="-122"/>
                <a:cs typeface="Consolas" pitchFamily="34" charset="-120"/>
              </a:rPr>
              <a:t>"Emma"</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A9DB8C"/>
                </a:solidFill>
                <a:latin typeface="Consolas" pitchFamily="34" charset="0"/>
                <a:ea typeface="Consolas" pitchFamily="34" charset="-122"/>
                <a:cs typeface="Consolas" pitchFamily="34" charset="-120"/>
              </a:rPr>
              <a:t>"Jane Austen"</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b.</a:t>
            </a:r>
            <a:r>
              <a:rPr lang="en-IE" sz="1200" dirty="0">
                <a:solidFill>
                  <a:srgbClr val="C9B0FF"/>
                </a:solidFill>
                <a:latin typeface="Consolas" pitchFamily="34" charset="0"/>
                <a:ea typeface="Consolas" pitchFamily="34" charset="-122"/>
                <a:cs typeface="Consolas" pitchFamily="34" charset="-120"/>
              </a:rPr>
              <a:t>getTitle</a:t>
            </a:r>
            <a:r>
              <a:rPr lang="en-IE" sz="1200" dirty="0">
                <a:solidFill>
                  <a:srgbClr val="E6EBF2"/>
                </a:solidFill>
                <a:latin typeface="Consolas" pitchFamily="34" charset="0"/>
                <a:ea typeface="Consolas" pitchFamily="34" charset="-122"/>
                <a:cs typeface="Consolas" pitchFamily="34" charset="-120"/>
              </a:rPr>
              <a:t>();   </a:t>
            </a:r>
            <a:r>
              <a:rPr lang="en-IE" sz="1200" i="1" dirty="0">
                <a:solidFill>
                  <a:srgbClr val="A3AEC2"/>
                </a:solidFill>
                <a:latin typeface="Consolas" pitchFamily="34" charset="0"/>
                <a:ea typeface="Consolas" pitchFamily="34" charset="-122"/>
                <a:cs typeface="Consolas" pitchFamily="34" charset="-120"/>
              </a:rPr>
              <a:t>// "Emma"</a:t>
            </a:r>
            <a:endParaRPr lang="en-IE"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happens when this code is compiled?</a:t>
            </a:r>
            <a:endParaRPr lang="en-IE" sz="2800" dirty="0"/>
          </a:p>
        </p:txBody>
      </p:sp>
      <p:sp>
        <p:nvSpPr>
          <p:cNvPr id="5" name="Question code card"/>
          <p:cNvSpPr/>
          <p:nvPr/>
        </p:nvSpPr>
        <p:spPr>
          <a:xfrm>
            <a:off x="548640" y="1989201"/>
            <a:ext cx="6035040" cy="3976878"/>
          </a:xfrm>
          <a:prstGeom prst="roundRect">
            <a:avLst>
              <a:gd name="adj" fmla="val 2759"/>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108073"/>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82977"/>
            <a:ext cx="5486400" cy="3281934"/>
          </a:xfrm>
          <a:prstGeom prst="rect">
            <a:avLst/>
          </a:prstGeom>
          <a:noFill/>
          <a:ln/>
        </p:spPr>
        <p:txBody>
          <a:bodyPr wrap="square" lIns="0" tIns="0" rIns="0" bIns="0" rtlCol="0" anchor="t"/>
          <a:lstStyle/>
          <a:p>
            <a:pPr indent="0" marL="0">
              <a:lnSpc>
                <a:spcPts val="2310"/>
              </a:lnSpc>
              <a:buNone/>
            </a:pPr>
            <a:r>
              <a:rPr lang="en-IE" sz="1750" dirty="0">
                <a:solidFill>
                  <a:srgbClr val="FF9F5A"/>
                </a:solidFill>
                <a:latin typeface="Consolas" pitchFamily="34" charset="0"/>
                <a:ea typeface="Consolas" pitchFamily="34" charset="-122"/>
                <a:cs typeface="Consolas" pitchFamily="34" charset="-120"/>
              </a:rPr>
              <a:t>public</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class</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6CC4E8"/>
                </a:solidFill>
                <a:latin typeface="Consolas" pitchFamily="34" charset="0"/>
                <a:ea typeface="Consolas" pitchFamily="34" charset="-122"/>
                <a:cs typeface="Consolas" pitchFamily="34" charset="-120"/>
              </a:rPr>
              <a:t>Book</a:t>
            </a:r>
            <a:r>
              <a:rPr lang="en-IE" sz="1750" dirty="0">
                <a:solidFill>
                  <a:srgbClr val="E6EBF2"/>
                </a:solidFill>
                <a:latin typeface="Consolas" pitchFamily="34" charset="0"/>
                <a:ea typeface="Consolas" pitchFamily="34" charset="-122"/>
                <a:cs typeface="Consolas" pitchFamily="34" charset="-120"/>
              </a:rPr>
              <a:t>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private</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final</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6CC4E8"/>
                </a:solidFill>
                <a:latin typeface="Consolas" pitchFamily="34" charset="0"/>
                <a:ea typeface="Consolas" pitchFamily="34" charset="-122"/>
                <a:cs typeface="Consolas" pitchFamily="34" charset="-120"/>
              </a:rPr>
              <a:t>String</a:t>
            </a:r>
            <a:r>
              <a:rPr lang="en-IE" sz="1750" dirty="0">
                <a:solidFill>
                  <a:srgbClr val="E6EBF2"/>
                </a:solidFill>
                <a:latin typeface="Consolas" pitchFamily="34" charset="0"/>
                <a:ea typeface="Consolas" pitchFamily="34" charset="-122"/>
                <a:cs typeface="Consolas" pitchFamily="34" charset="-120"/>
              </a:rPr>
              <a:t> title;</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public</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C9B0FF"/>
                </a:solidFill>
                <a:latin typeface="Consolas" pitchFamily="34" charset="0"/>
                <a:ea typeface="Consolas" pitchFamily="34" charset="-122"/>
                <a:cs typeface="Consolas" pitchFamily="34" charset="-120"/>
              </a:rPr>
              <a:t>Book</a:t>
            </a:r>
            <a:r>
              <a:rPr lang="en-IE" sz="1750" dirty="0">
                <a:solidFill>
                  <a:srgbClr val="E6EBF2"/>
                </a:solidFill>
                <a:latin typeface="Consolas" pitchFamily="34" charset="0"/>
                <a:ea typeface="Consolas" pitchFamily="34" charset="-122"/>
                <a:cs typeface="Consolas" pitchFamily="34" charset="-120"/>
              </a:rPr>
              <a:t>(</a:t>
            </a:r>
            <a:r>
              <a:rPr lang="en-IE" sz="1750" dirty="0">
                <a:solidFill>
                  <a:srgbClr val="6CC4E8"/>
                </a:solidFill>
                <a:latin typeface="Consolas" pitchFamily="34" charset="0"/>
                <a:ea typeface="Consolas" pitchFamily="34" charset="-122"/>
                <a:cs typeface="Consolas" pitchFamily="34" charset="-120"/>
              </a:rPr>
              <a:t>String</a:t>
            </a:r>
            <a:r>
              <a:rPr lang="en-IE" sz="1750" dirty="0">
                <a:solidFill>
                  <a:srgbClr val="E6EBF2"/>
                </a:solidFill>
                <a:latin typeface="Consolas" pitchFamily="34" charset="0"/>
                <a:ea typeface="Consolas" pitchFamily="34" charset="-122"/>
                <a:cs typeface="Consolas" pitchFamily="34" charset="-120"/>
              </a:rPr>
              <a:t> title)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this</a:t>
            </a:r>
            <a:r>
              <a:rPr lang="en-IE" sz="1750" dirty="0">
                <a:solidFill>
                  <a:srgbClr val="E6EBF2"/>
                </a:solidFill>
                <a:latin typeface="Consolas" pitchFamily="34" charset="0"/>
                <a:ea typeface="Consolas" pitchFamily="34" charset="-122"/>
                <a:cs typeface="Consolas" pitchFamily="34" charset="-120"/>
              </a:rPr>
              <a:t>.title = title;</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public</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void</a:t>
            </a: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C9B0FF"/>
                </a:solidFill>
                <a:latin typeface="Consolas" pitchFamily="34" charset="0"/>
                <a:ea typeface="Consolas" pitchFamily="34" charset="-122"/>
                <a:cs typeface="Consolas" pitchFamily="34" charset="-120"/>
              </a:rPr>
              <a:t>setTitle</a:t>
            </a:r>
            <a:r>
              <a:rPr lang="en-IE" sz="1750" dirty="0">
                <a:solidFill>
                  <a:srgbClr val="E6EBF2"/>
                </a:solidFill>
                <a:latin typeface="Consolas" pitchFamily="34" charset="0"/>
                <a:ea typeface="Consolas" pitchFamily="34" charset="-122"/>
                <a:cs typeface="Consolas" pitchFamily="34" charset="-120"/>
              </a:rPr>
              <a:t>(</a:t>
            </a:r>
            <a:r>
              <a:rPr lang="en-IE" sz="1750" dirty="0">
                <a:solidFill>
                  <a:srgbClr val="6CC4E8"/>
                </a:solidFill>
                <a:latin typeface="Consolas" pitchFamily="34" charset="0"/>
                <a:ea typeface="Consolas" pitchFamily="34" charset="-122"/>
                <a:cs typeface="Consolas" pitchFamily="34" charset="-120"/>
              </a:rPr>
              <a:t>String</a:t>
            </a:r>
            <a:r>
              <a:rPr lang="en-IE" sz="1750" dirty="0">
                <a:solidFill>
                  <a:srgbClr val="E6EBF2"/>
                </a:solidFill>
                <a:latin typeface="Consolas" pitchFamily="34" charset="0"/>
                <a:ea typeface="Consolas" pitchFamily="34" charset="-122"/>
                <a:cs typeface="Consolas" pitchFamily="34" charset="-120"/>
              </a:rPr>
              <a:t> title)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r>
              <a:rPr lang="en-IE" sz="1750" dirty="0">
                <a:solidFill>
                  <a:srgbClr val="FF9F5A"/>
                </a:solidFill>
                <a:latin typeface="Consolas" pitchFamily="34" charset="0"/>
                <a:ea typeface="Consolas" pitchFamily="34" charset="-122"/>
                <a:cs typeface="Consolas" pitchFamily="34" charset="-120"/>
              </a:rPr>
              <a:t>this</a:t>
            </a:r>
            <a:r>
              <a:rPr lang="en-IE" sz="1750" dirty="0">
                <a:solidFill>
                  <a:srgbClr val="E6EBF2"/>
                </a:solidFill>
                <a:latin typeface="Consolas" pitchFamily="34" charset="0"/>
                <a:ea typeface="Consolas" pitchFamily="34" charset="-122"/>
                <a:cs typeface="Consolas" pitchFamily="34" charset="-120"/>
              </a:rPr>
              <a:t>.title = title;</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    }</a:t>
            </a:r>
            <a:endParaRPr lang="en-IE" sz="1750" dirty="0"/>
          </a:p>
          <a:p>
            <a:pPr indent="0" marL="0">
              <a:lnSpc>
                <a:spcPts val="2310"/>
              </a:lnSpc>
              <a:buNone/>
            </a:pPr>
            <a:r>
              <a:rPr lang="en-IE" sz="1750" dirty="0">
                <a:solidFill>
                  <a:srgbClr val="E6EBF2"/>
                </a:solidFill>
                <a:latin typeface="Consolas" pitchFamily="34" charset="0"/>
                <a:ea typeface="Consolas" pitchFamily="34" charset="-122"/>
                <a:cs typeface="Consolas" pitchFamily="34" charset="-120"/>
              </a:rPr>
              <a:t>}</a:t>
            </a:r>
            <a:endParaRPr lang="en-IE" sz="175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without any problems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Book has no getter</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title is final</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fails only when setTitle() runs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19</a:t>
            </a:fld>
            <a:endParaRPr lang="en-I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Immutable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happens when this code is compiled?</a:t>
            </a:r>
            <a:endParaRPr lang="en-IE" sz="2000" dirty="0"/>
          </a:p>
        </p:txBody>
      </p:sp>
      <p:sp>
        <p:nvSpPr>
          <p:cNvPr id="5" name="Answer code card"/>
          <p:cNvSpPr/>
          <p:nvPr/>
        </p:nvSpPr>
        <p:spPr>
          <a:xfrm>
            <a:off x="548640" y="1874520"/>
            <a:ext cx="5623560" cy="1714500"/>
          </a:xfrm>
          <a:prstGeom prst="roundRect">
            <a:avLst>
              <a:gd name="adj" fmla="val 64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31216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setTitle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title)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.title = title;   </a:t>
            </a:r>
            <a:r>
              <a:rPr lang="en-IE" sz="1500" i="1" dirty="0">
                <a:solidFill>
                  <a:srgbClr val="A3AEC2"/>
                </a:solidFill>
                <a:latin typeface="Consolas" pitchFamily="34" charset="0"/>
                <a:ea typeface="Consolas" pitchFamily="34" charset="-122"/>
                <a:cs typeface="Consolas" pitchFamily="34" charset="-120"/>
              </a:rPr>
              <a:t>// a second value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error: cannot assign a value to</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final variable title</a:t>
            </a:r>
            <a:endParaRPr lang="en-IE" sz="1500" dirty="0"/>
          </a:p>
        </p:txBody>
      </p:sp>
      <p:sp>
        <p:nvSpPr>
          <p:cNvPr id="7" name="Option A"/>
          <p:cNvSpPr/>
          <p:nvPr/>
        </p:nvSpPr>
        <p:spPr>
          <a:xfrm>
            <a:off x="548640" y="3817620"/>
            <a:ext cx="5623560" cy="456057"/>
          </a:xfrm>
          <a:prstGeom prst="roundRect">
            <a:avLst>
              <a:gd name="adj" fmla="val 2406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881628"/>
            <a:ext cx="328041" cy="3280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A</a:t>
            </a:r>
            <a:endParaRPr lang="en-IE" sz="1400" dirty="0"/>
          </a:p>
        </p:txBody>
      </p:sp>
      <p:sp>
        <p:nvSpPr>
          <p:cNvPr id="9" name="Option A text"/>
          <p:cNvSpPr txBox="1"/>
          <p:nvPr/>
        </p:nvSpPr>
        <p:spPr>
          <a:xfrm>
            <a:off x="1279017" y="3817620"/>
            <a:ext cx="4664583" cy="456057"/>
          </a:xfrm>
          <a:prstGeom prst="rect">
            <a:avLst/>
          </a:prstGeom>
          <a:noFill/>
          <a:ln/>
        </p:spPr>
        <p:txBody>
          <a:bodyPr wrap="square" lIns="0" tIns="0" rIns="0" bIns="0" rtlCol="0" anchor="ctr"/>
          <a:lstStyle/>
          <a:p>
            <a:pPr indent="0" marL="0">
              <a:buNone/>
            </a:pPr>
            <a:r>
              <a:rPr lang="en-IE" sz="1500" dirty="0">
                <a:solidFill>
                  <a:schemeClr val="tx2"/>
                </a:solidFill>
              </a:rPr>
              <a:t>It compiles without any problems</a:t>
            </a:r>
            <a:endParaRPr lang="en-IE" sz="1500" dirty="0"/>
          </a:p>
        </p:txBody>
      </p:sp>
      <p:sp>
        <p:nvSpPr>
          <p:cNvPr id="10" name="Option B"/>
          <p:cNvSpPr/>
          <p:nvPr/>
        </p:nvSpPr>
        <p:spPr>
          <a:xfrm>
            <a:off x="548640" y="4419981"/>
            <a:ext cx="5623560" cy="456057"/>
          </a:xfrm>
          <a:prstGeom prst="roundRect">
            <a:avLst>
              <a:gd name="adj" fmla="val 24060"/>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483989"/>
            <a:ext cx="328041" cy="3280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B</a:t>
            </a:r>
            <a:endParaRPr lang="en-IE" sz="1400" dirty="0"/>
          </a:p>
        </p:txBody>
      </p:sp>
      <p:sp>
        <p:nvSpPr>
          <p:cNvPr id="12" name="Option B text"/>
          <p:cNvSpPr txBox="1"/>
          <p:nvPr/>
        </p:nvSpPr>
        <p:spPr>
          <a:xfrm>
            <a:off x="1279017" y="4419981"/>
            <a:ext cx="4664583" cy="456057"/>
          </a:xfrm>
          <a:prstGeom prst="rect">
            <a:avLst/>
          </a:prstGeom>
          <a:noFill/>
          <a:ln/>
        </p:spPr>
        <p:txBody>
          <a:bodyPr wrap="square" lIns="0" tIns="0" rIns="0" bIns="0" rtlCol="0" anchor="ctr"/>
          <a:lstStyle/>
          <a:p>
            <a:pPr indent="0" marL="0">
              <a:buNone/>
            </a:pPr>
            <a:r>
              <a:rPr lang="en-IE" sz="1500" dirty="0">
                <a:solidFill>
                  <a:schemeClr val="tx2"/>
                </a:solidFill>
              </a:rPr>
              <a:t>Compile error: Book has no getter</a:t>
            </a:r>
            <a:endParaRPr lang="en-IE" sz="1500" dirty="0"/>
          </a:p>
        </p:txBody>
      </p:sp>
      <p:sp>
        <p:nvSpPr>
          <p:cNvPr id="13" name="Option C (correct)"/>
          <p:cNvSpPr/>
          <p:nvPr/>
        </p:nvSpPr>
        <p:spPr>
          <a:xfrm>
            <a:off x="548640" y="5022342"/>
            <a:ext cx="5623560" cy="456057"/>
          </a:xfrm>
          <a:prstGeom prst="roundRect">
            <a:avLst>
              <a:gd name="adj" fmla="val 24060"/>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5086350"/>
            <a:ext cx="328041" cy="328041"/>
          </a:xfrm>
          <a:prstGeom prst="ellipse">
            <a:avLst/>
          </a:prstGeom>
          <a:solidFill>
            <a:schemeClr val="bg1"/>
          </a:solidFill>
          <a:ln/>
        </p:spPr>
        <p:txBody>
          <a:bodyPr wrap="square" lIns="0" tIns="0" rIns="0" bIns="0" rtlCol="0" anchor="ctr"/>
          <a:lstStyle/>
          <a:p>
            <a:pPr algn="ctr" indent="0" marL="0">
              <a:buNone/>
            </a:pPr>
            <a:r>
              <a:rPr lang="en-IE" sz="1400" b="1" dirty="0">
                <a:solidFill>
                  <a:schemeClr val="accent3"/>
                </a:solidFill>
              </a:rPr>
              <a:t>C</a:t>
            </a:r>
            <a:endParaRPr lang="en-IE" sz="1400" dirty="0"/>
          </a:p>
        </p:txBody>
      </p:sp>
      <p:sp>
        <p:nvSpPr>
          <p:cNvPr id="15" name="Option C text"/>
          <p:cNvSpPr txBox="1"/>
          <p:nvPr/>
        </p:nvSpPr>
        <p:spPr>
          <a:xfrm>
            <a:off x="1279017" y="5022342"/>
            <a:ext cx="4234815" cy="456057"/>
          </a:xfrm>
          <a:prstGeom prst="rect">
            <a:avLst/>
          </a:prstGeom>
          <a:noFill/>
          <a:ln/>
        </p:spPr>
        <p:txBody>
          <a:bodyPr wrap="square" lIns="0" tIns="0" rIns="0" bIns="0" rtlCol="0" anchor="ctr"/>
          <a:lstStyle/>
          <a:p>
            <a:pPr indent="0" marL="0">
              <a:buNone/>
            </a:pPr>
            <a:r>
              <a:rPr lang="en-IE" sz="1500" b="1" dirty="0">
                <a:solidFill>
                  <a:schemeClr val="bg1"/>
                </a:solidFill>
              </a:rPr>
              <a:t>Compile error: title is final</a:t>
            </a:r>
            <a:endParaRPr lang="en-IE" sz="1500" dirty="0"/>
          </a:p>
        </p:txBody>
      </p:sp>
      <p:pic>
        <p:nvPicPr>
          <p:cNvPr id="16" name="Correct mark" descr="Correct mark">    </p:cNvPr>
          <p:cNvPicPr>
            <a:picLocks noChangeAspect="1"/>
          </p:cNvPicPr>
          <p:nvPr/>
        </p:nvPicPr>
        <p:blipFill>
          <a:blip r:embed="rId1"/>
          <a:stretch>
            <a:fillRect/>
          </a:stretch>
        </p:blipFill>
        <p:spPr>
          <a:xfrm>
            <a:off x="5623560" y="5067491"/>
            <a:ext cx="365760" cy="365760"/>
          </a:xfrm>
          <a:prstGeom prst="rect">
            <a:avLst/>
          </a:prstGeom>
        </p:spPr>
      </p:pic>
      <p:sp>
        <p:nvSpPr>
          <p:cNvPr id="17" name="Option D"/>
          <p:cNvSpPr/>
          <p:nvPr/>
        </p:nvSpPr>
        <p:spPr>
          <a:xfrm>
            <a:off x="548640" y="5624703"/>
            <a:ext cx="5623560" cy="456057"/>
          </a:xfrm>
          <a:prstGeom prst="roundRect">
            <a:avLst>
              <a:gd name="adj" fmla="val 2406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88711"/>
            <a:ext cx="328041" cy="3280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D</a:t>
            </a:r>
            <a:endParaRPr lang="en-IE" sz="1400" dirty="0"/>
          </a:p>
        </p:txBody>
      </p:sp>
      <p:sp>
        <p:nvSpPr>
          <p:cNvPr id="19" name="Option D text"/>
          <p:cNvSpPr txBox="1"/>
          <p:nvPr/>
        </p:nvSpPr>
        <p:spPr>
          <a:xfrm>
            <a:off x="1279017" y="5624703"/>
            <a:ext cx="4664583" cy="456057"/>
          </a:xfrm>
          <a:prstGeom prst="rect">
            <a:avLst/>
          </a:prstGeom>
          <a:noFill/>
          <a:ln/>
        </p:spPr>
        <p:txBody>
          <a:bodyPr wrap="square" lIns="0" tIns="0" rIns="0" bIns="0" rtlCol="0" anchor="ctr"/>
          <a:lstStyle/>
          <a:p>
            <a:pPr indent="0" marL="0">
              <a:buNone/>
            </a:pPr>
            <a:r>
              <a:rPr lang="en-IE" sz="1500" dirty="0">
                <a:solidFill>
                  <a:schemeClr val="tx2"/>
                </a:solidFill>
              </a:rPr>
              <a:t>It fails only when setTitle() runs</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A final field can be given a value only once, where it is declared or in the constructor. The setter tries to give title a second value, so the compiler rejects the class. That is why an immutable class has no setters.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The singleton pattern</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A design pattern for a class with only one object</a:t>
            </a:r>
            <a:endParaRPr lang="en-IE" sz="2000" dirty="0"/>
          </a:p>
        </p:txBody>
      </p:sp>
      <p:sp>
        <p:nvSpPr>
          <p:cNvPr id="5" name="Topic chip"/>
          <p:cNvSpPr/>
          <p:nvPr/>
        </p:nvSpPr>
        <p:spPr>
          <a:xfrm>
            <a:off x="822960" y="4846320"/>
            <a:ext cx="178917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Design patterns</a:t>
            </a:r>
            <a:endParaRPr lang="en-IE" sz="1400" dirty="0"/>
          </a:p>
        </p:txBody>
      </p:sp>
      <p:sp>
        <p:nvSpPr>
          <p:cNvPr id="6" name="Topic chip"/>
          <p:cNvSpPr/>
          <p:nvPr/>
        </p:nvSpPr>
        <p:spPr>
          <a:xfrm>
            <a:off x="275844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Singleton</a:t>
            </a:r>
            <a:endParaRPr lang="en-IE" sz="1400" dirty="0"/>
          </a:p>
        </p:txBody>
      </p:sp>
      <p:sp>
        <p:nvSpPr>
          <p:cNvPr id="7" name="Topic chip"/>
          <p:cNvSpPr/>
          <p:nvPr/>
        </p:nvSpPr>
        <p:spPr>
          <a:xfrm>
            <a:off x="4139184" y="4846320"/>
            <a:ext cx="160426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getInstance()</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DESIGN PATTERNS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Design patterns</a:t>
            </a:r>
            <a:endParaRPr lang="en-IE" sz="3400" dirty="0"/>
          </a:p>
        </p:txBody>
      </p:sp>
      <p:sp>
        <p:nvSpPr>
          <p:cNvPr id="5" name="Text 2"/>
          <p:cNvSpPr txBox="1"/>
          <p:nvPr/>
        </p:nvSpPr>
        <p:spPr>
          <a:xfrm>
            <a:off x="548640" y="1783080"/>
            <a:ext cx="5212080" cy="42062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design pattern is a known way to structure a class (or a few classes).</a:t>
            </a:r>
            <a:endParaRPr lang="en-IE" sz="1800" dirty="0"/>
          </a:p>
          <a:p>
            <a:pPr marL="228600" indent="-228600">
              <a:spcAft>
                <a:spcPts val="1200"/>
              </a:spcAft>
              <a:buSzPct val="100000"/>
              <a:buChar char="•"/>
            </a:pPr>
            <a:r>
              <a:rPr lang="en-IE" sz="1800" dirty="0">
                <a:solidFill>
                  <a:schemeClr val="tx1"/>
                </a:solidFill>
              </a:rPr>
              <a:t>Patterns are designed to deal with common object-oriented design problems.</a:t>
            </a:r>
            <a:endParaRPr lang="en-IE" sz="1800" dirty="0"/>
          </a:p>
          <a:p>
            <a:pPr marL="228600" indent="-228600">
              <a:spcAft>
                <a:spcPts val="1200"/>
              </a:spcAft>
              <a:buSzPct val="100000"/>
              <a:buChar char="•"/>
            </a:pPr>
            <a:r>
              <a:rPr lang="en-IE" sz="1800" dirty="0">
                <a:solidFill>
                  <a:schemeClr val="tx1"/>
                </a:solidFill>
              </a:rPr>
              <a:t>They don’t depend on the language, so the same idea works in any OO language.</a:t>
            </a:r>
            <a:endParaRPr lang="en-IE" sz="1800" dirty="0"/>
          </a:p>
          <a:p>
            <a:pPr marL="228600" indent="-228600">
              <a:buSzPct val="100000"/>
              <a:buChar char="•"/>
            </a:pPr>
            <a:r>
              <a:rPr lang="en-IE" sz="1800" dirty="0">
                <a:solidFill>
                  <a:schemeClr val="tx1"/>
                </a:solidFill>
              </a:rPr>
              <a:t>A well-known pattern is the Singleton.</a:t>
            </a:r>
            <a:endParaRPr lang="en-IE" sz="1800" dirty="0"/>
          </a:p>
        </p:txBody>
      </p:sp>
      <p:sp>
        <p:nvSpPr>
          <p:cNvPr id="6" name="A common problem"/>
          <p:cNvSpPr/>
          <p:nvPr/>
        </p:nvSpPr>
        <p:spPr>
          <a:xfrm>
            <a:off x="6263640" y="1783080"/>
            <a:ext cx="537941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6537960" y="2029968"/>
            <a:ext cx="603504" cy="603504"/>
          </a:xfrm>
          <a:prstGeom prst="roundRect">
            <a:avLst>
              <a:gd name="adj" fmla="val 24000"/>
            </a:avLst>
          </a:prstGeom>
          <a:solidFill>
            <a:schemeClr val="accent1">
              <a:alpha val="14000"/>
            </a:schemeClr>
          </a:solidFill>
          <a:ln/>
        </p:spPr>
      </p:sp>
      <p:pic>
        <p:nvPicPr>
          <p:cNvPr id="8" name="puzzle piece icon" descr="puzzle piece icon">    </p:cNvPr>
          <p:cNvPicPr>
            <a:picLocks noChangeAspect="1"/>
          </p:cNvPicPr>
          <p:nvPr/>
        </p:nvPicPr>
        <p:blipFill>
          <a:blip r:embed="rId1"/>
          <a:stretch>
            <a:fillRect/>
          </a:stretch>
        </p:blipFill>
        <p:spPr>
          <a:xfrm>
            <a:off x="6664696" y="2156704"/>
            <a:ext cx="350032" cy="350032"/>
          </a:xfrm>
          <a:prstGeom prst="rect">
            <a:avLst/>
          </a:prstGeom>
        </p:spPr>
      </p:pic>
      <p:sp>
        <p:nvSpPr>
          <p:cNvPr id="9" name="Text 5"/>
          <p:cNvSpPr txBox="1"/>
          <p:nvPr/>
        </p:nvSpPr>
        <p:spPr>
          <a:xfrm>
            <a:off x="7360920" y="1938528"/>
            <a:ext cx="4053535" cy="384048"/>
          </a:xfrm>
          <a:prstGeom prst="rect">
            <a:avLst/>
          </a:prstGeom>
          <a:noFill/>
          <a:ln/>
        </p:spPr>
        <p:txBody>
          <a:bodyPr wrap="square" lIns="0" tIns="0" rIns="0" bIns="0" rtlCol="0" anchor="ctr"/>
          <a:lstStyle/>
          <a:p>
            <a:pPr indent="0" marL="0">
              <a:buNone/>
            </a:pPr>
            <a:r>
              <a:rPr lang="en-IE" sz="1800" b="1" dirty="0">
                <a:solidFill>
                  <a:schemeClr val="tx1"/>
                </a:solidFill>
              </a:rPr>
              <a:t>A common problem</a:t>
            </a:r>
            <a:endParaRPr lang="en-IE" sz="1800" dirty="0"/>
          </a:p>
        </p:txBody>
      </p:sp>
      <p:sp>
        <p:nvSpPr>
          <p:cNvPr id="10" name="Text 6"/>
          <p:cNvSpPr txBox="1"/>
          <p:nvPr/>
        </p:nvSpPr>
        <p:spPr>
          <a:xfrm>
            <a:off x="7360920" y="2331720"/>
            <a:ext cx="4053535" cy="384048"/>
          </a:xfrm>
          <a:prstGeom prst="rect">
            <a:avLst/>
          </a:prstGeom>
          <a:noFill/>
          <a:ln/>
        </p:spPr>
        <p:txBody>
          <a:bodyPr wrap="square" lIns="0" tIns="0" rIns="0" bIns="0" rtlCol="0" anchor="t"/>
          <a:lstStyle/>
          <a:p>
            <a:pPr indent="0" marL="0">
              <a:buNone/>
            </a:pPr>
            <a:r>
              <a:rPr lang="en-IE" sz="1500" dirty="0">
                <a:solidFill>
                  <a:schemeClr val="tx2"/>
                </a:solidFill>
              </a:rPr>
              <a:t>“We need exactly one database connection.”</a:t>
            </a:r>
            <a:endParaRPr lang="en-IE" sz="1500" dirty="0"/>
          </a:p>
        </p:txBody>
      </p:sp>
      <p:sp>
        <p:nvSpPr>
          <p:cNvPr id="11" name="Connector"/>
          <p:cNvSpPr/>
          <p:nvPr/>
        </p:nvSpPr>
        <p:spPr>
          <a:xfrm>
            <a:off x="8953348" y="2935224"/>
            <a:ext cx="0" cy="274320"/>
          </a:xfrm>
          <a:prstGeom prst="line">
            <a:avLst/>
          </a:prstGeom>
          <a:noFill/>
          <a:ln w="22225">
            <a:solidFill>
              <a:schemeClr val="tx2"/>
            </a:solidFill>
            <a:prstDash val="solid"/>
            <a:tailEnd type="triangle"/>
          </a:ln>
        </p:spPr>
      </p:sp>
      <p:sp>
        <p:nvSpPr>
          <p:cNvPr id="12" name="A known pattern"/>
          <p:cNvSpPr/>
          <p:nvPr/>
        </p:nvSpPr>
        <p:spPr>
          <a:xfrm>
            <a:off x="6263640" y="3264408"/>
            <a:ext cx="537941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6537960" y="3511296"/>
            <a:ext cx="603504" cy="603504"/>
          </a:xfrm>
          <a:prstGeom prst="roundRect">
            <a:avLst>
              <a:gd name="adj" fmla="val 24000"/>
            </a:avLst>
          </a:prstGeom>
          <a:solidFill>
            <a:schemeClr val="accent2">
              <a:alpha val="14000"/>
            </a:schemeClr>
          </a:solidFill>
          <a:ln/>
        </p:spPr>
      </p:sp>
      <p:pic>
        <p:nvPicPr>
          <p:cNvPr id="14" name="number circle one icon" descr="number circle one icon">    </p:cNvPr>
          <p:cNvPicPr>
            <a:picLocks noChangeAspect="1"/>
          </p:cNvPicPr>
          <p:nvPr/>
        </p:nvPicPr>
        <p:blipFill>
          <a:blip r:embed="rId2"/>
          <a:stretch>
            <a:fillRect/>
          </a:stretch>
        </p:blipFill>
        <p:spPr>
          <a:xfrm>
            <a:off x="6664696" y="3638032"/>
            <a:ext cx="350032" cy="350032"/>
          </a:xfrm>
          <a:prstGeom prst="rect">
            <a:avLst/>
          </a:prstGeom>
        </p:spPr>
      </p:pic>
      <p:sp>
        <p:nvSpPr>
          <p:cNvPr id="15" name="Text 10"/>
          <p:cNvSpPr txBox="1"/>
          <p:nvPr/>
        </p:nvSpPr>
        <p:spPr>
          <a:xfrm>
            <a:off x="7360920" y="3419856"/>
            <a:ext cx="4053535" cy="384048"/>
          </a:xfrm>
          <a:prstGeom prst="rect">
            <a:avLst/>
          </a:prstGeom>
          <a:noFill/>
          <a:ln/>
        </p:spPr>
        <p:txBody>
          <a:bodyPr wrap="square" lIns="0" tIns="0" rIns="0" bIns="0" rtlCol="0" anchor="ctr"/>
          <a:lstStyle/>
          <a:p>
            <a:pPr indent="0" marL="0">
              <a:buNone/>
            </a:pPr>
            <a:r>
              <a:rPr lang="en-IE" sz="1800" b="1" dirty="0">
                <a:solidFill>
                  <a:schemeClr val="tx1"/>
                </a:solidFill>
              </a:rPr>
              <a:t>A known pattern</a:t>
            </a:r>
            <a:endParaRPr lang="en-IE" sz="1800" dirty="0"/>
          </a:p>
        </p:txBody>
      </p:sp>
      <p:sp>
        <p:nvSpPr>
          <p:cNvPr id="16" name="Text 11"/>
          <p:cNvSpPr txBox="1"/>
          <p:nvPr/>
        </p:nvSpPr>
        <p:spPr>
          <a:xfrm>
            <a:off x="7360920" y="3813048"/>
            <a:ext cx="4053535" cy="384048"/>
          </a:xfrm>
          <a:prstGeom prst="rect">
            <a:avLst/>
          </a:prstGeom>
          <a:noFill/>
          <a:ln/>
        </p:spPr>
        <p:txBody>
          <a:bodyPr wrap="square" lIns="0" tIns="0" rIns="0" bIns="0" rtlCol="0" anchor="t"/>
          <a:lstStyle/>
          <a:p>
            <a:pPr indent="0" marL="0">
              <a:buNone/>
            </a:pPr>
            <a:r>
              <a:rPr lang="en-IE" sz="1500" dirty="0">
                <a:solidFill>
                  <a:schemeClr val="tx2"/>
                </a:solidFill>
              </a:rPr>
              <a:t>Singleton: a class with only one object.</a:t>
            </a:r>
            <a:endParaRPr lang="en-IE" sz="1500" dirty="0"/>
          </a:p>
        </p:txBody>
      </p:sp>
      <p:sp>
        <p:nvSpPr>
          <p:cNvPr id="17" name="Connector"/>
          <p:cNvSpPr/>
          <p:nvPr/>
        </p:nvSpPr>
        <p:spPr>
          <a:xfrm>
            <a:off x="8953348" y="4416552"/>
            <a:ext cx="0" cy="274320"/>
          </a:xfrm>
          <a:prstGeom prst="line">
            <a:avLst/>
          </a:prstGeom>
          <a:noFill/>
          <a:ln w="22225">
            <a:solidFill>
              <a:schemeClr val="tx2"/>
            </a:solidFill>
            <a:prstDash val="solid"/>
            <a:tailEnd type="triangle"/>
          </a:ln>
        </p:spPr>
      </p:sp>
      <p:sp>
        <p:nvSpPr>
          <p:cNvPr id="18" name="Works in any OO language"/>
          <p:cNvSpPr/>
          <p:nvPr/>
        </p:nvSpPr>
        <p:spPr>
          <a:xfrm>
            <a:off x="6263640" y="4745736"/>
            <a:ext cx="537941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537960" y="4992624"/>
            <a:ext cx="603504" cy="603504"/>
          </a:xfrm>
          <a:prstGeom prst="roundRect">
            <a:avLst>
              <a:gd name="adj" fmla="val 24000"/>
            </a:avLst>
          </a:prstGeom>
          <a:solidFill>
            <a:schemeClr val="accent3">
              <a:alpha val="14000"/>
            </a:schemeClr>
          </a:solidFill>
          <a:ln/>
        </p:spPr>
      </p:sp>
      <p:pic>
        <p:nvPicPr>
          <p:cNvPr id="20" name="globe icon" descr="globe icon">    </p:cNvPr>
          <p:cNvPicPr>
            <a:picLocks noChangeAspect="1"/>
          </p:cNvPicPr>
          <p:nvPr/>
        </p:nvPicPr>
        <p:blipFill>
          <a:blip r:embed="rId3"/>
          <a:stretch>
            <a:fillRect/>
          </a:stretch>
        </p:blipFill>
        <p:spPr>
          <a:xfrm>
            <a:off x="6664696" y="5119360"/>
            <a:ext cx="350032" cy="350032"/>
          </a:xfrm>
          <a:prstGeom prst="rect">
            <a:avLst/>
          </a:prstGeom>
        </p:spPr>
      </p:pic>
      <p:sp>
        <p:nvSpPr>
          <p:cNvPr id="21" name="Text 15"/>
          <p:cNvSpPr txBox="1"/>
          <p:nvPr/>
        </p:nvSpPr>
        <p:spPr>
          <a:xfrm>
            <a:off x="7360920" y="4901184"/>
            <a:ext cx="4053535" cy="384048"/>
          </a:xfrm>
          <a:prstGeom prst="rect">
            <a:avLst/>
          </a:prstGeom>
          <a:noFill/>
          <a:ln/>
        </p:spPr>
        <p:txBody>
          <a:bodyPr wrap="square" lIns="0" tIns="0" rIns="0" bIns="0" rtlCol="0" anchor="ctr"/>
          <a:lstStyle/>
          <a:p>
            <a:pPr indent="0" marL="0">
              <a:buNone/>
            </a:pPr>
            <a:r>
              <a:rPr lang="en-IE" sz="1800" b="1" dirty="0">
                <a:solidFill>
                  <a:schemeClr val="tx1"/>
                </a:solidFill>
              </a:rPr>
              <a:t>Works in any OO language</a:t>
            </a:r>
            <a:endParaRPr lang="en-IE" sz="1800" dirty="0"/>
          </a:p>
        </p:txBody>
      </p:sp>
      <p:sp>
        <p:nvSpPr>
          <p:cNvPr id="22" name="Text 16"/>
          <p:cNvSpPr txBox="1"/>
          <p:nvPr/>
        </p:nvSpPr>
        <p:spPr>
          <a:xfrm>
            <a:off x="7360920" y="5294376"/>
            <a:ext cx="4053535" cy="384048"/>
          </a:xfrm>
          <a:prstGeom prst="rect">
            <a:avLst/>
          </a:prstGeom>
          <a:noFill/>
          <a:ln/>
        </p:spPr>
        <p:txBody>
          <a:bodyPr wrap="square" lIns="0" tIns="0" rIns="0" bIns="0" rtlCol="0" anchor="t"/>
          <a:lstStyle/>
          <a:p>
            <a:pPr indent="0" marL="0">
              <a:buNone/>
            </a:pPr>
            <a:r>
              <a:rPr lang="en-IE" sz="1500" dirty="0">
                <a:solidFill>
                  <a:schemeClr val="tx2"/>
                </a:solidFill>
              </a:rPr>
              <a:t>Java, C#, C++, Python…</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Design patterns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a design pattern?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Java library that we download and import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drawing of all the classes in a project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rule that only applies to the Java language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known structure for a common design problem</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Design patterns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a design pattern?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Java library that we download and import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drawing of all the classes in a project</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rule that only applies to the Java language</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known structure for a common design problem</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design pattern is a known way to structure classes for a common object-oriented design problem. It isn’t tied to Java, so the same idea works in any OO language.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Singleton classes</a:t>
            </a:r>
            <a:endParaRPr lang="en-IE" sz="3400" dirty="0"/>
          </a:p>
        </p:txBody>
      </p:sp>
      <p:sp>
        <p:nvSpPr>
          <p:cNvPr id="5" name="Text 2"/>
          <p:cNvSpPr txBox="1"/>
          <p:nvPr/>
        </p:nvSpPr>
        <p:spPr>
          <a:xfrm>
            <a:off x="548640" y="1783080"/>
            <a:ext cx="5120640" cy="36576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singleton is a class that has been designed to only create one object.</a:t>
            </a:r>
            <a:endParaRPr lang="en-IE" sz="1800" dirty="0"/>
          </a:p>
          <a:p>
            <a:pPr marL="228600" indent="-228600">
              <a:spcAft>
                <a:spcPts val="1200"/>
              </a:spcAft>
              <a:buSzPct val="100000"/>
              <a:buChar char="•"/>
            </a:pPr>
            <a:r>
              <a:rPr lang="en-IE" sz="1800" dirty="0">
                <a:solidFill>
                  <a:schemeClr val="tx1"/>
                </a:solidFill>
              </a:rPr>
              <a:t>There will only ever be one instance of a singleton class.</a:t>
            </a:r>
            <a:endParaRPr lang="en-IE" sz="1800" dirty="0"/>
          </a:p>
          <a:p>
            <a:pPr marL="228600" indent="-228600">
              <a:buSzPct val="100000"/>
              <a:buChar char="•"/>
            </a:pPr>
            <a:r>
              <a:rPr lang="en-IE" sz="1800" dirty="0">
                <a:solidFill>
                  <a:schemeClr val="tx1"/>
                </a:solidFill>
              </a:rPr>
              <a:t>Often used for databases and servers, where the whole program should share one object.</a:t>
            </a:r>
            <a:endParaRPr lang="en-IE" sz="1800" dirty="0"/>
          </a:p>
        </p:txBody>
      </p:sp>
      <p:sp>
        <p:nvSpPr>
          <p:cNvPr id="6" name="Box Login"/>
          <p:cNvSpPr/>
          <p:nvPr/>
        </p:nvSpPr>
        <p:spPr>
          <a:xfrm>
            <a:off x="6172200" y="2148840"/>
            <a:ext cx="1920240" cy="566928"/>
          </a:xfrm>
          <a:prstGeom prst="roundRect">
            <a:avLst>
              <a:gd name="adj" fmla="val 12903"/>
            </a:avLst>
          </a:prstGeom>
          <a:solidFill>
            <a:schemeClr val="accent5">
              <a:alpha val="14000"/>
            </a:schemeClr>
          </a:solidFill>
          <a:ln w="19050">
            <a:solidFill>
              <a:schemeClr val="accent5"/>
            </a:solidFill>
            <a:prstDash val="solid"/>
          </a:ln>
        </p:spPr>
      </p:sp>
      <p:sp>
        <p:nvSpPr>
          <p:cNvPr id="7" name="Text 4"/>
          <p:cNvSpPr txBox="1"/>
          <p:nvPr/>
        </p:nvSpPr>
        <p:spPr>
          <a:xfrm>
            <a:off x="6172200" y="2148840"/>
            <a:ext cx="1920240" cy="566928"/>
          </a:xfrm>
          <a:prstGeom prst="rect">
            <a:avLst/>
          </a:prstGeom>
          <a:noFill/>
          <a:ln/>
        </p:spPr>
        <p:txBody>
          <a:bodyPr wrap="square" lIns="0" tIns="0" rIns="0" bIns="0" rtlCol="0" anchor="ctr"/>
          <a:lstStyle/>
          <a:p>
            <a:pPr algn="ctr" indent="0" marL="0">
              <a:buNone/>
            </a:pPr>
            <a:r>
              <a:rPr lang="en-IE" sz="1600" b="1" dirty="0">
                <a:solidFill>
                  <a:schemeClr val="tx1"/>
                </a:solidFill>
              </a:rPr>
              <a:t>Login</a:t>
            </a:r>
            <a:endParaRPr lang="en-IE" sz="1600" dirty="0"/>
          </a:p>
        </p:txBody>
      </p:sp>
      <p:sp>
        <p:nvSpPr>
          <p:cNvPr id="8" name="Connector"/>
          <p:cNvSpPr/>
          <p:nvPr/>
        </p:nvSpPr>
        <p:spPr>
          <a:xfrm>
            <a:off x="8138160" y="2432304"/>
            <a:ext cx="722376" cy="896112"/>
          </a:xfrm>
          <a:prstGeom prst="line">
            <a:avLst/>
          </a:prstGeom>
          <a:noFill/>
          <a:ln w="19050">
            <a:solidFill>
              <a:schemeClr val="accent2"/>
            </a:solidFill>
            <a:prstDash val="solid"/>
            <a:tailEnd type="triangle"/>
          </a:ln>
        </p:spPr>
      </p:sp>
      <p:sp>
        <p:nvSpPr>
          <p:cNvPr id="9" name="Box Orders"/>
          <p:cNvSpPr/>
          <p:nvPr/>
        </p:nvSpPr>
        <p:spPr>
          <a:xfrm>
            <a:off x="6172200" y="3291840"/>
            <a:ext cx="1920240" cy="566928"/>
          </a:xfrm>
          <a:prstGeom prst="roundRect">
            <a:avLst>
              <a:gd name="adj" fmla="val 12903"/>
            </a:avLst>
          </a:prstGeom>
          <a:solidFill>
            <a:schemeClr val="accent5">
              <a:alpha val="14000"/>
            </a:schemeClr>
          </a:solidFill>
          <a:ln w="19050">
            <a:solidFill>
              <a:schemeClr val="accent5"/>
            </a:solidFill>
            <a:prstDash val="solid"/>
          </a:ln>
        </p:spPr>
      </p:sp>
      <p:sp>
        <p:nvSpPr>
          <p:cNvPr id="10" name="Text 7"/>
          <p:cNvSpPr txBox="1"/>
          <p:nvPr/>
        </p:nvSpPr>
        <p:spPr>
          <a:xfrm>
            <a:off x="6172200" y="3291840"/>
            <a:ext cx="1920240" cy="566928"/>
          </a:xfrm>
          <a:prstGeom prst="rect">
            <a:avLst/>
          </a:prstGeom>
          <a:noFill/>
          <a:ln/>
        </p:spPr>
        <p:txBody>
          <a:bodyPr wrap="square" lIns="0" tIns="0" rIns="0" bIns="0" rtlCol="0" anchor="ctr"/>
          <a:lstStyle/>
          <a:p>
            <a:pPr algn="ctr" indent="0" marL="0">
              <a:buNone/>
            </a:pPr>
            <a:r>
              <a:rPr lang="en-IE" sz="1600" b="1" dirty="0">
                <a:solidFill>
                  <a:schemeClr val="tx1"/>
                </a:solidFill>
              </a:rPr>
              <a:t>Orders</a:t>
            </a:r>
            <a:endParaRPr lang="en-IE" sz="1600" dirty="0"/>
          </a:p>
        </p:txBody>
      </p:sp>
      <p:sp>
        <p:nvSpPr>
          <p:cNvPr id="11" name="Connector"/>
          <p:cNvSpPr/>
          <p:nvPr/>
        </p:nvSpPr>
        <p:spPr>
          <a:xfrm>
            <a:off x="8138160" y="3575304"/>
            <a:ext cx="722376" cy="9144"/>
          </a:xfrm>
          <a:prstGeom prst="line">
            <a:avLst/>
          </a:prstGeom>
          <a:noFill/>
          <a:ln w="19050">
            <a:solidFill>
              <a:schemeClr val="accent2"/>
            </a:solidFill>
            <a:prstDash val="solid"/>
            <a:tailEnd type="triangle"/>
          </a:ln>
        </p:spPr>
      </p:sp>
      <p:sp>
        <p:nvSpPr>
          <p:cNvPr id="12" name="Box Reports"/>
          <p:cNvSpPr/>
          <p:nvPr/>
        </p:nvSpPr>
        <p:spPr>
          <a:xfrm>
            <a:off x="6172200" y="4434840"/>
            <a:ext cx="1920240" cy="566928"/>
          </a:xfrm>
          <a:prstGeom prst="roundRect">
            <a:avLst>
              <a:gd name="adj" fmla="val 12903"/>
            </a:avLst>
          </a:prstGeom>
          <a:solidFill>
            <a:schemeClr val="accent5">
              <a:alpha val="14000"/>
            </a:schemeClr>
          </a:solidFill>
          <a:ln w="19050">
            <a:solidFill>
              <a:schemeClr val="accent5"/>
            </a:solidFill>
            <a:prstDash val="solid"/>
          </a:ln>
        </p:spPr>
      </p:sp>
      <p:sp>
        <p:nvSpPr>
          <p:cNvPr id="13" name="Text 10"/>
          <p:cNvSpPr txBox="1"/>
          <p:nvPr/>
        </p:nvSpPr>
        <p:spPr>
          <a:xfrm>
            <a:off x="6172200" y="4434840"/>
            <a:ext cx="1920240" cy="566928"/>
          </a:xfrm>
          <a:prstGeom prst="rect">
            <a:avLst/>
          </a:prstGeom>
          <a:noFill/>
          <a:ln/>
        </p:spPr>
        <p:txBody>
          <a:bodyPr wrap="square" lIns="0" tIns="0" rIns="0" bIns="0" rtlCol="0" anchor="ctr"/>
          <a:lstStyle/>
          <a:p>
            <a:pPr algn="ctr" indent="0" marL="0">
              <a:buNone/>
            </a:pPr>
            <a:r>
              <a:rPr lang="en-IE" sz="1600" b="1" dirty="0">
                <a:solidFill>
                  <a:schemeClr val="tx1"/>
                </a:solidFill>
              </a:rPr>
              <a:t>Reports</a:t>
            </a:r>
            <a:endParaRPr lang="en-IE" sz="1600" dirty="0"/>
          </a:p>
        </p:txBody>
      </p:sp>
      <p:sp>
        <p:nvSpPr>
          <p:cNvPr id="14" name="Connector"/>
          <p:cNvSpPr/>
          <p:nvPr/>
        </p:nvSpPr>
        <p:spPr>
          <a:xfrm flipV="1">
            <a:off x="8138160" y="3840480"/>
            <a:ext cx="722376" cy="877824"/>
          </a:xfrm>
          <a:prstGeom prst="line">
            <a:avLst/>
          </a:prstGeom>
          <a:noFill/>
          <a:ln w="19050">
            <a:solidFill>
              <a:schemeClr val="accent2"/>
            </a:solidFill>
            <a:prstDash val="solid"/>
            <a:tailEnd type="triangle"/>
          </a:ln>
        </p:spPr>
      </p:sp>
      <p:sp>
        <p:nvSpPr>
          <p:cNvPr id="15" name="The only Database object"/>
          <p:cNvSpPr/>
          <p:nvPr/>
        </p:nvSpPr>
        <p:spPr>
          <a:xfrm>
            <a:off x="8915400" y="3012948"/>
            <a:ext cx="2727655" cy="1143000"/>
          </a:xfrm>
          <a:prstGeom prst="roundRect">
            <a:avLst>
              <a:gd name="adj" fmla="val 9600"/>
            </a:avLst>
          </a:prstGeom>
          <a:solidFill>
            <a:schemeClr val="accent2">
              <a:alpha val="14000"/>
            </a:schemeClr>
          </a:solidFill>
          <a:ln w="22225">
            <a:solidFill>
              <a:schemeClr val="accent2"/>
            </a:solidFill>
            <a:prstDash val="solid"/>
          </a:ln>
          <a:effectLst>
            <a:outerShdw sx="100000" sy="100000" kx="0" ky="0" algn="bl" rotWithShape="0" blurRad="76200" dist="19050" dir="5400000">
              <a:srgbClr val="1D2433">
                <a:alpha val="8000"/>
              </a:srgbClr>
            </a:outerShdw>
          </a:effectLst>
        </p:spPr>
      </p:sp>
      <p:pic>
        <p:nvPicPr>
          <p:cNvPr id="16" name="Database icon" descr="Database icon">    </p:cNvPr>
          <p:cNvPicPr>
            <a:picLocks noChangeAspect="1"/>
          </p:cNvPicPr>
          <p:nvPr/>
        </p:nvPicPr>
        <p:blipFill>
          <a:blip r:embed="rId1"/>
          <a:stretch>
            <a:fillRect/>
          </a:stretch>
        </p:blipFill>
        <p:spPr>
          <a:xfrm>
            <a:off x="9116568" y="3310128"/>
            <a:ext cx="548640" cy="548640"/>
          </a:xfrm>
          <a:prstGeom prst="rect">
            <a:avLst/>
          </a:prstGeom>
        </p:spPr>
      </p:pic>
      <p:sp>
        <p:nvSpPr>
          <p:cNvPr id="17" name="Text 13"/>
          <p:cNvSpPr txBox="1"/>
          <p:nvPr/>
        </p:nvSpPr>
        <p:spPr>
          <a:xfrm>
            <a:off x="9784080" y="3255264"/>
            <a:ext cx="1767535" cy="365760"/>
          </a:xfrm>
          <a:prstGeom prst="rect">
            <a:avLst/>
          </a:prstGeom>
          <a:noFill/>
          <a:ln/>
        </p:spPr>
        <p:txBody>
          <a:bodyPr wrap="square" lIns="0" tIns="0" rIns="0" bIns="0" rtlCol="0" anchor="ctr"/>
          <a:lstStyle/>
          <a:p>
            <a:pPr indent="0" marL="0">
              <a:buNone/>
            </a:pPr>
            <a:r>
              <a:rPr lang="en-IE" sz="1800" b="1" dirty="0">
                <a:solidFill>
                  <a:schemeClr val="tx1"/>
                </a:solidFill>
              </a:rPr>
              <a:t>Database</a:t>
            </a:r>
            <a:endParaRPr lang="en-IE" sz="1800" dirty="0"/>
          </a:p>
        </p:txBody>
      </p:sp>
      <p:sp>
        <p:nvSpPr>
          <p:cNvPr id="18" name="Text 14"/>
          <p:cNvSpPr txBox="1"/>
          <p:nvPr/>
        </p:nvSpPr>
        <p:spPr>
          <a:xfrm>
            <a:off x="9784080" y="3621024"/>
            <a:ext cx="1767535" cy="292608"/>
          </a:xfrm>
          <a:prstGeom prst="rect">
            <a:avLst/>
          </a:prstGeom>
          <a:noFill/>
          <a:ln/>
        </p:spPr>
        <p:txBody>
          <a:bodyPr wrap="square" lIns="0" tIns="0" rIns="0" bIns="0" rtlCol="0" anchor="ctr"/>
          <a:lstStyle/>
          <a:p>
            <a:pPr indent="0" marL="0">
              <a:buNone/>
            </a:pPr>
            <a:r>
              <a:rPr lang="en-IE" sz="1300" i="1" dirty="0">
                <a:solidFill>
                  <a:schemeClr val="tx2"/>
                </a:solidFill>
              </a:rPr>
              <a:t>the only instance</a:t>
            </a:r>
            <a:endParaRPr lang="en-IE" sz="1300" dirty="0"/>
          </a:p>
        </p:txBody>
      </p:sp>
      <p:sp>
        <p:nvSpPr>
          <p:cNvPr id="19" name="Text 15"/>
          <p:cNvSpPr txBox="1"/>
          <p:nvPr/>
        </p:nvSpPr>
        <p:spPr>
          <a:xfrm>
            <a:off x="6172200" y="5486400"/>
            <a:ext cx="5470855" cy="320040"/>
          </a:xfrm>
          <a:prstGeom prst="rect">
            <a:avLst/>
          </a:prstGeom>
          <a:noFill/>
          <a:ln/>
        </p:spPr>
        <p:txBody>
          <a:bodyPr wrap="square" lIns="0" tIns="0" rIns="0" bIns="0" rtlCol="0" anchor="t"/>
          <a:lstStyle/>
          <a:p>
            <a:pPr algn="ctr" indent="0" marL="0">
              <a:buNone/>
            </a:pPr>
            <a:r>
              <a:rPr lang="en-IE" sz="1400" i="1" dirty="0">
                <a:solidFill>
                  <a:schemeClr val="tx2"/>
                </a:solidFill>
              </a:rPr>
              <a:t>Every part of the program uses the same object.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Singleton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makes a class a singleton?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one object of it can ever exist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one of its methods is static</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has one attribute and one method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one other class may use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Singleton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makes a class a singleton?</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Only one object of it can ever exist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one of its methods is static</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has one attribute and one method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one other class may use it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singleton is designed to create only one object. There will only ever be one instance, and everyone shares it. It’s often used for databases and servers, where the whole program should share one object.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Creating a singleton class</a:t>
            </a:r>
            <a:endParaRPr lang="en-IE" sz="3400" dirty="0"/>
          </a:p>
        </p:txBody>
      </p:sp>
      <p:sp>
        <p:nvSpPr>
          <p:cNvPr id="5" name="SingletonExample card"/>
          <p:cNvSpPr/>
          <p:nvPr/>
        </p:nvSpPr>
        <p:spPr>
          <a:xfrm>
            <a:off x="960120" y="1691640"/>
            <a:ext cx="5989320" cy="3688588"/>
          </a:xfrm>
          <a:prstGeom prst="roundRect">
            <a:avLst>
              <a:gd name="adj" fmla="val 2975"/>
            </a:avLst>
          </a:prstGeom>
          <a:solidFill>
            <a:schemeClr val="tx1"/>
          </a:solidFill>
          <a:ln/>
          <a:effectLst>
            <a:outerShdw sx="100000" sy="100000" kx="0" ky="0" algn="bl" rotWithShape="0" blurRad="114300" dist="31750" dir="5400000">
              <a:srgbClr val="1D2433">
                <a:alpha val="12000"/>
              </a:srgbClr>
            </a:outerShdw>
          </a:effectLst>
        </p:spPr>
      </p:sp>
      <p:sp>
        <p:nvSpPr>
          <p:cNvPr id="6" name="SingletonExample language"/>
          <p:cNvSpPr txBox="1"/>
          <p:nvPr/>
        </p:nvSpPr>
        <p:spPr>
          <a:xfrm>
            <a:off x="1234440" y="1810512"/>
            <a:ext cx="544068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ingletonExample text"/>
          <p:cNvSpPr txBox="1"/>
          <p:nvPr/>
        </p:nvSpPr>
        <p:spPr>
          <a:xfrm>
            <a:off x="1234440" y="2185416"/>
            <a:ext cx="5440680" cy="299364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SingletonExample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SingletonExample</a:t>
            </a: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SingletonExample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SingletonExample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getInstance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if</a:t>
            </a: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SingletonExample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instance;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Marker 1"/>
          <p:cNvSpPr/>
          <p:nvPr/>
        </p:nvSpPr>
        <p:spPr>
          <a:xfrm>
            <a:off x="548640" y="2576830"/>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1</a:t>
            </a:r>
            <a:endParaRPr lang="en-IE" sz="1300" dirty="0"/>
          </a:p>
        </p:txBody>
      </p:sp>
      <p:sp>
        <p:nvSpPr>
          <p:cNvPr id="9" name="Marker 2"/>
          <p:cNvSpPr/>
          <p:nvPr/>
        </p:nvSpPr>
        <p:spPr>
          <a:xfrm>
            <a:off x="548640" y="3028950"/>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2</a:t>
            </a:r>
            <a:endParaRPr lang="en-IE" sz="1300" dirty="0"/>
          </a:p>
        </p:txBody>
      </p:sp>
      <p:sp>
        <p:nvSpPr>
          <p:cNvPr id="10" name="Marker 3"/>
          <p:cNvSpPr/>
          <p:nvPr/>
        </p:nvSpPr>
        <p:spPr>
          <a:xfrm>
            <a:off x="548640" y="3707130"/>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3</a:t>
            </a:r>
            <a:endParaRPr lang="en-IE" sz="1300" dirty="0"/>
          </a:p>
        </p:txBody>
      </p:sp>
      <p:sp>
        <p:nvSpPr>
          <p:cNvPr id="11" name="Marker 1"/>
          <p:cNvSpPr/>
          <p:nvPr/>
        </p:nvSpPr>
        <p:spPr>
          <a:xfrm>
            <a:off x="7315200" y="1819656"/>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1</a:t>
            </a:r>
            <a:endParaRPr lang="en-IE" sz="1500" dirty="0"/>
          </a:p>
        </p:txBody>
      </p:sp>
      <p:sp>
        <p:nvSpPr>
          <p:cNvPr id="12" name="Text 9"/>
          <p:cNvSpPr txBox="1"/>
          <p:nvPr/>
        </p:nvSpPr>
        <p:spPr>
          <a:xfrm>
            <a:off x="7909560" y="1783080"/>
            <a:ext cx="3733495" cy="1188720"/>
          </a:xfrm>
          <a:prstGeom prst="rect">
            <a:avLst/>
          </a:prstGeom>
          <a:noFill/>
          <a:ln/>
        </p:spPr>
        <p:txBody>
          <a:bodyPr wrap="square" lIns="0" tIns="0" rIns="0" bIns="0" rtlCol="0" anchor="t"/>
          <a:lstStyle/>
          <a:p>
            <a:pPr indent="0" marL="0">
              <a:buNone/>
            </a:pPr>
            <a:r>
              <a:rPr lang="en-IE" sz="1650" dirty="0">
                <a:solidFill>
                  <a:schemeClr val="tx1"/>
                </a:solidFill>
              </a:rPr>
              <a:t>Declare the only instance inside the class itself. It is </a:t>
            </a:r>
            <a:r>
              <a:rPr lang="en-IE" sz="1650" b="1" dirty="0">
                <a:solidFill>
                  <a:schemeClr val="tx1"/>
                </a:solidFill>
              </a:rPr>
              <a:t>private</a:t>
            </a:r>
            <a:r>
              <a:rPr lang="en-IE" sz="1650" dirty="0">
                <a:solidFill>
                  <a:schemeClr val="tx1"/>
                </a:solidFill>
              </a:rPr>
              <a:t> and </a:t>
            </a:r>
            <a:r>
              <a:rPr lang="en-IE" sz="1650" b="1" dirty="0">
                <a:solidFill>
                  <a:schemeClr val="tx1"/>
                </a:solidFill>
              </a:rPr>
              <a:t>static</a:t>
            </a:r>
            <a:r>
              <a:rPr lang="en-IE" sz="1650" dirty="0">
                <a:solidFill>
                  <a:schemeClr val="tx1"/>
                </a:solidFill>
              </a:rPr>
              <a:t>, and starts as null.</a:t>
            </a:r>
            <a:endParaRPr lang="en-IE" sz="1650" dirty="0"/>
          </a:p>
        </p:txBody>
      </p:sp>
      <p:sp>
        <p:nvSpPr>
          <p:cNvPr id="13" name="Marker 2"/>
          <p:cNvSpPr/>
          <p:nvPr/>
        </p:nvSpPr>
        <p:spPr>
          <a:xfrm>
            <a:off x="7315200" y="3191256"/>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2</a:t>
            </a:r>
            <a:endParaRPr lang="en-IE" sz="1500" dirty="0"/>
          </a:p>
        </p:txBody>
      </p:sp>
      <p:sp>
        <p:nvSpPr>
          <p:cNvPr id="14" name="Text 11"/>
          <p:cNvSpPr txBox="1"/>
          <p:nvPr/>
        </p:nvSpPr>
        <p:spPr>
          <a:xfrm>
            <a:off x="7909560" y="3154680"/>
            <a:ext cx="3733495" cy="1188720"/>
          </a:xfrm>
          <a:prstGeom prst="rect">
            <a:avLst/>
          </a:prstGeom>
          <a:noFill/>
          <a:ln/>
        </p:spPr>
        <p:txBody>
          <a:bodyPr wrap="square" lIns="0" tIns="0" rIns="0" bIns="0" rtlCol="0" anchor="t"/>
          <a:lstStyle/>
          <a:p>
            <a:pPr indent="0" marL="0">
              <a:buNone/>
            </a:pPr>
            <a:r>
              <a:rPr lang="en-IE" sz="1650" dirty="0">
                <a:solidFill>
                  <a:schemeClr val="tx1"/>
                </a:solidFill>
              </a:rPr>
              <a:t>Make the constructor </a:t>
            </a:r>
            <a:r>
              <a:rPr lang="en-IE" sz="1650" b="1" dirty="0">
                <a:solidFill>
                  <a:schemeClr val="tx1"/>
                </a:solidFill>
              </a:rPr>
              <a:t>private</a:t>
            </a:r>
            <a:r>
              <a:rPr lang="en-IE" sz="1650" dirty="0">
                <a:solidFill>
                  <a:schemeClr val="tx1"/>
                </a:solidFill>
              </a:rPr>
              <a:t>. This stops outside classes creating new instances.</a:t>
            </a:r>
            <a:endParaRPr lang="en-IE" sz="1650" dirty="0"/>
          </a:p>
        </p:txBody>
      </p:sp>
      <p:sp>
        <p:nvSpPr>
          <p:cNvPr id="15" name="Marker 3"/>
          <p:cNvSpPr/>
          <p:nvPr/>
        </p:nvSpPr>
        <p:spPr>
          <a:xfrm>
            <a:off x="7315200" y="4562856"/>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3</a:t>
            </a:r>
            <a:endParaRPr lang="en-IE" sz="1500" dirty="0"/>
          </a:p>
        </p:txBody>
      </p:sp>
      <p:sp>
        <p:nvSpPr>
          <p:cNvPr id="16" name="Text 13"/>
          <p:cNvSpPr txBox="1"/>
          <p:nvPr/>
        </p:nvSpPr>
        <p:spPr>
          <a:xfrm>
            <a:off x="7909560" y="4526280"/>
            <a:ext cx="3733495" cy="1188720"/>
          </a:xfrm>
          <a:prstGeom prst="rect">
            <a:avLst/>
          </a:prstGeom>
          <a:noFill/>
          <a:ln/>
        </p:spPr>
        <p:txBody>
          <a:bodyPr wrap="square" lIns="0" tIns="0" rIns="0" bIns="0" rtlCol="0" anchor="t"/>
          <a:lstStyle/>
          <a:p>
            <a:pPr indent="0" marL="0">
              <a:buNone/>
            </a:pPr>
            <a:r>
              <a:rPr lang="en-IE" sz="1650" dirty="0">
                <a:solidFill>
                  <a:schemeClr val="tx1"/>
                </a:solidFill>
              </a:rPr>
              <a:t>Add a method to get the instance. If it’s still null, create it; if not, use the current one.</a:t>
            </a:r>
            <a:endParaRPr lang="en-IE" sz="16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28</a:t>
            </a:fld>
            <a:endParaRPr lang="en-I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a singleton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is the constructor of a singleton private?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other classes can’t call getInstance()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getInstance() runs a little faster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other classes can’t use new to create one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the object is deleted after each use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a singleton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is the constructor of a singleton private?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other classes can’t call getInstance()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getInstance() runs a little faster</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So other classes can’t use new to create one</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the object is deleted after each use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private constructor can only be called from inside the class. Other classes can’t write </a:t>
            </a:r>
            <a:r>
              <a:rPr lang="en-IE" sz="1800" dirty="0">
                <a:solidFill>
                  <a:schemeClr val="accent2"/>
                </a:solidFill>
                <a:latin typeface="Consolas" pitchFamily="34" charset="0"/>
                <a:ea typeface="Consolas" pitchFamily="34" charset="-122"/>
                <a:cs typeface="Consolas" pitchFamily="34" charset="-120"/>
              </a:rPr>
              <a:t>new SingletonExample()</a:t>
            </a:r>
            <a:r>
              <a:rPr lang="en-IE" sz="1800" dirty="0">
                <a:solidFill>
                  <a:schemeClr val="tx1"/>
                </a:solidFill>
              </a:rPr>
              <a:t>, so the only way to get the object is getInstance().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a singleton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getInstance() do the very first time it is called?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Returns null, because no object exists yet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Creates the object, as instance is still null</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Fails, because the constructor is private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Gives back a copy of an existing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a singleton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getInstance() do the very first time it is called?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Returns null, because no object exists yet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Creates the object, as instance is still null</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Fails, because the constructor is private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Gives back a copy of an existing object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instance</a:t>
            </a:r>
            <a:r>
              <a:rPr lang="en-IE" sz="1800" dirty="0">
                <a:solidFill>
                  <a:schemeClr val="tx1"/>
                </a:solidFill>
              </a:rPr>
              <a:t> starts as </a:t>
            </a:r>
            <a:r>
              <a:rPr lang="en-IE" sz="1800" dirty="0">
                <a:solidFill>
                  <a:schemeClr val="accent2"/>
                </a:solidFill>
                <a:latin typeface="Consolas" pitchFamily="34" charset="0"/>
                <a:ea typeface="Consolas" pitchFamily="34" charset="-122"/>
                <a:cs typeface="Consolas" pitchFamily="34" charset="-120"/>
              </a:rPr>
              <a:t>null</a:t>
            </a:r>
            <a:r>
              <a:rPr lang="en-IE" sz="1800" dirty="0">
                <a:solidFill>
                  <a:schemeClr val="tx1"/>
                </a:solidFill>
              </a:rPr>
              <a:t>, so on the first call the if is true and getInstance() creates the object. It’s inside the class, so the private constructor is fine. On every later call instance isn’t null, and the same object comes back.</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Getting the instance</a:t>
            </a:r>
            <a:endParaRPr lang="en-IE" sz="3400" dirty="0"/>
          </a:p>
        </p:txBody>
      </p:sp>
      <p:sp>
        <p:nvSpPr>
          <p:cNvPr id="5" name="main card"/>
          <p:cNvSpPr/>
          <p:nvPr/>
        </p:nvSpPr>
        <p:spPr>
          <a:xfrm>
            <a:off x="548640" y="1645920"/>
            <a:ext cx="11094415" cy="2572258"/>
          </a:xfrm>
          <a:prstGeom prst="roundRect">
            <a:avLst>
              <a:gd name="adj" fmla="val 4266"/>
            </a:avLst>
          </a:prstGeom>
          <a:solidFill>
            <a:schemeClr val="tx1"/>
          </a:solidFill>
          <a:ln/>
          <a:effectLst>
            <a:outerShdw sx="100000" sy="100000" kx="0" ky="0" algn="bl" rotWithShape="0" blurRad="114300" dist="31750" dir="5400000">
              <a:srgbClr val="1D2433">
                <a:alpha val="12000"/>
              </a:srgbClr>
            </a:outerShdw>
          </a:effectLst>
        </p:spPr>
      </p:sp>
      <p:sp>
        <p:nvSpPr>
          <p:cNvPr id="6" name="main language"/>
          <p:cNvSpPr txBox="1"/>
          <p:nvPr/>
        </p:nvSpPr>
        <p:spPr>
          <a:xfrm>
            <a:off x="822960" y="1764792"/>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main text"/>
          <p:cNvSpPr txBox="1"/>
          <p:nvPr/>
        </p:nvSpPr>
        <p:spPr>
          <a:xfrm>
            <a:off x="822960" y="2139696"/>
            <a:ext cx="10545775" cy="1877314"/>
          </a:xfrm>
          <a:prstGeom prst="rect">
            <a:avLst/>
          </a:prstGeom>
          <a:noFill/>
          <a:ln/>
        </p:spPr>
        <p:txBody>
          <a:bodyPr wrap="square" lIns="0" tIns="0" rIns="0" bIns="0" rtlCol="0" anchor="t"/>
          <a:lstStyle/>
          <a:p>
            <a:pPr indent="0" marL="0">
              <a:lnSpc>
                <a:spcPts val="2050"/>
              </a:lnSpc>
              <a:buNone/>
            </a:pPr>
            <a:r>
              <a:rPr lang="en-IE" sz="1550" dirty="0">
                <a:solidFill>
                  <a:srgbClr val="FF9F5A"/>
                </a:solidFill>
                <a:latin typeface="Consolas" pitchFamily="34" charset="0"/>
                <a:ea typeface="Consolas" pitchFamily="34" charset="-122"/>
                <a:cs typeface="Consolas" pitchFamily="34" charset="-120"/>
              </a:rPr>
              <a:t>public</a:t>
            </a: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FF9F5A"/>
                </a:solidFill>
                <a:latin typeface="Consolas" pitchFamily="34" charset="0"/>
                <a:ea typeface="Consolas" pitchFamily="34" charset="-122"/>
                <a:cs typeface="Consolas" pitchFamily="34" charset="-120"/>
              </a:rPr>
              <a:t>static</a:t>
            </a: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FF9F5A"/>
                </a:solidFill>
                <a:latin typeface="Consolas" pitchFamily="34" charset="0"/>
                <a:ea typeface="Consolas" pitchFamily="34" charset="-122"/>
                <a:cs typeface="Consolas" pitchFamily="34" charset="-120"/>
              </a:rPr>
              <a:t>void</a:t>
            </a: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C9B0FF"/>
                </a:solidFill>
                <a:latin typeface="Consolas" pitchFamily="34" charset="0"/>
                <a:ea typeface="Consolas" pitchFamily="34" charset="-122"/>
                <a:cs typeface="Consolas" pitchFamily="34" charset="-120"/>
              </a:rPr>
              <a:t>main</a:t>
            </a:r>
            <a:r>
              <a:rPr lang="en-IE" sz="1550" dirty="0">
                <a:solidFill>
                  <a:srgbClr val="E6EBF2"/>
                </a:solidFill>
                <a:latin typeface="Consolas" pitchFamily="34" charset="0"/>
                <a:ea typeface="Consolas" pitchFamily="34" charset="-122"/>
                <a:cs typeface="Consolas" pitchFamily="34" charset="-120"/>
              </a:rPr>
              <a:t>(</a:t>
            </a:r>
            <a:r>
              <a:rPr lang="en-IE" sz="1550" dirty="0">
                <a:solidFill>
                  <a:srgbClr val="6CC4E8"/>
                </a:solidFill>
                <a:latin typeface="Consolas" pitchFamily="34" charset="0"/>
                <a:ea typeface="Consolas" pitchFamily="34" charset="-122"/>
                <a:cs typeface="Consolas" pitchFamily="34" charset="-120"/>
              </a:rPr>
              <a:t>String</a:t>
            </a:r>
            <a:r>
              <a:rPr lang="en-IE" sz="1550" dirty="0">
                <a:solidFill>
                  <a:srgbClr val="E6EBF2"/>
                </a:solidFill>
                <a:latin typeface="Consolas" pitchFamily="34" charset="0"/>
                <a:ea typeface="Consolas" pitchFamily="34" charset="-122"/>
                <a:cs typeface="Consolas" pitchFamily="34" charset="-120"/>
              </a:rPr>
              <a:t>[] args) {</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 instance =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a:t>
            </a:r>
            <a:r>
              <a:rPr lang="en-IE" sz="1550" dirty="0">
                <a:solidFill>
                  <a:srgbClr val="C9B0FF"/>
                </a:solidFill>
                <a:latin typeface="Consolas" pitchFamily="34" charset="0"/>
                <a:ea typeface="Consolas" pitchFamily="34" charset="-122"/>
                <a:cs typeface="Consolas" pitchFamily="34" charset="-120"/>
              </a:rPr>
              <a:t>getInstance</a:t>
            </a:r>
            <a:r>
              <a:rPr lang="en-IE" sz="1550" dirty="0">
                <a:solidFill>
                  <a:srgbClr val="E6EBF2"/>
                </a:solidFill>
                <a:latin typeface="Consolas" pitchFamily="34" charset="0"/>
                <a:ea typeface="Consolas" pitchFamily="34" charset="-122"/>
                <a:cs typeface="Consolas" pitchFamily="34" charset="-120"/>
              </a:rPr>
              <a:t>();</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 sameInstance =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a:t>
            </a:r>
            <a:r>
              <a:rPr lang="en-IE" sz="1550" dirty="0">
                <a:solidFill>
                  <a:srgbClr val="C9B0FF"/>
                </a:solidFill>
                <a:latin typeface="Consolas" pitchFamily="34" charset="0"/>
                <a:ea typeface="Consolas" pitchFamily="34" charset="-122"/>
                <a:cs typeface="Consolas" pitchFamily="34" charset="-120"/>
              </a:rPr>
              <a:t>getInstance</a:t>
            </a:r>
            <a:r>
              <a:rPr lang="en-IE" sz="1550" dirty="0">
                <a:solidFill>
                  <a:srgbClr val="E6EBF2"/>
                </a:solidFill>
                <a:latin typeface="Consolas" pitchFamily="34" charset="0"/>
                <a:ea typeface="Consolas" pitchFamily="34" charset="-122"/>
                <a:cs typeface="Consolas" pitchFamily="34" charset="-120"/>
              </a:rPr>
              <a:t>();</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 alsoTheSameInstance = </a:t>
            </a:r>
            <a:r>
              <a:rPr lang="en-IE" sz="1550" dirty="0">
                <a:solidFill>
                  <a:srgbClr val="6CC4E8"/>
                </a:solidFill>
                <a:latin typeface="Consolas" pitchFamily="34" charset="0"/>
                <a:ea typeface="Consolas" pitchFamily="34" charset="-122"/>
                <a:cs typeface="Consolas" pitchFamily="34" charset="-120"/>
              </a:rPr>
              <a:t>SingletonExample</a:t>
            </a:r>
            <a:r>
              <a:rPr lang="en-IE" sz="1550" dirty="0">
                <a:solidFill>
                  <a:srgbClr val="E6EBF2"/>
                </a:solidFill>
                <a:latin typeface="Consolas" pitchFamily="34" charset="0"/>
                <a:ea typeface="Consolas" pitchFamily="34" charset="-122"/>
                <a:cs typeface="Consolas" pitchFamily="34" charset="-120"/>
              </a:rPr>
              <a:t>.</a:t>
            </a:r>
            <a:r>
              <a:rPr lang="en-IE" sz="1550" dirty="0">
                <a:solidFill>
                  <a:srgbClr val="C9B0FF"/>
                </a:solidFill>
                <a:latin typeface="Consolas" pitchFamily="34" charset="0"/>
                <a:ea typeface="Consolas" pitchFamily="34" charset="-122"/>
                <a:cs typeface="Consolas" pitchFamily="34" charset="-120"/>
              </a:rPr>
              <a:t>getInstance</a:t>
            </a:r>
            <a:r>
              <a:rPr lang="en-IE" sz="1550" dirty="0">
                <a:solidFill>
                  <a:srgbClr val="E6EBF2"/>
                </a:solidFill>
                <a:latin typeface="Consolas" pitchFamily="34" charset="0"/>
                <a:ea typeface="Consolas" pitchFamily="34" charset="-122"/>
                <a:cs typeface="Consolas" pitchFamily="34" charset="-120"/>
              </a:rPr>
              <a:t>();</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 </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    </a:t>
            </a:r>
            <a:r>
              <a:rPr lang="en-IE" sz="1550" dirty="0">
                <a:solidFill>
                  <a:srgbClr val="6CC4E8"/>
                </a:solidFill>
                <a:latin typeface="Consolas" pitchFamily="34" charset="0"/>
                <a:ea typeface="Consolas" pitchFamily="34" charset="-122"/>
                <a:cs typeface="Consolas" pitchFamily="34" charset="-120"/>
              </a:rPr>
              <a:t>System</a:t>
            </a:r>
            <a:r>
              <a:rPr lang="en-IE" sz="1550" dirty="0">
                <a:solidFill>
                  <a:srgbClr val="E6EBF2"/>
                </a:solidFill>
                <a:latin typeface="Consolas" pitchFamily="34" charset="0"/>
                <a:ea typeface="Consolas" pitchFamily="34" charset="-122"/>
                <a:cs typeface="Consolas" pitchFamily="34" charset="-120"/>
              </a:rPr>
              <a:t>.out.</a:t>
            </a:r>
            <a:r>
              <a:rPr lang="en-IE" sz="1550" dirty="0">
                <a:solidFill>
                  <a:srgbClr val="C9B0FF"/>
                </a:solidFill>
                <a:latin typeface="Consolas" pitchFamily="34" charset="0"/>
                <a:ea typeface="Consolas" pitchFamily="34" charset="-122"/>
                <a:cs typeface="Consolas" pitchFamily="34" charset="-120"/>
              </a:rPr>
              <a:t>println</a:t>
            </a:r>
            <a:r>
              <a:rPr lang="en-IE" sz="1550" dirty="0">
                <a:solidFill>
                  <a:srgbClr val="E6EBF2"/>
                </a:solidFill>
                <a:latin typeface="Consolas" pitchFamily="34" charset="0"/>
                <a:ea typeface="Consolas" pitchFamily="34" charset="-122"/>
                <a:cs typeface="Consolas" pitchFamily="34" charset="-120"/>
              </a:rPr>
              <a:t>(instance == alsoTheSameInstance);   </a:t>
            </a:r>
            <a:r>
              <a:rPr lang="en-IE" sz="1550" i="1" dirty="0">
                <a:solidFill>
                  <a:srgbClr val="A3AEC2"/>
                </a:solidFill>
                <a:latin typeface="Consolas" pitchFamily="34" charset="0"/>
                <a:ea typeface="Consolas" pitchFamily="34" charset="-122"/>
                <a:cs typeface="Consolas" pitchFamily="34" charset="-120"/>
              </a:rPr>
              <a:t>// true</a:t>
            </a:r>
            <a:endParaRPr lang="en-IE" sz="1550" dirty="0"/>
          </a:p>
          <a:p>
            <a:pPr indent="0" marL="0">
              <a:lnSpc>
                <a:spcPts val="2050"/>
              </a:lnSpc>
              <a:buNone/>
            </a:pPr>
            <a:r>
              <a:rPr lang="en-IE" sz="1550" dirty="0">
                <a:solidFill>
                  <a:srgbClr val="E6EBF2"/>
                </a:solidFill>
                <a:latin typeface="Consolas" pitchFamily="34" charset="0"/>
                <a:ea typeface="Consolas" pitchFamily="34" charset="-122"/>
                <a:cs typeface="Consolas" pitchFamily="34" charset="-120"/>
              </a:rPr>
              <a:t>}</a:t>
            </a:r>
            <a:endParaRPr lang="en-IE" sz="1550" dirty="0"/>
          </a:p>
        </p:txBody>
      </p:sp>
      <p:sp>
        <p:nvSpPr>
          <p:cNvPr id="8" name="Variable instance"/>
          <p:cNvSpPr/>
          <p:nvPr/>
        </p:nvSpPr>
        <p:spPr>
          <a:xfrm>
            <a:off x="548640" y="4492498"/>
            <a:ext cx="3200400" cy="420624"/>
          </a:xfrm>
          <a:prstGeom prst="roundRect">
            <a:avLst>
              <a:gd name="adj" fmla="val 17391"/>
            </a:avLst>
          </a:prstGeom>
          <a:solidFill>
            <a:schemeClr val="bg1"/>
          </a:solidFill>
          <a:ln w="15875">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instance</a:t>
            </a:r>
            <a:endParaRPr lang="en-IE" sz="1400" dirty="0"/>
          </a:p>
        </p:txBody>
      </p:sp>
      <p:sp>
        <p:nvSpPr>
          <p:cNvPr id="9" name="Connector"/>
          <p:cNvSpPr/>
          <p:nvPr/>
        </p:nvSpPr>
        <p:spPr>
          <a:xfrm>
            <a:off x="3794760" y="4702810"/>
            <a:ext cx="1005840" cy="530352"/>
          </a:xfrm>
          <a:prstGeom prst="line">
            <a:avLst/>
          </a:prstGeom>
          <a:noFill/>
          <a:ln w="19050">
            <a:solidFill>
              <a:schemeClr val="accent2"/>
            </a:solidFill>
            <a:prstDash val="solid"/>
            <a:tailEnd type="triangle"/>
          </a:ln>
        </p:spPr>
      </p:sp>
      <p:sp>
        <p:nvSpPr>
          <p:cNvPr id="10" name="Variable sameInstance"/>
          <p:cNvSpPr/>
          <p:nvPr/>
        </p:nvSpPr>
        <p:spPr>
          <a:xfrm>
            <a:off x="548640" y="5022850"/>
            <a:ext cx="3200400" cy="420624"/>
          </a:xfrm>
          <a:prstGeom prst="roundRect">
            <a:avLst>
              <a:gd name="adj" fmla="val 17391"/>
            </a:avLst>
          </a:prstGeom>
          <a:solidFill>
            <a:schemeClr val="bg1"/>
          </a:solidFill>
          <a:ln w="15875">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sameInstance</a:t>
            </a:r>
            <a:endParaRPr lang="en-IE" sz="1400" dirty="0"/>
          </a:p>
        </p:txBody>
      </p:sp>
      <p:sp>
        <p:nvSpPr>
          <p:cNvPr id="11" name="Connector"/>
          <p:cNvSpPr/>
          <p:nvPr/>
        </p:nvSpPr>
        <p:spPr>
          <a:xfrm>
            <a:off x="3794760" y="5233162"/>
            <a:ext cx="1005840" cy="0"/>
          </a:xfrm>
          <a:prstGeom prst="line">
            <a:avLst/>
          </a:prstGeom>
          <a:noFill/>
          <a:ln w="19050">
            <a:solidFill>
              <a:schemeClr val="accent2"/>
            </a:solidFill>
            <a:prstDash val="solid"/>
            <a:tailEnd type="triangle"/>
          </a:ln>
        </p:spPr>
      </p:sp>
      <p:sp>
        <p:nvSpPr>
          <p:cNvPr id="12" name="Variable alsoTheSameInstance"/>
          <p:cNvSpPr/>
          <p:nvPr/>
        </p:nvSpPr>
        <p:spPr>
          <a:xfrm>
            <a:off x="548640" y="5553202"/>
            <a:ext cx="3200400" cy="420624"/>
          </a:xfrm>
          <a:prstGeom prst="roundRect">
            <a:avLst>
              <a:gd name="adj" fmla="val 17391"/>
            </a:avLst>
          </a:prstGeom>
          <a:solidFill>
            <a:schemeClr val="bg1"/>
          </a:solidFill>
          <a:ln w="15875">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alsoTheSameInstance</a:t>
            </a:r>
            <a:endParaRPr lang="en-IE" sz="1400" dirty="0"/>
          </a:p>
        </p:txBody>
      </p:sp>
      <p:sp>
        <p:nvSpPr>
          <p:cNvPr id="13" name="Connector"/>
          <p:cNvSpPr/>
          <p:nvPr/>
        </p:nvSpPr>
        <p:spPr>
          <a:xfrm flipV="1">
            <a:off x="3794760" y="5233162"/>
            <a:ext cx="1005840" cy="530352"/>
          </a:xfrm>
          <a:prstGeom prst="line">
            <a:avLst/>
          </a:prstGeom>
          <a:noFill/>
          <a:ln w="19050">
            <a:solidFill>
              <a:schemeClr val="accent2"/>
            </a:solidFill>
            <a:prstDash val="solid"/>
            <a:tailEnd type="triangle"/>
          </a:ln>
        </p:spPr>
      </p:sp>
      <p:sp>
        <p:nvSpPr>
          <p:cNvPr id="14" name="The one object"/>
          <p:cNvSpPr/>
          <p:nvPr/>
        </p:nvSpPr>
        <p:spPr>
          <a:xfrm>
            <a:off x="4846320" y="4821682"/>
            <a:ext cx="3108960" cy="822960"/>
          </a:xfrm>
          <a:prstGeom prst="roundRect">
            <a:avLst>
              <a:gd name="adj" fmla="val 13333"/>
            </a:avLst>
          </a:prstGeom>
          <a:solidFill>
            <a:schemeClr val="accent3">
              <a:alpha val="14000"/>
            </a:schemeClr>
          </a:solidFill>
          <a:ln w="22225">
            <a:solidFill>
              <a:schemeClr val="accent3"/>
            </a:solidFill>
          </a:ln>
        </p:spPr>
        <p:txBody>
          <a:bodyPr wrap="square" lIns="1270" tIns="1270" rIns="1270" bIns="1270" rtlCol="0" anchor="ctr"/>
          <a:lstStyle/>
          <a:p>
            <a:pPr algn="ctr" indent="0" marL="0">
              <a:buNone/>
            </a:pPr>
            <a:r>
              <a:rPr lang="en-IE" sz="1600" b="1" dirty="0">
                <a:solidFill>
                  <a:schemeClr val="tx1"/>
                </a:solidFill>
              </a:rPr>
              <a:t>one SingletonExample object</a:t>
            </a:r>
            <a:endParaRPr lang="en-IE" sz="1600" dirty="0"/>
          </a:p>
        </p:txBody>
      </p:sp>
      <p:sp>
        <p:nvSpPr>
          <p:cNvPr id="15" name="Callout"/>
          <p:cNvSpPr/>
          <p:nvPr/>
        </p:nvSpPr>
        <p:spPr>
          <a:xfrm>
            <a:off x="8321040" y="4446778"/>
            <a:ext cx="3322015" cy="1572768"/>
          </a:xfrm>
          <a:prstGeom prst="roundRect">
            <a:avLst>
              <a:gd name="adj" fmla="val 6977"/>
            </a:avLst>
          </a:prstGeom>
          <a:solidFill>
            <a:schemeClr val="accent2">
              <a:alpha val="12000"/>
            </a:schemeClr>
          </a:solidFill>
          <a:ln/>
        </p:spPr>
      </p:sp>
      <p:pic>
        <p:nvPicPr>
          <p:cNvPr id="16" name="Callout icon" descr="Callout icon">    </p:cNvPr>
          <p:cNvPicPr>
            <a:picLocks noChangeAspect="1"/>
          </p:cNvPicPr>
          <p:nvPr/>
        </p:nvPicPr>
        <p:blipFill>
          <a:blip r:embed="rId1"/>
          <a:stretch>
            <a:fillRect/>
          </a:stretch>
        </p:blipFill>
        <p:spPr>
          <a:xfrm>
            <a:off x="8549640" y="4647946"/>
            <a:ext cx="420624" cy="420624"/>
          </a:xfrm>
          <a:prstGeom prst="rect">
            <a:avLst/>
          </a:prstGeom>
        </p:spPr>
      </p:pic>
      <p:sp>
        <p:nvSpPr>
          <p:cNvPr id="17" name="Text 13"/>
          <p:cNvSpPr txBox="1"/>
          <p:nvPr/>
        </p:nvSpPr>
        <p:spPr>
          <a:xfrm>
            <a:off x="9098280" y="4629658"/>
            <a:ext cx="2361895" cy="1207008"/>
          </a:xfrm>
          <a:prstGeom prst="rect">
            <a:avLst/>
          </a:prstGeom>
          <a:noFill/>
          <a:ln/>
        </p:spPr>
        <p:txBody>
          <a:bodyPr wrap="square" lIns="0" tIns="0" rIns="0" bIns="0" rtlCol="0" anchor="ctr"/>
          <a:lstStyle/>
          <a:p>
            <a:pPr indent="0" marL="0">
              <a:buNone/>
            </a:pPr>
            <a:r>
              <a:rPr lang="en-IE" sz="1500" dirty="0">
                <a:solidFill>
                  <a:schemeClr val="tx1"/>
                </a:solidFill>
              </a:rPr>
              <a:t>The first call creates the object. The next calls return the same one.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Getting the instance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07286"/>
            <a:ext cx="6035040" cy="4140708"/>
          </a:xfrm>
          <a:prstGeom prst="roundRect">
            <a:avLst>
              <a:gd name="adj" fmla="val 265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02615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01062"/>
            <a:ext cx="5486400" cy="34457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one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value = </a:t>
            </a:r>
            <a:r>
              <a:rPr lang="en-IE" sz="1350" dirty="0">
                <a:solidFill>
                  <a:srgbClr val="F2C14E"/>
                </a:solidFill>
                <a:latin typeface="Consolas" pitchFamily="34" charset="0"/>
                <a:ea typeface="Consolas" pitchFamily="34" charset="-122"/>
                <a:cs typeface="Consolas" pitchFamily="34" charset="-120"/>
              </a:rPr>
              <a:t>0</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if</a:t>
            </a:r>
            <a:r>
              <a:rPr lang="en-IE" sz="1350" dirty="0">
                <a:solidFill>
                  <a:srgbClr val="E6EBF2"/>
                </a:solidFill>
                <a:latin typeface="Consolas" pitchFamily="34" charset="0"/>
                <a:ea typeface="Consolas" pitchFamily="34" charset="-122"/>
                <a:cs typeface="Consolas" pitchFamily="34" charset="-120"/>
              </a:rPr>
              <a:t> (one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 { one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one;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addOne</a:t>
            </a:r>
            <a:r>
              <a:rPr lang="en-IE" sz="1350" dirty="0">
                <a:solidFill>
                  <a:srgbClr val="E6EBF2"/>
                </a:solidFill>
                <a:latin typeface="Consolas" pitchFamily="34" charset="0"/>
                <a:ea typeface="Consolas" pitchFamily="34" charset="-122"/>
                <a:cs typeface="Consolas" pitchFamily="34" charset="-120"/>
              </a:rPr>
              <a:t>() { value++;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value;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in main:</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a =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b =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a:t>
            </a:r>
            <a:r>
              <a:rPr lang="en-IE" sz="1350" dirty="0">
                <a:solidFill>
                  <a:srgbClr val="C9B0FF"/>
                </a:solidFill>
                <a:latin typeface="Consolas" pitchFamily="34" charset="0"/>
                <a:ea typeface="Consolas" pitchFamily="34" charset="-122"/>
                <a:cs typeface="Consolas" pitchFamily="34" charset="-120"/>
              </a:rPr>
              <a:t>addOne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(b.</a:t>
            </a:r>
            <a:r>
              <a:rPr lang="en-IE" sz="1350" dirty="0">
                <a:solidFill>
                  <a:srgbClr val="C9B0FF"/>
                </a:solidFill>
                <a:latin typeface="Consolas" pitchFamily="34" charset="0"/>
                <a:ea typeface="Consolas" pitchFamily="34" charset="-122"/>
                <a:cs typeface="Consolas" pitchFamily="34" charset="-120"/>
              </a:rPr>
              <a:t>addOne</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1</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2</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3</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Getting the instance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361440"/>
          </a:xfrm>
          <a:prstGeom prst="roundRect">
            <a:avLst>
              <a:gd name="adj" fmla="val 806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95910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a =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creates the object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 b = </a:t>
            </a:r>
            <a:r>
              <a:rPr lang="en-IE" sz="1350" dirty="0">
                <a:solidFill>
                  <a:srgbClr val="6CC4E8"/>
                </a:solidFill>
                <a:latin typeface="Consolas" pitchFamily="34" charset="0"/>
                <a:ea typeface="Consolas" pitchFamily="34" charset="-122"/>
                <a:cs typeface="Consolas" pitchFamily="34" charset="-120"/>
              </a:rPr>
              <a:t>Config</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the same object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a:t>
            </a:r>
            <a:r>
              <a:rPr lang="en-IE" sz="1350" dirty="0">
                <a:solidFill>
                  <a:srgbClr val="C9B0FF"/>
                </a:solidFill>
                <a:latin typeface="Consolas" pitchFamily="34" charset="0"/>
                <a:ea typeface="Consolas" pitchFamily="34" charset="-122"/>
                <a:cs typeface="Consolas" pitchFamily="34" charset="-120"/>
              </a:rPr>
              <a:t>addOne</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value is now 1</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b.</a:t>
            </a:r>
            <a:r>
              <a:rPr lang="en-IE" sz="1350" dirty="0">
                <a:solidFill>
                  <a:srgbClr val="C9B0FF"/>
                </a:solidFill>
                <a:latin typeface="Consolas" pitchFamily="34" charset="0"/>
                <a:ea typeface="Consolas" pitchFamily="34" charset="-122"/>
                <a:cs typeface="Consolas" pitchFamily="34" charset="-120"/>
              </a:rPr>
              <a:t>addOne</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same object: 2</a:t>
            </a:r>
            <a:endParaRPr lang="en-IE" sz="1350" dirty="0"/>
          </a:p>
        </p:txBody>
      </p:sp>
      <p:sp>
        <p:nvSpPr>
          <p:cNvPr id="7" name="Option A"/>
          <p:cNvSpPr/>
          <p:nvPr/>
        </p:nvSpPr>
        <p:spPr>
          <a:xfrm>
            <a:off x="548640" y="3464560"/>
            <a:ext cx="5623560" cy="544322"/>
          </a:xfrm>
          <a:prstGeom prst="roundRect">
            <a:avLst>
              <a:gd name="adj" fmla="val 20159"/>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528568"/>
            <a:ext cx="416306" cy="4163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67282" y="3464560"/>
            <a:ext cx="4576318" cy="5443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1</a:t>
            </a:r>
            <a:endParaRPr lang="en-IE" sz="1500" dirty="0"/>
          </a:p>
        </p:txBody>
      </p:sp>
      <p:sp>
        <p:nvSpPr>
          <p:cNvPr id="10" name="Option B (correct)"/>
          <p:cNvSpPr/>
          <p:nvPr/>
        </p:nvSpPr>
        <p:spPr>
          <a:xfrm>
            <a:off x="548640" y="4155186"/>
            <a:ext cx="5623560" cy="544322"/>
          </a:xfrm>
          <a:prstGeom prst="roundRect">
            <a:avLst>
              <a:gd name="adj" fmla="val 20159"/>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219194"/>
            <a:ext cx="416306" cy="41630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67282" y="4155186"/>
            <a:ext cx="4146550" cy="544322"/>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2</a:t>
            </a:r>
            <a:endParaRPr lang="en-IE" sz="1500" dirty="0"/>
          </a:p>
        </p:txBody>
      </p:sp>
      <p:pic>
        <p:nvPicPr>
          <p:cNvPr id="13" name="Correct mark" descr="Correct mark">    </p:cNvPr>
          <p:cNvPicPr>
            <a:picLocks noChangeAspect="1"/>
          </p:cNvPicPr>
          <p:nvPr/>
        </p:nvPicPr>
        <p:blipFill>
          <a:blip r:embed="rId1"/>
          <a:stretch>
            <a:fillRect/>
          </a:stretch>
        </p:blipFill>
        <p:spPr>
          <a:xfrm>
            <a:off x="5623560" y="4244467"/>
            <a:ext cx="365760" cy="365760"/>
          </a:xfrm>
          <a:prstGeom prst="rect">
            <a:avLst/>
          </a:prstGeom>
        </p:spPr>
      </p:pic>
      <p:sp>
        <p:nvSpPr>
          <p:cNvPr id="14" name="Option C"/>
          <p:cNvSpPr/>
          <p:nvPr/>
        </p:nvSpPr>
        <p:spPr>
          <a:xfrm>
            <a:off x="548640" y="4845812"/>
            <a:ext cx="5623560" cy="544322"/>
          </a:xfrm>
          <a:prstGeom prst="roundRect">
            <a:avLst>
              <a:gd name="adj" fmla="val 20159"/>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909820"/>
            <a:ext cx="416306" cy="4163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67282" y="4845812"/>
            <a:ext cx="4576318" cy="5443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3</a:t>
            </a:r>
            <a:endParaRPr lang="en-IE" sz="1500" dirty="0"/>
          </a:p>
        </p:txBody>
      </p:sp>
      <p:sp>
        <p:nvSpPr>
          <p:cNvPr id="17" name="Option D"/>
          <p:cNvSpPr/>
          <p:nvPr/>
        </p:nvSpPr>
        <p:spPr>
          <a:xfrm>
            <a:off x="548640" y="5536438"/>
            <a:ext cx="5623560" cy="544322"/>
          </a:xfrm>
          <a:prstGeom prst="roundRect">
            <a:avLst>
              <a:gd name="adj" fmla="val 20159"/>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00446"/>
            <a:ext cx="416306" cy="4163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67282" y="5536438"/>
            <a:ext cx="4576318" cy="544322"/>
          </a:xfrm>
          <a:prstGeom prst="rect">
            <a:avLst/>
          </a:prstGeom>
          <a:noFill/>
          <a:ln/>
        </p:spPr>
        <p:txBody>
          <a:bodyPr wrap="square" lIns="0" tIns="0" rIns="0" bIns="0" rtlCol="0" anchor="ctr"/>
          <a:lstStyle/>
          <a:p>
            <a:pPr indent="0" marL="0">
              <a:buNone/>
            </a:pPr>
            <a:r>
              <a:rPr lang="en-IE" sz="1500" dirty="0">
                <a:solidFill>
                  <a:schemeClr val="tx2"/>
                </a:solidFill>
              </a:rPr>
              <a:t>Compile error</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a</a:t>
            </a:r>
            <a:r>
              <a:rPr lang="en-IE" sz="1800" dirty="0">
                <a:solidFill>
                  <a:schemeClr val="tx1"/>
                </a:solidFill>
              </a:rPr>
              <a:t> and </a:t>
            </a:r>
            <a:r>
              <a:rPr lang="en-IE" sz="1800" dirty="0">
                <a:solidFill>
                  <a:schemeClr val="accent2"/>
                </a:solidFill>
                <a:latin typeface="Consolas" pitchFamily="34" charset="0"/>
                <a:ea typeface="Consolas" pitchFamily="34" charset="-122"/>
                <a:cs typeface="Consolas" pitchFamily="34" charset="-120"/>
              </a:rPr>
              <a:t>b</a:t>
            </a:r>
            <a:r>
              <a:rPr lang="en-IE" sz="1800" dirty="0">
                <a:solidFill>
                  <a:schemeClr val="tx1"/>
                </a:solidFill>
              </a:rPr>
              <a:t> refer to the same single Config object, so </a:t>
            </a:r>
            <a:r>
              <a:rPr lang="en-IE" sz="1800" dirty="0">
                <a:solidFill>
                  <a:schemeClr val="accent2"/>
                </a:solidFill>
                <a:latin typeface="Consolas" pitchFamily="34" charset="0"/>
                <a:ea typeface="Consolas" pitchFamily="34" charset="-122"/>
                <a:cs typeface="Consolas" pitchFamily="34" charset="-120"/>
              </a:rPr>
              <a:t>b.addOne()</a:t>
            </a:r>
            <a:r>
              <a:rPr lang="en-IE" sz="1800" dirty="0">
                <a:solidFill>
                  <a:schemeClr val="tx1"/>
                </a:solidFill>
              </a:rPr>
              <a:t> adds to the value that </a:t>
            </a:r>
            <a:r>
              <a:rPr lang="en-IE" sz="1800" dirty="0">
                <a:solidFill>
                  <a:schemeClr val="accent2"/>
                </a:solidFill>
                <a:latin typeface="Consolas" pitchFamily="34" charset="0"/>
                <a:ea typeface="Consolas" pitchFamily="34" charset="-122"/>
                <a:cs typeface="Consolas" pitchFamily="34" charset="-120"/>
              </a:rPr>
              <a:t>a.addOne()</a:t>
            </a:r>
            <a:r>
              <a:rPr lang="en-IE" sz="1800" dirty="0">
                <a:solidFill>
                  <a:schemeClr val="tx1"/>
                </a:solidFill>
              </a:rPr>
              <a:t> already changed, giving 1 and then 2. With two separate objects it would print 1.</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 database singleton</a:t>
            </a:r>
            <a:endParaRPr lang="en-IE" sz="3400" dirty="0"/>
          </a:p>
        </p:txBody>
      </p:sp>
      <p:sp>
        <p:nvSpPr>
          <p:cNvPr id="5" name="Database card"/>
          <p:cNvSpPr/>
          <p:nvPr/>
        </p:nvSpPr>
        <p:spPr>
          <a:xfrm>
            <a:off x="548640" y="1691640"/>
            <a:ext cx="5943600" cy="4140708"/>
          </a:xfrm>
          <a:prstGeom prst="roundRect">
            <a:avLst>
              <a:gd name="adj" fmla="val 2650"/>
            </a:avLst>
          </a:prstGeom>
          <a:solidFill>
            <a:schemeClr val="tx1"/>
          </a:solidFill>
          <a:ln/>
          <a:effectLst>
            <a:outerShdw sx="100000" sy="100000" kx="0" ky="0" algn="bl" rotWithShape="0" blurRad="114300" dist="31750" dir="5400000">
              <a:srgbClr val="1D2433">
                <a:alpha val="12000"/>
              </a:srgbClr>
            </a:outerShdw>
          </a:effectLst>
        </p:spPr>
      </p:sp>
      <p:sp>
        <p:nvSpPr>
          <p:cNvPr id="6" name="Database language"/>
          <p:cNvSpPr txBox="1"/>
          <p:nvPr/>
        </p:nvSpPr>
        <p:spPr>
          <a:xfrm>
            <a:off x="822960" y="1810512"/>
            <a:ext cx="53949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Database text"/>
          <p:cNvSpPr txBox="1"/>
          <p:nvPr/>
        </p:nvSpPr>
        <p:spPr>
          <a:xfrm>
            <a:off x="822960" y="2185416"/>
            <a:ext cx="5394960" cy="34457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Database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Database</a:t>
            </a: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Connection</a:t>
            </a:r>
            <a:r>
              <a:rPr lang="en-IE" sz="1350" dirty="0">
                <a:solidFill>
                  <a:srgbClr val="E6EBF2"/>
                </a:solidFill>
                <a:latin typeface="Consolas" pitchFamily="34" charset="0"/>
                <a:ea typeface="Consolas" pitchFamily="34" charset="-122"/>
                <a:cs typeface="Consolas" pitchFamily="34" charset="-120"/>
              </a:rPr>
              <a:t> connection;</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Database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static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Database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getInstance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if</a:t>
            </a: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null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instance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Database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instance;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void</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connect</a:t>
            </a:r>
            <a:r>
              <a:rPr lang="en-IE" sz="1350" dirty="0">
                <a:solidFill>
                  <a:srgbClr val="E6EBF2"/>
                </a:solidFill>
                <a:latin typeface="Consolas" pitchFamily="34" charset="0"/>
                <a:ea typeface="Consolas" pitchFamily="34" charset="-122"/>
                <a:cs typeface="Consolas" pitchFamily="34" charset="-120"/>
              </a:rPr>
              <a:t>() { ... }   </a:t>
            </a:r>
            <a:r>
              <a:rPr lang="en-IE" sz="1350" i="1" dirty="0">
                <a:solidFill>
                  <a:srgbClr val="A3AEC2"/>
                </a:solidFill>
                <a:latin typeface="Consolas" pitchFamily="34" charset="0"/>
                <a:ea typeface="Consolas" pitchFamily="34" charset="-122"/>
                <a:cs typeface="Consolas" pitchFamily="34" charset="-120"/>
              </a:rPr>
              <a:t>// next slide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Text 5"/>
          <p:cNvSpPr txBox="1"/>
          <p:nvPr/>
        </p:nvSpPr>
        <p:spPr>
          <a:xfrm>
            <a:off x="6812280" y="1783080"/>
            <a:ext cx="4830775" cy="26060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Databases are a typical use, because the whole program should share one connection.</a:t>
            </a:r>
            <a:endParaRPr lang="en-IE" sz="1700" dirty="0"/>
          </a:p>
          <a:p>
            <a:pPr marL="228600" indent="-228600">
              <a:spcAft>
                <a:spcPts val="1000"/>
              </a:spcAft>
              <a:buSzPct val="100000"/>
              <a:buChar char="•"/>
            </a:pPr>
            <a:r>
              <a:rPr lang="en-IE" sz="1700" dirty="0">
                <a:solidFill>
                  <a:schemeClr val="tx1"/>
                </a:solidFill>
              </a:rPr>
              <a:t>The constructor is private, so no other class can create a second Database.</a:t>
            </a:r>
            <a:endParaRPr lang="en-IE" sz="1700" dirty="0"/>
          </a:p>
          <a:p>
            <a:pPr marL="228600" indent="-228600">
              <a:buSzPct val="100000"/>
              <a:buChar char="•"/>
            </a:pPr>
            <a:r>
              <a:rPr lang="en-IE" sz="1700" dirty="0">
                <a:solidFill>
                  <a:schemeClr val="tx1"/>
                </a:solidFill>
              </a:rPr>
              <a:t>Everyone gets the same object from getInstance().</a:t>
            </a:r>
            <a:endParaRPr lang="en-IE" sz="1700" dirty="0"/>
          </a:p>
        </p:txBody>
      </p:sp>
      <p:sp>
        <p:nvSpPr>
          <p:cNvPr id="9" name="Text 6"/>
          <p:cNvSpPr txBox="1"/>
          <p:nvPr/>
        </p:nvSpPr>
        <p:spPr>
          <a:xfrm>
            <a:off x="6812280" y="4434840"/>
            <a:ext cx="2743200" cy="292608"/>
          </a:xfrm>
          <a:prstGeom prst="rect">
            <a:avLst/>
          </a:prstGeom>
          <a:noFill/>
          <a:ln/>
        </p:spPr>
        <p:txBody>
          <a:bodyPr wrap="square" lIns="0" tIns="0" rIns="0" bIns="0" rtlCol="0" anchor="t"/>
          <a:lstStyle/>
          <a:p>
            <a:pPr indent="0" marL="0">
              <a:buNone/>
            </a:pPr>
            <a:r>
              <a:rPr lang="en-IE" sz="1400" b="1" dirty="0">
                <a:solidFill>
                  <a:schemeClr val="tx2"/>
                </a:solidFill>
              </a:rPr>
              <a:t>In main</a:t>
            </a:r>
            <a:endParaRPr lang="en-IE" sz="1400" dirty="0"/>
          </a:p>
        </p:txBody>
      </p:sp>
      <p:sp>
        <p:nvSpPr>
          <p:cNvPr id="10" name="Using it card"/>
          <p:cNvSpPr/>
          <p:nvPr/>
        </p:nvSpPr>
        <p:spPr>
          <a:xfrm>
            <a:off x="6812280" y="4773168"/>
            <a:ext cx="4830775" cy="927100"/>
          </a:xfrm>
          <a:prstGeom prst="roundRect">
            <a:avLst>
              <a:gd name="adj" fmla="val 11836"/>
            </a:avLst>
          </a:prstGeom>
          <a:solidFill>
            <a:schemeClr val="tx1"/>
          </a:solidFill>
          <a:ln/>
          <a:effectLst>
            <a:outerShdw sx="100000" sy="100000" kx="0" ky="0" algn="bl" rotWithShape="0" blurRad="114300" dist="31750" dir="5400000">
              <a:srgbClr val="1D2433">
                <a:alpha val="12000"/>
              </a:srgbClr>
            </a:outerShdw>
          </a:effectLst>
        </p:spPr>
      </p:sp>
      <p:sp>
        <p:nvSpPr>
          <p:cNvPr id="11" name="Using it text"/>
          <p:cNvSpPr txBox="1"/>
          <p:nvPr/>
        </p:nvSpPr>
        <p:spPr>
          <a:xfrm>
            <a:off x="7086600" y="4974336"/>
            <a:ext cx="4282135" cy="52476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Database</a:t>
            </a:r>
            <a:r>
              <a:rPr lang="en-IE" sz="1400" dirty="0">
                <a:solidFill>
                  <a:srgbClr val="E6EBF2"/>
                </a:solidFill>
                <a:latin typeface="Consolas" pitchFamily="34" charset="0"/>
                <a:ea typeface="Consolas" pitchFamily="34" charset="-122"/>
                <a:cs typeface="Consolas" pitchFamily="34" charset="-120"/>
              </a:rPr>
              <a:t> db = </a:t>
            </a:r>
            <a:r>
              <a:rPr lang="en-IE" sz="1400" dirty="0">
                <a:solidFill>
                  <a:srgbClr val="6CC4E8"/>
                </a:solidFill>
                <a:latin typeface="Consolas" pitchFamily="34" charset="0"/>
                <a:ea typeface="Consolas" pitchFamily="34" charset="-122"/>
                <a:cs typeface="Consolas" pitchFamily="34" charset="-120"/>
              </a:rPr>
              <a:t>Database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getInstance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db.</a:t>
            </a:r>
            <a:r>
              <a:rPr lang="en-IE" sz="1400" dirty="0">
                <a:solidFill>
                  <a:srgbClr val="C9B0FF"/>
                </a:solidFill>
                <a:latin typeface="Consolas" pitchFamily="34" charset="0"/>
                <a:ea typeface="Consolas" pitchFamily="34" charset="-122"/>
                <a:cs typeface="Consolas" pitchFamily="34" charset="-120"/>
              </a:rPr>
              <a:t>connect</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Connecting to the database</a:t>
            </a:r>
            <a:endParaRPr lang="en-IE" sz="3400" dirty="0"/>
          </a:p>
        </p:txBody>
      </p:sp>
      <p:sp>
        <p:nvSpPr>
          <p:cNvPr id="5" name="connect card"/>
          <p:cNvSpPr/>
          <p:nvPr/>
        </p:nvSpPr>
        <p:spPr>
          <a:xfrm>
            <a:off x="548640" y="1645920"/>
            <a:ext cx="11094415" cy="2864358"/>
          </a:xfrm>
          <a:prstGeom prst="roundRect">
            <a:avLst>
              <a:gd name="adj" fmla="val 3831"/>
            </a:avLst>
          </a:prstGeom>
          <a:solidFill>
            <a:schemeClr val="tx1"/>
          </a:solidFill>
          <a:ln/>
          <a:effectLst>
            <a:outerShdw sx="100000" sy="100000" kx="0" ky="0" algn="bl" rotWithShape="0" blurRad="114300" dist="31750" dir="5400000">
              <a:srgbClr val="1D2433">
                <a:alpha val="12000"/>
              </a:srgbClr>
            </a:outerShdw>
          </a:effectLst>
        </p:spPr>
      </p:sp>
      <p:sp>
        <p:nvSpPr>
          <p:cNvPr id="6" name="connect language"/>
          <p:cNvSpPr txBox="1"/>
          <p:nvPr/>
        </p:nvSpPr>
        <p:spPr>
          <a:xfrm>
            <a:off x="822960" y="1764792"/>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connect text"/>
          <p:cNvSpPr txBox="1"/>
          <p:nvPr/>
        </p:nvSpPr>
        <p:spPr>
          <a:xfrm>
            <a:off x="822960" y="2139696"/>
            <a:ext cx="10545775" cy="21694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connect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try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connection = </a:t>
            </a:r>
            <a:r>
              <a:rPr lang="en-IE" sz="1400" dirty="0">
                <a:solidFill>
                  <a:srgbClr val="6CC4E8"/>
                </a:solidFill>
                <a:latin typeface="Consolas" pitchFamily="34" charset="0"/>
                <a:ea typeface="Consolas" pitchFamily="34" charset="-122"/>
                <a:cs typeface="Consolas" pitchFamily="34" charset="-120"/>
              </a:rPr>
              <a:t>DriverManager</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getConnection</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A9DB8C"/>
                </a:solidFill>
                <a:latin typeface="Consolas" pitchFamily="34" charset="0"/>
                <a:ea typeface="Consolas" pitchFamily="34" charset="-122"/>
                <a:cs typeface="Consolas" pitchFamily="34" charset="-120"/>
              </a:rPr>
              <a:t>"jdbc:mysql://localhost:3306/sonoo"</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A9DB8C"/>
                </a:solidFill>
                <a:latin typeface="Consolas" pitchFamily="34" charset="0"/>
                <a:ea typeface="Consolas" pitchFamily="34" charset="-122"/>
                <a:cs typeface="Consolas" pitchFamily="34" charset="-120"/>
              </a:rPr>
              <a:t>"root"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A9DB8C"/>
                </a:solidFill>
                <a:latin typeface="Consolas" pitchFamily="34" charset="0"/>
                <a:ea typeface="Consolas" pitchFamily="34" charset="-122"/>
                <a:cs typeface="Consolas" pitchFamily="34" charset="-120"/>
              </a:rPr>
              <a:t>"root"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"You are now connected to the database."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F9F5A"/>
                </a:solidFill>
                <a:latin typeface="Consolas" pitchFamily="34" charset="0"/>
                <a:ea typeface="Consolas" pitchFamily="34" charset="-122"/>
                <a:cs typeface="Consolas" pitchFamily="34" charset="-120"/>
              </a:rPr>
              <a:t>catch</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SQLException</a:t>
            </a:r>
            <a:r>
              <a:rPr lang="en-IE" sz="1400" dirty="0">
                <a:solidFill>
                  <a:srgbClr val="E6EBF2"/>
                </a:solidFill>
                <a:latin typeface="Consolas" pitchFamily="34" charset="0"/>
                <a:ea typeface="Consolas" pitchFamily="34" charset="-122"/>
                <a:cs typeface="Consolas" pitchFamily="34" charset="-120"/>
              </a:rPr>
              <a:t> e)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e.</a:t>
            </a:r>
            <a:r>
              <a:rPr lang="en-IE" sz="1400" dirty="0">
                <a:solidFill>
                  <a:srgbClr val="C9B0FF"/>
                </a:solidFill>
                <a:latin typeface="Consolas" pitchFamily="34" charset="0"/>
                <a:ea typeface="Consolas" pitchFamily="34" charset="-122"/>
                <a:cs typeface="Consolas" pitchFamily="34" charset="-120"/>
              </a:rPr>
              <a:t>printStackTrace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Text 5"/>
          <p:cNvSpPr txBox="1"/>
          <p:nvPr/>
        </p:nvSpPr>
        <p:spPr>
          <a:xfrm>
            <a:off x="548640" y="4784598"/>
            <a:ext cx="2743200" cy="292608"/>
          </a:xfrm>
          <a:prstGeom prst="rect">
            <a:avLst/>
          </a:prstGeom>
          <a:noFill/>
          <a:ln/>
        </p:spPr>
        <p:txBody>
          <a:bodyPr wrap="square" lIns="0" tIns="0" rIns="0" bIns="0" rtlCol="0" anchor="t"/>
          <a:lstStyle/>
          <a:p>
            <a:pPr indent="0" marL="0">
              <a:buNone/>
            </a:pPr>
            <a:r>
              <a:rPr lang="en-IE" sz="1400" b="1" dirty="0">
                <a:solidFill>
                  <a:schemeClr val="tx2"/>
                </a:solidFill>
              </a:rPr>
              <a:t>In main</a:t>
            </a:r>
            <a:endParaRPr lang="en-IE" sz="1400" dirty="0"/>
          </a:p>
        </p:txBody>
      </p:sp>
      <p:sp>
        <p:nvSpPr>
          <p:cNvPr id="9" name="main card"/>
          <p:cNvSpPr/>
          <p:nvPr/>
        </p:nvSpPr>
        <p:spPr>
          <a:xfrm>
            <a:off x="548640" y="5150358"/>
            <a:ext cx="53949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10" name="main text"/>
          <p:cNvSpPr txBox="1"/>
          <p:nvPr/>
        </p:nvSpPr>
        <p:spPr>
          <a:xfrm>
            <a:off x="822960" y="5351526"/>
            <a:ext cx="4846320" cy="55778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Database</a:t>
            </a:r>
            <a:r>
              <a:rPr lang="en-IE" sz="1500" dirty="0">
                <a:solidFill>
                  <a:srgbClr val="E6EBF2"/>
                </a:solidFill>
                <a:latin typeface="Consolas" pitchFamily="34" charset="0"/>
                <a:ea typeface="Consolas" pitchFamily="34" charset="-122"/>
                <a:cs typeface="Consolas" pitchFamily="34" charset="-120"/>
              </a:rPr>
              <a:t> db = </a:t>
            </a:r>
            <a:r>
              <a:rPr lang="en-IE" sz="1500" dirty="0">
                <a:solidFill>
                  <a:srgbClr val="6CC4E8"/>
                </a:solidFill>
                <a:latin typeface="Consolas" pitchFamily="34" charset="0"/>
                <a:ea typeface="Consolas" pitchFamily="34" charset="-122"/>
                <a:cs typeface="Consolas" pitchFamily="34" charset="-120"/>
              </a:rPr>
              <a:t>Database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getInstance</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db.</a:t>
            </a:r>
            <a:r>
              <a:rPr lang="en-IE" sz="1500" dirty="0">
                <a:solidFill>
                  <a:srgbClr val="C9B0FF"/>
                </a:solidFill>
                <a:latin typeface="Consolas" pitchFamily="34" charset="0"/>
                <a:ea typeface="Consolas" pitchFamily="34" charset="-122"/>
                <a:cs typeface="Consolas" pitchFamily="34" charset="-120"/>
              </a:rPr>
              <a:t>connect</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1" name="Output card"/>
          <p:cNvSpPr/>
          <p:nvPr/>
        </p:nvSpPr>
        <p:spPr>
          <a:xfrm>
            <a:off x="6245352" y="5150358"/>
            <a:ext cx="5397703" cy="914400"/>
          </a:xfrm>
          <a:prstGeom prst="roundRect">
            <a:avLst>
              <a:gd name="adj" fmla="val 12000"/>
            </a:avLst>
          </a:prstGeom>
          <a:solidFill>
            <a:schemeClr val="tx1"/>
          </a:solidFill>
          <a:ln/>
          <a:effectLst>
            <a:outerShdw sx="100000" sy="100000" kx="0" ky="0" algn="bl" rotWithShape="0" blurRad="114300" dist="31750" dir="5400000">
              <a:srgbClr val="1D2433">
                <a:alpha val="12000"/>
              </a:srgbClr>
            </a:outerShdw>
          </a:effectLst>
        </p:spPr>
      </p:sp>
      <p:sp>
        <p:nvSpPr>
          <p:cNvPr id="12" name="Text 9"/>
          <p:cNvSpPr txBox="1"/>
          <p:nvPr/>
        </p:nvSpPr>
        <p:spPr>
          <a:xfrm>
            <a:off x="6519672" y="5269230"/>
            <a:ext cx="4849063"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 (with MySQL and its driver)</a:t>
            </a:r>
            <a:endParaRPr lang="en-IE" sz="1050" dirty="0"/>
          </a:p>
        </p:txBody>
      </p:sp>
      <p:sp>
        <p:nvSpPr>
          <p:cNvPr id="13" name="Output text"/>
          <p:cNvSpPr txBox="1"/>
          <p:nvPr/>
        </p:nvSpPr>
        <p:spPr>
          <a:xfrm>
            <a:off x="6519672" y="5607558"/>
            <a:ext cx="4849063" cy="274320"/>
          </a:xfrm>
          <a:prstGeom prst="rect">
            <a:avLst/>
          </a:prstGeom>
          <a:noFill/>
          <a:ln/>
        </p:spPr>
        <p:txBody>
          <a:bodyPr wrap="square" lIns="0" tIns="0" rIns="0" bIns="0" rtlCol="0" anchor="t"/>
          <a:lstStyle/>
          <a:p>
            <a:pPr indent="0" marL="0">
              <a:lnSpc>
                <a:spcPts val="1958"/>
              </a:lnSpc>
              <a:buNone/>
            </a:pPr>
            <a:r>
              <a:rPr lang="en-IE" sz="1450" dirty="0">
                <a:solidFill>
                  <a:srgbClr val="A9DB8C"/>
                </a:solidFill>
                <a:latin typeface="Consolas" pitchFamily="34" charset="0"/>
                <a:ea typeface="Consolas" pitchFamily="34" charset="-122"/>
                <a:cs typeface="Consolas" pitchFamily="34" charset="-120"/>
              </a:rPr>
              <a:t>You are now connected to the database.</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Database singleton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another class, what happens with </a:t>
            </a:r>
            <a:r>
              <a:rPr lang="en-IE" sz="2800" b="1" dirty="0">
                <a:solidFill>
                  <a:schemeClr val="accent2"/>
                </a:solidFill>
                <a:latin typeface="Consolas" pitchFamily="34" charset="0"/>
                <a:ea typeface="Consolas" pitchFamily="34" charset="-122"/>
                <a:cs typeface="Consolas" pitchFamily="34" charset="-120"/>
              </a:rPr>
              <a:t>Database db = new Database()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creates a second Database object for us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gives back the instance that already exists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compiles, but db is left holding null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the constructor is private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38</a:t>
            </a:fld>
            <a:endParaRPr lang="en-I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Database singleton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another class, what happens with </a:t>
            </a:r>
            <a:r>
              <a:rPr lang="en-IE" sz="2000" b="1" dirty="0">
                <a:solidFill>
                  <a:schemeClr val="tx2"/>
                </a:solidFill>
                <a:latin typeface="Consolas" pitchFamily="34" charset="0"/>
                <a:ea typeface="Consolas" pitchFamily="34" charset="-122"/>
                <a:cs typeface="Consolas" pitchFamily="34" charset="-120"/>
              </a:rPr>
              <a:t>Database db = new Database()</a:t>
            </a:r>
            <a:r>
              <a:rPr lang="en-IE" sz="2000" b="1" dirty="0">
                <a:solidFill>
                  <a:schemeClr val="tx2"/>
                </a:solidFill>
              </a:rPr>
              <a: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creates a second Database object for us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gives back the instance that already exists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compiles, but db is left holding null</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the constructor is private</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Database() is private, so only code inside Database can call it. The compiler says “Database() has private access in Database”. Other classes ask for the object with </a:t>
            </a:r>
            <a:r>
              <a:rPr lang="en-IE" sz="1800" dirty="0">
                <a:solidFill>
                  <a:schemeClr val="accent2"/>
                </a:solidFill>
                <a:latin typeface="Consolas" pitchFamily="34" charset="0"/>
                <a:ea typeface="Consolas" pitchFamily="34" charset="-122"/>
                <a:cs typeface="Consolas" pitchFamily="34" charset="-120"/>
              </a:rPr>
              <a:t>Database.getInstance()</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THE SINGLETON PATTERN</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not just a static class?</a:t>
            </a:r>
            <a:endParaRPr lang="en-IE" sz="3400" dirty="0"/>
          </a:p>
        </p:txBody>
      </p:sp>
      <p:sp>
        <p:nvSpPr>
          <p:cNvPr id="5" name="Interfaces"/>
          <p:cNvSpPr/>
          <p:nvPr/>
        </p:nvSpPr>
        <p:spPr>
          <a:xfrm>
            <a:off x="548640" y="1783080"/>
            <a:ext cx="3515258" cy="3063240"/>
          </a:xfrm>
          <a:prstGeom prst="roundRect">
            <a:avLst>
              <a:gd name="adj" fmla="val 358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57400"/>
            <a:ext cx="713232" cy="713232"/>
          </a:xfrm>
          <a:prstGeom prst="roundRect">
            <a:avLst>
              <a:gd name="adj" fmla="val 24000"/>
            </a:avLst>
          </a:prstGeom>
          <a:solidFill>
            <a:schemeClr val="accent2">
              <a:alpha val="14000"/>
            </a:schemeClr>
          </a:solidFill>
          <a:ln/>
        </p:spPr>
      </p:sp>
      <p:pic>
        <p:nvPicPr>
          <p:cNvPr id="7" name="plugs icon" descr="plugs icon">    </p:cNvPr>
          <p:cNvPicPr>
            <a:picLocks noChangeAspect="1"/>
          </p:cNvPicPr>
          <p:nvPr/>
        </p:nvPicPr>
        <p:blipFill>
          <a:blip r:embed="rId1"/>
          <a:stretch>
            <a:fillRect/>
          </a:stretch>
        </p:blipFill>
        <p:spPr>
          <a:xfrm>
            <a:off x="972739" y="2207179"/>
            <a:ext cx="413675" cy="413675"/>
          </a:xfrm>
          <a:prstGeom prst="rect">
            <a:avLst/>
          </a:prstGeom>
        </p:spPr>
      </p:pic>
      <p:sp>
        <p:nvSpPr>
          <p:cNvPr id="8" name="Text 4"/>
          <p:cNvSpPr txBox="1"/>
          <p:nvPr/>
        </p:nvSpPr>
        <p:spPr>
          <a:xfrm>
            <a:off x="822960" y="2880360"/>
            <a:ext cx="2966618" cy="457200"/>
          </a:xfrm>
          <a:prstGeom prst="rect">
            <a:avLst/>
          </a:prstGeom>
          <a:noFill/>
          <a:ln/>
        </p:spPr>
        <p:txBody>
          <a:bodyPr wrap="square" lIns="0" tIns="0" rIns="0" bIns="0" rtlCol="0" anchor="t"/>
          <a:lstStyle/>
          <a:p>
            <a:pPr indent="0" marL="0">
              <a:buNone/>
            </a:pPr>
            <a:r>
              <a:rPr lang="en-IE" sz="2100" b="1" dirty="0">
                <a:solidFill>
                  <a:schemeClr val="tx1"/>
                </a:solidFill>
              </a:rPr>
              <a:t>Interfaces</a:t>
            </a:r>
            <a:endParaRPr lang="en-IE" sz="2100" dirty="0"/>
          </a:p>
        </p:txBody>
      </p:sp>
      <p:sp>
        <p:nvSpPr>
          <p:cNvPr id="9" name="Text 5"/>
          <p:cNvSpPr txBox="1"/>
          <p:nvPr/>
        </p:nvSpPr>
        <p:spPr>
          <a:xfrm>
            <a:off x="822960" y="3392424"/>
            <a:ext cx="2966618" cy="1252728"/>
          </a:xfrm>
          <a:prstGeom prst="rect">
            <a:avLst/>
          </a:prstGeom>
          <a:noFill/>
          <a:ln/>
        </p:spPr>
        <p:txBody>
          <a:bodyPr wrap="square" lIns="0" tIns="0" rIns="0" bIns="0" rtlCol="0" anchor="t"/>
          <a:lstStyle/>
          <a:p>
            <a:pPr indent="0" marL="0">
              <a:buNone/>
            </a:pPr>
            <a:r>
              <a:rPr lang="en-IE" sz="1600" dirty="0">
                <a:solidFill>
                  <a:schemeClr val="tx2"/>
                </a:solidFill>
              </a:rPr>
              <a:t>A singleton is a real object, so its class can implement interfaces. Static methods can’t take part in that.</a:t>
            </a:r>
            <a:endParaRPr lang="en-IE" sz="1600" dirty="0"/>
          </a:p>
        </p:txBody>
      </p:sp>
      <p:sp>
        <p:nvSpPr>
          <p:cNvPr id="10" name="Passed as a reference"/>
          <p:cNvSpPr/>
          <p:nvPr/>
        </p:nvSpPr>
        <p:spPr>
          <a:xfrm>
            <a:off x="4338218" y="1783080"/>
            <a:ext cx="3515258" cy="3063240"/>
          </a:xfrm>
          <a:prstGeom prst="roundRect">
            <a:avLst>
              <a:gd name="adj" fmla="val 3582"/>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4612538" y="2057400"/>
            <a:ext cx="713232" cy="713232"/>
          </a:xfrm>
          <a:prstGeom prst="roundRect">
            <a:avLst>
              <a:gd name="adj" fmla="val 24000"/>
            </a:avLst>
          </a:prstGeom>
          <a:solidFill>
            <a:schemeClr val="accent3">
              <a:alpha val="14000"/>
            </a:schemeClr>
          </a:solidFill>
          <a:ln/>
        </p:spPr>
      </p:sp>
      <p:pic>
        <p:nvPicPr>
          <p:cNvPr id="12" name="share network icon" descr="share network icon">    </p:cNvPr>
          <p:cNvPicPr>
            <a:picLocks noChangeAspect="1"/>
          </p:cNvPicPr>
          <p:nvPr/>
        </p:nvPicPr>
        <p:blipFill>
          <a:blip r:embed="rId2"/>
          <a:stretch>
            <a:fillRect/>
          </a:stretch>
        </p:blipFill>
        <p:spPr>
          <a:xfrm>
            <a:off x="4762317" y="2207179"/>
            <a:ext cx="413675" cy="413675"/>
          </a:xfrm>
          <a:prstGeom prst="rect">
            <a:avLst/>
          </a:prstGeom>
        </p:spPr>
      </p:pic>
      <p:sp>
        <p:nvSpPr>
          <p:cNvPr id="13" name="Text 8"/>
          <p:cNvSpPr txBox="1"/>
          <p:nvPr/>
        </p:nvSpPr>
        <p:spPr>
          <a:xfrm>
            <a:off x="4612538" y="2880360"/>
            <a:ext cx="2966618" cy="457200"/>
          </a:xfrm>
          <a:prstGeom prst="rect">
            <a:avLst/>
          </a:prstGeom>
          <a:noFill/>
          <a:ln/>
        </p:spPr>
        <p:txBody>
          <a:bodyPr wrap="square" lIns="0" tIns="0" rIns="0" bIns="0" rtlCol="0" anchor="t"/>
          <a:lstStyle/>
          <a:p>
            <a:pPr indent="0" marL="0">
              <a:buNone/>
            </a:pPr>
            <a:r>
              <a:rPr lang="en-IE" sz="2100" b="1" dirty="0">
                <a:solidFill>
                  <a:schemeClr val="tx1"/>
                </a:solidFill>
              </a:rPr>
              <a:t>Passed as a reference</a:t>
            </a:r>
            <a:endParaRPr lang="en-IE" sz="2100" dirty="0"/>
          </a:p>
        </p:txBody>
      </p:sp>
      <p:sp>
        <p:nvSpPr>
          <p:cNvPr id="14" name="Text 9"/>
          <p:cNvSpPr txBox="1"/>
          <p:nvPr/>
        </p:nvSpPr>
        <p:spPr>
          <a:xfrm>
            <a:off x="4612538" y="3392424"/>
            <a:ext cx="2966618" cy="1252728"/>
          </a:xfrm>
          <a:prstGeom prst="rect">
            <a:avLst/>
          </a:prstGeom>
          <a:noFill/>
          <a:ln/>
        </p:spPr>
        <p:txBody>
          <a:bodyPr wrap="square" lIns="0" tIns="0" rIns="0" bIns="0" rtlCol="0" anchor="t"/>
          <a:lstStyle/>
          <a:p>
            <a:pPr indent="0" marL="0">
              <a:buNone/>
            </a:pPr>
            <a:r>
              <a:rPr lang="en-IE" sz="1600" dirty="0">
                <a:solidFill>
                  <a:schemeClr val="tx2"/>
                </a:solidFill>
              </a:rPr>
              <a:t>We can hand the one object to a method as a parameter, like any other object.</a:t>
            </a:r>
            <a:endParaRPr lang="en-IE" sz="1600" dirty="0"/>
          </a:p>
        </p:txBody>
      </p:sp>
      <p:sp>
        <p:nvSpPr>
          <p:cNvPr id="15" name="Created when needed"/>
          <p:cNvSpPr/>
          <p:nvPr/>
        </p:nvSpPr>
        <p:spPr>
          <a:xfrm>
            <a:off x="8127797" y="1783080"/>
            <a:ext cx="3515258" cy="3063240"/>
          </a:xfrm>
          <a:prstGeom prst="roundRect">
            <a:avLst>
              <a:gd name="adj" fmla="val 3582"/>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402117" y="2057400"/>
            <a:ext cx="713232" cy="713232"/>
          </a:xfrm>
          <a:prstGeom prst="roundRect">
            <a:avLst>
              <a:gd name="adj" fmla="val 24000"/>
            </a:avLst>
          </a:prstGeom>
          <a:solidFill>
            <a:schemeClr val="accent1">
              <a:alpha val="14000"/>
            </a:schemeClr>
          </a:solidFill>
          <a:ln/>
        </p:spPr>
      </p:sp>
      <p:pic>
        <p:nvPicPr>
          <p:cNvPr id="17" name="arrows clockwise icon" descr="arrows clockwise icon">    </p:cNvPr>
          <p:cNvPicPr>
            <a:picLocks noChangeAspect="1"/>
          </p:cNvPicPr>
          <p:nvPr/>
        </p:nvPicPr>
        <p:blipFill>
          <a:blip r:embed="rId3"/>
          <a:stretch>
            <a:fillRect/>
          </a:stretch>
        </p:blipFill>
        <p:spPr>
          <a:xfrm>
            <a:off x="8551896" y="2207179"/>
            <a:ext cx="413675" cy="413675"/>
          </a:xfrm>
          <a:prstGeom prst="rect">
            <a:avLst/>
          </a:prstGeom>
        </p:spPr>
      </p:pic>
      <p:sp>
        <p:nvSpPr>
          <p:cNvPr id="18" name="Text 12"/>
          <p:cNvSpPr txBox="1"/>
          <p:nvPr/>
        </p:nvSpPr>
        <p:spPr>
          <a:xfrm>
            <a:off x="8402117" y="2880360"/>
            <a:ext cx="2966618" cy="457200"/>
          </a:xfrm>
          <a:prstGeom prst="rect">
            <a:avLst/>
          </a:prstGeom>
          <a:noFill/>
          <a:ln/>
        </p:spPr>
        <p:txBody>
          <a:bodyPr wrap="square" lIns="0" tIns="0" rIns="0" bIns="0" rtlCol="0" anchor="t"/>
          <a:lstStyle/>
          <a:p>
            <a:pPr indent="0" marL="0">
              <a:buNone/>
            </a:pPr>
            <a:r>
              <a:rPr lang="en-IE" sz="2100" b="1" dirty="0">
                <a:solidFill>
                  <a:schemeClr val="tx1"/>
                </a:solidFill>
              </a:rPr>
              <a:t>Created when needed</a:t>
            </a:r>
            <a:endParaRPr lang="en-IE" sz="2100" dirty="0"/>
          </a:p>
        </p:txBody>
      </p:sp>
      <p:sp>
        <p:nvSpPr>
          <p:cNvPr id="19" name="Text 13"/>
          <p:cNvSpPr txBox="1"/>
          <p:nvPr/>
        </p:nvSpPr>
        <p:spPr>
          <a:xfrm>
            <a:off x="8402117" y="3392424"/>
            <a:ext cx="2966618" cy="1252728"/>
          </a:xfrm>
          <a:prstGeom prst="rect">
            <a:avLst/>
          </a:prstGeom>
          <a:noFill/>
          <a:ln/>
        </p:spPr>
        <p:txBody>
          <a:bodyPr wrap="square" lIns="0" tIns="0" rIns="0" bIns="0" rtlCol="0" anchor="t"/>
          <a:lstStyle/>
          <a:p>
            <a:pPr indent="0" marL="0">
              <a:buNone/>
            </a:pPr>
            <a:r>
              <a:rPr lang="en-IE" sz="1600" dirty="0">
                <a:solidFill>
                  <a:schemeClr val="tx2"/>
                </a:solidFill>
              </a:rPr>
              <a:t>It is made on the first getInstance() call. Java has no ‘destroy’, but if instance is set back to null, the garbage collector can remove it.</a:t>
            </a:r>
            <a:endParaRPr lang="en-IE" sz="1600" dirty="0"/>
          </a:p>
        </p:txBody>
      </p:sp>
      <p:sp>
        <p:nvSpPr>
          <p:cNvPr id="20" name="Note"/>
          <p:cNvSpPr/>
          <p:nvPr/>
        </p:nvSpPr>
        <p:spPr>
          <a:xfrm>
            <a:off x="548640" y="5120640"/>
            <a:ext cx="11094415" cy="868680"/>
          </a:xfrm>
          <a:prstGeom prst="roundRect">
            <a:avLst>
              <a:gd name="adj" fmla="val 12632"/>
            </a:avLst>
          </a:prstGeom>
          <a:solidFill>
            <a:schemeClr val="bg2"/>
          </a:solidFill>
          <a:ln/>
        </p:spPr>
      </p:sp>
      <p:sp>
        <p:nvSpPr>
          <p:cNvPr id="21" name="Icon tile"/>
          <p:cNvSpPr/>
          <p:nvPr/>
        </p:nvSpPr>
        <p:spPr>
          <a:xfrm>
            <a:off x="822960" y="5289804"/>
            <a:ext cx="530352" cy="530352"/>
          </a:xfrm>
          <a:prstGeom prst="roundRect">
            <a:avLst>
              <a:gd name="adj" fmla="val 24000"/>
            </a:avLst>
          </a:prstGeom>
          <a:solidFill>
            <a:schemeClr val="accent2">
              <a:alpha val="14000"/>
            </a:schemeClr>
          </a:solidFill>
          <a:ln/>
        </p:spPr>
      </p:sp>
      <p:pic>
        <p:nvPicPr>
          <p:cNvPr id="22" name="info icon" descr="info icon">    </p:cNvPr>
          <p:cNvPicPr>
            <a:picLocks noChangeAspect="1"/>
          </p:cNvPicPr>
          <p:nvPr/>
        </p:nvPicPr>
        <p:blipFill>
          <a:blip r:embed="rId4"/>
          <a:stretch>
            <a:fillRect/>
          </a:stretch>
        </p:blipFill>
        <p:spPr>
          <a:xfrm>
            <a:off x="934334" y="5401178"/>
            <a:ext cx="307604" cy="307604"/>
          </a:xfrm>
          <a:prstGeom prst="rect">
            <a:avLst/>
          </a:prstGeom>
        </p:spPr>
      </p:pic>
      <p:sp>
        <p:nvSpPr>
          <p:cNvPr id="23" name="Text 16"/>
          <p:cNvSpPr txBox="1"/>
          <p:nvPr/>
        </p:nvSpPr>
        <p:spPr>
          <a:xfrm>
            <a:off x="1572768" y="5120640"/>
            <a:ext cx="9814255" cy="868680"/>
          </a:xfrm>
          <a:prstGeom prst="rect">
            <a:avLst/>
          </a:prstGeom>
          <a:noFill/>
          <a:ln/>
        </p:spPr>
        <p:txBody>
          <a:bodyPr wrap="square" lIns="0" tIns="0" rIns="0" bIns="0" rtlCol="0" anchor="ctr"/>
          <a:lstStyle/>
          <a:p>
            <a:pPr indent="0" marL="0">
              <a:buNone/>
            </a:pPr>
            <a:r>
              <a:rPr lang="en-IE" sz="1600" dirty="0">
                <a:solidFill>
                  <a:schemeClr val="tx1"/>
                </a:solidFill>
              </a:rPr>
              <a:t>A “static class” here means a class with only static members, like Math: we use it without creating any object.</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Singleton or static?</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can a singleton do, but a class with only static members can’t?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 used without creating any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Keep data in its variables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Have methods that print text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 passed to a method as an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Singleton or static?</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can a singleton do, but a class with only static members can’t?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Be used without creating any object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Keep data in its variables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Have methods that print text</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Be passed to a method as an object</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singleton is a real object, so we can pass a reference to it to a method, and its class can implement interfaces. Static methods are used without any object (A), and both kinds can hold data and print text.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Enums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A fixed group of named constants</a:t>
            </a:r>
            <a:endParaRPr lang="en-IE" sz="2000" dirty="0"/>
          </a:p>
        </p:txBody>
      </p:sp>
      <p:sp>
        <p:nvSpPr>
          <p:cNvPr id="5" name="Topic chip"/>
          <p:cNvSpPr/>
          <p:nvPr/>
        </p:nvSpPr>
        <p:spPr>
          <a:xfrm>
            <a:off x="822960" y="4846320"/>
            <a:ext cx="7721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enum</a:t>
            </a:r>
            <a:endParaRPr lang="en-IE" sz="1400" dirty="0"/>
          </a:p>
        </p:txBody>
      </p:sp>
      <p:sp>
        <p:nvSpPr>
          <p:cNvPr id="6" name="Topic chip"/>
          <p:cNvSpPr/>
          <p:nvPr/>
        </p:nvSpPr>
        <p:spPr>
          <a:xfrm>
            <a:off x="1741424"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switch</a:t>
            </a:r>
            <a:endParaRPr lang="en-IE" sz="1400" dirty="0"/>
          </a:p>
        </p:txBody>
      </p:sp>
      <p:sp>
        <p:nvSpPr>
          <p:cNvPr id="7" name="Topic chip"/>
          <p:cNvSpPr/>
          <p:nvPr/>
        </p:nvSpPr>
        <p:spPr>
          <a:xfrm>
            <a:off x="2844800"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values()</a:t>
            </a:r>
            <a:endParaRPr lang="en-IE" sz="1400" dirty="0"/>
          </a:p>
        </p:txBody>
      </p:sp>
      <p:sp>
        <p:nvSpPr>
          <p:cNvPr id="8" name="Topic chip"/>
          <p:cNvSpPr/>
          <p:nvPr/>
        </p:nvSpPr>
        <p:spPr>
          <a:xfrm>
            <a:off x="4133088"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ordinal()</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is an enum?</a:t>
            </a:r>
            <a:endParaRPr lang="en-IE" sz="3400" dirty="0"/>
          </a:p>
        </p:txBody>
      </p:sp>
      <p:sp>
        <p:nvSpPr>
          <p:cNvPr id="5" name="Text 2"/>
          <p:cNvSpPr txBox="1"/>
          <p:nvPr/>
        </p:nvSpPr>
        <p:spPr>
          <a:xfrm>
            <a:off x="548640" y="1783080"/>
            <a:ext cx="5120640" cy="31089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An enum is a special class used to represent a group of constant values.</a:t>
            </a:r>
            <a:endParaRPr lang="en-IE" sz="1800" dirty="0"/>
          </a:p>
          <a:p>
            <a:pPr marL="228600" indent="-228600">
              <a:spcAft>
                <a:spcPts val="1200"/>
              </a:spcAft>
              <a:buSzPct val="100000"/>
              <a:buChar char="•"/>
            </a:pPr>
            <a:r>
              <a:rPr lang="en-IE" sz="1800" dirty="0">
                <a:solidFill>
                  <a:schemeClr val="tx1"/>
                </a:solidFill>
              </a:rPr>
              <a:t>It stores a group of related constants, so the code is easy to read.</a:t>
            </a:r>
            <a:endParaRPr lang="en-IE" sz="1800" dirty="0"/>
          </a:p>
          <a:p>
            <a:pPr marL="228600" indent="-228600">
              <a:buSzPct val="100000"/>
              <a:buChar char="•"/>
            </a:pPr>
            <a:r>
              <a:rPr lang="en-IE" sz="1800" dirty="0">
                <a:solidFill>
                  <a:schemeClr val="tx1"/>
                </a:solidFill>
              </a:rPr>
              <a:t>Enums are often used with switch statements, or to represent states.</a:t>
            </a:r>
            <a:endParaRPr lang="en-IE" sz="1800" dirty="0"/>
          </a:p>
        </p:txBody>
      </p:sp>
      <p:sp>
        <p:nvSpPr>
          <p:cNvPr id="6" name="Text 3"/>
          <p:cNvSpPr txBox="1"/>
          <p:nvPr/>
        </p:nvSpPr>
        <p:spPr>
          <a:xfrm>
            <a:off x="6263640" y="1691640"/>
            <a:ext cx="5303520" cy="365760"/>
          </a:xfrm>
          <a:prstGeom prst="rect">
            <a:avLst/>
          </a:prstGeom>
          <a:noFill/>
          <a:ln/>
        </p:spPr>
        <p:txBody>
          <a:bodyPr wrap="square" lIns="0" tIns="0" rIns="0" bIns="0" rtlCol="0" anchor="t"/>
          <a:lstStyle/>
          <a:p>
            <a:pPr indent="0" marL="0">
              <a:buNone/>
            </a:pPr>
            <a:r>
              <a:rPr lang="en-IE" sz="1800" b="1" dirty="0">
                <a:solidFill>
                  <a:schemeClr val="accent2"/>
                </a:solidFill>
                <a:latin typeface="Consolas" pitchFamily="34" charset="0"/>
                <a:ea typeface="Consolas" pitchFamily="34" charset="-122"/>
                <a:cs typeface="Consolas" pitchFamily="34" charset="-120"/>
              </a:rPr>
              <a:t>enum Season</a:t>
            </a:r>
            <a:endParaRPr lang="en-IE" sz="1800" dirty="0"/>
          </a:p>
        </p:txBody>
      </p:sp>
      <p:sp>
        <p:nvSpPr>
          <p:cNvPr id="7" name="Tile SUMMER"/>
          <p:cNvSpPr/>
          <p:nvPr/>
        </p:nvSpPr>
        <p:spPr>
          <a:xfrm>
            <a:off x="6263640" y="2194560"/>
            <a:ext cx="2552548" cy="1188720"/>
          </a:xfrm>
          <a:prstGeom prst="roundRect">
            <a:avLst>
              <a:gd name="adj" fmla="val 9231"/>
            </a:avLst>
          </a:prstGeom>
          <a:solidFill>
            <a:schemeClr val="bg1"/>
          </a:solidFill>
          <a:ln/>
          <a:effectLst>
            <a:outerShdw sx="100000" sy="100000" kx="0" ky="0" algn="bl" rotWithShape="0" blurRad="76200" dist="19050" dir="5400000">
              <a:srgbClr val="1D2433">
                <a:alpha val="8000"/>
              </a:srgbClr>
            </a:outerShdw>
          </a:effectLst>
        </p:spPr>
      </p:sp>
      <p:pic>
        <p:nvPicPr>
          <p:cNvPr id="8" name="SUMMER icon" descr="SUMMER icon">    </p:cNvPr>
          <p:cNvPicPr>
            <a:picLocks noChangeAspect="1"/>
          </p:cNvPicPr>
          <p:nvPr/>
        </p:nvPicPr>
        <p:blipFill>
          <a:blip r:embed="rId1"/>
          <a:stretch>
            <a:fillRect/>
          </a:stretch>
        </p:blipFill>
        <p:spPr>
          <a:xfrm>
            <a:off x="7302170" y="2340864"/>
            <a:ext cx="475488" cy="475488"/>
          </a:xfrm>
          <a:prstGeom prst="rect">
            <a:avLst/>
          </a:prstGeom>
        </p:spPr>
      </p:pic>
      <p:sp>
        <p:nvSpPr>
          <p:cNvPr id="9" name="Text 5"/>
          <p:cNvSpPr txBox="1"/>
          <p:nvPr/>
        </p:nvSpPr>
        <p:spPr>
          <a:xfrm>
            <a:off x="6309360" y="2852928"/>
            <a:ext cx="2461108" cy="292608"/>
          </a:xfrm>
          <a:prstGeom prst="rect">
            <a:avLst/>
          </a:prstGeom>
          <a:noFill/>
          <a:ln/>
        </p:spPr>
        <p:txBody>
          <a:bodyPr wrap="square" lIns="0" tIns="0" rIns="0" bIns="0" rtlCol="0" anchor="ctr"/>
          <a:lstStyle/>
          <a:p>
            <a:pPr algn="ctr" indent="0" marL="0">
              <a:buNone/>
            </a:pPr>
            <a:r>
              <a:rPr lang="en-IE" sz="1600" b="1" dirty="0">
                <a:solidFill>
                  <a:schemeClr val="tx1"/>
                </a:solidFill>
                <a:latin typeface="Consolas" pitchFamily="34" charset="0"/>
                <a:ea typeface="Consolas" pitchFamily="34" charset="-122"/>
                <a:cs typeface="Consolas" pitchFamily="34" charset="-120"/>
              </a:rPr>
              <a:t>SUMMER</a:t>
            </a:r>
            <a:endParaRPr lang="en-IE" sz="1600" dirty="0"/>
          </a:p>
        </p:txBody>
      </p:sp>
      <p:sp>
        <p:nvSpPr>
          <p:cNvPr id="10" name="Tile AUTUMN"/>
          <p:cNvSpPr/>
          <p:nvPr/>
        </p:nvSpPr>
        <p:spPr>
          <a:xfrm>
            <a:off x="9090508" y="2194560"/>
            <a:ext cx="2552548" cy="1188720"/>
          </a:xfrm>
          <a:prstGeom prst="roundRect">
            <a:avLst>
              <a:gd name="adj" fmla="val 9231"/>
            </a:avLst>
          </a:prstGeom>
          <a:solidFill>
            <a:schemeClr val="bg1"/>
          </a:solidFill>
          <a:ln/>
          <a:effectLst>
            <a:outerShdw sx="100000" sy="100000" kx="0" ky="0" algn="bl" rotWithShape="0" blurRad="76200" dist="19050" dir="5400000">
              <a:srgbClr val="1D2433">
                <a:alpha val="8000"/>
              </a:srgbClr>
            </a:outerShdw>
          </a:effectLst>
        </p:spPr>
      </p:sp>
      <p:pic>
        <p:nvPicPr>
          <p:cNvPr id="11" name="AUTUMN icon" descr="AUTUMN icon">    </p:cNvPr>
          <p:cNvPicPr>
            <a:picLocks noChangeAspect="1"/>
          </p:cNvPicPr>
          <p:nvPr/>
        </p:nvPicPr>
        <p:blipFill>
          <a:blip r:embed="rId2"/>
          <a:stretch>
            <a:fillRect/>
          </a:stretch>
        </p:blipFill>
        <p:spPr>
          <a:xfrm>
            <a:off x="10129037" y="2340864"/>
            <a:ext cx="475488" cy="475488"/>
          </a:xfrm>
          <a:prstGeom prst="rect">
            <a:avLst/>
          </a:prstGeom>
        </p:spPr>
      </p:pic>
      <p:sp>
        <p:nvSpPr>
          <p:cNvPr id="12" name="Text 7"/>
          <p:cNvSpPr txBox="1"/>
          <p:nvPr/>
        </p:nvSpPr>
        <p:spPr>
          <a:xfrm>
            <a:off x="9136228" y="2852928"/>
            <a:ext cx="2461108" cy="292608"/>
          </a:xfrm>
          <a:prstGeom prst="rect">
            <a:avLst/>
          </a:prstGeom>
          <a:noFill/>
          <a:ln/>
        </p:spPr>
        <p:txBody>
          <a:bodyPr wrap="square" lIns="0" tIns="0" rIns="0" bIns="0" rtlCol="0" anchor="ctr"/>
          <a:lstStyle/>
          <a:p>
            <a:pPr algn="ctr" indent="0" marL="0">
              <a:buNone/>
            </a:pPr>
            <a:r>
              <a:rPr lang="en-IE" sz="1600" b="1" dirty="0">
                <a:solidFill>
                  <a:schemeClr val="tx1"/>
                </a:solidFill>
                <a:latin typeface="Consolas" pitchFamily="34" charset="0"/>
                <a:ea typeface="Consolas" pitchFamily="34" charset="-122"/>
                <a:cs typeface="Consolas" pitchFamily="34" charset="-120"/>
              </a:rPr>
              <a:t>AUTUMN</a:t>
            </a:r>
            <a:endParaRPr lang="en-IE" sz="1600" dirty="0"/>
          </a:p>
        </p:txBody>
      </p:sp>
      <p:sp>
        <p:nvSpPr>
          <p:cNvPr id="13" name="Tile WINTER"/>
          <p:cNvSpPr/>
          <p:nvPr/>
        </p:nvSpPr>
        <p:spPr>
          <a:xfrm>
            <a:off x="6263640" y="3611880"/>
            <a:ext cx="2552548" cy="1188720"/>
          </a:xfrm>
          <a:prstGeom prst="roundRect">
            <a:avLst>
              <a:gd name="adj" fmla="val 9231"/>
            </a:avLst>
          </a:prstGeom>
          <a:solidFill>
            <a:schemeClr val="bg1"/>
          </a:solidFill>
          <a:ln/>
          <a:effectLst>
            <a:outerShdw sx="100000" sy="100000" kx="0" ky="0" algn="bl" rotWithShape="0" blurRad="76200" dist="19050" dir="5400000">
              <a:srgbClr val="1D2433">
                <a:alpha val="8000"/>
              </a:srgbClr>
            </a:outerShdw>
          </a:effectLst>
        </p:spPr>
      </p:sp>
      <p:pic>
        <p:nvPicPr>
          <p:cNvPr id="14" name="WINTER icon" descr="WINTER icon">    </p:cNvPr>
          <p:cNvPicPr>
            <a:picLocks noChangeAspect="1"/>
          </p:cNvPicPr>
          <p:nvPr/>
        </p:nvPicPr>
        <p:blipFill>
          <a:blip r:embed="rId3"/>
          <a:stretch>
            <a:fillRect/>
          </a:stretch>
        </p:blipFill>
        <p:spPr>
          <a:xfrm>
            <a:off x="7302170" y="3758184"/>
            <a:ext cx="475488" cy="475488"/>
          </a:xfrm>
          <a:prstGeom prst="rect">
            <a:avLst/>
          </a:prstGeom>
        </p:spPr>
      </p:pic>
      <p:sp>
        <p:nvSpPr>
          <p:cNvPr id="15" name="Text 9"/>
          <p:cNvSpPr txBox="1"/>
          <p:nvPr/>
        </p:nvSpPr>
        <p:spPr>
          <a:xfrm>
            <a:off x="6309360" y="4270248"/>
            <a:ext cx="2461108" cy="292608"/>
          </a:xfrm>
          <a:prstGeom prst="rect">
            <a:avLst/>
          </a:prstGeom>
          <a:noFill/>
          <a:ln/>
        </p:spPr>
        <p:txBody>
          <a:bodyPr wrap="square" lIns="0" tIns="0" rIns="0" bIns="0" rtlCol="0" anchor="ctr"/>
          <a:lstStyle/>
          <a:p>
            <a:pPr algn="ctr" indent="0" marL="0">
              <a:buNone/>
            </a:pPr>
            <a:r>
              <a:rPr lang="en-IE" sz="1600" b="1" dirty="0">
                <a:solidFill>
                  <a:schemeClr val="tx1"/>
                </a:solidFill>
                <a:latin typeface="Consolas" pitchFamily="34" charset="0"/>
                <a:ea typeface="Consolas" pitchFamily="34" charset="-122"/>
                <a:cs typeface="Consolas" pitchFamily="34" charset="-120"/>
              </a:rPr>
              <a:t>WINTER</a:t>
            </a:r>
            <a:endParaRPr lang="en-IE" sz="1600" dirty="0"/>
          </a:p>
        </p:txBody>
      </p:sp>
      <p:sp>
        <p:nvSpPr>
          <p:cNvPr id="16" name="Tile SPRING"/>
          <p:cNvSpPr/>
          <p:nvPr/>
        </p:nvSpPr>
        <p:spPr>
          <a:xfrm>
            <a:off x="9090508" y="3611880"/>
            <a:ext cx="2552548" cy="1188720"/>
          </a:xfrm>
          <a:prstGeom prst="roundRect">
            <a:avLst>
              <a:gd name="adj" fmla="val 9231"/>
            </a:avLst>
          </a:prstGeom>
          <a:solidFill>
            <a:schemeClr val="bg1"/>
          </a:solidFill>
          <a:ln/>
          <a:effectLst>
            <a:outerShdw sx="100000" sy="100000" kx="0" ky="0" algn="bl" rotWithShape="0" blurRad="76200" dist="19050" dir="5400000">
              <a:srgbClr val="1D2433">
                <a:alpha val="8000"/>
              </a:srgbClr>
            </a:outerShdw>
          </a:effectLst>
        </p:spPr>
      </p:sp>
      <p:pic>
        <p:nvPicPr>
          <p:cNvPr id="17" name="SPRING icon" descr="SPRING icon">    </p:cNvPr>
          <p:cNvPicPr>
            <a:picLocks noChangeAspect="1"/>
          </p:cNvPicPr>
          <p:nvPr/>
        </p:nvPicPr>
        <p:blipFill>
          <a:blip r:embed="rId4"/>
          <a:stretch>
            <a:fillRect/>
          </a:stretch>
        </p:blipFill>
        <p:spPr>
          <a:xfrm>
            <a:off x="10129037" y="3758184"/>
            <a:ext cx="475488" cy="475488"/>
          </a:xfrm>
          <a:prstGeom prst="rect">
            <a:avLst/>
          </a:prstGeom>
        </p:spPr>
      </p:pic>
      <p:sp>
        <p:nvSpPr>
          <p:cNvPr id="18" name="Text 11"/>
          <p:cNvSpPr txBox="1"/>
          <p:nvPr/>
        </p:nvSpPr>
        <p:spPr>
          <a:xfrm>
            <a:off x="9136228" y="4270248"/>
            <a:ext cx="2461108" cy="292608"/>
          </a:xfrm>
          <a:prstGeom prst="rect">
            <a:avLst/>
          </a:prstGeom>
          <a:noFill/>
          <a:ln/>
        </p:spPr>
        <p:txBody>
          <a:bodyPr wrap="square" lIns="0" tIns="0" rIns="0" bIns="0" rtlCol="0" anchor="ctr"/>
          <a:lstStyle/>
          <a:p>
            <a:pPr algn="ctr" indent="0" marL="0">
              <a:buNone/>
            </a:pPr>
            <a:r>
              <a:rPr lang="en-IE" sz="1600" b="1" dirty="0">
                <a:solidFill>
                  <a:schemeClr val="tx1"/>
                </a:solidFill>
                <a:latin typeface="Consolas" pitchFamily="34" charset="0"/>
                <a:ea typeface="Consolas" pitchFamily="34" charset="-122"/>
                <a:cs typeface="Consolas" pitchFamily="34" charset="-120"/>
              </a:rPr>
              <a:t>SPRING</a:t>
            </a:r>
            <a:endParaRPr lang="en-IE" sz="1600" dirty="0"/>
          </a:p>
        </p:txBody>
      </p:sp>
      <p:sp>
        <p:nvSpPr>
          <p:cNvPr id="19" name="Note"/>
          <p:cNvSpPr/>
          <p:nvPr/>
        </p:nvSpPr>
        <p:spPr>
          <a:xfrm>
            <a:off x="548640" y="5120640"/>
            <a:ext cx="11094415" cy="868680"/>
          </a:xfrm>
          <a:prstGeom prst="roundRect">
            <a:avLst>
              <a:gd name="adj" fmla="val 12632"/>
            </a:avLst>
          </a:prstGeom>
          <a:solidFill>
            <a:schemeClr val="bg2"/>
          </a:solidFill>
          <a:ln/>
        </p:spPr>
      </p:sp>
      <p:sp>
        <p:nvSpPr>
          <p:cNvPr id="20" name="Icon tile"/>
          <p:cNvSpPr/>
          <p:nvPr/>
        </p:nvSpPr>
        <p:spPr>
          <a:xfrm>
            <a:off x="822960" y="5289804"/>
            <a:ext cx="530352" cy="530352"/>
          </a:xfrm>
          <a:prstGeom prst="roundRect">
            <a:avLst>
              <a:gd name="adj" fmla="val 24000"/>
            </a:avLst>
          </a:prstGeom>
          <a:solidFill>
            <a:schemeClr val="accent1">
              <a:alpha val="14000"/>
            </a:schemeClr>
          </a:solidFill>
          <a:ln/>
        </p:spPr>
      </p:sp>
      <p:pic>
        <p:nvPicPr>
          <p:cNvPr id="21" name="traffic signal icon" descr="traffic signal icon">    </p:cNvPr>
          <p:cNvPicPr>
            <a:picLocks noChangeAspect="1"/>
          </p:cNvPicPr>
          <p:nvPr/>
        </p:nvPicPr>
        <p:blipFill>
          <a:blip r:embed="rId5"/>
          <a:stretch>
            <a:fillRect/>
          </a:stretch>
        </p:blipFill>
        <p:spPr>
          <a:xfrm>
            <a:off x="934334" y="5401178"/>
            <a:ext cx="307604" cy="307604"/>
          </a:xfrm>
          <a:prstGeom prst="rect">
            <a:avLst/>
          </a:prstGeom>
        </p:spPr>
      </p:pic>
      <p:sp>
        <p:nvSpPr>
          <p:cNvPr id="22" name="Text 14"/>
          <p:cNvSpPr txBox="1"/>
          <p:nvPr/>
        </p:nvSpPr>
        <p:spPr>
          <a:xfrm>
            <a:off x="1572768" y="5120640"/>
            <a:ext cx="9814255" cy="868680"/>
          </a:xfrm>
          <a:prstGeom prst="rect">
            <a:avLst/>
          </a:prstGeom>
          <a:noFill/>
          <a:ln/>
        </p:spPr>
        <p:txBody>
          <a:bodyPr wrap="square" lIns="0" tIns="0" rIns="0" bIns="0" rtlCol="0" anchor="ctr"/>
          <a:lstStyle/>
          <a:p>
            <a:pPr indent="0" marL="0">
              <a:buNone/>
            </a:pPr>
            <a:r>
              <a:rPr lang="en-IE" sz="1700" dirty="0">
                <a:solidFill>
                  <a:schemeClr val="tx1"/>
                </a:solidFill>
              </a:rPr>
              <a:t>Like a traffic light: it can only ever be RED, AMBER or GREEN.</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the best fit for an enum?</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customer’s email address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total price of an order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four seasons of the year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text that a user types in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the best fit for an enum?</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customer’s email address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total price of an order</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 four seasons of the year</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text that a user types in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enum represents a fixed group of related constants, like SUMMER, AUTUMN, WINTER and SPRING. Email addresses, prices and typed text can take endless different values, so they aren’t a fixed group.</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Enum rules</a:t>
            </a:r>
            <a:endParaRPr lang="en-IE" sz="3400" dirty="0"/>
          </a:p>
        </p:txBody>
      </p:sp>
      <p:sp>
        <p:nvSpPr>
          <p:cNvPr id="5" name="Values are constants"/>
          <p:cNvSpPr/>
          <p:nvPr/>
        </p:nvSpPr>
        <p:spPr>
          <a:xfrm>
            <a:off x="548640" y="1691640"/>
            <a:ext cx="11094415" cy="987552"/>
          </a:xfrm>
          <a:prstGeom prst="roundRect">
            <a:avLst>
              <a:gd name="adj" fmla="val 11111"/>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856232"/>
            <a:ext cx="658368" cy="658368"/>
          </a:xfrm>
          <a:prstGeom prst="roundRect">
            <a:avLst>
              <a:gd name="adj" fmla="val 24000"/>
            </a:avLst>
          </a:prstGeom>
          <a:solidFill>
            <a:schemeClr val="accent2">
              <a:alpha val="14000"/>
            </a:schemeClr>
          </a:solidFill>
          <a:ln/>
        </p:spPr>
      </p:sp>
      <p:pic>
        <p:nvPicPr>
          <p:cNvPr id="7" name="lock simple icon" descr="lock simple icon">    </p:cNvPr>
          <p:cNvPicPr>
            <a:picLocks noChangeAspect="1"/>
          </p:cNvPicPr>
          <p:nvPr/>
        </p:nvPicPr>
        <p:blipFill>
          <a:blip r:embed="rId1"/>
          <a:stretch>
            <a:fillRect/>
          </a:stretch>
        </p:blipFill>
        <p:spPr>
          <a:xfrm>
            <a:off x="961217" y="1994489"/>
            <a:ext cx="381853" cy="381853"/>
          </a:xfrm>
          <a:prstGeom prst="rect">
            <a:avLst/>
          </a:prstGeom>
        </p:spPr>
      </p:pic>
      <p:sp>
        <p:nvSpPr>
          <p:cNvPr id="8" name="Text 4"/>
          <p:cNvSpPr txBox="1"/>
          <p:nvPr/>
        </p:nvSpPr>
        <p:spPr>
          <a:xfrm>
            <a:off x="1737360" y="1874520"/>
            <a:ext cx="4206240" cy="384048"/>
          </a:xfrm>
          <a:prstGeom prst="rect">
            <a:avLst/>
          </a:prstGeom>
          <a:noFill/>
          <a:ln/>
        </p:spPr>
        <p:txBody>
          <a:bodyPr wrap="square" lIns="0" tIns="0" rIns="0" bIns="0" rtlCol="0" anchor="t"/>
          <a:lstStyle/>
          <a:p>
            <a:pPr indent="0" marL="0">
              <a:buNone/>
            </a:pPr>
            <a:r>
              <a:rPr lang="en-IE" sz="1900" b="1" dirty="0">
                <a:solidFill>
                  <a:schemeClr val="tx1"/>
                </a:solidFill>
              </a:rPr>
              <a:t>Values are constants</a:t>
            </a:r>
            <a:endParaRPr lang="en-IE" sz="1900" dirty="0"/>
          </a:p>
        </p:txBody>
      </p:sp>
      <p:sp>
        <p:nvSpPr>
          <p:cNvPr id="9" name="Text 5"/>
          <p:cNvSpPr txBox="1"/>
          <p:nvPr/>
        </p:nvSpPr>
        <p:spPr>
          <a:xfrm>
            <a:off x="1737360" y="2276856"/>
            <a:ext cx="4206240" cy="274320"/>
          </a:xfrm>
          <a:prstGeom prst="rect">
            <a:avLst/>
          </a:prstGeom>
          <a:noFill/>
          <a:ln/>
        </p:spPr>
        <p:txBody>
          <a:bodyPr wrap="square" lIns="0" tIns="0" rIns="0" bIns="0" rtlCol="0" anchor="t"/>
          <a:lstStyle/>
          <a:p>
            <a:pPr indent="0" marL="0">
              <a:buNone/>
            </a:pPr>
            <a:r>
              <a:rPr lang="en-IE" sz="1500" dirty="0">
                <a:solidFill>
                  <a:schemeClr val="tx2"/>
                </a:solidFill>
              </a:rPr>
              <a:t>Public, static and final. Upper case is a habit.</a:t>
            </a:r>
            <a:endParaRPr lang="en-IE" sz="1500" dirty="0"/>
          </a:p>
        </p:txBody>
      </p:sp>
      <p:sp>
        <p:nvSpPr>
          <p:cNvPr id="10" name="Values are constants code card"/>
          <p:cNvSpPr/>
          <p:nvPr/>
        </p:nvSpPr>
        <p:spPr>
          <a:xfrm>
            <a:off x="6172200" y="1839341"/>
            <a:ext cx="4754880" cy="692150"/>
          </a:xfrm>
          <a:prstGeom prst="roundRect">
            <a:avLst>
              <a:gd name="adj" fmla="val 15853"/>
            </a:avLst>
          </a:prstGeom>
          <a:solidFill>
            <a:schemeClr val="tx1"/>
          </a:solidFill>
          <a:ln/>
          <a:effectLst>
            <a:outerShdw sx="100000" sy="100000" kx="0" ky="0" algn="bl" rotWithShape="0" blurRad="114300" dist="31750" dir="5400000">
              <a:srgbClr val="1D2433">
                <a:alpha val="12000"/>
              </a:srgbClr>
            </a:outerShdw>
          </a:effectLst>
        </p:spPr>
      </p:sp>
      <p:sp>
        <p:nvSpPr>
          <p:cNvPr id="11" name="Values are constants code text"/>
          <p:cNvSpPr txBox="1"/>
          <p:nvPr/>
        </p:nvSpPr>
        <p:spPr>
          <a:xfrm>
            <a:off x="6446520" y="2040509"/>
            <a:ext cx="4206240" cy="2898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SUMMER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AUTUMN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WINTER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SPRING</a:t>
            </a:r>
            <a:endParaRPr lang="en-IE" sz="1400" dirty="0"/>
          </a:p>
        </p:txBody>
      </p:sp>
      <p:pic>
        <p:nvPicPr>
          <p:cNvPr id="12" name="Allowed" descr="Allowed">    </p:cNvPr>
          <p:cNvPicPr>
            <a:picLocks noChangeAspect="1"/>
          </p:cNvPicPr>
          <p:nvPr/>
        </p:nvPicPr>
        <p:blipFill>
          <a:blip r:embed="rId2"/>
          <a:stretch>
            <a:fillRect/>
          </a:stretch>
        </p:blipFill>
        <p:spPr>
          <a:xfrm>
            <a:off x="11128248" y="1984248"/>
            <a:ext cx="402336" cy="402336"/>
          </a:xfrm>
          <a:prstGeom prst="rect">
            <a:avLst/>
          </a:prstGeom>
        </p:spPr>
      </p:pic>
      <p:sp>
        <p:nvSpPr>
          <p:cNvPr id="13" name="No objects with new"/>
          <p:cNvSpPr/>
          <p:nvPr/>
        </p:nvSpPr>
        <p:spPr>
          <a:xfrm>
            <a:off x="548640" y="2798064"/>
            <a:ext cx="11094415" cy="987552"/>
          </a:xfrm>
          <a:prstGeom prst="roundRect">
            <a:avLst>
              <a:gd name="adj" fmla="val 11111"/>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822960" y="2962656"/>
            <a:ext cx="658368" cy="658368"/>
          </a:xfrm>
          <a:prstGeom prst="roundRect">
            <a:avLst>
              <a:gd name="adj" fmla="val 24000"/>
            </a:avLst>
          </a:prstGeom>
          <a:solidFill>
            <a:schemeClr val="accent1">
              <a:alpha val="14000"/>
            </a:schemeClr>
          </a:solidFill>
          <a:ln/>
        </p:spPr>
      </p:sp>
      <p:pic>
        <p:nvPicPr>
          <p:cNvPr id="15" name="prohibit icon" descr="prohibit icon">    </p:cNvPr>
          <p:cNvPicPr>
            <a:picLocks noChangeAspect="1"/>
          </p:cNvPicPr>
          <p:nvPr/>
        </p:nvPicPr>
        <p:blipFill>
          <a:blip r:embed="rId3"/>
          <a:stretch>
            <a:fillRect/>
          </a:stretch>
        </p:blipFill>
        <p:spPr>
          <a:xfrm>
            <a:off x="961217" y="3100913"/>
            <a:ext cx="381853" cy="381853"/>
          </a:xfrm>
          <a:prstGeom prst="rect">
            <a:avLst/>
          </a:prstGeom>
        </p:spPr>
      </p:pic>
      <p:sp>
        <p:nvSpPr>
          <p:cNvPr id="16" name="Text 10"/>
          <p:cNvSpPr txBox="1"/>
          <p:nvPr/>
        </p:nvSpPr>
        <p:spPr>
          <a:xfrm>
            <a:off x="1737360" y="2980944"/>
            <a:ext cx="4206240" cy="384048"/>
          </a:xfrm>
          <a:prstGeom prst="rect">
            <a:avLst/>
          </a:prstGeom>
          <a:noFill/>
          <a:ln/>
        </p:spPr>
        <p:txBody>
          <a:bodyPr wrap="square" lIns="0" tIns="0" rIns="0" bIns="0" rtlCol="0" anchor="t"/>
          <a:lstStyle/>
          <a:p>
            <a:pPr indent="0" marL="0">
              <a:buNone/>
            </a:pPr>
            <a:r>
              <a:rPr lang="en-IE" sz="1900" b="1" dirty="0">
                <a:solidFill>
                  <a:schemeClr val="tx1"/>
                </a:solidFill>
              </a:rPr>
              <a:t>No objects with new</a:t>
            </a:r>
            <a:endParaRPr lang="en-IE" sz="1900" dirty="0"/>
          </a:p>
        </p:txBody>
      </p:sp>
      <p:sp>
        <p:nvSpPr>
          <p:cNvPr id="17" name="Text 11"/>
          <p:cNvSpPr txBox="1"/>
          <p:nvPr/>
        </p:nvSpPr>
        <p:spPr>
          <a:xfrm>
            <a:off x="1737360" y="3383280"/>
            <a:ext cx="4206240" cy="274320"/>
          </a:xfrm>
          <a:prstGeom prst="rect">
            <a:avLst/>
          </a:prstGeom>
          <a:noFill/>
          <a:ln/>
        </p:spPr>
        <p:txBody>
          <a:bodyPr wrap="square" lIns="0" tIns="0" rIns="0" bIns="0" rtlCol="0" anchor="t"/>
          <a:lstStyle/>
          <a:p>
            <a:pPr indent="0" marL="0">
              <a:buNone/>
            </a:pPr>
            <a:r>
              <a:rPr lang="en-IE" sz="1500" dirty="0">
                <a:solidFill>
                  <a:schemeClr val="tx2"/>
                </a:solidFill>
              </a:rPr>
              <a:t>The listed values are the only ones.</a:t>
            </a:r>
            <a:endParaRPr lang="en-IE" sz="1500" dirty="0"/>
          </a:p>
        </p:txBody>
      </p:sp>
      <p:sp>
        <p:nvSpPr>
          <p:cNvPr id="18" name="No objects with new code card"/>
          <p:cNvSpPr/>
          <p:nvPr/>
        </p:nvSpPr>
        <p:spPr>
          <a:xfrm>
            <a:off x="6172200" y="2945765"/>
            <a:ext cx="4754880" cy="692150"/>
          </a:xfrm>
          <a:prstGeom prst="roundRect">
            <a:avLst>
              <a:gd name="adj" fmla="val 15853"/>
            </a:avLst>
          </a:prstGeom>
          <a:solidFill>
            <a:schemeClr val="tx1"/>
          </a:solidFill>
          <a:ln/>
          <a:effectLst>
            <a:outerShdw sx="100000" sy="100000" kx="0" ky="0" algn="bl" rotWithShape="0" blurRad="114300" dist="31750" dir="5400000">
              <a:srgbClr val="1D2433">
                <a:alpha val="12000"/>
              </a:srgbClr>
            </a:outerShdw>
          </a:effectLst>
        </p:spPr>
      </p:sp>
      <p:sp>
        <p:nvSpPr>
          <p:cNvPr id="19" name="No objects with new code text"/>
          <p:cNvSpPr txBox="1"/>
          <p:nvPr/>
        </p:nvSpPr>
        <p:spPr>
          <a:xfrm>
            <a:off x="6446520" y="3146933"/>
            <a:ext cx="4206240" cy="2898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 s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pic>
        <p:nvPicPr>
          <p:cNvPr id="20" name="Not allowed" descr="Not allowed">    </p:cNvPr>
          <p:cNvPicPr>
            <a:picLocks noChangeAspect="1"/>
          </p:cNvPicPr>
          <p:nvPr/>
        </p:nvPicPr>
        <p:blipFill>
          <a:blip r:embed="rId4"/>
          <a:stretch>
            <a:fillRect/>
          </a:stretch>
        </p:blipFill>
        <p:spPr>
          <a:xfrm>
            <a:off x="11128248" y="3090672"/>
            <a:ext cx="402336" cy="402336"/>
          </a:xfrm>
          <a:prstGeom prst="rect">
            <a:avLst/>
          </a:prstGeom>
        </p:spPr>
      </p:pic>
      <p:sp>
        <p:nvSpPr>
          <p:cNvPr id="21" name="Can’t extend a class"/>
          <p:cNvSpPr/>
          <p:nvPr/>
        </p:nvSpPr>
        <p:spPr>
          <a:xfrm>
            <a:off x="548640" y="3904488"/>
            <a:ext cx="11094415" cy="987552"/>
          </a:xfrm>
          <a:prstGeom prst="roundRect">
            <a:avLst>
              <a:gd name="adj" fmla="val 11111"/>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22960" y="4069080"/>
            <a:ext cx="658368" cy="658368"/>
          </a:xfrm>
          <a:prstGeom prst="roundRect">
            <a:avLst>
              <a:gd name="adj" fmla="val 24000"/>
            </a:avLst>
          </a:prstGeom>
          <a:solidFill>
            <a:schemeClr val="accent5">
              <a:alpha val="14000"/>
            </a:schemeClr>
          </a:solidFill>
          <a:ln/>
        </p:spPr>
      </p:sp>
      <p:pic>
        <p:nvPicPr>
          <p:cNvPr id="23" name="tree structure icon" descr="tree structure icon">    </p:cNvPr>
          <p:cNvPicPr>
            <a:picLocks noChangeAspect="1"/>
          </p:cNvPicPr>
          <p:nvPr/>
        </p:nvPicPr>
        <p:blipFill>
          <a:blip r:embed="rId5"/>
          <a:stretch>
            <a:fillRect/>
          </a:stretch>
        </p:blipFill>
        <p:spPr>
          <a:xfrm>
            <a:off x="961217" y="4207337"/>
            <a:ext cx="381853" cy="381853"/>
          </a:xfrm>
          <a:prstGeom prst="rect">
            <a:avLst/>
          </a:prstGeom>
        </p:spPr>
      </p:pic>
      <p:sp>
        <p:nvSpPr>
          <p:cNvPr id="24" name="Text 16"/>
          <p:cNvSpPr txBox="1"/>
          <p:nvPr/>
        </p:nvSpPr>
        <p:spPr>
          <a:xfrm>
            <a:off x="1737360" y="4087368"/>
            <a:ext cx="4206240" cy="384048"/>
          </a:xfrm>
          <a:prstGeom prst="rect">
            <a:avLst/>
          </a:prstGeom>
          <a:noFill/>
          <a:ln/>
        </p:spPr>
        <p:txBody>
          <a:bodyPr wrap="square" lIns="0" tIns="0" rIns="0" bIns="0" rtlCol="0" anchor="t"/>
          <a:lstStyle/>
          <a:p>
            <a:pPr indent="0" marL="0">
              <a:buNone/>
            </a:pPr>
            <a:r>
              <a:rPr lang="en-IE" sz="1900" b="1" dirty="0">
                <a:solidFill>
                  <a:schemeClr val="tx1"/>
                </a:solidFill>
              </a:rPr>
              <a:t>Can’t extend a class</a:t>
            </a:r>
            <a:endParaRPr lang="en-IE" sz="1900" dirty="0"/>
          </a:p>
        </p:txBody>
      </p:sp>
      <p:sp>
        <p:nvSpPr>
          <p:cNvPr id="25" name="Text 17"/>
          <p:cNvSpPr txBox="1"/>
          <p:nvPr/>
        </p:nvSpPr>
        <p:spPr>
          <a:xfrm>
            <a:off x="1737360" y="4489704"/>
            <a:ext cx="4206240" cy="274320"/>
          </a:xfrm>
          <a:prstGeom prst="rect">
            <a:avLst/>
          </a:prstGeom>
          <a:noFill/>
          <a:ln/>
        </p:spPr>
        <p:txBody>
          <a:bodyPr wrap="square" lIns="0" tIns="0" rIns="0" bIns="0" rtlCol="0" anchor="t"/>
          <a:lstStyle/>
          <a:p>
            <a:pPr indent="0" marL="0">
              <a:buNone/>
            </a:pPr>
            <a:r>
              <a:rPr lang="en-IE" sz="1500" dirty="0">
                <a:solidFill>
                  <a:schemeClr val="tx2"/>
                </a:solidFill>
              </a:rPr>
              <a:t>An enum already has a parent of its own.</a:t>
            </a:r>
            <a:endParaRPr lang="en-IE" sz="1500" dirty="0"/>
          </a:p>
        </p:txBody>
      </p:sp>
      <p:sp>
        <p:nvSpPr>
          <p:cNvPr id="26" name="Can’t extend a class code card"/>
          <p:cNvSpPr/>
          <p:nvPr/>
        </p:nvSpPr>
        <p:spPr>
          <a:xfrm>
            <a:off x="6172200" y="4052189"/>
            <a:ext cx="4754880" cy="692150"/>
          </a:xfrm>
          <a:prstGeom prst="roundRect">
            <a:avLst>
              <a:gd name="adj" fmla="val 15853"/>
            </a:avLst>
          </a:prstGeom>
          <a:solidFill>
            <a:schemeClr val="tx1"/>
          </a:solidFill>
          <a:ln/>
          <a:effectLst>
            <a:outerShdw sx="100000" sy="100000" kx="0" ky="0" algn="bl" rotWithShape="0" blurRad="114300" dist="31750" dir="5400000">
              <a:srgbClr val="1D2433">
                <a:alpha val="12000"/>
              </a:srgbClr>
            </a:outerShdw>
          </a:effectLst>
        </p:spPr>
      </p:sp>
      <p:sp>
        <p:nvSpPr>
          <p:cNvPr id="27" name="Can’t extend a class code text"/>
          <p:cNvSpPr txBox="1"/>
          <p:nvPr/>
        </p:nvSpPr>
        <p:spPr>
          <a:xfrm>
            <a:off x="6446520" y="4253357"/>
            <a:ext cx="4206240" cy="2898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enum</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extends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Weather</a:t>
            </a:r>
            <a:r>
              <a:rPr lang="en-IE" sz="1400" dirty="0">
                <a:solidFill>
                  <a:srgbClr val="E6EBF2"/>
                </a:solidFill>
                <a:latin typeface="Consolas" pitchFamily="34" charset="0"/>
                <a:ea typeface="Consolas" pitchFamily="34" charset="-122"/>
                <a:cs typeface="Consolas" pitchFamily="34" charset="-120"/>
              </a:rPr>
              <a:t> { ... }</a:t>
            </a:r>
            <a:endParaRPr lang="en-IE" sz="1400" dirty="0"/>
          </a:p>
        </p:txBody>
      </p:sp>
      <p:pic>
        <p:nvPicPr>
          <p:cNvPr id="28" name="Not allowed" descr="Not allowed">    </p:cNvPr>
          <p:cNvPicPr>
            <a:picLocks noChangeAspect="1"/>
          </p:cNvPicPr>
          <p:nvPr/>
        </p:nvPicPr>
        <p:blipFill>
          <a:blip r:embed="rId6"/>
          <a:stretch>
            <a:fillRect/>
          </a:stretch>
        </p:blipFill>
        <p:spPr>
          <a:xfrm>
            <a:off x="11128248" y="4197096"/>
            <a:ext cx="402336" cy="402336"/>
          </a:xfrm>
          <a:prstGeom prst="rect">
            <a:avLst/>
          </a:prstGeom>
        </p:spPr>
      </p:pic>
      <p:sp>
        <p:nvSpPr>
          <p:cNvPr id="29" name="Can implement interfaces"/>
          <p:cNvSpPr/>
          <p:nvPr/>
        </p:nvSpPr>
        <p:spPr>
          <a:xfrm>
            <a:off x="548640" y="5010912"/>
            <a:ext cx="11094415" cy="987552"/>
          </a:xfrm>
          <a:prstGeom prst="roundRect">
            <a:avLst>
              <a:gd name="adj" fmla="val 11111"/>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822960" y="5175504"/>
            <a:ext cx="658368" cy="658368"/>
          </a:xfrm>
          <a:prstGeom prst="roundRect">
            <a:avLst>
              <a:gd name="adj" fmla="val 24000"/>
            </a:avLst>
          </a:prstGeom>
          <a:solidFill>
            <a:schemeClr val="accent3">
              <a:alpha val="14000"/>
            </a:schemeClr>
          </a:solidFill>
          <a:ln/>
        </p:spPr>
      </p:sp>
      <p:pic>
        <p:nvPicPr>
          <p:cNvPr id="31" name="plugs icon" descr="plugs icon">    </p:cNvPr>
          <p:cNvPicPr>
            <a:picLocks noChangeAspect="1"/>
          </p:cNvPicPr>
          <p:nvPr/>
        </p:nvPicPr>
        <p:blipFill>
          <a:blip r:embed="rId7"/>
          <a:stretch>
            <a:fillRect/>
          </a:stretch>
        </p:blipFill>
        <p:spPr>
          <a:xfrm>
            <a:off x="961217" y="5313761"/>
            <a:ext cx="381853" cy="381853"/>
          </a:xfrm>
          <a:prstGeom prst="rect">
            <a:avLst/>
          </a:prstGeom>
        </p:spPr>
      </p:pic>
      <p:sp>
        <p:nvSpPr>
          <p:cNvPr id="32" name="Text 22"/>
          <p:cNvSpPr txBox="1"/>
          <p:nvPr/>
        </p:nvSpPr>
        <p:spPr>
          <a:xfrm>
            <a:off x="1737360" y="5193792"/>
            <a:ext cx="4206240" cy="384048"/>
          </a:xfrm>
          <a:prstGeom prst="rect">
            <a:avLst/>
          </a:prstGeom>
          <a:noFill/>
          <a:ln/>
        </p:spPr>
        <p:txBody>
          <a:bodyPr wrap="square" lIns="0" tIns="0" rIns="0" bIns="0" rtlCol="0" anchor="t"/>
          <a:lstStyle/>
          <a:p>
            <a:pPr indent="0" marL="0">
              <a:buNone/>
            </a:pPr>
            <a:r>
              <a:rPr lang="en-IE" sz="1900" b="1" dirty="0">
                <a:solidFill>
                  <a:schemeClr val="tx1"/>
                </a:solidFill>
              </a:rPr>
              <a:t>Can implement interfaces</a:t>
            </a:r>
            <a:endParaRPr lang="en-IE" sz="1900" dirty="0"/>
          </a:p>
        </p:txBody>
      </p:sp>
      <p:sp>
        <p:nvSpPr>
          <p:cNvPr id="33" name="Text 23"/>
          <p:cNvSpPr txBox="1"/>
          <p:nvPr/>
        </p:nvSpPr>
        <p:spPr>
          <a:xfrm>
            <a:off x="1737360" y="5596128"/>
            <a:ext cx="4206240" cy="274320"/>
          </a:xfrm>
          <a:prstGeom prst="rect">
            <a:avLst/>
          </a:prstGeom>
          <a:noFill/>
          <a:ln/>
        </p:spPr>
        <p:txBody>
          <a:bodyPr wrap="square" lIns="0" tIns="0" rIns="0" bIns="0" rtlCol="0" anchor="t"/>
          <a:lstStyle/>
          <a:p>
            <a:pPr indent="0" marL="0">
              <a:buNone/>
            </a:pPr>
            <a:r>
              <a:rPr lang="en-IE" sz="1500" dirty="0">
                <a:solidFill>
                  <a:schemeClr val="tx2"/>
                </a:solidFill>
              </a:rPr>
              <a:t>Just like a class can.</a:t>
            </a:r>
            <a:endParaRPr lang="en-IE" sz="1500" dirty="0"/>
          </a:p>
        </p:txBody>
      </p:sp>
      <p:sp>
        <p:nvSpPr>
          <p:cNvPr id="34" name="Can implement interfaces code card"/>
          <p:cNvSpPr/>
          <p:nvPr/>
        </p:nvSpPr>
        <p:spPr>
          <a:xfrm>
            <a:off x="6172200" y="5158613"/>
            <a:ext cx="4754880" cy="683260"/>
          </a:xfrm>
          <a:prstGeom prst="roundRect">
            <a:avLst>
              <a:gd name="adj" fmla="val 16059"/>
            </a:avLst>
          </a:prstGeom>
          <a:solidFill>
            <a:schemeClr val="tx1"/>
          </a:solidFill>
          <a:ln/>
          <a:effectLst>
            <a:outerShdw sx="100000" sy="100000" kx="0" ky="0" algn="bl" rotWithShape="0" blurRad="114300" dist="31750" dir="5400000">
              <a:srgbClr val="1D2433">
                <a:alpha val="12000"/>
              </a:srgbClr>
            </a:outerShdw>
          </a:effectLst>
        </p:spPr>
      </p:sp>
      <p:sp>
        <p:nvSpPr>
          <p:cNvPr id="35" name="Can implement interfaces code text"/>
          <p:cNvSpPr txBox="1"/>
          <p:nvPr/>
        </p:nvSpPr>
        <p:spPr>
          <a:xfrm>
            <a:off x="6446520" y="5359781"/>
            <a:ext cx="4206240" cy="2809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enum</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Level</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implements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Printable</a:t>
            </a:r>
            <a:r>
              <a:rPr lang="en-IE" sz="1350" dirty="0">
                <a:solidFill>
                  <a:srgbClr val="E6EBF2"/>
                </a:solidFill>
                <a:latin typeface="Consolas" pitchFamily="34" charset="0"/>
                <a:ea typeface="Consolas" pitchFamily="34" charset="-122"/>
                <a:cs typeface="Consolas" pitchFamily="34" charset="-120"/>
              </a:rPr>
              <a:t> { ... }</a:t>
            </a:r>
            <a:endParaRPr lang="en-IE" sz="1350" dirty="0"/>
          </a:p>
        </p:txBody>
      </p:sp>
      <p:pic>
        <p:nvPicPr>
          <p:cNvPr id="36" name="Allowed" descr="Allowed">    </p:cNvPr>
          <p:cNvPicPr>
            <a:picLocks noChangeAspect="1"/>
          </p:cNvPicPr>
          <p:nvPr/>
        </p:nvPicPr>
        <p:blipFill>
          <a:blip r:embed="rId8"/>
          <a:stretch>
            <a:fillRect/>
          </a:stretch>
        </p:blipFill>
        <p:spPr>
          <a:xfrm>
            <a:off x="11128248" y="5303520"/>
            <a:ext cx="402336" cy="402336"/>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 rules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happens when this code is compiled?</a:t>
            </a:r>
            <a:endParaRPr lang="en-IE" sz="2800" dirty="0"/>
          </a:p>
        </p:txBody>
      </p:sp>
      <p:sp>
        <p:nvSpPr>
          <p:cNvPr id="5" name="Question code card"/>
          <p:cNvSpPr/>
          <p:nvPr/>
        </p:nvSpPr>
        <p:spPr>
          <a:xfrm>
            <a:off x="548640" y="1965960"/>
            <a:ext cx="11094415" cy="1666240"/>
          </a:xfrm>
          <a:prstGeom prst="roundRect">
            <a:avLst>
              <a:gd name="adj" fmla="val 658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263904"/>
          </a:xfrm>
          <a:prstGeom prst="rect">
            <a:avLst/>
          </a:prstGeom>
          <a:noFill/>
          <a:ln/>
        </p:spPr>
        <p:txBody>
          <a:bodyPr wrap="square" lIns="0" tIns="0" rIns="0" bIns="0" rtlCol="0" anchor="t"/>
          <a:lstStyle/>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enum</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Level</a:t>
            </a:r>
            <a:r>
              <a:rPr lang="en-IE" sz="1800" dirty="0">
                <a:solidFill>
                  <a:srgbClr val="E6EBF2"/>
                </a:solidFill>
                <a:latin typeface="Consolas" pitchFamily="34" charset="0"/>
                <a:ea typeface="Consolas" pitchFamily="34" charset="-122"/>
                <a:cs typeface="Consolas" pitchFamily="34" charset="-120"/>
              </a:rPr>
              <a:t> { </a:t>
            </a:r>
            <a:r>
              <a:rPr lang="en-IE" sz="1800" dirty="0">
                <a:solidFill>
                  <a:srgbClr val="6CC4E8"/>
                </a:solidFill>
                <a:latin typeface="Consolas" pitchFamily="34" charset="0"/>
                <a:ea typeface="Consolas" pitchFamily="34" charset="-122"/>
                <a:cs typeface="Consolas" pitchFamily="34" charset="-120"/>
              </a:rPr>
              <a:t>LOW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HIGH</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i="1" dirty="0">
                <a:solidFill>
                  <a:srgbClr val="A3AEC2"/>
                </a:solidFill>
                <a:latin typeface="Consolas" pitchFamily="34" charset="0"/>
                <a:ea typeface="Consolas" pitchFamily="34" charset="-122"/>
                <a:cs typeface="Consolas" pitchFamily="34" charset="-120"/>
              </a:rPr>
              <a:t>// in main:</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Level</a:t>
            </a:r>
            <a:r>
              <a:rPr lang="en-IE" sz="1800" dirty="0">
                <a:solidFill>
                  <a:srgbClr val="E6EBF2"/>
                </a:solidFill>
                <a:latin typeface="Consolas" pitchFamily="34" charset="0"/>
                <a:ea typeface="Consolas" pitchFamily="34" charset="-122"/>
                <a:cs typeface="Consolas" pitchFamily="34" charset="-120"/>
              </a:rPr>
              <a:t> a = </a:t>
            </a:r>
            <a:r>
              <a:rPr lang="en-IE" sz="1800" dirty="0">
                <a:solidFill>
                  <a:srgbClr val="FF9F5A"/>
                </a:solidFill>
                <a:latin typeface="Consolas" pitchFamily="34" charset="0"/>
                <a:ea typeface="Consolas" pitchFamily="34" charset="-122"/>
                <a:cs typeface="Consolas" pitchFamily="34" charset="-120"/>
              </a:rPr>
              <a:t>new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Level</a:t>
            </a: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7" name="Option A"/>
          <p:cNvSpPr/>
          <p:nvPr/>
        </p:nvSpPr>
        <p:spPr>
          <a:xfrm>
            <a:off x="548640" y="39522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1488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99796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creates a third Level value</a:t>
            </a:r>
            <a:endParaRPr lang="en-IE" sz="2000" dirty="0"/>
          </a:p>
        </p:txBody>
      </p:sp>
      <p:sp>
        <p:nvSpPr>
          <p:cNvPr id="10" name="Option B"/>
          <p:cNvSpPr/>
          <p:nvPr/>
        </p:nvSpPr>
        <p:spPr>
          <a:xfrm>
            <a:off x="6233008" y="39522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41488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99796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compiles, and a is set to null</a:t>
            </a:r>
            <a:endParaRPr lang="en-IE" sz="2000" dirty="0"/>
          </a:p>
        </p:txBody>
      </p:sp>
      <p:sp>
        <p:nvSpPr>
          <p:cNvPr id="13" name="Option C"/>
          <p:cNvSpPr/>
          <p:nvPr/>
        </p:nvSpPr>
        <p:spPr>
          <a:xfrm>
            <a:off x="548640" y="51409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3375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5186680"/>
            <a:ext cx="4038448" cy="868680"/>
          </a:xfrm>
          <a:prstGeom prst="rect">
            <a:avLst/>
          </a:prstGeom>
          <a:noFill/>
          <a:ln/>
        </p:spPr>
        <p:txBody>
          <a:bodyPr wrap="square" lIns="0" tIns="0" rIns="0" bIns="0" rtlCol="0" anchor="ctr"/>
          <a:lstStyle/>
          <a:p>
            <a:pPr indent="0" marL="0">
              <a:buNone/>
            </a:pPr>
            <a:r>
              <a:rPr lang="en-IE" sz="2000" dirty="0">
                <a:solidFill>
                  <a:schemeClr val="tx1"/>
                </a:solidFill>
              </a:rPr>
              <a:t>It fails only when the program runs</a:t>
            </a:r>
            <a:endParaRPr lang="en-IE" sz="2000" dirty="0"/>
          </a:p>
        </p:txBody>
      </p:sp>
      <p:sp>
        <p:nvSpPr>
          <p:cNvPr id="16" name="Option D"/>
          <p:cNvSpPr/>
          <p:nvPr/>
        </p:nvSpPr>
        <p:spPr>
          <a:xfrm>
            <a:off x="6233008" y="51409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3375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5186680"/>
            <a:ext cx="4038448" cy="868680"/>
          </a:xfrm>
          <a:prstGeom prst="rect">
            <a:avLst/>
          </a:prstGeom>
          <a:noFill/>
          <a:ln/>
        </p:spPr>
        <p:txBody>
          <a:bodyPr wrap="square" lIns="0" tIns="0" rIns="0" bIns="0" rtlCol="0" anchor="ctr"/>
          <a:lstStyle/>
          <a:p>
            <a:pPr indent="0" marL="0">
              <a:buNone/>
            </a:pPr>
            <a:r>
              <a:rPr lang="en-IE" sz="2000" dirty="0">
                <a:solidFill>
                  <a:schemeClr val="tx1"/>
                </a:solidFill>
              </a:rPr>
              <a:t>Compile error: enums can’t use new</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 rules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happens when this code is compiled?</a:t>
            </a:r>
            <a:endParaRPr lang="en-IE" sz="2000" dirty="0"/>
          </a:p>
        </p:txBody>
      </p:sp>
      <p:sp>
        <p:nvSpPr>
          <p:cNvPr id="5" name="Answer code card"/>
          <p:cNvSpPr/>
          <p:nvPr/>
        </p:nvSpPr>
        <p:spPr>
          <a:xfrm>
            <a:off x="548640" y="1874520"/>
            <a:ext cx="56235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5778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Level</a:t>
            </a:r>
            <a:r>
              <a:rPr lang="en-IE" sz="1500" dirty="0">
                <a:solidFill>
                  <a:srgbClr val="E6EBF2"/>
                </a:solidFill>
                <a:latin typeface="Consolas" pitchFamily="34" charset="0"/>
                <a:ea typeface="Consolas" pitchFamily="34" charset="-122"/>
                <a:cs typeface="Consolas" pitchFamily="34" charset="-120"/>
              </a:rPr>
              <a:t> a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Level</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compile error</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Level</a:t>
            </a:r>
            <a:r>
              <a:rPr lang="en-IE" sz="1500" dirty="0">
                <a:solidFill>
                  <a:srgbClr val="E6EBF2"/>
                </a:solidFill>
                <a:latin typeface="Consolas" pitchFamily="34" charset="0"/>
                <a:ea typeface="Consolas" pitchFamily="34" charset="-122"/>
                <a:cs typeface="Consolas" pitchFamily="34" charset="-120"/>
              </a:rPr>
              <a:t> b = </a:t>
            </a:r>
            <a:r>
              <a:rPr lang="en-IE" sz="1500" dirty="0">
                <a:solidFill>
                  <a:srgbClr val="6CC4E8"/>
                </a:solidFill>
                <a:latin typeface="Consolas" pitchFamily="34" charset="0"/>
                <a:ea typeface="Consolas" pitchFamily="34" charset="-122"/>
                <a:cs typeface="Consolas" pitchFamily="34" charset="-120"/>
              </a:rPr>
              <a:t>Level</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LOW</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the right way</a:t>
            </a:r>
            <a:endParaRPr lang="en-IE" sz="1500" dirty="0"/>
          </a:p>
        </p:txBody>
      </p:sp>
      <p:sp>
        <p:nvSpPr>
          <p:cNvPr id="7" name="Option A"/>
          <p:cNvSpPr/>
          <p:nvPr/>
        </p:nvSpPr>
        <p:spPr>
          <a:xfrm>
            <a:off x="548640" y="3063240"/>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7525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063240"/>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creates a third Level value</a:t>
            </a:r>
            <a:endParaRPr lang="en-IE" sz="1700" dirty="0"/>
          </a:p>
        </p:txBody>
      </p:sp>
      <p:sp>
        <p:nvSpPr>
          <p:cNvPr id="10" name="Option B"/>
          <p:cNvSpPr/>
          <p:nvPr/>
        </p:nvSpPr>
        <p:spPr>
          <a:xfrm>
            <a:off x="548640" y="3854196"/>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96621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3854196"/>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compiles, and a is set to null</a:t>
            </a:r>
            <a:endParaRPr lang="en-IE" sz="1700" dirty="0"/>
          </a:p>
        </p:txBody>
      </p:sp>
      <p:sp>
        <p:nvSpPr>
          <p:cNvPr id="13" name="Option C"/>
          <p:cNvSpPr/>
          <p:nvPr/>
        </p:nvSpPr>
        <p:spPr>
          <a:xfrm>
            <a:off x="548640" y="4645152"/>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75716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5" name="Option C text"/>
          <p:cNvSpPr txBox="1"/>
          <p:nvPr/>
        </p:nvSpPr>
        <p:spPr>
          <a:xfrm>
            <a:off x="1371600" y="4645152"/>
            <a:ext cx="4572000" cy="644652"/>
          </a:xfrm>
          <a:prstGeom prst="rect">
            <a:avLst/>
          </a:prstGeom>
          <a:noFill/>
          <a:ln/>
        </p:spPr>
        <p:txBody>
          <a:bodyPr wrap="square" lIns="0" tIns="0" rIns="0" bIns="0" rtlCol="0" anchor="ctr"/>
          <a:lstStyle/>
          <a:p>
            <a:pPr indent="0" marL="0">
              <a:buNone/>
            </a:pPr>
            <a:r>
              <a:rPr lang="en-IE" sz="1700" dirty="0">
                <a:solidFill>
                  <a:schemeClr val="tx2"/>
                </a:solidFill>
              </a:rPr>
              <a:t>It fails only when the program runs</a:t>
            </a:r>
            <a:endParaRPr lang="en-IE" sz="1700" dirty="0"/>
          </a:p>
        </p:txBody>
      </p:sp>
      <p:sp>
        <p:nvSpPr>
          <p:cNvPr id="16" name="Option D (correct)"/>
          <p:cNvSpPr/>
          <p:nvPr/>
        </p:nvSpPr>
        <p:spPr>
          <a:xfrm>
            <a:off x="548640" y="5436108"/>
            <a:ext cx="5623560" cy="644652"/>
          </a:xfrm>
          <a:prstGeom prst="roundRect">
            <a:avLst>
              <a:gd name="adj" fmla="val 17021"/>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4812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8" name="Option D text"/>
          <p:cNvSpPr txBox="1"/>
          <p:nvPr/>
        </p:nvSpPr>
        <p:spPr>
          <a:xfrm>
            <a:off x="1371600" y="5436108"/>
            <a:ext cx="4142232" cy="644652"/>
          </a:xfrm>
          <a:prstGeom prst="rect">
            <a:avLst/>
          </a:prstGeom>
          <a:noFill/>
          <a:ln/>
        </p:spPr>
        <p:txBody>
          <a:bodyPr wrap="square" lIns="0" tIns="0" rIns="0" bIns="0" rtlCol="0" anchor="ctr"/>
          <a:lstStyle/>
          <a:p>
            <a:pPr indent="0" marL="0">
              <a:buNone/>
            </a:pPr>
            <a:r>
              <a:rPr lang="en-IE" sz="1700" b="1" dirty="0">
                <a:solidFill>
                  <a:schemeClr val="bg1"/>
                </a:solidFill>
              </a:rPr>
              <a:t>Compile error: enums can’t use new</a:t>
            </a:r>
            <a:endParaRPr lang="en-IE" sz="1700" dirty="0"/>
          </a:p>
        </p:txBody>
      </p:sp>
      <p:pic>
        <p:nvPicPr>
          <p:cNvPr id="19" name="Correct mark" descr="Correct mark">    </p:cNvPr>
          <p:cNvPicPr>
            <a:picLocks noChangeAspect="1"/>
          </p:cNvPicPr>
          <p:nvPr/>
        </p:nvPicPr>
        <p:blipFill>
          <a:blip r:embed="rId1"/>
          <a:stretch>
            <a:fillRect/>
          </a:stretch>
        </p:blipFill>
        <p:spPr>
          <a:xfrm>
            <a:off x="5623560" y="5575554"/>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LOW and HIGH are the only Level values there will ever be, so we can’t create more with new. The compiler says “enum classes may not be instantiated”. To get one, we write </a:t>
            </a:r>
            <a:r>
              <a:rPr lang="en-IE" sz="1800" dirty="0">
                <a:solidFill>
                  <a:schemeClr val="accent2"/>
                </a:solidFill>
                <a:latin typeface="Consolas" pitchFamily="34" charset="0"/>
                <a:ea typeface="Consolas" pitchFamily="34" charset="-122"/>
                <a:cs typeface="Consolas" pitchFamily="34" charset="-120"/>
              </a:rPr>
              <a:t>Level.LOW</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 rules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CAN an enum do?</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Extend another 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Implement an interface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Create new values with new</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Change a value later on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 rules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CAN an enum do?</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Extend another class</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Implement an interface</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Create new values with new</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Change a value later on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enum can implement interfaces, just like a class. It can’t extend a class, we can’t create its values with new, and its values are constants that never change.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Writing an enum</a:t>
            </a:r>
            <a:endParaRPr lang="en-IE" sz="3400" dirty="0"/>
          </a:p>
        </p:txBody>
      </p:sp>
      <p:sp>
        <p:nvSpPr>
          <p:cNvPr id="5" name="Text 2"/>
          <p:cNvSpPr txBox="1"/>
          <p:nvPr/>
        </p:nvSpPr>
        <p:spPr>
          <a:xfrm>
            <a:off x="548640" y="1645920"/>
            <a:ext cx="3657600" cy="329184"/>
          </a:xfrm>
          <a:prstGeom prst="rect">
            <a:avLst/>
          </a:prstGeom>
          <a:noFill/>
          <a:ln/>
        </p:spPr>
        <p:txBody>
          <a:bodyPr wrap="square" lIns="0" tIns="0" rIns="0" bIns="0" rtlCol="0" anchor="t"/>
          <a:lstStyle/>
          <a:p>
            <a:pPr indent="0" marL="0">
              <a:buNone/>
            </a:pPr>
            <a:r>
              <a:rPr lang="en-IE" sz="1500" b="1" dirty="0">
                <a:solidFill>
                  <a:schemeClr val="tx2"/>
                </a:solidFill>
              </a:rPr>
              <a:t>Declaring it</a:t>
            </a:r>
            <a:endParaRPr lang="en-IE" sz="1500" dirty="0"/>
          </a:p>
        </p:txBody>
      </p:sp>
      <p:sp>
        <p:nvSpPr>
          <p:cNvPr id="6" name="Part: keyword"/>
          <p:cNvSpPr/>
          <p:nvPr/>
        </p:nvSpPr>
        <p:spPr>
          <a:xfrm>
            <a:off x="1806042" y="2057400"/>
            <a:ext cx="1137412" cy="685800"/>
          </a:xfrm>
          <a:prstGeom prst="roundRect">
            <a:avLst>
              <a:gd name="adj" fmla="val 16000"/>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enum</a:t>
            </a:r>
            <a:endParaRPr lang="en-IE" sz="1900" dirty="0"/>
          </a:p>
        </p:txBody>
      </p:sp>
      <p:sp>
        <p:nvSpPr>
          <p:cNvPr id="7" name="Connector"/>
          <p:cNvSpPr/>
          <p:nvPr/>
        </p:nvSpPr>
        <p:spPr>
          <a:xfrm>
            <a:off x="2374748" y="2788920"/>
            <a:ext cx="0" cy="301752"/>
          </a:xfrm>
          <a:prstGeom prst="line">
            <a:avLst/>
          </a:prstGeom>
          <a:noFill/>
          <a:ln w="19050">
            <a:solidFill>
              <a:schemeClr val="accent1"/>
            </a:solidFill>
            <a:prstDash val="solid"/>
          </a:ln>
        </p:spPr>
      </p:sp>
      <p:sp>
        <p:nvSpPr>
          <p:cNvPr id="8" name="Text 5"/>
          <p:cNvSpPr txBox="1"/>
          <p:nvPr/>
        </p:nvSpPr>
        <p:spPr>
          <a:xfrm>
            <a:off x="1574648" y="3136392"/>
            <a:ext cx="1600200" cy="329184"/>
          </a:xfrm>
          <a:prstGeom prst="rect">
            <a:avLst/>
          </a:prstGeom>
          <a:noFill/>
          <a:ln/>
        </p:spPr>
        <p:txBody>
          <a:bodyPr wrap="square" lIns="0" tIns="0" rIns="0" bIns="0" rtlCol="0" anchor="t"/>
          <a:lstStyle/>
          <a:p>
            <a:pPr algn="ctr" indent="0" marL="0">
              <a:buNone/>
            </a:pPr>
            <a:r>
              <a:rPr lang="en-IE" sz="1600" b="1" dirty="0">
                <a:solidFill>
                  <a:schemeClr val="tx1"/>
                </a:solidFill>
              </a:rPr>
              <a:t>keyword</a:t>
            </a:r>
            <a:endParaRPr lang="en-IE" sz="1600" dirty="0"/>
          </a:p>
        </p:txBody>
      </p:sp>
      <p:sp>
        <p:nvSpPr>
          <p:cNvPr id="9" name="Text 6"/>
          <p:cNvSpPr txBox="1"/>
          <p:nvPr/>
        </p:nvSpPr>
        <p:spPr>
          <a:xfrm>
            <a:off x="1574648" y="3474720"/>
            <a:ext cx="1600200" cy="566928"/>
          </a:xfrm>
          <a:prstGeom prst="rect">
            <a:avLst/>
          </a:prstGeom>
          <a:noFill/>
          <a:ln/>
        </p:spPr>
        <p:txBody>
          <a:bodyPr wrap="square" lIns="0" tIns="0" rIns="0" bIns="0" rtlCol="0" anchor="t"/>
          <a:lstStyle/>
          <a:p>
            <a:pPr algn="ctr" indent="0" marL="0">
              <a:buNone/>
            </a:pPr>
            <a:r>
              <a:rPr lang="en-IE" sz="1300" dirty="0">
                <a:solidFill>
                  <a:schemeClr val="tx2"/>
                </a:solidFill>
              </a:rPr>
              <a:t>instead of class</a:t>
            </a:r>
            <a:endParaRPr lang="en-IE" sz="1300" dirty="0"/>
          </a:p>
        </p:txBody>
      </p:sp>
      <p:sp>
        <p:nvSpPr>
          <p:cNvPr id="10" name="Part: name"/>
          <p:cNvSpPr/>
          <p:nvPr/>
        </p:nvSpPr>
        <p:spPr>
          <a:xfrm>
            <a:off x="3172054" y="2057400"/>
            <a:ext cx="1431798" cy="685800"/>
          </a:xfrm>
          <a:prstGeom prst="roundRect">
            <a:avLst>
              <a:gd name="adj" fmla="val 16000"/>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Season</a:t>
            </a:r>
            <a:endParaRPr lang="en-IE" sz="1900" dirty="0"/>
          </a:p>
        </p:txBody>
      </p:sp>
      <p:sp>
        <p:nvSpPr>
          <p:cNvPr id="11" name="Connector"/>
          <p:cNvSpPr/>
          <p:nvPr/>
        </p:nvSpPr>
        <p:spPr>
          <a:xfrm>
            <a:off x="3887953" y="2788920"/>
            <a:ext cx="0" cy="301752"/>
          </a:xfrm>
          <a:prstGeom prst="line">
            <a:avLst/>
          </a:prstGeom>
          <a:noFill/>
          <a:ln w="19050">
            <a:solidFill>
              <a:schemeClr val="accent2"/>
            </a:solidFill>
            <a:prstDash val="solid"/>
          </a:ln>
        </p:spPr>
      </p:sp>
      <p:sp>
        <p:nvSpPr>
          <p:cNvPr id="12" name="Text 9"/>
          <p:cNvSpPr txBox="1"/>
          <p:nvPr/>
        </p:nvSpPr>
        <p:spPr>
          <a:xfrm>
            <a:off x="3080614" y="3136392"/>
            <a:ext cx="1614678" cy="329184"/>
          </a:xfrm>
          <a:prstGeom prst="rect">
            <a:avLst/>
          </a:prstGeom>
          <a:noFill/>
          <a:ln/>
        </p:spPr>
        <p:txBody>
          <a:bodyPr wrap="square" lIns="0" tIns="0" rIns="0" bIns="0" rtlCol="0" anchor="t"/>
          <a:lstStyle/>
          <a:p>
            <a:pPr algn="ctr" indent="0" marL="0">
              <a:buNone/>
            </a:pPr>
            <a:r>
              <a:rPr lang="en-IE" sz="1600" b="1" dirty="0">
                <a:solidFill>
                  <a:schemeClr val="tx1"/>
                </a:solidFill>
              </a:rPr>
              <a:t>name</a:t>
            </a:r>
            <a:endParaRPr lang="en-IE" sz="1600" dirty="0"/>
          </a:p>
        </p:txBody>
      </p:sp>
      <p:sp>
        <p:nvSpPr>
          <p:cNvPr id="13" name="Text 10"/>
          <p:cNvSpPr txBox="1"/>
          <p:nvPr/>
        </p:nvSpPr>
        <p:spPr>
          <a:xfrm>
            <a:off x="3080614" y="3474720"/>
            <a:ext cx="1614678" cy="566928"/>
          </a:xfrm>
          <a:prstGeom prst="rect">
            <a:avLst/>
          </a:prstGeom>
          <a:noFill/>
          <a:ln/>
        </p:spPr>
        <p:txBody>
          <a:bodyPr wrap="square" lIns="0" tIns="0" rIns="0" bIns="0" rtlCol="0" anchor="t"/>
          <a:lstStyle/>
          <a:p>
            <a:pPr algn="ctr" indent="0" marL="0">
              <a:buNone/>
            </a:pPr>
            <a:r>
              <a:rPr lang="en-IE" sz="1300" dirty="0">
                <a:solidFill>
                  <a:schemeClr val="tx2"/>
                </a:solidFill>
              </a:rPr>
              <a:t>of our enum</a:t>
            </a:r>
            <a:endParaRPr lang="en-IE" sz="1300" dirty="0"/>
          </a:p>
        </p:txBody>
      </p:sp>
      <p:sp>
        <p:nvSpPr>
          <p:cNvPr id="14" name="Part: values"/>
          <p:cNvSpPr/>
          <p:nvPr/>
        </p:nvSpPr>
        <p:spPr>
          <a:xfrm>
            <a:off x="4832452" y="2057400"/>
            <a:ext cx="5553202" cy="685800"/>
          </a:xfrm>
          <a:prstGeom prst="roundRect">
            <a:avLst>
              <a:gd name="adj" fmla="val 16000"/>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 SUMMER, AUTUMN, WINTER, SPRING }</a:t>
            </a:r>
            <a:endParaRPr lang="en-IE" sz="1900" dirty="0"/>
          </a:p>
        </p:txBody>
      </p:sp>
      <p:sp>
        <p:nvSpPr>
          <p:cNvPr id="15" name="Connector"/>
          <p:cNvSpPr/>
          <p:nvPr/>
        </p:nvSpPr>
        <p:spPr>
          <a:xfrm>
            <a:off x="7609053" y="2788920"/>
            <a:ext cx="0" cy="301752"/>
          </a:xfrm>
          <a:prstGeom prst="line">
            <a:avLst/>
          </a:prstGeom>
          <a:noFill/>
          <a:ln w="19050">
            <a:solidFill>
              <a:schemeClr val="accent3"/>
            </a:solidFill>
            <a:prstDash val="solid"/>
          </a:ln>
        </p:spPr>
      </p:sp>
      <p:sp>
        <p:nvSpPr>
          <p:cNvPr id="16" name="Text 13"/>
          <p:cNvSpPr txBox="1"/>
          <p:nvPr/>
        </p:nvSpPr>
        <p:spPr>
          <a:xfrm>
            <a:off x="4741012" y="3136392"/>
            <a:ext cx="5736082" cy="329184"/>
          </a:xfrm>
          <a:prstGeom prst="rect">
            <a:avLst/>
          </a:prstGeom>
          <a:noFill/>
          <a:ln/>
        </p:spPr>
        <p:txBody>
          <a:bodyPr wrap="square" lIns="0" tIns="0" rIns="0" bIns="0" rtlCol="0" anchor="t"/>
          <a:lstStyle/>
          <a:p>
            <a:pPr algn="ctr" indent="0" marL="0">
              <a:buNone/>
            </a:pPr>
            <a:r>
              <a:rPr lang="en-IE" sz="1600" b="1" dirty="0">
                <a:solidFill>
                  <a:schemeClr val="tx1"/>
                </a:solidFill>
              </a:rPr>
              <a:t>values</a:t>
            </a:r>
            <a:endParaRPr lang="en-IE" sz="1600" dirty="0"/>
          </a:p>
        </p:txBody>
      </p:sp>
      <p:sp>
        <p:nvSpPr>
          <p:cNvPr id="17" name="Text 14"/>
          <p:cNvSpPr txBox="1"/>
          <p:nvPr/>
        </p:nvSpPr>
        <p:spPr>
          <a:xfrm>
            <a:off x="4741012" y="3474720"/>
            <a:ext cx="5736082" cy="566928"/>
          </a:xfrm>
          <a:prstGeom prst="rect">
            <a:avLst/>
          </a:prstGeom>
          <a:noFill/>
          <a:ln/>
        </p:spPr>
        <p:txBody>
          <a:bodyPr wrap="square" lIns="0" tIns="0" rIns="0" bIns="0" rtlCol="0" anchor="t"/>
          <a:lstStyle/>
          <a:p>
            <a:pPr algn="ctr" indent="0" marL="0">
              <a:buNone/>
            </a:pPr>
            <a:r>
              <a:rPr lang="en-IE" sz="1300" dirty="0">
                <a:solidFill>
                  <a:schemeClr val="tx2"/>
                </a:solidFill>
              </a:rPr>
              <a:t>our constants</a:t>
            </a:r>
            <a:endParaRPr lang="en-IE" sz="1300" dirty="0"/>
          </a:p>
        </p:txBody>
      </p:sp>
      <p:sp>
        <p:nvSpPr>
          <p:cNvPr id="18" name="Text 15"/>
          <p:cNvSpPr txBox="1"/>
          <p:nvPr/>
        </p:nvSpPr>
        <p:spPr>
          <a:xfrm>
            <a:off x="548640" y="3931920"/>
            <a:ext cx="3657600" cy="329184"/>
          </a:xfrm>
          <a:prstGeom prst="rect">
            <a:avLst/>
          </a:prstGeom>
          <a:noFill/>
          <a:ln/>
        </p:spPr>
        <p:txBody>
          <a:bodyPr wrap="square" lIns="0" tIns="0" rIns="0" bIns="0" rtlCol="0" anchor="t"/>
          <a:lstStyle/>
          <a:p>
            <a:pPr indent="0" marL="0">
              <a:buNone/>
            </a:pPr>
            <a:r>
              <a:rPr lang="en-IE" sz="1500" b="1" dirty="0">
                <a:solidFill>
                  <a:schemeClr val="tx2"/>
                </a:solidFill>
              </a:rPr>
              <a:t>Using it</a:t>
            </a:r>
            <a:endParaRPr lang="en-IE" sz="1500" dirty="0"/>
          </a:p>
        </p:txBody>
      </p:sp>
      <p:sp>
        <p:nvSpPr>
          <p:cNvPr id="19" name="Part: type"/>
          <p:cNvSpPr/>
          <p:nvPr/>
        </p:nvSpPr>
        <p:spPr>
          <a:xfrm>
            <a:off x="2468410" y="4343400"/>
            <a:ext cx="1431798" cy="685800"/>
          </a:xfrm>
          <a:prstGeom prst="roundRect">
            <a:avLst>
              <a:gd name="adj" fmla="val 16000"/>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Season</a:t>
            </a:r>
            <a:endParaRPr lang="en-IE" sz="1900" dirty="0"/>
          </a:p>
        </p:txBody>
      </p:sp>
      <p:sp>
        <p:nvSpPr>
          <p:cNvPr id="20" name="Connector"/>
          <p:cNvSpPr/>
          <p:nvPr/>
        </p:nvSpPr>
        <p:spPr>
          <a:xfrm>
            <a:off x="3184309" y="5074920"/>
            <a:ext cx="0" cy="301752"/>
          </a:xfrm>
          <a:prstGeom prst="line">
            <a:avLst/>
          </a:prstGeom>
          <a:noFill/>
          <a:ln w="19050">
            <a:solidFill>
              <a:schemeClr val="accent2"/>
            </a:solidFill>
            <a:prstDash val="solid"/>
          </a:ln>
        </p:spPr>
      </p:sp>
      <p:sp>
        <p:nvSpPr>
          <p:cNvPr id="21" name="Text 18"/>
          <p:cNvSpPr txBox="1"/>
          <p:nvPr/>
        </p:nvSpPr>
        <p:spPr>
          <a:xfrm>
            <a:off x="2376970" y="5422392"/>
            <a:ext cx="1614678" cy="329184"/>
          </a:xfrm>
          <a:prstGeom prst="rect">
            <a:avLst/>
          </a:prstGeom>
          <a:noFill/>
          <a:ln/>
        </p:spPr>
        <p:txBody>
          <a:bodyPr wrap="square" lIns="0" tIns="0" rIns="0" bIns="0" rtlCol="0" anchor="t"/>
          <a:lstStyle/>
          <a:p>
            <a:pPr algn="ctr" indent="0" marL="0">
              <a:buNone/>
            </a:pPr>
            <a:r>
              <a:rPr lang="en-IE" sz="1600" b="1" dirty="0">
                <a:solidFill>
                  <a:schemeClr val="tx1"/>
                </a:solidFill>
              </a:rPr>
              <a:t>type</a:t>
            </a:r>
            <a:endParaRPr lang="en-IE" sz="1600" dirty="0"/>
          </a:p>
        </p:txBody>
      </p:sp>
      <p:sp>
        <p:nvSpPr>
          <p:cNvPr id="22" name="Text 19"/>
          <p:cNvSpPr txBox="1"/>
          <p:nvPr/>
        </p:nvSpPr>
        <p:spPr>
          <a:xfrm>
            <a:off x="2376970" y="5760720"/>
            <a:ext cx="1614678" cy="566928"/>
          </a:xfrm>
          <a:prstGeom prst="rect">
            <a:avLst/>
          </a:prstGeom>
          <a:noFill/>
          <a:ln/>
        </p:spPr>
        <p:txBody>
          <a:bodyPr wrap="square" lIns="0" tIns="0" rIns="0" bIns="0" rtlCol="0" anchor="t"/>
          <a:lstStyle/>
          <a:p>
            <a:pPr algn="ctr" indent="0" marL="0">
              <a:buNone/>
            </a:pPr>
            <a:r>
              <a:rPr lang="en-IE" sz="1300" dirty="0">
                <a:solidFill>
                  <a:schemeClr val="tx2"/>
                </a:solidFill>
              </a:rPr>
              <a:t>the enum</a:t>
            </a:r>
            <a:endParaRPr lang="en-IE" sz="1300" dirty="0"/>
          </a:p>
        </p:txBody>
      </p:sp>
      <p:sp>
        <p:nvSpPr>
          <p:cNvPr id="23" name="Part: variable"/>
          <p:cNvSpPr/>
          <p:nvPr/>
        </p:nvSpPr>
        <p:spPr>
          <a:xfrm>
            <a:off x="4128808" y="4343400"/>
            <a:ext cx="2462149" cy="685800"/>
          </a:xfrm>
          <a:prstGeom prst="roundRect">
            <a:avLst>
              <a:gd name="adj" fmla="val 16000"/>
            </a:avLst>
          </a:prstGeom>
          <a:solidFill>
            <a:schemeClr val="accent5">
              <a:alpha val="14000"/>
            </a:schemeClr>
          </a:solidFill>
          <a:ln w="19050">
            <a:solidFill>
              <a:schemeClr val="accent5"/>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currentSeason</a:t>
            </a:r>
            <a:endParaRPr lang="en-IE" sz="1900" dirty="0"/>
          </a:p>
        </p:txBody>
      </p:sp>
      <p:sp>
        <p:nvSpPr>
          <p:cNvPr id="24" name="Connector"/>
          <p:cNvSpPr/>
          <p:nvPr/>
        </p:nvSpPr>
        <p:spPr>
          <a:xfrm>
            <a:off x="5359883" y="5074920"/>
            <a:ext cx="0" cy="301752"/>
          </a:xfrm>
          <a:prstGeom prst="line">
            <a:avLst/>
          </a:prstGeom>
          <a:noFill/>
          <a:ln w="19050">
            <a:solidFill>
              <a:schemeClr val="accent5"/>
            </a:solidFill>
            <a:prstDash val="solid"/>
          </a:ln>
        </p:spPr>
      </p:sp>
      <p:sp>
        <p:nvSpPr>
          <p:cNvPr id="25" name="Text 22"/>
          <p:cNvSpPr txBox="1"/>
          <p:nvPr/>
        </p:nvSpPr>
        <p:spPr>
          <a:xfrm>
            <a:off x="4037368" y="5422392"/>
            <a:ext cx="2645029" cy="329184"/>
          </a:xfrm>
          <a:prstGeom prst="rect">
            <a:avLst/>
          </a:prstGeom>
          <a:noFill/>
          <a:ln/>
        </p:spPr>
        <p:txBody>
          <a:bodyPr wrap="square" lIns="0" tIns="0" rIns="0" bIns="0" rtlCol="0" anchor="t"/>
          <a:lstStyle/>
          <a:p>
            <a:pPr algn="ctr" indent="0" marL="0">
              <a:buNone/>
            </a:pPr>
            <a:r>
              <a:rPr lang="en-IE" sz="1600" b="1" dirty="0">
                <a:solidFill>
                  <a:schemeClr val="tx1"/>
                </a:solidFill>
              </a:rPr>
              <a:t>variable</a:t>
            </a:r>
            <a:endParaRPr lang="en-IE" sz="1600" dirty="0"/>
          </a:p>
        </p:txBody>
      </p:sp>
      <p:sp>
        <p:nvSpPr>
          <p:cNvPr id="26" name="Text 23"/>
          <p:cNvSpPr txBox="1"/>
          <p:nvPr/>
        </p:nvSpPr>
        <p:spPr>
          <a:xfrm>
            <a:off x="4037368" y="5760720"/>
            <a:ext cx="2645029" cy="566928"/>
          </a:xfrm>
          <a:prstGeom prst="rect">
            <a:avLst/>
          </a:prstGeom>
          <a:noFill/>
          <a:ln/>
        </p:spPr>
        <p:txBody>
          <a:bodyPr wrap="square" lIns="0" tIns="0" rIns="0" bIns="0" rtlCol="0" anchor="t"/>
          <a:lstStyle/>
          <a:p>
            <a:pPr algn="ctr" indent="0" marL="0">
              <a:buNone/>
            </a:pPr>
            <a:r>
              <a:rPr lang="en-IE" sz="1300" dirty="0">
                <a:solidFill>
                  <a:schemeClr val="tx2"/>
                </a:solidFill>
              </a:rPr>
              <a:t>an enum variable</a:t>
            </a:r>
            <a:endParaRPr lang="en-IE" sz="1300" dirty="0"/>
          </a:p>
        </p:txBody>
      </p:sp>
      <p:sp>
        <p:nvSpPr>
          <p:cNvPr id="27" name="Part: value"/>
          <p:cNvSpPr/>
          <p:nvPr/>
        </p:nvSpPr>
        <p:spPr>
          <a:xfrm>
            <a:off x="6819557" y="4343400"/>
            <a:ext cx="2903728" cy="685800"/>
          </a:xfrm>
          <a:prstGeom prst="roundRect">
            <a:avLst>
              <a:gd name="adj" fmla="val 16000"/>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1900" b="1" dirty="0">
                <a:solidFill>
                  <a:schemeClr val="tx1"/>
                </a:solidFill>
                <a:latin typeface="Consolas" pitchFamily="34" charset="0"/>
                <a:ea typeface="Consolas" pitchFamily="34" charset="-122"/>
                <a:cs typeface="Consolas" pitchFamily="34" charset="-120"/>
              </a:rPr>
              <a:t>= Season.WINTER;</a:t>
            </a:r>
            <a:endParaRPr lang="en-IE" sz="1900" dirty="0"/>
          </a:p>
        </p:txBody>
      </p:sp>
      <p:sp>
        <p:nvSpPr>
          <p:cNvPr id="28" name="Connector"/>
          <p:cNvSpPr/>
          <p:nvPr/>
        </p:nvSpPr>
        <p:spPr>
          <a:xfrm>
            <a:off x="8271421" y="5074920"/>
            <a:ext cx="0" cy="301752"/>
          </a:xfrm>
          <a:prstGeom prst="line">
            <a:avLst/>
          </a:prstGeom>
          <a:noFill/>
          <a:ln w="19050">
            <a:solidFill>
              <a:schemeClr val="accent3"/>
            </a:solidFill>
            <a:prstDash val="solid"/>
          </a:ln>
        </p:spPr>
      </p:sp>
      <p:sp>
        <p:nvSpPr>
          <p:cNvPr id="29" name="Text 26"/>
          <p:cNvSpPr txBox="1"/>
          <p:nvPr/>
        </p:nvSpPr>
        <p:spPr>
          <a:xfrm>
            <a:off x="6728117" y="5422392"/>
            <a:ext cx="3086608" cy="329184"/>
          </a:xfrm>
          <a:prstGeom prst="rect">
            <a:avLst/>
          </a:prstGeom>
          <a:noFill/>
          <a:ln/>
        </p:spPr>
        <p:txBody>
          <a:bodyPr wrap="square" lIns="0" tIns="0" rIns="0" bIns="0" rtlCol="0" anchor="t"/>
          <a:lstStyle/>
          <a:p>
            <a:pPr algn="ctr" indent="0" marL="0">
              <a:buNone/>
            </a:pPr>
            <a:r>
              <a:rPr lang="en-IE" sz="1600" b="1" dirty="0">
                <a:solidFill>
                  <a:schemeClr val="tx1"/>
                </a:solidFill>
              </a:rPr>
              <a:t>value</a:t>
            </a:r>
            <a:endParaRPr lang="en-IE" sz="1600" dirty="0"/>
          </a:p>
        </p:txBody>
      </p:sp>
      <p:sp>
        <p:nvSpPr>
          <p:cNvPr id="30" name="Text 27"/>
          <p:cNvSpPr txBox="1"/>
          <p:nvPr/>
        </p:nvSpPr>
        <p:spPr>
          <a:xfrm>
            <a:off x="6728117" y="5760720"/>
            <a:ext cx="3086608" cy="566928"/>
          </a:xfrm>
          <a:prstGeom prst="rect">
            <a:avLst/>
          </a:prstGeom>
          <a:noFill/>
          <a:ln/>
        </p:spPr>
        <p:txBody>
          <a:bodyPr wrap="square" lIns="0" tIns="0" rIns="0" bIns="0" rtlCol="0" anchor="t"/>
          <a:lstStyle/>
          <a:p>
            <a:pPr algn="ctr" indent="0" marL="0">
              <a:buNone/>
            </a:pPr>
            <a:r>
              <a:rPr lang="en-IE" sz="1300" dirty="0">
                <a:solidFill>
                  <a:schemeClr val="tx2"/>
                </a:solidFill>
              </a:rPr>
              <a:t>one of the values</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Writing an enum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line gives an enum variable a value?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Season s = new Season(WINTER);</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Season s = "WINTER";</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Season s = Season.WINTER;</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Season s = Season(WINTER);</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Writing an enum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line gives an enum variable a value?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Season s = new Season(WINTER);</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Season s = "WINTER";</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Season s = Season.WINTER;</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Season s = Season(WINTER);</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We write the enum’s name, a dot and one of its values: </a:t>
            </a:r>
            <a:r>
              <a:rPr lang="en-IE" sz="1600" dirty="0">
                <a:solidFill>
                  <a:schemeClr val="accent2"/>
                </a:solidFill>
                <a:latin typeface="Consolas" pitchFamily="34" charset="0"/>
                <a:ea typeface="Consolas" pitchFamily="34" charset="-122"/>
                <a:cs typeface="Consolas" pitchFamily="34" charset="-120"/>
              </a:rPr>
              <a:t>Season.WINTER</a:t>
            </a:r>
            <a:r>
              <a:rPr lang="en-IE" sz="1600" dirty="0">
                <a:solidFill>
                  <a:schemeClr val="tx1"/>
                </a:solidFill>
              </a:rPr>
              <a:t>. We can’t use new with an enum (A), a String isn’t a Season (B), and D isn’t valid Java.</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Enums and switch</a:t>
            </a:r>
            <a:endParaRPr lang="en-IE" sz="3400" dirty="0"/>
          </a:p>
        </p:txBody>
      </p:sp>
      <p:sp>
        <p:nvSpPr>
          <p:cNvPr id="5" name="switch card"/>
          <p:cNvSpPr/>
          <p:nvPr/>
        </p:nvSpPr>
        <p:spPr>
          <a:xfrm>
            <a:off x="548640" y="1691640"/>
            <a:ext cx="5943600" cy="3264408"/>
          </a:xfrm>
          <a:prstGeom prst="roundRect">
            <a:avLst>
              <a:gd name="adj" fmla="val 3361"/>
            </a:avLst>
          </a:prstGeom>
          <a:solidFill>
            <a:schemeClr val="tx1"/>
          </a:solidFill>
          <a:ln/>
          <a:effectLst>
            <a:outerShdw sx="100000" sy="100000" kx="0" ky="0" algn="bl" rotWithShape="0" blurRad="114300" dist="31750" dir="5400000">
              <a:srgbClr val="1D2433">
                <a:alpha val="12000"/>
              </a:srgbClr>
            </a:outerShdw>
          </a:effectLst>
        </p:spPr>
      </p:sp>
      <p:sp>
        <p:nvSpPr>
          <p:cNvPr id="6" name="switch language"/>
          <p:cNvSpPr txBox="1"/>
          <p:nvPr/>
        </p:nvSpPr>
        <p:spPr>
          <a:xfrm>
            <a:off x="822960" y="1810512"/>
            <a:ext cx="53949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witch text"/>
          <p:cNvSpPr txBox="1"/>
          <p:nvPr/>
        </p:nvSpPr>
        <p:spPr>
          <a:xfrm>
            <a:off x="822960" y="2185416"/>
            <a:ext cx="5394960" cy="256946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 currentSeason = </a:t>
            </a: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WINTER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switch</a:t>
            </a:r>
            <a:r>
              <a:rPr lang="en-IE" sz="1500" dirty="0">
                <a:solidFill>
                  <a:srgbClr val="E6EBF2"/>
                </a:solidFill>
                <a:latin typeface="Consolas" pitchFamily="34" charset="0"/>
                <a:ea typeface="Consolas" pitchFamily="34" charset="-122"/>
                <a:cs typeface="Consolas" pitchFamily="34" charset="-120"/>
              </a:rPr>
              <a:t> (currentSeason)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case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WINTER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"It's winter"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break</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case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SUMMER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"It's summer"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break</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Text 5"/>
          <p:cNvSpPr txBox="1"/>
          <p:nvPr/>
        </p:nvSpPr>
        <p:spPr>
          <a:xfrm>
            <a:off x="6858000" y="1783080"/>
            <a:ext cx="4785055" cy="22860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Enums are often used with switch statements.</a:t>
            </a:r>
            <a:endParaRPr lang="en-IE" sz="1800" dirty="0"/>
          </a:p>
          <a:p>
            <a:pPr marL="228600" indent="-228600">
              <a:spcAft>
                <a:spcPts val="1200"/>
              </a:spcAft>
              <a:buSzPct val="100000"/>
              <a:buChar char="•"/>
            </a:pPr>
            <a:r>
              <a:rPr lang="en-IE" sz="1800" dirty="0">
                <a:solidFill>
                  <a:schemeClr val="tx1"/>
                </a:solidFill>
              </a:rPr>
              <a:t>Each case names one of the values.</a:t>
            </a:r>
            <a:endParaRPr lang="en-IE" sz="1800" dirty="0"/>
          </a:p>
          <a:p>
            <a:pPr marL="228600" indent="-228600">
              <a:buSzPct val="100000"/>
              <a:buChar char="•"/>
            </a:pPr>
            <a:r>
              <a:rPr lang="en-IE" sz="1800" dirty="0">
                <a:solidFill>
                  <a:schemeClr val="tx1"/>
                </a:solidFill>
              </a:rPr>
              <a:t>Inside a case, we write just WINTER.</a:t>
            </a:r>
            <a:endParaRPr lang="en-IE" sz="1800" dirty="0"/>
          </a:p>
        </p:txBody>
      </p:sp>
      <p:sp>
        <p:nvSpPr>
          <p:cNvPr id="9" name="Output card"/>
          <p:cNvSpPr/>
          <p:nvPr/>
        </p:nvSpPr>
        <p:spPr>
          <a:xfrm>
            <a:off x="6858000" y="4206240"/>
            <a:ext cx="4785055"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10" name="Text 7"/>
          <p:cNvSpPr txBox="1"/>
          <p:nvPr/>
        </p:nvSpPr>
        <p:spPr>
          <a:xfrm>
            <a:off x="7132320" y="4325112"/>
            <a:ext cx="42364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1" name="Output text"/>
          <p:cNvSpPr txBox="1"/>
          <p:nvPr/>
        </p:nvSpPr>
        <p:spPr>
          <a:xfrm>
            <a:off x="7132320" y="4663440"/>
            <a:ext cx="4236415" cy="320040"/>
          </a:xfrm>
          <a:prstGeom prst="rect">
            <a:avLst/>
          </a:prstGeom>
          <a:noFill/>
          <a:ln/>
        </p:spPr>
        <p:txBody>
          <a:bodyPr wrap="square" lIns="0" tIns="0" rIns="0" bIns="0" rtlCol="0" anchor="t"/>
          <a:lstStyle/>
          <a:p>
            <a:pPr indent="0" marL="0">
              <a:lnSpc>
                <a:spcPts val="2430"/>
              </a:lnSpc>
              <a:buNone/>
            </a:pPr>
            <a:r>
              <a:rPr lang="en-IE" sz="1800" dirty="0">
                <a:solidFill>
                  <a:srgbClr val="A9DB8C"/>
                </a:solidFill>
                <a:latin typeface="Consolas" pitchFamily="34" charset="0"/>
                <a:ea typeface="Consolas" pitchFamily="34" charset="-122"/>
                <a:cs typeface="Consolas" pitchFamily="34" charset="-120"/>
              </a:rPr>
              <a:t>It's winter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 and switch</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58086"/>
            <a:ext cx="6035040" cy="4039108"/>
          </a:xfrm>
          <a:prstGeom prst="roundRect">
            <a:avLst>
              <a:gd name="adj" fmla="val 2717"/>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07695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51862"/>
            <a:ext cx="5486400" cy="33441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enum</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6CC4E8"/>
                </a:solidFill>
                <a:latin typeface="Consolas" pitchFamily="34" charset="0"/>
                <a:ea typeface="Consolas" pitchFamily="34" charset="-122"/>
                <a:cs typeface="Consolas" pitchFamily="34" charset="-120"/>
              </a:rPr>
              <a:t>SUMMER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AUTUMN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WINTER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SPRING</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i="1" dirty="0">
                <a:solidFill>
                  <a:srgbClr val="A3AEC2"/>
                </a:solidFill>
                <a:latin typeface="Consolas" pitchFamily="34" charset="0"/>
                <a:ea typeface="Consolas" pitchFamily="34" charset="-122"/>
                <a:cs typeface="Consolas" pitchFamily="34" charset="-120"/>
              </a:rPr>
              <a:t>// in main:</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 s = </a:t>
            </a: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SUMMER</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switch</a:t>
            </a:r>
            <a:r>
              <a:rPr lang="en-IE" sz="1400" dirty="0">
                <a:solidFill>
                  <a:srgbClr val="E6EBF2"/>
                </a:solidFill>
                <a:latin typeface="Consolas" pitchFamily="34" charset="0"/>
                <a:ea typeface="Consolas" pitchFamily="34" charset="-122"/>
                <a:cs typeface="Consolas" pitchFamily="34" charset="-120"/>
              </a:rPr>
              <a:t> (s)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case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WINTER</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"Coat"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break</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case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SUMMER</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"Sun cream"</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break</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default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"Umbrella"</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Coat</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Sun cream</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Umbrella</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SUMMER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 and switch</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06070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 s = </a:t>
            </a: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SUMMER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switch</a:t>
            </a:r>
            <a:r>
              <a:rPr lang="en-IE" sz="1500" dirty="0">
                <a:solidFill>
                  <a:srgbClr val="E6EBF2"/>
                </a:solidFill>
                <a:latin typeface="Consolas" pitchFamily="34" charset="0"/>
                <a:ea typeface="Consolas" pitchFamily="34" charset="-122"/>
                <a:cs typeface="Consolas" pitchFamily="34" charset="-120"/>
              </a:rPr>
              <a:t> (s)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case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SUMMER</a:t>
            </a:r>
            <a:r>
              <a:rPr lang="en-IE" sz="1500" dirty="0">
                <a:solidFill>
                  <a:srgbClr val="E6EBF2"/>
                </a:solidFill>
                <a:latin typeface="Consolas" pitchFamily="34" charset="0"/>
                <a:ea typeface="Consolas" pitchFamily="34" charset="-122"/>
                <a:cs typeface="Consolas" pitchFamily="34" charset="-120"/>
              </a:rPr>
              <a:t>: ...   </a:t>
            </a:r>
            <a:r>
              <a:rPr lang="en-IE" sz="1500" i="1" dirty="0">
                <a:solidFill>
                  <a:srgbClr val="A3AEC2"/>
                </a:solidFill>
                <a:latin typeface="Consolas" pitchFamily="34" charset="0"/>
                <a:ea typeface="Consolas" pitchFamily="34" charset="-122"/>
                <a:cs typeface="Consolas" pitchFamily="34" charset="-120"/>
              </a:rPr>
              <a:t>// this case matches</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prints: Sun cream</a:t>
            </a:r>
            <a:endParaRPr lang="en-IE" sz="1500" dirty="0"/>
          </a:p>
        </p:txBody>
      </p:sp>
      <p:sp>
        <p:nvSpPr>
          <p:cNvPr id="7" name="Option A"/>
          <p:cNvSpPr/>
          <p:nvPr/>
        </p:nvSpPr>
        <p:spPr>
          <a:xfrm>
            <a:off x="548640" y="3566160"/>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630168"/>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41882" y="3566160"/>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Coat</a:t>
            </a:r>
            <a:endParaRPr lang="en-IE" sz="1500" dirty="0"/>
          </a:p>
        </p:txBody>
      </p:sp>
      <p:sp>
        <p:nvSpPr>
          <p:cNvPr id="10" name="Option B (correct)"/>
          <p:cNvSpPr/>
          <p:nvPr/>
        </p:nvSpPr>
        <p:spPr>
          <a:xfrm>
            <a:off x="548640" y="4231386"/>
            <a:ext cx="5623560" cy="518922"/>
          </a:xfrm>
          <a:prstGeom prst="roundRect">
            <a:avLst>
              <a:gd name="adj" fmla="val 21145"/>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295394"/>
            <a:ext cx="390906" cy="39090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41882" y="4231386"/>
            <a:ext cx="4171950" cy="518922"/>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Sun cream</a:t>
            </a:r>
            <a:endParaRPr lang="en-IE" sz="1500" dirty="0"/>
          </a:p>
        </p:txBody>
      </p:sp>
      <p:pic>
        <p:nvPicPr>
          <p:cNvPr id="13" name="Correct mark" descr="Correct mark">    </p:cNvPr>
          <p:cNvPicPr>
            <a:picLocks noChangeAspect="1"/>
          </p:cNvPicPr>
          <p:nvPr/>
        </p:nvPicPr>
        <p:blipFill>
          <a:blip r:embed="rId1"/>
          <a:stretch>
            <a:fillRect/>
          </a:stretch>
        </p:blipFill>
        <p:spPr>
          <a:xfrm>
            <a:off x="5623560" y="4307967"/>
            <a:ext cx="365760" cy="365760"/>
          </a:xfrm>
          <a:prstGeom prst="rect">
            <a:avLst/>
          </a:prstGeom>
        </p:spPr>
      </p:pic>
      <p:sp>
        <p:nvSpPr>
          <p:cNvPr id="14" name="Option C"/>
          <p:cNvSpPr/>
          <p:nvPr/>
        </p:nvSpPr>
        <p:spPr>
          <a:xfrm>
            <a:off x="548640" y="4896612"/>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960620"/>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41882" y="4896612"/>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Umbrella</a:t>
            </a:r>
            <a:endParaRPr lang="en-IE" sz="1500" dirty="0"/>
          </a:p>
        </p:txBody>
      </p:sp>
      <p:sp>
        <p:nvSpPr>
          <p:cNvPr id="17" name="Option D"/>
          <p:cNvSpPr/>
          <p:nvPr/>
        </p:nvSpPr>
        <p:spPr>
          <a:xfrm>
            <a:off x="548640" y="5561838"/>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25846"/>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41882" y="5561838"/>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SUMMER</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 switch compares </a:t>
            </a:r>
            <a:r>
              <a:rPr lang="en-IE" sz="1800" dirty="0">
                <a:solidFill>
                  <a:schemeClr val="accent2"/>
                </a:solidFill>
                <a:latin typeface="Consolas" pitchFamily="34" charset="0"/>
                <a:ea typeface="Consolas" pitchFamily="34" charset="-122"/>
                <a:cs typeface="Consolas" pitchFamily="34" charset="-120"/>
              </a:rPr>
              <a:t>s</a:t>
            </a:r>
            <a:r>
              <a:rPr lang="en-IE" sz="1800" dirty="0">
                <a:solidFill>
                  <a:schemeClr val="tx1"/>
                </a:solidFill>
              </a:rPr>
              <a:t> with each case. </a:t>
            </a:r>
            <a:r>
              <a:rPr lang="en-IE" sz="1800" dirty="0">
                <a:solidFill>
                  <a:schemeClr val="accent2"/>
                </a:solidFill>
                <a:latin typeface="Consolas" pitchFamily="34" charset="0"/>
                <a:ea typeface="Consolas" pitchFamily="34" charset="-122"/>
                <a:cs typeface="Consolas" pitchFamily="34" charset="-120"/>
              </a:rPr>
              <a:t>s</a:t>
            </a:r>
            <a:r>
              <a:rPr lang="en-IE" sz="1800" dirty="0">
                <a:solidFill>
                  <a:schemeClr val="tx1"/>
                </a:solidFill>
              </a:rPr>
              <a:t> is SUMMER, so that case runs and prints Sun cream. Then break stops it before default.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Printing and looping</a:t>
            </a:r>
            <a:endParaRPr lang="en-IE" sz="3400" dirty="0"/>
          </a:p>
        </p:txBody>
      </p:sp>
      <p:sp>
        <p:nvSpPr>
          <p:cNvPr id="5" name="Text 2"/>
          <p:cNvSpPr txBox="1"/>
          <p:nvPr/>
        </p:nvSpPr>
        <p:spPr>
          <a:xfrm>
            <a:off x="548640" y="1783080"/>
            <a:ext cx="5120640" cy="20116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Printing an enum value prints its name.</a:t>
            </a:r>
            <a:endParaRPr lang="en-IE" sz="1800" dirty="0"/>
          </a:p>
          <a:p>
            <a:pPr marL="228600" indent="-228600">
              <a:buSzPct val="100000"/>
              <a:buChar char="•"/>
            </a:pPr>
            <a:r>
              <a:rPr lang="en-IE" sz="1800" dirty="0">
                <a:solidFill>
                  <a:schemeClr val="accent2"/>
                </a:solidFill>
                <a:latin typeface="Consolas" pitchFamily="34" charset="0"/>
                <a:ea typeface="Consolas" pitchFamily="34" charset="-122"/>
                <a:cs typeface="Consolas" pitchFamily="34" charset="-120"/>
              </a:rPr>
              <a:t>Season.values()</a:t>
            </a:r>
            <a:r>
              <a:rPr lang="en-IE" sz="1800" dirty="0">
                <a:solidFill>
                  <a:schemeClr val="tx1"/>
                </a:solidFill>
              </a:rPr>
              <a:t> gives all the values in order, so we can loop through them with a for loop.</a:t>
            </a:r>
            <a:endParaRPr lang="en-IE" sz="1800" dirty="0"/>
          </a:p>
        </p:txBody>
      </p:sp>
      <p:sp>
        <p:nvSpPr>
          <p:cNvPr id="6" name="Printing card"/>
          <p:cNvSpPr/>
          <p:nvPr/>
        </p:nvSpPr>
        <p:spPr>
          <a:xfrm>
            <a:off x="548640" y="3246120"/>
            <a:ext cx="5120640" cy="1504188"/>
          </a:xfrm>
          <a:prstGeom prst="roundRect">
            <a:avLst>
              <a:gd name="adj" fmla="val 7295"/>
            </a:avLst>
          </a:prstGeom>
          <a:solidFill>
            <a:schemeClr val="tx1"/>
          </a:solidFill>
          <a:ln/>
          <a:effectLst>
            <a:outerShdw sx="100000" sy="100000" kx="0" ky="0" algn="bl" rotWithShape="0" blurRad="114300" dist="31750" dir="5400000">
              <a:srgbClr val="1D2433">
                <a:alpha val="12000"/>
              </a:srgbClr>
            </a:outerShdw>
          </a:effectLst>
        </p:spPr>
      </p:sp>
      <p:sp>
        <p:nvSpPr>
          <p:cNvPr id="7" name="Printing language"/>
          <p:cNvSpPr txBox="1"/>
          <p:nvPr/>
        </p:nvSpPr>
        <p:spPr>
          <a:xfrm>
            <a:off x="822960" y="336499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Printing text"/>
          <p:cNvSpPr txBox="1"/>
          <p:nvPr/>
        </p:nvSpPr>
        <p:spPr>
          <a:xfrm>
            <a:off x="822960" y="3739896"/>
            <a:ext cx="4572000" cy="80924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 currentSeason = </a:t>
            </a: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WINTER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(currentSeason);</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prints WINTER</a:t>
            </a:r>
            <a:endParaRPr lang="en-IE" sz="1500" dirty="0"/>
          </a:p>
        </p:txBody>
      </p:sp>
      <p:sp>
        <p:nvSpPr>
          <p:cNvPr id="9" name="Loop card"/>
          <p:cNvSpPr/>
          <p:nvPr/>
        </p:nvSpPr>
        <p:spPr>
          <a:xfrm>
            <a:off x="6035040" y="1737360"/>
            <a:ext cx="5608015" cy="1553718"/>
          </a:xfrm>
          <a:prstGeom prst="roundRect">
            <a:avLst>
              <a:gd name="adj" fmla="val 7062"/>
            </a:avLst>
          </a:prstGeom>
          <a:solidFill>
            <a:schemeClr val="tx1"/>
          </a:solidFill>
          <a:ln/>
          <a:effectLst>
            <a:outerShdw sx="100000" sy="100000" kx="0" ky="0" algn="bl" rotWithShape="0" blurRad="114300" dist="31750" dir="5400000">
              <a:srgbClr val="1D2433">
                <a:alpha val="12000"/>
              </a:srgbClr>
            </a:outerShdw>
          </a:effectLst>
        </p:spPr>
      </p:sp>
      <p:sp>
        <p:nvSpPr>
          <p:cNvPr id="10" name="Loop language"/>
          <p:cNvSpPr txBox="1"/>
          <p:nvPr/>
        </p:nvSpPr>
        <p:spPr>
          <a:xfrm>
            <a:off x="6309360" y="1856232"/>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1" name="Loop text"/>
          <p:cNvSpPr txBox="1"/>
          <p:nvPr/>
        </p:nvSpPr>
        <p:spPr>
          <a:xfrm>
            <a:off x="6309360" y="2231136"/>
            <a:ext cx="5059375" cy="85877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for</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Season</a:t>
            </a:r>
            <a:r>
              <a:rPr lang="en-IE" sz="1600" dirty="0">
                <a:solidFill>
                  <a:srgbClr val="E6EBF2"/>
                </a:solidFill>
                <a:latin typeface="Consolas" pitchFamily="34" charset="0"/>
                <a:ea typeface="Consolas" pitchFamily="34" charset="-122"/>
                <a:cs typeface="Consolas" pitchFamily="34" charset="-120"/>
              </a:rPr>
              <a:t> season : </a:t>
            </a:r>
            <a:r>
              <a:rPr lang="en-IE" sz="1600" dirty="0">
                <a:solidFill>
                  <a:srgbClr val="6CC4E8"/>
                </a:solidFill>
                <a:latin typeface="Consolas" pitchFamily="34" charset="0"/>
                <a:ea typeface="Consolas" pitchFamily="34" charset="-122"/>
                <a:cs typeface="Consolas" pitchFamily="34" charset="-120"/>
              </a:rPr>
              <a:t>Season</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C9B0FF"/>
                </a:solidFill>
                <a:latin typeface="Consolas" pitchFamily="34" charset="0"/>
                <a:ea typeface="Consolas" pitchFamily="34" charset="-122"/>
                <a:cs typeface="Consolas" pitchFamily="34" charset="-120"/>
              </a:rPr>
              <a:t>values</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System</a:t>
            </a:r>
            <a:r>
              <a:rPr lang="en-IE" sz="1600" dirty="0">
                <a:solidFill>
                  <a:srgbClr val="E6EBF2"/>
                </a:solidFill>
                <a:latin typeface="Consolas" pitchFamily="34" charset="0"/>
                <a:ea typeface="Consolas" pitchFamily="34" charset="-122"/>
                <a:cs typeface="Consolas" pitchFamily="34" charset="-120"/>
              </a:rPr>
              <a:t>.out.</a:t>
            </a:r>
            <a:r>
              <a:rPr lang="en-IE" sz="1600" dirty="0">
                <a:solidFill>
                  <a:srgbClr val="C9B0FF"/>
                </a:solidFill>
                <a:latin typeface="Consolas" pitchFamily="34" charset="0"/>
                <a:ea typeface="Consolas" pitchFamily="34" charset="-122"/>
                <a:cs typeface="Consolas" pitchFamily="34" charset="-120"/>
              </a:rPr>
              <a:t>println</a:t>
            </a:r>
            <a:r>
              <a:rPr lang="en-IE" sz="1600" dirty="0">
                <a:solidFill>
                  <a:srgbClr val="E6EBF2"/>
                </a:solidFill>
                <a:latin typeface="Consolas" pitchFamily="34" charset="0"/>
                <a:ea typeface="Consolas" pitchFamily="34" charset="-122"/>
                <a:cs typeface="Consolas" pitchFamily="34" charset="-120"/>
              </a:rPr>
              <a:t>(season);</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2" name="Output card"/>
          <p:cNvSpPr/>
          <p:nvPr/>
        </p:nvSpPr>
        <p:spPr>
          <a:xfrm>
            <a:off x="6035040" y="3519678"/>
            <a:ext cx="5608015" cy="1965960"/>
          </a:xfrm>
          <a:prstGeom prst="roundRect">
            <a:avLst>
              <a:gd name="adj" fmla="val 5581"/>
            </a:avLst>
          </a:prstGeom>
          <a:solidFill>
            <a:schemeClr val="tx1"/>
          </a:solidFill>
          <a:ln/>
          <a:effectLst>
            <a:outerShdw sx="100000" sy="100000" kx="0" ky="0" algn="bl" rotWithShape="0" blurRad="114300" dist="31750" dir="5400000">
              <a:srgbClr val="1D2433">
                <a:alpha val="12000"/>
              </a:srgbClr>
            </a:outerShdw>
          </a:effectLst>
        </p:spPr>
      </p:sp>
      <p:sp>
        <p:nvSpPr>
          <p:cNvPr id="13" name="Text 10"/>
          <p:cNvSpPr txBox="1"/>
          <p:nvPr/>
        </p:nvSpPr>
        <p:spPr>
          <a:xfrm>
            <a:off x="6309360" y="3638550"/>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4" name="Output text"/>
          <p:cNvSpPr txBox="1"/>
          <p:nvPr/>
        </p:nvSpPr>
        <p:spPr>
          <a:xfrm>
            <a:off x="6309360" y="3976878"/>
            <a:ext cx="5059375" cy="1325880"/>
          </a:xfrm>
          <a:prstGeom prst="rect">
            <a:avLst/>
          </a:prstGeom>
          <a:noFill/>
          <a:ln/>
        </p:spPr>
        <p:txBody>
          <a:bodyPr wrap="square" lIns="0" tIns="0" rIns="0" bIns="0" rtlCol="0" anchor="t"/>
          <a:lstStyle/>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SUMMER</a:t>
            </a:r>
            <a:endParaRPr lang="en-IE" sz="1700" dirty="0"/>
          </a:p>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AUTUMN</a:t>
            </a:r>
            <a:endParaRPr lang="en-IE" sz="1700" dirty="0"/>
          </a:p>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WINTER</a:t>
            </a:r>
            <a:endParaRPr lang="en-IE" sz="1700" dirty="0"/>
          </a:p>
          <a:p>
            <a:pPr indent="0" marL="0">
              <a:lnSpc>
                <a:spcPts val="2295"/>
              </a:lnSpc>
              <a:buNone/>
            </a:pPr>
            <a:r>
              <a:rPr lang="en-IE" sz="1700" dirty="0">
                <a:solidFill>
                  <a:srgbClr val="A9DB8C"/>
                </a:solidFill>
                <a:latin typeface="Consolas" pitchFamily="34" charset="0"/>
                <a:ea typeface="Consolas" pitchFamily="34" charset="-122"/>
                <a:cs typeface="Consolas" pitchFamily="34" charset="-120"/>
              </a:rPr>
              <a:t>SPRING</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Printing an enum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a:t>
            </a:r>
            <a:r>
              <a:rPr lang="en-IE" sz="2800" b="1" dirty="0">
                <a:solidFill>
                  <a:schemeClr val="accent2"/>
                </a:solidFill>
                <a:latin typeface="Consolas" pitchFamily="34" charset="0"/>
                <a:ea typeface="Consolas" pitchFamily="34" charset="-122"/>
                <a:cs typeface="Consolas" pitchFamily="34" charset="-120"/>
              </a:rPr>
              <a:t>System.out.println(Season.AUTUMN)</a:t>
            </a:r>
            <a:r>
              <a:rPr lang="en-IE" sz="2800" b="1" dirty="0">
                <a:solidFill>
                  <a:schemeClr val="tx1"/>
                </a:solidFill>
              </a:rPr>
              <a:t> print?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AUTUMN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Season.AUTUMN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1</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autumn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Printing an enum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a:t>
            </a:r>
            <a:r>
              <a:rPr lang="en-IE" sz="2000" b="1" dirty="0">
                <a:solidFill>
                  <a:schemeClr val="tx2"/>
                </a:solidFill>
                <a:latin typeface="Consolas" pitchFamily="34" charset="0"/>
                <a:ea typeface="Consolas" pitchFamily="34" charset="-122"/>
                <a:cs typeface="Consolas" pitchFamily="34" charset="-120"/>
              </a:rPr>
              <a:t>System.out.println(Season.AUTUMN)</a:t>
            </a:r>
            <a:r>
              <a:rPr lang="en-IE" sz="2000" b="1" dirty="0">
                <a:solidFill>
                  <a:schemeClr val="tx2"/>
                </a:solidFill>
              </a:rPr>
              <a:t> print?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AUTUMN</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Season.AUTUMN</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1</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autumn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Printing an enum value prints its name, exactly as it was written: AUTUMN. Its position, 1, comes from ordinal(), coming up next.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ordinal() and values()</a:t>
            </a:r>
            <a:endParaRPr lang="en-IE" sz="3400" dirty="0"/>
          </a:p>
        </p:txBody>
      </p:sp>
      <p:sp>
        <p:nvSpPr>
          <p:cNvPr id="5" name="Text 2"/>
          <p:cNvSpPr txBox="1"/>
          <p:nvPr/>
        </p:nvSpPr>
        <p:spPr>
          <a:xfrm>
            <a:off x="548640" y="1783080"/>
            <a:ext cx="5120640" cy="17373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Each enum value has an ordinal, its position counted from 0.</a:t>
            </a:r>
            <a:endParaRPr lang="en-IE" sz="1800" dirty="0"/>
          </a:p>
          <a:p>
            <a:pPr marL="228600" indent="-228600">
              <a:buSzPct val="100000"/>
              <a:buChar char="•"/>
            </a:pPr>
            <a:r>
              <a:rPr lang="en-IE" sz="1800" dirty="0">
                <a:solidFill>
                  <a:schemeClr val="accent2"/>
                </a:solidFill>
                <a:latin typeface="Consolas" pitchFamily="34" charset="0"/>
                <a:ea typeface="Consolas" pitchFamily="34" charset="-122"/>
                <a:cs typeface="Consolas" pitchFamily="34" charset="-120"/>
              </a:rPr>
              <a:t>values()</a:t>
            </a:r>
            <a:r>
              <a:rPr lang="en-IE" sz="1800" dirty="0">
                <a:solidFill>
                  <a:schemeClr val="tx1"/>
                </a:solidFill>
              </a:rPr>
              <a:t> gives an array, so we can pick a value by its index.</a:t>
            </a:r>
            <a:endParaRPr lang="en-IE" sz="1800" dirty="0"/>
          </a:p>
        </p:txBody>
      </p:sp>
      <p:sp>
        <p:nvSpPr>
          <p:cNvPr id="6" name="Value SUMMER"/>
          <p:cNvSpPr/>
          <p:nvPr/>
        </p:nvSpPr>
        <p:spPr>
          <a:xfrm>
            <a:off x="6035040" y="1920240"/>
            <a:ext cx="1325880" cy="777240"/>
          </a:xfrm>
          <a:prstGeom prst="rect">
            <a:avLst/>
          </a:prstGeom>
          <a:solidFill>
            <a:schemeClr val="bg2"/>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SUMMER</a:t>
            </a:r>
            <a:endParaRPr lang="en-IE" sz="1400" dirty="0"/>
          </a:p>
        </p:txBody>
      </p:sp>
      <p:sp>
        <p:nvSpPr>
          <p:cNvPr id="7" name="Text 4"/>
          <p:cNvSpPr txBox="1"/>
          <p:nvPr/>
        </p:nvSpPr>
        <p:spPr>
          <a:xfrm>
            <a:off x="6035040" y="2761488"/>
            <a:ext cx="1325880" cy="274320"/>
          </a:xfrm>
          <a:prstGeom prst="rect">
            <a:avLst/>
          </a:prstGeom>
          <a:noFill/>
          <a:ln/>
        </p:spPr>
        <p:txBody>
          <a:bodyPr wrap="square" lIns="0" tIns="0" rIns="0" bIns="0" rtlCol="0" anchor="t"/>
          <a:lstStyle/>
          <a:p>
            <a:pPr algn="ctr" indent="0" marL="0">
              <a:buNone/>
            </a:pPr>
            <a:r>
              <a:rPr lang="en-IE" sz="1300" dirty="0">
                <a:solidFill>
                  <a:schemeClr val="tx2"/>
                </a:solidFill>
                <a:latin typeface="Consolas" pitchFamily="34" charset="0"/>
                <a:ea typeface="Consolas" pitchFamily="34" charset="-122"/>
                <a:cs typeface="Consolas" pitchFamily="34" charset="-120"/>
              </a:rPr>
              <a:t>[0]</a:t>
            </a:r>
            <a:endParaRPr lang="en-IE" sz="1300" dirty="0"/>
          </a:p>
        </p:txBody>
      </p:sp>
      <p:sp>
        <p:nvSpPr>
          <p:cNvPr id="8" name="Value AUTUMN"/>
          <p:cNvSpPr/>
          <p:nvPr/>
        </p:nvSpPr>
        <p:spPr>
          <a:xfrm>
            <a:off x="7406640" y="1920240"/>
            <a:ext cx="1325880" cy="777240"/>
          </a:xfrm>
          <a:prstGeom prst="rect">
            <a:avLst/>
          </a:prstGeom>
          <a:solidFill>
            <a:schemeClr val="bg2"/>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AUTUMN</a:t>
            </a:r>
            <a:endParaRPr lang="en-IE" sz="1400" dirty="0"/>
          </a:p>
        </p:txBody>
      </p:sp>
      <p:sp>
        <p:nvSpPr>
          <p:cNvPr id="9" name="Text 6"/>
          <p:cNvSpPr txBox="1"/>
          <p:nvPr/>
        </p:nvSpPr>
        <p:spPr>
          <a:xfrm>
            <a:off x="7406640" y="2761488"/>
            <a:ext cx="1325880" cy="274320"/>
          </a:xfrm>
          <a:prstGeom prst="rect">
            <a:avLst/>
          </a:prstGeom>
          <a:noFill/>
          <a:ln/>
        </p:spPr>
        <p:txBody>
          <a:bodyPr wrap="square" lIns="0" tIns="0" rIns="0" bIns="0" rtlCol="0" anchor="t"/>
          <a:lstStyle/>
          <a:p>
            <a:pPr algn="ctr" indent="0" marL="0">
              <a:buNone/>
            </a:pPr>
            <a:r>
              <a:rPr lang="en-IE" sz="1300" dirty="0">
                <a:solidFill>
                  <a:schemeClr val="tx2"/>
                </a:solidFill>
                <a:latin typeface="Consolas" pitchFamily="34" charset="0"/>
                <a:ea typeface="Consolas" pitchFamily="34" charset="-122"/>
                <a:cs typeface="Consolas" pitchFamily="34" charset="-120"/>
              </a:rPr>
              <a:t>[1]</a:t>
            </a:r>
            <a:endParaRPr lang="en-IE" sz="1300" dirty="0"/>
          </a:p>
        </p:txBody>
      </p:sp>
      <p:sp>
        <p:nvSpPr>
          <p:cNvPr id="10" name="Value WINTER"/>
          <p:cNvSpPr/>
          <p:nvPr/>
        </p:nvSpPr>
        <p:spPr>
          <a:xfrm>
            <a:off x="8778240" y="1920240"/>
            <a:ext cx="1325880" cy="777240"/>
          </a:xfrm>
          <a:prstGeom prst="rect">
            <a:avLst/>
          </a:prstGeom>
          <a:solidFill>
            <a:schemeClr val="accent4">
              <a:alpha val="18000"/>
            </a:schemeClr>
          </a:solidFill>
          <a:ln w="15875">
            <a:solidFill>
              <a:schemeClr val="accent4"/>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WINTER</a:t>
            </a:r>
            <a:endParaRPr lang="en-IE" sz="1400" dirty="0"/>
          </a:p>
        </p:txBody>
      </p:sp>
      <p:sp>
        <p:nvSpPr>
          <p:cNvPr id="11" name="Text 8"/>
          <p:cNvSpPr txBox="1"/>
          <p:nvPr/>
        </p:nvSpPr>
        <p:spPr>
          <a:xfrm>
            <a:off x="8778240" y="2761488"/>
            <a:ext cx="1325880" cy="274320"/>
          </a:xfrm>
          <a:prstGeom prst="rect">
            <a:avLst/>
          </a:prstGeom>
          <a:noFill/>
          <a:ln/>
        </p:spPr>
        <p:txBody>
          <a:bodyPr wrap="square" lIns="0" tIns="0" rIns="0" bIns="0" rtlCol="0" anchor="t"/>
          <a:lstStyle/>
          <a:p>
            <a:pPr algn="ctr" indent="0" marL="0">
              <a:buNone/>
            </a:pPr>
            <a:r>
              <a:rPr lang="en-IE" sz="1300" b="1" dirty="0">
                <a:solidFill>
                  <a:schemeClr val="accent4"/>
                </a:solidFill>
                <a:latin typeface="Consolas" pitchFamily="34" charset="0"/>
                <a:ea typeface="Consolas" pitchFamily="34" charset="-122"/>
                <a:cs typeface="Consolas" pitchFamily="34" charset="-120"/>
              </a:rPr>
              <a:t>[2]</a:t>
            </a:r>
            <a:endParaRPr lang="en-IE" sz="1300" dirty="0"/>
          </a:p>
        </p:txBody>
      </p:sp>
      <p:sp>
        <p:nvSpPr>
          <p:cNvPr id="12" name="Value SPRING"/>
          <p:cNvSpPr/>
          <p:nvPr/>
        </p:nvSpPr>
        <p:spPr>
          <a:xfrm>
            <a:off x="10149840" y="1920240"/>
            <a:ext cx="1325880" cy="777240"/>
          </a:xfrm>
          <a:prstGeom prst="rect">
            <a:avLst/>
          </a:prstGeom>
          <a:solidFill>
            <a:schemeClr val="bg2"/>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SPRING</a:t>
            </a:r>
            <a:endParaRPr lang="en-IE" sz="1400" dirty="0"/>
          </a:p>
        </p:txBody>
      </p:sp>
      <p:sp>
        <p:nvSpPr>
          <p:cNvPr id="13" name="Text 10"/>
          <p:cNvSpPr txBox="1"/>
          <p:nvPr/>
        </p:nvSpPr>
        <p:spPr>
          <a:xfrm>
            <a:off x="10149840" y="2761488"/>
            <a:ext cx="1325880" cy="274320"/>
          </a:xfrm>
          <a:prstGeom prst="rect">
            <a:avLst/>
          </a:prstGeom>
          <a:noFill/>
          <a:ln/>
        </p:spPr>
        <p:txBody>
          <a:bodyPr wrap="square" lIns="0" tIns="0" rIns="0" bIns="0" rtlCol="0" anchor="t"/>
          <a:lstStyle/>
          <a:p>
            <a:pPr algn="ctr" indent="0" marL="0">
              <a:buNone/>
            </a:pPr>
            <a:r>
              <a:rPr lang="en-IE" sz="1300" dirty="0">
                <a:solidFill>
                  <a:schemeClr val="tx2"/>
                </a:solidFill>
                <a:latin typeface="Consolas" pitchFamily="34" charset="0"/>
                <a:ea typeface="Consolas" pitchFamily="34" charset="-122"/>
                <a:cs typeface="Consolas" pitchFamily="34" charset="-120"/>
              </a:rPr>
              <a:t>[3]</a:t>
            </a:r>
            <a:endParaRPr lang="en-IE" sz="1300" dirty="0"/>
          </a:p>
        </p:txBody>
      </p:sp>
      <p:sp>
        <p:nvSpPr>
          <p:cNvPr id="14" name="Text 11"/>
          <p:cNvSpPr txBox="1"/>
          <p:nvPr/>
        </p:nvSpPr>
        <p:spPr>
          <a:xfrm>
            <a:off x="6035040" y="3108960"/>
            <a:ext cx="5440680" cy="292608"/>
          </a:xfrm>
          <a:prstGeom prst="rect">
            <a:avLst/>
          </a:prstGeom>
          <a:noFill/>
          <a:ln/>
        </p:spPr>
        <p:txBody>
          <a:bodyPr wrap="square" lIns="0" tIns="0" rIns="0" bIns="0" rtlCol="0" anchor="t"/>
          <a:lstStyle/>
          <a:p>
            <a:pPr algn="ctr" indent="0" marL="0">
              <a:buNone/>
            </a:pPr>
            <a:r>
              <a:rPr lang="en-IE" sz="1300" i="1" dirty="0">
                <a:solidFill>
                  <a:schemeClr val="tx2"/>
                </a:solidFill>
              </a:rPr>
              <a:t>ordinal of WINTER: 2</a:t>
            </a:r>
            <a:endParaRPr lang="en-IE" sz="1300" dirty="0"/>
          </a:p>
        </p:txBody>
      </p:sp>
      <p:sp>
        <p:nvSpPr>
          <p:cNvPr id="15" name="ordinal and values card"/>
          <p:cNvSpPr/>
          <p:nvPr/>
        </p:nvSpPr>
        <p:spPr>
          <a:xfrm>
            <a:off x="548640" y="3794760"/>
            <a:ext cx="6400800"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16" name="ordinal and values language"/>
          <p:cNvSpPr txBox="1"/>
          <p:nvPr/>
        </p:nvSpPr>
        <p:spPr>
          <a:xfrm>
            <a:off x="822960" y="3913632"/>
            <a:ext cx="58521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7" name="ordinal and values text"/>
          <p:cNvSpPr txBox="1"/>
          <p:nvPr/>
        </p:nvSpPr>
        <p:spPr>
          <a:xfrm>
            <a:off x="822960" y="4288536"/>
            <a:ext cx="5852160" cy="106070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 currentSeason = </a:t>
            </a: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WINTER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(currentSeason.</a:t>
            </a:r>
            <a:r>
              <a:rPr lang="en-IE" sz="1500" dirty="0">
                <a:solidFill>
                  <a:srgbClr val="C9B0FF"/>
                </a:solidFill>
                <a:latin typeface="Consolas" pitchFamily="34" charset="0"/>
                <a:ea typeface="Consolas" pitchFamily="34" charset="-122"/>
                <a:cs typeface="Consolas" pitchFamily="34" charset="-120"/>
              </a:rPr>
              <a:t>ordinal</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values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8" name="Output card"/>
          <p:cNvSpPr/>
          <p:nvPr/>
        </p:nvSpPr>
        <p:spPr>
          <a:xfrm>
            <a:off x="7269480" y="3794760"/>
            <a:ext cx="4373575"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19" name="Text 16"/>
          <p:cNvSpPr txBox="1"/>
          <p:nvPr/>
        </p:nvSpPr>
        <p:spPr>
          <a:xfrm>
            <a:off x="7543800" y="3913632"/>
            <a:ext cx="38249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20" name="Output text"/>
          <p:cNvSpPr txBox="1"/>
          <p:nvPr/>
        </p:nvSpPr>
        <p:spPr>
          <a:xfrm>
            <a:off x="7543800" y="4251960"/>
            <a:ext cx="3824935" cy="1115568"/>
          </a:xfrm>
          <a:prstGeom prst="rect">
            <a:avLst/>
          </a:prstGeom>
          <a:noFill/>
          <a:ln/>
        </p:spPr>
        <p:txBody>
          <a:bodyPr wrap="square" lIns="0" tIns="0" rIns="0" bIns="0" rtlCol="0" anchor="t"/>
          <a:lstStyle/>
          <a:p>
            <a:pPr indent="0" marL="0">
              <a:lnSpc>
                <a:spcPts val="2430"/>
              </a:lnSpc>
              <a:buNone/>
            </a:pPr>
            <a:r>
              <a:rPr lang="en-IE" sz="1800" dirty="0">
                <a:solidFill>
                  <a:srgbClr val="A9DB8C"/>
                </a:solidFill>
                <a:latin typeface="Consolas" pitchFamily="34" charset="0"/>
                <a:ea typeface="Consolas" pitchFamily="34" charset="-122"/>
                <a:cs typeface="Consolas" pitchFamily="34" charset="-120"/>
              </a:rPr>
              <a:t>2</a:t>
            </a:r>
            <a:endParaRPr lang="en-IE" sz="1800" dirty="0"/>
          </a:p>
          <a:p>
            <a:pPr indent="0" marL="0">
              <a:lnSpc>
                <a:spcPts val="2430"/>
              </a:lnSpc>
              <a:buNone/>
            </a:pPr>
            <a:r>
              <a:rPr lang="en-IE" sz="1800" dirty="0">
                <a:solidFill>
                  <a:srgbClr val="A9DB8C"/>
                </a:solidFill>
                <a:latin typeface="Consolas" pitchFamily="34" charset="0"/>
                <a:ea typeface="Consolas" pitchFamily="34" charset="-122"/>
                <a:cs typeface="Consolas" pitchFamily="34" charset="-120"/>
              </a:rPr>
              <a:t>SUMMER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ordinal()</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65960"/>
            <a:ext cx="11094415" cy="1879600"/>
          </a:xfrm>
          <a:prstGeom prst="roundRect">
            <a:avLst>
              <a:gd name="adj" fmla="val 5838"/>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477264"/>
          </a:xfrm>
          <a:prstGeom prst="rect">
            <a:avLst/>
          </a:prstGeom>
          <a:noFill/>
          <a:ln/>
        </p:spPr>
        <p:txBody>
          <a:bodyPr wrap="square" lIns="0" tIns="0" rIns="0" bIns="0" rtlCol="0" anchor="t"/>
          <a:lstStyle/>
          <a:p>
            <a:pPr indent="0" marL="0">
              <a:lnSpc>
                <a:spcPts val="2240"/>
              </a:lnSpc>
              <a:buNone/>
            </a:pPr>
            <a:r>
              <a:rPr lang="en-IE" sz="1700" dirty="0">
                <a:solidFill>
                  <a:srgbClr val="FF9F5A"/>
                </a:solidFill>
                <a:latin typeface="Consolas" pitchFamily="34" charset="0"/>
                <a:ea typeface="Consolas" pitchFamily="34" charset="-122"/>
                <a:cs typeface="Consolas" pitchFamily="34" charset="-120"/>
              </a:rPr>
              <a:t>enum</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Day</a:t>
            </a:r>
            <a:r>
              <a:rPr lang="en-IE" sz="1700" dirty="0">
                <a:solidFill>
                  <a:srgbClr val="E6EBF2"/>
                </a:solidFill>
                <a:latin typeface="Consolas" pitchFamily="34" charset="0"/>
                <a:ea typeface="Consolas" pitchFamily="34" charset="-122"/>
                <a:cs typeface="Consolas" pitchFamily="34" charset="-120"/>
              </a:rPr>
              <a:t> { </a:t>
            </a:r>
            <a:r>
              <a:rPr lang="en-IE" sz="1700" dirty="0">
                <a:solidFill>
                  <a:srgbClr val="6CC4E8"/>
                </a:solidFill>
                <a:latin typeface="Consolas" pitchFamily="34" charset="0"/>
                <a:ea typeface="Consolas" pitchFamily="34" charset="-122"/>
                <a:cs typeface="Consolas" pitchFamily="34" charset="-120"/>
              </a:rPr>
              <a:t>MON</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TUE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WED</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i="1" dirty="0">
                <a:solidFill>
                  <a:srgbClr val="A3AEC2"/>
                </a:solidFill>
                <a:latin typeface="Consolas" pitchFamily="34" charset="0"/>
                <a:ea typeface="Consolas" pitchFamily="34" charset="-122"/>
                <a:cs typeface="Consolas" pitchFamily="34" charset="-120"/>
              </a:rPr>
              <a:t>// in main:</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Day</a:t>
            </a:r>
            <a:r>
              <a:rPr lang="en-IE" sz="1700" dirty="0">
                <a:solidFill>
                  <a:srgbClr val="E6EBF2"/>
                </a:solidFill>
                <a:latin typeface="Consolas" pitchFamily="34" charset="0"/>
                <a:ea typeface="Consolas" pitchFamily="34" charset="-122"/>
                <a:cs typeface="Consolas" pitchFamily="34" charset="-120"/>
              </a:rPr>
              <a:t> d = </a:t>
            </a:r>
            <a:r>
              <a:rPr lang="en-IE" sz="1700" dirty="0">
                <a:solidFill>
                  <a:srgbClr val="6CC4E8"/>
                </a:solidFill>
                <a:latin typeface="Consolas" pitchFamily="34" charset="0"/>
                <a:ea typeface="Consolas" pitchFamily="34" charset="-122"/>
                <a:cs typeface="Consolas" pitchFamily="34" charset="-120"/>
              </a:rPr>
              <a:t>Day</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6CC4E8"/>
                </a:solidFill>
                <a:latin typeface="Consolas" pitchFamily="34" charset="0"/>
                <a:ea typeface="Consolas" pitchFamily="34" charset="-122"/>
                <a:cs typeface="Consolas" pitchFamily="34" charset="-120"/>
              </a:rPr>
              <a:t>TUE</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System</a:t>
            </a:r>
            <a:r>
              <a:rPr lang="en-IE" sz="1700" dirty="0">
                <a:solidFill>
                  <a:srgbClr val="E6EBF2"/>
                </a:solidFill>
                <a:latin typeface="Consolas" pitchFamily="34" charset="0"/>
                <a:ea typeface="Consolas" pitchFamily="34" charset="-122"/>
                <a:cs typeface="Consolas" pitchFamily="34" charset="-120"/>
              </a:rPr>
              <a:t>.out.</a:t>
            </a:r>
            <a:r>
              <a:rPr lang="en-IE" sz="1700" dirty="0">
                <a:solidFill>
                  <a:srgbClr val="C9B0FF"/>
                </a:solidFill>
                <a:latin typeface="Consolas" pitchFamily="34" charset="0"/>
                <a:ea typeface="Consolas" pitchFamily="34" charset="-122"/>
                <a:cs typeface="Consolas" pitchFamily="34" charset="-120"/>
              </a:rPr>
              <a:t>println</a:t>
            </a:r>
            <a:r>
              <a:rPr lang="en-IE" sz="1700" dirty="0">
                <a:solidFill>
                  <a:srgbClr val="E6EBF2"/>
                </a:solidFill>
                <a:latin typeface="Consolas" pitchFamily="34" charset="0"/>
                <a:ea typeface="Consolas" pitchFamily="34" charset="-122"/>
                <a:cs typeface="Consolas" pitchFamily="34" charset="-120"/>
              </a:rPr>
              <a:t>(d + </a:t>
            </a:r>
            <a:r>
              <a:rPr lang="en-IE" sz="1700" dirty="0">
                <a:solidFill>
                  <a:srgbClr val="A9DB8C"/>
                </a:solidFill>
                <a:latin typeface="Consolas" pitchFamily="34" charset="0"/>
                <a:ea typeface="Consolas" pitchFamily="34" charset="-122"/>
                <a:cs typeface="Consolas" pitchFamily="34" charset="-120"/>
              </a:rPr>
              <a:t>" "</a:t>
            </a:r>
            <a:r>
              <a:rPr lang="en-IE" sz="1700" dirty="0">
                <a:solidFill>
                  <a:srgbClr val="E6EBF2"/>
                </a:solidFill>
                <a:latin typeface="Consolas" pitchFamily="34" charset="0"/>
                <a:ea typeface="Consolas" pitchFamily="34" charset="-122"/>
                <a:cs typeface="Consolas" pitchFamily="34" charset="-120"/>
              </a:rPr>
              <a:t> + d.</a:t>
            </a:r>
            <a:r>
              <a:rPr lang="en-IE" sz="1700" dirty="0">
                <a:solidFill>
                  <a:srgbClr val="C9B0FF"/>
                </a:solidFill>
                <a:latin typeface="Consolas" pitchFamily="34" charset="0"/>
                <a:ea typeface="Consolas" pitchFamily="34" charset="-122"/>
                <a:cs typeface="Consolas" pitchFamily="34" charset="-120"/>
              </a:rPr>
              <a:t>ordinal</a:t>
            </a:r>
            <a:r>
              <a:rPr lang="en-IE" sz="1700" dirty="0">
                <a:solidFill>
                  <a:srgbClr val="E6EBF2"/>
                </a:solidFill>
                <a:latin typeface="Consolas" pitchFamily="34" charset="0"/>
                <a:ea typeface="Consolas" pitchFamily="34" charset="-122"/>
                <a:cs typeface="Consolas" pitchFamily="34" charset="-120"/>
              </a:rPr>
              <a:t>());</a:t>
            </a:r>
            <a:endParaRPr lang="en-IE" sz="1700" dirty="0"/>
          </a:p>
        </p:txBody>
      </p:sp>
      <p:sp>
        <p:nvSpPr>
          <p:cNvPr id="7" name="Option A"/>
          <p:cNvSpPr/>
          <p:nvPr/>
        </p:nvSpPr>
        <p:spPr>
          <a:xfrm>
            <a:off x="548640" y="41656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3632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9" name="Option A text"/>
          <p:cNvSpPr txBox="1"/>
          <p:nvPr/>
        </p:nvSpPr>
        <p:spPr>
          <a:xfrm>
            <a:off x="1572768" y="4211320"/>
            <a:ext cx="4111600" cy="79756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TUE 1</a:t>
            </a:r>
            <a:endParaRPr lang="en-IE" sz="2000" dirty="0"/>
          </a:p>
        </p:txBody>
      </p:sp>
      <p:sp>
        <p:nvSpPr>
          <p:cNvPr id="10" name="Option B"/>
          <p:cNvSpPr/>
          <p:nvPr/>
        </p:nvSpPr>
        <p:spPr>
          <a:xfrm>
            <a:off x="6233008" y="41656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43632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2" name="Option B text"/>
          <p:cNvSpPr txBox="1"/>
          <p:nvPr/>
        </p:nvSpPr>
        <p:spPr>
          <a:xfrm>
            <a:off x="7257136" y="4211320"/>
            <a:ext cx="4111600" cy="79756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TUE 2</a:t>
            </a:r>
            <a:endParaRPr lang="en-IE" sz="2000" dirty="0"/>
          </a:p>
        </p:txBody>
      </p:sp>
      <p:sp>
        <p:nvSpPr>
          <p:cNvPr id="13" name="Option C"/>
          <p:cNvSpPr/>
          <p:nvPr/>
        </p:nvSpPr>
        <p:spPr>
          <a:xfrm>
            <a:off x="548640" y="52832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4808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5" name="Option C text"/>
          <p:cNvSpPr txBox="1"/>
          <p:nvPr/>
        </p:nvSpPr>
        <p:spPr>
          <a:xfrm>
            <a:off x="1572768" y="5328920"/>
            <a:ext cx="4111600" cy="79756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1 1</a:t>
            </a:r>
            <a:endParaRPr lang="en-IE" sz="2000" dirty="0"/>
          </a:p>
        </p:txBody>
      </p:sp>
      <p:sp>
        <p:nvSpPr>
          <p:cNvPr id="16" name="Option D"/>
          <p:cNvSpPr/>
          <p:nvPr/>
        </p:nvSpPr>
        <p:spPr>
          <a:xfrm>
            <a:off x="6233008" y="52832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4808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8" name="Option D text"/>
          <p:cNvSpPr txBox="1"/>
          <p:nvPr/>
        </p:nvSpPr>
        <p:spPr>
          <a:xfrm>
            <a:off x="7257136" y="5328920"/>
            <a:ext cx="4111600" cy="79756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Day.TUE 1</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ordinal()</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57784"/>
          </a:xfrm>
          <a:prstGeom prst="rect">
            <a:avLst/>
          </a:prstGeom>
          <a:noFill/>
          <a:ln/>
        </p:spPr>
        <p:txBody>
          <a:bodyPr wrap="square" lIns="0" tIns="0" rIns="0" bIns="0" rtlCol="0" anchor="t"/>
          <a:lstStyle/>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d              </a:t>
            </a:r>
            <a:r>
              <a:rPr lang="en-IE" sz="1500" i="1" dirty="0">
                <a:solidFill>
                  <a:srgbClr val="A3AEC2"/>
                </a:solidFill>
                <a:latin typeface="Consolas" pitchFamily="34" charset="0"/>
                <a:ea typeface="Consolas" pitchFamily="34" charset="-122"/>
                <a:cs typeface="Consolas" pitchFamily="34" charset="-120"/>
              </a:rPr>
              <a:t>// prints its name: TUE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d.</a:t>
            </a:r>
            <a:r>
              <a:rPr lang="en-IE" sz="1500" dirty="0">
                <a:solidFill>
                  <a:srgbClr val="C9B0FF"/>
                </a:solidFill>
                <a:latin typeface="Consolas" pitchFamily="34" charset="0"/>
                <a:ea typeface="Consolas" pitchFamily="34" charset="-122"/>
                <a:cs typeface="Consolas" pitchFamily="34" charset="-120"/>
              </a:rPr>
              <a:t>ordinal</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MON is 0, TUE is 1</a:t>
            </a:r>
            <a:endParaRPr lang="en-IE" sz="1500" dirty="0"/>
          </a:p>
        </p:txBody>
      </p:sp>
      <p:sp>
        <p:nvSpPr>
          <p:cNvPr id="7" name="Option A (correct)"/>
          <p:cNvSpPr/>
          <p:nvPr/>
        </p:nvSpPr>
        <p:spPr>
          <a:xfrm>
            <a:off x="548640" y="3063240"/>
            <a:ext cx="5623560" cy="644652"/>
          </a:xfrm>
          <a:prstGeom prst="roundRect">
            <a:avLst>
              <a:gd name="adj" fmla="val 17021"/>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17525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9" name="Option A text"/>
          <p:cNvSpPr txBox="1"/>
          <p:nvPr/>
        </p:nvSpPr>
        <p:spPr>
          <a:xfrm>
            <a:off x="1371600" y="3063240"/>
            <a:ext cx="4142232" cy="6446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TUE 1</a:t>
            </a:r>
            <a:endParaRPr lang="en-IE" sz="1700" dirty="0"/>
          </a:p>
        </p:txBody>
      </p:sp>
      <p:pic>
        <p:nvPicPr>
          <p:cNvPr id="10" name="Correct mark" descr="Correct mark">    </p:cNvPr>
          <p:cNvPicPr>
            <a:picLocks noChangeAspect="1"/>
          </p:cNvPicPr>
          <p:nvPr/>
        </p:nvPicPr>
        <p:blipFill>
          <a:blip r:embed="rId1"/>
          <a:stretch>
            <a:fillRect/>
          </a:stretch>
        </p:blipFill>
        <p:spPr>
          <a:xfrm>
            <a:off x="5623560" y="3202686"/>
            <a:ext cx="365760" cy="365760"/>
          </a:xfrm>
          <a:prstGeom prst="rect">
            <a:avLst/>
          </a:prstGeom>
        </p:spPr>
      </p:pic>
      <p:sp>
        <p:nvSpPr>
          <p:cNvPr id="11" name="Option B"/>
          <p:cNvSpPr/>
          <p:nvPr/>
        </p:nvSpPr>
        <p:spPr>
          <a:xfrm>
            <a:off x="548640" y="3854196"/>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396621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3" name="Option B text"/>
          <p:cNvSpPr txBox="1"/>
          <p:nvPr/>
        </p:nvSpPr>
        <p:spPr>
          <a:xfrm>
            <a:off x="1371600" y="3854196"/>
            <a:ext cx="4572000" cy="6446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TUE 2</a:t>
            </a:r>
            <a:endParaRPr lang="en-IE" sz="1700" dirty="0"/>
          </a:p>
        </p:txBody>
      </p:sp>
      <p:sp>
        <p:nvSpPr>
          <p:cNvPr id="14" name="Option C"/>
          <p:cNvSpPr/>
          <p:nvPr/>
        </p:nvSpPr>
        <p:spPr>
          <a:xfrm>
            <a:off x="548640" y="4645152"/>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5716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45152"/>
            <a:ext cx="4572000" cy="6446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1 1</a:t>
            </a:r>
            <a:endParaRPr lang="en-IE" sz="1700" dirty="0"/>
          </a:p>
        </p:txBody>
      </p:sp>
      <p:sp>
        <p:nvSpPr>
          <p:cNvPr id="17" name="Option D"/>
          <p:cNvSpPr/>
          <p:nvPr/>
        </p:nvSpPr>
        <p:spPr>
          <a:xfrm>
            <a:off x="548640" y="5436108"/>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812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36108"/>
            <a:ext cx="4572000" cy="6446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Day.TUE 1</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Printing </a:t>
            </a:r>
            <a:r>
              <a:rPr lang="en-IE" sz="1800" dirty="0">
                <a:solidFill>
                  <a:schemeClr val="accent2"/>
                </a:solidFill>
                <a:latin typeface="Consolas" pitchFamily="34" charset="0"/>
                <a:ea typeface="Consolas" pitchFamily="34" charset="-122"/>
                <a:cs typeface="Consolas" pitchFamily="34" charset="-120"/>
              </a:rPr>
              <a:t>d</a:t>
            </a:r>
            <a:r>
              <a:rPr lang="en-IE" sz="1800" dirty="0">
                <a:solidFill>
                  <a:schemeClr val="tx1"/>
                </a:solidFill>
              </a:rPr>
              <a:t> gives its name, TUE. </a:t>
            </a:r>
            <a:r>
              <a:rPr lang="en-IE" sz="1800" dirty="0">
                <a:solidFill>
                  <a:schemeClr val="accent2"/>
                </a:solidFill>
                <a:latin typeface="Consolas" pitchFamily="34" charset="0"/>
                <a:ea typeface="Consolas" pitchFamily="34" charset="-122"/>
                <a:cs typeface="Consolas" pitchFamily="34" charset="-120"/>
              </a:rPr>
              <a:t>ordinal()</a:t>
            </a:r>
            <a:r>
              <a:rPr lang="en-IE" sz="1800" dirty="0">
                <a:solidFill>
                  <a:schemeClr val="tx1"/>
                </a:solidFill>
              </a:rPr>
              <a:t> is its position in the enum, counted from 0, so MON is 0, TUE is 1 and WED is 2.</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values()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65960"/>
            <a:ext cx="11094415" cy="1595120"/>
          </a:xfrm>
          <a:prstGeom prst="roundRect">
            <a:avLst>
              <a:gd name="adj" fmla="val 6879"/>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192784"/>
          </a:xfrm>
          <a:prstGeom prst="rect">
            <a:avLst/>
          </a:prstGeom>
          <a:noFill/>
          <a:ln/>
        </p:spPr>
        <p:txBody>
          <a:bodyPr wrap="square" lIns="0" tIns="0" rIns="0" bIns="0" rtlCol="0" anchor="t"/>
          <a:lstStyle/>
          <a:p>
            <a:pPr indent="0" marL="0">
              <a:lnSpc>
                <a:spcPts val="2240"/>
              </a:lnSpc>
              <a:buNone/>
            </a:pPr>
            <a:r>
              <a:rPr lang="en-IE" sz="1700" dirty="0">
                <a:solidFill>
                  <a:srgbClr val="FF9F5A"/>
                </a:solidFill>
                <a:latin typeface="Consolas" pitchFamily="34" charset="0"/>
                <a:ea typeface="Consolas" pitchFamily="34" charset="-122"/>
                <a:cs typeface="Consolas" pitchFamily="34" charset="-120"/>
              </a:rPr>
              <a:t>enum</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Season</a:t>
            </a:r>
            <a:r>
              <a:rPr lang="en-IE" sz="1700" dirty="0">
                <a:solidFill>
                  <a:srgbClr val="E6EBF2"/>
                </a:solidFill>
                <a:latin typeface="Consolas" pitchFamily="34" charset="0"/>
                <a:ea typeface="Consolas" pitchFamily="34" charset="-122"/>
                <a:cs typeface="Consolas" pitchFamily="34" charset="-120"/>
              </a:rPr>
              <a:t> { </a:t>
            </a:r>
            <a:r>
              <a:rPr lang="en-IE" sz="1700" dirty="0">
                <a:solidFill>
                  <a:srgbClr val="6CC4E8"/>
                </a:solidFill>
                <a:latin typeface="Consolas" pitchFamily="34" charset="0"/>
                <a:ea typeface="Consolas" pitchFamily="34" charset="-122"/>
                <a:cs typeface="Consolas" pitchFamily="34" charset="-120"/>
              </a:rPr>
              <a:t>SUMMER</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AUTUMN</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WINTER</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SPRING</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i="1" dirty="0">
                <a:solidFill>
                  <a:srgbClr val="A3AEC2"/>
                </a:solidFill>
                <a:latin typeface="Consolas" pitchFamily="34" charset="0"/>
                <a:ea typeface="Consolas" pitchFamily="34" charset="-122"/>
                <a:cs typeface="Consolas" pitchFamily="34" charset="-120"/>
              </a:rPr>
              <a:t>// in main:</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System</a:t>
            </a:r>
            <a:r>
              <a:rPr lang="en-IE" sz="1700" dirty="0">
                <a:solidFill>
                  <a:srgbClr val="E6EBF2"/>
                </a:solidFill>
                <a:latin typeface="Consolas" pitchFamily="34" charset="0"/>
                <a:ea typeface="Consolas" pitchFamily="34" charset="-122"/>
                <a:cs typeface="Consolas" pitchFamily="34" charset="-120"/>
              </a:rPr>
              <a:t>.out.</a:t>
            </a:r>
            <a:r>
              <a:rPr lang="en-IE" sz="1700" dirty="0">
                <a:solidFill>
                  <a:srgbClr val="C9B0FF"/>
                </a:solidFill>
                <a:latin typeface="Consolas" pitchFamily="34" charset="0"/>
                <a:ea typeface="Consolas" pitchFamily="34" charset="-122"/>
                <a:cs typeface="Consolas" pitchFamily="34" charset="-120"/>
              </a:rPr>
              <a:t>println</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6CC4E8"/>
                </a:solidFill>
                <a:latin typeface="Consolas" pitchFamily="34" charset="0"/>
                <a:ea typeface="Consolas" pitchFamily="34" charset="-122"/>
                <a:cs typeface="Consolas" pitchFamily="34" charset="-120"/>
              </a:rPr>
              <a:t>Season</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C9B0FF"/>
                </a:solidFill>
                <a:latin typeface="Consolas" pitchFamily="34" charset="0"/>
                <a:ea typeface="Consolas" pitchFamily="34" charset="-122"/>
                <a:cs typeface="Consolas" pitchFamily="34" charset="-120"/>
              </a:rPr>
              <a:t>values</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F2C14E"/>
                </a:solidFill>
                <a:latin typeface="Consolas" pitchFamily="34" charset="0"/>
                <a:ea typeface="Consolas" pitchFamily="34" charset="-122"/>
                <a:cs typeface="Consolas" pitchFamily="34" charset="-120"/>
              </a:rPr>
              <a:t>3</a:t>
            </a:r>
            <a:r>
              <a:rPr lang="en-IE" sz="1700" dirty="0">
                <a:solidFill>
                  <a:srgbClr val="E6EBF2"/>
                </a:solidFill>
                <a:latin typeface="Consolas" pitchFamily="34" charset="0"/>
                <a:ea typeface="Consolas" pitchFamily="34" charset="-122"/>
                <a:cs typeface="Consolas" pitchFamily="34" charset="-120"/>
              </a:rPr>
              <a:t>]);</a:t>
            </a:r>
            <a:endParaRPr lang="en-IE" sz="1700" dirty="0"/>
          </a:p>
        </p:txBody>
      </p:sp>
      <p:sp>
        <p:nvSpPr>
          <p:cNvPr id="7" name="Option A"/>
          <p:cNvSpPr/>
          <p:nvPr/>
        </p:nvSpPr>
        <p:spPr>
          <a:xfrm>
            <a:off x="548640" y="388112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07771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92684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WINTER</a:t>
            </a:r>
            <a:endParaRPr lang="en-IE" sz="2000" dirty="0"/>
          </a:p>
        </p:txBody>
      </p:sp>
      <p:sp>
        <p:nvSpPr>
          <p:cNvPr id="10" name="Option B"/>
          <p:cNvSpPr/>
          <p:nvPr/>
        </p:nvSpPr>
        <p:spPr>
          <a:xfrm>
            <a:off x="6233008" y="388112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407771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92684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AUTUMN</a:t>
            </a:r>
            <a:endParaRPr lang="en-IE" sz="2000" dirty="0"/>
          </a:p>
        </p:txBody>
      </p:sp>
      <p:sp>
        <p:nvSpPr>
          <p:cNvPr id="13" name="Option C"/>
          <p:cNvSpPr/>
          <p:nvPr/>
        </p:nvSpPr>
        <p:spPr>
          <a:xfrm>
            <a:off x="548640" y="50698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2664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5115560"/>
            <a:ext cx="4038448" cy="868680"/>
          </a:xfrm>
          <a:prstGeom prst="rect">
            <a:avLst/>
          </a:prstGeom>
          <a:noFill/>
          <a:ln/>
        </p:spPr>
        <p:txBody>
          <a:bodyPr wrap="square" lIns="0" tIns="0" rIns="0" bIns="0" rtlCol="0" anchor="ctr"/>
          <a:lstStyle/>
          <a:p>
            <a:pPr indent="0" marL="0">
              <a:buNone/>
            </a:pPr>
            <a:r>
              <a:rPr lang="en-IE" sz="2000" dirty="0">
                <a:solidFill>
                  <a:schemeClr val="tx1"/>
                </a:solidFill>
              </a:rPr>
              <a:t>Compile error</a:t>
            </a:r>
            <a:endParaRPr lang="en-IE" sz="2000" dirty="0"/>
          </a:p>
        </p:txBody>
      </p:sp>
      <p:sp>
        <p:nvSpPr>
          <p:cNvPr id="16" name="Option D"/>
          <p:cNvSpPr/>
          <p:nvPr/>
        </p:nvSpPr>
        <p:spPr>
          <a:xfrm>
            <a:off x="6233008" y="50698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2664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511556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SPRING</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values()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06070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values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SUMMER</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values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1</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AUTUMN</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values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2</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WINTER</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Season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values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3</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SPRING</a:t>
            </a:r>
            <a:endParaRPr lang="en-IE" sz="1500" dirty="0"/>
          </a:p>
        </p:txBody>
      </p:sp>
      <p:sp>
        <p:nvSpPr>
          <p:cNvPr id="7" name="Option A"/>
          <p:cNvSpPr/>
          <p:nvPr/>
        </p:nvSpPr>
        <p:spPr>
          <a:xfrm>
            <a:off x="548640" y="3566160"/>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630168"/>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41882" y="3566160"/>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WINTER</a:t>
            </a:r>
            <a:endParaRPr lang="en-IE" sz="1500" dirty="0"/>
          </a:p>
        </p:txBody>
      </p:sp>
      <p:sp>
        <p:nvSpPr>
          <p:cNvPr id="10" name="Option B"/>
          <p:cNvSpPr/>
          <p:nvPr/>
        </p:nvSpPr>
        <p:spPr>
          <a:xfrm>
            <a:off x="548640" y="4231386"/>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295394"/>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41882" y="4231386"/>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AUTUMN</a:t>
            </a:r>
            <a:endParaRPr lang="en-IE" sz="1500" dirty="0"/>
          </a:p>
        </p:txBody>
      </p:sp>
      <p:sp>
        <p:nvSpPr>
          <p:cNvPr id="13" name="Option C"/>
          <p:cNvSpPr/>
          <p:nvPr/>
        </p:nvSpPr>
        <p:spPr>
          <a:xfrm>
            <a:off x="548640" y="4896612"/>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960620"/>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5" name="Option C text"/>
          <p:cNvSpPr txBox="1"/>
          <p:nvPr/>
        </p:nvSpPr>
        <p:spPr>
          <a:xfrm>
            <a:off x="1341882" y="4896612"/>
            <a:ext cx="4601718" cy="518922"/>
          </a:xfrm>
          <a:prstGeom prst="rect">
            <a:avLst/>
          </a:prstGeom>
          <a:noFill/>
          <a:ln/>
        </p:spPr>
        <p:txBody>
          <a:bodyPr wrap="square" lIns="0" tIns="0" rIns="0" bIns="0" rtlCol="0" anchor="ctr"/>
          <a:lstStyle/>
          <a:p>
            <a:pPr indent="0" marL="0">
              <a:buNone/>
            </a:pPr>
            <a:r>
              <a:rPr lang="en-IE" sz="1500" dirty="0">
                <a:solidFill>
                  <a:schemeClr val="tx2"/>
                </a:solidFill>
              </a:rPr>
              <a:t>Compile error</a:t>
            </a:r>
            <a:endParaRPr lang="en-IE" sz="1500" dirty="0"/>
          </a:p>
        </p:txBody>
      </p:sp>
      <p:sp>
        <p:nvSpPr>
          <p:cNvPr id="16" name="Option D (correct)"/>
          <p:cNvSpPr/>
          <p:nvPr/>
        </p:nvSpPr>
        <p:spPr>
          <a:xfrm>
            <a:off x="548640" y="5561838"/>
            <a:ext cx="5623560" cy="518922"/>
          </a:xfrm>
          <a:prstGeom prst="roundRect">
            <a:avLst>
              <a:gd name="adj" fmla="val 21145"/>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625846"/>
            <a:ext cx="390906" cy="39090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8" name="Option D text"/>
          <p:cNvSpPr txBox="1"/>
          <p:nvPr/>
        </p:nvSpPr>
        <p:spPr>
          <a:xfrm>
            <a:off x="1341882" y="5561838"/>
            <a:ext cx="4171950" cy="518922"/>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SPRING</a:t>
            </a:r>
            <a:endParaRPr lang="en-IE" sz="1500" dirty="0"/>
          </a:p>
        </p:txBody>
      </p:sp>
      <p:pic>
        <p:nvPicPr>
          <p:cNvPr id="19" name="Correct mark" descr="Correct mark">    </p:cNvPr>
          <p:cNvPicPr>
            <a:picLocks noChangeAspect="1"/>
          </p:cNvPicPr>
          <p:nvPr/>
        </p:nvPicPr>
        <p:blipFill>
          <a:blip r:embed="rId1"/>
          <a:stretch>
            <a:fillRect/>
          </a:stretch>
        </p:blipFill>
        <p:spPr>
          <a:xfrm>
            <a:off x="5623560" y="5638419"/>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values()</a:t>
            </a:r>
            <a:r>
              <a:rPr lang="en-IE" sz="1800" dirty="0">
                <a:solidFill>
                  <a:schemeClr val="tx1"/>
                </a:solidFill>
              </a:rPr>
              <a:t> gives all the values in an array, in the order they were written. Like any array it starts at 0, so index 3 is the fourth value, SPRING.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Where enums live</a:t>
            </a:r>
            <a:endParaRPr lang="en-IE" sz="3400" dirty="0"/>
          </a:p>
        </p:txBody>
      </p:sp>
      <p:sp>
        <p:nvSpPr>
          <p:cNvPr id="5" name="Text 2"/>
          <p:cNvSpPr txBox="1"/>
          <p:nvPr/>
        </p:nvSpPr>
        <p:spPr>
          <a:xfrm>
            <a:off x="548640" y="1783080"/>
            <a:ext cx="5120640" cy="36576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Enums can be declared in their own file, or inside other classes.</a:t>
            </a:r>
            <a:endParaRPr lang="en-IE" sz="1800" dirty="0"/>
          </a:p>
          <a:p>
            <a:pPr marL="228600" indent="-228600">
              <a:spcAft>
                <a:spcPts val="1200"/>
              </a:spcAft>
              <a:buSzPct val="100000"/>
              <a:buChar char="•"/>
            </a:pPr>
            <a:r>
              <a:rPr lang="en-IE" sz="1800" dirty="0">
                <a:solidFill>
                  <a:schemeClr val="tx1"/>
                </a:solidFill>
              </a:rPr>
              <a:t>In Eclipse, we can add one with New → Enum.</a:t>
            </a:r>
            <a:endParaRPr lang="en-IE" sz="1800" dirty="0"/>
          </a:p>
          <a:p>
            <a:pPr marL="228600" indent="-228600">
              <a:buSzPct val="100000"/>
              <a:buChar char="•"/>
            </a:pPr>
            <a:r>
              <a:rPr lang="en-IE" sz="1800" dirty="0">
                <a:solidFill>
                  <a:schemeClr val="tx1"/>
                </a:solidFill>
              </a:rPr>
              <a:t>An enum is similar to a class: it can also contain variables and methods.</a:t>
            </a:r>
            <a:endParaRPr lang="en-IE" sz="1800" dirty="0"/>
          </a:p>
        </p:txBody>
      </p:sp>
      <p:sp>
        <p:nvSpPr>
          <p:cNvPr id="6" name="Text 3"/>
          <p:cNvSpPr txBox="1"/>
          <p:nvPr/>
        </p:nvSpPr>
        <p:spPr>
          <a:xfrm>
            <a:off x="6035040" y="1691640"/>
            <a:ext cx="5486400" cy="320040"/>
          </a:xfrm>
          <a:prstGeom prst="rect">
            <a:avLst/>
          </a:prstGeom>
          <a:noFill/>
          <a:ln/>
        </p:spPr>
        <p:txBody>
          <a:bodyPr wrap="square" lIns="0" tIns="0" rIns="0" bIns="0" rtlCol="0" anchor="t"/>
          <a:lstStyle/>
          <a:p>
            <a:pPr indent="0" marL="0">
              <a:buNone/>
            </a:pPr>
            <a:r>
              <a:rPr lang="en-IE" sz="1500" b="1" dirty="0">
                <a:solidFill>
                  <a:schemeClr val="tx2"/>
                </a:solidFill>
              </a:rPr>
              <a:t>In its own file: Season.java</a:t>
            </a:r>
            <a:endParaRPr lang="en-IE" sz="1500" dirty="0"/>
          </a:p>
        </p:txBody>
      </p:sp>
      <p:sp>
        <p:nvSpPr>
          <p:cNvPr id="7" name="Own file card"/>
          <p:cNvSpPr/>
          <p:nvPr/>
        </p:nvSpPr>
        <p:spPr>
          <a:xfrm>
            <a:off x="6035040" y="2057400"/>
            <a:ext cx="5608015"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8" name="Own file language"/>
          <p:cNvSpPr txBox="1"/>
          <p:nvPr/>
        </p:nvSpPr>
        <p:spPr>
          <a:xfrm>
            <a:off x="6309360" y="2176272"/>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9" name="Own file text"/>
          <p:cNvSpPr txBox="1"/>
          <p:nvPr/>
        </p:nvSpPr>
        <p:spPr>
          <a:xfrm>
            <a:off x="6309360" y="2551176"/>
            <a:ext cx="505937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enum</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Season</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SUMMER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AUTUMN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WINTER</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SPRING</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0" name="Text 7"/>
          <p:cNvSpPr txBox="1"/>
          <p:nvPr/>
        </p:nvSpPr>
        <p:spPr>
          <a:xfrm>
            <a:off x="6035040" y="3786378"/>
            <a:ext cx="5486400" cy="320040"/>
          </a:xfrm>
          <a:prstGeom prst="rect">
            <a:avLst/>
          </a:prstGeom>
          <a:noFill/>
          <a:ln/>
        </p:spPr>
        <p:txBody>
          <a:bodyPr wrap="square" lIns="0" tIns="0" rIns="0" bIns="0" rtlCol="0" anchor="t"/>
          <a:lstStyle/>
          <a:p>
            <a:pPr indent="0" marL="0">
              <a:buNone/>
            </a:pPr>
            <a:r>
              <a:rPr lang="en-IE" sz="1500" b="1" dirty="0">
                <a:solidFill>
                  <a:schemeClr val="tx2"/>
                </a:solidFill>
              </a:rPr>
              <a:t>Inside another class</a:t>
            </a:r>
            <a:endParaRPr lang="en-IE" sz="1500" dirty="0"/>
          </a:p>
        </p:txBody>
      </p:sp>
      <p:sp>
        <p:nvSpPr>
          <p:cNvPr id="11" name="Inside a class card"/>
          <p:cNvSpPr/>
          <p:nvPr/>
        </p:nvSpPr>
        <p:spPr>
          <a:xfrm>
            <a:off x="6035040" y="4152138"/>
            <a:ext cx="5608015" cy="1405128"/>
          </a:xfrm>
          <a:prstGeom prst="roundRect">
            <a:avLst>
              <a:gd name="adj" fmla="val 7809"/>
            </a:avLst>
          </a:prstGeom>
          <a:solidFill>
            <a:schemeClr val="tx1"/>
          </a:solidFill>
          <a:ln/>
          <a:effectLst>
            <a:outerShdw sx="100000" sy="100000" kx="0" ky="0" algn="bl" rotWithShape="0" blurRad="114300" dist="31750" dir="5400000">
              <a:srgbClr val="1D2433">
                <a:alpha val="12000"/>
              </a:srgbClr>
            </a:outerShdw>
          </a:effectLst>
        </p:spPr>
      </p:sp>
      <p:sp>
        <p:nvSpPr>
          <p:cNvPr id="12" name="Inside a class language"/>
          <p:cNvSpPr txBox="1"/>
          <p:nvPr/>
        </p:nvSpPr>
        <p:spPr>
          <a:xfrm>
            <a:off x="6309360" y="4271010"/>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3" name="Inside a class text"/>
          <p:cNvSpPr txBox="1"/>
          <p:nvPr/>
        </p:nvSpPr>
        <p:spPr>
          <a:xfrm>
            <a:off x="6309360" y="4645914"/>
            <a:ext cx="5059375" cy="7101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Weather</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enum</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Season</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6CC4E8"/>
                </a:solidFill>
                <a:latin typeface="Consolas" pitchFamily="34" charset="0"/>
                <a:ea typeface="Consolas" pitchFamily="34" charset="-122"/>
                <a:cs typeface="Consolas" pitchFamily="34" charset="-120"/>
              </a:rPr>
              <a:t>SUMMER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AUTUMN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WINTER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SPRING</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Where enums live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Where can we declare an enum?</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Inside a class, but never in its own file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its own file, but never inside a class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Inside the main method, and nowhere else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its own file, or inside another class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Where enums live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Where can we declare an enum?</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Inside a class, but never in its own file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its own file, but never inside a class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Inside the main method, and nowhere else</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In its own file, or inside another class</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enum can have its own file (in Eclipse: New → Enum) or be declared inside another class. A and B each leave out one of these places, and C leaves out both.</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ENUMS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Giving each value a number</a:t>
            </a:r>
            <a:endParaRPr lang="en-IE" sz="3400" dirty="0"/>
          </a:p>
        </p:txBody>
      </p:sp>
      <p:sp>
        <p:nvSpPr>
          <p:cNvPr id="5" name="Time card"/>
          <p:cNvSpPr/>
          <p:nvPr/>
        </p:nvSpPr>
        <p:spPr>
          <a:xfrm>
            <a:off x="548640" y="1691640"/>
            <a:ext cx="5394960" cy="3804158"/>
          </a:xfrm>
          <a:prstGeom prst="roundRect">
            <a:avLst>
              <a:gd name="adj" fmla="val 2884"/>
            </a:avLst>
          </a:prstGeom>
          <a:solidFill>
            <a:schemeClr val="tx1"/>
          </a:solidFill>
          <a:ln/>
          <a:effectLst>
            <a:outerShdw sx="100000" sy="100000" kx="0" ky="0" algn="bl" rotWithShape="0" blurRad="114300" dist="31750" dir="5400000">
              <a:srgbClr val="1D2433">
                <a:alpha val="12000"/>
              </a:srgbClr>
            </a:outerShdw>
          </a:effectLst>
        </p:spPr>
      </p:sp>
      <p:sp>
        <p:nvSpPr>
          <p:cNvPr id="6" name="Time language"/>
          <p:cNvSpPr txBox="1"/>
          <p:nvPr/>
        </p:nvSpPr>
        <p:spPr>
          <a:xfrm>
            <a:off x="822960" y="1810512"/>
            <a:ext cx="48463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Time text"/>
          <p:cNvSpPr txBox="1"/>
          <p:nvPr/>
        </p:nvSpPr>
        <p:spPr>
          <a:xfrm>
            <a:off x="822960" y="2185416"/>
            <a:ext cx="4846320" cy="31092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enum</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Time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HOURS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24</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MINUTES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60</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DAYS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7</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final</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value;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Time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value)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.value = value;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getTime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value;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Text 5"/>
          <p:cNvSpPr txBox="1"/>
          <p:nvPr/>
        </p:nvSpPr>
        <p:spPr>
          <a:xfrm>
            <a:off x="6263640" y="1737360"/>
            <a:ext cx="5379415" cy="12344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We can give each value its own data by adding a constructor to the enum.</a:t>
            </a:r>
            <a:endParaRPr lang="en-IE" sz="1700" dirty="0"/>
          </a:p>
          <a:p>
            <a:pPr marL="228600" indent="-228600">
              <a:buSzPct val="100000"/>
              <a:buChar char="•"/>
            </a:pPr>
            <a:r>
              <a:rPr lang="en-IE" sz="1700" dirty="0">
                <a:solidFill>
                  <a:schemeClr val="tx1"/>
                </a:solidFill>
              </a:rPr>
              <a:t>Each number is kept in a private final field, with a getter but no setter.</a:t>
            </a:r>
            <a:endParaRPr lang="en-IE" sz="1700" dirty="0"/>
          </a:p>
        </p:txBody>
      </p:sp>
      <p:sp>
        <p:nvSpPr>
          <p:cNvPr id="9" name="Using Time card"/>
          <p:cNvSpPr/>
          <p:nvPr/>
        </p:nvSpPr>
        <p:spPr>
          <a:xfrm>
            <a:off x="6263640" y="3017520"/>
            <a:ext cx="5379415" cy="1689608"/>
          </a:xfrm>
          <a:prstGeom prst="roundRect">
            <a:avLst>
              <a:gd name="adj" fmla="val 6494"/>
            </a:avLst>
          </a:prstGeom>
          <a:solidFill>
            <a:schemeClr val="tx1"/>
          </a:solidFill>
          <a:ln/>
          <a:effectLst>
            <a:outerShdw sx="100000" sy="100000" kx="0" ky="0" algn="bl" rotWithShape="0" blurRad="114300" dist="31750" dir="5400000">
              <a:srgbClr val="1D2433">
                <a:alpha val="12000"/>
              </a:srgbClr>
            </a:outerShdw>
          </a:effectLst>
        </p:spPr>
      </p:sp>
      <p:sp>
        <p:nvSpPr>
          <p:cNvPr id="10" name="Using Time language"/>
          <p:cNvSpPr txBox="1"/>
          <p:nvPr/>
        </p:nvSpPr>
        <p:spPr>
          <a:xfrm>
            <a:off x="6537960" y="3136392"/>
            <a:ext cx="4830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1" name="Using Time text"/>
          <p:cNvSpPr txBox="1"/>
          <p:nvPr/>
        </p:nvSpPr>
        <p:spPr>
          <a:xfrm>
            <a:off x="6537960" y="3511296"/>
            <a:ext cx="4830775" cy="9946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hours = </a:t>
            </a:r>
            <a:r>
              <a:rPr lang="en-IE" sz="1400" dirty="0">
                <a:solidFill>
                  <a:srgbClr val="6CC4E8"/>
                </a:solidFill>
                <a:latin typeface="Consolas" pitchFamily="34" charset="0"/>
                <a:ea typeface="Consolas" pitchFamily="34" charset="-122"/>
                <a:cs typeface="Consolas" pitchFamily="34" charset="-120"/>
              </a:rPr>
              <a:t>Time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HOURS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getTime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(hours);</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Time</a:t>
            </a:r>
            <a:r>
              <a:rPr lang="en-IE" sz="1400" dirty="0">
                <a:solidFill>
                  <a:srgbClr val="E6EBF2"/>
                </a:solidFill>
                <a:latin typeface="Consolas" pitchFamily="34" charset="0"/>
                <a:ea typeface="Consolas" pitchFamily="34" charset="-122"/>
                <a:cs typeface="Consolas" pitchFamily="34" charset="-120"/>
              </a:rPr>
              <a:t> minutes = </a:t>
            </a:r>
            <a:r>
              <a:rPr lang="en-IE" sz="1400" dirty="0">
                <a:solidFill>
                  <a:srgbClr val="6CC4E8"/>
                </a:solidFill>
                <a:latin typeface="Consolas" pitchFamily="34" charset="0"/>
                <a:ea typeface="Consolas" pitchFamily="34" charset="-122"/>
                <a:cs typeface="Consolas" pitchFamily="34" charset="-120"/>
              </a:rPr>
              <a:t>Time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MINUTES</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(minutes.</a:t>
            </a:r>
            <a:r>
              <a:rPr lang="en-IE" sz="1400" dirty="0">
                <a:solidFill>
                  <a:srgbClr val="C9B0FF"/>
                </a:solidFill>
                <a:latin typeface="Consolas" pitchFamily="34" charset="0"/>
                <a:ea typeface="Consolas" pitchFamily="34" charset="-122"/>
                <a:cs typeface="Consolas" pitchFamily="34" charset="-120"/>
              </a:rPr>
              <a:t>getTime</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2" name="Output card"/>
          <p:cNvSpPr/>
          <p:nvPr/>
        </p:nvSpPr>
        <p:spPr>
          <a:xfrm>
            <a:off x="6263640" y="4890008"/>
            <a:ext cx="5379415" cy="1234440"/>
          </a:xfrm>
          <a:prstGeom prst="roundRect">
            <a:avLst>
              <a:gd name="adj" fmla="val 8889"/>
            </a:avLst>
          </a:prstGeom>
          <a:solidFill>
            <a:schemeClr val="tx1"/>
          </a:solidFill>
          <a:ln/>
          <a:effectLst>
            <a:outerShdw sx="100000" sy="100000" kx="0" ky="0" algn="bl" rotWithShape="0" blurRad="114300" dist="31750" dir="5400000">
              <a:srgbClr val="1D2433">
                <a:alpha val="12000"/>
              </a:srgbClr>
            </a:outerShdw>
          </a:effectLst>
        </p:spPr>
      </p:sp>
      <p:sp>
        <p:nvSpPr>
          <p:cNvPr id="13" name="Text 10"/>
          <p:cNvSpPr txBox="1"/>
          <p:nvPr/>
        </p:nvSpPr>
        <p:spPr>
          <a:xfrm>
            <a:off x="6537960" y="5008880"/>
            <a:ext cx="4830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4" name="Output text"/>
          <p:cNvSpPr txBox="1"/>
          <p:nvPr/>
        </p:nvSpPr>
        <p:spPr>
          <a:xfrm>
            <a:off x="6537960" y="5347208"/>
            <a:ext cx="4830775" cy="594360"/>
          </a:xfrm>
          <a:prstGeom prst="rect">
            <a:avLst/>
          </a:prstGeom>
          <a:noFill/>
          <a:ln/>
        </p:spPr>
        <p:txBody>
          <a:bodyPr wrap="square" lIns="0" tIns="0" rIns="0" bIns="0" rtlCol="0" anchor="t"/>
          <a:lstStyle/>
          <a:p>
            <a:pPr indent="0" marL="0">
              <a:lnSpc>
                <a:spcPts val="2160"/>
              </a:lnSpc>
              <a:buNone/>
            </a:pPr>
            <a:r>
              <a:rPr lang="en-IE" sz="1600" dirty="0">
                <a:solidFill>
                  <a:srgbClr val="A9DB8C"/>
                </a:solidFill>
                <a:latin typeface="Consolas" pitchFamily="34" charset="0"/>
                <a:ea typeface="Consolas" pitchFamily="34" charset="-122"/>
                <a:cs typeface="Consolas" pitchFamily="34" charset="-120"/>
              </a:rPr>
              <a:t>24</a:t>
            </a:r>
            <a:endParaRPr lang="en-IE" sz="1600" dirty="0"/>
          </a:p>
          <a:p>
            <a:pPr indent="0" marL="0">
              <a:lnSpc>
                <a:spcPts val="2160"/>
              </a:lnSpc>
              <a:buNone/>
            </a:pPr>
            <a:r>
              <a:rPr lang="en-IE" sz="1600" dirty="0">
                <a:solidFill>
                  <a:srgbClr val="A9DB8C"/>
                </a:solidFill>
                <a:latin typeface="Consolas" pitchFamily="34" charset="0"/>
                <a:ea typeface="Consolas" pitchFamily="34" charset="-122"/>
                <a:cs typeface="Consolas" pitchFamily="34" charset="-120"/>
              </a:rPr>
              <a:t>60</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 with values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07286"/>
            <a:ext cx="6035040" cy="4140708"/>
          </a:xfrm>
          <a:prstGeom prst="roundRect">
            <a:avLst>
              <a:gd name="adj" fmla="val 265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02615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01062"/>
            <a:ext cx="5486400" cy="34457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enum</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Time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HOURS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F2C14E"/>
                </a:solidFill>
                <a:latin typeface="Consolas" pitchFamily="34" charset="0"/>
                <a:ea typeface="Consolas" pitchFamily="34" charset="-122"/>
                <a:cs typeface="Consolas" pitchFamily="34" charset="-120"/>
              </a:rPr>
              <a:t>24</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MINUTES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F2C14E"/>
                </a:solidFill>
                <a:latin typeface="Consolas" pitchFamily="34" charset="0"/>
                <a:ea typeface="Consolas" pitchFamily="34" charset="-122"/>
                <a:cs typeface="Consolas" pitchFamily="34" charset="-120"/>
              </a:rPr>
              <a:t>60</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DAYS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F2C14E"/>
                </a:solidFill>
                <a:latin typeface="Consolas" pitchFamily="34" charset="0"/>
                <a:ea typeface="Consolas" pitchFamily="34" charset="-122"/>
                <a:cs typeface="Consolas" pitchFamily="34" charset="-120"/>
              </a:rPr>
              <a:t>7</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final</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value;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Time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value)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.value = value;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getTime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value;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in main:</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Time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DAYS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getTime</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7</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2</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DAYS</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24</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Enums with values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909320"/>
          </a:xfrm>
          <a:prstGeom prst="roundRect">
            <a:avLst>
              <a:gd name="adj" fmla="val 1206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06984"/>
          </a:xfrm>
          <a:prstGeom prst="rect">
            <a:avLst/>
          </a:prstGeom>
          <a:noFill/>
          <a:ln/>
        </p:spPr>
        <p:txBody>
          <a:bodyPr wrap="square" lIns="0" tIns="0" rIns="0" bIns="0" rtlCol="0" anchor="t"/>
          <a:lstStyle/>
          <a:p>
            <a:pPr indent="0" marL="0">
              <a:lnSpc>
                <a:spcPts val="1780"/>
              </a:lnSpc>
              <a:buNone/>
            </a:pPr>
            <a:r>
              <a:rPr lang="en-IE" sz="1350" dirty="0">
                <a:solidFill>
                  <a:srgbClr val="C9B0FF"/>
                </a:solidFill>
                <a:latin typeface="Consolas" pitchFamily="34" charset="0"/>
                <a:ea typeface="Consolas" pitchFamily="34" charset="-122"/>
                <a:cs typeface="Consolas" pitchFamily="34" charset="-120"/>
              </a:rPr>
              <a:t>DAYS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F2C14E"/>
                </a:solidFill>
                <a:latin typeface="Consolas" pitchFamily="34" charset="0"/>
                <a:ea typeface="Consolas" pitchFamily="34" charset="-122"/>
                <a:cs typeface="Consolas" pitchFamily="34" charset="-120"/>
              </a:rPr>
              <a:t>7</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runs Time(7): value = 7</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Time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DAYS</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getTime</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returns value: 7</a:t>
            </a:r>
            <a:endParaRPr lang="en-IE" sz="1350" dirty="0"/>
          </a:p>
        </p:txBody>
      </p:sp>
      <p:sp>
        <p:nvSpPr>
          <p:cNvPr id="7" name="Option A (correct)"/>
          <p:cNvSpPr/>
          <p:nvPr/>
        </p:nvSpPr>
        <p:spPr>
          <a:xfrm>
            <a:off x="548640" y="3012440"/>
            <a:ext cx="5623560" cy="657352"/>
          </a:xfrm>
          <a:prstGeom prst="roundRect">
            <a:avLst>
              <a:gd name="adj" fmla="val 16692"/>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13080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9" name="Option A text"/>
          <p:cNvSpPr txBox="1"/>
          <p:nvPr/>
        </p:nvSpPr>
        <p:spPr>
          <a:xfrm>
            <a:off x="1371600" y="3012440"/>
            <a:ext cx="4142232" cy="6573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7</a:t>
            </a:r>
            <a:endParaRPr lang="en-IE" sz="1700" dirty="0"/>
          </a:p>
        </p:txBody>
      </p:sp>
      <p:pic>
        <p:nvPicPr>
          <p:cNvPr id="10" name="Correct mark" descr="Correct mark">    </p:cNvPr>
          <p:cNvPicPr>
            <a:picLocks noChangeAspect="1"/>
          </p:cNvPicPr>
          <p:nvPr/>
        </p:nvPicPr>
        <p:blipFill>
          <a:blip r:embed="rId1"/>
          <a:stretch>
            <a:fillRect/>
          </a:stretch>
        </p:blipFill>
        <p:spPr>
          <a:xfrm>
            <a:off x="5623560" y="3158236"/>
            <a:ext cx="365760" cy="365760"/>
          </a:xfrm>
          <a:prstGeom prst="rect">
            <a:avLst/>
          </a:prstGeom>
        </p:spPr>
      </p:pic>
      <p:sp>
        <p:nvSpPr>
          <p:cNvPr id="11" name="Option B"/>
          <p:cNvSpPr/>
          <p:nvPr/>
        </p:nvSpPr>
        <p:spPr>
          <a:xfrm>
            <a:off x="548640" y="3816096"/>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3934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3" name="Option B text"/>
          <p:cNvSpPr txBox="1"/>
          <p:nvPr/>
        </p:nvSpPr>
        <p:spPr>
          <a:xfrm>
            <a:off x="1371600" y="3816096"/>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2</a:t>
            </a:r>
            <a:endParaRPr lang="en-IE" sz="1700" dirty="0"/>
          </a:p>
        </p:txBody>
      </p:sp>
      <p:sp>
        <p:nvSpPr>
          <p:cNvPr id="14" name="Option C"/>
          <p:cNvSpPr/>
          <p:nvPr/>
        </p:nvSpPr>
        <p:spPr>
          <a:xfrm>
            <a:off x="548640" y="4619752"/>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381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19752"/>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DAYS</a:t>
            </a:r>
            <a:endParaRPr lang="en-IE" sz="1700" dirty="0"/>
          </a:p>
        </p:txBody>
      </p:sp>
      <p:sp>
        <p:nvSpPr>
          <p:cNvPr id="17" name="Option D"/>
          <p:cNvSpPr/>
          <p:nvPr/>
        </p:nvSpPr>
        <p:spPr>
          <a:xfrm>
            <a:off x="548640" y="5423408"/>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17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23408"/>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24</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Each constant calls the enum’s constructor with its own number, so DAYS stores 7 and getTime() returns it. 2 would be DAYS’ ordinal, and 24 belongs to HOURS.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6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2">
              <a:alpha val="14000"/>
            </a:schemeClr>
          </a:solidFill>
          <a:ln/>
        </p:spPr>
      </p:sp>
      <p:pic>
        <p:nvPicPr>
          <p:cNvPr id="7" name="lock simple icon" descr="lock simple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Immutable</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Its state can’t change after it is constructed.</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4">
              <a:alpha val="14000"/>
            </a:schemeClr>
          </a:solidFill>
          <a:ln/>
        </p:spPr>
      </p:sp>
      <p:pic>
        <p:nvPicPr>
          <p:cNvPr id="12" name="text t icon" descr="text t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Strings</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Every change makes a new String.</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1">
              <a:alpha val="14000"/>
            </a:schemeClr>
          </a:solidFill>
          <a:ln/>
        </p:spPr>
      </p:sp>
      <p:pic>
        <p:nvPicPr>
          <p:cNvPr id="17" name="prohibit icon" descr="prohibit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No setters</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Private final fields, set by the constructor.</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5">
              <a:alpha val="14000"/>
            </a:schemeClr>
          </a:solidFill>
          <a:ln/>
        </p:spPr>
      </p:sp>
      <p:pic>
        <p:nvPicPr>
          <p:cNvPr id="22" name="puzzle piece icon" descr="puzzle piece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Design pattern</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known structure for a common problem.</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2">
              <a:alpha val="14000"/>
            </a:schemeClr>
          </a:solidFill>
          <a:ln/>
        </p:spPr>
      </p:sp>
      <p:pic>
        <p:nvPicPr>
          <p:cNvPr id="27" name="number circle one icon" descr="number circle one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Singleton</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Only one instance, shared by everyone.</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3">
              <a:alpha val="14000"/>
            </a:schemeClr>
          </a:solidFill>
          <a:ln/>
        </p:spPr>
      </p:sp>
      <p:pic>
        <p:nvPicPr>
          <p:cNvPr id="32" name="key icon" descr="key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Constructor</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Private, so only the class itself can use new.</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1">
              <a:alpha val="14000"/>
            </a:schemeClr>
          </a:solidFill>
          <a:ln/>
        </p:spPr>
      </p:sp>
      <p:pic>
        <p:nvPicPr>
          <p:cNvPr id="37" name="list numbers icon" descr="list numbers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Enum</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fixed group of named constants.</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4">
              <a:alpha val="14000"/>
            </a:schemeClr>
          </a:solidFill>
          <a:ln/>
        </p:spPr>
      </p:sp>
      <p:pic>
        <p:nvPicPr>
          <p:cNvPr id="42" name="hash icon" descr="hash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Ordinal</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value’s position, counted from 0.</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6</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4443</Words>
  <Application>Microsoft Office PowerPoint</Application>
  <PresentationFormat>On-screen Show (16:9)</PresentationFormat>
  <Paragraphs>1109</Paragraphs>
  <Slides>73</Slides>
  <Notes>73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Consolas</vt:lpstr>
      <vt:lpstr>Blueprint</vt:lpstr>
      <vt:lpstr>Class Types</vt:lpstr>
      <vt:lpstr>What we cover today</vt:lpstr>
      <vt:lpstr>Immutable classes</vt:lpstr>
      <vt:lpstr>What does immutable mean?</vt:lpstr>
      <vt:lpstr>An object is immutable. What does that mean?</vt:lpstr>
      <vt:lpstr>An object is immutable. What does that mean?</vt:lpstr>
      <vt:lpstr>Strings are immutable</vt:lpstr>
      <vt:lpstr>After this code runs, what has happened to the String “Bob”?</vt:lpstr>
      <vt:lpstr>After this code runs, what has happened to the String “Bob”?</vt:lpstr>
      <vt:lpstr>String methods never change the original</vt:lpstr>
      <vt:lpstr>What does this code print?</vt:lpstr>
      <vt:lpstr>What does this code print?</vt:lpstr>
      <vt:lpstr>Making a class immutable</vt:lpstr>
      <vt:lpstr>Which of these must an immutable class NOT have?</vt:lpstr>
      <vt:lpstr>Which of these must an immutable class NOT have?</vt:lpstr>
      <vt:lpstr>Book has private final String title . Does it have to be written in upper case, as TITLE?</vt:lpstr>
      <vt:lpstr>Book has private final String title . Does it have to be written in upper case, as TITLE?</vt:lpstr>
      <vt:lpstr>Example: an immutable Book</vt:lpstr>
      <vt:lpstr>What happens when this code is compiled?</vt:lpstr>
      <vt:lpstr>What happens when this code is compiled?</vt:lpstr>
      <vt:lpstr>The singleton pattern</vt:lpstr>
      <vt:lpstr>Design patterns</vt:lpstr>
      <vt:lpstr>What is a design pattern?</vt:lpstr>
      <vt:lpstr>What is a design pattern?</vt:lpstr>
      <vt:lpstr>Singleton classes</vt:lpstr>
      <vt:lpstr>What makes a class a singleton?</vt:lpstr>
      <vt:lpstr>What makes a class a singleton?</vt:lpstr>
      <vt:lpstr>Creating a singleton class</vt:lpstr>
      <vt:lpstr>Why is the constructor of a singleton private?</vt:lpstr>
      <vt:lpstr>Why is the constructor of a singleton private?</vt:lpstr>
      <vt:lpstr>What does getInstance() do the very first time it is called?</vt:lpstr>
      <vt:lpstr>What does getInstance() do the very first time it is called?</vt:lpstr>
      <vt:lpstr>Getting the instance</vt:lpstr>
      <vt:lpstr>What does this code print?</vt:lpstr>
      <vt:lpstr>What does this code print?</vt:lpstr>
      <vt:lpstr>A database singleton</vt:lpstr>
      <vt:lpstr>Connecting to the database</vt:lpstr>
      <vt:lpstr>In another class, what happens with Database db = new Database() ?</vt:lpstr>
      <vt:lpstr>In another class, what happens with Database db = new Database() ?</vt:lpstr>
      <vt:lpstr>Why not just a static class?</vt:lpstr>
      <vt:lpstr>Which of these can a singleton do, but a class with only static members can’t?</vt:lpstr>
      <vt:lpstr>Which of these can a singleton do, but a class with only static members can’t?</vt:lpstr>
      <vt:lpstr>Enums</vt:lpstr>
      <vt:lpstr>What is an enum?</vt:lpstr>
      <vt:lpstr>Which of these is the best fit for an enum?</vt:lpstr>
      <vt:lpstr>Which of these is the best fit for an enum?</vt:lpstr>
      <vt:lpstr>Enum rules</vt:lpstr>
      <vt:lpstr>What happens when this code is compiled?</vt:lpstr>
      <vt:lpstr>What happens when this code is compiled?</vt:lpstr>
      <vt:lpstr>Which of these CAN an enum do?</vt:lpstr>
      <vt:lpstr>Which of these CAN an enum do?</vt:lpstr>
      <vt:lpstr>Writing an enum</vt:lpstr>
      <vt:lpstr>Which line gives an enum variable a value?</vt:lpstr>
      <vt:lpstr>Which line gives an enum variable a value?</vt:lpstr>
      <vt:lpstr>Enums and switch</vt:lpstr>
      <vt:lpstr>What does this code print?</vt:lpstr>
      <vt:lpstr>What does this code print?</vt:lpstr>
      <vt:lpstr>Printing and looping</vt:lpstr>
      <vt:lpstr>What does System.out.println(Season.AUTUMN) print?</vt:lpstr>
      <vt:lpstr>What does System.out.println(Season.AUTUMN) print?</vt:lpstr>
      <vt:lpstr>ordinal() and values()</vt:lpstr>
      <vt:lpstr>What does this code print?</vt:lpstr>
      <vt:lpstr>What does this code print?</vt:lpstr>
      <vt:lpstr>What does this code print?</vt:lpstr>
      <vt:lpstr>What does this code print?</vt:lpstr>
      <vt:lpstr>Where enums live</vt:lpstr>
      <vt:lpstr>Where can we declare an enum?</vt:lpstr>
      <vt:lpstr>Where can we declare an enum?</vt:lpstr>
      <vt:lpstr>Giving each value a number</vt:lpstr>
      <vt:lpstr>What does this code print?</vt:lpstr>
      <vt:lpstr>What does this code print?</vt:lpstr>
      <vt:lpstr>Lecture 6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6, Class Types</dc:title>
  <dc:subject>Lecture 6 ideas in plain words, with quick checks</dc:subject>
  <dc:creator>Saeid Rezaei</dc:creator>
  <cp:lastModifiedBy>Saeid Rezaei</cp:lastModifiedBy>
  <cp:revision>1</cp:revision>
  <dcterms:created xsi:type="dcterms:W3CDTF">2026-10-11T10:21:51Z</dcterms:created>
  <dcterms:modified xsi:type="dcterms:W3CDTF">2026-10-11T10:21:51Z</dcterms:modified>
</cp:coreProperties>
</file>
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1f213a7-9bbd-6b40-6ded-4b62cef4894f}">
          <p14:sldIdLst>
            <p14:sldId id="256"/>
            <p14:sldId id="257"/>
          </p14:sldIdLst>
        </p14:section>
        <p14:section name="1. Why interfaces?" id="{3473f7fc-a457-8270-c1eb-96cab3c0eb04}">
          <p14:sldIdLst>
            <p14:sldId id="258"/>
            <p14:sldId id="259"/>
            <p14:sldId id="260"/>
            <p14:sldId id="261"/>
            <p14:sldId id="262"/>
            <p14:sldId id="263"/>
            <p14:sldId id="264"/>
            <p14:sldId id="265"/>
            <p14:sldId id="266"/>
            <p14:sldId id="267"/>
            <p14:sldId id="268"/>
            <p14:sldId id="269"/>
            <p14:sldId id="270"/>
          </p14:sldIdLst>
        </p14:section>
        <p14:section name="2. Writing an interface" id="{956e21db-ce98-9ad0-6383-03a0aec225c5}">
          <p14:sldIdLst>
            <p14:sldId id="271"/>
            <p14:sldId id="272"/>
            <p14:sldId id="273"/>
            <p14:sldId id="274"/>
            <p14:sldId id="275"/>
            <p14:sldId id="276"/>
            <p14:sldId id="277"/>
            <p14:sldId id="278"/>
            <p14:sldId id="279"/>
            <p14:sldId id="280"/>
            <p14:sldId id="281"/>
            <p14:sldId id="282"/>
          </p14:sldIdLst>
        </p14:section>
        <p14:section name="3. Static and default methods" id="{6602c36a-0e51-fbeb-5a6e-3acc5457ad6f}">
          <p14:sldIdLst>
            <p14:sldId id="283"/>
            <p14:sldId id="284"/>
            <p14:sldId id="285"/>
            <p14:sldId id="286"/>
            <p14:sldId id="287"/>
            <p14:sldId id="288"/>
            <p14:sldId id="289"/>
            <p14:sldId id="290"/>
            <p14:sldId id="291"/>
            <p14:sldId id="292"/>
          </p14:sldIdLst>
        </p14:section>
        <p14:section name="4. Multiple interfaces" id="{74bd7f13-faf0-88ea-492a-d90dfb510aff}">
          <p14:sldIdLst>
            <p14:sldId id="293"/>
            <p14:sldId id="294"/>
            <p14:sldId id="295"/>
            <p14:sldId id="296"/>
            <p14:sldId id="297"/>
            <p14:sldId id="298"/>
            <p14:sldId id="299"/>
            <p14:sldId id="300"/>
            <p14:sldId id="301"/>
            <p14:sldId id="302"/>
            <p14:sldId id="303"/>
            <p14:sldId id="304"/>
            <p14:sldId id="305"/>
            <p14:sldId id="306"/>
            <p14:sldId id="307"/>
            <p14:sldId id="308"/>
          </p14:sldIdLst>
        </p14:section>
        <p14:section name="5. Benefits and polymorphism" id="{2166e507-22c1-cc8b-ba4f-573e6305fbcd}">
          <p14:sldIdLst>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Lst>
        </p14:section>
        <p14:section name="Wrap-up" id="{d9a34673-2a8a-2115-052c-39557aaceeac}">
          <p14:sldIdLst>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5 is about interfaces: structures that list the methods a class must have, which classes then implement. The picture shows one class, Employee, implementing two interfaces at once, something it could never do with two parent classes. getPay() comes from Finances, and getYearlyRate() is PayRoll's default, which Employee writes its own version of.</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Five parts today. After each idea there's a quick check with four options.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why Java needs interfaces, and what one is.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Why does Java stop us extending two classes? If both parents had a work() method that did different things, which one would the child run? Abstract methods don't have that problem, because they have no behaviour yet. But an abstract class can still contain concrete methods, so we need something that's purely abstract: an interface.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“Two parents could give one method two behaviours”.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“Two parents could give one method two behaviours”.
If both parents had a method with the same name but different behaviour, the compiler wouldn’t know which one to call. So Java allows only one parent class, and uses interfaces, whose abstract methods have no behaviour, for the rest.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 interface lists what a class must have, not what it does. Note: the lecture slide says interfaces only hold abstract or static methods; since Java 8 they can also have default methods with a body, which come up in part 3. It also says interfaces can't contain concrete methods or attributes, but static and default methods have bodies, and constants are attributes.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“It lists the methods a class must have”.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“It lists the methods a class must have”.
An interface isn’t used to create objects. It lists which methods a class must have (names, parameters, return types), and its abstract methods don’t say what they do. Many classes can implement the same interface.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table sums up the differences. The interface only fixes the structure of each method; the class that implements it writes the behaviour. Small fix: the lecture slide says the keyword is implement; it's implements, with an s. Since Java 9 an interface can also have private methods, as helpers for its default methods. We won't need them. An abstract class has a constructor because its subclasses' constructors call it to set up its attributes; an interface has no normal attributes, so it has nothing to set up.</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“double RATE = 4.5;”.</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“double RATE = 4.5;”.
An interface has no constructor, and every attribute is a public static final constant that needs its value straight away. A constructor (A), a private attribute (B) or an attribute with no value (D) won’t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Implementing an interface is a promise to write all of its abstract methods. If one isn't needed, either the class is abstract, or the method gets an empty body, like printPayslip here.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“Compile error: calculatePay() is missing”.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“Compile error: calculatePay() is missing”.
A class that implements an interface must implement all of its abstract methods, unless the class is abstract. Extra methods like getHours() are fine.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declaring an interface, its constants, and implementing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Both versions compile to exactly the same thing. Inside an interface, methods are automatically public and abstract, and attributes are automatically public, static and final, so most people write the short version. Every interface is abstract anyway, so we never need to write abstract on it. Without public, an interface is only visible in its own package, so 'an interface is always public' on the lecture slide isn't quite right; it is usually declared public.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“public abstract double calculatePay();”.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“public abstract double calculatePay();”.
Methods in an interface are public and abstract by default, so we don’t need to write those words. A static method needs the static keyword, and it must have a body.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Interface attributes are constants: shared, and fixed for good. Anything that changes per object, like the number of hours someone works, belongs in the class that implements the interface. The lecture slides also say we can't use this or super in an interface. Since Java 8, this works inside a default method (it means the object whose class implements the interface), but plain super still won't compile there.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“Compile error: hourlyRate is final”.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“Compile error: hourlyRate is final”.
Attributes in an interface are public, static and final by default, so they are constants. Assigning a new value is a compile error: “cannot assign a value to static final variable hourlyRate”.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PartTimeEmployee implements PayRoll on its own; FullTimeEmployee extends Employee and implements PayRoll at the same time, with extends first, then implements. The lecture slide uses this.hourlyRate. That compiles, but hourlyRate is a static constant, so the plain name is clearer. This PartTimeEmployee only implements PayRoll. In part 5 we go back to the Lecture 4 one, which extends Employee.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“class FullTimeEmployee extends Employee implements PayRoll {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“class FullTimeEmployee extends Employee implements PayRoll { }”.
We extend a class and implement an interface, and extends comes first, then implements. B puts an interface after extends, C has the two parts the wrong way round, and D swaps the class and the interface.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“Compile error: calculatePay() must be public”.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“Compile error: calculatePay() must be public”.
calculatePay() is public in the interface, even though we didn’t write public. The class can’t make it less visible, so its version must be declared public too. The interface doesn’t do that for us (C).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the two kinds of interface method that do have a body.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static method belongs to the interface itself. It isn't inherited by the classes that implement it, so it can't be overridden, and we call it with the interface's name.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“PayRoll.getInfo()”.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“PayRoll.getInfo()”.
A static interface method is called through the interface’s name. It isn’t inherited by the implementing class, so employee.getInfo() won’t compile, and we can’t create a PayRoll object at all.</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Default methods arrived in Java 8. They give an interface method a ready-made body. A class can override it; if it doesn't, the default version runs.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“30000.0 then 50000.0”.</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“30000.0 then 50000.0”.
Contractor doesn’t override getYearlyRate(), so it runs the default version: 2500 × 12 = 30000.0. Manager overrides it, so its own version runs. Contractor compiles fine, because a default method already has a body.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Side by side: the static method is called on the interface, the default method on an object. Contractor, from the last quick check, implements PayRoll and doesn't override getYearlyRate, so the default runs. (The Employee later in the lecture does override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“Only getYearlyRate()”.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“Only getYearlyRate()”.
Both have a body. A default method is inherited by the class, which can override it. A static method belongs to the interface, so it can’t be overridden and is called with the interface’s name.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4: implementing more than one interface, and extending an interface.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is what interfaces make possible: one class, two interfaces. If both interfaces list the same abstract method (same name, parameters and return type), that's fine. There's no behaviour to clash, and the class writes the method once. If the return types differ, it won't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Employee implements both interfaces, so it must write Finances' abstract getPay(). It also overrides PayRoll's default getYearlyRate with its own calculation. hourlyRate comes from PayRoll as a constant.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“One getPay() method, which counts for both”.</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“One getPay() method, which counts for both”.
Abstract methods have no behaviour, so two interfaces with the same method don’t get in each other’s way. Employee writes getPay() once, and that one method satisfies both interfaces.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Two identical abstract methods never clash, but defaults have behaviour. If PayRoll and Finances both had a default getYearlyRate, Java refuses to guess. We override it and name the interface whose version we want, with Interface.super.method(). This is the two-parents problem from the start of the lecture, so Java makes us choose.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“Compile error: Employee must override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“Compile error: Employee must override it”.
Now both interfaces bring behaviour, and Java won’t guess which one we want. Employee must override getYearlyRate(), and can then pick one version, for example with Finances.super.getYearlyRate().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“Finances.super.getYearlyRate();”.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“Finances.super.getYearlyRate();”.
The form is InterfaceName.super.method(), so Finances.super.getYearlyRate() runs Finances’ default version. B would only work for a static method.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One interface can build on another with extends. Contacts inherits getEmail and the extension constant from Email, so a class that implements Contacts (Staff here, just an example name) must write both methods. An interface can extend several interfaces at once, for example interface Contacts extends Email, Phone.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“interface Contacts extends Email {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“interface Contacts extends Email { }”.
An interface extends another interface, and inherits its abstract and default methods and its constants. Only classes implement interfaces.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recap of the differences. Classes hold behaviour and can be run and turned into objects; interfaces mainly hold structure, have no objects, and can only be implemented, but a class can implement as many as it needs. (The lecture slide says interfaces can't be run; since Java 8 an interface could hold a static main method, but we never do that.)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“Implement several of them in one 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“Implement several of them in one class”.
A class can implement many interfaces, but extend only one class. An interface has no constructor and no objects, and its attributes are constants.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5: why interfaces are worth it, and polymorphism with parent types.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reasons. Consistency: everyone builds to the same structure. Testing: the method names, inputs and outputs are known before the classes exist, so tests can come first. Faster development: one interface is reused by many classes.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“Consistency”.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“Consistency”.
Interfaces make sure everyone uses the same structure, with the same method names, parameters and return types. That consistency means the parts fit when we put the project together.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“We know the names, inputs and outputs already”.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“We know the names, inputs and outputs already”.
The interface already says what each method is called and what goes in and comes out. So we can write the tests first, as in test-driven development, and write the classes afterwards.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variable of the parent type can hold an object of the parent or of any subclass, and can be re-assigned to a different child later. Here Employee is a normal (concrete) class, so new Employee() compiles. If Employee were abstract, as in the Lecture 4 calcPay() example, that line would not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“FullTimeEmployee employee = new Employee();”.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“FullTimeEmployee employee = new Employee();”.
A variable of the parent type can hold the parent or any of its children, because every FullTimeEmployee is an Employee. It doesn’t work the other way round, since an Employee isn’t necessarily a FullTimeEmployee.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lecture slide says we have access to all the child methods and attributes, which needs a correction. Through an Employee variable we can only call methods Employee has; if a child overrides one, the child's version runs. Child-only methods like getBonus need a cast back to the child type, coming up. calcPay() is a method Employee declares, as in Lecture 4 (there it was abstract; the call works either way).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“Compile error: Employee has no getBonus()”.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“Compile error: Employee has no getBonus()”.
The variable’s type decides which methods we can call, and Employee has no getBonus(). The object is still a FullTimeEmployee, so to reach getBonus() we cast it back first. There’s no cast here, so no ClassCastException (D).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same idea works with interfaces. FullTimeEmployee implements PayRoll, so a PayRoll variable can hold one. Java's own classes do this too: List is an interface, and ArrayList and LinkedList both implement it, so a List variable can start as an ArrayList and be switched to a LinkedList later. (The lecture slide calls List their parent; it's the interface they both implement.)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“Both of them implement the List interface”.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“Both of them implement the List interface”.
List is an interface, and ArrayList and LinkedList both implement it. A List variable can refer to an object of any class that implements List, so we can switch from one to the other.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Because every FullTimeEmployee and PartTimeEmployee is an Employee, they can all be stored in one Employee array. The catch is that the array only knows they're Employees.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“Employees and objects of its subclasses”.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“Employees and objects of its subclasses”.
An array of the parent type can store children together, so FullTimeEmployee and PartTimeEmployee objects can sit side by side in one Employee[]. A String isn’t an Employee, so it can’t go in.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To reach a child-only method, we cast back to the child type. Only cast to the type the object really is. Casting a PartTimeEmployee to FullTimeEmployee compiles, but throws a ClassCastException when it runs. instanceof from the last lecture can check first.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“((FullTimeEmployee) employees[0]).getBonus();”.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“((FullTimeEmployee) employees[0]).getBonus();”.
We cast back to the child type first, then call the method. The extra brackets matter, because in C the cast would apply to the result of getBonus(), not to the employee. A fails because Employee has no getBonus().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A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76</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5</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5</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5</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6.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6.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6.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6.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6.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6.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6.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6.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6.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6.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4.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6.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6.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6.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4.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6.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6.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6.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6.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image" Target="../media/image-75-7.png"/><Relationship Id="rId8" Type="http://schemas.openxmlformats.org/officeDocument/2006/relationships/image" Target="../media/image-75-8.png"/><Relationship Id="rId9" Type="http://schemas.openxmlformats.org/officeDocument/2006/relationships/slideLayout" Target="../slideLayouts/slideLayout4.xml"/><Relationship Id="rId1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7.xml"/><Relationship Id="rId3"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5</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Interfaces</a:t>
            </a: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lIns="0" tIns="0" rIns="0" bIns="0" rtlCol="0" anchor="t"/>
          <a:lstStyle/>
          <a:p>
            <a:pPr indent="0" marL="0">
              <a:buNone/>
            </a:pPr>
            <a:r>
              <a:rPr lang="en-IE" sz="2000" dirty="0">
                <a:solidFill>
                  <a:schemeClr val="bg2"/>
                </a:solidFill>
              </a:rPr>
              <a:t>Structure without behaviour, many interfaces at once, and polymorphism</a:t>
            </a:r>
            <a:endParaRPr lang="en-IE" sz="2000" dirty="0"/>
          </a:p>
        </p:txBody>
      </p:sp>
      <p:sp>
        <p:nvSpPr>
          <p:cNvPr id="5" name="Box PayRoll"/>
          <p:cNvSpPr/>
          <p:nvPr/>
        </p:nvSpPr>
        <p:spPr>
          <a:xfrm>
            <a:off x="6812280" y="1417320"/>
            <a:ext cx="2194560" cy="777240"/>
          </a:xfrm>
          <a:prstGeom prst="roundRect">
            <a:avLst>
              <a:gd name="adj" fmla="val 9412"/>
            </a:avLst>
          </a:prstGeom>
          <a:solidFill>
            <a:schemeClr val="bg1">
              <a:alpha val="12000"/>
            </a:schemeClr>
          </a:solidFill>
          <a:ln w="19050">
            <a:solidFill>
              <a:schemeClr val="bg1"/>
            </a:solidFill>
            <a:prstDash val="solid"/>
          </a:ln>
        </p:spPr>
      </p:sp>
      <p:sp>
        <p:nvSpPr>
          <p:cNvPr id="6" name="Text 4"/>
          <p:cNvSpPr txBox="1"/>
          <p:nvPr/>
        </p:nvSpPr>
        <p:spPr>
          <a:xfrm>
            <a:off x="6812280" y="1463040"/>
            <a:ext cx="2194560" cy="219456"/>
          </a:xfrm>
          <a:prstGeom prst="rect">
            <a:avLst/>
          </a:prstGeom>
          <a:noFill/>
          <a:ln/>
        </p:spPr>
        <p:txBody>
          <a:bodyPr wrap="square" lIns="0" tIns="0" rIns="0" bIns="0" rtlCol="0" anchor="ctr"/>
          <a:lstStyle/>
          <a:p>
            <a:pPr algn="ctr" indent="0" marL="0">
              <a:buNone/>
            </a:pPr>
            <a:r>
              <a:rPr lang="en-IE" sz="1100" i="1" dirty="0">
                <a:solidFill>
                  <a:schemeClr val="bg2"/>
                </a:solidFill>
              </a:rPr>
              <a:t>«interface»</a:t>
            </a:r>
            <a:endParaRPr lang="en-IE" sz="1100" dirty="0"/>
          </a:p>
        </p:txBody>
      </p:sp>
      <p:sp>
        <p:nvSpPr>
          <p:cNvPr id="7" name="Text 5"/>
          <p:cNvSpPr txBox="1"/>
          <p:nvPr/>
        </p:nvSpPr>
        <p:spPr>
          <a:xfrm>
            <a:off x="6812280" y="1655064"/>
            <a:ext cx="2194560" cy="502920"/>
          </a:xfrm>
          <a:prstGeom prst="rect">
            <a:avLst/>
          </a:prstGeom>
          <a:noFill/>
          <a:ln/>
        </p:spPr>
        <p:txBody>
          <a:bodyPr wrap="square" lIns="0" tIns="0" rIns="0" bIns="0" rtlCol="0" anchor="ctr"/>
          <a:lstStyle/>
          <a:p>
            <a:pPr algn="ctr" indent="0" marL="0">
              <a:buNone/>
            </a:pPr>
            <a:r>
              <a:rPr lang="en-IE" sz="1800" b="1" dirty="0">
                <a:solidFill>
                  <a:schemeClr val="bg1"/>
                </a:solidFill>
              </a:rPr>
              <a:t>PayRoll</a:t>
            </a:r>
            <a:endParaRPr lang="en-IE" sz="1800" dirty="0"/>
          </a:p>
        </p:txBody>
      </p:sp>
      <p:sp>
        <p:nvSpPr>
          <p:cNvPr id="8" name="Box Finances"/>
          <p:cNvSpPr/>
          <p:nvPr/>
        </p:nvSpPr>
        <p:spPr>
          <a:xfrm>
            <a:off x="9464040" y="1417320"/>
            <a:ext cx="2194560" cy="777240"/>
          </a:xfrm>
          <a:prstGeom prst="roundRect">
            <a:avLst>
              <a:gd name="adj" fmla="val 9412"/>
            </a:avLst>
          </a:prstGeom>
          <a:solidFill>
            <a:schemeClr val="bg1">
              <a:alpha val="12000"/>
            </a:schemeClr>
          </a:solidFill>
          <a:ln w="19050">
            <a:solidFill>
              <a:schemeClr val="bg1"/>
            </a:solidFill>
            <a:prstDash val="solid"/>
          </a:ln>
        </p:spPr>
      </p:sp>
      <p:sp>
        <p:nvSpPr>
          <p:cNvPr id="9" name="Text 7"/>
          <p:cNvSpPr txBox="1"/>
          <p:nvPr/>
        </p:nvSpPr>
        <p:spPr>
          <a:xfrm>
            <a:off x="9464040" y="1463040"/>
            <a:ext cx="2194560" cy="219456"/>
          </a:xfrm>
          <a:prstGeom prst="rect">
            <a:avLst/>
          </a:prstGeom>
          <a:noFill/>
          <a:ln/>
        </p:spPr>
        <p:txBody>
          <a:bodyPr wrap="square" lIns="0" tIns="0" rIns="0" bIns="0" rtlCol="0" anchor="ctr"/>
          <a:lstStyle/>
          <a:p>
            <a:pPr algn="ctr" indent="0" marL="0">
              <a:buNone/>
            </a:pPr>
            <a:r>
              <a:rPr lang="en-IE" sz="1100" i="1" dirty="0">
                <a:solidFill>
                  <a:schemeClr val="bg2"/>
                </a:solidFill>
              </a:rPr>
              <a:t>«interface»</a:t>
            </a:r>
            <a:endParaRPr lang="en-IE" sz="1100" dirty="0"/>
          </a:p>
        </p:txBody>
      </p:sp>
      <p:sp>
        <p:nvSpPr>
          <p:cNvPr id="10" name="Text 8"/>
          <p:cNvSpPr txBox="1"/>
          <p:nvPr/>
        </p:nvSpPr>
        <p:spPr>
          <a:xfrm>
            <a:off x="9464040" y="1655064"/>
            <a:ext cx="2194560" cy="502920"/>
          </a:xfrm>
          <a:prstGeom prst="rect">
            <a:avLst/>
          </a:prstGeom>
          <a:noFill/>
          <a:ln/>
        </p:spPr>
        <p:txBody>
          <a:bodyPr wrap="square" lIns="0" tIns="0" rIns="0" bIns="0" rtlCol="0" anchor="ctr"/>
          <a:lstStyle/>
          <a:p>
            <a:pPr algn="ctr" indent="0" marL="0">
              <a:buNone/>
            </a:pPr>
            <a:r>
              <a:rPr lang="en-IE" sz="1800" b="1" dirty="0">
                <a:solidFill>
                  <a:schemeClr val="bg1"/>
                </a:solidFill>
              </a:rPr>
              <a:t>Finances</a:t>
            </a:r>
            <a:endParaRPr lang="en-IE" sz="1800" dirty="0"/>
          </a:p>
        </p:txBody>
      </p:sp>
      <p:sp>
        <p:nvSpPr>
          <p:cNvPr id="11" name="Box Employee"/>
          <p:cNvSpPr/>
          <p:nvPr/>
        </p:nvSpPr>
        <p:spPr>
          <a:xfrm>
            <a:off x="8138160" y="3520440"/>
            <a:ext cx="2194560" cy="658368"/>
          </a:xfrm>
          <a:prstGeom prst="roundRect">
            <a:avLst>
              <a:gd name="adj" fmla="val 11111"/>
            </a:avLst>
          </a:prstGeom>
          <a:solidFill>
            <a:schemeClr val="bg1">
              <a:alpha val="12000"/>
            </a:schemeClr>
          </a:solidFill>
          <a:ln w="19050">
            <a:solidFill>
              <a:schemeClr val="bg1"/>
            </a:solidFill>
            <a:prstDash val="solid"/>
          </a:ln>
        </p:spPr>
      </p:sp>
      <p:sp>
        <p:nvSpPr>
          <p:cNvPr id="12" name="Text 10"/>
          <p:cNvSpPr txBox="1"/>
          <p:nvPr/>
        </p:nvSpPr>
        <p:spPr>
          <a:xfrm>
            <a:off x="8138160" y="3520440"/>
            <a:ext cx="2194560" cy="658368"/>
          </a:xfrm>
          <a:prstGeom prst="rect">
            <a:avLst/>
          </a:prstGeom>
          <a:noFill/>
          <a:ln/>
        </p:spPr>
        <p:txBody>
          <a:bodyPr wrap="square" lIns="0" tIns="0" rIns="0" bIns="0" rtlCol="0" anchor="ctr"/>
          <a:lstStyle/>
          <a:p>
            <a:pPr algn="ctr" indent="0" marL="0">
              <a:buNone/>
            </a:pPr>
            <a:r>
              <a:rPr lang="en-IE" sz="1800" b="1" dirty="0">
                <a:solidFill>
                  <a:schemeClr val="bg1"/>
                </a:solidFill>
              </a:rPr>
              <a:t>Employee</a:t>
            </a:r>
            <a:endParaRPr lang="en-IE" sz="1800" dirty="0"/>
          </a:p>
        </p:txBody>
      </p:sp>
      <p:sp>
        <p:nvSpPr>
          <p:cNvPr id="13" name="Line"/>
          <p:cNvSpPr/>
          <p:nvPr/>
        </p:nvSpPr>
        <p:spPr>
          <a:xfrm flipV="1">
            <a:off x="8823960" y="2880360"/>
            <a:ext cx="0" cy="640080"/>
          </a:xfrm>
          <a:prstGeom prst="line">
            <a:avLst/>
          </a:prstGeom>
          <a:noFill/>
          <a:ln w="19050">
            <a:solidFill>
              <a:schemeClr val="bg1"/>
            </a:solidFill>
            <a:prstDash val="dash"/>
          </a:ln>
        </p:spPr>
      </p:sp>
      <p:sp>
        <p:nvSpPr>
          <p:cNvPr id="14" name="Line"/>
          <p:cNvSpPr/>
          <p:nvPr/>
        </p:nvSpPr>
        <p:spPr>
          <a:xfrm flipH="1">
            <a:off x="7909560" y="2880360"/>
            <a:ext cx="914400" cy="0"/>
          </a:xfrm>
          <a:prstGeom prst="line">
            <a:avLst/>
          </a:prstGeom>
          <a:noFill/>
          <a:ln w="19050">
            <a:solidFill>
              <a:schemeClr val="bg1"/>
            </a:solidFill>
            <a:prstDash val="dash"/>
          </a:ln>
        </p:spPr>
      </p:sp>
      <p:sp>
        <p:nvSpPr>
          <p:cNvPr id="15" name="Line"/>
          <p:cNvSpPr/>
          <p:nvPr/>
        </p:nvSpPr>
        <p:spPr>
          <a:xfrm flipV="1">
            <a:off x="7909560" y="2377440"/>
            <a:ext cx="0" cy="502920"/>
          </a:xfrm>
          <a:prstGeom prst="line">
            <a:avLst/>
          </a:prstGeom>
          <a:noFill/>
          <a:ln w="19050">
            <a:solidFill>
              <a:schemeClr val="bg1"/>
            </a:solidFill>
            <a:prstDash val="dash"/>
          </a:ln>
        </p:spPr>
      </p:sp>
      <p:sp>
        <p:nvSpPr>
          <p:cNvPr id="16" name="Inheritance arrow head"/>
          <p:cNvSpPr/>
          <p:nvPr/>
        </p:nvSpPr>
        <p:spPr>
          <a:xfrm>
            <a:off x="7799832" y="2194560"/>
            <a:ext cx="219456" cy="182880"/>
          </a:xfrm>
          <a:prstGeom prst="triangle">
            <a:avLst/>
          </a:prstGeom>
          <a:solidFill>
            <a:srgbClr val="1E3F6B"/>
          </a:solidFill>
          <a:ln w="19050">
            <a:solidFill>
              <a:schemeClr val="bg1"/>
            </a:solidFill>
            <a:prstDash val="solid"/>
          </a:ln>
        </p:spPr>
      </p:sp>
      <p:sp>
        <p:nvSpPr>
          <p:cNvPr id="17" name="Line"/>
          <p:cNvSpPr/>
          <p:nvPr/>
        </p:nvSpPr>
        <p:spPr>
          <a:xfrm flipV="1">
            <a:off x="9646920" y="2880360"/>
            <a:ext cx="0" cy="640080"/>
          </a:xfrm>
          <a:prstGeom prst="line">
            <a:avLst/>
          </a:prstGeom>
          <a:noFill/>
          <a:ln w="19050">
            <a:solidFill>
              <a:schemeClr val="bg1"/>
            </a:solidFill>
            <a:prstDash val="dash"/>
          </a:ln>
        </p:spPr>
      </p:sp>
      <p:sp>
        <p:nvSpPr>
          <p:cNvPr id="18" name="Line"/>
          <p:cNvSpPr/>
          <p:nvPr/>
        </p:nvSpPr>
        <p:spPr>
          <a:xfrm>
            <a:off x="9646920" y="2880360"/>
            <a:ext cx="914400" cy="0"/>
          </a:xfrm>
          <a:prstGeom prst="line">
            <a:avLst/>
          </a:prstGeom>
          <a:noFill/>
          <a:ln w="19050">
            <a:solidFill>
              <a:schemeClr val="bg1"/>
            </a:solidFill>
            <a:prstDash val="dash"/>
          </a:ln>
        </p:spPr>
      </p:sp>
      <p:sp>
        <p:nvSpPr>
          <p:cNvPr id="19" name="Line"/>
          <p:cNvSpPr/>
          <p:nvPr/>
        </p:nvSpPr>
        <p:spPr>
          <a:xfrm flipV="1">
            <a:off x="10561320" y="2377440"/>
            <a:ext cx="0" cy="502920"/>
          </a:xfrm>
          <a:prstGeom prst="line">
            <a:avLst/>
          </a:prstGeom>
          <a:noFill/>
          <a:ln w="19050">
            <a:solidFill>
              <a:schemeClr val="bg1"/>
            </a:solidFill>
            <a:prstDash val="dash"/>
          </a:ln>
        </p:spPr>
      </p:sp>
      <p:sp>
        <p:nvSpPr>
          <p:cNvPr id="20" name="Inheritance arrow head"/>
          <p:cNvSpPr/>
          <p:nvPr/>
        </p:nvSpPr>
        <p:spPr>
          <a:xfrm>
            <a:off x="10451592" y="2194560"/>
            <a:ext cx="219456" cy="182880"/>
          </a:xfrm>
          <a:prstGeom prst="triangle">
            <a:avLst/>
          </a:prstGeom>
          <a:solidFill>
            <a:srgbClr val="1E3F6B"/>
          </a:solidFill>
          <a:ln w="19050">
            <a:solidFill>
              <a:schemeClr val="bg1"/>
            </a:solidFill>
            <a:prstDash val="solid"/>
          </a:ln>
        </p:spPr>
      </p:sp>
      <p:sp>
        <p:nvSpPr>
          <p:cNvPr id="21" name="Text 19"/>
          <p:cNvSpPr txBox="1"/>
          <p:nvPr/>
        </p:nvSpPr>
        <p:spPr>
          <a:xfrm>
            <a:off x="7955280" y="4315968"/>
            <a:ext cx="2560320" cy="292608"/>
          </a:xfrm>
          <a:prstGeom prst="rect">
            <a:avLst/>
          </a:prstGeom>
          <a:noFill/>
          <a:ln/>
        </p:spPr>
        <p:txBody>
          <a:bodyPr wrap="square" lIns="0" tIns="0" rIns="0" bIns="0" rtlCol="0" anchor="t"/>
          <a:lstStyle/>
          <a:p>
            <a:pPr algn="ctr" indent="0" marL="0">
              <a:buNone/>
            </a:pPr>
            <a:r>
              <a:rPr lang="en-IE" sz="1300" i="1" dirty="0">
                <a:solidFill>
                  <a:schemeClr val="bg2"/>
                </a:solidFill>
              </a:rPr>
              <a:t>implements both</a:t>
            </a:r>
            <a:endParaRPr lang="en-IE" sz="1300" dirty="0"/>
          </a:p>
        </p:txBody>
      </p:sp>
      <p:sp>
        <p:nvSpPr>
          <p:cNvPr id="22" name="Method to implement"/>
          <p:cNvSpPr/>
          <p:nvPr/>
        </p:nvSpPr>
        <p:spPr>
          <a:xfrm>
            <a:off x="7315200" y="4709160"/>
            <a:ext cx="1920240" cy="384048"/>
          </a:xfrm>
          <a:prstGeom prst="roundRect">
            <a:avLst>
              <a:gd name="adj" fmla="val 19048"/>
            </a:avLst>
          </a:prstGeom>
          <a:solidFill>
            <a:schemeClr val="accent1"/>
          </a:solidFill>
          <a:ln/>
        </p:spPr>
        <p:txBody>
          <a:bodyPr wrap="square" lIns="0" tIns="0" rIns="0" bIns="0" rtlCol="0" anchor="ctr"/>
          <a:lstStyle/>
          <a:p>
            <a:pPr algn="ctr" indent="0" marL="0">
              <a:buNone/>
            </a:pPr>
            <a:r>
              <a:rPr lang="en-IE" sz="1300" b="1" dirty="0">
                <a:solidFill>
                  <a:schemeClr val="bg1"/>
                </a:solidFill>
                <a:latin typeface="Consolas" pitchFamily="34" charset="0"/>
                <a:ea typeface="Consolas" pitchFamily="34" charset="-122"/>
                <a:cs typeface="Consolas" pitchFamily="34" charset="-120"/>
              </a:rPr>
              <a:t>getPay()</a:t>
            </a:r>
            <a:endParaRPr lang="en-IE" sz="1300" dirty="0"/>
          </a:p>
        </p:txBody>
      </p:sp>
      <p:sp>
        <p:nvSpPr>
          <p:cNvPr id="23" name="Method to implement"/>
          <p:cNvSpPr/>
          <p:nvPr/>
        </p:nvSpPr>
        <p:spPr>
          <a:xfrm>
            <a:off x="9464040" y="4709160"/>
            <a:ext cx="1920240" cy="384048"/>
          </a:xfrm>
          <a:prstGeom prst="roundRect">
            <a:avLst>
              <a:gd name="adj" fmla="val 19048"/>
            </a:avLst>
          </a:prstGeom>
          <a:solidFill>
            <a:schemeClr val="accent6"/>
          </a:solidFill>
          <a:ln/>
        </p:spPr>
        <p:txBody>
          <a:bodyPr wrap="square" lIns="0" tIns="0" rIns="0" bIns="0" rtlCol="0" anchor="ctr"/>
          <a:lstStyle/>
          <a:p>
            <a:pPr algn="ctr" indent="0" marL="0">
              <a:buNone/>
            </a:pPr>
            <a:r>
              <a:rPr lang="en-IE" sz="1300" b="1" dirty="0">
                <a:solidFill>
                  <a:schemeClr val="tx1"/>
                </a:solidFill>
                <a:latin typeface="Consolas" pitchFamily="34" charset="0"/>
                <a:ea typeface="Consolas" pitchFamily="34" charset="-122"/>
                <a:cs typeface="Consolas" pitchFamily="34" charset="-120"/>
              </a:rPr>
              <a:t>getYearlyRate()</a:t>
            </a:r>
            <a:endParaRPr lang="en-IE" sz="1300" dirty="0"/>
          </a:p>
        </p:txBody>
      </p:sp>
      <p:sp>
        <p:nvSpPr>
          <p:cNvPr id="24" name="Text 22"/>
          <p:cNvSpPr txBox="1"/>
          <p:nvPr/>
        </p:nvSpPr>
        <p:spPr>
          <a:xfrm>
            <a:off x="7315200" y="5166360"/>
            <a:ext cx="4069080" cy="292608"/>
          </a:xfrm>
          <a:prstGeom prst="rect">
            <a:avLst/>
          </a:prstGeom>
          <a:noFill/>
          <a:ln/>
        </p:spPr>
        <p:txBody>
          <a:bodyPr wrap="square" lIns="0" tIns="0" rIns="0" bIns="0" rtlCol="0" anchor="t"/>
          <a:lstStyle/>
          <a:p>
            <a:pPr algn="ctr" indent="0" marL="0">
              <a:buNone/>
            </a:pPr>
            <a:r>
              <a:rPr lang="en-IE" sz="1300" i="1" dirty="0">
                <a:solidFill>
                  <a:schemeClr val="bg2"/>
                </a:solidFill>
              </a:rPr>
              <a:t>the methods it writes</a:t>
            </a:r>
            <a:endParaRPr lang="en-IE"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5</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Why interfaces?</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One parent only, and what an interface is</a:t>
            </a:r>
            <a:endParaRPr lang="en-IE" sz="1500" dirty="0"/>
          </a:p>
        </p:txBody>
      </p:sp>
      <p:sp>
        <p:nvSpPr>
          <p:cNvPr id="8" name="Text 5"/>
          <p:cNvSpPr txBox="1"/>
          <p:nvPr/>
        </p:nvSpPr>
        <p:spPr>
          <a:xfrm>
            <a:off x="548640" y="2596896"/>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2633472"/>
            <a:ext cx="5577840" cy="384048"/>
          </a:xfrm>
          <a:prstGeom prst="rect">
            <a:avLst/>
          </a:prstGeom>
          <a:noFill/>
          <a:ln/>
        </p:spPr>
        <p:txBody>
          <a:bodyPr wrap="square" lIns="0" tIns="0" rIns="0" bIns="0" rtlCol="0" anchor="t"/>
          <a:lstStyle/>
          <a:p>
            <a:pPr indent="0" marL="0">
              <a:buNone/>
            </a:pPr>
            <a:r>
              <a:rPr lang="en-IE" sz="2100" b="1" dirty="0">
                <a:solidFill>
                  <a:schemeClr val="tx1"/>
                </a:solidFill>
              </a:rPr>
              <a:t>Writing an interface</a:t>
            </a:r>
            <a:endParaRPr lang="en-IE" sz="2100" dirty="0"/>
          </a:p>
        </p:txBody>
      </p:sp>
      <p:sp>
        <p:nvSpPr>
          <p:cNvPr id="10" name="Text 7"/>
          <p:cNvSpPr txBox="1"/>
          <p:nvPr/>
        </p:nvSpPr>
        <p:spPr>
          <a:xfrm>
            <a:off x="1463040" y="3044952"/>
            <a:ext cx="5577840" cy="365760"/>
          </a:xfrm>
          <a:prstGeom prst="rect">
            <a:avLst/>
          </a:prstGeom>
          <a:noFill/>
          <a:ln/>
        </p:spPr>
        <p:txBody>
          <a:bodyPr wrap="square" lIns="0" tIns="0" rIns="0" bIns="0" rtlCol="0" anchor="t"/>
          <a:lstStyle/>
          <a:p>
            <a:pPr indent="0" marL="0">
              <a:buNone/>
            </a:pPr>
            <a:r>
              <a:rPr lang="en-IE" sz="1500" dirty="0">
                <a:solidFill>
                  <a:schemeClr val="tx2"/>
                </a:solidFill>
              </a:rPr>
              <a:t>What Java fills in, constants, and implementing one</a:t>
            </a:r>
            <a:endParaRPr lang="en-IE" sz="1500" dirty="0"/>
          </a:p>
        </p:txBody>
      </p:sp>
      <p:sp>
        <p:nvSpPr>
          <p:cNvPr id="11" name="Text 8"/>
          <p:cNvSpPr txBox="1"/>
          <p:nvPr/>
        </p:nvSpPr>
        <p:spPr>
          <a:xfrm>
            <a:off x="548640" y="3447288"/>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3483864"/>
            <a:ext cx="5577840" cy="384048"/>
          </a:xfrm>
          <a:prstGeom prst="rect">
            <a:avLst/>
          </a:prstGeom>
          <a:noFill/>
          <a:ln/>
        </p:spPr>
        <p:txBody>
          <a:bodyPr wrap="square" lIns="0" tIns="0" rIns="0" bIns="0" rtlCol="0" anchor="t"/>
          <a:lstStyle/>
          <a:p>
            <a:pPr indent="0" marL="0">
              <a:buNone/>
            </a:pPr>
            <a:r>
              <a:rPr lang="en-IE" sz="2100" b="1" dirty="0">
                <a:solidFill>
                  <a:schemeClr val="tx1"/>
                </a:solidFill>
              </a:rPr>
              <a:t>Static and default methods</a:t>
            </a:r>
            <a:endParaRPr lang="en-IE" sz="2100" dirty="0"/>
          </a:p>
        </p:txBody>
      </p:sp>
      <p:sp>
        <p:nvSpPr>
          <p:cNvPr id="13" name="Text 10"/>
          <p:cNvSpPr txBox="1"/>
          <p:nvPr/>
        </p:nvSpPr>
        <p:spPr>
          <a:xfrm>
            <a:off x="1463040" y="3895344"/>
            <a:ext cx="5577840" cy="365760"/>
          </a:xfrm>
          <a:prstGeom prst="rect">
            <a:avLst/>
          </a:prstGeom>
          <a:noFill/>
          <a:ln/>
        </p:spPr>
        <p:txBody>
          <a:bodyPr wrap="square" lIns="0" tIns="0" rIns="0" bIns="0" rtlCol="0" anchor="t"/>
          <a:lstStyle/>
          <a:p>
            <a:pPr indent="0" marL="0">
              <a:buNone/>
            </a:pPr>
            <a:r>
              <a:rPr lang="en-IE" sz="1500" dirty="0">
                <a:solidFill>
                  <a:schemeClr val="tx2"/>
                </a:solidFill>
              </a:rPr>
              <a:t>Methods with a body, since Java 8</a:t>
            </a:r>
            <a:endParaRPr lang="en-IE" sz="1500" dirty="0"/>
          </a:p>
        </p:txBody>
      </p:sp>
      <p:sp>
        <p:nvSpPr>
          <p:cNvPr id="14" name="Text 11"/>
          <p:cNvSpPr txBox="1"/>
          <p:nvPr/>
        </p:nvSpPr>
        <p:spPr>
          <a:xfrm>
            <a:off x="548640" y="4297680"/>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04</a:t>
            </a:r>
            <a:endParaRPr lang="en-IE" sz="3000" dirty="0"/>
          </a:p>
        </p:txBody>
      </p:sp>
      <p:sp>
        <p:nvSpPr>
          <p:cNvPr id="15" name="Text 12"/>
          <p:cNvSpPr txBox="1"/>
          <p:nvPr/>
        </p:nvSpPr>
        <p:spPr>
          <a:xfrm>
            <a:off x="1463040" y="4334256"/>
            <a:ext cx="5577840" cy="384048"/>
          </a:xfrm>
          <a:prstGeom prst="rect">
            <a:avLst/>
          </a:prstGeom>
          <a:noFill/>
          <a:ln/>
        </p:spPr>
        <p:txBody>
          <a:bodyPr wrap="square" lIns="0" tIns="0" rIns="0" bIns="0" rtlCol="0" anchor="t"/>
          <a:lstStyle/>
          <a:p>
            <a:pPr indent="0" marL="0">
              <a:buNone/>
            </a:pPr>
            <a:r>
              <a:rPr lang="en-IE" sz="2100" b="1" dirty="0">
                <a:solidFill>
                  <a:schemeClr val="tx1"/>
                </a:solidFill>
              </a:rPr>
              <a:t>Multiple interfaces</a:t>
            </a:r>
            <a:endParaRPr lang="en-IE" sz="2100" dirty="0"/>
          </a:p>
        </p:txBody>
      </p:sp>
      <p:sp>
        <p:nvSpPr>
          <p:cNvPr id="16" name="Text 13"/>
          <p:cNvSpPr txBox="1"/>
          <p:nvPr/>
        </p:nvSpPr>
        <p:spPr>
          <a:xfrm>
            <a:off x="1463040" y="4745736"/>
            <a:ext cx="5577840" cy="365760"/>
          </a:xfrm>
          <a:prstGeom prst="rect">
            <a:avLst/>
          </a:prstGeom>
          <a:noFill/>
          <a:ln/>
        </p:spPr>
        <p:txBody>
          <a:bodyPr wrap="square" lIns="0" tIns="0" rIns="0" bIns="0" rtlCol="0" anchor="t"/>
          <a:lstStyle/>
          <a:p>
            <a:pPr indent="0" marL="0">
              <a:buNone/>
            </a:pPr>
            <a:r>
              <a:rPr lang="en-IE" sz="1500" dirty="0">
                <a:solidFill>
                  <a:schemeClr val="tx2"/>
                </a:solidFill>
              </a:rPr>
              <a:t>Several at once, and extending an interface</a:t>
            </a:r>
            <a:endParaRPr lang="en-IE" sz="1500" dirty="0"/>
          </a:p>
        </p:txBody>
      </p:sp>
      <p:sp>
        <p:nvSpPr>
          <p:cNvPr id="17" name="Text 14"/>
          <p:cNvSpPr txBox="1"/>
          <p:nvPr/>
        </p:nvSpPr>
        <p:spPr>
          <a:xfrm>
            <a:off x="548640" y="5148072"/>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05</a:t>
            </a:r>
            <a:endParaRPr lang="en-IE" sz="3000" dirty="0"/>
          </a:p>
        </p:txBody>
      </p:sp>
      <p:sp>
        <p:nvSpPr>
          <p:cNvPr id="18" name="Text 15"/>
          <p:cNvSpPr txBox="1"/>
          <p:nvPr/>
        </p:nvSpPr>
        <p:spPr>
          <a:xfrm>
            <a:off x="1463040" y="5184648"/>
            <a:ext cx="5577840" cy="384048"/>
          </a:xfrm>
          <a:prstGeom prst="rect">
            <a:avLst/>
          </a:prstGeom>
          <a:noFill/>
          <a:ln/>
        </p:spPr>
        <p:txBody>
          <a:bodyPr wrap="square" lIns="0" tIns="0" rIns="0" bIns="0" rtlCol="0" anchor="t"/>
          <a:lstStyle/>
          <a:p>
            <a:pPr indent="0" marL="0">
              <a:buNone/>
            </a:pPr>
            <a:r>
              <a:rPr lang="en-IE" sz="2100" b="1" dirty="0">
                <a:solidFill>
                  <a:schemeClr val="tx1"/>
                </a:solidFill>
              </a:rPr>
              <a:t>Benefits and polymorphism</a:t>
            </a:r>
            <a:endParaRPr lang="en-IE" sz="2100" dirty="0"/>
          </a:p>
        </p:txBody>
      </p:sp>
      <p:sp>
        <p:nvSpPr>
          <p:cNvPr id="19" name="Text 16"/>
          <p:cNvSpPr txBox="1"/>
          <p:nvPr/>
        </p:nvSpPr>
        <p:spPr>
          <a:xfrm>
            <a:off x="1463040" y="5596128"/>
            <a:ext cx="5577840" cy="365760"/>
          </a:xfrm>
          <a:prstGeom prst="rect">
            <a:avLst/>
          </a:prstGeom>
          <a:noFill/>
          <a:ln/>
        </p:spPr>
        <p:txBody>
          <a:bodyPr wrap="square" lIns="0" tIns="0" rIns="0" bIns="0" rtlCol="0" anchor="t"/>
          <a:lstStyle/>
          <a:p>
            <a:pPr indent="0" marL="0">
              <a:buNone/>
            </a:pPr>
            <a:r>
              <a:rPr lang="en-IE" sz="1500" dirty="0">
                <a:solidFill>
                  <a:schemeClr val="tx2"/>
                </a:solidFill>
              </a:rPr>
              <a:t>Why we use them; parent types, lists and casting</a:t>
            </a:r>
            <a:endParaRPr lang="en-IE" sz="1500" dirty="0"/>
          </a:p>
        </p:txBody>
      </p:sp>
      <p:sp>
        <p:nvSpPr>
          <p:cNvPr id="20" name="How it works"/>
          <p:cNvSpPr/>
          <p:nvPr/>
        </p:nvSpPr>
        <p:spPr>
          <a:xfrm>
            <a:off x="7543800" y="1783080"/>
            <a:ext cx="4099255" cy="4160520"/>
          </a:xfrm>
          <a:prstGeom prst="roundRect">
            <a:avLst>
              <a:gd name="adj" fmla="val 2677"/>
            </a:avLst>
          </a:prstGeom>
          <a:solidFill>
            <a:schemeClr val="bg2"/>
          </a:solidFill>
          <a:ln/>
        </p:spPr>
      </p:sp>
      <p:sp>
        <p:nvSpPr>
          <p:cNvPr id="21" name="Text 18"/>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22"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23"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4" name="Text 20"/>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25"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6"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7" name="Text 22"/>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8"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9"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30" name="Text 24"/>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Why interfaces?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One parent only, and a structure with no behaviour</a:t>
            </a:r>
            <a:endParaRPr lang="en-IE" sz="2000" dirty="0"/>
          </a:p>
        </p:txBody>
      </p:sp>
      <p:sp>
        <p:nvSpPr>
          <p:cNvPr id="5" name="Topic chip"/>
          <p:cNvSpPr/>
          <p:nvPr/>
        </p:nvSpPr>
        <p:spPr>
          <a:xfrm>
            <a:off x="82296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One parent</a:t>
            </a:r>
            <a:endParaRPr lang="en-IE" sz="1400" dirty="0"/>
          </a:p>
        </p:txBody>
      </p:sp>
      <p:sp>
        <p:nvSpPr>
          <p:cNvPr id="6" name="Topic chip"/>
          <p:cNvSpPr/>
          <p:nvPr/>
        </p:nvSpPr>
        <p:spPr>
          <a:xfrm>
            <a:off x="2296160"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Interface</a:t>
            </a:r>
            <a:endParaRPr lang="en-IE" sz="1400" dirty="0"/>
          </a:p>
        </p:txBody>
      </p:sp>
      <p:sp>
        <p:nvSpPr>
          <p:cNvPr id="7" name="Topic chip"/>
          <p:cNvSpPr/>
          <p:nvPr/>
        </p:nvSpPr>
        <p:spPr>
          <a:xfrm>
            <a:off x="3676904" y="4846320"/>
            <a:ext cx="206654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Interface vs class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WHY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 class can only have one parent</a:t>
            </a:r>
            <a:endParaRPr lang="en-IE" sz="3400" dirty="0"/>
          </a:p>
        </p:txBody>
      </p:sp>
      <p:sp>
        <p:nvSpPr>
          <p:cNvPr id="5" name="Text 2"/>
          <p:cNvSpPr txBox="1"/>
          <p:nvPr/>
        </p:nvSpPr>
        <p:spPr>
          <a:xfrm>
            <a:off x="548640" y="1783080"/>
            <a:ext cx="5120640" cy="429768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In inheritance a class can only have one parent. We can’t extend two classes at the same time.</a:t>
            </a:r>
            <a:endParaRPr lang="en-IE" sz="1700" dirty="0"/>
          </a:p>
          <a:p>
            <a:pPr marL="228600" indent="-228600">
              <a:spcAft>
                <a:spcPts val="1000"/>
              </a:spcAft>
              <a:buSzPct val="100000"/>
              <a:buChar char="•"/>
            </a:pPr>
            <a:r>
              <a:rPr lang="en-IE" sz="1700" dirty="0">
                <a:solidFill>
                  <a:schemeClr val="tx1"/>
                </a:solidFill>
              </a:rPr>
              <a:t>If both had a method with the same name but different behaviour, the compiler wouldn’t know which one to call.</a:t>
            </a:r>
            <a:endParaRPr lang="en-IE" sz="1700" dirty="0"/>
          </a:p>
          <a:p>
            <a:pPr marL="228600" indent="-228600">
              <a:spcAft>
                <a:spcPts val="1000"/>
              </a:spcAft>
              <a:buSzPct val="100000"/>
              <a:buChar char="•"/>
            </a:pPr>
            <a:r>
              <a:rPr lang="en-IE" sz="1700" dirty="0">
                <a:solidFill>
                  <a:schemeClr val="tx1"/>
                </a:solidFill>
              </a:rPr>
              <a:t>Abstract methods would be fine, as they have no behaviour yet. But abstract classes can still have concrete methods, so they aren’t safe.</a:t>
            </a:r>
            <a:endParaRPr lang="en-IE" sz="1700" dirty="0"/>
          </a:p>
          <a:p>
            <a:pPr marL="228600" indent="-228600">
              <a:buSzPct val="100000"/>
              <a:buChar char="•"/>
            </a:pPr>
            <a:r>
              <a:rPr lang="en-IE" sz="1700" dirty="0">
                <a:solidFill>
                  <a:schemeClr val="tx1"/>
                </a:solidFill>
              </a:rPr>
              <a:t>So we need a structure that only has abstract methods.</a:t>
            </a:r>
            <a:endParaRPr lang="en-IE" sz="1700" dirty="0"/>
          </a:p>
        </p:txBody>
      </p:sp>
      <p:sp>
        <p:nvSpPr>
          <p:cNvPr id="6" name="Class Parent A"/>
          <p:cNvSpPr/>
          <p:nvPr/>
        </p:nvSpPr>
        <p:spPr>
          <a:xfrm>
            <a:off x="6172200" y="1828800"/>
            <a:ext cx="2468880" cy="870268"/>
          </a:xfrm>
          <a:prstGeom prst="rect">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7" name="Class Parent A header"/>
          <p:cNvSpPr/>
          <p:nvPr/>
        </p:nvSpPr>
        <p:spPr>
          <a:xfrm>
            <a:off x="6172200" y="1828800"/>
            <a:ext cx="2468880" cy="457200"/>
          </a:xfrm>
          <a:prstGeom prst="rect">
            <a:avLst/>
          </a:prstGeom>
          <a:solidFill>
            <a:schemeClr val="accent2">
              <a:alpha val="14000"/>
            </a:schemeClr>
          </a:solidFill>
          <a:ln w="19050">
            <a:solidFill>
              <a:schemeClr val="accent2"/>
            </a:solidFill>
            <a:prstDash val="solid"/>
          </a:ln>
        </p:spPr>
      </p:sp>
      <p:sp>
        <p:nvSpPr>
          <p:cNvPr id="8" name="Text 5"/>
          <p:cNvSpPr txBox="1"/>
          <p:nvPr/>
        </p:nvSpPr>
        <p:spPr>
          <a:xfrm>
            <a:off x="6172200" y="1865376"/>
            <a:ext cx="2468880" cy="384048"/>
          </a:xfrm>
          <a:prstGeom prst="rect">
            <a:avLst/>
          </a:prstGeom>
          <a:noFill/>
          <a:ln/>
        </p:spPr>
        <p:txBody>
          <a:bodyPr wrap="square" lIns="0" tIns="0" rIns="0" bIns="0" rtlCol="0" anchor="ctr"/>
          <a:lstStyle/>
          <a:p>
            <a:pPr algn="ctr" indent="0" marL="0">
              <a:buNone/>
            </a:pPr>
            <a:r>
              <a:rPr lang="en-IE" sz="1600" b="1" dirty="0">
                <a:solidFill>
                  <a:schemeClr val="tx1"/>
                </a:solidFill>
              </a:rPr>
              <a:t>Parent A</a:t>
            </a:r>
            <a:endParaRPr lang="en-IE" sz="1600" dirty="0"/>
          </a:p>
        </p:txBody>
      </p:sp>
      <p:sp>
        <p:nvSpPr>
          <p:cNvPr id="9" name="Connector"/>
          <p:cNvSpPr/>
          <p:nvPr/>
        </p:nvSpPr>
        <p:spPr>
          <a:xfrm>
            <a:off x="6172200" y="2286000"/>
            <a:ext cx="2468880" cy="0"/>
          </a:xfrm>
          <a:prstGeom prst="line">
            <a:avLst/>
          </a:prstGeom>
          <a:noFill/>
          <a:ln w="15875">
            <a:solidFill>
              <a:schemeClr val="accent2"/>
            </a:solidFill>
            <a:prstDash val="solid"/>
          </a:ln>
        </p:spPr>
      </p:sp>
      <p:sp>
        <p:nvSpPr>
          <p:cNvPr id="10" name="Parent A methods"/>
          <p:cNvSpPr txBox="1"/>
          <p:nvPr/>
        </p:nvSpPr>
        <p:spPr>
          <a:xfrm>
            <a:off x="6300216" y="2377440"/>
            <a:ext cx="2212848" cy="230188"/>
          </a:xfrm>
          <a:prstGeom prst="rect">
            <a:avLst/>
          </a:prstGeom>
          <a:noFill/>
          <a:ln/>
        </p:spPr>
        <p:txBody>
          <a:bodyPr wrap="square" lIns="0" tIns="0" rIns="0" bIns="0" rtlCol="0" anchor="t"/>
          <a:lstStyle/>
          <a:p>
            <a:pPr indent="0" marL="0">
              <a:lnSpc>
                <a:spcPts val="1813"/>
              </a:lnSpc>
              <a:buNone/>
            </a:pPr>
            <a:r>
              <a:rPr lang="en-IE" sz="1250" dirty="0">
                <a:solidFill>
                  <a:schemeClr val="tx1"/>
                </a:solidFill>
                <a:latin typeface="Consolas" pitchFamily="34" charset="0"/>
                <a:ea typeface="Consolas" pitchFamily="34" charset="-122"/>
                <a:cs typeface="Consolas" pitchFamily="34" charset="-120"/>
              </a:rPr>
              <a:t>work()  // prints "A"</a:t>
            </a:r>
            <a:endParaRPr lang="en-IE" sz="1250" dirty="0"/>
          </a:p>
        </p:txBody>
      </p:sp>
      <p:sp>
        <p:nvSpPr>
          <p:cNvPr id="11" name="Class Parent B"/>
          <p:cNvSpPr/>
          <p:nvPr/>
        </p:nvSpPr>
        <p:spPr>
          <a:xfrm>
            <a:off x="9171432" y="1828800"/>
            <a:ext cx="2468880" cy="870268"/>
          </a:xfrm>
          <a:prstGeom prst="rect">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12" name="Class Parent B header"/>
          <p:cNvSpPr/>
          <p:nvPr/>
        </p:nvSpPr>
        <p:spPr>
          <a:xfrm>
            <a:off x="9171432" y="1828800"/>
            <a:ext cx="2468880" cy="457200"/>
          </a:xfrm>
          <a:prstGeom prst="rect">
            <a:avLst/>
          </a:prstGeom>
          <a:solidFill>
            <a:schemeClr val="accent2">
              <a:alpha val="14000"/>
            </a:schemeClr>
          </a:solidFill>
          <a:ln w="19050">
            <a:solidFill>
              <a:schemeClr val="accent2"/>
            </a:solidFill>
            <a:prstDash val="solid"/>
          </a:ln>
        </p:spPr>
      </p:sp>
      <p:sp>
        <p:nvSpPr>
          <p:cNvPr id="13" name="Text 10"/>
          <p:cNvSpPr txBox="1"/>
          <p:nvPr/>
        </p:nvSpPr>
        <p:spPr>
          <a:xfrm>
            <a:off x="9171432" y="1865376"/>
            <a:ext cx="2468880" cy="384048"/>
          </a:xfrm>
          <a:prstGeom prst="rect">
            <a:avLst/>
          </a:prstGeom>
          <a:noFill/>
          <a:ln/>
        </p:spPr>
        <p:txBody>
          <a:bodyPr wrap="square" lIns="0" tIns="0" rIns="0" bIns="0" rtlCol="0" anchor="ctr"/>
          <a:lstStyle/>
          <a:p>
            <a:pPr algn="ctr" indent="0" marL="0">
              <a:buNone/>
            </a:pPr>
            <a:r>
              <a:rPr lang="en-IE" sz="1600" b="1" dirty="0">
                <a:solidFill>
                  <a:schemeClr val="tx1"/>
                </a:solidFill>
              </a:rPr>
              <a:t>Parent B</a:t>
            </a:r>
            <a:endParaRPr lang="en-IE" sz="1600" dirty="0"/>
          </a:p>
        </p:txBody>
      </p:sp>
      <p:sp>
        <p:nvSpPr>
          <p:cNvPr id="14" name="Connector"/>
          <p:cNvSpPr/>
          <p:nvPr/>
        </p:nvSpPr>
        <p:spPr>
          <a:xfrm>
            <a:off x="9171432" y="2286000"/>
            <a:ext cx="2468880" cy="0"/>
          </a:xfrm>
          <a:prstGeom prst="line">
            <a:avLst/>
          </a:prstGeom>
          <a:noFill/>
          <a:ln w="15875">
            <a:solidFill>
              <a:schemeClr val="accent2"/>
            </a:solidFill>
            <a:prstDash val="solid"/>
          </a:ln>
        </p:spPr>
      </p:sp>
      <p:sp>
        <p:nvSpPr>
          <p:cNvPr id="15" name="Parent B methods"/>
          <p:cNvSpPr txBox="1"/>
          <p:nvPr/>
        </p:nvSpPr>
        <p:spPr>
          <a:xfrm>
            <a:off x="9299448" y="2377440"/>
            <a:ext cx="2212848" cy="230188"/>
          </a:xfrm>
          <a:prstGeom prst="rect">
            <a:avLst/>
          </a:prstGeom>
          <a:noFill/>
          <a:ln/>
        </p:spPr>
        <p:txBody>
          <a:bodyPr wrap="square" lIns="0" tIns="0" rIns="0" bIns="0" rtlCol="0" anchor="t"/>
          <a:lstStyle/>
          <a:p>
            <a:pPr indent="0" marL="0">
              <a:lnSpc>
                <a:spcPts val="1813"/>
              </a:lnSpc>
              <a:buNone/>
            </a:pPr>
            <a:r>
              <a:rPr lang="en-IE" sz="1250" dirty="0">
                <a:solidFill>
                  <a:schemeClr val="tx1"/>
                </a:solidFill>
                <a:latin typeface="Consolas" pitchFamily="34" charset="0"/>
                <a:ea typeface="Consolas" pitchFamily="34" charset="-122"/>
                <a:cs typeface="Consolas" pitchFamily="34" charset="-120"/>
              </a:rPr>
              <a:t>work()  // prints "B"</a:t>
            </a:r>
            <a:endParaRPr lang="en-IE" sz="1250" dirty="0"/>
          </a:p>
        </p:txBody>
      </p:sp>
      <p:sp>
        <p:nvSpPr>
          <p:cNvPr id="16" name="Box Child"/>
          <p:cNvSpPr/>
          <p:nvPr/>
        </p:nvSpPr>
        <p:spPr>
          <a:xfrm>
            <a:off x="7818120" y="3931920"/>
            <a:ext cx="2194560" cy="685800"/>
          </a:xfrm>
          <a:prstGeom prst="roundRect">
            <a:avLst>
              <a:gd name="adj" fmla="val 10667"/>
            </a:avLst>
          </a:prstGeom>
          <a:solidFill>
            <a:schemeClr val="accent1">
              <a:alpha val="14000"/>
            </a:schemeClr>
          </a:solidFill>
          <a:ln w="19050">
            <a:solidFill>
              <a:schemeClr val="accent1"/>
            </a:solidFill>
            <a:prstDash val="solid"/>
          </a:ln>
        </p:spPr>
      </p:sp>
      <p:sp>
        <p:nvSpPr>
          <p:cNvPr id="17" name="Text 14"/>
          <p:cNvSpPr txBox="1"/>
          <p:nvPr/>
        </p:nvSpPr>
        <p:spPr>
          <a:xfrm>
            <a:off x="7818120" y="3931920"/>
            <a:ext cx="2194560" cy="685800"/>
          </a:xfrm>
          <a:prstGeom prst="rect">
            <a:avLst/>
          </a:prstGeom>
          <a:noFill/>
          <a:ln/>
        </p:spPr>
        <p:txBody>
          <a:bodyPr wrap="square" lIns="0" tIns="0" rIns="0" bIns="0" rtlCol="0" anchor="ctr"/>
          <a:lstStyle/>
          <a:p>
            <a:pPr algn="ctr" indent="0" marL="0">
              <a:buNone/>
            </a:pPr>
            <a:r>
              <a:rPr lang="en-IE" sz="1800" b="1" dirty="0">
                <a:solidFill>
                  <a:schemeClr val="tx1"/>
                </a:solidFill>
              </a:rPr>
              <a:t>Child</a:t>
            </a:r>
            <a:endParaRPr lang="en-IE" sz="1800" dirty="0"/>
          </a:p>
        </p:txBody>
      </p:sp>
      <p:sp>
        <p:nvSpPr>
          <p:cNvPr id="18" name="Line"/>
          <p:cNvSpPr/>
          <p:nvPr/>
        </p:nvSpPr>
        <p:spPr>
          <a:xfrm flipV="1">
            <a:off x="8458200" y="3429000"/>
            <a:ext cx="0" cy="502920"/>
          </a:xfrm>
          <a:prstGeom prst="line">
            <a:avLst/>
          </a:prstGeom>
          <a:noFill/>
          <a:ln w="19050">
            <a:solidFill>
              <a:schemeClr val="tx1"/>
            </a:solidFill>
            <a:prstDash val="solid"/>
          </a:ln>
        </p:spPr>
      </p:sp>
      <p:sp>
        <p:nvSpPr>
          <p:cNvPr id="19" name="Line"/>
          <p:cNvSpPr/>
          <p:nvPr/>
        </p:nvSpPr>
        <p:spPr>
          <a:xfrm flipH="1">
            <a:off x="7406640" y="3429000"/>
            <a:ext cx="1051560" cy="0"/>
          </a:xfrm>
          <a:prstGeom prst="line">
            <a:avLst/>
          </a:prstGeom>
          <a:noFill/>
          <a:ln w="19050">
            <a:solidFill>
              <a:schemeClr val="tx1"/>
            </a:solidFill>
            <a:prstDash val="solid"/>
          </a:ln>
        </p:spPr>
      </p:sp>
      <p:sp>
        <p:nvSpPr>
          <p:cNvPr id="20" name="Line"/>
          <p:cNvSpPr/>
          <p:nvPr/>
        </p:nvSpPr>
        <p:spPr>
          <a:xfrm flipV="1">
            <a:off x="7406640" y="2881948"/>
            <a:ext cx="0" cy="547053"/>
          </a:xfrm>
          <a:prstGeom prst="line">
            <a:avLst/>
          </a:prstGeom>
          <a:noFill/>
          <a:ln w="19050">
            <a:solidFill>
              <a:schemeClr val="tx1"/>
            </a:solidFill>
            <a:prstDash val="solid"/>
          </a:ln>
        </p:spPr>
      </p:sp>
      <p:sp>
        <p:nvSpPr>
          <p:cNvPr id="21" name="Inheritance arrow head"/>
          <p:cNvSpPr/>
          <p:nvPr/>
        </p:nvSpPr>
        <p:spPr>
          <a:xfrm>
            <a:off x="7296912" y="2699068"/>
            <a:ext cx="219456" cy="182880"/>
          </a:xfrm>
          <a:prstGeom prst="triangle">
            <a:avLst/>
          </a:prstGeom>
          <a:solidFill>
            <a:schemeClr val="bg1"/>
          </a:solidFill>
          <a:ln w="19050">
            <a:solidFill>
              <a:schemeClr val="tx1"/>
            </a:solidFill>
            <a:prstDash val="solid"/>
          </a:ln>
        </p:spPr>
      </p:sp>
      <p:sp>
        <p:nvSpPr>
          <p:cNvPr id="22" name="Line"/>
          <p:cNvSpPr/>
          <p:nvPr/>
        </p:nvSpPr>
        <p:spPr>
          <a:xfrm flipV="1">
            <a:off x="9372600" y="3429000"/>
            <a:ext cx="0" cy="502920"/>
          </a:xfrm>
          <a:prstGeom prst="line">
            <a:avLst/>
          </a:prstGeom>
          <a:noFill/>
          <a:ln w="19050">
            <a:solidFill>
              <a:schemeClr val="tx1"/>
            </a:solidFill>
            <a:prstDash val="solid"/>
          </a:ln>
        </p:spPr>
      </p:sp>
      <p:sp>
        <p:nvSpPr>
          <p:cNvPr id="23" name="Line"/>
          <p:cNvSpPr/>
          <p:nvPr/>
        </p:nvSpPr>
        <p:spPr>
          <a:xfrm>
            <a:off x="9372600" y="3429000"/>
            <a:ext cx="1033272" cy="0"/>
          </a:xfrm>
          <a:prstGeom prst="line">
            <a:avLst/>
          </a:prstGeom>
          <a:noFill/>
          <a:ln w="19050">
            <a:solidFill>
              <a:schemeClr val="tx1"/>
            </a:solidFill>
            <a:prstDash val="solid"/>
          </a:ln>
        </p:spPr>
      </p:sp>
      <p:sp>
        <p:nvSpPr>
          <p:cNvPr id="24" name="Line"/>
          <p:cNvSpPr/>
          <p:nvPr/>
        </p:nvSpPr>
        <p:spPr>
          <a:xfrm flipV="1">
            <a:off x="10405872" y="2881948"/>
            <a:ext cx="0" cy="547053"/>
          </a:xfrm>
          <a:prstGeom prst="line">
            <a:avLst/>
          </a:prstGeom>
          <a:noFill/>
          <a:ln w="19050">
            <a:solidFill>
              <a:schemeClr val="tx1"/>
            </a:solidFill>
            <a:prstDash val="solid"/>
          </a:ln>
        </p:spPr>
      </p:sp>
      <p:sp>
        <p:nvSpPr>
          <p:cNvPr id="25" name="Inheritance arrow head"/>
          <p:cNvSpPr/>
          <p:nvPr/>
        </p:nvSpPr>
        <p:spPr>
          <a:xfrm>
            <a:off x="10296144" y="2699068"/>
            <a:ext cx="219456" cy="182880"/>
          </a:xfrm>
          <a:prstGeom prst="triangle">
            <a:avLst/>
          </a:prstGeom>
          <a:solidFill>
            <a:schemeClr val="bg1"/>
          </a:solidFill>
          <a:ln w="19050">
            <a:solidFill>
              <a:schemeClr val="tx1"/>
            </a:solidFill>
            <a:prstDash val="solid"/>
          </a:ln>
        </p:spPr>
      </p:sp>
      <p:pic>
        <p:nvPicPr>
          <p:cNvPr id="26" name="Not allowed" descr="Not allowed">    </p:cNvPr>
          <p:cNvPicPr>
            <a:picLocks noChangeAspect="1"/>
          </p:cNvPicPr>
          <p:nvPr/>
        </p:nvPicPr>
        <p:blipFill>
          <a:blip r:embed="rId1"/>
          <a:stretch>
            <a:fillRect/>
          </a:stretch>
        </p:blipFill>
        <p:spPr>
          <a:xfrm>
            <a:off x="10149840" y="4059936"/>
            <a:ext cx="438912" cy="438912"/>
          </a:xfrm>
          <a:prstGeom prst="rect">
            <a:avLst/>
          </a:prstGeom>
        </p:spPr>
      </p:pic>
      <p:sp>
        <p:nvSpPr>
          <p:cNvPr id="27" name="The problem"/>
          <p:cNvSpPr/>
          <p:nvPr/>
        </p:nvSpPr>
        <p:spPr>
          <a:xfrm>
            <a:off x="6675120" y="4937760"/>
            <a:ext cx="4480560" cy="548640"/>
          </a:xfrm>
          <a:prstGeom prst="roundRect">
            <a:avLst>
              <a:gd name="adj" fmla="val 16667"/>
            </a:avLst>
          </a:prstGeom>
          <a:solidFill>
            <a:schemeClr val="bg2"/>
          </a:solidFill>
          <a:ln/>
        </p:spPr>
        <p:txBody>
          <a:bodyPr wrap="square" lIns="0" tIns="0" rIns="0" bIns="0" rtlCol="0" anchor="ctr"/>
          <a:lstStyle/>
          <a:p>
            <a:pPr algn="ctr" indent="0" marL="0">
              <a:buNone/>
            </a:pPr>
            <a:r>
              <a:rPr lang="en-IE" sz="1600" b="1" dirty="0">
                <a:solidFill>
                  <a:schemeClr val="tx1"/>
                </a:solidFill>
              </a:rPr>
              <a:t>child.work()  →  “A” or “B”?</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Why 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can’t a class extend two classes at the same time?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Two parents could give one method two behaviours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Each class is allowed only one constructor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class already extends Object, so there’s no room for another parent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compiler can only check one parent class at a time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Why 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can’t a class extend two classes at the same time?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Two parents could give one method two behaviours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Each class is allowed only one constructor</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class already extends Object, so there’s no room for another parent</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compiler can only check one parent class at a time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If both parents had a method with the same name but different behaviour, the compiler wouldn’t know which one to call. So Java allows only one parent class, and uses interfaces, whose abstract methods have no behaviour, for the rest.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WHY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is an interface?</a:t>
            </a:r>
            <a:endParaRPr lang="en-IE" sz="3400" dirty="0"/>
          </a:p>
        </p:txBody>
      </p:sp>
      <p:sp>
        <p:nvSpPr>
          <p:cNvPr id="5" name="Text 2"/>
          <p:cNvSpPr txBox="1"/>
          <p:nvPr/>
        </p:nvSpPr>
        <p:spPr>
          <a:xfrm>
            <a:off x="548640" y="1783080"/>
            <a:ext cx="5212080" cy="429768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An interface is similar to an abstract class, but it’s not technically a class.</a:t>
            </a:r>
            <a:endParaRPr lang="en-IE" sz="1700" dirty="0"/>
          </a:p>
          <a:p>
            <a:pPr marL="228600" indent="-228600">
              <a:spcAft>
                <a:spcPts val="1000"/>
              </a:spcAft>
              <a:buSzPct val="100000"/>
              <a:buChar char="•"/>
            </a:pPr>
            <a:r>
              <a:rPr lang="en-IE" sz="1700" dirty="0">
                <a:solidFill>
                  <a:schemeClr val="tx1"/>
                </a:solidFill>
              </a:rPr>
              <a:t>Like an abstract class, it isn’t used to create objects.</a:t>
            </a:r>
            <a:endParaRPr lang="en-IE" sz="1700" dirty="0"/>
          </a:p>
          <a:p>
            <a:pPr marL="228600" indent="-228600">
              <a:spcAft>
                <a:spcPts val="1000"/>
              </a:spcAft>
              <a:buSzPct val="100000"/>
              <a:buChar char="•"/>
            </a:pPr>
            <a:r>
              <a:rPr lang="en-IE" sz="1700" dirty="0">
                <a:solidFill>
                  <a:schemeClr val="tx1"/>
                </a:solidFill>
              </a:rPr>
              <a:t>Its methods are abstract and public by default, so they have no behaviour, just the structure. (Static and default methods are the exceptions, coming up.)</a:t>
            </a:r>
            <a:endParaRPr lang="en-IE" sz="1700" dirty="0"/>
          </a:p>
          <a:p>
            <a:pPr marL="228600" indent="-228600">
              <a:buSzPct val="100000"/>
              <a:buChar char="•"/>
            </a:pPr>
            <a:r>
              <a:rPr lang="en-IE" sz="1700" dirty="0">
                <a:solidFill>
                  <a:schemeClr val="tx1"/>
                </a:solidFill>
              </a:rPr>
              <a:t>Its attributes are public, static and final by default, so they are constants.</a:t>
            </a:r>
            <a:endParaRPr lang="en-IE" sz="1700" dirty="0"/>
          </a:p>
        </p:txBody>
      </p:sp>
      <p:sp>
        <p:nvSpPr>
          <p:cNvPr id="6" name="Class PayRoll"/>
          <p:cNvSpPr/>
          <p:nvPr/>
        </p:nvSpPr>
        <p:spPr>
          <a:xfrm>
            <a:off x="6263640" y="1874520"/>
            <a:ext cx="4114800" cy="1825181"/>
          </a:xfrm>
          <a:prstGeom prst="rect">
            <a:avLst/>
          </a:prstGeom>
          <a:solidFill>
            <a:schemeClr val="bg1"/>
          </a:solidFill>
          <a:ln w="19050">
            <a:solidFill>
              <a:schemeClr val="accent5"/>
            </a:solidFill>
            <a:prstDash val="solid"/>
          </a:ln>
          <a:effectLst>
            <a:outerShdw sx="100000" sy="100000" kx="0" ky="0" algn="bl" rotWithShape="0" blurRad="76200" dist="19050" dir="5400000">
              <a:srgbClr val="1D2433">
                <a:alpha val="8000"/>
              </a:srgbClr>
            </a:outerShdw>
          </a:effectLst>
        </p:spPr>
      </p:sp>
      <p:sp>
        <p:nvSpPr>
          <p:cNvPr id="7" name="Class PayRoll header"/>
          <p:cNvSpPr/>
          <p:nvPr/>
        </p:nvSpPr>
        <p:spPr>
          <a:xfrm>
            <a:off x="6263640" y="1874520"/>
            <a:ext cx="4114800" cy="658368"/>
          </a:xfrm>
          <a:prstGeom prst="rect">
            <a:avLst/>
          </a:prstGeom>
          <a:solidFill>
            <a:schemeClr val="accent5">
              <a:alpha val="14000"/>
            </a:schemeClr>
          </a:solidFill>
          <a:ln w="19050">
            <a:solidFill>
              <a:schemeClr val="accent5"/>
            </a:solidFill>
            <a:prstDash val="solid"/>
          </a:ln>
        </p:spPr>
      </p:sp>
      <p:sp>
        <p:nvSpPr>
          <p:cNvPr id="8" name="Text 5"/>
          <p:cNvSpPr txBox="1"/>
          <p:nvPr/>
        </p:nvSpPr>
        <p:spPr>
          <a:xfrm>
            <a:off x="6263640" y="1938528"/>
            <a:ext cx="4114800" cy="237744"/>
          </a:xfrm>
          <a:prstGeom prst="rect">
            <a:avLst/>
          </a:prstGeom>
          <a:noFill/>
          <a:ln/>
        </p:spPr>
        <p:txBody>
          <a:bodyPr wrap="square" lIns="0" tIns="0" rIns="0" bIns="0" rtlCol="0" anchor="ctr"/>
          <a:lstStyle/>
          <a:p>
            <a:pPr algn="ctr" indent="0" marL="0">
              <a:buNone/>
            </a:pPr>
            <a:r>
              <a:rPr lang="en-IE" sz="1150" i="1" dirty="0">
                <a:solidFill>
                  <a:schemeClr val="tx2"/>
                </a:solidFill>
              </a:rPr>
              <a:t>«interface»</a:t>
            </a:r>
            <a:endParaRPr lang="en-IE" sz="1150" dirty="0"/>
          </a:p>
        </p:txBody>
      </p:sp>
      <p:sp>
        <p:nvSpPr>
          <p:cNvPr id="9" name="Text 6"/>
          <p:cNvSpPr txBox="1"/>
          <p:nvPr/>
        </p:nvSpPr>
        <p:spPr>
          <a:xfrm>
            <a:off x="6263640" y="2148840"/>
            <a:ext cx="4114800" cy="384048"/>
          </a:xfrm>
          <a:prstGeom prst="rect">
            <a:avLst/>
          </a:prstGeom>
          <a:noFill/>
          <a:ln/>
        </p:spPr>
        <p:txBody>
          <a:bodyPr wrap="square" lIns="0" tIns="0" rIns="0" bIns="0" rtlCol="0" anchor="ctr"/>
          <a:lstStyle/>
          <a:p>
            <a:pPr algn="ctr" indent="0" marL="0">
              <a:buNone/>
            </a:pPr>
            <a:r>
              <a:rPr lang="en-IE" sz="1600" b="1" dirty="0">
                <a:solidFill>
                  <a:schemeClr val="tx1"/>
                </a:solidFill>
              </a:rPr>
              <a:t>PayRoll</a:t>
            </a:r>
            <a:endParaRPr lang="en-IE" sz="1600" dirty="0"/>
          </a:p>
        </p:txBody>
      </p:sp>
      <p:sp>
        <p:nvSpPr>
          <p:cNvPr id="10" name="PayRoll attributes"/>
          <p:cNvSpPr txBox="1"/>
          <p:nvPr/>
        </p:nvSpPr>
        <p:spPr>
          <a:xfrm>
            <a:off x="6391656" y="2624328"/>
            <a:ext cx="3858768" cy="534035"/>
          </a:xfrm>
          <a:prstGeom prst="rect">
            <a:avLst/>
          </a:prstGeom>
          <a:noFill/>
          <a:ln/>
        </p:spPr>
        <p:txBody>
          <a:bodyPr wrap="square" lIns="0" tIns="0" rIns="0" bIns="0" rtlCol="0" anchor="t"/>
          <a:lstStyle/>
          <a:p>
            <a:pPr indent="0" marL="0">
              <a:lnSpc>
                <a:spcPts val="2103"/>
              </a:lnSpc>
              <a:buNone/>
            </a:pPr>
            <a:r>
              <a:rPr lang="en-IE" sz="1450" dirty="0">
                <a:solidFill>
                  <a:schemeClr val="tx1"/>
                </a:solidFill>
                <a:latin typeface="Consolas" pitchFamily="34" charset="0"/>
                <a:ea typeface="Consolas" pitchFamily="34" charset="-122"/>
                <a:cs typeface="Consolas" pitchFamily="34" charset="-120"/>
              </a:rPr>
              <a:t>hourlyRate = 25</a:t>
            </a:r>
            <a:endParaRPr lang="en-IE" sz="1450" dirty="0"/>
          </a:p>
          <a:p>
            <a:pPr indent="0" marL="0">
              <a:lnSpc>
                <a:spcPts val="2103"/>
              </a:lnSpc>
              <a:buNone/>
            </a:pPr>
            <a:r>
              <a:rPr lang="en-IE" sz="1450" dirty="0">
                <a:solidFill>
                  <a:schemeClr val="tx1"/>
                </a:solidFill>
                <a:latin typeface="Consolas" pitchFamily="34" charset="0"/>
                <a:ea typeface="Consolas" pitchFamily="34" charset="-122"/>
                <a:cs typeface="Consolas" pitchFamily="34" charset="-120"/>
              </a:rPr>
              <a:t>monthlyRate = 2500</a:t>
            </a:r>
            <a:endParaRPr lang="en-IE" sz="1450" dirty="0"/>
          </a:p>
        </p:txBody>
      </p:sp>
      <p:sp>
        <p:nvSpPr>
          <p:cNvPr id="11" name="Connector"/>
          <p:cNvSpPr/>
          <p:nvPr/>
        </p:nvSpPr>
        <p:spPr>
          <a:xfrm>
            <a:off x="6263640" y="3249803"/>
            <a:ext cx="4114800" cy="0"/>
          </a:xfrm>
          <a:prstGeom prst="line">
            <a:avLst/>
          </a:prstGeom>
          <a:noFill/>
          <a:ln w="15875">
            <a:solidFill>
              <a:schemeClr val="accent5"/>
            </a:solidFill>
            <a:prstDash val="solid"/>
          </a:ln>
        </p:spPr>
      </p:sp>
      <p:sp>
        <p:nvSpPr>
          <p:cNvPr id="12" name="PayRoll methods"/>
          <p:cNvSpPr txBox="1"/>
          <p:nvPr/>
        </p:nvSpPr>
        <p:spPr>
          <a:xfrm>
            <a:off x="6391656" y="3341243"/>
            <a:ext cx="3858768" cy="267017"/>
          </a:xfrm>
          <a:prstGeom prst="rect">
            <a:avLst/>
          </a:prstGeom>
          <a:noFill/>
          <a:ln/>
        </p:spPr>
        <p:txBody>
          <a:bodyPr wrap="square" lIns="0" tIns="0" rIns="0" bIns="0" rtlCol="0" anchor="t"/>
          <a:lstStyle/>
          <a:p>
            <a:pPr indent="0" marL="0">
              <a:lnSpc>
                <a:spcPts val="2103"/>
              </a:lnSpc>
              <a:buNone/>
            </a:pPr>
            <a:r>
              <a:rPr lang="en-IE" sz="1450" i="1" dirty="0">
                <a:solidFill>
                  <a:schemeClr val="tx1"/>
                </a:solidFill>
                <a:latin typeface="Consolas" pitchFamily="34" charset="0"/>
                <a:ea typeface="Consolas" pitchFamily="34" charset="-122"/>
                <a:cs typeface="Consolas" pitchFamily="34" charset="-120"/>
              </a:rPr>
              <a:t>calculatePay() : double</a:t>
            </a:r>
            <a:endParaRPr lang="en-IE" sz="1450" dirty="0"/>
          </a:p>
        </p:txBody>
      </p:sp>
      <p:sp>
        <p:nvSpPr>
          <p:cNvPr id="13" name="Text 10"/>
          <p:cNvSpPr txBox="1"/>
          <p:nvPr/>
        </p:nvSpPr>
        <p:spPr>
          <a:xfrm>
            <a:off x="10451592" y="2651760"/>
            <a:ext cx="914400" cy="274320"/>
          </a:xfrm>
          <a:prstGeom prst="rect">
            <a:avLst/>
          </a:prstGeom>
          <a:noFill/>
          <a:ln/>
        </p:spPr>
        <p:txBody>
          <a:bodyPr wrap="square" lIns="0" tIns="0" rIns="0" bIns="0" rtlCol="0" anchor="t"/>
          <a:lstStyle/>
          <a:p>
            <a:pPr indent="0" marL="0">
              <a:buNone/>
            </a:pPr>
            <a:r>
              <a:rPr lang="en-IE" sz="1200" i="1" dirty="0">
                <a:solidFill>
                  <a:schemeClr val="tx2"/>
                </a:solidFill>
              </a:rPr>
              <a:t>constants</a:t>
            </a:r>
            <a:endParaRPr lang="en-IE" sz="1200" dirty="0"/>
          </a:p>
        </p:txBody>
      </p:sp>
      <p:sp>
        <p:nvSpPr>
          <p:cNvPr id="14" name="Text 11"/>
          <p:cNvSpPr txBox="1"/>
          <p:nvPr/>
        </p:nvSpPr>
        <p:spPr>
          <a:xfrm>
            <a:off x="10451592" y="3288220"/>
            <a:ext cx="1097280" cy="274320"/>
          </a:xfrm>
          <a:prstGeom prst="rect">
            <a:avLst/>
          </a:prstGeom>
          <a:noFill/>
          <a:ln/>
        </p:spPr>
        <p:txBody>
          <a:bodyPr wrap="square" lIns="0" tIns="0" rIns="0" bIns="0" rtlCol="0" anchor="t"/>
          <a:lstStyle/>
          <a:p>
            <a:pPr indent="0" marL="0">
              <a:buNone/>
            </a:pPr>
            <a:r>
              <a:rPr lang="en-IE" sz="1200" i="1" dirty="0">
                <a:solidFill>
                  <a:schemeClr val="tx2"/>
                </a:solidFill>
              </a:rPr>
              <a:t>structure only</a:t>
            </a:r>
            <a:endParaRPr lang="en-IE" sz="1200" dirty="0"/>
          </a:p>
        </p:txBody>
      </p:sp>
      <p:sp>
        <p:nvSpPr>
          <p:cNvPr id="15" name="Note"/>
          <p:cNvSpPr/>
          <p:nvPr/>
        </p:nvSpPr>
        <p:spPr>
          <a:xfrm>
            <a:off x="6172200" y="4846320"/>
            <a:ext cx="5470855" cy="914400"/>
          </a:xfrm>
          <a:prstGeom prst="roundRect">
            <a:avLst>
              <a:gd name="adj" fmla="val 12000"/>
            </a:avLst>
          </a:prstGeom>
          <a:solidFill>
            <a:schemeClr val="bg2"/>
          </a:solidFill>
          <a:ln/>
        </p:spPr>
      </p:sp>
      <p:sp>
        <p:nvSpPr>
          <p:cNvPr id="16" name="Icon tile"/>
          <p:cNvSpPr/>
          <p:nvPr/>
        </p:nvSpPr>
        <p:spPr>
          <a:xfrm>
            <a:off x="6446520" y="5038344"/>
            <a:ext cx="530352" cy="530352"/>
          </a:xfrm>
          <a:prstGeom prst="roundRect">
            <a:avLst>
              <a:gd name="adj" fmla="val 24000"/>
            </a:avLst>
          </a:prstGeom>
          <a:solidFill>
            <a:schemeClr val="accent5">
              <a:alpha val="14000"/>
            </a:schemeClr>
          </a:solidFill>
          <a:ln/>
        </p:spPr>
      </p:sp>
      <p:pic>
        <p:nvPicPr>
          <p:cNvPr id="17" name="clipboard text icon" descr="clipboard text icon">    </p:cNvPr>
          <p:cNvPicPr>
            <a:picLocks noChangeAspect="1"/>
          </p:cNvPicPr>
          <p:nvPr/>
        </p:nvPicPr>
        <p:blipFill>
          <a:blip r:embed="rId1"/>
          <a:stretch>
            <a:fillRect/>
          </a:stretch>
        </p:blipFill>
        <p:spPr>
          <a:xfrm>
            <a:off x="6557894" y="5149718"/>
            <a:ext cx="307604" cy="307604"/>
          </a:xfrm>
          <a:prstGeom prst="rect">
            <a:avLst/>
          </a:prstGeom>
        </p:spPr>
      </p:pic>
      <p:sp>
        <p:nvSpPr>
          <p:cNvPr id="18" name="Text 14"/>
          <p:cNvSpPr txBox="1"/>
          <p:nvPr/>
        </p:nvSpPr>
        <p:spPr>
          <a:xfrm>
            <a:off x="7196328" y="4846320"/>
            <a:ext cx="4190695" cy="914400"/>
          </a:xfrm>
          <a:prstGeom prst="rect">
            <a:avLst/>
          </a:prstGeom>
          <a:noFill/>
          <a:ln/>
        </p:spPr>
        <p:txBody>
          <a:bodyPr wrap="square" lIns="0" tIns="0" rIns="0" bIns="0" rtlCol="0" anchor="ctr"/>
          <a:lstStyle/>
          <a:p>
            <a:pPr indent="0" marL="0">
              <a:buNone/>
            </a:pPr>
            <a:r>
              <a:rPr lang="en-IE" sz="1600" dirty="0">
                <a:solidFill>
                  <a:schemeClr val="tx1"/>
                </a:solidFill>
              </a:rPr>
              <a:t>It says </a:t>
            </a:r>
            <a:r>
              <a:rPr lang="en-IE" sz="1600" b="1" dirty="0">
                <a:solidFill>
                  <a:schemeClr val="tx1"/>
                </a:solidFill>
              </a:rPr>
              <a:t>what</a:t>
            </a:r>
            <a:r>
              <a:rPr lang="en-IE" sz="1600" dirty="0">
                <a:solidFill>
                  <a:schemeClr val="tx1"/>
                </a:solidFill>
              </a:rPr>
              <a:t> a class must have, not </a:t>
            </a:r>
            <a:r>
              <a:rPr lang="en-IE" sz="1600" b="1" dirty="0">
                <a:solidFill>
                  <a:schemeClr val="tx1"/>
                </a:solidFill>
              </a:rPr>
              <a:t>how</a:t>
            </a:r>
            <a:r>
              <a:rPr lang="en-IE" sz="1600" dirty="0">
                <a:solidFill>
                  <a:schemeClr val="tx1"/>
                </a:solidFill>
              </a:rPr>
              <a:t> it works.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statement about an interface is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is used to create objects, like a class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must contain at least one constructor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can only ever be used by one class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lists the methods a class must have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statement about an interface is true?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is used to create objects, like a class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must contain at least one constructor</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can only ever be used by one class</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 lists the methods a class must have</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interface isn’t used to create objects. It lists which methods a class must have (names, parameters, return types), and its abstract methods don’t say what they do. Many classes can implement the same interface.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WHY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Interface or class?</a:t>
            </a:r>
            <a:endParaRPr lang="en-IE" sz="3400" dirty="0"/>
          </a:p>
        </p:txBody>
      </p:sp>
      <p:graphicFrame>
        <p:nvGraphicFramePr>
          <p:cNvPr id="11" name="Interface vs clas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3840480"/>
                <a:gridCol w="4507992"/>
              </a:tblGrid>
              <a:tr h="548640">
                <a:tc>
                  <a:txBody>
                    <a:bodyPr/>
                    <a:lstStyle/>
                    <a:p>
                      <a:pPr indent="0" marL="0">
                        <a:buNone/>
                      </a:pPr>
                      <a:endParaRPr lang="en-IE" sz="1600" dirty="0"/>
                    </a:p>
                  </a:txBody>
                  <a:tcPr marL="91440" marR="91440" marT="45720" marB="45720">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ctr" indent="0" marL="0">
                        <a:buNone/>
                      </a:pPr>
                      <a:r>
                        <a:rPr lang="en-IE" sz="1600" b="1" dirty="0">
                          <a:solidFill>
                            <a:srgbClr val="FFFFFF"/>
                          </a:solidFill>
                        </a:rPr>
                        <a:t>Class</a:t>
                      </a:r>
                      <a:endParaRPr lang="en-IE" sz="1600" dirty="0"/>
                    </a:p>
                  </a:txBody>
                  <a:tcPr marL="91440" marR="91440" marT="45720" marB="4572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algn="ctr" indent="0" marL="0">
                        <a:buNone/>
                      </a:pPr>
                      <a:r>
                        <a:rPr lang="en-IE" sz="1600" b="1" dirty="0">
                          <a:solidFill>
                            <a:srgbClr val="FFFFFF"/>
                          </a:solidFill>
                        </a:rPr>
                        <a:t>Interface</a:t>
                      </a:r>
                      <a:endParaRPr lang="en-IE" sz="1600" dirty="0"/>
                    </a:p>
                  </a:txBody>
                  <a:tcPr marL="91440" marR="91440" marT="45720" marB="4572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548640">
                <a:tc>
                  <a:txBody>
                    <a:bodyPr/>
                    <a:lstStyle/>
                    <a:p>
                      <a:pPr algn="l" indent="0" marL="0">
                        <a:buNone/>
                      </a:pPr>
                      <a:r>
                        <a:rPr lang="en-IE" sz="1600" b="1" dirty="0">
                          <a:solidFill>
                            <a:srgbClr val="1D2433"/>
                          </a:solidFill>
                        </a:rPr>
                        <a:t>Constructor</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rPr>
                        <a:t>Yes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rPr>
                        <a:t>No, it has no normal attributes to set up</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48640">
                <a:tc>
                  <a:txBody>
                    <a:bodyPr/>
                    <a:lstStyle/>
                    <a:p>
                      <a:pPr algn="l" indent="0" marL="0">
                        <a:buNone/>
                      </a:pPr>
                      <a:r>
                        <a:rPr lang="en-IE" sz="1600" b="1" dirty="0">
                          <a:solidFill>
                            <a:srgbClr val="1D2433"/>
                          </a:solidFill>
                        </a:rPr>
                        <a:t>Keyword for a child</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rPr>
                        <a:t>extends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rPr>
                        <a:t>implements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48640">
                <a:tc>
                  <a:txBody>
                    <a:bodyPr/>
                    <a:lstStyle/>
                    <a:p>
                      <a:pPr algn="l" indent="0" marL="0">
                        <a:buNone/>
                      </a:pPr>
                      <a:r>
                        <a:rPr lang="en-IE" sz="1600" b="1" dirty="0">
                          <a:solidFill>
                            <a:srgbClr val="1D2433"/>
                          </a:solidFill>
                        </a:rPr>
                        <a:t>Methods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rPr>
                        <a:t>Have behaviour (a body)</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rPr>
                        <a:t>Abstract, static or default</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48640">
                <a:tc>
                  <a:txBody>
                    <a:bodyPr/>
                    <a:lstStyle/>
                    <a:p>
                      <a:pPr algn="l" indent="0" marL="0">
                        <a:buNone/>
                      </a:pPr>
                      <a:r>
                        <a:rPr lang="en-IE" sz="1600" b="1" dirty="0">
                          <a:solidFill>
                            <a:srgbClr val="1D2433"/>
                          </a:solidFill>
                        </a:rPr>
                        <a:t>Attributes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600" dirty="0">
                          <a:solidFill>
                            <a:srgbClr val="1D2433"/>
                          </a:solidFill>
                        </a:rPr>
                        <a:t>Any attributes</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600" dirty="0">
                          <a:solidFill>
                            <a:srgbClr val="1D2433"/>
                          </a:solidFill>
                        </a:rPr>
                        <a:t>Constants only</a:t>
                      </a:r>
                      <a:endParaRPr lang="en-IE" sz="16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6" name="Note"/>
          <p:cNvSpPr/>
          <p:nvPr/>
        </p:nvSpPr>
        <p:spPr>
          <a:xfrm>
            <a:off x="548640" y="4937760"/>
            <a:ext cx="11094415" cy="1005840"/>
          </a:xfrm>
          <a:prstGeom prst="roundRect">
            <a:avLst>
              <a:gd name="adj" fmla="val 10909"/>
            </a:avLst>
          </a:prstGeom>
          <a:solidFill>
            <a:schemeClr val="bg2"/>
          </a:solidFill>
          <a:ln/>
        </p:spPr>
      </p:sp>
      <p:sp>
        <p:nvSpPr>
          <p:cNvPr id="7" name="Icon tile"/>
          <p:cNvSpPr/>
          <p:nvPr/>
        </p:nvSpPr>
        <p:spPr>
          <a:xfrm>
            <a:off x="822960" y="5175504"/>
            <a:ext cx="530352" cy="530352"/>
          </a:xfrm>
          <a:prstGeom prst="roundRect">
            <a:avLst>
              <a:gd name="adj" fmla="val 24000"/>
            </a:avLst>
          </a:prstGeom>
          <a:solidFill>
            <a:schemeClr val="accent5">
              <a:alpha val="14000"/>
            </a:schemeClr>
          </a:solidFill>
          <a:ln/>
        </p:spPr>
      </p:sp>
      <p:pic>
        <p:nvPicPr>
          <p:cNvPr id="8" name="pencil simple line icon" descr="pencil simple line icon">    </p:cNvPr>
          <p:cNvPicPr>
            <a:picLocks noChangeAspect="1"/>
          </p:cNvPicPr>
          <p:nvPr/>
        </p:nvPicPr>
        <p:blipFill>
          <a:blip r:embed="rId1"/>
          <a:stretch>
            <a:fillRect/>
          </a:stretch>
        </p:blipFill>
        <p:spPr>
          <a:xfrm>
            <a:off x="934334" y="5286878"/>
            <a:ext cx="307604" cy="307604"/>
          </a:xfrm>
          <a:prstGeom prst="rect">
            <a:avLst/>
          </a:prstGeom>
        </p:spPr>
      </p:pic>
      <p:sp>
        <p:nvSpPr>
          <p:cNvPr id="9" name="Text 4"/>
          <p:cNvSpPr txBox="1"/>
          <p:nvPr/>
        </p:nvSpPr>
        <p:spPr>
          <a:xfrm>
            <a:off x="1572768" y="4937760"/>
            <a:ext cx="9814255" cy="1005840"/>
          </a:xfrm>
          <a:prstGeom prst="rect">
            <a:avLst/>
          </a:prstGeom>
          <a:noFill/>
          <a:ln/>
        </p:spPr>
        <p:txBody>
          <a:bodyPr wrap="square" lIns="0" tIns="0" rIns="0" bIns="0" rtlCol="0" anchor="ctr"/>
          <a:lstStyle/>
          <a:p>
            <a:pPr indent="0" marL="0">
              <a:buNone/>
            </a:pPr>
            <a:r>
              <a:rPr lang="en-IE" sz="1600" dirty="0">
                <a:solidFill>
                  <a:schemeClr val="tx1"/>
                </a:solidFill>
              </a:rPr>
              <a:t>The interface doesn’t say what its abstract methods do, just their structure. The class that implements it overrides them to add the behaviour.</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Interface vs class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line is allowed inside an interface?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PayRoll() {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private int hours = 20;</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double RATE = 4.5;</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int hours;</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Interface vs class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line is allowed inside an interface?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PayRoll() { }</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private int hours = 20;</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double RATE = 4.5;</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int hours;</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An interface has no constructor, and every attribute is a public static final constant that needs its value straight away. A constructor (A), a private attribute (B) or an attribute with no value (D) won’t compile.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WHY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Implement every abstract method</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All abstract methods must be implemented in the class, unless the class is abstract.</a:t>
            </a:r>
            <a:endParaRPr lang="en-IE" sz="1800" dirty="0"/>
          </a:p>
          <a:p>
            <a:pPr marL="228600" indent="-228600">
              <a:spcAft>
                <a:spcPts val="1200"/>
              </a:spcAft>
              <a:buSzPct val="100000"/>
              <a:buChar char="•"/>
            </a:pPr>
            <a:r>
              <a:rPr lang="en-IE" sz="1800" dirty="0">
                <a:solidFill>
                  <a:schemeClr val="tx1"/>
                </a:solidFill>
              </a:rPr>
              <a:t>If we don’t need one of them, we can make the class abstract and leave the method out, or give it an empty body (for a void method).</a:t>
            </a:r>
            <a:endParaRPr lang="en-IE" sz="1800" dirty="0"/>
          </a:p>
          <a:p>
            <a:pPr marL="228600" indent="-228600">
              <a:buSzPct val="100000"/>
              <a:buChar char="•"/>
            </a:pPr>
            <a:r>
              <a:rPr lang="en-IE" sz="1800" dirty="0">
                <a:solidFill>
                  <a:schemeClr val="tx1"/>
                </a:solidFill>
              </a:rPr>
              <a:t>An interface is a template for the method signatures a class must contain.</a:t>
            </a:r>
            <a:endParaRPr lang="en-IE" sz="1800" dirty="0"/>
          </a:p>
        </p:txBody>
      </p:sp>
      <p:sp>
        <p:nvSpPr>
          <p:cNvPr id="6" name="PayRoll card"/>
          <p:cNvSpPr/>
          <p:nvPr/>
        </p:nvSpPr>
        <p:spPr>
          <a:xfrm>
            <a:off x="5852160" y="1783080"/>
            <a:ext cx="5790895" cy="1689608"/>
          </a:xfrm>
          <a:prstGeom prst="roundRect">
            <a:avLst>
              <a:gd name="adj" fmla="val 6494"/>
            </a:avLst>
          </a:prstGeom>
          <a:solidFill>
            <a:schemeClr val="tx1"/>
          </a:solidFill>
          <a:ln/>
          <a:effectLst>
            <a:outerShdw sx="100000" sy="100000" kx="0" ky="0" algn="bl" rotWithShape="0" blurRad="114300" dist="31750" dir="5400000">
              <a:srgbClr val="1D2433">
                <a:alpha val="12000"/>
              </a:srgbClr>
            </a:outerShdw>
          </a:effectLst>
        </p:spPr>
      </p:sp>
      <p:sp>
        <p:nvSpPr>
          <p:cNvPr id="7" name="PayRoll language"/>
          <p:cNvSpPr txBox="1"/>
          <p:nvPr/>
        </p:nvSpPr>
        <p:spPr>
          <a:xfrm>
            <a:off x="6126480" y="1901952"/>
            <a:ext cx="524225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PayRoll text"/>
          <p:cNvSpPr txBox="1"/>
          <p:nvPr/>
        </p:nvSpPr>
        <p:spPr>
          <a:xfrm>
            <a:off x="6126480" y="2276856"/>
            <a:ext cx="5242255" cy="9946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interface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PayRoll</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calculatePay</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printPayslip</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Intern card"/>
          <p:cNvSpPr/>
          <p:nvPr/>
        </p:nvSpPr>
        <p:spPr>
          <a:xfrm>
            <a:off x="5852160" y="3701288"/>
            <a:ext cx="5790895" cy="2106168"/>
          </a:xfrm>
          <a:prstGeom prst="roundRect">
            <a:avLst>
              <a:gd name="adj" fmla="val 5210"/>
            </a:avLst>
          </a:prstGeom>
          <a:solidFill>
            <a:schemeClr val="tx1"/>
          </a:solidFill>
          <a:ln/>
          <a:effectLst>
            <a:outerShdw sx="100000" sy="100000" kx="0" ky="0" algn="bl" rotWithShape="0" blurRad="114300" dist="31750" dir="5400000">
              <a:srgbClr val="1D2433">
                <a:alpha val="12000"/>
              </a:srgbClr>
            </a:outerShdw>
          </a:effectLst>
        </p:spPr>
      </p:sp>
      <p:sp>
        <p:nvSpPr>
          <p:cNvPr id="10" name="Intern language"/>
          <p:cNvSpPr txBox="1"/>
          <p:nvPr/>
        </p:nvSpPr>
        <p:spPr>
          <a:xfrm>
            <a:off x="6126480" y="3820160"/>
            <a:ext cx="524225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1" name="Intern text"/>
          <p:cNvSpPr txBox="1"/>
          <p:nvPr/>
        </p:nvSpPr>
        <p:spPr>
          <a:xfrm>
            <a:off x="6126480" y="4195064"/>
            <a:ext cx="5242255" cy="141122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Intern</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implements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PayRoll</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calculatePay</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2C14E"/>
                </a:solidFill>
                <a:latin typeface="Consolas" pitchFamily="34" charset="0"/>
                <a:ea typeface="Consolas" pitchFamily="34" charset="-122"/>
                <a:cs typeface="Consolas" pitchFamily="34" charset="-120"/>
              </a:rPr>
              <a:t>500</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void</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printPayslip</a:t>
            </a:r>
            <a:r>
              <a:rPr lang="en-IE" sz="1350" dirty="0">
                <a:solidFill>
                  <a:srgbClr val="E6EBF2"/>
                </a:solidFill>
                <a:latin typeface="Consolas" pitchFamily="34" charset="0"/>
                <a:ea typeface="Consolas" pitchFamily="34" charset="-122"/>
                <a:cs typeface="Consolas" pitchFamily="34" charset="-120"/>
              </a:rPr>
              <a:t>() { }   </a:t>
            </a:r>
            <a:r>
              <a:rPr lang="en-IE" sz="1350" i="1" dirty="0">
                <a:solidFill>
                  <a:srgbClr val="A3AEC2"/>
                </a:solidFill>
                <a:latin typeface="Consolas" pitchFamily="34" charset="0"/>
                <a:ea typeface="Consolas" pitchFamily="34" charset="-122"/>
                <a:cs typeface="Consolas" pitchFamily="34" charset="-120"/>
              </a:rPr>
              <a:t>// left empty</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Implementing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happens when this code is compiled?</a:t>
            </a:r>
            <a:endParaRPr lang="en-IE" sz="2800" dirty="0"/>
          </a:p>
        </p:txBody>
      </p:sp>
      <p:sp>
        <p:nvSpPr>
          <p:cNvPr id="5" name="Question code card"/>
          <p:cNvSpPr/>
          <p:nvPr/>
        </p:nvSpPr>
        <p:spPr>
          <a:xfrm>
            <a:off x="548640" y="2242566"/>
            <a:ext cx="6035040" cy="3470148"/>
          </a:xfrm>
          <a:prstGeom prst="roundRect">
            <a:avLst>
              <a:gd name="adj" fmla="val 3162"/>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36143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736342"/>
            <a:ext cx="5486400" cy="2775204"/>
          </a:xfrm>
          <a:prstGeom prst="rect">
            <a:avLst/>
          </a:prstGeom>
          <a:noFill/>
          <a:ln/>
        </p:spPr>
        <p:txBody>
          <a:bodyPr wrap="square" lIns="0" tIns="0" rIns="0" bIns="0" rtlCol="0" anchor="t"/>
          <a:lstStyle/>
          <a:p>
            <a:pPr indent="0" marL="0">
              <a:lnSpc>
                <a:spcPts val="2380"/>
              </a:lnSpc>
              <a:buNone/>
            </a:pPr>
            <a:r>
              <a:rPr lang="en-IE" sz="1800" dirty="0">
                <a:solidFill>
                  <a:srgbClr val="FF9F5A"/>
                </a:solidFill>
                <a:latin typeface="Consolas" pitchFamily="34" charset="0"/>
                <a:ea typeface="Consolas" pitchFamily="34" charset="-122"/>
                <a:cs typeface="Consolas" pitchFamily="34" charset="-120"/>
              </a:rPr>
              <a:t>interface</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PayRoll</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double</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calculatePay</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FF9F5A"/>
                </a:solidFill>
                <a:latin typeface="Consolas" pitchFamily="34" charset="0"/>
                <a:ea typeface="Consolas" pitchFamily="34" charset="-122"/>
                <a:cs typeface="Consolas" pitchFamily="34" charset="-120"/>
              </a:rPr>
              <a:t>class</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Intern</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implements</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PayRoll</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public</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double</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C9B0FF"/>
                </a:solidFill>
                <a:latin typeface="Consolas" pitchFamily="34" charset="0"/>
                <a:ea typeface="Consolas" pitchFamily="34" charset="-122"/>
                <a:cs typeface="Consolas" pitchFamily="34" charset="-120"/>
              </a:rPr>
              <a:t>getHours</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return</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2C14E"/>
                </a:solidFill>
                <a:latin typeface="Consolas" pitchFamily="34" charset="0"/>
                <a:ea typeface="Consolas" pitchFamily="34" charset="-122"/>
                <a:cs typeface="Consolas" pitchFamily="34" charset="-120"/>
              </a:rPr>
              <a:t>20</a:t>
            </a:r>
            <a:r>
              <a:rPr lang="en-IE" sz="1800" dirty="0">
                <a:solidFill>
                  <a:srgbClr val="E6EBF2"/>
                </a:solidFill>
                <a:latin typeface="Consolas" pitchFamily="34" charset="0"/>
                <a:ea typeface="Consolas" pitchFamily="34" charset="-122"/>
                <a:cs typeface="Consolas" pitchFamily="34" charset="-120"/>
              </a:rPr>
              <a:t>;</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a:t>
            </a:r>
            <a:endParaRPr lang="en-IE"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compiles without any problems</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calculatePay() is missing</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getHours() isn’t allowed</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only fails when the program runs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Implementing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happens when this code is compiled?</a:t>
            </a:r>
            <a:endParaRPr lang="en-IE"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error: Intern is not abstract and</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does not override abstract method</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calculatePay() in PayRoll</a:t>
            </a:r>
            <a:endParaRPr lang="en-IE" sz="1500" dirty="0"/>
          </a:p>
        </p:txBody>
      </p:sp>
      <p:sp>
        <p:nvSpPr>
          <p:cNvPr id="7" name="Option A"/>
          <p:cNvSpPr/>
          <p:nvPr/>
        </p:nvSpPr>
        <p:spPr>
          <a:xfrm>
            <a:off x="548640" y="3314700"/>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9528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314700"/>
            <a:ext cx="4572000" cy="581787"/>
          </a:xfrm>
          <a:prstGeom prst="rect">
            <a:avLst/>
          </a:prstGeom>
          <a:noFill/>
          <a:ln/>
        </p:spPr>
        <p:txBody>
          <a:bodyPr wrap="square" lIns="0" tIns="0" rIns="0" bIns="0" rtlCol="0" anchor="ctr"/>
          <a:lstStyle/>
          <a:p>
            <a:pPr indent="0" marL="0">
              <a:buNone/>
            </a:pPr>
            <a:r>
              <a:rPr lang="en-IE" sz="1700" dirty="0">
                <a:solidFill>
                  <a:schemeClr val="tx2"/>
                </a:solidFill>
              </a:rPr>
              <a:t>It compiles without any problems</a:t>
            </a:r>
            <a:endParaRPr lang="en-IE" sz="1700" dirty="0"/>
          </a:p>
        </p:txBody>
      </p:sp>
      <p:sp>
        <p:nvSpPr>
          <p:cNvPr id="10" name="Option B (correct)"/>
          <p:cNvSpPr/>
          <p:nvPr/>
        </p:nvSpPr>
        <p:spPr>
          <a:xfrm>
            <a:off x="548640" y="4042791"/>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123373"/>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4042791"/>
            <a:ext cx="4142232" cy="581787"/>
          </a:xfrm>
          <a:prstGeom prst="rect">
            <a:avLst/>
          </a:prstGeom>
          <a:noFill/>
          <a:ln/>
        </p:spPr>
        <p:txBody>
          <a:bodyPr wrap="square" lIns="0" tIns="0" rIns="0" bIns="0" rtlCol="0" anchor="ctr"/>
          <a:lstStyle/>
          <a:p>
            <a:pPr indent="0" marL="0">
              <a:buNone/>
            </a:pPr>
            <a:r>
              <a:rPr lang="en-IE" sz="1700" b="1" dirty="0">
                <a:solidFill>
                  <a:schemeClr val="bg1"/>
                </a:solidFill>
              </a:rPr>
              <a:t>Compile error: calculatePay() is missing</a:t>
            </a:r>
            <a:endParaRPr lang="en-IE" sz="1700" dirty="0"/>
          </a:p>
        </p:txBody>
      </p:sp>
      <p:pic>
        <p:nvPicPr>
          <p:cNvPr id="13" name="Correct mark" descr="Correct mark">    </p:cNvPr>
          <p:cNvPicPr>
            <a:picLocks noChangeAspect="1"/>
          </p:cNvPicPr>
          <p:nvPr/>
        </p:nvPicPr>
        <p:blipFill>
          <a:blip r:embed="rId1"/>
          <a:stretch>
            <a:fillRect/>
          </a:stretch>
        </p:blipFill>
        <p:spPr>
          <a:xfrm>
            <a:off x="5623560" y="4150805"/>
            <a:ext cx="365760" cy="365760"/>
          </a:xfrm>
          <a:prstGeom prst="rect">
            <a:avLst/>
          </a:prstGeom>
        </p:spPr>
      </p:pic>
      <p:sp>
        <p:nvSpPr>
          <p:cNvPr id="14" name="Option C"/>
          <p:cNvSpPr/>
          <p:nvPr/>
        </p:nvSpPr>
        <p:spPr>
          <a:xfrm>
            <a:off x="548640" y="4770882"/>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5146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770882"/>
            <a:ext cx="4572000" cy="581787"/>
          </a:xfrm>
          <a:prstGeom prst="rect">
            <a:avLst/>
          </a:prstGeom>
          <a:noFill/>
          <a:ln/>
        </p:spPr>
        <p:txBody>
          <a:bodyPr wrap="square" lIns="0" tIns="0" rIns="0" bIns="0" rtlCol="0" anchor="ctr"/>
          <a:lstStyle/>
          <a:p>
            <a:pPr indent="0" marL="0">
              <a:buNone/>
            </a:pPr>
            <a:r>
              <a:rPr lang="en-IE" sz="1700" dirty="0">
                <a:solidFill>
                  <a:schemeClr val="tx2"/>
                </a:solidFill>
              </a:rPr>
              <a:t>Compile error: getHours() isn’t allowed</a:t>
            </a:r>
            <a:endParaRPr lang="en-IE" sz="1700" dirty="0"/>
          </a:p>
        </p:txBody>
      </p:sp>
      <p:sp>
        <p:nvSpPr>
          <p:cNvPr id="17" name="Option D"/>
          <p:cNvSpPr/>
          <p:nvPr/>
        </p:nvSpPr>
        <p:spPr>
          <a:xfrm>
            <a:off x="548640" y="5498973"/>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955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98973"/>
            <a:ext cx="4572000" cy="581787"/>
          </a:xfrm>
          <a:prstGeom prst="rect">
            <a:avLst/>
          </a:prstGeom>
          <a:noFill/>
          <a:ln/>
        </p:spPr>
        <p:txBody>
          <a:bodyPr wrap="square" lIns="0" tIns="0" rIns="0" bIns="0" rtlCol="0" anchor="ctr"/>
          <a:lstStyle/>
          <a:p>
            <a:pPr indent="0" marL="0">
              <a:buNone/>
            </a:pPr>
            <a:r>
              <a:rPr lang="en-IE" sz="1700" dirty="0">
                <a:solidFill>
                  <a:schemeClr val="tx2"/>
                </a:solidFill>
              </a:rPr>
              <a:t>It only fails when the program runs</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A class that implements an interface must implement all of its abstract methods, unless the class is abstract. Extra methods like getHours() are fine.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Writing an interface</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What Java fills in, constants and implements</a:t>
            </a:r>
            <a:endParaRPr lang="en-IE" sz="2000" dirty="0"/>
          </a:p>
        </p:txBody>
      </p:sp>
      <p:sp>
        <p:nvSpPr>
          <p:cNvPr id="5" name="Topic chip"/>
          <p:cNvSpPr/>
          <p:nvPr/>
        </p:nvSpPr>
        <p:spPr>
          <a:xfrm>
            <a:off x="822960"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interface</a:t>
            </a:r>
            <a:endParaRPr lang="en-IE" sz="1400" dirty="0"/>
          </a:p>
        </p:txBody>
      </p:sp>
      <p:sp>
        <p:nvSpPr>
          <p:cNvPr id="6" name="Topic chip"/>
          <p:cNvSpPr/>
          <p:nvPr/>
        </p:nvSpPr>
        <p:spPr>
          <a:xfrm>
            <a:off x="2203704"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Constants</a:t>
            </a:r>
            <a:endParaRPr lang="en-IE" sz="1400" dirty="0"/>
          </a:p>
        </p:txBody>
      </p:sp>
      <p:sp>
        <p:nvSpPr>
          <p:cNvPr id="7" name="Topic chip"/>
          <p:cNvSpPr/>
          <p:nvPr/>
        </p:nvSpPr>
        <p:spPr>
          <a:xfrm>
            <a:off x="3584448"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implements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WRITING AN INTERFACE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Declaring an interface</a:t>
            </a:r>
            <a:endParaRPr lang="en-IE" sz="3400" dirty="0"/>
          </a:p>
        </p:txBody>
      </p:sp>
      <p:sp>
        <p:nvSpPr>
          <p:cNvPr id="5" name="Text 2"/>
          <p:cNvSpPr txBox="1"/>
          <p:nvPr/>
        </p:nvSpPr>
        <p:spPr>
          <a:xfrm>
            <a:off x="548640" y="1691640"/>
            <a:ext cx="5387188" cy="320040"/>
          </a:xfrm>
          <a:prstGeom prst="rect">
            <a:avLst/>
          </a:prstGeom>
          <a:noFill/>
          <a:ln/>
        </p:spPr>
        <p:txBody>
          <a:bodyPr wrap="square" lIns="0" tIns="0" rIns="0" bIns="0" rtlCol="0" anchor="t"/>
          <a:lstStyle/>
          <a:p>
            <a:pPr indent="0" marL="0">
              <a:buNone/>
            </a:pPr>
            <a:r>
              <a:rPr lang="en-IE" sz="1500" b="1" dirty="0">
                <a:solidFill>
                  <a:schemeClr val="tx2"/>
                </a:solidFill>
              </a:rPr>
              <a:t>Everything written out</a:t>
            </a:r>
            <a:endParaRPr lang="en-IE" sz="1500" dirty="0"/>
          </a:p>
        </p:txBody>
      </p:sp>
      <p:sp>
        <p:nvSpPr>
          <p:cNvPr id="6" name="Long version card"/>
          <p:cNvSpPr/>
          <p:nvPr/>
        </p:nvSpPr>
        <p:spPr>
          <a:xfrm>
            <a:off x="548640" y="2057400"/>
            <a:ext cx="5387188" cy="2278888"/>
          </a:xfrm>
          <a:prstGeom prst="roundRect">
            <a:avLst>
              <a:gd name="adj" fmla="val 4815"/>
            </a:avLst>
          </a:prstGeom>
          <a:solidFill>
            <a:schemeClr val="tx1"/>
          </a:solidFill>
          <a:ln/>
          <a:effectLst>
            <a:outerShdw sx="100000" sy="100000" kx="0" ky="0" algn="bl" rotWithShape="0" blurRad="114300" dist="31750" dir="5400000">
              <a:srgbClr val="1D2433">
                <a:alpha val="12000"/>
              </a:srgbClr>
            </a:outerShdw>
          </a:effectLst>
        </p:spPr>
      </p:sp>
      <p:sp>
        <p:nvSpPr>
          <p:cNvPr id="7" name="Long version language"/>
          <p:cNvSpPr txBox="1"/>
          <p:nvPr/>
        </p:nvSpPr>
        <p:spPr>
          <a:xfrm>
            <a:off x="822960" y="217627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Long version text"/>
          <p:cNvSpPr txBox="1"/>
          <p:nvPr/>
        </p:nvSpPr>
        <p:spPr>
          <a:xfrm>
            <a:off x="822960" y="2551176"/>
            <a:ext cx="4838548" cy="15839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abstract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interface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final</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hourlyRate = </a:t>
            </a:r>
            <a:r>
              <a:rPr lang="en-IE" sz="1300" dirty="0">
                <a:solidFill>
                  <a:srgbClr val="F2C14E"/>
                </a:solidFill>
                <a:latin typeface="Consolas" pitchFamily="34" charset="0"/>
                <a:ea typeface="Consolas" pitchFamily="34" charset="-122"/>
                <a:cs typeface="Consolas" pitchFamily="34" charset="-120"/>
              </a:rPr>
              <a:t>25</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final</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monthlyRate = </a:t>
            </a:r>
            <a:r>
              <a:rPr lang="en-IE" sz="1300" dirty="0">
                <a:solidFill>
                  <a:srgbClr val="F2C14E"/>
                </a:solidFill>
                <a:latin typeface="Consolas" pitchFamily="34" charset="0"/>
                <a:ea typeface="Consolas" pitchFamily="34" charset="-122"/>
                <a:cs typeface="Consolas" pitchFamily="34" charset="-120"/>
              </a:rPr>
              <a:t>2500</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abstract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calculatePay</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9" name="Text 6"/>
          <p:cNvSpPr txBox="1"/>
          <p:nvPr/>
        </p:nvSpPr>
        <p:spPr>
          <a:xfrm>
            <a:off x="6255868" y="1691640"/>
            <a:ext cx="5387188" cy="320040"/>
          </a:xfrm>
          <a:prstGeom prst="rect">
            <a:avLst/>
          </a:prstGeom>
          <a:noFill/>
          <a:ln/>
        </p:spPr>
        <p:txBody>
          <a:bodyPr wrap="square" lIns="0" tIns="0" rIns="0" bIns="0" rtlCol="0" anchor="t"/>
          <a:lstStyle/>
          <a:p>
            <a:pPr indent="0" marL="0">
              <a:buNone/>
            </a:pPr>
            <a:r>
              <a:rPr lang="en-IE" sz="1500" b="1" dirty="0">
                <a:solidFill>
                  <a:schemeClr val="accent5"/>
                </a:solidFill>
              </a:rPr>
              <a:t>The same, letting Java fill in the rest</a:t>
            </a:r>
            <a:endParaRPr lang="en-IE" sz="1500" dirty="0"/>
          </a:p>
        </p:txBody>
      </p:sp>
      <p:sp>
        <p:nvSpPr>
          <p:cNvPr id="10" name="Short version card"/>
          <p:cNvSpPr/>
          <p:nvPr/>
        </p:nvSpPr>
        <p:spPr>
          <a:xfrm>
            <a:off x="6255868" y="2057400"/>
            <a:ext cx="5387188" cy="2278888"/>
          </a:xfrm>
          <a:prstGeom prst="roundRect">
            <a:avLst>
              <a:gd name="adj" fmla="val 4815"/>
            </a:avLst>
          </a:prstGeom>
          <a:solidFill>
            <a:schemeClr val="tx1"/>
          </a:solidFill>
          <a:ln/>
          <a:effectLst>
            <a:outerShdw sx="100000" sy="100000" kx="0" ky="0" algn="bl" rotWithShape="0" blurRad="114300" dist="31750" dir="5400000">
              <a:srgbClr val="1D2433">
                <a:alpha val="12000"/>
              </a:srgbClr>
            </a:outerShdw>
          </a:effectLst>
        </p:spPr>
      </p:sp>
      <p:sp>
        <p:nvSpPr>
          <p:cNvPr id="11" name="Short version language"/>
          <p:cNvSpPr txBox="1"/>
          <p:nvPr/>
        </p:nvSpPr>
        <p:spPr>
          <a:xfrm>
            <a:off x="6530188" y="217627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2" name="Short version text"/>
          <p:cNvSpPr txBox="1"/>
          <p:nvPr/>
        </p:nvSpPr>
        <p:spPr>
          <a:xfrm>
            <a:off x="6530188" y="2551176"/>
            <a:ext cx="4838548" cy="15839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interface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public static final by default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hourlyRate = </a:t>
            </a:r>
            <a:r>
              <a:rPr lang="en-IE" sz="1300" dirty="0">
                <a:solidFill>
                  <a:srgbClr val="F2C14E"/>
                </a:solidFill>
                <a:latin typeface="Consolas" pitchFamily="34" charset="0"/>
                <a:ea typeface="Consolas" pitchFamily="34" charset="-122"/>
                <a:cs typeface="Consolas" pitchFamily="34" charset="-120"/>
              </a:rPr>
              <a:t>25</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monthlyRate = </a:t>
            </a:r>
            <a:r>
              <a:rPr lang="en-IE" sz="1300" dirty="0">
                <a:solidFill>
                  <a:srgbClr val="F2C14E"/>
                </a:solidFill>
                <a:latin typeface="Consolas" pitchFamily="34" charset="0"/>
                <a:ea typeface="Consolas" pitchFamily="34" charset="-122"/>
                <a:cs typeface="Consolas" pitchFamily="34" charset="-120"/>
              </a:rPr>
              <a:t>2500</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public abstract by default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calculatePay</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13" name="Icon tile"/>
          <p:cNvSpPr/>
          <p:nvPr/>
        </p:nvSpPr>
        <p:spPr>
          <a:xfrm>
            <a:off x="548640" y="4754880"/>
            <a:ext cx="457200" cy="457200"/>
          </a:xfrm>
          <a:prstGeom prst="roundRect">
            <a:avLst>
              <a:gd name="adj" fmla="val 24000"/>
            </a:avLst>
          </a:prstGeom>
          <a:solidFill>
            <a:schemeClr val="accent5">
              <a:alpha val="14000"/>
            </a:schemeClr>
          </a:solidFill>
          <a:ln/>
        </p:spPr>
      </p:sp>
      <p:pic>
        <p:nvPicPr>
          <p:cNvPr id="14" name="text t icon" descr="text t icon">    </p:cNvPr>
          <p:cNvPicPr>
            <a:picLocks noChangeAspect="1"/>
          </p:cNvPicPr>
          <p:nvPr/>
        </p:nvPicPr>
        <p:blipFill>
          <a:blip r:embed="rId1"/>
          <a:stretch>
            <a:fillRect/>
          </a:stretch>
        </p:blipFill>
        <p:spPr>
          <a:xfrm>
            <a:off x="644652" y="4850892"/>
            <a:ext cx="265176" cy="265176"/>
          </a:xfrm>
          <a:prstGeom prst="rect">
            <a:avLst/>
          </a:prstGeom>
        </p:spPr>
      </p:pic>
      <p:sp>
        <p:nvSpPr>
          <p:cNvPr id="15" name="Text 11"/>
          <p:cNvSpPr txBox="1"/>
          <p:nvPr/>
        </p:nvSpPr>
        <p:spPr>
          <a:xfrm>
            <a:off x="1143000" y="4754880"/>
            <a:ext cx="4747108" cy="457200"/>
          </a:xfrm>
          <a:prstGeom prst="rect">
            <a:avLst/>
          </a:prstGeom>
          <a:noFill/>
          <a:ln/>
        </p:spPr>
        <p:txBody>
          <a:bodyPr wrap="square" lIns="0" tIns="0" rIns="0" bIns="0" rtlCol="0" anchor="ctr"/>
          <a:lstStyle/>
          <a:p>
            <a:pPr indent="0" marL="0">
              <a:buNone/>
            </a:pPr>
            <a:r>
              <a:rPr lang="en-IE" sz="1500" dirty="0">
                <a:solidFill>
                  <a:schemeClr val="tx1"/>
                </a:solidFill>
              </a:rPr>
              <a:t>We write interface instead of class.</a:t>
            </a:r>
            <a:endParaRPr lang="en-IE" sz="1500" dirty="0"/>
          </a:p>
        </p:txBody>
      </p:sp>
      <p:sp>
        <p:nvSpPr>
          <p:cNvPr id="16" name="Icon tile"/>
          <p:cNvSpPr/>
          <p:nvPr/>
        </p:nvSpPr>
        <p:spPr>
          <a:xfrm>
            <a:off x="6255868" y="4754880"/>
            <a:ext cx="457200" cy="457200"/>
          </a:xfrm>
          <a:prstGeom prst="roundRect">
            <a:avLst>
              <a:gd name="adj" fmla="val 24000"/>
            </a:avLst>
          </a:prstGeom>
          <a:solidFill>
            <a:schemeClr val="accent5">
              <a:alpha val="14000"/>
            </a:schemeClr>
          </a:solidFill>
          <a:ln/>
        </p:spPr>
      </p:sp>
      <p:pic>
        <p:nvPicPr>
          <p:cNvPr id="17" name="eye icon" descr="eye icon">    </p:cNvPr>
          <p:cNvPicPr>
            <a:picLocks noChangeAspect="1"/>
          </p:cNvPicPr>
          <p:nvPr/>
        </p:nvPicPr>
        <p:blipFill>
          <a:blip r:embed="rId2"/>
          <a:stretch>
            <a:fillRect/>
          </a:stretch>
        </p:blipFill>
        <p:spPr>
          <a:xfrm>
            <a:off x="6351880" y="4850892"/>
            <a:ext cx="265176" cy="265176"/>
          </a:xfrm>
          <a:prstGeom prst="rect">
            <a:avLst/>
          </a:prstGeom>
        </p:spPr>
      </p:pic>
      <p:sp>
        <p:nvSpPr>
          <p:cNvPr id="18" name="Text 13"/>
          <p:cNvSpPr txBox="1"/>
          <p:nvPr/>
        </p:nvSpPr>
        <p:spPr>
          <a:xfrm>
            <a:off x="6850228" y="4754880"/>
            <a:ext cx="4747108" cy="457200"/>
          </a:xfrm>
          <a:prstGeom prst="rect">
            <a:avLst/>
          </a:prstGeom>
          <a:noFill/>
          <a:ln/>
        </p:spPr>
        <p:txBody>
          <a:bodyPr wrap="square" lIns="0" tIns="0" rIns="0" bIns="0" rtlCol="0" anchor="ctr"/>
          <a:lstStyle/>
          <a:p>
            <a:pPr indent="0" marL="0">
              <a:buNone/>
            </a:pPr>
            <a:r>
              <a:rPr lang="en-IE" sz="1500" dirty="0">
                <a:solidFill>
                  <a:schemeClr val="tx1"/>
                </a:solidFill>
              </a:rPr>
              <a:t>Methods are public and abstract by default.</a:t>
            </a:r>
            <a:endParaRPr lang="en-IE" sz="1500" dirty="0"/>
          </a:p>
        </p:txBody>
      </p:sp>
      <p:sp>
        <p:nvSpPr>
          <p:cNvPr id="19" name="Icon tile"/>
          <p:cNvSpPr/>
          <p:nvPr/>
        </p:nvSpPr>
        <p:spPr>
          <a:xfrm>
            <a:off x="548640" y="5413248"/>
            <a:ext cx="457200" cy="457200"/>
          </a:xfrm>
          <a:prstGeom prst="roundRect">
            <a:avLst>
              <a:gd name="adj" fmla="val 24000"/>
            </a:avLst>
          </a:prstGeom>
          <a:solidFill>
            <a:schemeClr val="accent5">
              <a:alpha val="14000"/>
            </a:schemeClr>
          </a:solidFill>
          <a:ln/>
        </p:spPr>
      </p:sp>
      <p:pic>
        <p:nvPicPr>
          <p:cNvPr id="20" name="lock simple icon" descr="lock simple icon">    </p:cNvPr>
          <p:cNvPicPr>
            <a:picLocks noChangeAspect="1"/>
          </p:cNvPicPr>
          <p:nvPr/>
        </p:nvPicPr>
        <p:blipFill>
          <a:blip r:embed="rId3"/>
          <a:stretch>
            <a:fillRect/>
          </a:stretch>
        </p:blipFill>
        <p:spPr>
          <a:xfrm>
            <a:off x="644652" y="5509260"/>
            <a:ext cx="265176" cy="265176"/>
          </a:xfrm>
          <a:prstGeom prst="rect">
            <a:avLst/>
          </a:prstGeom>
        </p:spPr>
      </p:pic>
      <p:sp>
        <p:nvSpPr>
          <p:cNvPr id="21" name="Text 15"/>
          <p:cNvSpPr txBox="1"/>
          <p:nvPr/>
        </p:nvSpPr>
        <p:spPr>
          <a:xfrm>
            <a:off x="1143000" y="5413248"/>
            <a:ext cx="4747108" cy="457200"/>
          </a:xfrm>
          <a:prstGeom prst="rect">
            <a:avLst/>
          </a:prstGeom>
          <a:noFill/>
          <a:ln/>
        </p:spPr>
        <p:txBody>
          <a:bodyPr wrap="square" lIns="0" tIns="0" rIns="0" bIns="0" rtlCol="0" anchor="ctr"/>
          <a:lstStyle/>
          <a:p>
            <a:pPr indent="0" marL="0">
              <a:buNone/>
            </a:pPr>
            <a:r>
              <a:rPr lang="en-IE" sz="1500" dirty="0">
                <a:solidFill>
                  <a:schemeClr val="tx1"/>
                </a:solidFill>
              </a:rPr>
              <a:t>Attributes are public, static and final by default.</a:t>
            </a:r>
            <a:endParaRPr lang="en-IE" sz="1500" dirty="0"/>
          </a:p>
        </p:txBody>
      </p:sp>
      <p:sp>
        <p:nvSpPr>
          <p:cNvPr id="22" name="Icon tile"/>
          <p:cNvSpPr/>
          <p:nvPr/>
        </p:nvSpPr>
        <p:spPr>
          <a:xfrm>
            <a:off x="6255868" y="5413248"/>
            <a:ext cx="457200" cy="457200"/>
          </a:xfrm>
          <a:prstGeom prst="roundRect">
            <a:avLst>
              <a:gd name="adj" fmla="val 24000"/>
            </a:avLst>
          </a:prstGeom>
          <a:solidFill>
            <a:schemeClr val="accent5">
              <a:alpha val="14000"/>
            </a:schemeClr>
          </a:solidFill>
          <a:ln/>
        </p:spPr>
      </p:sp>
      <p:pic>
        <p:nvPicPr>
          <p:cNvPr id="23" name="tag icon" descr="tag icon">    </p:cNvPr>
          <p:cNvPicPr>
            <a:picLocks noChangeAspect="1"/>
          </p:cNvPicPr>
          <p:nvPr/>
        </p:nvPicPr>
        <p:blipFill>
          <a:blip r:embed="rId4"/>
          <a:stretch>
            <a:fillRect/>
          </a:stretch>
        </p:blipFill>
        <p:spPr>
          <a:xfrm>
            <a:off x="6351880" y="5509260"/>
            <a:ext cx="265176" cy="265176"/>
          </a:xfrm>
          <a:prstGeom prst="rect">
            <a:avLst/>
          </a:prstGeom>
        </p:spPr>
      </p:pic>
      <p:sp>
        <p:nvSpPr>
          <p:cNvPr id="24" name="Text 17"/>
          <p:cNvSpPr txBox="1"/>
          <p:nvPr/>
        </p:nvSpPr>
        <p:spPr>
          <a:xfrm>
            <a:off x="6850228" y="5413248"/>
            <a:ext cx="4747108" cy="457200"/>
          </a:xfrm>
          <a:prstGeom prst="rect">
            <a:avLst/>
          </a:prstGeom>
          <a:noFill/>
          <a:ln/>
        </p:spPr>
        <p:txBody>
          <a:bodyPr wrap="square" lIns="0" tIns="0" rIns="0" bIns="0" rtlCol="0" anchor="ctr"/>
          <a:lstStyle/>
          <a:p>
            <a:pPr indent="0" marL="0">
              <a:buNone/>
            </a:pPr>
            <a:r>
              <a:rPr lang="en-IE" sz="1500" dirty="0">
                <a:solidFill>
                  <a:schemeClr val="tx1"/>
                </a:solidFill>
              </a:rPr>
              <a:t>Static and default methods need their keyword.</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Writing an interface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Inside an interface, </a:t>
            </a:r>
            <a:r>
              <a:rPr lang="en-IE" sz="2800" b="1" dirty="0">
                <a:solidFill>
                  <a:schemeClr val="accent2"/>
                </a:solidFill>
                <a:latin typeface="Consolas" pitchFamily="34" charset="0"/>
                <a:ea typeface="Consolas" pitchFamily="34" charset="-122"/>
                <a:cs typeface="Consolas" pitchFamily="34" charset="-120"/>
              </a:rPr>
              <a:t>double calculatePay();</a:t>
            </a:r>
            <a:r>
              <a:rPr lang="en-IE" sz="2800" b="1" dirty="0">
                <a:solidFill>
                  <a:schemeClr val="tx1"/>
                </a:solidFill>
              </a:rPr>
              <a:t> means exactly the same as…</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private double calculatePay();</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static double calculatePay();</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abstract double calculatePay();</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protected final double calculatePay();</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Writing an interface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Inside an interface, </a:t>
            </a:r>
            <a:r>
              <a:rPr lang="en-IE" sz="2000" b="1" dirty="0">
                <a:solidFill>
                  <a:schemeClr val="tx2"/>
                </a:solidFill>
                <a:latin typeface="Consolas" pitchFamily="34" charset="0"/>
                <a:ea typeface="Consolas" pitchFamily="34" charset="-122"/>
                <a:cs typeface="Consolas" pitchFamily="34" charset="-120"/>
              </a:rPr>
              <a:t>double calculatePay();</a:t>
            </a:r>
            <a:r>
              <a:rPr lang="en-IE" sz="2000" b="1" dirty="0">
                <a:solidFill>
                  <a:schemeClr val="tx2"/>
                </a:solidFill>
              </a:rPr>
              <a:t> means exactly the same as…</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private double calculatePay();</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static double calculatePay();</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abstract double calculatePay();</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protected final double calculatePay();</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Methods in an interface are public and abstract by default, so we don’t need to write those words. A static method needs the static keyword, and it must have a body.</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19</a:t>
            </a:fld>
            <a:endParaRPr lang="en-I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WRITING AN INTERFACE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Attributes are constants</a:t>
            </a:r>
            <a:endParaRPr lang="en-IE" sz="3400" dirty="0"/>
          </a:p>
        </p:txBody>
      </p:sp>
      <p:sp>
        <p:nvSpPr>
          <p:cNvPr id="5" name="Text 2"/>
          <p:cNvSpPr txBox="1"/>
          <p:nvPr/>
        </p:nvSpPr>
        <p:spPr>
          <a:xfrm>
            <a:off x="548640" y="1783080"/>
            <a:ext cx="5029200" cy="32918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All attributes in an interface are public, static and final.</a:t>
            </a:r>
            <a:endParaRPr lang="en-IE" sz="1800" dirty="0"/>
          </a:p>
          <a:p>
            <a:pPr marL="228600" indent="-228600">
              <a:spcAft>
                <a:spcPts val="1200"/>
              </a:spcAft>
              <a:buSzPct val="100000"/>
              <a:buChar char="•"/>
            </a:pPr>
            <a:r>
              <a:rPr lang="en-IE" sz="1800" dirty="0">
                <a:solidFill>
                  <a:schemeClr val="tx1"/>
                </a:solidFill>
              </a:rPr>
              <a:t>Their values can’t be changed, so they’re only for constants.</a:t>
            </a:r>
            <a:endParaRPr lang="en-IE" sz="1800" dirty="0"/>
          </a:p>
          <a:p>
            <a:pPr marL="228600" indent="-228600">
              <a:buSzPct val="100000"/>
              <a:buChar char="•"/>
            </a:pPr>
            <a:r>
              <a:rPr lang="en-IE" sz="1800" dirty="0">
                <a:solidFill>
                  <a:schemeClr val="tx1"/>
                </a:solidFill>
              </a:rPr>
              <a:t>Some methods need attributes that change, like hours. Those go in the class that implements the interface.</a:t>
            </a:r>
            <a:endParaRPr lang="en-IE" sz="1800" dirty="0"/>
          </a:p>
        </p:txBody>
      </p:sp>
      <p:sp>
        <p:nvSpPr>
          <p:cNvPr id="6" name="Constants card"/>
          <p:cNvSpPr/>
          <p:nvPr/>
        </p:nvSpPr>
        <p:spPr>
          <a:xfrm>
            <a:off x="5943600" y="1783080"/>
            <a:ext cx="5699455" cy="1924558"/>
          </a:xfrm>
          <a:prstGeom prst="roundRect">
            <a:avLst>
              <a:gd name="adj" fmla="val 5701"/>
            </a:avLst>
          </a:prstGeom>
          <a:solidFill>
            <a:schemeClr val="tx1"/>
          </a:solidFill>
          <a:ln/>
          <a:effectLst>
            <a:outerShdw sx="100000" sy="100000" kx="0" ky="0" algn="bl" rotWithShape="0" blurRad="114300" dist="31750" dir="5400000">
              <a:srgbClr val="1D2433">
                <a:alpha val="12000"/>
              </a:srgbClr>
            </a:outerShdw>
          </a:effectLst>
        </p:spPr>
      </p:sp>
      <p:sp>
        <p:nvSpPr>
          <p:cNvPr id="7" name="Constants language"/>
          <p:cNvSpPr txBox="1"/>
          <p:nvPr/>
        </p:nvSpPr>
        <p:spPr>
          <a:xfrm>
            <a:off x="6217920" y="1901952"/>
            <a:ext cx="51508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Constants text"/>
          <p:cNvSpPr txBox="1"/>
          <p:nvPr/>
        </p:nvSpPr>
        <p:spPr>
          <a:xfrm>
            <a:off x="6217920" y="2276856"/>
            <a:ext cx="5150815" cy="12296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interface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PayRoll</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hourlyRate = </a:t>
            </a:r>
            <a:r>
              <a:rPr lang="en-IE" sz="1400" dirty="0">
                <a:solidFill>
                  <a:srgbClr val="F2C14E"/>
                </a:solidFill>
                <a:latin typeface="Consolas" pitchFamily="34" charset="0"/>
                <a:ea typeface="Consolas" pitchFamily="34" charset="-122"/>
                <a:cs typeface="Consolas" pitchFamily="34" charset="-120"/>
              </a:rPr>
              <a:t>25</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a constant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PayRoll</a:t>
            </a:r>
            <a:r>
              <a:rPr lang="en-IE" sz="1400" dirty="0">
                <a:solidFill>
                  <a:srgbClr val="E6EBF2"/>
                </a:solidFill>
                <a:latin typeface="Consolas" pitchFamily="34" charset="0"/>
                <a:ea typeface="Consolas" pitchFamily="34" charset="-122"/>
                <a:cs typeface="Consolas" pitchFamily="34" charset="-120"/>
              </a:rPr>
              <a:t>.hourlyRate = </a:t>
            </a:r>
            <a:r>
              <a:rPr lang="en-IE" sz="1400" dirty="0">
                <a:solidFill>
                  <a:srgbClr val="F2C14E"/>
                </a:solidFill>
                <a:latin typeface="Consolas" pitchFamily="34" charset="0"/>
                <a:ea typeface="Consolas" pitchFamily="34" charset="-122"/>
                <a:cs typeface="Consolas" pitchFamily="34" charset="-120"/>
              </a:rPr>
              <a:t>30</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not allowed</a:t>
            </a:r>
            <a:endParaRPr lang="en-IE" sz="1400" dirty="0"/>
          </a:p>
        </p:txBody>
      </p:sp>
      <p:sp>
        <p:nvSpPr>
          <p:cNvPr id="9" name="Compiler error"/>
          <p:cNvSpPr/>
          <p:nvPr/>
        </p:nvSpPr>
        <p:spPr>
          <a:xfrm>
            <a:off x="5943600" y="3936238"/>
            <a:ext cx="5699455" cy="731520"/>
          </a:xfrm>
          <a:prstGeom prst="roundRect">
            <a:avLst>
              <a:gd name="adj" fmla="val 15000"/>
            </a:avLst>
          </a:prstGeom>
          <a:solidFill>
            <a:schemeClr val="bg2"/>
          </a:solidFill>
          <a:ln/>
        </p:spPr>
      </p:sp>
      <p:pic>
        <p:nvPicPr>
          <p:cNvPr id="10" name="Error icon" descr="Error icon">    </p:cNvPr>
          <p:cNvPicPr>
            <a:picLocks noChangeAspect="1"/>
          </p:cNvPicPr>
          <p:nvPr/>
        </p:nvPicPr>
        <p:blipFill>
          <a:blip r:embed="rId1"/>
          <a:stretch>
            <a:fillRect/>
          </a:stretch>
        </p:blipFill>
        <p:spPr>
          <a:xfrm>
            <a:off x="6172200" y="4119118"/>
            <a:ext cx="365760" cy="365760"/>
          </a:xfrm>
          <a:prstGeom prst="rect">
            <a:avLst/>
          </a:prstGeom>
        </p:spPr>
      </p:pic>
      <p:sp>
        <p:nvSpPr>
          <p:cNvPr id="11" name="Text 7"/>
          <p:cNvSpPr txBox="1"/>
          <p:nvPr/>
        </p:nvSpPr>
        <p:spPr>
          <a:xfrm>
            <a:off x="6675120" y="3936238"/>
            <a:ext cx="4785055" cy="731520"/>
          </a:xfrm>
          <a:prstGeom prst="rect">
            <a:avLst/>
          </a:prstGeom>
          <a:noFill/>
          <a:ln/>
        </p:spPr>
        <p:txBody>
          <a:bodyPr wrap="square" lIns="0" tIns="0" rIns="0" bIns="0" rtlCol="0" anchor="ctr"/>
          <a:lstStyle/>
          <a:p>
            <a:pPr indent="0" marL="0">
              <a:buNone/>
            </a:pPr>
            <a:r>
              <a:rPr lang="en-IE" sz="1350" b="1" dirty="0">
                <a:solidFill>
                  <a:schemeClr val="tx1"/>
                </a:solidFill>
              </a:rPr>
              <a:t>Error: </a:t>
            </a:r>
            <a:r>
              <a:rPr lang="en-IE" sz="1350" dirty="0">
                <a:solidFill>
                  <a:schemeClr val="tx1"/>
                </a:solidFill>
                <a:latin typeface="Consolas" pitchFamily="34" charset="0"/>
                <a:ea typeface="Consolas" pitchFamily="34" charset="-122"/>
                <a:cs typeface="Consolas" pitchFamily="34" charset="-120"/>
              </a:rPr>
              <a:t>cannot assign a value to static final variable hourlyRate</a:t>
            </a:r>
            <a:endParaRPr lang="en-IE" sz="1350" dirty="0"/>
          </a:p>
        </p:txBody>
      </p:sp>
      <p:sp>
        <p:nvSpPr>
          <p:cNvPr id="12" name="Note"/>
          <p:cNvSpPr/>
          <p:nvPr/>
        </p:nvSpPr>
        <p:spPr>
          <a:xfrm>
            <a:off x="548640" y="5074920"/>
            <a:ext cx="5029200" cy="868680"/>
          </a:xfrm>
          <a:prstGeom prst="roundRect">
            <a:avLst>
              <a:gd name="adj" fmla="val 12632"/>
            </a:avLst>
          </a:prstGeom>
          <a:solidFill>
            <a:schemeClr val="bg2"/>
          </a:solidFill>
          <a:ln/>
        </p:spPr>
      </p:sp>
      <p:sp>
        <p:nvSpPr>
          <p:cNvPr id="13" name="Icon tile"/>
          <p:cNvSpPr/>
          <p:nvPr/>
        </p:nvSpPr>
        <p:spPr>
          <a:xfrm>
            <a:off x="822960" y="5244084"/>
            <a:ext cx="530352" cy="530352"/>
          </a:xfrm>
          <a:prstGeom prst="roundRect">
            <a:avLst>
              <a:gd name="adj" fmla="val 24000"/>
            </a:avLst>
          </a:prstGeom>
          <a:solidFill>
            <a:schemeClr val="accent5">
              <a:alpha val="14000"/>
            </a:schemeClr>
          </a:solidFill>
          <a:ln/>
        </p:spPr>
      </p:sp>
      <p:pic>
        <p:nvPicPr>
          <p:cNvPr id="14" name="lock simple icon" descr="lock simple icon">    </p:cNvPr>
          <p:cNvPicPr>
            <a:picLocks noChangeAspect="1"/>
          </p:cNvPicPr>
          <p:nvPr/>
        </p:nvPicPr>
        <p:blipFill>
          <a:blip r:embed="rId2"/>
          <a:stretch>
            <a:fillRect/>
          </a:stretch>
        </p:blipFill>
        <p:spPr>
          <a:xfrm>
            <a:off x="934334" y="5355458"/>
            <a:ext cx="307604" cy="307604"/>
          </a:xfrm>
          <a:prstGeom prst="rect">
            <a:avLst/>
          </a:prstGeom>
        </p:spPr>
      </p:pic>
      <p:sp>
        <p:nvSpPr>
          <p:cNvPr id="15" name="Text 10"/>
          <p:cNvSpPr txBox="1"/>
          <p:nvPr/>
        </p:nvSpPr>
        <p:spPr>
          <a:xfrm>
            <a:off x="1572768" y="5074920"/>
            <a:ext cx="3749040" cy="868680"/>
          </a:xfrm>
          <a:prstGeom prst="rect">
            <a:avLst/>
          </a:prstGeom>
          <a:noFill/>
          <a:ln/>
        </p:spPr>
        <p:txBody>
          <a:bodyPr wrap="square" lIns="0" tIns="0" rIns="0" bIns="0" rtlCol="0" anchor="ctr"/>
          <a:lstStyle/>
          <a:p>
            <a:pPr indent="0" marL="0">
              <a:buNone/>
            </a:pPr>
            <a:r>
              <a:rPr lang="en-IE" sz="1600" dirty="0">
                <a:solidFill>
                  <a:schemeClr val="tx1"/>
                </a:solidFill>
              </a:rPr>
              <a:t>The rate is the same for everyone, and it never changes.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Constants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PayRoll declares </a:t>
            </a:r>
            <a:r>
              <a:rPr lang="en-IE" sz="2800" b="1" dirty="0">
                <a:solidFill>
                  <a:schemeClr val="accent2"/>
                </a:solidFill>
                <a:latin typeface="Consolas" pitchFamily="34" charset="0"/>
                <a:ea typeface="Consolas" pitchFamily="34" charset="-122"/>
                <a:cs typeface="Consolas" pitchFamily="34" charset="-120"/>
              </a:rPr>
              <a:t>int hourlyRate = 25</a:t>
            </a:r>
            <a:r>
              <a:rPr lang="en-IE" sz="2800" b="1" dirty="0">
                <a:solidFill>
                  <a:schemeClr val="tx1"/>
                </a:solidFill>
              </a:rPr>
              <a:t>. What happens if a class contains the line </a:t>
            </a:r>
            <a:r>
              <a:rPr lang="en-IE" sz="2800" b="1" dirty="0">
                <a:solidFill>
                  <a:schemeClr val="accent2"/>
                </a:solidFill>
                <a:latin typeface="Consolas" pitchFamily="34" charset="0"/>
                <a:ea typeface="Consolas" pitchFamily="34" charset="-122"/>
                <a:cs typeface="Consolas" pitchFamily="34" charset="-120"/>
              </a:rPr>
              <a:t>PayRoll.hourlyRate = 30</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hourlyRate is final</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hourlyRate becomes 30 for every class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changes for one object only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hourlyRate is private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21</a:t>
            </a:fld>
            <a:endParaRPr lang="en-I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Constants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PayRoll declares </a:t>
            </a:r>
            <a:r>
              <a:rPr lang="en-IE" sz="2000" b="1" dirty="0">
                <a:solidFill>
                  <a:schemeClr val="tx2"/>
                </a:solidFill>
                <a:latin typeface="Consolas" pitchFamily="34" charset="0"/>
                <a:ea typeface="Consolas" pitchFamily="34" charset="-122"/>
                <a:cs typeface="Consolas" pitchFamily="34" charset="-120"/>
              </a:rPr>
              <a:t>int hourlyRate = 25</a:t>
            </a:r>
            <a:r>
              <a:rPr lang="en-IE" sz="2000" b="1" dirty="0">
                <a:solidFill>
                  <a:schemeClr val="tx2"/>
                </a:solidFill>
              </a:rPr>
              <a:t>. What happens if a class contains the line </a:t>
            </a:r>
            <a:r>
              <a:rPr lang="en-IE" sz="2000" b="1" dirty="0">
                <a:solidFill>
                  <a:schemeClr val="tx2"/>
                </a:solidFill>
                <a:latin typeface="Consolas" pitchFamily="34" charset="0"/>
                <a:ea typeface="Consolas" pitchFamily="34" charset="-122"/>
                <a:cs typeface="Consolas" pitchFamily="34" charset="-120"/>
              </a:rPr>
              <a:t>PayRoll.hourlyRate = 30</a:t>
            </a:r>
            <a:r>
              <a:rPr lang="en-IE" sz="2000" b="1" dirty="0">
                <a:solidFill>
                  <a:schemeClr val="tx2"/>
                </a:solidFill>
              </a:rPr>
              <a: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Compile error: hourlyRate is final</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hourlyRate becomes 30 for every class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changes for one object only</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Compile error: hourlyRate is private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Attributes in an interface are public, static and final by default, so they are constants. Assigning a new value is a compile error: “cannot assign a value to static final variable hourlyRate”.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WRITING AN INTERFACE</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Implementing an interface</a:t>
            </a:r>
            <a:endParaRPr lang="en-IE" sz="3400" dirty="0"/>
          </a:p>
        </p:txBody>
      </p:sp>
      <p:sp>
        <p:nvSpPr>
          <p:cNvPr id="5" name="Text 2"/>
          <p:cNvSpPr txBox="1"/>
          <p:nvPr/>
        </p:nvSpPr>
        <p:spPr>
          <a:xfrm>
            <a:off x="548640" y="1691640"/>
            <a:ext cx="5387188" cy="320040"/>
          </a:xfrm>
          <a:prstGeom prst="rect">
            <a:avLst/>
          </a:prstGeom>
          <a:noFill/>
          <a:ln/>
        </p:spPr>
        <p:txBody>
          <a:bodyPr wrap="square" lIns="0" tIns="0" rIns="0" bIns="0" rtlCol="0" anchor="t"/>
          <a:lstStyle/>
          <a:p>
            <a:pPr indent="0" marL="0">
              <a:buNone/>
            </a:pPr>
            <a:r>
              <a:rPr lang="en-IE" sz="1500" b="1" dirty="0">
                <a:solidFill>
                  <a:schemeClr val="accent5"/>
                </a:solidFill>
              </a:rPr>
              <a:t>Implementing only</a:t>
            </a:r>
            <a:endParaRPr lang="en-IE" sz="1500" dirty="0"/>
          </a:p>
        </p:txBody>
      </p:sp>
      <p:sp>
        <p:nvSpPr>
          <p:cNvPr id="6" name="Implementing only card"/>
          <p:cNvSpPr/>
          <p:nvPr/>
        </p:nvSpPr>
        <p:spPr>
          <a:xfrm>
            <a:off x="548640" y="2057400"/>
            <a:ext cx="5387188" cy="3010408"/>
          </a:xfrm>
          <a:prstGeom prst="roundRect">
            <a:avLst>
              <a:gd name="adj" fmla="val 3645"/>
            </a:avLst>
          </a:prstGeom>
          <a:solidFill>
            <a:schemeClr val="tx1"/>
          </a:solidFill>
          <a:ln/>
          <a:effectLst>
            <a:outerShdw sx="100000" sy="100000" kx="0" ky="0" algn="bl" rotWithShape="0" blurRad="114300" dist="31750" dir="5400000">
              <a:srgbClr val="1D2433">
                <a:alpha val="12000"/>
              </a:srgbClr>
            </a:outerShdw>
          </a:effectLst>
        </p:spPr>
      </p:sp>
      <p:sp>
        <p:nvSpPr>
          <p:cNvPr id="7" name="Implementing only language"/>
          <p:cNvSpPr txBox="1"/>
          <p:nvPr/>
        </p:nvSpPr>
        <p:spPr>
          <a:xfrm>
            <a:off x="822960" y="217627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Implementing only text"/>
          <p:cNvSpPr txBox="1"/>
          <p:nvPr/>
        </p:nvSpPr>
        <p:spPr>
          <a:xfrm>
            <a:off x="822960" y="2551176"/>
            <a:ext cx="4838548" cy="231546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final</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PartTimeEmployee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implements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PayRoll</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private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hours = </a:t>
            </a:r>
            <a:r>
              <a:rPr lang="en-IE" sz="1350" dirty="0">
                <a:solidFill>
                  <a:srgbClr val="F2C14E"/>
                </a:solidFill>
                <a:latin typeface="Consolas" pitchFamily="34" charset="0"/>
                <a:ea typeface="Consolas" pitchFamily="34" charset="-122"/>
                <a:cs typeface="Consolas" pitchFamily="34" charset="-120"/>
              </a:rPr>
              <a:t>20</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E8C468"/>
                </a:solidFill>
                <a:latin typeface="Consolas" pitchFamily="34" charset="0"/>
                <a:ea typeface="Consolas" pitchFamily="34" charset="-122"/>
                <a:cs typeface="Consolas" pitchFamily="34" charset="-120"/>
              </a:rPr>
              <a:t>@Override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calculatePay</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hours * hourlyRate;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9" name="Text 6"/>
          <p:cNvSpPr txBox="1"/>
          <p:nvPr/>
        </p:nvSpPr>
        <p:spPr>
          <a:xfrm>
            <a:off x="6255868" y="1691640"/>
            <a:ext cx="5387188" cy="320040"/>
          </a:xfrm>
          <a:prstGeom prst="rect">
            <a:avLst/>
          </a:prstGeom>
          <a:noFill/>
          <a:ln/>
        </p:spPr>
        <p:txBody>
          <a:bodyPr wrap="square" lIns="0" tIns="0" rIns="0" bIns="0" rtlCol="0" anchor="t"/>
          <a:lstStyle/>
          <a:p>
            <a:pPr indent="0" marL="0">
              <a:buNone/>
            </a:pPr>
            <a:r>
              <a:rPr lang="en-IE" sz="1500" b="1" dirty="0">
                <a:solidFill>
                  <a:schemeClr val="accent5"/>
                </a:solidFill>
              </a:rPr>
              <a:t>Extending and implementing</a:t>
            </a:r>
            <a:endParaRPr lang="en-IE" sz="1500" dirty="0"/>
          </a:p>
        </p:txBody>
      </p:sp>
      <p:sp>
        <p:nvSpPr>
          <p:cNvPr id="10" name="Extending and implementing card"/>
          <p:cNvSpPr/>
          <p:nvPr/>
        </p:nvSpPr>
        <p:spPr>
          <a:xfrm>
            <a:off x="6255868" y="2057400"/>
            <a:ext cx="5387188" cy="2558288"/>
          </a:xfrm>
          <a:prstGeom prst="roundRect">
            <a:avLst>
              <a:gd name="adj" fmla="val 4289"/>
            </a:avLst>
          </a:prstGeom>
          <a:solidFill>
            <a:schemeClr val="tx1"/>
          </a:solidFill>
          <a:ln/>
          <a:effectLst>
            <a:outerShdw sx="100000" sy="100000" kx="0" ky="0" algn="bl" rotWithShape="0" blurRad="114300" dist="31750" dir="5400000">
              <a:srgbClr val="1D2433">
                <a:alpha val="12000"/>
              </a:srgbClr>
            </a:outerShdw>
          </a:effectLst>
        </p:spPr>
      </p:sp>
      <p:sp>
        <p:nvSpPr>
          <p:cNvPr id="11" name="Extending and implementing language"/>
          <p:cNvSpPr txBox="1"/>
          <p:nvPr/>
        </p:nvSpPr>
        <p:spPr>
          <a:xfrm>
            <a:off x="6530188" y="2176272"/>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2" name="Extending and implementing text"/>
          <p:cNvSpPr txBox="1"/>
          <p:nvPr/>
        </p:nvSpPr>
        <p:spPr>
          <a:xfrm>
            <a:off x="6530188" y="2551176"/>
            <a:ext cx="4838548" cy="186334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FullTimeEmployee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extends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implements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PayRoll</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E8C468"/>
                </a:solidFill>
                <a:latin typeface="Consolas" pitchFamily="34" charset="0"/>
                <a:ea typeface="Consolas" pitchFamily="34" charset="-122"/>
                <a:cs typeface="Consolas" pitchFamily="34" charset="-120"/>
              </a:rPr>
              <a:t>@Override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double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calculatePay</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return</a:t>
            </a:r>
            <a:r>
              <a:rPr lang="en-IE" sz="1350" dirty="0">
                <a:solidFill>
                  <a:srgbClr val="E6EBF2"/>
                </a:solidFill>
                <a:latin typeface="Consolas" pitchFamily="34" charset="0"/>
                <a:ea typeface="Consolas" pitchFamily="34" charset="-122"/>
                <a:cs typeface="Consolas" pitchFamily="34" charset="-120"/>
              </a:rPr>
              <a:t> monthlyRate;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3" name="Icon tile"/>
          <p:cNvSpPr/>
          <p:nvPr/>
        </p:nvSpPr>
        <p:spPr>
          <a:xfrm>
            <a:off x="548640" y="5342128"/>
            <a:ext cx="475488" cy="475488"/>
          </a:xfrm>
          <a:prstGeom prst="roundRect">
            <a:avLst>
              <a:gd name="adj" fmla="val 24000"/>
            </a:avLst>
          </a:prstGeom>
          <a:solidFill>
            <a:schemeClr val="accent5">
              <a:alpha val="14000"/>
            </a:schemeClr>
          </a:solidFill>
          <a:ln/>
        </p:spPr>
      </p:sp>
      <p:pic>
        <p:nvPicPr>
          <p:cNvPr id="14" name="plugs icon" descr="plugs icon">    </p:cNvPr>
          <p:cNvPicPr>
            <a:picLocks noChangeAspect="1"/>
          </p:cNvPicPr>
          <p:nvPr/>
        </p:nvPicPr>
        <p:blipFill>
          <a:blip r:embed="rId1"/>
          <a:stretch>
            <a:fillRect/>
          </a:stretch>
        </p:blipFill>
        <p:spPr>
          <a:xfrm>
            <a:off x="648492" y="5441980"/>
            <a:ext cx="275783" cy="275783"/>
          </a:xfrm>
          <a:prstGeom prst="rect">
            <a:avLst/>
          </a:prstGeom>
        </p:spPr>
      </p:pic>
      <p:sp>
        <p:nvSpPr>
          <p:cNvPr id="15" name="Text 11"/>
          <p:cNvSpPr txBox="1"/>
          <p:nvPr/>
        </p:nvSpPr>
        <p:spPr>
          <a:xfrm>
            <a:off x="1143000" y="5296408"/>
            <a:ext cx="3012338" cy="566928"/>
          </a:xfrm>
          <a:prstGeom prst="rect">
            <a:avLst/>
          </a:prstGeom>
          <a:noFill/>
          <a:ln/>
        </p:spPr>
        <p:txBody>
          <a:bodyPr wrap="square" lIns="0" tIns="0" rIns="0" bIns="0" rtlCol="0" anchor="ctr"/>
          <a:lstStyle/>
          <a:p>
            <a:pPr indent="0" marL="0">
              <a:buNone/>
            </a:pPr>
            <a:r>
              <a:rPr lang="en-IE" sz="1450" dirty="0">
                <a:solidFill>
                  <a:schemeClr val="accent2"/>
                </a:solidFill>
                <a:latin typeface="Consolas" pitchFamily="34" charset="0"/>
                <a:ea typeface="Consolas" pitchFamily="34" charset="-122"/>
                <a:cs typeface="Consolas" pitchFamily="34" charset="-120"/>
              </a:rPr>
              <a:t>implements</a:t>
            </a:r>
            <a:r>
              <a:rPr lang="en-IE" sz="1450" dirty="0">
                <a:solidFill>
                  <a:schemeClr val="tx1"/>
                </a:solidFill>
              </a:rPr>
              <a:t>, not </a:t>
            </a:r>
            <a:r>
              <a:rPr lang="en-IE" sz="1450" dirty="0">
                <a:solidFill>
                  <a:schemeClr val="accent2"/>
                </a:solidFill>
                <a:latin typeface="Consolas" pitchFamily="34" charset="0"/>
                <a:ea typeface="Consolas" pitchFamily="34" charset="-122"/>
                <a:cs typeface="Consolas" pitchFamily="34" charset="-120"/>
              </a:rPr>
              <a:t>extends</a:t>
            </a:r>
            <a:r>
              <a:rPr lang="en-IE" sz="1450" dirty="0">
                <a:solidFill>
                  <a:schemeClr val="tx1"/>
                </a:solidFill>
              </a:rPr>
              <a:t>, for an interface.</a:t>
            </a:r>
            <a:endParaRPr lang="en-IE" sz="1450" dirty="0"/>
          </a:p>
        </p:txBody>
      </p:sp>
      <p:sp>
        <p:nvSpPr>
          <p:cNvPr id="16" name="Icon tile"/>
          <p:cNvSpPr/>
          <p:nvPr/>
        </p:nvSpPr>
        <p:spPr>
          <a:xfrm>
            <a:off x="4265066" y="5342128"/>
            <a:ext cx="475488" cy="475488"/>
          </a:xfrm>
          <a:prstGeom prst="roundRect">
            <a:avLst>
              <a:gd name="adj" fmla="val 24000"/>
            </a:avLst>
          </a:prstGeom>
          <a:solidFill>
            <a:schemeClr val="accent5">
              <a:alpha val="14000"/>
            </a:schemeClr>
          </a:solidFill>
          <a:ln/>
        </p:spPr>
      </p:sp>
      <p:pic>
        <p:nvPicPr>
          <p:cNvPr id="17" name="arrows down up icon" descr="arrows down up icon">    </p:cNvPr>
          <p:cNvPicPr>
            <a:picLocks noChangeAspect="1"/>
          </p:cNvPicPr>
          <p:nvPr/>
        </p:nvPicPr>
        <p:blipFill>
          <a:blip r:embed="rId2"/>
          <a:stretch>
            <a:fillRect/>
          </a:stretch>
        </p:blipFill>
        <p:spPr>
          <a:xfrm>
            <a:off x="4364919" y="5441980"/>
            <a:ext cx="275783" cy="275783"/>
          </a:xfrm>
          <a:prstGeom prst="rect">
            <a:avLst/>
          </a:prstGeom>
        </p:spPr>
      </p:pic>
      <p:sp>
        <p:nvSpPr>
          <p:cNvPr id="18" name="Text 13"/>
          <p:cNvSpPr txBox="1"/>
          <p:nvPr/>
        </p:nvSpPr>
        <p:spPr>
          <a:xfrm>
            <a:off x="4859426" y="5296408"/>
            <a:ext cx="3012338" cy="566928"/>
          </a:xfrm>
          <a:prstGeom prst="rect">
            <a:avLst/>
          </a:prstGeom>
          <a:noFill/>
          <a:ln/>
        </p:spPr>
        <p:txBody>
          <a:bodyPr wrap="square" lIns="0" tIns="0" rIns="0" bIns="0" rtlCol="0" anchor="ctr"/>
          <a:lstStyle/>
          <a:p>
            <a:pPr indent="0" marL="0">
              <a:buNone/>
            </a:pPr>
            <a:r>
              <a:rPr lang="en-IE" sz="1450" dirty="0">
                <a:solidFill>
                  <a:schemeClr val="accent2"/>
                </a:solidFill>
                <a:latin typeface="Consolas" pitchFamily="34" charset="0"/>
                <a:ea typeface="Consolas" pitchFamily="34" charset="-122"/>
                <a:cs typeface="Consolas" pitchFamily="34" charset="-120"/>
              </a:rPr>
              <a:t>extends</a:t>
            </a:r>
            <a:r>
              <a:rPr lang="en-IE" sz="1450" dirty="0">
                <a:solidFill>
                  <a:schemeClr val="tx1"/>
                </a:solidFill>
              </a:rPr>
              <a:t> comes first, then </a:t>
            </a:r>
            <a:r>
              <a:rPr lang="en-IE" sz="1450" dirty="0">
                <a:solidFill>
                  <a:schemeClr val="accent2"/>
                </a:solidFill>
                <a:latin typeface="Consolas" pitchFamily="34" charset="0"/>
                <a:ea typeface="Consolas" pitchFamily="34" charset="-122"/>
                <a:cs typeface="Consolas" pitchFamily="34" charset="-120"/>
              </a:rPr>
              <a:t>implements</a:t>
            </a:r>
            <a:r>
              <a:rPr lang="en-IE" sz="1450" dirty="0">
                <a:solidFill>
                  <a:schemeClr val="tx1"/>
                </a:solidFill>
              </a:rPr>
              <a:t>.</a:t>
            </a:r>
            <a:endParaRPr lang="en-IE" sz="1450" dirty="0"/>
          </a:p>
        </p:txBody>
      </p:sp>
      <p:sp>
        <p:nvSpPr>
          <p:cNvPr id="19" name="Icon tile"/>
          <p:cNvSpPr/>
          <p:nvPr/>
        </p:nvSpPr>
        <p:spPr>
          <a:xfrm>
            <a:off x="7981493" y="5342128"/>
            <a:ext cx="475488" cy="475488"/>
          </a:xfrm>
          <a:prstGeom prst="roundRect">
            <a:avLst>
              <a:gd name="adj" fmla="val 24000"/>
            </a:avLst>
          </a:prstGeom>
          <a:solidFill>
            <a:schemeClr val="accent5">
              <a:alpha val="14000"/>
            </a:schemeClr>
          </a:solidFill>
          <a:ln/>
        </p:spPr>
      </p:sp>
      <p:pic>
        <p:nvPicPr>
          <p:cNvPr id="20" name="seal check icon" descr="seal check icon">    </p:cNvPr>
          <p:cNvPicPr>
            <a:picLocks noChangeAspect="1"/>
          </p:cNvPicPr>
          <p:nvPr/>
        </p:nvPicPr>
        <p:blipFill>
          <a:blip r:embed="rId3"/>
          <a:stretch>
            <a:fillRect/>
          </a:stretch>
        </p:blipFill>
        <p:spPr>
          <a:xfrm>
            <a:off x="8081345" y="5441980"/>
            <a:ext cx="275783" cy="275783"/>
          </a:xfrm>
          <a:prstGeom prst="rect">
            <a:avLst/>
          </a:prstGeom>
        </p:spPr>
      </p:pic>
      <p:sp>
        <p:nvSpPr>
          <p:cNvPr id="21" name="Text 15"/>
          <p:cNvSpPr txBox="1"/>
          <p:nvPr/>
        </p:nvSpPr>
        <p:spPr>
          <a:xfrm>
            <a:off x="8575853" y="5296408"/>
            <a:ext cx="3012338" cy="566928"/>
          </a:xfrm>
          <a:prstGeom prst="rect">
            <a:avLst/>
          </a:prstGeom>
          <a:noFill/>
          <a:ln/>
        </p:spPr>
        <p:txBody>
          <a:bodyPr wrap="square" lIns="0" tIns="0" rIns="0" bIns="0" rtlCol="0" anchor="ctr"/>
          <a:lstStyle/>
          <a:p>
            <a:pPr indent="0" marL="0">
              <a:buNone/>
            </a:pPr>
            <a:r>
              <a:rPr lang="en-IE" sz="1450" dirty="0">
                <a:solidFill>
                  <a:schemeClr val="tx1"/>
                </a:solidFill>
              </a:rPr>
              <a:t>Each method must be public. </a:t>
            </a:r>
            <a:r>
              <a:rPr lang="en-IE" sz="1450" dirty="0">
                <a:solidFill>
                  <a:schemeClr val="accent2"/>
                </a:solidFill>
                <a:latin typeface="Consolas" pitchFamily="34" charset="0"/>
                <a:ea typeface="Consolas" pitchFamily="34" charset="-122"/>
                <a:cs typeface="Consolas" pitchFamily="34" charset="-120"/>
              </a:rPr>
              <a:t>@Override</a:t>
            </a:r>
            <a:r>
              <a:rPr lang="en-IE" sz="1450" dirty="0">
                <a:solidFill>
                  <a:schemeClr val="tx1"/>
                </a:solidFill>
              </a:rPr>
              <a:t> is optional but catches typos.</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Implementing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class declaration is correct?</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FullTimeEmployee extends Employee implements PayRoll {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FullTimeEmployee extends Employee, PayRoll {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FullTimeEmployee implements PayRoll extends Employee {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FullTimeEmployee implements Employee extends PayRoll {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Implementing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class declaration is correct?</a:t>
            </a:r>
            <a:endParaRPr lang="en-IE" sz="2000" dirty="0"/>
          </a:p>
        </p:txBody>
      </p:sp>
      <p:sp>
        <p:nvSpPr>
          <p:cNvPr id="5" name="Option A (correct)"/>
          <p:cNvSpPr/>
          <p:nvPr/>
        </p:nvSpPr>
        <p:spPr>
          <a:xfrm>
            <a:off x="548640" y="1828800"/>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191109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28800"/>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class FullTimeEmployee extends Employee implements PayRoll { }</a:t>
            </a:r>
            <a:endParaRPr lang="en-IE" sz="1700" dirty="0"/>
          </a:p>
        </p:txBody>
      </p:sp>
      <p:pic>
        <p:nvPicPr>
          <p:cNvPr id="8" name="Correct mark" descr="Correct mark">    </p:cNvPr>
          <p:cNvPicPr>
            <a:picLocks noChangeAspect="1"/>
          </p:cNvPicPr>
          <p:nvPr/>
        </p:nvPicPr>
        <p:blipFill>
          <a:blip r:embed="rId1"/>
          <a:stretch>
            <a:fillRect/>
          </a:stretch>
        </p:blipFill>
        <p:spPr>
          <a:xfrm>
            <a:off x="11094415" y="1938528"/>
            <a:ext cx="365760" cy="365760"/>
          </a:xfrm>
          <a:prstGeom prst="rect">
            <a:avLst/>
          </a:prstGeom>
        </p:spPr>
      </p:pic>
      <p:sp>
        <p:nvSpPr>
          <p:cNvPr id="9"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FullTimeEmployee extends Employee, PayRoll { }</a:t>
            </a:r>
            <a:endParaRPr lang="en-IE" sz="1700" dirty="0"/>
          </a:p>
        </p:txBody>
      </p:sp>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FullTimeEmployee implements PayRoll extends Employee { }</a:t>
            </a:r>
            <a:endParaRPr lang="en-IE"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FullTimeEmployee implements Employee extends PayRoll { }</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We extend a class and implement an interface, and </a:t>
            </a:r>
            <a:r>
              <a:rPr lang="en-IE" sz="1600" dirty="0">
                <a:solidFill>
                  <a:schemeClr val="accent2"/>
                </a:solidFill>
                <a:latin typeface="Consolas" pitchFamily="34" charset="0"/>
                <a:ea typeface="Consolas" pitchFamily="34" charset="-122"/>
                <a:cs typeface="Consolas" pitchFamily="34" charset="-120"/>
              </a:rPr>
              <a:t>extends</a:t>
            </a:r>
            <a:r>
              <a:rPr lang="en-IE" sz="1600" dirty="0">
                <a:solidFill>
                  <a:schemeClr val="tx1"/>
                </a:solidFill>
              </a:rPr>
              <a:t> comes first, then </a:t>
            </a:r>
            <a:r>
              <a:rPr lang="en-IE" sz="1600" dirty="0">
                <a:solidFill>
                  <a:schemeClr val="accent2"/>
                </a:solidFill>
                <a:latin typeface="Consolas" pitchFamily="34" charset="0"/>
                <a:ea typeface="Consolas" pitchFamily="34" charset="-122"/>
                <a:cs typeface="Consolas" pitchFamily="34" charset="-120"/>
              </a:rPr>
              <a:t>implements</a:t>
            </a:r>
            <a:r>
              <a:rPr lang="en-IE" sz="1600" dirty="0">
                <a:solidFill>
                  <a:schemeClr val="tx1"/>
                </a:solidFill>
              </a:rPr>
              <a:t>. B puts an interface after extends, C has the two parts the wrong way round, and D swaps the class and the interface.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25</a:t>
            </a:fld>
            <a:endParaRPr lang="en-I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Implementing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happens when this code is compiled?</a:t>
            </a:r>
            <a:endParaRPr lang="en-IE" sz="2800" dirty="0"/>
          </a:p>
        </p:txBody>
      </p:sp>
      <p:sp>
        <p:nvSpPr>
          <p:cNvPr id="5" name="Question code card"/>
          <p:cNvSpPr/>
          <p:nvPr/>
        </p:nvSpPr>
        <p:spPr>
          <a:xfrm>
            <a:off x="548640" y="2396871"/>
            <a:ext cx="6035040" cy="3161538"/>
          </a:xfrm>
          <a:prstGeom prst="roundRect">
            <a:avLst>
              <a:gd name="adj" fmla="val 3471"/>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515743"/>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890647"/>
            <a:ext cx="5486400" cy="246659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interface</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PayRoll</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double</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calculatePay</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class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PartTimeEmployee</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implements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PayRoll</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double</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calculatePay</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return</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2C14E"/>
                </a:solidFill>
                <a:latin typeface="Consolas" pitchFamily="34" charset="0"/>
                <a:ea typeface="Consolas" pitchFamily="34" charset="-122"/>
                <a:cs typeface="Consolas" pitchFamily="34" charset="-120"/>
              </a:rPr>
              <a:t>20</a:t>
            </a:r>
            <a:r>
              <a:rPr lang="en-IE" sz="1600" dirty="0">
                <a:solidFill>
                  <a:srgbClr val="E6EBF2"/>
                </a:solidFill>
                <a:latin typeface="Consolas" pitchFamily="34" charset="0"/>
                <a:ea typeface="Consolas" pitchFamily="34" charset="-122"/>
                <a:cs typeface="Consolas" pitchFamily="34" charset="-120"/>
              </a:rPr>
              <a:t> * </a:t>
            </a:r>
            <a:r>
              <a:rPr lang="en-IE" sz="1600" dirty="0">
                <a:solidFill>
                  <a:srgbClr val="F2C14E"/>
                </a:solidFill>
                <a:latin typeface="Consolas" pitchFamily="34" charset="0"/>
                <a:ea typeface="Consolas" pitchFamily="34" charset="-122"/>
                <a:cs typeface="Consolas" pitchFamily="34" charset="-120"/>
              </a:rPr>
              <a:t>25</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compiles without any problems</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PayRoll needs a constructor</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rPr>
              <a:t>It compiles, as the interface makes it public</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calculatePay() must be public</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26</a:t>
            </a:fld>
            <a:endParaRPr lang="en-I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Implementing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happens when this code is compiled?</a:t>
            </a:r>
            <a:endParaRPr lang="en-IE" sz="2000" dirty="0"/>
          </a:p>
        </p:txBody>
      </p:sp>
      <p:sp>
        <p:nvSpPr>
          <p:cNvPr id="5" name="Answer code card"/>
          <p:cNvSpPr/>
          <p:nvPr/>
        </p:nvSpPr>
        <p:spPr>
          <a:xfrm>
            <a:off x="548640" y="1874520"/>
            <a:ext cx="5623560" cy="1184910"/>
          </a:xfrm>
          <a:prstGeom prst="roundRect">
            <a:avLst>
              <a:gd name="adj" fmla="val 926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82574"/>
          </a:xfrm>
          <a:prstGeom prst="rect">
            <a:avLst/>
          </a:prstGeom>
          <a:noFill/>
          <a:ln/>
        </p:spPr>
        <p:txBody>
          <a:bodyPr wrap="square" lIns="0" tIns="0" rIns="0" bIns="0" rtlCol="0" anchor="t"/>
          <a:lstStyle/>
          <a:p>
            <a:pPr indent="0" marL="0">
              <a:lnSpc>
                <a:spcPts val="1910"/>
              </a:lnSpc>
              <a:buNone/>
            </a:pPr>
            <a:r>
              <a:rPr lang="en-IE" sz="1450" dirty="0">
                <a:solidFill>
                  <a:srgbClr val="FF9F5A"/>
                </a:solidFill>
                <a:latin typeface="Consolas" pitchFamily="34" charset="0"/>
                <a:ea typeface="Consolas" pitchFamily="34" charset="-122"/>
                <a:cs typeface="Consolas" pitchFamily="34" charset="-120"/>
              </a:rPr>
              <a:t>double</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C9B0FF"/>
                </a:solidFill>
                <a:latin typeface="Consolas" pitchFamily="34" charset="0"/>
                <a:ea typeface="Consolas" pitchFamily="34" charset="-122"/>
                <a:cs typeface="Consolas" pitchFamily="34" charset="-120"/>
              </a:rPr>
              <a:t>calculatePay</a:t>
            </a:r>
            <a:r>
              <a:rPr lang="en-IE" sz="1450" dirty="0">
                <a:solidFill>
                  <a:srgbClr val="E6EBF2"/>
                </a:solidFill>
                <a:latin typeface="Consolas" pitchFamily="34" charset="0"/>
                <a:ea typeface="Consolas" pitchFamily="34" charset="-122"/>
                <a:cs typeface="Consolas" pitchFamily="34" charset="-120"/>
              </a:rPr>
              <a:t>() { ... }   </a:t>
            </a:r>
            <a:r>
              <a:rPr lang="en-IE" sz="1450" i="1" dirty="0">
                <a:solidFill>
                  <a:srgbClr val="A3AEC2"/>
                </a:solidFill>
                <a:latin typeface="Consolas" pitchFamily="34" charset="0"/>
                <a:ea typeface="Consolas" pitchFamily="34" charset="-122"/>
                <a:cs typeface="Consolas" pitchFamily="34" charset="-120"/>
              </a:rPr>
              <a:t>// no public</a:t>
            </a:r>
            <a:endParaRPr lang="en-IE" sz="1450" dirty="0"/>
          </a:p>
          <a:p>
            <a:pPr indent="0" marL="0">
              <a:lnSpc>
                <a:spcPts val="1910"/>
              </a:lnSpc>
              <a:buNone/>
            </a:pPr>
            <a:r>
              <a:rPr lang="en-IE" sz="1450" i="1" dirty="0">
                <a:solidFill>
                  <a:srgbClr val="A3AEC2"/>
                </a:solidFill>
                <a:latin typeface="Consolas" pitchFamily="34" charset="0"/>
                <a:ea typeface="Consolas" pitchFamily="34" charset="-122"/>
                <a:cs typeface="Consolas" pitchFamily="34" charset="-120"/>
              </a:rPr>
              <a:t>// error: attempting to assign weaker access</a:t>
            </a:r>
            <a:endParaRPr lang="en-IE" sz="1450" dirty="0"/>
          </a:p>
          <a:p>
            <a:pPr indent="0" marL="0">
              <a:lnSpc>
                <a:spcPts val="1910"/>
              </a:lnSpc>
              <a:buNone/>
            </a:pPr>
            <a:r>
              <a:rPr lang="en-IE" sz="1450" i="1" dirty="0">
                <a:solidFill>
                  <a:srgbClr val="A3AEC2"/>
                </a:solidFill>
                <a:latin typeface="Consolas" pitchFamily="34" charset="0"/>
                <a:ea typeface="Consolas" pitchFamily="34" charset="-122"/>
                <a:cs typeface="Consolas" pitchFamily="34" charset="-120"/>
              </a:rPr>
              <a:t>//        privileges; was public</a:t>
            </a:r>
            <a:endParaRPr lang="en-IE" sz="1450" dirty="0"/>
          </a:p>
        </p:txBody>
      </p:sp>
      <p:sp>
        <p:nvSpPr>
          <p:cNvPr id="7" name="Option A"/>
          <p:cNvSpPr/>
          <p:nvPr/>
        </p:nvSpPr>
        <p:spPr>
          <a:xfrm>
            <a:off x="548640" y="3288030"/>
            <a:ext cx="5623560" cy="588455"/>
          </a:xfrm>
          <a:prstGeom prst="roundRect">
            <a:avLst>
              <a:gd name="adj" fmla="val 18647"/>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7194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288030"/>
            <a:ext cx="4572000" cy="588455"/>
          </a:xfrm>
          <a:prstGeom prst="rect">
            <a:avLst/>
          </a:prstGeom>
          <a:noFill/>
          <a:ln/>
        </p:spPr>
        <p:txBody>
          <a:bodyPr wrap="square" lIns="0" tIns="0" rIns="0" bIns="0" rtlCol="0" anchor="ctr"/>
          <a:lstStyle/>
          <a:p>
            <a:pPr indent="0" marL="0">
              <a:buNone/>
            </a:pPr>
            <a:r>
              <a:rPr lang="en-IE" sz="1700" dirty="0">
                <a:solidFill>
                  <a:schemeClr val="tx2"/>
                </a:solidFill>
              </a:rPr>
              <a:t>It compiles without any problems</a:t>
            </a:r>
            <a:endParaRPr lang="en-IE" sz="1700" dirty="0"/>
          </a:p>
        </p:txBody>
      </p:sp>
      <p:sp>
        <p:nvSpPr>
          <p:cNvPr id="10" name="Option B"/>
          <p:cNvSpPr/>
          <p:nvPr/>
        </p:nvSpPr>
        <p:spPr>
          <a:xfrm>
            <a:off x="548640" y="4022789"/>
            <a:ext cx="5623560" cy="588455"/>
          </a:xfrm>
          <a:prstGeom prst="roundRect">
            <a:avLst>
              <a:gd name="adj" fmla="val 18647"/>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10670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4022789"/>
            <a:ext cx="4572000" cy="588455"/>
          </a:xfrm>
          <a:prstGeom prst="rect">
            <a:avLst/>
          </a:prstGeom>
          <a:noFill/>
          <a:ln/>
        </p:spPr>
        <p:txBody>
          <a:bodyPr wrap="square" lIns="0" tIns="0" rIns="0" bIns="0" rtlCol="0" anchor="ctr"/>
          <a:lstStyle/>
          <a:p>
            <a:pPr indent="0" marL="0">
              <a:buNone/>
            </a:pPr>
            <a:r>
              <a:rPr lang="en-IE" sz="1700" dirty="0">
                <a:solidFill>
                  <a:schemeClr val="tx2"/>
                </a:solidFill>
              </a:rPr>
              <a:t>Compile error: PayRoll needs a constructor</a:t>
            </a:r>
            <a:endParaRPr lang="en-IE" sz="1700" dirty="0"/>
          </a:p>
        </p:txBody>
      </p:sp>
      <p:sp>
        <p:nvSpPr>
          <p:cNvPr id="13" name="Option C"/>
          <p:cNvSpPr/>
          <p:nvPr/>
        </p:nvSpPr>
        <p:spPr>
          <a:xfrm>
            <a:off x="548640" y="4757547"/>
            <a:ext cx="5623560" cy="588455"/>
          </a:xfrm>
          <a:prstGeom prst="roundRect">
            <a:avLst>
              <a:gd name="adj" fmla="val 18647"/>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84146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5" name="Option C text"/>
          <p:cNvSpPr txBox="1"/>
          <p:nvPr/>
        </p:nvSpPr>
        <p:spPr>
          <a:xfrm>
            <a:off x="1371600" y="4757547"/>
            <a:ext cx="4572000" cy="588455"/>
          </a:xfrm>
          <a:prstGeom prst="rect">
            <a:avLst/>
          </a:prstGeom>
          <a:noFill/>
          <a:ln/>
        </p:spPr>
        <p:txBody>
          <a:bodyPr wrap="square" lIns="0" tIns="0" rIns="0" bIns="0" rtlCol="0" anchor="ctr"/>
          <a:lstStyle/>
          <a:p>
            <a:pPr indent="0" marL="0">
              <a:buNone/>
            </a:pPr>
            <a:r>
              <a:rPr lang="en-IE" sz="1700" dirty="0">
                <a:solidFill>
                  <a:schemeClr val="tx2"/>
                </a:solidFill>
              </a:rPr>
              <a:t>It compiles, as the interface makes it public</a:t>
            </a:r>
            <a:endParaRPr lang="en-IE" sz="1700" dirty="0"/>
          </a:p>
        </p:txBody>
      </p:sp>
      <p:sp>
        <p:nvSpPr>
          <p:cNvPr id="16" name="Option D (correct)"/>
          <p:cNvSpPr/>
          <p:nvPr/>
        </p:nvSpPr>
        <p:spPr>
          <a:xfrm>
            <a:off x="548640" y="5492306"/>
            <a:ext cx="5623560" cy="588455"/>
          </a:xfrm>
          <a:prstGeom prst="roundRect">
            <a:avLst>
              <a:gd name="adj" fmla="val 18647"/>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576221"/>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8" name="Option D text"/>
          <p:cNvSpPr txBox="1"/>
          <p:nvPr/>
        </p:nvSpPr>
        <p:spPr>
          <a:xfrm>
            <a:off x="1371600" y="5492306"/>
            <a:ext cx="4142232" cy="588455"/>
          </a:xfrm>
          <a:prstGeom prst="rect">
            <a:avLst/>
          </a:prstGeom>
          <a:noFill/>
          <a:ln/>
        </p:spPr>
        <p:txBody>
          <a:bodyPr wrap="square" lIns="0" tIns="0" rIns="0" bIns="0" rtlCol="0" anchor="ctr"/>
          <a:lstStyle/>
          <a:p>
            <a:pPr indent="0" marL="0">
              <a:buNone/>
            </a:pPr>
            <a:r>
              <a:rPr lang="en-IE" sz="1700" b="1" dirty="0">
                <a:solidFill>
                  <a:schemeClr val="bg1"/>
                </a:solidFill>
              </a:rPr>
              <a:t>Compile error: calculatePay() must be public</a:t>
            </a:r>
            <a:endParaRPr lang="en-IE" sz="1700" dirty="0"/>
          </a:p>
        </p:txBody>
      </p:sp>
      <p:pic>
        <p:nvPicPr>
          <p:cNvPr id="19" name="Correct mark" descr="Correct mark">    </p:cNvPr>
          <p:cNvPicPr>
            <a:picLocks noChangeAspect="1"/>
          </p:cNvPicPr>
          <p:nvPr/>
        </p:nvPicPr>
        <p:blipFill>
          <a:blip r:embed="rId1"/>
          <a:stretch>
            <a:fillRect/>
          </a:stretch>
        </p:blipFill>
        <p:spPr>
          <a:xfrm>
            <a:off x="5623560" y="5603653"/>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calculatePay()</a:t>
            </a:r>
            <a:r>
              <a:rPr lang="en-IE" sz="1800" dirty="0">
                <a:solidFill>
                  <a:schemeClr val="tx1"/>
                </a:solidFill>
              </a:rPr>
              <a:t> is public in the interface, even though we didn’t write public. The class can’t make it less visible, so its version must be declared public too. The interface doesn’t do that for us (C).</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Static and default methods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Interface methods with a body</a:t>
            </a:r>
            <a:endParaRPr lang="en-IE" sz="2000" dirty="0"/>
          </a:p>
        </p:txBody>
      </p:sp>
      <p:sp>
        <p:nvSpPr>
          <p:cNvPr id="5" name="Topic chip"/>
          <p:cNvSpPr/>
          <p:nvPr/>
        </p:nvSpPr>
        <p:spPr>
          <a:xfrm>
            <a:off x="822960"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static</a:t>
            </a:r>
            <a:endParaRPr lang="en-IE" sz="1400" dirty="0"/>
          </a:p>
        </p:txBody>
      </p:sp>
      <p:sp>
        <p:nvSpPr>
          <p:cNvPr id="6" name="Topic chip"/>
          <p:cNvSpPr/>
          <p:nvPr/>
        </p:nvSpPr>
        <p:spPr>
          <a:xfrm>
            <a:off x="1926336"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default</a:t>
            </a:r>
            <a:endParaRPr lang="en-IE" sz="1400" dirty="0"/>
          </a:p>
        </p:txBody>
      </p:sp>
      <p:sp>
        <p:nvSpPr>
          <p:cNvPr id="7" name="Topic chip"/>
          <p:cNvSpPr/>
          <p:nvPr/>
        </p:nvSpPr>
        <p:spPr>
          <a:xfrm>
            <a:off x="3122168"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Java 8</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STATIC AND DEFAULT METHODS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Static methods in an interface</a:t>
            </a:r>
            <a:endParaRPr lang="en-IE" sz="3400" dirty="0"/>
          </a:p>
        </p:txBody>
      </p:sp>
      <p:sp>
        <p:nvSpPr>
          <p:cNvPr id="5" name="Text 2"/>
          <p:cNvSpPr txBox="1"/>
          <p:nvPr/>
        </p:nvSpPr>
        <p:spPr>
          <a:xfrm>
            <a:off x="548640" y="1783080"/>
            <a:ext cx="4846320" cy="246888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An interface can have static methods, with a body.</a:t>
            </a:r>
            <a:endParaRPr lang="en-IE" sz="1800" dirty="0"/>
          </a:p>
          <a:p>
            <a:pPr marL="228600" indent="-228600">
              <a:spcAft>
                <a:spcPts val="1200"/>
              </a:spcAft>
              <a:buSzPct val="100000"/>
              <a:buChar char="•"/>
            </a:pPr>
            <a:r>
              <a:rPr lang="en-IE" sz="1800" dirty="0">
                <a:solidFill>
                  <a:schemeClr val="tx1"/>
                </a:solidFill>
              </a:rPr>
              <a:t>Static methods can’t be overridden.</a:t>
            </a:r>
            <a:endParaRPr lang="en-IE" sz="1800" dirty="0"/>
          </a:p>
          <a:p>
            <a:pPr marL="228600" indent="-228600">
              <a:buSzPct val="100000"/>
              <a:buChar char="•"/>
            </a:pPr>
            <a:r>
              <a:rPr lang="en-IE" sz="1800" dirty="0">
                <a:solidFill>
                  <a:schemeClr val="tx1"/>
                </a:solidFill>
              </a:rPr>
              <a:t>We call them through the interface itself, not through an object such as employee (an Employee, which implements PayRoll).</a:t>
            </a:r>
            <a:endParaRPr lang="en-IE" sz="1800" dirty="0"/>
          </a:p>
        </p:txBody>
      </p:sp>
      <p:sp>
        <p:nvSpPr>
          <p:cNvPr id="6" name="Static method card"/>
          <p:cNvSpPr/>
          <p:nvPr/>
        </p:nvSpPr>
        <p:spPr>
          <a:xfrm>
            <a:off x="5760720" y="1783080"/>
            <a:ext cx="5882335" cy="2864358"/>
          </a:xfrm>
          <a:prstGeom prst="roundRect">
            <a:avLst>
              <a:gd name="adj" fmla="val 3831"/>
            </a:avLst>
          </a:prstGeom>
          <a:solidFill>
            <a:schemeClr val="tx1"/>
          </a:solidFill>
          <a:ln/>
          <a:effectLst>
            <a:outerShdw sx="100000" sy="100000" kx="0" ky="0" algn="bl" rotWithShape="0" blurRad="114300" dist="31750" dir="5400000">
              <a:srgbClr val="1D2433">
                <a:alpha val="12000"/>
              </a:srgbClr>
            </a:outerShdw>
          </a:effectLst>
        </p:spPr>
      </p:sp>
      <p:sp>
        <p:nvSpPr>
          <p:cNvPr id="7" name="Static method language"/>
          <p:cNvSpPr txBox="1"/>
          <p:nvPr/>
        </p:nvSpPr>
        <p:spPr>
          <a:xfrm>
            <a:off x="6035040" y="1901952"/>
            <a:ext cx="53336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Static method text"/>
          <p:cNvSpPr txBox="1"/>
          <p:nvPr/>
        </p:nvSpPr>
        <p:spPr>
          <a:xfrm>
            <a:off x="6035040" y="2276856"/>
            <a:ext cx="5333695" cy="21694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interface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PayRoll</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hourlyRate = </a:t>
            </a:r>
            <a:r>
              <a:rPr lang="en-IE" sz="1400" dirty="0">
                <a:solidFill>
                  <a:srgbClr val="F2C14E"/>
                </a:solidFill>
                <a:latin typeface="Consolas" pitchFamily="34" charset="0"/>
                <a:ea typeface="Consolas" pitchFamily="34" charset="-122"/>
                <a:cs typeface="Consolas" pitchFamily="34" charset="-120"/>
              </a:rPr>
              <a:t>25</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monthlyRate = </a:t>
            </a:r>
            <a:r>
              <a:rPr lang="en-IE" sz="1400" dirty="0">
                <a:solidFill>
                  <a:srgbClr val="F2C14E"/>
                </a:solidFill>
                <a:latin typeface="Consolas" pitchFamily="34" charset="0"/>
                <a:ea typeface="Consolas" pitchFamily="34" charset="-122"/>
                <a:cs typeface="Consolas" pitchFamily="34" charset="-120"/>
              </a:rPr>
              <a:t>2500</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getInfo</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A9DB8C"/>
                </a:solidFill>
                <a:latin typeface="Consolas" pitchFamily="34" charset="0"/>
                <a:ea typeface="Consolas" pitchFamily="34" charset="-122"/>
                <a:cs typeface="Consolas" pitchFamily="34" charset="-120"/>
              </a:rPr>
              <a:t>"Monthly Rate:"</a:t>
            </a:r>
            <a:r>
              <a:rPr lang="en-IE" sz="1400" dirty="0">
                <a:solidFill>
                  <a:srgbClr val="E6EBF2"/>
                </a:solidFill>
                <a:latin typeface="Consolas" pitchFamily="34" charset="0"/>
                <a:ea typeface="Consolas" pitchFamily="34" charset="-122"/>
                <a:cs typeface="Consolas" pitchFamily="34" charset="-120"/>
              </a:rPr>
              <a:t> + monthlyRate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A9DB8C"/>
                </a:solidFill>
                <a:latin typeface="Consolas" pitchFamily="34" charset="0"/>
                <a:ea typeface="Consolas" pitchFamily="34" charset="-122"/>
                <a:cs typeface="Consolas" pitchFamily="34" charset="-120"/>
              </a:rPr>
              <a:t>" Hourly rate: "</a:t>
            </a:r>
            <a:r>
              <a:rPr lang="en-IE" sz="1400" dirty="0">
                <a:solidFill>
                  <a:srgbClr val="E6EBF2"/>
                </a:solidFill>
                <a:latin typeface="Consolas" pitchFamily="34" charset="0"/>
                <a:ea typeface="Consolas" pitchFamily="34" charset="-122"/>
                <a:cs typeface="Consolas" pitchFamily="34" charset="-120"/>
              </a:rPr>
              <a:t> + hourlyRate;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Code chip"/>
          <p:cNvSpPr/>
          <p:nvPr/>
        </p:nvSpPr>
        <p:spPr>
          <a:xfrm>
            <a:off x="548640" y="4434840"/>
            <a:ext cx="265176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PayRoll.getInfo()</a:t>
            </a:r>
            <a:endParaRPr lang="en-IE" sz="1700" dirty="0"/>
          </a:p>
        </p:txBody>
      </p:sp>
      <p:pic>
        <p:nvPicPr>
          <p:cNvPr id="10" name="Works" descr="Works">    </p:cNvPr>
          <p:cNvPicPr>
            <a:picLocks noChangeAspect="1"/>
          </p:cNvPicPr>
          <p:nvPr/>
        </p:nvPicPr>
        <p:blipFill>
          <a:blip r:embed="rId1"/>
          <a:stretch>
            <a:fillRect/>
          </a:stretch>
        </p:blipFill>
        <p:spPr>
          <a:xfrm>
            <a:off x="3337560" y="4498848"/>
            <a:ext cx="347472" cy="347472"/>
          </a:xfrm>
          <a:prstGeom prst="rect">
            <a:avLst/>
          </a:prstGeom>
        </p:spPr>
      </p:pic>
      <p:sp>
        <p:nvSpPr>
          <p:cNvPr id="11" name="Text 7"/>
          <p:cNvSpPr txBox="1"/>
          <p:nvPr/>
        </p:nvSpPr>
        <p:spPr>
          <a:xfrm>
            <a:off x="3794760" y="4480560"/>
            <a:ext cx="1645920" cy="384048"/>
          </a:xfrm>
          <a:prstGeom prst="rect">
            <a:avLst/>
          </a:prstGeom>
          <a:noFill/>
          <a:ln/>
        </p:spPr>
        <p:txBody>
          <a:bodyPr wrap="square" lIns="0" tIns="0" rIns="0" bIns="0" rtlCol="0" anchor="ctr"/>
          <a:lstStyle/>
          <a:p>
            <a:pPr indent="0" marL="0">
              <a:buNone/>
            </a:pPr>
            <a:r>
              <a:rPr lang="en-IE" sz="1450" b="1" dirty="0">
                <a:solidFill>
                  <a:schemeClr val="accent3"/>
                </a:solidFill>
              </a:rPr>
              <a:t>through the interface</a:t>
            </a:r>
            <a:endParaRPr lang="en-IE" sz="1450" dirty="0"/>
          </a:p>
        </p:txBody>
      </p:sp>
      <p:sp>
        <p:nvSpPr>
          <p:cNvPr id="12" name="Code chip"/>
          <p:cNvSpPr/>
          <p:nvPr/>
        </p:nvSpPr>
        <p:spPr>
          <a:xfrm>
            <a:off x="548640" y="5120640"/>
            <a:ext cx="2651760"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employee.getInfo()</a:t>
            </a:r>
            <a:endParaRPr lang="en-IE" sz="1700" dirty="0"/>
          </a:p>
        </p:txBody>
      </p:sp>
      <p:pic>
        <p:nvPicPr>
          <p:cNvPr id="13" name="Does not work" descr="Does not work">    </p:cNvPr>
          <p:cNvPicPr>
            <a:picLocks noChangeAspect="1"/>
          </p:cNvPicPr>
          <p:nvPr/>
        </p:nvPicPr>
        <p:blipFill>
          <a:blip r:embed="rId2"/>
          <a:stretch>
            <a:fillRect/>
          </a:stretch>
        </p:blipFill>
        <p:spPr>
          <a:xfrm>
            <a:off x="3337560" y="5184648"/>
            <a:ext cx="347472" cy="347472"/>
          </a:xfrm>
          <a:prstGeom prst="rect">
            <a:avLst/>
          </a:prstGeom>
        </p:spPr>
      </p:pic>
      <p:sp>
        <p:nvSpPr>
          <p:cNvPr id="14" name="Text 9"/>
          <p:cNvSpPr txBox="1"/>
          <p:nvPr/>
        </p:nvSpPr>
        <p:spPr>
          <a:xfrm>
            <a:off x="3794760" y="5166360"/>
            <a:ext cx="1645920" cy="384048"/>
          </a:xfrm>
          <a:prstGeom prst="rect">
            <a:avLst/>
          </a:prstGeom>
          <a:noFill/>
          <a:ln/>
        </p:spPr>
        <p:txBody>
          <a:bodyPr wrap="square" lIns="0" tIns="0" rIns="0" bIns="0" rtlCol="0" anchor="ctr"/>
          <a:lstStyle/>
          <a:p>
            <a:pPr indent="0" marL="0">
              <a:buNone/>
            </a:pPr>
            <a:r>
              <a:rPr lang="en-IE" sz="1450" b="1" dirty="0">
                <a:solidFill>
                  <a:srgbClr val="C0392B"/>
                </a:solidFill>
              </a:rPr>
              <a:t>won’t compile</a:t>
            </a:r>
            <a:endParaRPr lang="en-IE"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How do we call the static method </a:t>
            </a:r>
            <a:r>
              <a:rPr lang="en-IE" sz="2800" b="1" dirty="0">
                <a:solidFill>
                  <a:schemeClr val="accent2"/>
                </a:solidFill>
                <a:latin typeface="Consolas" pitchFamily="34" charset="0"/>
                <a:ea typeface="Consolas" pitchFamily="34" charset="-122"/>
                <a:cs typeface="Consolas" pitchFamily="34" charset="-120"/>
              </a:rPr>
              <a:t>getInfo()</a:t>
            </a:r>
            <a:r>
              <a:rPr lang="en-IE" sz="2800" b="1" dirty="0">
                <a:solidFill>
                  <a:schemeClr val="tx1"/>
                </a:solidFill>
              </a:rPr>
              <a:t> from the PayRoll interface?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employee.getInfo()</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new PayRoll().getInfo()</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PayRoll.getInfo()</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super.getInfo()</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How do we call the static method </a:t>
            </a:r>
            <a:r>
              <a:rPr lang="en-IE" sz="2000" b="1" dirty="0">
                <a:solidFill>
                  <a:schemeClr val="tx2"/>
                </a:solidFill>
                <a:latin typeface="Consolas" pitchFamily="34" charset="0"/>
                <a:ea typeface="Consolas" pitchFamily="34" charset="-122"/>
                <a:cs typeface="Consolas" pitchFamily="34" charset="-120"/>
              </a:rPr>
              <a:t>getInfo()</a:t>
            </a:r>
            <a:r>
              <a:rPr lang="en-IE" sz="2000" b="1" dirty="0">
                <a:solidFill>
                  <a:schemeClr val="tx2"/>
                </a:solidFill>
              </a:rPr>
              <a:t> from the PayRoll interface?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employee.getInfo()</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new PayRoll().getInfo()</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PayRoll.getInfo()</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super.getInfo()</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static interface method is called through the interface’s name. It isn’t inherited by the implementing class, so </a:t>
            </a:r>
            <a:r>
              <a:rPr lang="en-IE" sz="1800" dirty="0">
                <a:solidFill>
                  <a:schemeClr val="accent2"/>
                </a:solidFill>
                <a:latin typeface="Consolas" pitchFamily="34" charset="0"/>
                <a:ea typeface="Consolas" pitchFamily="34" charset="-122"/>
                <a:cs typeface="Consolas" pitchFamily="34" charset="-120"/>
              </a:rPr>
              <a:t>employee.getInfo()</a:t>
            </a:r>
            <a:r>
              <a:rPr lang="en-IE" sz="1800" dirty="0">
                <a:solidFill>
                  <a:schemeClr val="tx1"/>
                </a:solidFill>
              </a:rPr>
              <a:t> won’t compile, and we can’t create a PayRoll object at all.</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STATIC AND DEFAULT METHODS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Default methods</a:t>
            </a:r>
            <a:endParaRPr lang="en-IE" sz="3400" dirty="0"/>
          </a:p>
        </p:txBody>
      </p:sp>
      <p:sp>
        <p:nvSpPr>
          <p:cNvPr id="5" name="Text 2"/>
          <p:cNvSpPr txBox="1"/>
          <p:nvPr/>
        </p:nvSpPr>
        <p:spPr>
          <a:xfrm>
            <a:off x="548640" y="1783080"/>
            <a:ext cx="4846320" cy="256032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Java 8 introduced default methods in interfaces.</a:t>
            </a:r>
            <a:endParaRPr lang="en-IE" sz="1800" dirty="0"/>
          </a:p>
          <a:p>
            <a:pPr marL="228600" indent="-228600">
              <a:spcAft>
                <a:spcPts val="1200"/>
              </a:spcAft>
              <a:buSzPct val="100000"/>
              <a:buChar char="•"/>
            </a:pPr>
            <a:r>
              <a:rPr lang="en-IE" sz="1800" dirty="0">
                <a:solidFill>
                  <a:schemeClr val="tx1"/>
                </a:solidFill>
              </a:rPr>
              <a:t>Default methods have behaviour, and can be overridden.</a:t>
            </a:r>
            <a:endParaRPr lang="en-IE" sz="1800" dirty="0"/>
          </a:p>
          <a:p>
            <a:pPr marL="228600" indent="-228600">
              <a:buSzPct val="100000"/>
              <a:buChar char="•"/>
            </a:pPr>
            <a:r>
              <a:rPr lang="en-IE" sz="1800" dirty="0">
                <a:solidFill>
                  <a:schemeClr val="tx1"/>
                </a:solidFill>
              </a:rPr>
              <a:t>If the method isn’t overridden, the default behaviour runs.</a:t>
            </a:r>
            <a:endParaRPr lang="en-IE" sz="1800" dirty="0"/>
          </a:p>
        </p:txBody>
      </p:sp>
      <p:sp>
        <p:nvSpPr>
          <p:cNvPr id="6" name="Default method card"/>
          <p:cNvSpPr/>
          <p:nvPr/>
        </p:nvSpPr>
        <p:spPr>
          <a:xfrm>
            <a:off x="5760720" y="1783080"/>
            <a:ext cx="5882335" cy="2629408"/>
          </a:xfrm>
          <a:prstGeom prst="roundRect">
            <a:avLst>
              <a:gd name="adj" fmla="val 4173"/>
            </a:avLst>
          </a:prstGeom>
          <a:solidFill>
            <a:schemeClr val="tx1"/>
          </a:solidFill>
          <a:ln/>
          <a:effectLst>
            <a:outerShdw sx="100000" sy="100000" kx="0" ky="0" algn="bl" rotWithShape="0" blurRad="114300" dist="31750" dir="5400000">
              <a:srgbClr val="1D2433">
                <a:alpha val="12000"/>
              </a:srgbClr>
            </a:outerShdw>
          </a:effectLst>
        </p:spPr>
      </p:sp>
      <p:sp>
        <p:nvSpPr>
          <p:cNvPr id="7" name="Default method language"/>
          <p:cNvSpPr txBox="1"/>
          <p:nvPr/>
        </p:nvSpPr>
        <p:spPr>
          <a:xfrm>
            <a:off x="6035040" y="1901952"/>
            <a:ext cx="53336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Default method text"/>
          <p:cNvSpPr txBox="1"/>
          <p:nvPr/>
        </p:nvSpPr>
        <p:spPr>
          <a:xfrm>
            <a:off x="6035040" y="2276856"/>
            <a:ext cx="5333695" cy="19344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interface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PayRoll</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hourlyRate = </a:t>
            </a:r>
            <a:r>
              <a:rPr lang="en-IE" sz="1400" dirty="0">
                <a:solidFill>
                  <a:srgbClr val="F2C14E"/>
                </a:solidFill>
                <a:latin typeface="Consolas" pitchFamily="34" charset="0"/>
                <a:ea typeface="Consolas" pitchFamily="34" charset="-122"/>
                <a:cs typeface="Consolas" pitchFamily="34" charset="-120"/>
              </a:rPr>
              <a:t>25</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monthlyRate = </a:t>
            </a:r>
            <a:r>
              <a:rPr lang="en-IE" sz="1400" dirty="0">
                <a:solidFill>
                  <a:srgbClr val="F2C14E"/>
                </a:solidFill>
                <a:latin typeface="Consolas" pitchFamily="34" charset="0"/>
                <a:ea typeface="Consolas" pitchFamily="34" charset="-122"/>
                <a:cs typeface="Consolas" pitchFamily="34" charset="-120"/>
              </a:rPr>
              <a:t>2500</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default</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getYearlyRate</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monthlyRate * </a:t>
            </a:r>
            <a:r>
              <a:rPr lang="en-IE" sz="1400" dirty="0">
                <a:solidFill>
                  <a:srgbClr val="F2C14E"/>
                </a:solidFill>
                <a:latin typeface="Consolas" pitchFamily="34" charset="0"/>
                <a:ea typeface="Consolas" pitchFamily="34" charset="-122"/>
                <a:cs typeface="Consolas" pitchFamily="34" charset="-120"/>
              </a:rPr>
              <a:t>12</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Not overridden"/>
          <p:cNvSpPr/>
          <p:nvPr/>
        </p:nvSpPr>
        <p:spPr>
          <a:xfrm>
            <a:off x="548640" y="4526280"/>
            <a:ext cx="4846320" cy="658368"/>
          </a:xfrm>
          <a:prstGeom prst="roundRect">
            <a:avLst>
              <a:gd name="adj" fmla="val 16667"/>
            </a:avLst>
          </a:prstGeom>
          <a:solidFill>
            <a:schemeClr val="bg1"/>
          </a:solidFill>
          <a:ln/>
          <a:effectLst>
            <a:outerShdw sx="100000" sy="100000" kx="0" ky="0" algn="bl" rotWithShape="0" blurRad="114300" dist="31750" dir="5400000">
              <a:srgbClr val="1D2433">
                <a:alpha val="12000"/>
              </a:srgbClr>
            </a:outerShdw>
          </a:effectLst>
        </p:spPr>
      </p:sp>
      <p:sp>
        <p:nvSpPr>
          <p:cNvPr id="10" name="Accent bar"/>
          <p:cNvSpPr/>
          <p:nvPr/>
        </p:nvSpPr>
        <p:spPr>
          <a:xfrm>
            <a:off x="548640" y="4526280"/>
            <a:ext cx="73152" cy="658368"/>
          </a:xfrm>
          <a:prstGeom prst="rect">
            <a:avLst/>
          </a:prstGeom>
          <a:solidFill>
            <a:schemeClr val="accent3"/>
          </a:solidFill>
          <a:ln/>
        </p:spPr>
      </p:sp>
      <p:sp>
        <p:nvSpPr>
          <p:cNvPr id="11" name="Text 8"/>
          <p:cNvSpPr txBox="1"/>
          <p:nvPr/>
        </p:nvSpPr>
        <p:spPr>
          <a:xfrm>
            <a:off x="777240" y="4526280"/>
            <a:ext cx="1600200" cy="658368"/>
          </a:xfrm>
          <a:prstGeom prst="rect">
            <a:avLst/>
          </a:prstGeom>
          <a:noFill/>
          <a:ln/>
        </p:spPr>
        <p:txBody>
          <a:bodyPr wrap="square" lIns="0" tIns="0" rIns="0" bIns="0" rtlCol="0" anchor="ctr"/>
          <a:lstStyle/>
          <a:p>
            <a:pPr indent="0" marL="0">
              <a:buNone/>
            </a:pPr>
            <a:r>
              <a:rPr lang="en-IE" sz="1500" b="1" dirty="0">
                <a:solidFill>
                  <a:schemeClr val="tx1"/>
                </a:solidFill>
              </a:rPr>
              <a:t>Not overridden</a:t>
            </a:r>
            <a:endParaRPr lang="en-IE" sz="1500" dirty="0"/>
          </a:p>
        </p:txBody>
      </p:sp>
      <p:sp>
        <p:nvSpPr>
          <p:cNvPr id="12" name="Text 9"/>
          <p:cNvSpPr txBox="1"/>
          <p:nvPr/>
        </p:nvSpPr>
        <p:spPr>
          <a:xfrm>
            <a:off x="2377440" y="4526280"/>
            <a:ext cx="2926080" cy="658368"/>
          </a:xfrm>
          <a:prstGeom prst="rect">
            <a:avLst/>
          </a:prstGeom>
          <a:noFill/>
          <a:ln/>
        </p:spPr>
        <p:txBody>
          <a:bodyPr wrap="square" lIns="0" tIns="0" rIns="0" bIns="0" rtlCol="0" anchor="ctr"/>
          <a:lstStyle/>
          <a:p>
            <a:pPr indent="0" marL="0">
              <a:buNone/>
            </a:pPr>
            <a:r>
              <a:rPr lang="en-IE" sz="1400" dirty="0">
                <a:solidFill>
                  <a:schemeClr val="tx2"/>
                </a:solidFill>
              </a:rPr>
              <a:t>the default runs: 2500 × 12 = 30000.0</a:t>
            </a:r>
            <a:endParaRPr lang="en-IE" sz="1400" dirty="0"/>
          </a:p>
        </p:txBody>
      </p:sp>
      <p:sp>
        <p:nvSpPr>
          <p:cNvPr id="13" name="Overridden"/>
          <p:cNvSpPr/>
          <p:nvPr/>
        </p:nvSpPr>
        <p:spPr>
          <a:xfrm>
            <a:off x="548640" y="5303520"/>
            <a:ext cx="4846320" cy="658368"/>
          </a:xfrm>
          <a:prstGeom prst="roundRect">
            <a:avLst>
              <a:gd name="adj" fmla="val 16667"/>
            </a:avLst>
          </a:prstGeom>
          <a:solidFill>
            <a:schemeClr val="bg1"/>
          </a:solidFill>
          <a:ln/>
          <a:effectLst>
            <a:outerShdw sx="100000" sy="100000" kx="0" ky="0" algn="bl" rotWithShape="0" blurRad="114300" dist="31750" dir="5400000">
              <a:srgbClr val="1D2433">
                <a:alpha val="12000"/>
              </a:srgbClr>
            </a:outerShdw>
          </a:effectLst>
        </p:spPr>
      </p:sp>
      <p:sp>
        <p:nvSpPr>
          <p:cNvPr id="14" name="Accent bar"/>
          <p:cNvSpPr/>
          <p:nvPr/>
        </p:nvSpPr>
        <p:spPr>
          <a:xfrm>
            <a:off x="548640" y="5303520"/>
            <a:ext cx="73152" cy="658368"/>
          </a:xfrm>
          <a:prstGeom prst="rect">
            <a:avLst/>
          </a:prstGeom>
          <a:solidFill>
            <a:schemeClr val="accent1"/>
          </a:solidFill>
          <a:ln/>
        </p:spPr>
      </p:sp>
      <p:sp>
        <p:nvSpPr>
          <p:cNvPr id="15" name="Text 12"/>
          <p:cNvSpPr txBox="1"/>
          <p:nvPr/>
        </p:nvSpPr>
        <p:spPr>
          <a:xfrm>
            <a:off x="777240" y="5303520"/>
            <a:ext cx="1600200" cy="658368"/>
          </a:xfrm>
          <a:prstGeom prst="rect">
            <a:avLst/>
          </a:prstGeom>
          <a:noFill/>
          <a:ln/>
        </p:spPr>
        <p:txBody>
          <a:bodyPr wrap="square" lIns="0" tIns="0" rIns="0" bIns="0" rtlCol="0" anchor="ctr"/>
          <a:lstStyle/>
          <a:p>
            <a:pPr indent="0" marL="0">
              <a:buNone/>
            </a:pPr>
            <a:r>
              <a:rPr lang="en-IE" sz="1500" b="1" dirty="0">
                <a:solidFill>
                  <a:schemeClr val="tx1"/>
                </a:solidFill>
              </a:rPr>
              <a:t>Overridden</a:t>
            </a:r>
            <a:endParaRPr lang="en-IE" sz="1500" dirty="0"/>
          </a:p>
        </p:txBody>
      </p:sp>
      <p:sp>
        <p:nvSpPr>
          <p:cNvPr id="16" name="Text 13"/>
          <p:cNvSpPr txBox="1"/>
          <p:nvPr/>
        </p:nvSpPr>
        <p:spPr>
          <a:xfrm>
            <a:off x="2377440" y="5303520"/>
            <a:ext cx="2926080" cy="658368"/>
          </a:xfrm>
          <a:prstGeom prst="rect">
            <a:avLst/>
          </a:prstGeom>
          <a:noFill/>
          <a:ln/>
        </p:spPr>
        <p:txBody>
          <a:bodyPr wrap="square" lIns="0" tIns="0" rIns="0" bIns="0" rtlCol="0" anchor="ctr"/>
          <a:lstStyle/>
          <a:p>
            <a:pPr indent="0" marL="0">
              <a:buNone/>
            </a:pPr>
            <a:r>
              <a:rPr lang="en-IE" sz="1400" dirty="0">
                <a:solidFill>
                  <a:schemeClr val="tx2"/>
                </a:solidFill>
              </a:rPr>
              <a:t>the class’s own version runs instead</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32</a:t>
            </a:fld>
            <a:endParaRPr lang="en-I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Default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073656"/>
            <a:ext cx="6035040" cy="3807968"/>
          </a:xfrm>
          <a:prstGeom prst="roundRect">
            <a:avLst>
              <a:gd name="adj" fmla="val 2882"/>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19252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567432"/>
            <a:ext cx="5486400" cy="311302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interface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monthlyRate = </a:t>
            </a:r>
            <a:r>
              <a:rPr lang="en-IE" sz="1300" dirty="0">
                <a:solidFill>
                  <a:srgbClr val="F2C14E"/>
                </a:solidFill>
                <a:latin typeface="Consolas" pitchFamily="34" charset="0"/>
                <a:ea typeface="Consolas" pitchFamily="34" charset="-122"/>
                <a:cs typeface="Consolas" pitchFamily="34" charset="-120"/>
              </a:rPr>
              <a:t>2500</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default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monthlyRate * </a:t>
            </a:r>
            <a:r>
              <a:rPr lang="en-IE" sz="1300" dirty="0">
                <a:solidFill>
                  <a:srgbClr val="F2C14E"/>
                </a:solidFill>
                <a:latin typeface="Consolas" pitchFamily="34" charset="0"/>
                <a:ea typeface="Consolas" pitchFamily="34" charset="-122"/>
                <a:cs typeface="Consolas" pitchFamily="34" charset="-120"/>
              </a:rPr>
              <a:t>12</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Contractor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implements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 }</a:t>
            </a:r>
            <a:endParaRPr lang="en-IE" sz="1300" dirty="0"/>
          </a:p>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Manager</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implements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 {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2C14E"/>
                </a:solidFill>
                <a:latin typeface="Consolas" pitchFamily="34" charset="0"/>
                <a:ea typeface="Consolas" pitchFamily="34" charset="-122"/>
                <a:cs typeface="Consolas" pitchFamily="34" charset="-120"/>
              </a:rPr>
              <a:t>50000</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i="1" dirty="0">
                <a:solidFill>
                  <a:srgbClr val="A3AEC2"/>
                </a:solidFill>
                <a:latin typeface="Consolas" pitchFamily="34" charset="0"/>
                <a:ea typeface="Consolas" pitchFamily="34" charset="-122"/>
                <a:cs typeface="Consolas" pitchFamily="34" charset="-120"/>
              </a:rPr>
              <a:t>// in main:</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Contractor</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Manager</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30000.0</a:t>
            </a:r>
            <a:r>
              <a:rPr lang="en-IE" sz="2000" dirty="0">
                <a:solidFill>
                  <a:schemeClr val="tx1"/>
                </a:solidFill>
              </a:rPr>
              <a:t> then </a:t>
            </a:r>
            <a:r>
              <a:rPr lang="en-IE" sz="2000" dirty="0">
                <a:solidFill>
                  <a:schemeClr val="accent2"/>
                </a:solidFill>
                <a:latin typeface="Consolas" pitchFamily="34" charset="0"/>
                <a:ea typeface="Consolas" pitchFamily="34" charset="-122"/>
                <a:cs typeface="Consolas" pitchFamily="34" charset="-120"/>
              </a:rPr>
              <a:t>30000.0</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30000.0</a:t>
            </a:r>
            <a:r>
              <a:rPr lang="en-IE" sz="2000" dirty="0">
                <a:solidFill>
                  <a:schemeClr val="tx1"/>
                </a:solidFill>
              </a:rPr>
              <a:t> then </a:t>
            </a:r>
            <a:r>
              <a:rPr lang="en-IE" sz="2000" dirty="0">
                <a:solidFill>
                  <a:schemeClr val="accent2"/>
                </a:solidFill>
                <a:latin typeface="Consolas" pitchFamily="34" charset="0"/>
                <a:ea typeface="Consolas" pitchFamily="34" charset="-122"/>
                <a:cs typeface="Consolas" pitchFamily="34" charset="-120"/>
              </a:rPr>
              <a:t>50000.0</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50000.0</a:t>
            </a:r>
            <a:r>
              <a:rPr lang="en-IE" sz="2000" dirty="0">
                <a:solidFill>
                  <a:schemeClr val="tx1"/>
                </a:solidFill>
              </a:rPr>
              <a:t> then </a:t>
            </a:r>
            <a:r>
              <a:rPr lang="en-IE" sz="2000" dirty="0">
                <a:solidFill>
                  <a:schemeClr val="accent2"/>
                </a:solidFill>
                <a:latin typeface="Consolas" pitchFamily="34" charset="0"/>
                <a:ea typeface="Consolas" pitchFamily="34" charset="-122"/>
                <a:cs typeface="Consolas" pitchFamily="34" charset="-120"/>
              </a:rPr>
              <a:t>50000.0</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Compile error in Contractor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Default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942340"/>
          </a:xfrm>
          <a:prstGeom prst="roundRect">
            <a:avLst>
              <a:gd name="adj" fmla="val 11644"/>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40004"/>
          </a:xfrm>
          <a:prstGeom prst="rect">
            <a:avLst/>
          </a:prstGeom>
          <a:noFill/>
          <a:ln/>
        </p:spPr>
        <p:txBody>
          <a:bodyPr wrap="square" lIns="0" tIns="0" rIns="0" bIns="0" rtlCol="0" anchor="t"/>
          <a:lstStyle/>
          <a:p>
            <a:pPr indent="0" marL="0">
              <a:lnSpc>
                <a:spcPts val="1910"/>
              </a:lnSpc>
              <a:buNone/>
            </a:pPr>
            <a:r>
              <a:rPr lang="en-IE" sz="1450" dirty="0">
                <a:solidFill>
                  <a:srgbClr val="FF9F5A"/>
                </a:solidFill>
                <a:latin typeface="Consolas" pitchFamily="34" charset="0"/>
                <a:ea typeface="Consolas" pitchFamily="34" charset="-122"/>
                <a:cs typeface="Consolas" pitchFamily="34" charset="-120"/>
              </a:rPr>
              <a:t>new</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C9B0FF"/>
                </a:solidFill>
                <a:latin typeface="Consolas" pitchFamily="34" charset="0"/>
                <a:ea typeface="Consolas" pitchFamily="34" charset="-122"/>
                <a:cs typeface="Consolas" pitchFamily="34" charset="-120"/>
              </a:rPr>
              <a:t>Contractor</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getYearlyRate</a:t>
            </a:r>
            <a:r>
              <a:rPr lang="en-IE" sz="1450" dirty="0">
                <a:solidFill>
                  <a:srgbClr val="E6EBF2"/>
                </a:solidFill>
                <a:latin typeface="Consolas" pitchFamily="34" charset="0"/>
                <a:ea typeface="Consolas" pitchFamily="34" charset="-122"/>
                <a:cs typeface="Consolas" pitchFamily="34" charset="-120"/>
              </a:rPr>
              <a:t>()  </a:t>
            </a:r>
            <a:r>
              <a:rPr lang="en-IE" sz="1450" i="1" dirty="0">
                <a:solidFill>
                  <a:srgbClr val="A3AEC2"/>
                </a:solidFill>
                <a:latin typeface="Consolas" pitchFamily="34" charset="0"/>
                <a:ea typeface="Consolas" pitchFamily="34" charset="-122"/>
                <a:cs typeface="Consolas" pitchFamily="34" charset="-120"/>
              </a:rPr>
              <a:t>// 30000.0</a:t>
            </a:r>
            <a:endParaRPr lang="en-IE" sz="1450" dirty="0"/>
          </a:p>
          <a:p>
            <a:pPr indent="0" marL="0">
              <a:lnSpc>
                <a:spcPts val="1910"/>
              </a:lnSpc>
              <a:buNone/>
            </a:pPr>
            <a:r>
              <a:rPr lang="en-IE" sz="1450" dirty="0">
                <a:solidFill>
                  <a:srgbClr val="FF9F5A"/>
                </a:solidFill>
                <a:latin typeface="Consolas" pitchFamily="34" charset="0"/>
                <a:ea typeface="Consolas" pitchFamily="34" charset="-122"/>
                <a:cs typeface="Consolas" pitchFamily="34" charset="-120"/>
              </a:rPr>
              <a:t>new</a:t>
            </a:r>
            <a:r>
              <a:rPr lang="en-IE" sz="1450" dirty="0">
                <a:solidFill>
                  <a:srgbClr val="E6EBF2"/>
                </a:solidFill>
                <a:latin typeface="Consolas" pitchFamily="34" charset="0"/>
                <a:ea typeface="Consolas" pitchFamily="34" charset="-122"/>
                <a:cs typeface="Consolas" pitchFamily="34" charset="-120"/>
              </a:rPr>
              <a:t> </a:t>
            </a:r>
            <a:r>
              <a:rPr lang="en-IE" sz="1450" dirty="0">
                <a:solidFill>
                  <a:srgbClr val="C9B0FF"/>
                </a:solidFill>
                <a:latin typeface="Consolas" pitchFamily="34" charset="0"/>
                <a:ea typeface="Consolas" pitchFamily="34" charset="-122"/>
                <a:cs typeface="Consolas" pitchFamily="34" charset="-120"/>
              </a:rPr>
              <a:t>Manager</a:t>
            </a:r>
            <a:r>
              <a:rPr lang="en-IE" sz="1450" dirty="0">
                <a:solidFill>
                  <a:srgbClr val="E6EBF2"/>
                </a:solidFill>
                <a:latin typeface="Consolas" pitchFamily="34" charset="0"/>
                <a:ea typeface="Consolas" pitchFamily="34" charset="-122"/>
                <a:cs typeface="Consolas" pitchFamily="34" charset="-120"/>
              </a:rPr>
              <a:t>().</a:t>
            </a:r>
            <a:r>
              <a:rPr lang="en-IE" sz="1450" dirty="0">
                <a:solidFill>
                  <a:srgbClr val="C9B0FF"/>
                </a:solidFill>
                <a:latin typeface="Consolas" pitchFamily="34" charset="0"/>
                <a:ea typeface="Consolas" pitchFamily="34" charset="-122"/>
                <a:cs typeface="Consolas" pitchFamily="34" charset="-120"/>
              </a:rPr>
              <a:t>getYearlyRate</a:t>
            </a:r>
            <a:r>
              <a:rPr lang="en-IE" sz="1450" dirty="0">
                <a:solidFill>
                  <a:srgbClr val="E6EBF2"/>
                </a:solidFill>
                <a:latin typeface="Consolas" pitchFamily="34" charset="0"/>
                <a:ea typeface="Consolas" pitchFamily="34" charset="-122"/>
                <a:cs typeface="Consolas" pitchFamily="34" charset="-120"/>
              </a:rPr>
              <a:t>()     </a:t>
            </a:r>
            <a:r>
              <a:rPr lang="en-IE" sz="1450" i="1" dirty="0">
                <a:solidFill>
                  <a:srgbClr val="A3AEC2"/>
                </a:solidFill>
                <a:latin typeface="Consolas" pitchFamily="34" charset="0"/>
                <a:ea typeface="Consolas" pitchFamily="34" charset="-122"/>
                <a:cs typeface="Consolas" pitchFamily="34" charset="-120"/>
              </a:rPr>
              <a:t>// 50000.0</a:t>
            </a:r>
            <a:endParaRPr lang="en-IE" sz="1450" dirty="0"/>
          </a:p>
        </p:txBody>
      </p:sp>
      <p:sp>
        <p:nvSpPr>
          <p:cNvPr id="7" name="Option A"/>
          <p:cNvSpPr/>
          <p:nvPr/>
        </p:nvSpPr>
        <p:spPr>
          <a:xfrm>
            <a:off x="548640" y="3045460"/>
            <a:ext cx="5623560" cy="649097"/>
          </a:xfrm>
          <a:prstGeom prst="roundRect">
            <a:avLst>
              <a:gd name="adj" fmla="val 16905"/>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59697"/>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045460"/>
            <a:ext cx="4572000" cy="64909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30000.0</a:t>
            </a:r>
            <a:r>
              <a:rPr lang="en-IE" sz="1700" dirty="0">
                <a:solidFill>
                  <a:schemeClr val="tx2"/>
                </a:solidFill>
              </a:rPr>
              <a:t> then </a:t>
            </a:r>
            <a:r>
              <a:rPr lang="en-IE" sz="1700" dirty="0">
                <a:solidFill>
                  <a:schemeClr val="tx2"/>
                </a:solidFill>
                <a:latin typeface="Consolas" pitchFamily="34" charset="0"/>
                <a:ea typeface="Consolas" pitchFamily="34" charset="-122"/>
                <a:cs typeface="Consolas" pitchFamily="34" charset="-120"/>
              </a:rPr>
              <a:t>30000.0</a:t>
            </a:r>
            <a:endParaRPr lang="en-IE" sz="1700" dirty="0"/>
          </a:p>
        </p:txBody>
      </p:sp>
      <p:sp>
        <p:nvSpPr>
          <p:cNvPr id="10" name="Option B (correct)"/>
          <p:cNvSpPr/>
          <p:nvPr/>
        </p:nvSpPr>
        <p:spPr>
          <a:xfrm>
            <a:off x="548640" y="3840861"/>
            <a:ext cx="5623560" cy="649097"/>
          </a:xfrm>
          <a:prstGeom prst="roundRect">
            <a:avLst>
              <a:gd name="adj" fmla="val 16905"/>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395509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3840861"/>
            <a:ext cx="4142232" cy="649097"/>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30000.0</a:t>
            </a:r>
            <a:r>
              <a:rPr lang="en-IE" sz="1700" b="1" dirty="0">
                <a:solidFill>
                  <a:schemeClr val="bg1"/>
                </a:solidFill>
              </a:rPr>
              <a:t> then </a:t>
            </a:r>
            <a:r>
              <a:rPr lang="en-IE" sz="1700" b="1" dirty="0">
                <a:solidFill>
                  <a:schemeClr val="bg1"/>
                </a:solidFill>
                <a:latin typeface="Consolas" pitchFamily="34" charset="0"/>
                <a:ea typeface="Consolas" pitchFamily="34" charset="-122"/>
                <a:cs typeface="Consolas" pitchFamily="34" charset="-120"/>
              </a:rPr>
              <a:t>50000.0</a:t>
            </a:r>
            <a:endParaRPr lang="en-IE" sz="1700" dirty="0"/>
          </a:p>
        </p:txBody>
      </p:sp>
      <p:pic>
        <p:nvPicPr>
          <p:cNvPr id="13" name="Correct mark" descr="Correct mark">    </p:cNvPr>
          <p:cNvPicPr>
            <a:picLocks noChangeAspect="1"/>
          </p:cNvPicPr>
          <p:nvPr/>
        </p:nvPicPr>
        <p:blipFill>
          <a:blip r:embed="rId1"/>
          <a:stretch>
            <a:fillRect/>
          </a:stretch>
        </p:blipFill>
        <p:spPr>
          <a:xfrm>
            <a:off x="5623560" y="3982530"/>
            <a:ext cx="365760" cy="365760"/>
          </a:xfrm>
          <a:prstGeom prst="rect">
            <a:avLst/>
          </a:prstGeom>
        </p:spPr>
      </p:pic>
      <p:sp>
        <p:nvSpPr>
          <p:cNvPr id="14" name="Option C"/>
          <p:cNvSpPr/>
          <p:nvPr/>
        </p:nvSpPr>
        <p:spPr>
          <a:xfrm>
            <a:off x="548640" y="4636262"/>
            <a:ext cx="5623560" cy="649097"/>
          </a:xfrm>
          <a:prstGeom prst="roundRect">
            <a:avLst>
              <a:gd name="adj" fmla="val 16905"/>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50499"/>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636262"/>
            <a:ext cx="4572000" cy="64909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50000.0</a:t>
            </a:r>
            <a:r>
              <a:rPr lang="en-IE" sz="1700" dirty="0">
                <a:solidFill>
                  <a:schemeClr val="tx2"/>
                </a:solidFill>
              </a:rPr>
              <a:t> then </a:t>
            </a:r>
            <a:r>
              <a:rPr lang="en-IE" sz="1700" dirty="0">
                <a:solidFill>
                  <a:schemeClr val="tx2"/>
                </a:solidFill>
                <a:latin typeface="Consolas" pitchFamily="34" charset="0"/>
                <a:ea typeface="Consolas" pitchFamily="34" charset="-122"/>
                <a:cs typeface="Consolas" pitchFamily="34" charset="-120"/>
              </a:rPr>
              <a:t>50000.0</a:t>
            </a:r>
            <a:endParaRPr lang="en-IE" sz="1700" dirty="0"/>
          </a:p>
        </p:txBody>
      </p:sp>
      <p:sp>
        <p:nvSpPr>
          <p:cNvPr id="17" name="Option D"/>
          <p:cNvSpPr/>
          <p:nvPr/>
        </p:nvSpPr>
        <p:spPr>
          <a:xfrm>
            <a:off x="548640" y="5431663"/>
            <a:ext cx="5623560" cy="649097"/>
          </a:xfrm>
          <a:prstGeom prst="roundRect">
            <a:avLst>
              <a:gd name="adj" fmla="val 16905"/>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590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31663"/>
            <a:ext cx="4572000" cy="649097"/>
          </a:xfrm>
          <a:prstGeom prst="rect">
            <a:avLst/>
          </a:prstGeom>
          <a:noFill/>
          <a:ln/>
        </p:spPr>
        <p:txBody>
          <a:bodyPr wrap="square" lIns="0" tIns="0" rIns="0" bIns="0" rtlCol="0" anchor="ctr"/>
          <a:lstStyle/>
          <a:p>
            <a:pPr indent="0" marL="0">
              <a:buNone/>
            </a:pPr>
            <a:r>
              <a:rPr lang="en-IE" sz="1700" dirty="0">
                <a:solidFill>
                  <a:schemeClr val="tx2"/>
                </a:solidFill>
              </a:rPr>
              <a:t>Compile error in Contractor</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Contractor doesn’t override getYearlyRate(), so it runs the default version: 2500 × 12 = 30000.0. Manager overrides it, so its own version runs. Contractor compiles fine, because a default method already has a body.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STATIC AND DEFAULT METHODS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Static vs default</a:t>
            </a:r>
            <a:endParaRPr lang="en-IE" sz="3400" dirty="0"/>
          </a:p>
        </p:txBody>
      </p:sp>
      <p:sp>
        <p:nvSpPr>
          <p:cNvPr id="5" name="Static and default in main card"/>
          <p:cNvSpPr/>
          <p:nvPr/>
        </p:nvSpPr>
        <p:spPr>
          <a:xfrm>
            <a:off x="548640" y="1737360"/>
            <a:ext cx="5852160" cy="2060448"/>
          </a:xfrm>
          <a:prstGeom prst="roundRect">
            <a:avLst>
              <a:gd name="adj" fmla="val 5325"/>
            </a:avLst>
          </a:prstGeom>
          <a:solidFill>
            <a:schemeClr val="tx1"/>
          </a:solidFill>
          <a:ln/>
          <a:effectLst>
            <a:outerShdw sx="100000" sy="100000" kx="0" ky="0" algn="bl" rotWithShape="0" blurRad="114300" dist="31750" dir="5400000">
              <a:srgbClr val="1D2433">
                <a:alpha val="12000"/>
              </a:srgbClr>
            </a:outerShdw>
          </a:effectLst>
        </p:spPr>
      </p:sp>
      <p:sp>
        <p:nvSpPr>
          <p:cNvPr id="6" name="Static and default in main language"/>
          <p:cNvSpPr txBox="1"/>
          <p:nvPr/>
        </p:nvSpPr>
        <p:spPr>
          <a:xfrm>
            <a:off x="822960" y="1856232"/>
            <a:ext cx="53035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Static and default in main text"/>
          <p:cNvSpPr txBox="1"/>
          <p:nvPr/>
        </p:nvSpPr>
        <p:spPr>
          <a:xfrm>
            <a:off x="822960" y="2231136"/>
            <a:ext cx="5303520" cy="136550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main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args)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getInfo</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Contractor</a:t>
            </a:r>
            <a:r>
              <a:rPr lang="en-IE" sz="1300" dirty="0">
                <a:solidFill>
                  <a:srgbClr val="E6EBF2"/>
                </a:solidFill>
                <a:latin typeface="Consolas" pitchFamily="34" charset="0"/>
                <a:ea typeface="Consolas" pitchFamily="34" charset="-122"/>
                <a:cs typeface="Consolas" pitchFamily="34" charset="-120"/>
              </a:rPr>
              <a:t> contractor = </a:t>
            </a:r>
            <a:r>
              <a:rPr lang="en-IE" sz="1300" dirty="0">
                <a:solidFill>
                  <a:srgbClr val="FF9F5A"/>
                </a:solidFill>
                <a:latin typeface="Consolas" pitchFamily="34" charset="0"/>
                <a:ea typeface="Consolas" pitchFamily="34" charset="-122"/>
                <a:cs typeface="Consolas" pitchFamily="34" charset="-120"/>
              </a:rPr>
              <a:t>new</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Contractor</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(contractor.</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8" name="Output card"/>
          <p:cNvSpPr/>
          <p:nvPr/>
        </p:nvSpPr>
        <p:spPr>
          <a:xfrm>
            <a:off x="548640" y="4026408"/>
            <a:ext cx="5852160" cy="1143000"/>
          </a:xfrm>
          <a:prstGeom prst="roundRect">
            <a:avLst>
              <a:gd name="adj" fmla="val 9600"/>
            </a:avLst>
          </a:prstGeom>
          <a:solidFill>
            <a:schemeClr val="tx1"/>
          </a:solidFill>
          <a:ln/>
          <a:effectLst>
            <a:outerShdw sx="100000" sy="100000" kx="0" ky="0" algn="bl" rotWithShape="0" blurRad="114300" dist="31750" dir="5400000">
              <a:srgbClr val="1D2433">
                <a:alpha val="12000"/>
              </a:srgbClr>
            </a:outerShdw>
          </a:effectLst>
        </p:spPr>
      </p:sp>
      <p:sp>
        <p:nvSpPr>
          <p:cNvPr id="9" name="Text 6"/>
          <p:cNvSpPr txBox="1"/>
          <p:nvPr/>
        </p:nvSpPr>
        <p:spPr>
          <a:xfrm>
            <a:off x="822960" y="4145280"/>
            <a:ext cx="53035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0" name="Output text"/>
          <p:cNvSpPr txBox="1"/>
          <p:nvPr/>
        </p:nvSpPr>
        <p:spPr>
          <a:xfrm>
            <a:off x="822960" y="4483608"/>
            <a:ext cx="5303520" cy="502920"/>
          </a:xfrm>
          <a:prstGeom prst="rect">
            <a:avLst/>
          </a:prstGeom>
          <a:noFill/>
          <a:ln/>
        </p:spPr>
        <p:txBody>
          <a:bodyPr wrap="square" lIns="0" tIns="0" rIns="0" bIns="0" rtlCol="0" anchor="t"/>
          <a:lstStyle/>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Monthly Rate:2500 Hourly rate: 25</a:t>
            </a:r>
            <a:endParaRPr lang="en-IE" sz="1400" dirty="0"/>
          </a:p>
          <a:p>
            <a:pPr indent="0" marL="0">
              <a:lnSpc>
                <a:spcPts val="1890"/>
              </a:lnSpc>
              <a:buNone/>
            </a:pPr>
            <a:r>
              <a:rPr lang="en-IE" sz="1400" dirty="0">
                <a:solidFill>
                  <a:srgbClr val="A9DB8C"/>
                </a:solidFill>
                <a:latin typeface="Consolas" pitchFamily="34" charset="0"/>
                <a:ea typeface="Consolas" pitchFamily="34" charset="-122"/>
                <a:cs typeface="Consolas" pitchFamily="34" charset="-120"/>
              </a:rPr>
              <a:t>30000.0</a:t>
            </a:r>
            <a:endParaRPr lang="en-IE" sz="1400" dirty="0"/>
          </a:p>
        </p:txBody>
      </p:sp>
      <p:sp>
        <p:nvSpPr>
          <p:cNvPr id="11" name="Text 8"/>
          <p:cNvSpPr txBox="1"/>
          <p:nvPr/>
        </p:nvSpPr>
        <p:spPr>
          <a:xfrm>
            <a:off x="548640" y="5279136"/>
            <a:ext cx="5852160" cy="292608"/>
          </a:xfrm>
          <a:prstGeom prst="rect">
            <a:avLst/>
          </a:prstGeom>
          <a:noFill/>
          <a:ln/>
        </p:spPr>
        <p:txBody>
          <a:bodyPr wrap="square" lIns="0" tIns="0" rIns="0" bIns="0" rtlCol="0" anchor="t"/>
          <a:lstStyle/>
          <a:p>
            <a:pPr indent="0" marL="0">
              <a:buNone/>
            </a:pPr>
            <a:r>
              <a:rPr lang="en-IE" sz="1300" i="1" dirty="0">
                <a:solidFill>
                  <a:schemeClr val="tx2"/>
                </a:solidFill>
              </a:rPr>
              <a:t>Contractor, from the last quick check, doesn’t override getYearlyRate().</a:t>
            </a:r>
            <a:endParaRPr lang="en-IE" sz="1300" dirty="0"/>
          </a:p>
        </p:txBody>
      </p:sp>
      <p:graphicFrame>
        <p:nvGraphicFramePr>
          <p:cNvPr id="36" name="Static vs default"/>
          <p:cNvGraphicFramePr>
            <a:graphicFrameLocks noGrp="1"/>
          </p:cNvGraphicFramePr>
          <p:nvPr>
            <p:extLst>
              <p:ext uri="{D42A27DB-BD31-4B8C-83A1-F6EECF244321}">
                <p14:modId xmlns:p14="http://schemas.microsoft.com/office/powerpoint/2010/main" val="1579011935"/>
              </p:ext>
            </p:extLst>
          </p:nvPr>
        </p:nvGraphicFramePr>
        <p:xfrm>
          <a:off x="6720840" y="1737360"/>
          <a:ext cx="4922215" cy="914400"/>
        </p:xfrm>
        <a:graphic>
          <a:graphicData uri="http://schemas.openxmlformats.org/drawingml/2006/table">
            <a:tbl>
              <a:tblPr/>
              <a:tblGrid>
                <a:gridCol w="1600200"/>
                <a:gridCol w="1645920"/>
                <a:gridCol w="1676095"/>
              </a:tblGrid>
              <a:tr h="566928">
                <a:tc>
                  <a:txBody>
                    <a:bodyPr/>
                    <a:lstStyle/>
                    <a:p>
                      <a:pPr indent="0" marL="0">
                        <a:buNone/>
                      </a:pPr>
                      <a:endParaRPr lang="en-IE" sz="1500" dirty="0"/>
                    </a:p>
                  </a:txBody>
                  <a:tcPr marL="91440" marR="91440" marT="45720" marB="45720">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ctr" indent="0" marL="0">
                        <a:buNone/>
                      </a:pPr>
                      <a:r>
                        <a:rPr lang="en-IE" sz="1500" b="1" dirty="0">
                          <a:solidFill>
                            <a:srgbClr val="FFFFFF"/>
                          </a:solidFill>
                        </a:rPr>
                        <a:t>static</a:t>
                      </a:r>
                      <a:endParaRPr lang="en-IE" sz="1500" dirty="0"/>
                    </a:p>
                  </a:txBody>
                  <a:tcPr marL="91440" marR="91440" marT="45720" marB="4572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algn="ctr" indent="0" marL="0">
                        <a:buNone/>
                      </a:pPr>
                      <a:r>
                        <a:rPr lang="en-IE" sz="1500" b="1" dirty="0">
                          <a:solidFill>
                            <a:srgbClr val="FFFFFF"/>
                          </a:solidFill>
                        </a:rPr>
                        <a:t>default</a:t>
                      </a:r>
                      <a:endParaRPr lang="en-IE" sz="1500" dirty="0"/>
                    </a:p>
                  </a:txBody>
                  <a:tcPr marL="91440" marR="91440" marT="45720" marB="4572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566928">
                <a:tc>
                  <a:txBody>
                    <a:bodyPr/>
                    <a:lstStyle/>
                    <a:p>
                      <a:pPr algn="l" indent="0" marL="0">
                        <a:buNone/>
                      </a:pPr>
                      <a:r>
                        <a:rPr lang="en-IE" sz="1500" b="1" dirty="0">
                          <a:solidFill>
                            <a:srgbClr val="1D2433"/>
                          </a:solidFill>
                        </a:rPr>
                        <a:t>Has a body</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Yes</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Yes</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66928">
                <a:tc>
                  <a:txBody>
                    <a:bodyPr/>
                    <a:lstStyle/>
                    <a:p>
                      <a:pPr algn="l" indent="0" marL="0">
                        <a:buNone/>
                      </a:pPr>
                      <a:r>
                        <a:rPr lang="en-IE" sz="1500" b="1" dirty="0">
                          <a:solidFill>
                            <a:srgbClr val="1D2433"/>
                          </a:solidFill>
                        </a:rPr>
                        <a:t>Called on</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the interface</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an object</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66928">
                <a:tc>
                  <a:txBody>
                    <a:bodyPr/>
                    <a:lstStyle/>
                    <a:p>
                      <a:pPr algn="l" indent="0" marL="0">
                        <a:buNone/>
                      </a:pPr>
                      <a:r>
                        <a:rPr lang="en-IE" sz="1500" b="1" dirty="0">
                          <a:solidFill>
                            <a:srgbClr val="1D2433"/>
                          </a:solidFill>
                        </a:rPr>
                        <a:t>Inherited</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No</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Yes</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66928">
                <a:tc>
                  <a:txBody>
                    <a:bodyPr/>
                    <a:lstStyle/>
                    <a:p>
                      <a:pPr algn="l" indent="0" marL="0">
                        <a:buNone/>
                      </a:pPr>
                      <a:r>
                        <a:rPr lang="en-IE" sz="1500" b="1" dirty="0">
                          <a:solidFill>
                            <a:srgbClr val="1D2433"/>
                          </a:solidFill>
                        </a:rPr>
                        <a:t>Overridden</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algn="l" indent="0" marL="0">
                        <a:buNone/>
                      </a:pPr>
                      <a:r>
                        <a:rPr lang="en-IE" sz="1500" dirty="0">
                          <a:solidFill>
                            <a:srgbClr val="1D2433"/>
                          </a:solidFill>
                        </a:rPr>
                        <a:t>Never</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algn="l" indent="0" marL="0">
                        <a:buNone/>
                      </a:pPr>
                      <a:r>
                        <a:rPr lang="en-IE" sz="1500" dirty="0">
                          <a:solidFill>
                            <a:srgbClr val="1D2433"/>
                          </a:solidFill>
                        </a:rPr>
                        <a:t>If we want</a:t>
                      </a:r>
                      <a:endParaRPr lang="en-IE" sz="15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vs default</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Manager implements PayRoll, which has a static </a:t>
            </a:r>
            <a:r>
              <a:rPr lang="en-IE" sz="2800" b="1" dirty="0">
                <a:solidFill>
                  <a:schemeClr val="accent2"/>
                </a:solidFill>
                <a:latin typeface="Consolas" pitchFamily="34" charset="0"/>
                <a:ea typeface="Consolas" pitchFamily="34" charset="-122"/>
                <a:cs typeface="Consolas" pitchFamily="34" charset="-120"/>
              </a:rPr>
              <a:t>getInfo()</a:t>
            </a:r>
            <a:r>
              <a:rPr lang="en-IE" sz="2800" b="1" dirty="0">
                <a:solidFill>
                  <a:schemeClr val="tx1"/>
                </a:solidFill>
              </a:rPr>
              <a:t> and a default </a:t>
            </a:r>
            <a:r>
              <a:rPr lang="en-IE" sz="2800" b="1" dirty="0">
                <a:solidFill>
                  <a:schemeClr val="accent2"/>
                </a:solidFill>
                <a:latin typeface="Consolas" pitchFamily="34" charset="0"/>
                <a:ea typeface="Consolas" pitchFamily="34" charset="-122"/>
                <a:cs typeface="Consolas" pitchFamily="34" charset="-120"/>
              </a:rPr>
              <a:t>getYearlyRate()</a:t>
            </a:r>
            <a:r>
              <a:rPr lang="en-IE" sz="2800" b="1" dirty="0">
                <a:solidFill>
                  <a:schemeClr val="tx1"/>
                </a:solidFill>
              </a:rPr>
              <a:t>. Which can Manager override?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getInfo()</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Both of them</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Neither of them</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getYearlyRate()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vs default</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Manager implements PayRoll, which has a static </a:t>
            </a:r>
            <a:r>
              <a:rPr lang="en-IE" sz="2000" b="1" dirty="0">
                <a:solidFill>
                  <a:schemeClr val="tx2"/>
                </a:solidFill>
                <a:latin typeface="Consolas" pitchFamily="34" charset="0"/>
                <a:ea typeface="Consolas" pitchFamily="34" charset="-122"/>
                <a:cs typeface="Consolas" pitchFamily="34" charset="-120"/>
              </a:rPr>
              <a:t>getInfo()</a:t>
            </a:r>
            <a:r>
              <a:rPr lang="en-IE" sz="2000" b="1" dirty="0">
                <a:solidFill>
                  <a:schemeClr val="tx2"/>
                </a:solidFill>
              </a:rPr>
              <a:t> and a default </a:t>
            </a:r>
            <a:r>
              <a:rPr lang="en-IE" sz="2000" b="1" dirty="0">
                <a:solidFill>
                  <a:schemeClr val="tx2"/>
                </a:solidFill>
                <a:latin typeface="Consolas" pitchFamily="34" charset="0"/>
                <a:ea typeface="Consolas" pitchFamily="34" charset="-122"/>
                <a:cs typeface="Consolas" pitchFamily="34" charset="-120"/>
              </a:rPr>
              <a:t>getYearlyRate()</a:t>
            </a:r>
            <a:r>
              <a:rPr lang="en-IE" sz="2000" b="1" dirty="0">
                <a:solidFill>
                  <a:schemeClr val="tx2"/>
                </a:solidFill>
              </a:rPr>
              <a:t>. Which can Manager override?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getInfo()</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Both of them</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Neither of them</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Only getYearlyRate()</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Both have a body. A default method is inherited by the class, which can override it. A static method belongs to the interface, so it can’t be overridden and is called with the interface’s name.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04</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Multiple interfaces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Several at once, and interfaces that extend interfaces</a:t>
            </a:r>
            <a:endParaRPr lang="en-IE" sz="2000" dirty="0"/>
          </a:p>
        </p:txBody>
      </p:sp>
      <p:sp>
        <p:nvSpPr>
          <p:cNvPr id="5" name="Topic chip"/>
          <p:cNvSpPr/>
          <p:nvPr/>
        </p:nvSpPr>
        <p:spPr>
          <a:xfrm>
            <a:off x="822960" y="4846320"/>
            <a:ext cx="178917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Many interfaces</a:t>
            </a:r>
            <a:endParaRPr lang="en-IE" sz="1400" dirty="0"/>
          </a:p>
        </p:txBody>
      </p:sp>
      <p:sp>
        <p:nvSpPr>
          <p:cNvPr id="6" name="Topic chip"/>
          <p:cNvSpPr/>
          <p:nvPr/>
        </p:nvSpPr>
        <p:spPr>
          <a:xfrm>
            <a:off x="275844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Same names</a:t>
            </a:r>
            <a:endParaRPr lang="en-IE" sz="1400" dirty="0"/>
          </a:p>
        </p:txBody>
      </p:sp>
      <p:sp>
        <p:nvSpPr>
          <p:cNvPr id="7" name="Topic chip"/>
          <p:cNvSpPr/>
          <p:nvPr/>
        </p:nvSpPr>
        <p:spPr>
          <a:xfrm>
            <a:off x="4231640"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extends</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MULTIPLE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Implementing several interfaces</a:t>
            </a:r>
            <a:endParaRPr lang="en-IE" sz="3400" dirty="0"/>
          </a:p>
        </p:txBody>
      </p:sp>
      <p:sp>
        <p:nvSpPr>
          <p:cNvPr id="5" name="Text 2"/>
          <p:cNvSpPr txBox="1"/>
          <p:nvPr/>
        </p:nvSpPr>
        <p:spPr>
          <a:xfrm>
            <a:off x="548640" y="1783080"/>
            <a:ext cx="5120640" cy="429768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We can extend a class and implement an interface at the same time.</a:t>
            </a:r>
            <a:endParaRPr lang="en-IE" sz="1700" dirty="0"/>
          </a:p>
          <a:p>
            <a:pPr marL="228600" indent="-228600">
              <a:spcAft>
                <a:spcPts val="1000"/>
              </a:spcAft>
              <a:buSzPct val="100000"/>
              <a:buChar char="•"/>
            </a:pPr>
            <a:r>
              <a:rPr lang="en-IE" sz="1700" dirty="0">
                <a:solidFill>
                  <a:schemeClr val="tx1"/>
                </a:solidFill>
              </a:rPr>
              <a:t>We can also implement several interfaces at once.</a:t>
            </a:r>
            <a:endParaRPr lang="en-IE" sz="1700" dirty="0"/>
          </a:p>
          <a:p>
            <a:pPr marL="228600" indent="-228600">
              <a:spcAft>
                <a:spcPts val="1000"/>
              </a:spcAft>
              <a:buSzPct val="100000"/>
              <a:buChar char="•"/>
            </a:pPr>
            <a:r>
              <a:rPr lang="en-IE" sz="1700" dirty="0">
                <a:solidFill>
                  <a:schemeClr val="tx1"/>
                </a:solidFill>
              </a:rPr>
              <a:t>Our class must write the abstract methods of all of them.</a:t>
            </a:r>
            <a:endParaRPr lang="en-IE" sz="1700" dirty="0"/>
          </a:p>
          <a:p>
            <a:pPr marL="228600" indent="-228600">
              <a:buSzPct val="100000"/>
              <a:buChar char="•"/>
            </a:pPr>
            <a:r>
              <a:rPr lang="en-IE" sz="1700" dirty="0">
                <a:solidFill>
                  <a:schemeClr val="tx1"/>
                </a:solidFill>
              </a:rPr>
              <a:t>It doesn’t matter if two interfaces have the same abstract method. It has no behaviour, so they don’t get in each other’s way.</a:t>
            </a:r>
            <a:endParaRPr lang="en-IE" sz="1700" dirty="0"/>
          </a:p>
        </p:txBody>
      </p:sp>
      <p:sp>
        <p:nvSpPr>
          <p:cNvPr id="6" name="Class PayRoll"/>
          <p:cNvSpPr/>
          <p:nvPr/>
        </p:nvSpPr>
        <p:spPr>
          <a:xfrm>
            <a:off x="6035040" y="1783080"/>
            <a:ext cx="2697480" cy="1742313"/>
          </a:xfrm>
          <a:prstGeom prst="rect">
            <a:avLst/>
          </a:prstGeom>
          <a:solidFill>
            <a:schemeClr val="bg1"/>
          </a:solidFill>
          <a:ln w="19050">
            <a:solidFill>
              <a:schemeClr val="accent5"/>
            </a:solidFill>
            <a:prstDash val="solid"/>
          </a:ln>
          <a:effectLst>
            <a:outerShdw sx="100000" sy="100000" kx="0" ky="0" algn="bl" rotWithShape="0" blurRad="76200" dist="19050" dir="5400000">
              <a:srgbClr val="1D2433">
                <a:alpha val="8000"/>
              </a:srgbClr>
            </a:outerShdw>
          </a:effectLst>
        </p:spPr>
      </p:sp>
      <p:sp>
        <p:nvSpPr>
          <p:cNvPr id="7" name="Class PayRoll header"/>
          <p:cNvSpPr/>
          <p:nvPr/>
        </p:nvSpPr>
        <p:spPr>
          <a:xfrm>
            <a:off x="6035040" y="1783080"/>
            <a:ext cx="2697480" cy="658368"/>
          </a:xfrm>
          <a:prstGeom prst="rect">
            <a:avLst/>
          </a:prstGeom>
          <a:solidFill>
            <a:schemeClr val="accent5">
              <a:alpha val="14000"/>
            </a:schemeClr>
          </a:solidFill>
          <a:ln w="19050">
            <a:solidFill>
              <a:schemeClr val="accent5"/>
            </a:solidFill>
            <a:prstDash val="solid"/>
          </a:ln>
        </p:spPr>
      </p:sp>
      <p:sp>
        <p:nvSpPr>
          <p:cNvPr id="8" name="Text 5"/>
          <p:cNvSpPr txBox="1"/>
          <p:nvPr/>
        </p:nvSpPr>
        <p:spPr>
          <a:xfrm>
            <a:off x="6035040" y="1847088"/>
            <a:ext cx="2697480" cy="237744"/>
          </a:xfrm>
          <a:prstGeom prst="rect">
            <a:avLst/>
          </a:prstGeom>
          <a:noFill/>
          <a:ln/>
        </p:spPr>
        <p:txBody>
          <a:bodyPr wrap="square" lIns="0" tIns="0" rIns="0" bIns="0" rtlCol="0" anchor="ctr"/>
          <a:lstStyle/>
          <a:p>
            <a:pPr algn="ctr" indent="0" marL="0">
              <a:buNone/>
            </a:pPr>
            <a:r>
              <a:rPr lang="en-IE" sz="1150" i="1" dirty="0">
                <a:solidFill>
                  <a:schemeClr val="tx2"/>
                </a:solidFill>
              </a:rPr>
              <a:t>«interface»</a:t>
            </a:r>
            <a:endParaRPr lang="en-IE" sz="1150" dirty="0"/>
          </a:p>
        </p:txBody>
      </p:sp>
      <p:sp>
        <p:nvSpPr>
          <p:cNvPr id="9" name="Text 6"/>
          <p:cNvSpPr txBox="1"/>
          <p:nvPr/>
        </p:nvSpPr>
        <p:spPr>
          <a:xfrm>
            <a:off x="6035040" y="2057400"/>
            <a:ext cx="2697480" cy="384048"/>
          </a:xfrm>
          <a:prstGeom prst="rect">
            <a:avLst/>
          </a:prstGeom>
          <a:noFill/>
          <a:ln/>
        </p:spPr>
        <p:txBody>
          <a:bodyPr wrap="square" lIns="0" tIns="0" rIns="0" bIns="0" rtlCol="0" anchor="ctr"/>
          <a:lstStyle/>
          <a:p>
            <a:pPr algn="ctr" indent="0" marL="0">
              <a:buNone/>
            </a:pPr>
            <a:r>
              <a:rPr lang="en-IE" sz="1600" b="1" dirty="0">
                <a:solidFill>
                  <a:schemeClr val="tx1"/>
                </a:solidFill>
              </a:rPr>
              <a:t>PayRoll</a:t>
            </a:r>
            <a:endParaRPr lang="en-IE" sz="1600" dirty="0"/>
          </a:p>
        </p:txBody>
      </p:sp>
      <p:sp>
        <p:nvSpPr>
          <p:cNvPr id="10" name="PayRoll attributes"/>
          <p:cNvSpPr txBox="1"/>
          <p:nvPr/>
        </p:nvSpPr>
        <p:spPr>
          <a:xfrm>
            <a:off x="6163056" y="2532888"/>
            <a:ext cx="2441448" cy="478790"/>
          </a:xfrm>
          <a:prstGeom prst="rect">
            <a:avLst/>
          </a:prstGeom>
          <a:noFill/>
          <a:ln/>
        </p:spPr>
        <p:txBody>
          <a:bodyPr wrap="square" lIns="0" tIns="0" rIns="0" bIns="0" rtlCol="0" anchor="t"/>
          <a:lstStyle/>
          <a:p>
            <a:pPr indent="0" marL="0">
              <a:lnSpc>
                <a:spcPts val="1885"/>
              </a:lnSpc>
              <a:buNone/>
            </a:pPr>
            <a:r>
              <a:rPr lang="en-IE" sz="1300" dirty="0">
                <a:solidFill>
                  <a:schemeClr val="tx1"/>
                </a:solidFill>
                <a:latin typeface="Consolas" pitchFamily="34" charset="0"/>
                <a:ea typeface="Consolas" pitchFamily="34" charset="-122"/>
                <a:cs typeface="Consolas" pitchFamily="34" charset="-120"/>
              </a:rPr>
              <a:t>hourlyRate</a:t>
            </a:r>
            <a:endParaRPr lang="en-IE" sz="1300" dirty="0"/>
          </a:p>
          <a:p>
            <a:pPr indent="0" marL="0">
              <a:lnSpc>
                <a:spcPts val="1885"/>
              </a:lnSpc>
              <a:buNone/>
            </a:pPr>
            <a:r>
              <a:rPr lang="en-IE" sz="1300" dirty="0">
                <a:solidFill>
                  <a:schemeClr val="tx1"/>
                </a:solidFill>
                <a:latin typeface="Consolas" pitchFamily="34" charset="0"/>
                <a:ea typeface="Consolas" pitchFamily="34" charset="-122"/>
                <a:cs typeface="Consolas" pitchFamily="34" charset="-120"/>
              </a:rPr>
              <a:t>monthlyRate</a:t>
            </a:r>
            <a:endParaRPr lang="en-IE" sz="1300" dirty="0"/>
          </a:p>
        </p:txBody>
      </p:sp>
      <p:sp>
        <p:nvSpPr>
          <p:cNvPr id="11" name="Connector"/>
          <p:cNvSpPr/>
          <p:nvPr/>
        </p:nvSpPr>
        <p:spPr>
          <a:xfrm>
            <a:off x="6035040" y="3103118"/>
            <a:ext cx="2697480" cy="0"/>
          </a:xfrm>
          <a:prstGeom prst="line">
            <a:avLst/>
          </a:prstGeom>
          <a:noFill/>
          <a:ln w="15875">
            <a:solidFill>
              <a:schemeClr val="accent5"/>
            </a:solidFill>
            <a:prstDash val="solid"/>
          </a:ln>
        </p:spPr>
      </p:sp>
      <p:sp>
        <p:nvSpPr>
          <p:cNvPr id="12" name="PayRoll methods"/>
          <p:cNvSpPr txBox="1"/>
          <p:nvPr/>
        </p:nvSpPr>
        <p:spPr>
          <a:xfrm>
            <a:off x="6163056" y="3194558"/>
            <a:ext cx="2441448" cy="239395"/>
          </a:xfrm>
          <a:prstGeom prst="rect">
            <a:avLst/>
          </a:prstGeom>
          <a:noFill/>
          <a:ln/>
        </p:spPr>
        <p:txBody>
          <a:bodyPr wrap="square" lIns="0" tIns="0" rIns="0" bIns="0" rtlCol="0" anchor="t"/>
          <a:lstStyle/>
          <a:p>
            <a:pPr indent="0" marL="0">
              <a:lnSpc>
                <a:spcPts val="1885"/>
              </a:lnSpc>
              <a:buNone/>
            </a:pPr>
            <a:r>
              <a:rPr lang="en-IE" sz="1300" dirty="0">
                <a:solidFill>
                  <a:schemeClr val="tx1"/>
                </a:solidFill>
                <a:latin typeface="Consolas" pitchFamily="34" charset="0"/>
                <a:ea typeface="Consolas" pitchFamily="34" charset="-122"/>
                <a:cs typeface="Consolas" pitchFamily="34" charset="-120"/>
              </a:rPr>
              <a:t>getYearlyRate()</a:t>
            </a:r>
            <a:endParaRPr lang="en-IE" sz="1300" dirty="0"/>
          </a:p>
        </p:txBody>
      </p:sp>
      <p:sp>
        <p:nvSpPr>
          <p:cNvPr id="13" name="Class Finances"/>
          <p:cNvSpPr/>
          <p:nvPr/>
        </p:nvSpPr>
        <p:spPr>
          <a:xfrm>
            <a:off x="8942832" y="1783080"/>
            <a:ext cx="2697480" cy="1502918"/>
          </a:xfrm>
          <a:prstGeom prst="rect">
            <a:avLst/>
          </a:prstGeom>
          <a:solidFill>
            <a:schemeClr val="bg1"/>
          </a:solidFill>
          <a:ln w="19050">
            <a:solidFill>
              <a:schemeClr val="accent5"/>
            </a:solidFill>
            <a:prstDash val="solid"/>
          </a:ln>
          <a:effectLst>
            <a:outerShdw sx="100000" sy="100000" kx="0" ky="0" algn="bl" rotWithShape="0" blurRad="76200" dist="19050" dir="5400000">
              <a:srgbClr val="1D2433">
                <a:alpha val="8000"/>
              </a:srgbClr>
            </a:outerShdw>
          </a:effectLst>
        </p:spPr>
      </p:sp>
      <p:sp>
        <p:nvSpPr>
          <p:cNvPr id="14" name="Class Finances header"/>
          <p:cNvSpPr/>
          <p:nvPr/>
        </p:nvSpPr>
        <p:spPr>
          <a:xfrm>
            <a:off x="8942832" y="1783080"/>
            <a:ext cx="2697480" cy="658368"/>
          </a:xfrm>
          <a:prstGeom prst="rect">
            <a:avLst/>
          </a:prstGeom>
          <a:solidFill>
            <a:schemeClr val="accent5">
              <a:alpha val="14000"/>
            </a:schemeClr>
          </a:solidFill>
          <a:ln w="19050">
            <a:solidFill>
              <a:schemeClr val="accent5"/>
            </a:solidFill>
            <a:prstDash val="solid"/>
          </a:ln>
        </p:spPr>
      </p:sp>
      <p:sp>
        <p:nvSpPr>
          <p:cNvPr id="15" name="Text 12"/>
          <p:cNvSpPr txBox="1"/>
          <p:nvPr/>
        </p:nvSpPr>
        <p:spPr>
          <a:xfrm>
            <a:off x="8942832" y="1847088"/>
            <a:ext cx="2697480" cy="237744"/>
          </a:xfrm>
          <a:prstGeom prst="rect">
            <a:avLst/>
          </a:prstGeom>
          <a:noFill/>
          <a:ln/>
        </p:spPr>
        <p:txBody>
          <a:bodyPr wrap="square" lIns="0" tIns="0" rIns="0" bIns="0" rtlCol="0" anchor="ctr"/>
          <a:lstStyle/>
          <a:p>
            <a:pPr algn="ctr" indent="0" marL="0">
              <a:buNone/>
            </a:pPr>
            <a:r>
              <a:rPr lang="en-IE" sz="1150" i="1" dirty="0">
                <a:solidFill>
                  <a:schemeClr val="tx2"/>
                </a:solidFill>
              </a:rPr>
              <a:t>«interface»</a:t>
            </a:r>
            <a:endParaRPr lang="en-IE" sz="1150" dirty="0"/>
          </a:p>
        </p:txBody>
      </p:sp>
      <p:sp>
        <p:nvSpPr>
          <p:cNvPr id="16" name="Text 13"/>
          <p:cNvSpPr txBox="1"/>
          <p:nvPr/>
        </p:nvSpPr>
        <p:spPr>
          <a:xfrm>
            <a:off x="8942832" y="2057400"/>
            <a:ext cx="2697480" cy="384048"/>
          </a:xfrm>
          <a:prstGeom prst="rect">
            <a:avLst/>
          </a:prstGeom>
          <a:noFill/>
          <a:ln/>
        </p:spPr>
        <p:txBody>
          <a:bodyPr wrap="square" lIns="0" tIns="0" rIns="0" bIns="0" rtlCol="0" anchor="ctr"/>
          <a:lstStyle/>
          <a:p>
            <a:pPr algn="ctr" indent="0" marL="0">
              <a:buNone/>
            </a:pPr>
            <a:r>
              <a:rPr lang="en-IE" sz="1600" b="1" dirty="0">
                <a:solidFill>
                  <a:schemeClr val="tx1"/>
                </a:solidFill>
              </a:rPr>
              <a:t>Finances</a:t>
            </a:r>
            <a:endParaRPr lang="en-IE" sz="1600" dirty="0"/>
          </a:p>
        </p:txBody>
      </p:sp>
      <p:sp>
        <p:nvSpPr>
          <p:cNvPr id="17" name="Finances attributes"/>
          <p:cNvSpPr txBox="1"/>
          <p:nvPr/>
        </p:nvSpPr>
        <p:spPr>
          <a:xfrm>
            <a:off x="9070848" y="2532888"/>
            <a:ext cx="2441448" cy="239395"/>
          </a:xfrm>
          <a:prstGeom prst="rect">
            <a:avLst/>
          </a:prstGeom>
          <a:noFill/>
          <a:ln/>
        </p:spPr>
        <p:txBody>
          <a:bodyPr wrap="square" lIns="0" tIns="0" rIns="0" bIns="0" rtlCol="0" anchor="t"/>
          <a:lstStyle/>
          <a:p>
            <a:pPr indent="0" marL="0">
              <a:lnSpc>
                <a:spcPts val="1885"/>
              </a:lnSpc>
              <a:buNone/>
            </a:pPr>
            <a:r>
              <a:rPr lang="en-IE" sz="1300" dirty="0">
                <a:solidFill>
                  <a:schemeClr val="tx1"/>
                </a:solidFill>
                <a:latin typeface="Consolas" pitchFamily="34" charset="0"/>
                <a:ea typeface="Consolas" pitchFamily="34" charset="-122"/>
                <a:cs typeface="Consolas" pitchFamily="34" charset="-120"/>
              </a:rPr>
              <a:t>RATE</a:t>
            </a:r>
            <a:endParaRPr lang="en-IE" sz="1300" dirty="0"/>
          </a:p>
        </p:txBody>
      </p:sp>
      <p:sp>
        <p:nvSpPr>
          <p:cNvPr id="18" name="Connector"/>
          <p:cNvSpPr/>
          <p:nvPr/>
        </p:nvSpPr>
        <p:spPr>
          <a:xfrm>
            <a:off x="8942832" y="2863723"/>
            <a:ext cx="2697480" cy="0"/>
          </a:xfrm>
          <a:prstGeom prst="line">
            <a:avLst/>
          </a:prstGeom>
          <a:noFill/>
          <a:ln w="15875">
            <a:solidFill>
              <a:schemeClr val="accent5"/>
            </a:solidFill>
            <a:prstDash val="solid"/>
          </a:ln>
        </p:spPr>
      </p:sp>
      <p:sp>
        <p:nvSpPr>
          <p:cNvPr id="19" name="Finances methods"/>
          <p:cNvSpPr txBox="1"/>
          <p:nvPr/>
        </p:nvSpPr>
        <p:spPr>
          <a:xfrm>
            <a:off x="9070848" y="2955163"/>
            <a:ext cx="2441448" cy="239395"/>
          </a:xfrm>
          <a:prstGeom prst="rect">
            <a:avLst/>
          </a:prstGeom>
          <a:noFill/>
          <a:ln/>
        </p:spPr>
        <p:txBody>
          <a:bodyPr wrap="square" lIns="0" tIns="0" rIns="0" bIns="0" rtlCol="0" anchor="t"/>
          <a:lstStyle/>
          <a:p>
            <a:pPr indent="0" marL="0">
              <a:lnSpc>
                <a:spcPts val="1885"/>
              </a:lnSpc>
              <a:buNone/>
            </a:pPr>
            <a:r>
              <a:rPr lang="en-IE" sz="1300" i="1" dirty="0">
                <a:solidFill>
                  <a:schemeClr val="tx1"/>
                </a:solidFill>
                <a:latin typeface="Consolas" pitchFamily="34" charset="0"/>
                <a:ea typeface="Consolas" pitchFamily="34" charset="-122"/>
                <a:cs typeface="Consolas" pitchFamily="34" charset="-120"/>
              </a:rPr>
              <a:t>getPay()</a:t>
            </a:r>
            <a:endParaRPr lang="en-IE" sz="1300" dirty="0"/>
          </a:p>
        </p:txBody>
      </p:sp>
      <p:sp>
        <p:nvSpPr>
          <p:cNvPr id="20" name="Box Employee"/>
          <p:cNvSpPr/>
          <p:nvPr/>
        </p:nvSpPr>
        <p:spPr>
          <a:xfrm>
            <a:off x="7726680" y="4572000"/>
            <a:ext cx="2377440" cy="685800"/>
          </a:xfrm>
          <a:prstGeom prst="roundRect">
            <a:avLst>
              <a:gd name="adj" fmla="val 10667"/>
            </a:avLst>
          </a:prstGeom>
          <a:solidFill>
            <a:schemeClr val="accent1">
              <a:alpha val="14000"/>
            </a:schemeClr>
          </a:solidFill>
          <a:ln w="19050">
            <a:solidFill>
              <a:schemeClr val="accent1"/>
            </a:solidFill>
            <a:prstDash val="solid"/>
          </a:ln>
        </p:spPr>
      </p:sp>
      <p:sp>
        <p:nvSpPr>
          <p:cNvPr id="21" name="Text 18"/>
          <p:cNvSpPr txBox="1"/>
          <p:nvPr/>
        </p:nvSpPr>
        <p:spPr>
          <a:xfrm>
            <a:off x="7726680" y="4572000"/>
            <a:ext cx="2377440" cy="685800"/>
          </a:xfrm>
          <a:prstGeom prst="rect">
            <a:avLst/>
          </a:prstGeom>
          <a:noFill/>
          <a:ln/>
        </p:spPr>
        <p:txBody>
          <a:bodyPr wrap="square" lIns="0" tIns="0" rIns="0" bIns="0" rtlCol="0" anchor="ctr"/>
          <a:lstStyle/>
          <a:p>
            <a:pPr algn="ctr" indent="0" marL="0">
              <a:buNone/>
            </a:pPr>
            <a:r>
              <a:rPr lang="en-IE" sz="1800" b="1" dirty="0">
                <a:solidFill>
                  <a:schemeClr val="tx1"/>
                </a:solidFill>
              </a:rPr>
              <a:t>Employee</a:t>
            </a:r>
            <a:endParaRPr lang="en-IE" sz="1800" dirty="0"/>
          </a:p>
        </p:txBody>
      </p:sp>
      <p:sp>
        <p:nvSpPr>
          <p:cNvPr id="22" name="Line"/>
          <p:cNvSpPr/>
          <p:nvPr/>
        </p:nvSpPr>
        <p:spPr>
          <a:xfrm flipV="1">
            <a:off x="8458200" y="3936873"/>
            <a:ext cx="0" cy="635127"/>
          </a:xfrm>
          <a:prstGeom prst="line">
            <a:avLst/>
          </a:prstGeom>
          <a:noFill/>
          <a:ln w="19050">
            <a:solidFill>
              <a:schemeClr val="tx1"/>
            </a:solidFill>
            <a:prstDash val="dash"/>
          </a:ln>
        </p:spPr>
      </p:sp>
      <p:sp>
        <p:nvSpPr>
          <p:cNvPr id="23" name="Line"/>
          <p:cNvSpPr/>
          <p:nvPr/>
        </p:nvSpPr>
        <p:spPr>
          <a:xfrm flipH="1">
            <a:off x="7383780" y="3936873"/>
            <a:ext cx="1074420" cy="0"/>
          </a:xfrm>
          <a:prstGeom prst="line">
            <a:avLst/>
          </a:prstGeom>
          <a:noFill/>
          <a:ln w="19050">
            <a:solidFill>
              <a:schemeClr val="tx1"/>
            </a:solidFill>
            <a:prstDash val="dash"/>
          </a:ln>
        </p:spPr>
      </p:sp>
      <p:sp>
        <p:nvSpPr>
          <p:cNvPr id="24" name="Line"/>
          <p:cNvSpPr/>
          <p:nvPr/>
        </p:nvSpPr>
        <p:spPr>
          <a:xfrm flipV="1">
            <a:off x="7383780" y="3708273"/>
            <a:ext cx="0" cy="228600"/>
          </a:xfrm>
          <a:prstGeom prst="line">
            <a:avLst/>
          </a:prstGeom>
          <a:noFill/>
          <a:ln w="19050">
            <a:solidFill>
              <a:schemeClr val="tx1"/>
            </a:solidFill>
            <a:prstDash val="dash"/>
          </a:ln>
        </p:spPr>
      </p:sp>
      <p:sp>
        <p:nvSpPr>
          <p:cNvPr id="25" name="Inheritance arrow head"/>
          <p:cNvSpPr/>
          <p:nvPr/>
        </p:nvSpPr>
        <p:spPr>
          <a:xfrm>
            <a:off x="7274052" y="3525393"/>
            <a:ext cx="219456" cy="182880"/>
          </a:xfrm>
          <a:prstGeom prst="triangle">
            <a:avLst/>
          </a:prstGeom>
          <a:solidFill>
            <a:schemeClr val="bg1"/>
          </a:solidFill>
          <a:ln w="19050">
            <a:solidFill>
              <a:schemeClr val="tx1"/>
            </a:solidFill>
            <a:prstDash val="solid"/>
          </a:ln>
        </p:spPr>
      </p:sp>
      <p:sp>
        <p:nvSpPr>
          <p:cNvPr id="26" name="Line"/>
          <p:cNvSpPr/>
          <p:nvPr/>
        </p:nvSpPr>
        <p:spPr>
          <a:xfrm flipV="1">
            <a:off x="9372600" y="3936873"/>
            <a:ext cx="0" cy="635127"/>
          </a:xfrm>
          <a:prstGeom prst="line">
            <a:avLst/>
          </a:prstGeom>
          <a:noFill/>
          <a:ln w="19050">
            <a:solidFill>
              <a:schemeClr val="tx1"/>
            </a:solidFill>
            <a:prstDash val="dash"/>
          </a:ln>
        </p:spPr>
      </p:sp>
      <p:sp>
        <p:nvSpPr>
          <p:cNvPr id="27" name="Line"/>
          <p:cNvSpPr/>
          <p:nvPr/>
        </p:nvSpPr>
        <p:spPr>
          <a:xfrm>
            <a:off x="9372600" y="3936873"/>
            <a:ext cx="918972" cy="0"/>
          </a:xfrm>
          <a:prstGeom prst="line">
            <a:avLst/>
          </a:prstGeom>
          <a:noFill/>
          <a:ln w="19050">
            <a:solidFill>
              <a:schemeClr val="tx1"/>
            </a:solidFill>
            <a:prstDash val="dash"/>
          </a:ln>
        </p:spPr>
      </p:sp>
      <p:sp>
        <p:nvSpPr>
          <p:cNvPr id="28" name="Line"/>
          <p:cNvSpPr/>
          <p:nvPr/>
        </p:nvSpPr>
        <p:spPr>
          <a:xfrm flipV="1">
            <a:off x="10291572" y="3468878"/>
            <a:ext cx="0" cy="467995"/>
          </a:xfrm>
          <a:prstGeom prst="line">
            <a:avLst/>
          </a:prstGeom>
          <a:noFill/>
          <a:ln w="19050">
            <a:solidFill>
              <a:schemeClr val="tx1"/>
            </a:solidFill>
            <a:prstDash val="dash"/>
          </a:ln>
        </p:spPr>
      </p:sp>
      <p:sp>
        <p:nvSpPr>
          <p:cNvPr id="29" name="Inheritance arrow head"/>
          <p:cNvSpPr/>
          <p:nvPr/>
        </p:nvSpPr>
        <p:spPr>
          <a:xfrm>
            <a:off x="10181844" y="3285998"/>
            <a:ext cx="219456" cy="182880"/>
          </a:xfrm>
          <a:prstGeom prst="triangle">
            <a:avLst/>
          </a:prstGeom>
          <a:solidFill>
            <a:schemeClr val="bg1"/>
          </a:solidFill>
          <a:ln w="19050">
            <a:solidFill>
              <a:schemeClr val="tx1"/>
            </a:solidFill>
            <a:prstDash val="solid"/>
          </a:ln>
        </p:spPr>
      </p:sp>
      <p:sp>
        <p:nvSpPr>
          <p:cNvPr id="30" name="Code chip"/>
          <p:cNvSpPr/>
          <p:nvPr/>
        </p:nvSpPr>
        <p:spPr>
          <a:xfrm>
            <a:off x="6035040" y="5532120"/>
            <a:ext cx="5608015"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class Employee implements PayRoll, Finances</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MULTIPLE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Example: PayRoll and Finances</a:t>
            </a:r>
            <a:endParaRPr lang="en-IE" sz="3400" dirty="0"/>
          </a:p>
        </p:txBody>
      </p:sp>
      <p:sp>
        <p:nvSpPr>
          <p:cNvPr id="5" name="PayRoll card"/>
          <p:cNvSpPr/>
          <p:nvPr/>
        </p:nvSpPr>
        <p:spPr>
          <a:xfrm>
            <a:off x="548640" y="1691640"/>
            <a:ext cx="5166360" cy="2715768"/>
          </a:xfrm>
          <a:prstGeom prst="roundRect">
            <a:avLst>
              <a:gd name="adj" fmla="val 4040"/>
            </a:avLst>
          </a:prstGeom>
          <a:solidFill>
            <a:schemeClr val="tx1"/>
          </a:solidFill>
          <a:ln/>
          <a:effectLst>
            <a:outerShdw sx="100000" sy="100000" kx="0" ky="0" algn="bl" rotWithShape="0" blurRad="114300" dist="31750" dir="5400000">
              <a:srgbClr val="1D2433">
                <a:alpha val="12000"/>
              </a:srgbClr>
            </a:outerShdw>
          </a:effectLst>
        </p:spPr>
      </p:sp>
      <p:sp>
        <p:nvSpPr>
          <p:cNvPr id="6" name="PayRoll language"/>
          <p:cNvSpPr txBox="1"/>
          <p:nvPr/>
        </p:nvSpPr>
        <p:spPr>
          <a:xfrm>
            <a:off x="822960" y="1810512"/>
            <a:ext cx="46177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PayRoll text"/>
          <p:cNvSpPr txBox="1"/>
          <p:nvPr/>
        </p:nvSpPr>
        <p:spPr>
          <a:xfrm>
            <a:off x="822960" y="2185416"/>
            <a:ext cx="4617720" cy="202082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interface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hourlyRate = </a:t>
            </a:r>
            <a:r>
              <a:rPr lang="en-IE" sz="1300" dirty="0">
                <a:solidFill>
                  <a:srgbClr val="F2C14E"/>
                </a:solidFill>
                <a:latin typeface="Consolas" pitchFamily="34" charset="0"/>
                <a:ea typeface="Consolas" pitchFamily="34" charset="-122"/>
                <a:cs typeface="Consolas" pitchFamily="34" charset="-120"/>
              </a:rPr>
              <a:t>25</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monthlyRate = </a:t>
            </a:r>
            <a:r>
              <a:rPr lang="en-IE" sz="1300" dirty="0">
                <a:solidFill>
                  <a:srgbClr val="F2C14E"/>
                </a:solidFill>
                <a:latin typeface="Consolas" pitchFamily="34" charset="0"/>
                <a:ea typeface="Consolas" pitchFamily="34" charset="-122"/>
                <a:cs typeface="Consolas" pitchFamily="34" charset="-120"/>
              </a:rPr>
              <a:t>2500</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default</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monthlyRate * </a:t>
            </a:r>
            <a:r>
              <a:rPr lang="en-IE" sz="1300" dirty="0">
                <a:solidFill>
                  <a:srgbClr val="F2C14E"/>
                </a:solidFill>
                <a:latin typeface="Consolas" pitchFamily="34" charset="0"/>
                <a:ea typeface="Consolas" pitchFamily="34" charset="-122"/>
                <a:cs typeface="Consolas" pitchFamily="34" charset="-120"/>
              </a:rPr>
              <a:t>12</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getInfo</a:t>
            </a:r>
            <a:r>
              <a:rPr lang="en-IE" sz="1300" dirty="0">
                <a:solidFill>
                  <a:srgbClr val="E6EBF2"/>
                </a:solidFill>
                <a:latin typeface="Consolas" pitchFamily="34" charset="0"/>
                <a:ea typeface="Consolas" pitchFamily="34" charset="-122"/>
                <a:cs typeface="Consolas" pitchFamily="34" charset="-120"/>
              </a:rPr>
              <a:t>() { ...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8" name="Finances card"/>
          <p:cNvSpPr/>
          <p:nvPr/>
        </p:nvSpPr>
        <p:spPr>
          <a:xfrm>
            <a:off x="548640" y="4590288"/>
            <a:ext cx="5166360" cy="1623568"/>
          </a:xfrm>
          <a:prstGeom prst="roundRect">
            <a:avLst>
              <a:gd name="adj" fmla="val 6758"/>
            </a:avLst>
          </a:prstGeom>
          <a:solidFill>
            <a:schemeClr val="tx1"/>
          </a:solidFill>
          <a:ln/>
          <a:effectLst>
            <a:outerShdw sx="100000" sy="100000" kx="0" ky="0" algn="bl" rotWithShape="0" blurRad="114300" dist="31750" dir="5400000">
              <a:srgbClr val="1D2433">
                <a:alpha val="12000"/>
              </a:srgbClr>
            </a:outerShdw>
          </a:effectLst>
        </p:spPr>
      </p:sp>
      <p:sp>
        <p:nvSpPr>
          <p:cNvPr id="9" name="Finances language"/>
          <p:cNvSpPr txBox="1"/>
          <p:nvPr/>
        </p:nvSpPr>
        <p:spPr>
          <a:xfrm>
            <a:off x="822960" y="4709160"/>
            <a:ext cx="46177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0" name="Finances text"/>
          <p:cNvSpPr txBox="1"/>
          <p:nvPr/>
        </p:nvSpPr>
        <p:spPr>
          <a:xfrm>
            <a:off x="822960" y="5084064"/>
            <a:ext cx="4617720" cy="92862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interface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Finances</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RATE</a:t>
            </a:r>
            <a:r>
              <a:rPr lang="en-IE" sz="1300" dirty="0">
                <a:solidFill>
                  <a:srgbClr val="E6EBF2"/>
                </a:solidFill>
                <a:latin typeface="Consolas" pitchFamily="34" charset="0"/>
                <a:ea typeface="Consolas" pitchFamily="34" charset="-122"/>
                <a:cs typeface="Consolas" pitchFamily="34" charset="-120"/>
              </a:rPr>
              <a:t> = </a:t>
            </a:r>
            <a:r>
              <a:rPr lang="en-IE" sz="1300" dirty="0">
                <a:solidFill>
                  <a:srgbClr val="F2C14E"/>
                </a:solidFill>
                <a:latin typeface="Consolas" pitchFamily="34" charset="0"/>
                <a:ea typeface="Consolas" pitchFamily="34" charset="-122"/>
                <a:cs typeface="Consolas" pitchFamily="34" charset="-120"/>
              </a:rPr>
              <a:t>4.5</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getPay</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11" name="Employee card"/>
          <p:cNvSpPr/>
          <p:nvPr/>
        </p:nvSpPr>
        <p:spPr>
          <a:xfrm>
            <a:off x="5989320" y="1691640"/>
            <a:ext cx="5653735" cy="4312158"/>
          </a:xfrm>
          <a:prstGeom prst="roundRect">
            <a:avLst>
              <a:gd name="adj" fmla="val 2545"/>
            </a:avLst>
          </a:prstGeom>
          <a:solidFill>
            <a:schemeClr val="tx1"/>
          </a:solidFill>
          <a:ln/>
          <a:effectLst>
            <a:outerShdw sx="100000" sy="100000" kx="0" ky="0" algn="bl" rotWithShape="0" blurRad="114300" dist="31750" dir="5400000">
              <a:srgbClr val="1D2433">
                <a:alpha val="12000"/>
              </a:srgbClr>
            </a:outerShdw>
          </a:effectLst>
        </p:spPr>
      </p:sp>
      <p:sp>
        <p:nvSpPr>
          <p:cNvPr id="12" name="Employee language"/>
          <p:cNvSpPr txBox="1"/>
          <p:nvPr/>
        </p:nvSpPr>
        <p:spPr>
          <a:xfrm>
            <a:off x="6263640" y="1810512"/>
            <a:ext cx="51050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3" name="Employee text"/>
          <p:cNvSpPr txBox="1"/>
          <p:nvPr/>
        </p:nvSpPr>
        <p:spPr>
          <a:xfrm>
            <a:off x="6263640" y="2185416"/>
            <a:ext cx="5105095" cy="3617214"/>
          </a:xfrm>
          <a:prstGeom prst="rect">
            <a:avLst/>
          </a:prstGeom>
          <a:noFill/>
          <a:ln/>
        </p:spPr>
        <p:txBody>
          <a:bodyPr wrap="square" lIns="0" tIns="0" rIns="0" bIns="0" rtlCol="0" anchor="t"/>
          <a:lstStyle/>
          <a:p>
            <a:pPr indent="0" marL="0">
              <a:lnSpc>
                <a:spcPts val="1650"/>
              </a:lnSpc>
              <a:buNone/>
            </a:pP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class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Employee</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implements</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PayRoll</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Finances</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hoursPerWeek = </a:t>
            </a:r>
            <a:r>
              <a:rPr lang="en-IE" sz="1250" dirty="0">
                <a:solidFill>
                  <a:srgbClr val="F2C14E"/>
                </a:solidFill>
                <a:latin typeface="Consolas" pitchFamily="34" charset="0"/>
                <a:ea typeface="Consolas" pitchFamily="34" charset="-122"/>
                <a:cs typeface="Consolas" pitchFamily="34" charset="-120"/>
              </a:rPr>
              <a:t>40</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int</a:t>
            </a:r>
            <a:r>
              <a:rPr lang="en-IE" sz="1250" dirty="0">
                <a:solidFill>
                  <a:srgbClr val="E6EBF2"/>
                </a:solidFill>
                <a:latin typeface="Consolas" pitchFamily="34" charset="0"/>
                <a:ea typeface="Consolas" pitchFamily="34" charset="-122"/>
                <a:cs typeface="Consolas" pitchFamily="34" charset="-120"/>
              </a:rPr>
              <a:t> weeks = </a:t>
            </a:r>
            <a:r>
              <a:rPr lang="en-IE" sz="1250" dirty="0">
                <a:solidFill>
                  <a:srgbClr val="F2C14E"/>
                </a:solidFill>
                <a:latin typeface="Consolas" pitchFamily="34" charset="0"/>
                <a:ea typeface="Consolas" pitchFamily="34" charset="-122"/>
                <a:cs typeface="Consolas" pitchFamily="34" charset="-120"/>
              </a:rPr>
              <a:t>24</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Employee</a:t>
            </a:r>
            <a:r>
              <a:rPr lang="en-IE" sz="1250" dirty="0">
                <a:solidFill>
                  <a:srgbClr val="E6EBF2"/>
                </a:solidFill>
                <a:latin typeface="Consolas" pitchFamily="34" charset="0"/>
                <a:ea typeface="Consolas" pitchFamily="34" charset="-122"/>
                <a:cs typeface="Consolas" pitchFamily="34" charset="-120"/>
              </a:rPr>
              <a:t>() {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E8C468"/>
                </a:solidFill>
                <a:latin typeface="Consolas" pitchFamily="34" charset="0"/>
                <a:ea typeface="Consolas" pitchFamily="34" charset="-122"/>
                <a:cs typeface="Consolas" pitchFamily="34" charset="-120"/>
              </a:rPr>
              <a:t>@Override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double</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getPay</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return</a:t>
            </a:r>
            <a:r>
              <a:rPr lang="en-IE" sz="1250" dirty="0">
                <a:solidFill>
                  <a:srgbClr val="E6EBF2"/>
                </a:solidFill>
                <a:latin typeface="Consolas" pitchFamily="34" charset="0"/>
                <a:ea typeface="Consolas" pitchFamily="34" charset="-122"/>
                <a:cs typeface="Consolas" pitchFamily="34" charset="-120"/>
              </a:rPr>
              <a:t> hourlyRate * hoursPerWeek;</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E8C468"/>
                </a:solidFill>
                <a:latin typeface="Consolas" pitchFamily="34" charset="0"/>
                <a:ea typeface="Consolas" pitchFamily="34" charset="-122"/>
                <a:cs typeface="Consolas" pitchFamily="34" charset="-120"/>
              </a:rPr>
              <a:t>@Override</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public</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double</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getYearlyRate</a:t>
            </a: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FF9F5A"/>
                </a:solidFill>
                <a:latin typeface="Consolas" pitchFamily="34" charset="0"/>
                <a:ea typeface="Consolas" pitchFamily="34" charset="-122"/>
                <a:cs typeface="Consolas" pitchFamily="34" charset="-120"/>
              </a:rPr>
              <a:t>return</a:t>
            </a:r>
            <a:r>
              <a:rPr lang="en-IE" sz="1250" dirty="0">
                <a:solidFill>
                  <a:srgbClr val="E6EBF2"/>
                </a:solidFill>
                <a:latin typeface="Consolas" pitchFamily="34" charset="0"/>
                <a:ea typeface="Consolas" pitchFamily="34" charset="-122"/>
                <a:cs typeface="Consolas" pitchFamily="34" charset="-120"/>
              </a:rPr>
              <a:t> hourlyRate * hoursPerWeek * weeks;</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Multiple 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 implements PayRoll and Finances, and both declare the abstract method </a:t>
            </a:r>
            <a:r>
              <a:rPr lang="en-IE" sz="2800" b="1" dirty="0">
                <a:solidFill>
                  <a:schemeClr val="accent2"/>
                </a:solidFill>
                <a:latin typeface="Consolas" pitchFamily="34" charset="0"/>
                <a:ea typeface="Consolas" pitchFamily="34" charset="-122"/>
                <a:cs typeface="Consolas" pitchFamily="34" charset="-120"/>
              </a:rPr>
              <a:t>double getPay()</a:t>
            </a:r>
            <a:r>
              <a:rPr lang="en-IE" sz="2800" b="1" dirty="0">
                <a:solidFill>
                  <a:schemeClr val="tx1"/>
                </a:solidFill>
              </a:rPr>
              <a:t>. What does Employee need?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can’t implement both: compile error</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One getPay() method, which counts for both</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Two getPay() methods, one for each interface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the getPay() from the first interface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41</a:t>
            </a:fld>
            <a:endParaRPr lang="en-I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Multiple 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 implements PayRoll and Finances, and both declare the abstract method </a:t>
            </a:r>
            <a:r>
              <a:rPr lang="en-IE" sz="2000" b="1" dirty="0">
                <a:solidFill>
                  <a:schemeClr val="tx2"/>
                </a:solidFill>
                <a:latin typeface="Consolas" pitchFamily="34" charset="0"/>
                <a:ea typeface="Consolas" pitchFamily="34" charset="-122"/>
                <a:cs typeface="Consolas" pitchFamily="34" charset="-120"/>
              </a:rPr>
              <a:t>double getPay()</a:t>
            </a:r>
            <a:r>
              <a:rPr lang="en-IE" sz="2000" b="1" dirty="0">
                <a:solidFill>
                  <a:schemeClr val="tx2"/>
                </a:solidFill>
              </a:rPr>
              <a:t>. What does Employee need?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can’t implement both: compile error</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One getPay() method, which counts for both</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Two getPay() methods, one for each interface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the getPay() from the first interface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Abstract methods have no behaviour, so two interfaces with the same method don’t get in each other’s way. Employee writes getPay() once, and that one method satisfies both interfaces.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MULTIPLE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Two defaults with the same signature</a:t>
            </a:r>
            <a:endParaRPr lang="en-IE" sz="3400" dirty="0"/>
          </a:p>
        </p:txBody>
      </p:sp>
      <p:sp>
        <p:nvSpPr>
          <p:cNvPr id="5" name="Text 2"/>
          <p:cNvSpPr txBox="1"/>
          <p:nvPr/>
        </p:nvSpPr>
        <p:spPr>
          <a:xfrm>
            <a:off x="548640" y="1783080"/>
            <a:ext cx="4937760" cy="31089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If we implement two interfaces with default methods of the same signature, won’t that be an issue?</a:t>
            </a:r>
            <a:endParaRPr lang="en-IE" sz="1800" dirty="0"/>
          </a:p>
          <a:p>
            <a:pPr marL="228600" indent="-228600">
              <a:spcAft>
                <a:spcPts val="1200"/>
              </a:spcAft>
              <a:buSzPct val="100000"/>
              <a:buChar char="•"/>
            </a:pPr>
            <a:r>
              <a:rPr lang="en-IE" sz="1800" dirty="0">
                <a:solidFill>
                  <a:schemeClr val="tx1"/>
                </a:solidFill>
              </a:rPr>
              <a:t>Yes. Java won’t choose for us, so the class must override the method.</a:t>
            </a:r>
            <a:endParaRPr lang="en-IE" sz="1800" dirty="0"/>
          </a:p>
          <a:p>
            <a:pPr marL="228600" indent="-228600">
              <a:buSzPct val="100000"/>
              <a:buChar char="•"/>
            </a:pPr>
            <a:r>
              <a:rPr lang="en-IE" sz="1800" dirty="0">
                <a:solidFill>
                  <a:schemeClr val="tx1"/>
                </a:solidFill>
              </a:rPr>
              <a:t>Inside it, we can say which interface’s default we want to use.</a:t>
            </a:r>
            <a:endParaRPr lang="en-IE" sz="1800" dirty="0"/>
          </a:p>
        </p:txBody>
      </p:sp>
      <p:sp>
        <p:nvSpPr>
          <p:cNvPr id="6" name="Text 3"/>
          <p:cNvSpPr txBox="1"/>
          <p:nvPr/>
        </p:nvSpPr>
        <p:spPr>
          <a:xfrm>
            <a:off x="5852160" y="1691640"/>
            <a:ext cx="5790895" cy="320040"/>
          </a:xfrm>
          <a:prstGeom prst="rect">
            <a:avLst/>
          </a:prstGeom>
          <a:noFill/>
          <a:ln/>
        </p:spPr>
        <p:txBody>
          <a:bodyPr wrap="square" lIns="0" tIns="0" rIns="0" bIns="0" rtlCol="0" anchor="t"/>
          <a:lstStyle/>
          <a:p>
            <a:pPr indent="0" marL="0">
              <a:buNone/>
            </a:pPr>
            <a:r>
              <a:rPr lang="en-IE" sz="1400" b="1" dirty="0">
                <a:solidFill>
                  <a:schemeClr val="tx2"/>
                </a:solidFill>
              </a:rPr>
              <a:t>If both PayRoll and Finances have a default getYearlyRate():</a:t>
            </a:r>
            <a:endParaRPr lang="en-IE" sz="1400" dirty="0"/>
          </a:p>
        </p:txBody>
      </p:sp>
      <p:sp>
        <p:nvSpPr>
          <p:cNvPr id="7" name="Choosing a default card"/>
          <p:cNvSpPr/>
          <p:nvPr/>
        </p:nvSpPr>
        <p:spPr>
          <a:xfrm>
            <a:off x="5852160" y="2057400"/>
            <a:ext cx="5790895" cy="2278888"/>
          </a:xfrm>
          <a:prstGeom prst="roundRect">
            <a:avLst>
              <a:gd name="adj" fmla="val 4815"/>
            </a:avLst>
          </a:prstGeom>
          <a:solidFill>
            <a:schemeClr val="tx1"/>
          </a:solidFill>
          <a:ln/>
          <a:effectLst>
            <a:outerShdw sx="100000" sy="100000" kx="0" ky="0" algn="bl" rotWithShape="0" blurRad="114300" dist="31750" dir="5400000">
              <a:srgbClr val="1D2433">
                <a:alpha val="12000"/>
              </a:srgbClr>
            </a:outerShdw>
          </a:effectLst>
        </p:spPr>
      </p:sp>
      <p:sp>
        <p:nvSpPr>
          <p:cNvPr id="8" name="Choosing a default language"/>
          <p:cNvSpPr txBox="1"/>
          <p:nvPr/>
        </p:nvSpPr>
        <p:spPr>
          <a:xfrm>
            <a:off x="6126480" y="2176272"/>
            <a:ext cx="524225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9" name="Choosing a default text"/>
          <p:cNvSpPr txBox="1"/>
          <p:nvPr/>
        </p:nvSpPr>
        <p:spPr>
          <a:xfrm>
            <a:off x="6126480" y="2551176"/>
            <a:ext cx="5242255" cy="158394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Employee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implements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PayRoll</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Finances</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E8C468"/>
                </a:solidFill>
                <a:latin typeface="Consolas" pitchFamily="34" charset="0"/>
                <a:ea typeface="Consolas" pitchFamily="34" charset="-122"/>
                <a:cs typeface="Consolas" pitchFamily="34" charset="-120"/>
              </a:rPr>
              <a:t>@Override</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Finances</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super</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getYearlyRate</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10" name="Text 7"/>
          <p:cNvSpPr txBox="1"/>
          <p:nvPr/>
        </p:nvSpPr>
        <p:spPr>
          <a:xfrm>
            <a:off x="5852160" y="4519168"/>
            <a:ext cx="4572000" cy="292608"/>
          </a:xfrm>
          <a:prstGeom prst="rect">
            <a:avLst/>
          </a:prstGeom>
          <a:noFill/>
          <a:ln/>
        </p:spPr>
        <p:txBody>
          <a:bodyPr wrap="square" lIns="0" tIns="0" rIns="0" bIns="0" rtlCol="0" anchor="t"/>
          <a:lstStyle/>
          <a:p>
            <a:pPr indent="0" marL="0">
              <a:buNone/>
            </a:pPr>
            <a:r>
              <a:rPr lang="en-IE" sz="1400" b="1" dirty="0">
                <a:solidFill>
                  <a:schemeClr val="tx2"/>
                </a:solidFill>
              </a:rPr>
              <a:t>Without the override:</a:t>
            </a:r>
            <a:endParaRPr lang="en-IE" sz="1400" dirty="0"/>
          </a:p>
        </p:txBody>
      </p:sp>
      <p:sp>
        <p:nvSpPr>
          <p:cNvPr id="11" name="Compiler error"/>
          <p:cNvSpPr/>
          <p:nvPr/>
        </p:nvSpPr>
        <p:spPr>
          <a:xfrm>
            <a:off x="5852160" y="4866640"/>
            <a:ext cx="5790895" cy="868680"/>
          </a:xfrm>
          <a:prstGeom prst="roundRect">
            <a:avLst>
              <a:gd name="adj" fmla="val 12632"/>
            </a:avLst>
          </a:prstGeom>
          <a:solidFill>
            <a:schemeClr val="bg2"/>
          </a:solidFill>
          <a:ln/>
        </p:spPr>
      </p:sp>
      <p:pic>
        <p:nvPicPr>
          <p:cNvPr id="12" name="Error icon" descr="Error icon">    </p:cNvPr>
          <p:cNvPicPr>
            <a:picLocks noChangeAspect="1"/>
          </p:cNvPicPr>
          <p:nvPr/>
        </p:nvPicPr>
        <p:blipFill>
          <a:blip r:embed="rId1"/>
          <a:stretch>
            <a:fillRect/>
          </a:stretch>
        </p:blipFill>
        <p:spPr>
          <a:xfrm>
            <a:off x="6080760" y="5118100"/>
            <a:ext cx="365760" cy="365760"/>
          </a:xfrm>
          <a:prstGeom prst="rect">
            <a:avLst/>
          </a:prstGeom>
        </p:spPr>
      </p:pic>
      <p:sp>
        <p:nvSpPr>
          <p:cNvPr id="13" name="Text 9"/>
          <p:cNvSpPr txBox="1"/>
          <p:nvPr/>
        </p:nvSpPr>
        <p:spPr>
          <a:xfrm>
            <a:off x="6583680" y="4866640"/>
            <a:ext cx="4876495" cy="868680"/>
          </a:xfrm>
          <a:prstGeom prst="rect">
            <a:avLst/>
          </a:prstGeom>
          <a:noFill/>
          <a:ln/>
        </p:spPr>
        <p:txBody>
          <a:bodyPr wrap="square" lIns="0" tIns="0" rIns="0" bIns="0" rtlCol="0" anchor="ctr"/>
          <a:lstStyle/>
          <a:p>
            <a:pPr indent="0" marL="0">
              <a:buNone/>
            </a:pPr>
            <a:r>
              <a:rPr lang="en-IE" sz="1250" b="1" dirty="0">
                <a:solidFill>
                  <a:schemeClr val="tx1"/>
                </a:solidFill>
              </a:rPr>
              <a:t>Error: </a:t>
            </a:r>
            <a:r>
              <a:rPr lang="en-IE" sz="1250" dirty="0">
                <a:solidFill>
                  <a:schemeClr val="tx1"/>
                </a:solidFill>
                <a:latin typeface="Consolas" pitchFamily="34" charset="0"/>
                <a:ea typeface="Consolas" pitchFamily="34" charset="-122"/>
                <a:cs typeface="Consolas" pitchFamily="34" charset="-120"/>
              </a:rPr>
              <a:t>types PayRoll and Finances are incompatible; class Employee inherits unrelated defaults for getYearlyRate() from types PayRoll and Finances</a:t>
            </a:r>
            <a:endParaRPr lang="en-IE" sz="1250" dirty="0"/>
          </a:p>
        </p:txBody>
      </p:sp>
      <p:sp>
        <p:nvSpPr>
          <p:cNvPr id="14" name="Note"/>
          <p:cNvSpPr/>
          <p:nvPr/>
        </p:nvSpPr>
        <p:spPr>
          <a:xfrm>
            <a:off x="548640" y="5029200"/>
            <a:ext cx="4937760" cy="914400"/>
          </a:xfrm>
          <a:prstGeom prst="roundRect">
            <a:avLst>
              <a:gd name="adj" fmla="val 12000"/>
            </a:avLst>
          </a:prstGeom>
          <a:solidFill>
            <a:schemeClr val="bg2"/>
          </a:solidFill>
          <a:ln/>
        </p:spPr>
      </p:sp>
      <p:sp>
        <p:nvSpPr>
          <p:cNvPr id="15" name="Icon tile"/>
          <p:cNvSpPr/>
          <p:nvPr/>
        </p:nvSpPr>
        <p:spPr>
          <a:xfrm>
            <a:off x="822960" y="5221224"/>
            <a:ext cx="530352" cy="530352"/>
          </a:xfrm>
          <a:prstGeom prst="roundRect">
            <a:avLst>
              <a:gd name="adj" fmla="val 24000"/>
            </a:avLst>
          </a:prstGeom>
          <a:solidFill>
            <a:schemeClr val="accent5">
              <a:alpha val="14000"/>
            </a:schemeClr>
          </a:solidFill>
          <a:ln/>
        </p:spPr>
      </p:sp>
      <p:pic>
        <p:nvPicPr>
          <p:cNvPr id="16" name="signpost icon" descr="signpost icon">    </p:cNvPr>
          <p:cNvPicPr>
            <a:picLocks noChangeAspect="1"/>
          </p:cNvPicPr>
          <p:nvPr/>
        </p:nvPicPr>
        <p:blipFill>
          <a:blip r:embed="rId2"/>
          <a:stretch>
            <a:fillRect/>
          </a:stretch>
        </p:blipFill>
        <p:spPr>
          <a:xfrm>
            <a:off x="934334" y="5332598"/>
            <a:ext cx="307604" cy="307604"/>
          </a:xfrm>
          <a:prstGeom prst="rect">
            <a:avLst/>
          </a:prstGeom>
        </p:spPr>
      </p:pic>
      <p:sp>
        <p:nvSpPr>
          <p:cNvPr id="17" name="Text 12"/>
          <p:cNvSpPr txBox="1"/>
          <p:nvPr/>
        </p:nvSpPr>
        <p:spPr>
          <a:xfrm>
            <a:off x="1572768" y="5029200"/>
            <a:ext cx="3657600" cy="914400"/>
          </a:xfrm>
          <a:prstGeom prst="rect">
            <a:avLst/>
          </a:prstGeom>
          <a:noFill/>
          <a:ln/>
        </p:spPr>
        <p:txBody>
          <a:bodyPr wrap="square" lIns="0" tIns="0" rIns="0" bIns="0" rtlCol="0" anchor="ctr"/>
          <a:lstStyle/>
          <a:p>
            <a:pPr indent="0" marL="0">
              <a:buNone/>
            </a:pPr>
            <a:r>
              <a:rPr lang="en-IE" sz="1550" dirty="0">
                <a:solidFill>
                  <a:schemeClr val="accent2"/>
                </a:solidFill>
                <a:latin typeface="Consolas" pitchFamily="34" charset="0"/>
                <a:ea typeface="Consolas" pitchFamily="34" charset="-122"/>
                <a:cs typeface="Consolas" pitchFamily="34" charset="-120"/>
              </a:rPr>
              <a:t>Finances.super.getYearlyRate()</a:t>
            </a:r>
            <a:r>
              <a:rPr lang="en-IE" sz="1550" dirty="0">
                <a:solidFill>
                  <a:schemeClr val="tx1"/>
                </a:solidFill>
              </a:rPr>
              <a:t> runs the version from Finances.</a:t>
            </a:r>
            <a:endParaRPr lang="en-IE"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43</a:t>
            </a:fld>
            <a:endParaRPr lang="en-IE"/>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Multiple 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PayRoll and Finances both have a default getYearlyRate(). Employee implements both and doesn’t override it. What happens?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compiles and uses PayRoll’s version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compiles and uses Finances’ version</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Employee must override it</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only fails when the method is called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Multiple 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PayRoll and Finances both have a default getYearlyRate(). Employee implements both and doesn’t override it. What happens?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compiles and uses PayRoll’s version</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compiles and uses Finances’ version</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Compile error: Employee must override it</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only fails when the method is called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Now both interfaces bring behaviour, and Java won’t guess which one we want. Employee must override getYearlyRate(), and can then pick one version, for example with </a:t>
            </a:r>
            <a:r>
              <a:rPr lang="en-IE" sz="1800" dirty="0">
                <a:solidFill>
                  <a:schemeClr val="accent2"/>
                </a:solidFill>
                <a:latin typeface="Consolas" pitchFamily="34" charset="0"/>
                <a:ea typeface="Consolas" pitchFamily="34" charset="-122"/>
                <a:cs typeface="Consolas" pitchFamily="34" charset="-120"/>
              </a:rPr>
              <a:t>Finances.super.getYearlyRate()</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Multiple 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Inside Employee’s getYearlyRate(), which call runs the default version from Finances?</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super.Finances.getYearlyRate();</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Finances.getYearlyRate();</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this.super.getYearlyRate();</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Finances.super.getYearlyRate();</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Multiple 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Inside Employee’s getYearlyRate(), which call runs the default version from Finances?</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super.Finances.getYearlyRate();</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Finances.getYearlyRate();</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this.super.getYearlyRate();</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Finances.super.getYearlyRate();</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The form is InterfaceName.super.method(), so </a:t>
            </a:r>
            <a:r>
              <a:rPr lang="en-IE" sz="1600" dirty="0">
                <a:solidFill>
                  <a:schemeClr val="accent2"/>
                </a:solidFill>
                <a:latin typeface="Consolas" pitchFamily="34" charset="0"/>
                <a:ea typeface="Consolas" pitchFamily="34" charset="-122"/>
                <a:cs typeface="Consolas" pitchFamily="34" charset="-120"/>
              </a:rPr>
              <a:t>Finances.super.getYearlyRate()</a:t>
            </a:r>
            <a:r>
              <a:rPr lang="en-IE" sz="1600" dirty="0">
                <a:solidFill>
                  <a:schemeClr val="tx1"/>
                </a:solidFill>
              </a:rPr>
              <a:t> runs Finances’ default version. B would only work for a static method.</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MULTIPLE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Extending an interface</a:t>
            </a:r>
            <a:endParaRPr lang="en-IE" sz="3400" dirty="0"/>
          </a:p>
        </p:txBody>
      </p:sp>
      <p:sp>
        <p:nvSpPr>
          <p:cNvPr id="5" name="Text 2"/>
          <p:cNvSpPr txBox="1"/>
          <p:nvPr/>
        </p:nvSpPr>
        <p:spPr>
          <a:xfrm>
            <a:off x="548640" y="1783080"/>
            <a:ext cx="4846320" cy="146304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An interface can extend another one, inheriting its abstract and default methods, and its constants.</a:t>
            </a:r>
            <a:endParaRPr lang="en-IE" sz="1700" dirty="0"/>
          </a:p>
          <a:p>
            <a:pPr marL="228600" indent="-228600">
              <a:buSzPct val="100000"/>
              <a:buChar char="•"/>
            </a:pPr>
            <a:r>
              <a:rPr lang="en-IE" sz="1700" dirty="0">
                <a:solidFill>
                  <a:schemeClr val="tx1"/>
                </a:solidFill>
              </a:rPr>
              <a:t>A class that implements Contacts must write getContact() and getEmail().</a:t>
            </a:r>
            <a:endParaRPr lang="en-IE" sz="1700" dirty="0"/>
          </a:p>
        </p:txBody>
      </p:sp>
      <p:sp>
        <p:nvSpPr>
          <p:cNvPr id="6" name="Email card"/>
          <p:cNvSpPr/>
          <p:nvPr/>
        </p:nvSpPr>
        <p:spPr>
          <a:xfrm>
            <a:off x="5760720" y="1737360"/>
            <a:ext cx="5882335" cy="1361440"/>
          </a:xfrm>
          <a:prstGeom prst="roundRect">
            <a:avLst>
              <a:gd name="adj" fmla="val 8060"/>
            </a:avLst>
          </a:prstGeom>
          <a:solidFill>
            <a:schemeClr val="tx1"/>
          </a:solidFill>
          <a:ln/>
          <a:effectLst>
            <a:outerShdw sx="100000" sy="100000" kx="0" ky="0" algn="bl" rotWithShape="0" blurRad="114300" dist="31750" dir="5400000">
              <a:srgbClr val="1D2433">
                <a:alpha val="12000"/>
              </a:srgbClr>
            </a:outerShdw>
          </a:effectLst>
        </p:spPr>
      </p:sp>
      <p:sp>
        <p:nvSpPr>
          <p:cNvPr id="7" name="Email text"/>
          <p:cNvSpPr txBox="1"/>
          <p:nvPr/>
        </p:nvSpPr>
        <p:spPr>
          <a:xfrm>
            <a:off x="6035040" y="1938528"/>
            <a:ext cx="5333695" cy="95910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interface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Email</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extension = </a:t>
            </a:r>
            <a:r>
              <a:rPr lang="en-IE" sz="1350" dirty="0">
                <a:solidFill>
                  <a:srgbClr val="A9DB8C"/>
                </a:solidFill>
                <a:latin typeface="Consolas" pitchFamily="34" charset="0"/>
                <a:ea typeface="Consolas" pitchFamily="34" charset="-122"/>
                <a:cs typeface="Consolas" pitchFamily="34" charset="-120"/>
              </a:rPr>
              <a:t>"@griffith.ie"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getEmail</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8" name="Contacts card"/>
          <p:cNvSpPr/>
          <p:nvPr/>
        </p:nvSpPr>
        <p:spPr>
          <a:xfrm>
            <a:off x="5760720" y="3263392"/>
            <a:ext cx="5882335" cy="1135380"/>
          </a:xfrm>
          <a:prstGeom prst="roundRect">
            <a:avLst>
              <a:gd name="adj" fmla="val 9664"/>
            </a:avLst>
          </a:prstGeom>
          <a:solidFill>
            <a:schemeClr val="tx1"/>
          </a:solidFill>
          <a:ln/>
          <a:effectLst>
            <a:outerShdw sx="100000" sy="100000" kx="0" ky="0" algn="bl" rotWithShape="0" blurRad="114300" dist="31750" dir="5400000">
              <a:srgbClr val="1D2433">
                <a:alpha val="12000"/>
              </a:srgbClr>
            </a:outerShdw>
          </a:effectLst>
        </p:spPr>
      </p:sp>
      <p:sp>
        <p:nvSpPr>
          <p:cNvPr id="9" name="Contacts text"/>
          <p:cNvSpPr txBox="1"/>
          <p:nvPr/>
        </p:nvSpPr>
        <p:spPr>
          <a:xfrm>
            <a:off x="6035040" y="3464560"/>
            <a:ext cx="5333695" cy="73304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interface</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Contacts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extends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Email</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getContact</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0" name="Staff card"/>
          <p:cNvSpPr/>
          <p:nvPr/>
        </p:nvSpPr>
        <p:spPr>
          <a:xfrm>
            <a:off x="5760720" y="4563364"/>
            <a:ext cx="5882335" cy="1361440"/>
          </a:xfrm>
          <a:prstGeom prst="roundRect">
            <a:avLst>
              <a:gd name="adj" fmla="val 8060"/>
            </a:avLst>
          </a:prstGeom>
          <a:solidFill>
            <a:schemeClr val="tx1"/>
          </a:solidFill>
          <a:ln/>
          <a:effectLst>
            <a:outerShdw sx="100000" sy="100000" kx="0" ky="0" algn="bl" rotWithShape="0" blurRad="114300" dist="31750" dir="5400000">
              <a:srgbClr val="1D2433">
                <a:alpha val="12000"/>
              </a:srgbClr>
            </a:outerShdw>
          </a:effectLst>
        </p:spPr>
      </p:sp>
      <p:sp>
        <p:nvSpPr>
          <p:cNvPr id="11" name="Staff text"/>
          <p:cNvSpPr txBox="1"/>
          <p:nvPr/>
        </p:nvSpPr>
        <p:spPr>
          <a:xfrm>
            <a:off x="6035040" y="4764532"/>
            <a:ext cx="5333695" cy="95910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class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Staff</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implements</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Contacts</a:t>
            </a: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getContact</a:t>
            </a:r>
            <a:r>
              <a:rPr lang="en-IE" sz="1350" dirty="0">
                <a:solidFill>
                  <a:srgbClr val="E6EBF2"/>
                </a:solidFill>
                <a:latin typeface="Consolas" pitchFamily="34" charset="0"/>
                <a:ea typeface="Consolas" pitchFamily="34" charset="-122"/>
                <a:cs typeface="Consolas" pitchFamily="34" charset="-120"/>
              </a:rPr>
              <a:t>() { ...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getEmail</a:t>
            </a:r>
            <a:r>
              <a:rPr lang="en-IE" sz="1350" dirty="0">
                <a:solidFill>
                  <a:srgbClr val="E6EBF2"/>
                </a:solidFill>
                <a:latin typeface="Consolas" pitchFamily="34" charset="0"/>
                <a:ea typeface="Consolas" pitchFamily="34" charset="-122"/>
                <a:cs typeface="Consolas" pitchFamily="34" charset="-120"/>
              </a:rPr>
              <a:t>()   { ...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12" name="Box Email"/>
          <p:cNvSpPr/>
          <p:nvPr/>
        </p:nvSpPr>
        <p:spPr>
          <a:xfrm>
            <a:off x="1463040" y="3520440"/>
            <a:ext cx="2834640" cy="640080"/>
          </a:xfrm>
          <a:prstGeom prst="roundRect">
            <a:avLst>
              <a:gd name="adj" fmla="val 11429"/>
            </a:avLst>
          </a:prstGeom>
          <a:solidFill>
            <a:schemeClr val="accent5">
              <a:alpha val="14000"/>
            </a:schemeClr>
          </a:solidFill>
          <a:ln w="19050">
            <a:solidFill>
              <a:schemeClr val="accent5"/>
            </a:solidFill>
            <a:prstDash val="solid"/>
          </a:ln>
        </p:spPr>
      </p:sp>
      <p:sp>
        <p:nvSpPr>
          <p:cNvPr id="13" name="Text 10"/>
          <p:cNvSpPr txBox="1"/>
          <p:nvPr/>
        </p:nvSpPr>
        <p:spPr>
          <a:xfrm>
            <a:off x="1463040" y="3566160"/>
            <a:ext cx="2834640" cy="219456"/>
          </a:xfrm>
          <a:prstGeom prst="rect">
            <a:avLst/>
          </a:prstGeom>
          <a:noFill/>
          <a:ln/>
        </p:spPr>
        <p:txBody>
          <a:bodyPr wrap="square" lIns="0" tIns="0" rIns="0" bIns="0" rtlCol="0" anchor="ctr"/>
          <a:lstStyle/>
          <a:p>
            <a:pPr algn="ctr" indent="0" marL="0">
              <a:buNone/>
            </a:pPr>
            <a:r>
              <a:rPr lang="en-IE" sz="1100" i="1" dirty="0">
                <a:solidFill>
                  <a:schemeClr val="tx2"/>
                </a:solidFill>
              </a:rPr>
              <a:t>«interface»</a:t>
            </a:r>
            <a:endParaRPr lang="en-IE" sz="1100" dirty="0"/>
          </a:p>
        </p:txBody>
      </p:sp>
      <p:sp>
        <p:nvSpPr>
          <p:cNvPr id="14" name="Text 11"/>
          <p:cNvSpPr txBox="1"/>
          <p:nvPr/>
        </p:nvSpPr>
        <p:spPr>
          <a:xfrm>
            <a:off x="1463040" y="3758184"/>
            <a:ext cx="2834640" cy="365760"/>
          </a:xfrm>
          <a:prstGeom prst="rect">
            <a:avLst/>
          </a:prstGeom>
          <a:noFill/>
          <a:ln/>
        </p:spPr>
        <p:txBody>
          <a:bodyPr wrap="square" lIns="0" tIns="0" rIns="0" bIns="0" rtlCol="0" anchor="ctr"/>
          <a:lstStyle/>
          <a:p>
            <a:pPr algn="ctr" indent="0" marL="0">
              <a:buNone/>
            </a:pPr>
            <a:r>
              <a:rPr lang="en-IE" sz="1600" b="1" dirty="0">
                <a:solidFill>
                  <a:schemeClr val="tx1"/>
                </a:solidFill>
              </a:rPr>
              <a:t>Email</a:t>
            </a:r>
            <a:endParaRPr lang="en-IE" sz="1600" dirty="0"/>
          </a:p>
        </p:txBody>
      </p:sp>
      <p:sp>
        <p:nvSpPr>
          <p:cNvPr id="15" name="Box Contacts"/>
          <p:cNvSpPr/>
          <p:nvPr/>
        </p:nvSpPr>
        <p:spPr>
          <a:xfrm>
            <a:off x="1463040" y="4553712"/>
            <a:ext cx="2834640" cy="640080"/>
          </a:xfrm>
          <a:prstGeom prst="roundRect">
            <a:avLst>
              <a:gd name="adj" fmla="val 11429"/>
            </a:avLst>
          </a:prstGeom>
          <a:solidFill>
            <a:schemeClr val="accent5">
              <a:alpha val="14000"/>
            </a:schemeClr>
          </a:solidFill>
          <a:ln w="19050">
            <a:solidFill>
              <a:schemeClr val="accent5"/>
            </a:solidFill>
            <a:prstDash val="solid"/>
          </a:ln>
        </p:spPr>
      </p:sp>
      <p:sp>
        <p:nvSpPr>
          <p:cNvPr id="16" name="Text 13"/>
          <p:cNvSpPr txBox="1"/>
          <p:nvPr/>
        </p:nvSpPr>
        <p:spPr>
          <a:xfrm>
            <a:off x="1463040" y="4599432"/>
            <a:ext cx="2834640" cy="219456"/>
          </a:xfrm>
          <a:prstGeom prst="rect">
            <a:avLst/>
          </a:prstGeom>
          <a:noFill/>
          <a:ln/>
        </p:spPr>
        <p:txBody>
          <a:bodyPr wrap="square" lIns="0" tIns="0" rIns="0" bIns="0" rtlCol="0" anchor="ctr"/>
          <a:lstStyle/>
          <a:p>
            <a:pPr algn="ctr" indent="0" marL="0">
              <a:buNone/>
            </a:pPr>
            <a:r>
              <a:rPr lang="en-IE" sz="1100" i="1" dirty="0">
                <a:solidFill>
                  <a:schemeClr val="tx2"/>
                </a:solidFill>
              </a:rPr>
              <a:t>«interface»</a:t>
            </a:r>
            <a:endParaRPr lang="en-IE" sz="1100" dirty="0"/>
          </a:p>
        </p:txBody>
      </p:sp>
      <p:sp>
        <p:nvSpPr>
          <p:cNvPr id="17" name="Text 14"/>
          <p:cNvSpPr txBox="1"/>
          <p:nvPr/>
        </p:nvSpPr>
        <p:spPr>
          <a:xfrm>
            <a:off x="1463040" y="4791456"/>
            <a:ext cx="2834640" cy="365760"/>
          </a:xfrm>
          <a:prstGeom prst="rect">
            <a:avLst/>
          </a:prstGeom>
          <a:noFill/>
          <a:ln/>
        </p:spPr>
        <p:txBody>
          <a:bodyPr wrap="square" lIns="0" tIns="0" rIns="0" bIns="0" rtlCol="0" anchor="ctr"/>
          <a:lstStyle/>
          <a:p>
            <a:pPr algn="ctr" indent="0" marL="0">
              <a:buNone/>
            </a:pPr>
            <a:r>
              <a:rPr lang="en-IE" sz="1600" b="1" dirty="0">
                <a:solidFill>
                  <a:schemeClr val="tx1"/>
                </a:solidFill>
              </a:rPr>
              <a:t>Contacts</a:t>
            </a:r>
            <a:endParaRPr lang="en-IE" sz="1600" dirty="0"/>
          </a:p>
        </p:txBody>
      </p:sp>
      <p:sp>
        <p:nvSpPr>
          <p:cNvPr id="18" name="Box Staff"/>
          <p:cNvSpPr/>
          <p:nvPr/>
        </p:nvSpPr>
        <p:spPr>
          <a:xfrm>
            <a:off x="1463040" y="5577840"/>
            <a:ext cx="2834640" cy="512064"/>
          </a:xfrm>
          <a:prstGeom prst="roundRect">
            <a:avLst>
              <a:gd name="adj" fmla="val 14286"/>
            </a:avLst>
          </a:prstGeom>
          <a:solidFill>
            <a:schemeClr val="accent2">
              <a:alpha val="14000"/>
            </a:schemeClr>
          </a:solidFill>
          <a:ln w="19050">
            <a:solidFill>
              <a:schemeClr val="accent2"/>
            </a:solidFill>
            <a:prstDash val="solid"/>
          </a:ln>
        </p:spPr>
      </p:sp>
      <p:sp>
        <p:nvSpPr>
          <p:cNvPr id="19" name="Text 16"/>
          <p:cNvSpPr txBox="1"/>
          <p:nvPr/>
        </p:nvSpPr>
        <p:spPr>
          <a:xfrm>
            <a:off x="1463040" y="5577840"/>
            <a:ext cx="2834640" cy="512064"/>
          </a:xfrm>
          <a:prstGeom prst="rect">
            <a:avLst/>
          </a:prstGeom>
          <a:noFill/>
          <a:ln/>
        </p:spPr>
        <p:txBody>
          <a:bodyPr wrap="square" lIns="0" tIns="0" rIns="0" bIns="0" rtlCol="0" anchor="ctr"/>
          <a:lstStyle/>
          <a:p>
            <a:pPr algn="ctr" indent="0" marL="0">
              <a:buNone/>
            </a:pPr>
            <a:r>
              <a:rPr lang="en-IE" sz="1600" b="1" dirty="0">
                <a:solidFill>
                  <a:schemeClr val="tx1"/>
                </a:solidFill>
              </a:rPr>
              <a:t>Staff</a:t>
            </a:r>
            <a:endParaRPr lang="en-IE" sz="1600" dirty="0"/>
          </a:p>
        </p:txBody>
      </p:sp>
      <p:sp>
        <p:nvSpPr>
          <p:cNvPr id="20" name="Line"/>
          <p:cNvSpPr/>
          <p:nvPr/>
        </p:nvSpPr>
        <p:spPr>
          <a:xfrm flipV="1">
            <a:off x="2880360" y="4343400"/>
            <a:ext cx="0" cy="210312"/>
          </a:xfrm>
          <a:prstGeom prst="line">
            <a:avLst/>
          </a:prstGeom>
          <a:noFill/>
          <a:ln w="19050">
            <a:solidFill>
              <a:schemeClr val="tx1"/>
            </a:solidFill>
            <a:prstDash val="solid"/>
          </a:ln>
        </p:spPr>
      </p:sp>
      <p:sp>
        <p:nvSpPr>
          <p:cNvPr id="21" name="Inheritance arrow head"/>
          <p:cNvSpPr/>
          <p:nvPr/>
        </p:nvSpPr>
        <p:spPr>
          <a:xfrm>
            <a:off x="2770632" y="4160520"/>
            <a:ext cx="219456" cy="182880"/>
          </a:xfrm>
          <a:prstGeom prst="triangle">
            <a:avLst/>
          </a:prstGeom>
          <a:solidFill>
            <a:schemeClr val="bg1"/>
          </a:solidFill>
          <a:ln w="19050">
            <a:solidFill>
              <a:schemeClr val="tx1"/>
            </a:solidFill>
            <a:prstDash val="solid"/>
          </a:ln>
        </p:spPr>
      </p:sp>
      <p:sp>
        <p:nvSpPr>
          <p:cNvPr id="22" name="Line"/>
          <p:cNvSpPr/>
          <p:nvPr/>
        </p:nvSpPr>
        <p:spPr>
          <a:xfrm flipV="1">
            <a:off x="2880360" y="5376672"/>
            <a:ext cx="0" cy="201168"/>
          </a:xfrm>
          <a:prstGeom prst="line">
            <a:avLst/>
          </a:prstGeom>
          <a:noFill/>
          <a:ln w="19050">
            <a:solidFill>
              <a:schemeClr val="tx1"/>
            </a:solidFill>
            <a:prstDash val="dash"/>
          </a:ln>
        </p:spPr>
      </p:sp>
      <p:sp>
        <p:nvSpPr>
          <p:cNvPr id="23" name="Inheritance arrow head"/>
          <p:cNvSpPr/>
          <p:nvPr/>
        </p:nvSpPr>
        <p:spPr>
          <a:xfrm>
            <a:off x="2770632" y="5193792"/>
            <a:ext cx="219456" cy="182880"/>
          </a:xfrm>
          <a:prstGeom prst="triangle">
            <a:avLst/>
          </a:prstGeom>
          <a:solidFill>
            <a:schemeClr val="bg1"/>
          </a:solidFill>
          <a:ln w="19050">
            <a:solidFill>
              <a:schemeClr val="tx1"/>
            </a:solidFill>
            <a:prstDash val="solid"/>
          </a:ln>
        </p:spPr>
      </p:sp>
      <p:sp>
        <p:nvSpPr>
          <p:cNvPr id="24" name="Text 21"/>
          <p:cNvSpPr txBox="1"/>
          <p:nvPr/>
        </p:nvSpPr>
        <p:spPr>
          <a:xfrm>
            <a:off x="3081528" y="4215384"/>
            <a:ext cx="1463040" cy="292608"/>
          </a:xfrm>
          <a:prstGeom prst="rect">
            <a:avLst/>
          </a:prstGeom>
          <a:noFill/>
          <a:ln/>
        </p:spPr>
        <p:txBody>
          <a:bodyPr wrap="square" lIns="0" tIns="0" rIns="0" bIns="0" rtlCol="0" anchor="t"/>
          <a:lstStyle/>
          <a:p>
            <a:pPr indent="0" marL="0">
              <a:buNone/>
            </a:pPr>
            <a:r>
              <a:rPr lang="en-IE" sz="1250" i="1" dirty="0">
                <a:solidFill>
                  <a:schemeClr val="tx2"/>
                </a:solidFill>
              </a:rPr>
              <a:t>extends</a:t>
            </a:r>
            <a:endParaRPr lang="en-IE" sz="1250" dirty="0"/>
          </a:p>
        </p:txBody>
      </p:sp>
      <p:sp>
        <p:nvSpPr>
          <p:cNvPr id="25" name="Text 22"/>
          <p:cNvSpPr txBox="1"/>
          <p:nvPr/>
        </p:nvSpPr>
        <p:spPr>
          <a:xfrm>
            <a:off x="3081528" y="5248656"/>
            <a:ext cx="1463040" cy="292608"/>
          </a:xfrm>
          <a:prstGeom prst="rect">
            <a:avLst/>
          </a:prstGeom>
          <a:noFill/>
          <a:ln/>
        </p:spPr>
        <p:txBody>
          <a:bodyPr wrap="square" lIns="0" tIns="0" rIns="0" bIns="0" rtlCol="0" anchor="t"/>
          <a:lstStyle/>
          <a:p>
            <a:pPr indent="0" marL="0">
              <a:buNone/>
            </a:pPr>
            <a:r>
              <a:rPr lang="en-IE" sz="1250" i="1" dirty="0">
                <a:solidFill>
                  <a:schemeClr val="tx2"/>
                </a:solidFill>
              </a:rPr>
              <a:t>implements</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Extending an interface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is the correct way for the interface Contacts to build on the interface Email?</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interface Contacts implements Email {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interface Contacts extends Email {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class Contacts extends interface Email {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interface Contacts inherits Email {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Extending an interface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is the correct way for the interface Contacts to build on the interface Email?</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interface Contacts implements Email { }</a:t>
            </a:r>
            <a:endParaRPr lang="en-IE"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532888"/>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interface Contacts extends Email { }</a:t>
            </a:r>
            <a:endParaRPr lang="en-IE" sz="1700" dirty="0"/>
          </a:p>
        </p:txBody>
      </p:sp>
      <p:pic>
        <p:nvPicPr>
          <p:cNvPr id="11" name="Correct mark"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class Contacts extends interface Email { }</a:t>
            </a:r>
            <a:endParaRPr lang="en-IE"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interface Contacts inherits Email { }</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An interface extends another interface, and inherits its abstract and default methods and its constants. Only classes implement interfaces.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MULTIPLE INTERFACES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Extending vs implementing</a:t>
            </a:r>
            <a:endParaRPr lang="en-IE" sz="3400" dirty="0"/>
          </a:p>
        </p:txBody>
      </p:sp>
      <p:sp>
        <p:nvSpPr>
          <p:cNvPr id="5" name="A class"/>
          <p:cNvSpPr/>
          <p:nvPr/>
        </p:nvSpPr>
        <p:spPr>
          <a:xfrm>
            <a:off x="548640" y="1691640"/>
            <a:ext cx="5387188" cy="3429000"/>
          </a:xfrm>
          <a:prstGeom prst="roundRect">
            <a:avLst>
              <a:gd name="adj" fmla="val 32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2">
              <a:alpha val="14000"/>
            </a:schemeClr>
          </a:solidFill>
          <a:ln/>
        </p:spPr>
      </p:sp>
      <p:pic>
        <p:nvPicPr>
          <p:cNvPr id="7" name="cube icon" descr="cube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indent="0" marL="0">
              <a:buNone/>
            </a:pPr>
            <a:r>
              <a:rPr lang="en-IE" sz="2400" b="1" dirty="0">
                <a:solidFill>
                  <a:schemeClr val="accent2"/>
                </a:solidFill>
              </a:rPr>
              <a:t>A class</a:t>
            </a:r>
            <a:endParaRPr lang="en-IE" sz="2400" dirty="0"/>
          </a:p>
        </p:txBody>
      </p:sp>
      <p:sp>
        <p:nvSpPr>
          <p:cNvPr id="9" name="Text 5"/>
          <p:cNvSpPr txBox="1"/>
          <p:nvPr/>
        </p:nvSpPr>
        <p:spPr>
          <a:xfrm>
            <a:off x="868680" y="2834640"/>
            <a:ext cx="4747108" cy="2148840"/>
          </a:xfrm>
          <a:prstGeom prst="rect">
            <a:avLst/>
          </a:prstGeom>
          <a:noFill/>
          <a:ln/>
        </p:spPr>
        <p:txBody>
          <a:bodyPr wrap="square" lIns="0" tIns="0" rIns="0" bIns="0" rtlCol="0" anchor="t"/>
          <a:lstStyle/>
          <a:p>
            <a:pPr marL="228600" indent="-228600">
              <a:spcAft>
                <a:spcPts val="1000"/>
              </a:spcAft>
              <a:buSzPct val="100000"/>
              <a:buChar char="•"/>
            </a:pPr>
            <a:r>
              <a:rPr lang="en-IE" sz="1600" dirty="0">
                <a:solidFill>
                  <a:schemeClr val="tx1"/>
                </a:solidFill>
              </a:rPr>
              <a:t>Contains the behaviour of its methods.</a:t>
            </a:r>
            <a:endParaRPr lang="en-IE" sz="1600" dirty="0"/>
          </a:p>
          <a:p>
            <a:pPr marL="228600" indent="-228600">
              <a:spcAft>
                <a:spcPts val="1000"/>
              </a:spcAft>
              <a:buSzPct val="100000"/>
              <a:buChar char="•"/>
            </a:pPr>
            <a:r>
              <a:rPr lang="en-IE" sz="1600" dirty="0">
                <a:solidFill>
                  <a:schemeClr val="tx1"/>
                </a:solidFill>
              </a:rPr>
              <a:t>Can be run, if it has a main method.</a:t>
            </a:r>
            <a:endParaRPr lang="en-IE" sz="1600" dirty="0"/>
          </a:p>
          <a:p>
            <a:pPr marL="228600" indent="-228600">
              <a:spcAft>
                <a:spcPts val="1000"/>
              </a:spcAft>
              <a:buSzPct val="100000"/>
              <a:buChar char="•"/>
            </a:pPr>
            <a:r>
              <a:rPr lang="en-IE" sz="1600" dirty="0">
                <a:solidFill>
                  <a:schemeClr val="tx1"/>
                </a:solidFill>
              </a:rPr>
              <a:t>We can create objects of a concrete class.</a:t>
            </a:r>
            <a:endParaRPr lang="en-IE" sz="1600" dirty="0"/>
          </a:p>
          <a:p>
            <a:pPr marL="228600" indent="-228600">
              <a:buSzPct val="100000"/>
              <a:buChar char="•"/>
            </a:pPr>
            <a:r>
              <a:rPr lang="en-IE" sz="1600" dirty="0">
                <a:solidFill>
                  <a:schemeClr val="tx1"/>
                </a:solidFill>
              </a:rPr>
              <a:t>A class can extend only one class.</a:t>
            </a:r>
            <a:endParaRPr lang="en-IE" sz="1600" dirty="0"/>
          </a:p>
        </p:txBody>
      </p:sp>
      <p:sp>
        <p:nvSpPr>
          <p:cNvPr id="10" name="An interface"/>
          <p:cNvSpPr/>
          <p:nvPr/>
        </p:nvSpPr>
        <p:spPr>
          <a:xfrm>
            <a:off x="6255868" y="1691640"/>
            <a:ext cx="5387188" cy="3429000"/>
          </a:xfrm>
          <a:prstGeom prst="roundRect">
            <a:avLst>
              <a:gd name="adj" fmla="val 3200"/>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30188" y="1965960"/>
            <a:ext cx="640080" cy="640080"/>
          </a:xfrm>
          <a:prstGeom prst="roundRect">
            <a:avLst>
              <a:gd name="adj" fmla="val 24000"/>
            </a:avLst>
          </a:prstGeom>
          <a:solidFill>
            <a:schemeClr val="accent5">
              <a:alpha val="14000"/>
            </a:schemeClr>
          </a:solidFill>
          <a:ln/>
        </p:spPr>
      </p:sp>
      <p:pic>
        <p:nvPicPr>
          <p:cNvPr id="12" name="clipboard text icon" descr="clipboard text icon">    </p:cNvPr>
          <p:cNvPicPr>
            <a:picLocks noChangeAspect="1"/>
          </p:cNvPicPr>
          <p:nvPr/>
        </p:nvPicPr>
        <p:blipFill>
          <a:blip r:embed="rId2"/>
          <a:stretch>
            <a:fillRect/>
          </a:stretch>
        </p:blipFill>
        <p:spPr>
          <a:xfrm>
            <a:off x="6664604" y="2100377"/>
            <a:ext cx="371246" cy="371246"/>
          </a:xfrm>
          <a:prstGeom prst="rect">
            <a:avLst/>
          </a:prstGeom>
        </p:spPr>
      </p:pic>
      <p:sp>
        <p:nvSpPr>
          <p:cNvPr id="13" name="Text 8"/>
          <p:cNvSpPr txBox="1"/>
          <p:nvPr/>
        </p:nvSpPr>
        <p:spPr>
          <a:xfrm>
            <a:off x="7307428" y="1965960"/>
            <a:ext cx="4107028" cy="640080"/>
          </a:xfrm>
          <a:prstGeom prst="rect">
            <a:avLst/>
          </a:prstGeom>
          <a:noFill/>
          <a:ln/>
        </p:spPr>
        <p:txBody>
          <a:bodyPr wrap="square" lIns="0" tIns="0" rIns="0" bIns="0" rtlCol="0" anchor="ctr"/>
          <a:lstStyle/>
          <a:p>
            <a:pPr indent="0" marL="0">
              <a:buNone/>
            </a:pPr>
            <a:r>
              <a:rPr lang="en-IE" sz="2400" b="1" dirty="0">
                <a:solidFill>
                  <a:schemeClr val="accent5"/>
                </a:solidFill>
              </a:rPr>
              <a:t>An interface</a:t>
            </a:r>
            <a:endParaRPr lang="en-IE" sz="2400" dirty="0"/>
          </a:p>
        </p:txBody>
      </p:sp>
      <p:sp>
        <p:nvSpPr>
          <p:cNvPr id="14" name="Text 9"/>
          <p:cNvSpPr txBox="1"/>
          <p:nvPr/>
        </p:nvSpPr>
        <p:spPr>
          <a:xfrm>
            <a:off x="6575908" y="2834640"/>
            <a:ext cx="4747108" cy="2148840"/>
          </a:xfrm>
          <a:prstGeom prst="rect">
            <a:avLst/>
          </a:prstGeom>
          <a:noFill/>
          <a:ln/>
        </p:spPr>
        <p:txBody>
          <a:bodyPr wrap="square" lIns="0" tIns="0" rIns="0" bIns="0" rtlCol="0" anchor="t"/>
          <a:lstStyle/>
          <a:p>
            <a:pPr marL="228600" indent="-228600">
              <a:spcAft>
                <a:spcPts val="1000"/>
              </a:spcAft>
              <a:buSzPct val="100000"/>
              <a:buChar char="•"/>
            </a:pPr>
            <a:r>
              <a:rPr lang="en-IE" sz="1600" dirty="0">
                <a:solidFill>
                  <a:schemeClr val="tx1"/>
                </a:solidFill>
              </a:rPr>
              <a:t>Contains only the structure (plus static and default methods).</a:t>
            </a:r>
            <a:endParaRPr lang="en-IE" sz="1600" dirty="0"/>
          </a:p>
          <a:p>
            <a:pPr marL="228600" indent="-228600">
              <a:spcAft>
                <a:spcPts val="1000"/>
              </a:spcAft>
              <a:buSzPct val="100000"/>
              <a:buChar char="•"/>
            </a:pPr>
            <a:r>
              <a:rPr lang="en-IE" sz="1600" dirty="0">
                <a:solidFill>
                  <a:schemeClr val="tx1"/>
                </a:solidFill>
              </a:rPr>
              <a:t>Has no constructor and no objects. A class can only implement it.</a:t>
            </a:r>
            <a:endParaRPr lang="en-IE" sz="1600" dirty="0"/>
          </a:p>
          <a:p>
            <a:pPr marL="228600" indent="-228600">
              <a:spcAft>
                <a:spcPts val="1000"/>
              </a:spcAft>
              <a:buSzPct val="100000"/>
              <a:buChar char="•"/>
            </a:pPr>
            <a:r>
              <a:rPr lang="en-IE" sz="1600" dirty="0">
                <a:solidFill>
                  <a:schemeClr val="tx1"/>
                </a:solidFill>
              </a:rPr>
              <a:t>Its attributes are constants. A class can override only its abstract and default methods.</a:t>
            </a:r>
            <a:endParaRPr lang="en-IE" sz="1600" dirty="0"/>
          </a:p>
          <a:p>
            <a:pPr marL="228600" indent="-228600">
              <a:buSzPct val="100000"/>
              <a:buChar char="•"/>
            </a:pPr>
            <a:r>
              <a:rPr lang="en-IE" sz="1600" dirty="0">
                <a:solidFill>
                  <a:schemeClr val="tx1"/>
                </a:solidFill>
              </a:rPr>
              <a:t>A class can implement many interfaces.</a:t>
            </a:r>
            <a:endParaRPr lang="en-IE" sz="1600" dirty="0"/>
          </a:p>
        </p:txBody>
      </p:sp>
      <p:sp>
        <p:nvSpPr>
          <p:cNvPr id="15" name="Note"/>
          <p:cNvSpPr/>
          <p:nvPr/>
        </p:nvSpPr>
        <p:spPr>
          <a:xfrm>
            <a:off x="548640" y="5349240"/>
            <a:ext cx="11094415" cy="731520"/>
          </a:xfrm>
          <a:prstGeom prst="roundRect">
            <a:avLst>
              <a:gd name="adj" fmla="val 15000"/>
            </a:avLst>
          </a:prstGeom>
          <a:solidFill>
            <a:schemeClr val="bg2"/>
          </a:solidFill>
          <a:ln/>
        </p:spPr>
      </p:sp>
      <p:sp>
        <p:nvSpPr>
          <p:cNvPr id="16" name="Icon tile"/>
          <p:cNvSpPr/>
          <p:nvPr/>
        </p:nvSpPr>
        <p:spPr>
          <a:xfrm>
            <a:off x="822960" y="5449824"/>
            <a:ext cx="530352" cy="530352"/>
          </a:xfrm>
          <a:prstGeom prst="roundRect">
            <a:avLst>
              <a:gd name="adj" fmla="val 24000"/>
            </a:avLst>
          </a:prstGeom>
          <a:solidFill>
            <a:schemeClr val="accent2">
              <a:alpha val="14000"/>
            </a:schemeClr>
          </a:solidFill>
          <a:ln/>
        </p:spPr>
      </p:sp>
      <p:pic>
        <p:nvPicPr>
          <p:cNvPr id="17" name="plugs icon" descr="plugs icon">    </p:cNvPr>
          <p:cNvPicPr>
            <a:picLocks noChangeAspect="1"/>
          </p:cNvPicPr>
          <p:nvPr/>
        </p:nvPicPr>
        <p:blipFill>
          <a:blip r:embed="rId3"/>
          <a:stretch>
            <a:fillRect/>
          </a:stretch>
        </p:blipFill>
        <p:spPr>
          <a:xfrm>
            <a:off x="934334" y="5561198"/>
            <a:ext cx="307604" cy="307604"/>
          </a:xfrm>
          <a:prstGeom prst="rect">
            <a:avLst/>
          </a:prstGeom>
        </p:spPr>
      </p:pic>
      <p:sp>
        <p:nvSpPr>
          <p:cNvPr id="18" name="Text 12"/>
          <p:cNvSpPr txBox="1"/>
          <p:nvPr/>
        </p:nvSpPr>
        <p:spPr>
          <a:xfrm>
            <a:off x="1572768" y="5349240"/>
            <a:ext cx="9814255" cy="731520"/>
          </a:xfrm>
          <a:prstGeom prst="rect">
            <a:avLst/>
          </a:prstGeom>
          <a:noFill/>
          <a:ln/>
        </p:spPr>
        <p:txBody>
          <a:bodyPr wrap="square" lIns="0" tIns="0" rIns="0" bIns="0" rtlCol="0" anchor="ctr"/>
          <a:lstStyle/>
          <a:p>
            <a:pPr indent="0" marL="0">
              <a:buNone/>
            </a:pPr>
            <a:r>
              <a:rPr lang="en-IE" sz="1600" dirty="0">
                <a:solidFill>
                  <a:schemeClr val="tx1"/>
                </a:solidFill>
              </a:rPr>
              <a:t>One class can do both, as in </a:t>
            </a:r>
            <a:r>
              <a:rPr lang="en-IE" sz="1600" dirty="0">
                <a:solidFill>
                  <a:schemeClr val="accent2"/>
                </a:solidFill>
                <a:latin typeface="Consolas" pitchFamily="34" charset="0"/>
                <a:ea typeface="Consolas" pitchFamily="34" charset="-122"/>
                <a:cs typeface="Consolas" pitchFamily="34" charset="-120"/>
              </a:rPr>
              <a:t>class FullTimeEmployee extends Employee implements PayRoll</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51</a:t>
            </a:fld>
            <a:endParaRPr lang="en-I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Extending vs implementing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can we do with interfaces?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Implement several of them in one class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Create objects from them with </a:t>
            </a:r>
            <a:r>
              <a:rPr lang="en-IE" sz="2000" dirty="0">
                <a:solidFill>
                  <a:schemeClr val="accent2"/>
                </a:solidFill>
                <a:latin typeface="Consolas" pitchFamily="34" charset="0"/>
                <a:ea typeface="Consolas" pitchFamily="34" charset="-122"/>
                <a:cs typeface="Consolas" pitchFamily="34" charset="-120"/>
              </a:rPr>
              <a:t>new</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Give them a constructor, like a class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Store attributes that change for each object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Extending vs implementing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can we do with interfaces?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Implement several of them in one class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Create objects from them with </a:t>
            </a:r>
            <a:r>
              <a:rPr lang="en-IE" sz="1700" dirty="0">
                <a:solidFill>
                  <a:schemeClr val="tx2"/>
                </a:solidFill>
                <a:latin typeface="Consolas" pitchFamily="34" charset="0"/>
                <a:ea typeface="Consolas" pitchFamily="34" charset="-122"/>
                <a:cs typeface="Consolas" pitchFamily="34" charset="-120"/>
              </a:rPr>
              <a:t>new</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Give them a constructor, like a class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Store attributes that change for each object</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class can implement many interfaces, but extend only one class. An interface has no constructor and no objects, and its attributes are constants.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05</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Benefits and polymorphism</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Why we use interfaces, and parent types</a:t>
            </a:r>
            <a:endParaRPr lang="en-IE" sz="2000" dirty="0"/>
          </a:p>
        </p:txBody>
      </p:sp>
      <p:sp>
        <p:nvSpPr>
          <p:cNvPr id="5" name="Topic chip"/>
          <p:cNvSpPr/>
          <p:nvPr/>
        </p:nvSpPr>
        <p:spPr>
          <a:xfrm>
            <a:off x="822960"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Consistency</a:t>
            </a:r>
            <a:endParaRPr lang="en-IE" sz="1400" dirty="0"/>
          </a:p>
        </p:txBody>
      </p:sp>
      <p:sp>
        <p:nvSpPr>
          <p:cNvPr id="6" name="Topic chip"/>
          <p:cNvSpPr/>
          <p:nvPr/>
        </p:nvSpPr>
        <p:spPr>
          <a:xfrm>
            <a:off x="2388616"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Testing</a:t>
            </a:r>
            <a:endParaRPr lang="en-IE" sz="1400" dirty="0"/>
          </a:p>
        </p:txBody>
      </p:sp>
      <p:sp>
        <p:nvSpPr>
          <p:cNvPr id="7" name="Topic chip"/>
          <p:cNvSpPr/>
          <p:nvPr/>
        </p:nvSpPr>
        <p:spPr>
          <a:xfrm>
            <a:off x="3584448" y="4846320"/>
            <a:ext cx="151180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Polymorphism</a:t>
            </a:r>
            <a:endParaRPr lang="en-IE" sz="1400" dirty="0"/>
          </a:p>
        </p:txBody>
      </p:sp>
      <p:sp>
        <p:nvSpPr>
          <p:cNvPr id="8" name="Topic chip"/>
          <p:cNvSpPr/>
          <p:nvPr/>
        </p:nvSpPr>
        <p:spPr>
          <a:xfrm>
            <a:off x="5242560"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Casting</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BENEFITS AND POLYMORPHISM</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Why use interfaces?</a:t>
            </a:r>
            <a:endParaRPr lang="en-IE" sz="3400" dirty="0"/>
          </a:p>
        </p:txBody>
      </p:sp>
      <p:sp>
        <p:nvSpPr>
          <p:cNvPr id="5" name="Consistency"/>
          <p:cNvSpPr/>
          <p:nvPr/>
        </p:nvSpPr>
        <p:spPr>
          <a:xfrm>
            <a:off x="548640" y="1783080"/>
            <a:ext cx="3515258" cy="3108960"/>
          </a:xfrm>
          <a:prstGeom prst="roundRect">
            <a:avLst>
              <a:gd name="adj" fmla="val 3529"/>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57400"/>
            <a:ext cx="713232" cy="713232"/>
          </a:xfrm>
          <a:prstGeom prst="roundRect">
            <a:avLst>
              <a:gd name="adj" fmla="val 24000"/>
            </a:avLst>
          </a:prstGeom>
          <a:solidFill>
            <a:schemeClr val="accent2">
              <a:alpha val="14000"/>
            </a:schemeClr>
          </a:solidFill>
          <a:ln/>
        </p:spPr>
      </p:sp>
      <p:pic>
        <p:nvPicPr>
          <p:cNvPr id="7" name="ruler icon" descr="ruler icon">    </p:cNvPr>
          <p:cNvPicPr>
            <a:picLocks noChangeAspect="1"/>
          </p:cNvPicPr>
          <p:nvPr/>
        </p:nvPicPr>
        <p:blipFill>
          <a:blip r:embed="rId1"/>
          <a:stretch>
            <a:fillRect/>
          </a:stretch>
        </p:blipFill>
        <p:spPr>
          <a:xfrm>
            <a:off x="972739" y="2207179"/>
            <a:ext cx="413675" cy="413675"/>
          </a:xfrm>
          <a:prstGeom prst="rect">
            <a:avLst/>
          </a:prstGeom>
        </p:spPr>
      </p:pic>
      <p:sp>
        <p:nvSpPr>
          <p:cNvPr id="8" name="Text 4"/>
          <p:cNvSpPr txBox="1"/>
          <p:nvPr/>
        </p:nvSpPr>
        <p:spPr>
          <a:xfrm>
            <a:off x="822960" y="2880360"/>
            <a:ext cx="2966618" cy="457200"/>
          </a:xfrm>
          <a:prstGeom prst="rect">
            <a:avLst/>
          </a:prstGeom>
          <a:noFill/>
          <a:ln/>
        </p:spPr>
        <p:txBody>
          <a:bodyPr wrap="square" lIns="0" tIns="0" rIns="0" bIns="0" rtlCol="0" anchor="t"/>
          <a:lstStyle/>
          <a:p>
            <a:pPr indent="0" marL="0">
              <a:buNone/>
            </a:pPr>
            <a:r>
              <a:rPr lang="en-IE" sz="2200" b="1" dirty="0">
                <a:solidFill>
                  <a:schemeClr val="tx1"/>
                </a:solidFill>
              </a:rPr>
              <a:t>Consistency</a:t>
            </a:r>
            <a:endParaRPr lang="en-IE" sz="2200" dirty="0"/>
          </a:p>
        </p:txBody>
      </p:sp>
      <p:sp>
        <p:nvSpPr>
          <p:cNvPr id="9" name="Text 5"/>
          <p:cNvSpPr txBox="1"/>
          <p:nvPr/>
        </p:nvSpPr>
        <p:spPr>
          <a:xfrm>
            <a:off x="822960" y="3392424"/>
            <a:ext cx="2966618" cy="1298448"/>
          </a:xfrm>
          <a:prstGeom prst="rect">
            <a:avLst/>
          </a:prstGeom>
          <a:noFill/>
          <a:ln/>
        </p:spPr>
        <p:txBody>
          <a:bodyPr wrap="square" lIns="0" tIns="0" rIns="0" bIns="0" rtlCol="0" anchor="t"/>
          <a:lstStyle/>
          <a:p>
            <a:pPr indent="0" marL="0">
              <a:buNone/>
            </a:pPr>
            <a:r>
              <a:rPr lang="en-IE" sz="1600" dirty="0">
                <a:solidFill>
                  <a:schemeClr val="tx2"/>
                </a:solidFill>
              </a:rPr>
              <a:t>Everyone uses the same structure. When the parts of a project are combined, we don’t need to worry whether everything is named the same way.</a:t>
            </a:r>
            <a:endParaRPr lang="en-IE" sz="1600" dirty="0"/>
          </a:p>
        </p:txBody>
      </p:sp>
      <p:sp>
        <p:nvSpPr>
          <p:cNvPr id="10" name="Testing"/>
          <p:cNvSpPr/>
          <p:nvPr/>
        </p:nvSpPr>
        <p:spPr>
          <a:xfrm>
            <a:off x="4338218" y="1783080"/>
            <a:ext cx="3515258" cy="3108960"/>
          </a:xfrm>
          <a:prstGeom prst="roundRect">
            <a:avLst>
              <a:gd name="adj" fmla="val 3529"/>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4612538" y="2057400"/>
            <a:ext cx="713232" cy="713232"/>
          </a:xfrm>
          <a:prstGeom prst="roundRect">
            <a:avLst>
              <a:gd name="adj" fmla="val 24000"/>
            </a:avLst>
          </a:prstGeom>
          <a:solidFill>
            <a:schemeClr val="accent3">
              <a:alpha val="14000"/>
            </a:schemeClr>
          </a:solidFill>
          <a:ln/>
        </p:spPr>
      </p:sp>
      <p:pic>
        <p:nvPicPr>
          <p:cNvPr id="12" name="test tube icon" descr="test tube icon">    </p:cNvPr>
          <p:cNvPicPr>
            <a:picLocks noChangeAspect="1"/>
          </p:cNvPicPr>
          <p:nvPr/>
        </p:nvPicPr>
        <p:blipFill>
          <a:blip r:embed="rId2"/>
          <a:stretch>
            <a:fillRect/>
          </a:stretch>
        </p:blipFill>
        <p:spPr>
          <a:xfrm>
            <a:off x="4762317" y="2207179"/>
            <a:ext cx="413675" cy="413675"/>
          </a:xfrm>
          <a:prstGeom prst="rect">
            <a:avLst/>
          </a:prstGeom>
        </p:spPr>
      </p:pic>
      <p:sp>
        <p:nvSpPr>
          <p:cNvPr id="13" name="Text 8"/>
          <p:cNvSpPr txBox="1"/>
          <p:nvPr/>
        </p:nvSpPr>
        <p:spPr>
          <a:xfrm>
            <a:off x="4612538" y="2880360"/>
            <a:ext cx="2966618" cy="457200"/>
          </a:xfrm>
          <a:prstGeom prst="rect">
            <a:avLst/>
          </a:prstGeom>
          <a:noFill/>
          <a:ln/>
        </p:spPr>
        <p:txBody>
          <a:bodyPr wrap="square" lIns="0" tIns="0" rIns="0" bIns="0" rtlCol="0" anchor="t"/>
          <a:lstStyle/>
          <a:p>
            <a:pPr indent="0" marL="0">
              <a:buNone/>
            </a:pPr>
            <a:r>
              <a:rPr lang="en-IE" sz="2200" b="1" dirty="0">
                <a:solidFill>
                  <a:schemeClr val="tx1"/>
                </a:solidFill>
              </a:rPr>
              <a:t>Testing</a:t>
            </a:r>
            <a:endParaRPr lang="en-IE" sz="2200" dirty="0"/>
          </a:p>
        </p:txBody>
      </p:sp>
      <p:sp>
        <p:nvSpPr>
          <p:cNvPr id="14" name="Text 9"/>
          <p:cNvSpPr txBox="1"/>
          <p:nvPr/>
        </p:nvSpPr>
        <p:spPr>
          <a:xfrm>
            <a:off x="4612538" y="3392424"/>
            <a:ext cx="2966618" cy="1298448"/>
          </a:xfrm>
          <a:prstGeom prst="rect">
            <a:avLst/>
          </a:prstGeom>
          <a:noFill/>
          <a:ln/>
        </p:spPr>
        <p:txBody>
          <a:bodyPr wrap="square" lIns="0" tIns="0" rIns="0" bIns="0" rtlCol="0" anchor="t"/>
          <a:lstStyle/>
          <a:p>
            <a:pPr indent="0" marL="0">
              <a:buNone/>
            </a:pPr>
            <a:r>
              <a:rPr lang="en-IE" sz="1600" dirty="0">
                <a:solidFill>
                  <a:schemeClr val="tx2"/>
                </a:solidFill>
              </a:rPr>
              <a:t>We already know what the methods are called and what goes in and out, so we can write the tests before we even write the classes.</a:t>
            </a:r>
            <a:endParaRPr lang="en-IE" sz="1600" dirty="0"/>
          </a:p>
        </p:txBody>
      </p:sp>
      <p:sp>
        <p:nvSpPr>
          <p:cNvPr id="15" name="Faster development"/>
          <p:cNvSpPr/>
          <p:nvPr/>
        </p:nvSpPr>
        <p:spPr>
          <a:xfrm>
            <a:off x="8127797" y="1783080"/>
            <a:ext cx="3515258" cy="3108960"/>
          </a:xfrm>
          <a:prstGeom prst="roundRect">
            <a:avLst>
              <a:gd name="adj" fmla="val 3529"/>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8402117" y="2057400"/>
            <a:ext cx="713232" cy="713232"/>
          </a:xfrm>
          <a:prstGeom prst="roundRect">
            <a:avLst>
              <a:gd name="adj" fmla="val 24000"/>
            </a:avLst>
          </a:prstGeom>
          <a:solidFill>
            <a:schemeClr val="accent1">
              <a:alpha val="14000"/>
            </a:schemeClr>
          </a:solidFill>
          <a:ln/>
        </p:spPr>
      </p:sp>
      <p:pic>
        <p:nvPicPr>
          <p:cNvPr id="17" name="rocket launch icon" descr="rocket launch icon">    </p:cNvPr>
          <p:cNvPicPr>
            <a:picLocks noChangeAspect="1"/>
          </p:cNvPicPr>
          <p:nvPr/>
        </p:nvPicPr>
        <p:blipFill>
          <a:blip r:embed="rId3"/>
          <a:stretch>
            <a:fillRect/>
          </a:stretch>
        </p:blipFill>
        <p:spPr>
          <a:xfrm>
            <a:off x="8551896" y="2207179"/>
            <a:ext cx="413675" cy="413675"/>
          </a:xfrm>
          <a:prstGeom prst="rect">
            <a:avLst/>
          </a:prstGeom>
        </p:spPr>
      </p:pic>
      <p:sp>
        <p:nvSpPr>
          <p:cNvPr id="18" name="Text 12"/>
          <p:cNvSpPr txBox="1"/>
          <p:nvPr/>
        </p:nvSpPr>
        <p:spPr>
          <a:xfrm>
            <a:off x="8402117" y="2880360"/>
            <a:ext cx="2966618" cy="457200"/>
          </a:xfrm>
          <a:prstGeom prst="rect">
            <a:avLst/>
          </a:prstGeom>
          <a:noFill/>
          <a:ln/>
        </p:spPr>
        <p:txBody>
          <a:bodyPr wrap="square" lIns="0" tIns="0" rIns="0" bIns="0" rtlCol="0" anchor="t"/>
          <a:lstStyle/>
          <a:p>
            <a:pPr indent="0" marL="0">
              <a:buNone/>
            </a:pPr>
            <a:r>
              <a:rPr lang="en-IE" sz="2200" b="1" dirty="0">
                <a:solidFill>
                  <a:schemeClr val="tx1"/>
                </a:solidFill>
              </a:rPr>
              <a:t>Faster development</a:t>
            </a:r>
            <a:endParaRPr lang="en-IE" sz="2200" dirty="0"/>
          </a:p>
        </p:txBody>
      </p:sp>
      <p:sp>
        <p:nvSpPr>
          <p:cNvPr id="19" name="Text 13"/>
          <p:cNvSpPr txBox="1"/>
          <p:nvPr/>
        </p:nvSpPr>
        <p:spPr>
          <a:xfrm>
            <a:off x="8402117" y="3392424"/>
            <a:ext cx="2966618" cy="1298448"/>
          </a:xfrm>
          <a:prstGeom prst="rect">
            <a:avLst/>
          </a:prstGeom>
          <a:noFill/>
          <a:ln/>
        </p:spPr>
        <p:txBody>
          <a:bodyPr wrap="square" lIns="0" tIns="0" rIns="0" bIns="0" rtlCol="0" anchor="t"/>
          <a:lstStyle/>
          <a:p>
            <a:pPr indent="0" marL="0">
              <a:buNone/>
            </a:pPr>
            <a:r>
              <a:rPr lang="en-IE" sz="1600" dirty="0">
                <a:solidFill>
                  <a:schemeClr val="tx2"/>
                </a:solidFill>
              </a:rPr>
              <a:t>One interface can be used many times, in many classes. Adding behaviour is quicker than building the structure from scratch each time.</a:t>
            </a:r>
            <a:endParaRPr lang="en-IE" sz="1600" dirty="0"/>
          </a:p>
        </p:txBody>
      </p:sp>
      <p:sp>
        <p:nvSpPr>
          <p:cNvPr id="20" name="Note"/>
          <p:cNvSpPr/>
          <p:nvPr/>
        </p:nvSpPr>
        <p:spPr>
          <a:xfrm>
            <a:off x="548640" y="5212080"/>
            <a:ext cx="11094415" cy="822960"/>
          </a:xfrm>
          <a:prstGeom prst="roundRect">
            <a:avLst>
              <a:gd name="adj" fmla="val 13333"/>
            </a:avLst>
          </a:prstGeom>
          <a:solidFill>
            <a:schemeClr val="bg2"/>
          </a:solidFill>
          <a:ln/>
        </p:spPr>
      </p:sp>
      <p:sp>
        <p:nvSpPr>
          <p:cNvPr id="21" name="Icon tile"/>
          <p:cNvSpPr/>
          <p:nvPr/>
        </p:nvSpPr>
        <p:spPr>
          <a:xfrm>
            <a:off x="822960" y="5358384"/>
            <a:ext cx="530352" cy="530352"/>
          </a:xfrm>
          <a:prstGeom prst="roundRect">
            <a:avLst>
              <a:gd name="adj" fmla="val 24000"/>
            </a:avLst>
          </a:prstGeom>
          <a:solidFill>
            <a:schemeClr val="accent5">
              <a:alpha val="14000"/>
            </a:schemeClr>
          </a:solidFill>
          <a:ln/>
        </p:spPr>
      </p:sp>
      <p:pic>
        <p:nvPicPr>
          <p:cNvPr id="22" name="clipboard text icon" descr="clipboard text icon">    </p:cNvPr>
          <p:cNvPicPr>
            <a:picLocks noChangeAspect="1"/>
          </p:cNvPicPr>
          <p:nvPr/>
        </p:nvPicPr>
        <p:blipFill>
          <a:blip r:embed="rId4"/>
          <a:stretch>
            <a:fillRect/>
          </a:stretch>
        </p:blipFill>
        <p:spPr>
          <a:xfrm>
            <a:off x="934334" y="5469758"/>
            <a:ext cx="307604" cy="307604"/>
          </a:xfrm>
          <a:prstGeom prst="rect">
            <a:avLst/>
          </a:prstGeom>
        </p:spPr>
      </p:pic>
      <p:sp>
        <p:nvSpPr>
          <p:cNvPr id="23" name="Text 16"/>
          <p:cNvSpPr txBox="1"/>
          <p:nvPr/>
        </p:nvSpPr>
        <p:spPr>
          <a:xfrm>
            <a:off x="1572768" y="5212080"/>
            <a:ext cx="9814255" cy="822960"/>
          </a:xfrm>
          <a:prstGeom prst="rect">
            <a:avLst/>
          </a:prstGeom>
          <a:noFill/>
          <a:ln/>
        </p:spPr>
        <p:txBody>
          <a:bodyPr wrap="square" lIns="0" tIns="0" rIns="0" bIns="0" rtlCol="0" anchor="ctr"/>
          <a:lstStyle/>
          <a:p>
            <a:pPr indent="0" marL="0">
              <a:buNone/>
            </a:pPr>
            <a:r>
              <a:rPr lang="en-IE" sz="1600" dirty="0">
                <a:solidFill>
                  <a:schemeClr val="tx1"/>
                </a:solidFill>
              </a:rPr>
              <a:t>For example, every class that implements PayRoll has </a:t>
            </a:r>
            <a:r>
              <a:rPr lang="en-IE" sz="1600" dirty="0">
                <a:solidFill>
                  <a:schemeClr val="accent2"/>
                </a:solidFill>
                <a:latin typeface="Consolas" pitchFamily="34" charset="0"/>
                <a:ea typeface="Consolas" pitchFamily="34" charset="-122"/>
                <a:cs typeface="Consolas" pitchFamily="34" charset="-120"/>
              </a:rPr>
              <a:t>getYearlyRate()</a:t>
            </a:r>
            <a:r>
              <a:rPr lang="en-IE" sz="1600" dirty="0">
                <a:solidFill>
                  <a:schemeClr val="tx1"/>
                </a:solidFill>
              </a:rPr>
              <a:t>, so code written for PayRoll works with all of them.</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Why use 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Everyone in a team uses the same interfaces, so the parts fit together when the project is combined. Which benefit is this?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Faster development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Consistency</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Testing</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Security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56</a:t>
            </a:fld>
            <a:endParaRPr lang="en-I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Why use 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Everyone in a team uses the same interfaces, so the parts fit together when the project is combined. Which benefit is this?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Faster development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Consistency</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Testing</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Security</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Interfaces make sure everyone uses the same structure, with the same method names, parameters and return types. That consistency means the parts fit when we put the project together.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Why use interfaces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do interfaces make it easier to write tests before the classes exist?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interface already contains the code the tests check</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Java tests interface methods automatically when it compiles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methods listed in an interface can be tested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We know the names, inputs and outputs already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Why use interfaces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do interfaces make it easier to write tests before the classes exist?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interface already contains the code the tests check</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Java tests interface methods automatically when it compiles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methods listed in an interface can be tested</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We know the names, inputs and outputs already</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interface already says what each method is called and what goes in and comes out. So we can write the tests first, as in test-driven development, and write the classes afterwards.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BENEFITS AND POLYMORPHISM</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One variable, many child types</a:t>
            </a:r>
            <a:endParaRPr lang="en-IE" sz="3400" dirty="0"/>
          </a:p>
        </p:txBody>
      </p:sp>
      <p:sp>
        <p:nvSpPr>
          <p:cNvPr id="5" name="Text 2"/>
          <p:cNvSpPr txBox="1"/>
          <p:nvPr/>
        </p:nvSpPr>
        <p:spPr>
          <a:xfrm>
            <a:off x="548640" y="1783080"/>
            <a:ext cx="4937760" cy="21945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When we declare a variable, we can use its own class’s constructor or any of its subclasses’ constructors.</a:t>
            </a:r>
            <a:endParaRPr lang="en-IE" sz="1800" dirty="0"/>
          </a:p>
          <a:p>
            <a:pPr marL="228600" indent="-228600">
              <a:buSzPct val="100000"/>
              <a:buChar char="•"/>
            </a:pPr>
            <a:r>
              <a:rPr lang="en-IE" sz="1800" dirty="0">
                <a:solidFill>
                  <a:schemeClr val="tx1"/>
                </a:solidFill>
              </a:rPr>
              <a:t>The benefit is that one Employee variable can later hold any child.</a:t>
            </a:r>
            <a:endParaRPr lang="en-IE" sz="1800" dirty="0"/>
          </a:p>
        </p:txBody>
      </p:sp>
      <p:sp>
        <p:nvSpPr>
          <p:cNvPr id="6" name="Re-assigning card"/>
          <p:cNvSpPr/>
          <p:nvPr/>
        </p:nvSpPr>
        <p:spPr>
          <a:xfrm>
            <a:off x="548640" y="4069080"/>
            <a:ext cx="4937760" cy="1454658"/>
          </a:xfrm>
          <a:prstGeom prst="roundRect">
            <a:avLst>
              <a:gd name="adj" fmla="val 7543"/>
            </a:avLst>
          </a:prstGeom>
          <a:solidFill>
            <a:schemeClr val="tx1"/>
          </a:solidFill>
          <a:ln/>
          <a:effectLst>
            <a:outerShdw sx="100000" sy="100000" kx="0" ky="0" algn="bl" rotWithShape="0" blurRad="114300" dist="31750" dir="5400000">
              <a:srgbClr val="1D2433">
                <a:alpha val="12000"/>
              </a:srgbClr>
            </a:outerShdw>
          </a:effectLst>
        </p:spPr>
      </p:sp>
      <p:sp>
        <p:nvSpPr>
          <p:cNvPr id="7" name="Re-assigning language"/>
          <p:cNvSpPr txBox="1"/>
          <p:nvPr/>
        </p:nvSpPr>
        <p:spPr>
          <a:xfrm>
            <a:off x="822960" y="4187952"/>
            <a:ext cx="43891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Re-assigning text"/>
          <p:cNvSpPr txBox="1"/>
          <p:nvPr/>
        </p:nvSpPr>
        <p:spPr>
          <a:xfrm>
            <a:off x="822960" y="4562856"/>
            <a:ext cx="4389120" cy="7597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employee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employee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FullTimeEmployee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employee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PartTimeEmployee</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Variable"/>
          <p:cNvSpPr/>
          <p:nvPr/>
        </p:nvSpPr>
        <p:spPr>
          <a:xfrm>
            <a:off x="5943600" y="3246120"/>
            <a:ext cx="1828800" cy="566928"/>
          </a:xfrm>
          <a:prstGeom prst="roundRect">
            <a:avLst>
              <a:gd name="adj" fmla="val 16129"/>
            </a:avLst>
          </a:prstGeom>
          <a:solidFill>
            <a:schemeClr val="bg1"/>
          </a:solidFill>
          <a:ln w="19050">
            <a:solidFill>
              <a:schemeClr val="accent2"/>
            </a:solidFill>
          </a:ln>
        </p:spPr>
        <p:txBody>
          <a:bodyPr wrap="square" lIns="0" tIns="0" rIns="0" bIns="0" rtlCol="0" anchor="ctr"/>
          <a:lstStyle/>
          <a:p>
            <a:pPr algn="ctr" indent="0" marL="0">
              <a:buNone/>
            </a:pPr>
            <a:r>
              <a:rPr lang="en-IE" sz="1600" b="1" dirty="0">
                <a:solidFill>
                  <a:schemeClr val="accent2"/>
                </a:solidFill>
                <a:latin typeface="Consolas" pitchFamily="34" charset="0"/>
                <a:ea typeface="Consolas" pitchFamily="34" charset="-122"/>
                <a:cs typeface="Consolas" pitchFamily="34" charset="-120"/>
              </a:rPr>
              <a:t>employee</a:t>
            </a:r>
            <a:endParaRPr lang="en-IE" sz="1600" dirty="0"/>
          </a:p>
        </p:txBody>
      </p:sp>
      <p:sp>
        <p:nvSpPr>
          <p:cNvPr id="10" name="Text 7"/>
          <p:cNvSpPr txBox="1"/>
          <p:nvPr/>
        </p:nvSpPr>
        <p:spPr>
          <a:xfrm>
            <a:off x="5943600" y="3867912"/>
            <a:ext cx="1828800" cy="274320"/>
          </a:xfrm>
          <a:prstGeom prst="rect">
            <a:avLst/>
          </a:prstGeom>
          <a:noFill/>
          <a:ln/>
        </p:spPr>
        <p:txBody>
          <a:bodyPr wrap="square" lIns="0" tIns="0" rIns="0" bIns="0" rtlCol="0" anchor="t"/>
          <a:lstStyle/>
          <a:p>
            <a:pPr algn="ctr" indent="0" marL="0">
              <a:buNone/>
            </a:pPr>
            <a:r>
              <a:rPr lang="en-IE" sz="1200" i="1" dirty="0">
                <a:solidFill>
                  <a:schemeClr val="tx2"/>
                </a:solidFill>
              </a:rPr>
              <a:t>type: Employee</a:t>
            </a:r>
            <a:endParaRPr lang="en-IE" sz="1200" dirty="0"/>
          </a:p>
        </p:txBody>
      </p:sp>
      <p:sp>
        <p:nvSpPr>
          <p:cNvPr id="11" name="Box Employee"/>
          <p:cNvSpPr/>
          <p:nvPr/>
        </p:nvSpPr>
        <p:spPr>
          <a:xfrm>
            <a:off x="8915400" y="1874520"/>
            <a:ext cx="2724912" cy="640080"/>
          </a:xfrm>
          <a:prstGeom prst="roundRect">
            <a:avLst>
              <a:gd name="adj" fmla="val 11429"/>
            </a:avLst>
          </a:prstGeom>
          <a:solidFill>
            <a:schemeClr val="accent2">
              <a:alpha val="14000"/>
            </a:schemeClr>
          </a:solidFill>
          <a:ln w="19050">
            <a:solidFill>
              <a:schemeClr val="accent2"/>
            </a:solidFill>
            <a:prstDash val="solid"/>
          </a:ln>
        </p:spPr>
      </p:sp>
      <p:sp>
        <p:nvSpPr>
          <p:cNvPr id="12" name="Text 9"/>
          <p:cNvSpPr txBox="1"/>
          <p:nvPr/>
        </p:nvSpPr>
        <p:spPr>
          <a:xfrm>
            <a:off x="8915400" y="1874520"/>
            <a:ext cx="2724912" cy="640080"/>
          </a:xfrm>
          <a:prstGeom prst="rect">
            <a:avLst/>
          </a:prstGeom>
          <a:noFill/>
          <a:ln/>
        </p:spPr>
        <p:txBody>
          <a:bodyPr wrap="square" lIns="0" tIns="0" rIns="0" bIns="0" rtlCol="0" anchor="ctr"/>
          <a:lstStyle/>
          <a:p>
            <a:pPr algn="ctr" indent="0" marL="0">
              <a:buNone/>
            </a:pPr>
            <a:r>
              <a:rPr lang="en-IE" sz="1500" b="1" dirty="0">
                <a:solidFill>
                  <a:schemeClr val="tx1"/>
                </a:solidFill>
              </a:rPr>
              <a:t>Employee</a:t>
            </a:r>
            <a:endParaRPr lang="en-IE" sz="1500" dirty="0"/>
          </a:p>
        </p:txBody>
      </p:sp>
      <p:sp>
        <p:nvSpPr>
          <p:cNvPr id="13" name="Connector"/>
          <p:cNvSpPr/>
          <p:nvPr/>
        </p:nvSpPr>
        <p:spPr>
          <a:xfrm flipV="1">
            <a:off x="7818120" y="2194560"/>
            <a:ext cx="1051560" cy="1335024"/>
          </a:xfrm>
          <a:prstGeom prst="line">
            <a:avLst/>
          </a:prstGeom>
          <a:noFill/>
          <a:ln w="19050">
            <a:solidFill>
              <a:schemeClr val="accent2"/>
            </a:solidFill>
            <a:prstDash val="dash"/>
            <a:tailEnd type="triangle"/>
          </a:ln>
        </p:spPr>
      </p:sp>
      <p:sp>
        <p:nvSpPr>
          <p:cNvPr id="14" name="Box FullTimeEmployee"/>
          <p:cNvSpPr/>
          <p:nvPr/>
        </p:nvSpPr>
        <p:spPr>
          <a:xfrm>
            <a:off x="8915400" y="3200400"/>
            <a:ext cx="2724912" cy="640080"/>
          </a:xfrm>
          <a:prstGeom prst="roundRect">
            <a:avLst>
              <a:gd name="adj" fmla="val 11429"/>
            </a:avLst>
          </a:prstGeom>
          <a:solidFill>
            <a:schemeClr val="accent1">
              <a:alpha val="14000"/>
            </a:schemeClr>
          </a:solidFill>
          <a:ln w="19050">
            <a:solidFill>
              <a:schemeClr val="accent1"/>
            </a:solidFill>
            <a:prstDash val="solid"/>
          </a:ln>
        </p:spPr>
      </p:sp>
      <p:sp>
        <p:nvSpPr>
          <p:cNvPr id="15" name="Text 12"/>
          <p:cNvSpPr txBox="1"/>
          <p:nvPr/>
        </p:nvSpPr>
        <p:spPr>
          <a:xfrm>
            <a:off x="8915400" y="3200400"/>
            <a:ext cx="2724912" cy="640080"/>
          </a:xfrm>
          <a:prstGeom prst="rect">
            <a:avLst/>
          </a:prstGeom>
          <a:noFill/>
          <a:ln/>
        </p:spPr>
        <p:txBody>
          <a:bodyPr wrap="square" lIns="0" tIns="0" rIns="0" bIns="0" rtlCol="0" anchor="ctr"/>
          <a:lstStyle/>
          <a:p>
            <a:pPr algn="ctr" indent="0" marL="0">
              <a:buNone/>
            </a:pPr>
            <a:r>
              <a:rPr lang="en-IE" sz="1500" b="1" dirty="0">
                <a:solidFill>
                  <a:schemeClr val="tx1"/>
                </a:solidFill>
              </a:rPr>
              <a:t>FullTimeEmployee</a:t>
            </a:r>
            <a:endParaRPr lang="en-IE" sz="1500" dirty="0"/>
          </a:p>
        </p:txBody>
      </p:sp>
      <p:sp>
        <p:nvSpPr>
          <p:cNvPr id="16" name="Connector"/>
          <p:cNvSpPr/>
          <p:nvPr/>
        </p:nvSpPr>
        <p:spPr>
          <a:xfrm flipV="1">
            <a:off x="7818120" y="3520440"/>
            <a:ext cx="1051560" cy="9144"/>
          </a:xfrm>
          <a:prstGeom prst="line">
            <a:avLst/>
          </a:prstGeom>
          <a:noFill/>
          <a:ln w="19050">
            <a:solidFill>
              <a:schemeClr val="accent1"/>
            </a:solidFill>
            <a:prstDash val="dash"/>
            <a:tailEnd type="triangle"/>
          </a:ln>
        </p:spPr>
      </p:sp>
      <p:sp>
        <p:nvSpPr>
          <p:cNvPr id="17" name="Box PartTimeEmployee"/>
          <p:cNvSpPr/>
          <p:nvPr/>
        </p:nvSpPr>
        <p:spPr>
          <a:xfrm>
            <a:off x="8915400" y="4526280"/>
            <a:ext cx="2724912" cy="640080"/>
          </a:xfrm>
          <a:prstGeom prst="roundRect">
            <a:avLst>
              <a:gd name="adj" fmla="val 11429"/>
            </a:avLst>
          </a:prstGeom>
          <a:solidFill>
            <a:schemeClr val="accent1">
              <a:alpha val="14000"/>
            </a:schemeClr>
          </a:solidFill>
          <a:ln w="19050">
            <a:solidFill>
              <a:schemeClr val="accent1"/>
            </a:solidFill>
            <a:prstDash val="solid"/>
          </a:ln>
        </p:spPr>
      </p:sp>
      <p:sp>
        <p:nvSpPr>
          <p:cNvPr id="18" name="Text 15"/>
          <p:cNvSpPr txBox="1"/>
          <p:nvPr/>
        </p:nvSpPr>
        <p:spPr>
          <a:xfrm>
            <a:off x="8915400" y="4526280"/>
            <a:ext cx="2724912" cy="640080"/>
          </a:xfrm>
          <a:prstGeom prst="rect">
            <a:avLst/>
          </a:prstGeom>
          <a:noFill/>
          <a:ln/>
        </p:spPr>
        <p:txBody>
          <a:bodyPr wrap="square" lIns="0" tIns="0" rIns="0" bIns="0" rtlCol="0" anchor="ctr"/>
          <a:lstStyle/>
          <a:p>
            <a:pPr algn="ctr" indent="0" marL="0">
              <a:buNone/>
            </a:pPr>
            <a:r>
              <a:rPr lang="en-IE" sz="1500" b="1" dirty="0">
                <a:solidFill>
                  <a:schemeClr val="tx1"/>
                </a:solidFill>
              </a:rPr>
              <a:t>PartTimeEmployee</a:t>
            </a:r>
            <a:endParaRPr lang="en-IE" sz="1500" dirty="0"/>
          </a:p>
        </p:txBody>
      </p:sp>
      <p:sp>
        <p:nvSpPr>
          <p:cNvPr id="19" name="Connector"/>
          <p:cNvSpPr/>
          <p:nvPr/>
        </p:nvSpPr>
        <p:spPr>
          <a:xfrm>
            <a:off x="7818120" y="3529584"/>
            <a:ext cx="1051560" cy="1316736"/>
          </a:xfrm>
          <a:prstGeom prst="line">
            <a:avLst/>
          </a:prstGeom>
          <a:noFill/>
          <a:ln w="19050">
            <a:solidFill>
              <a:schemeClr val="accent1"/>
            </a:solidFill>
            <a:prstDash val="dash"/>
            <a:tailEnd type="triangle"/>
          </a:ln>
        </p:spPr>
      </p:sp>
      <p:sp>
        <p:nvSpPr>
          <p:cNvPr id="20" name="Text 17"/>
          <p:cNvSpPr txBox="1"/>
          <p:nvPr/>
        </p:nvSpPr>
        <p:spPr>
          <a:xfrm>
            <a:off x="8915400" y="5257800"/>
            <a:ext cx="2724912" cy="274320"/>
          </a:xfrm>
          <a:prstGeom prst="rect">
            <a:avLst/>
          </a:prstGeom>
          <a:noFill/>
          <a:ln/>
        </p:spPr>
        <p:txBody>
          <a:bodyPr wrap="square" lIns="0" tIns="0" rIns="0" bIns="0" rtlCol="0" anchor="t"/>
          <a:lstStyle/>
          <a:p>
            <a:pPr algn="ctr" indent="0" marL="0">
              <a:buNone/>
            </a:pPr>
            <a:r>
              <a:rPr lang="en-IE" sz="1200" i="1" dirty="0">
                <a:solidFill>
                  <a:schemeClr val="tx2"/>
                </a:solidFill>
              </a:rPr>
              <a:t>can point to any of these</a:t>
            </a:r>
            <a:endParaRPr lang="en-IE"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60</a:t>
            </a:fld>
            <a:endParaRPr lang="en-I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Employee is a normal (not abstract) class, and FullTimeEmployee and PartTimeEmployee extend it. Which line will NOT compile?</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Employee employee = new Employee();</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Employee employee = new FullTimeEmployee();</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Employee employee = new PartTimeEmployee();</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FullTimeEmployee employee = new Employee();</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Employee is a normal (not abstract) class, and FullTimeEmployee and PartTimeEmployee extend it. Which line will NOT compile?</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 employee = new Employee();</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 employee = new FullTimeEmployee();</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 employee = new PartTimeEmployee();</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FullTimeEmployee employee = new Employee();</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 variable of the parent type can hold the parent or any of its children, because every FullTimeEmployee is an Employee. It doesn’t work the other way round, since an Employee isn’t necessarily a FullTimeEmployee.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BENEFITS AND POLYMORPHISM</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can we call through the parent?</a:t>
            </a:r>
            <a:endParaRPr lang="en-IE" sz="3400" dirty="0"/>
          </a:p>
        </p:txBody>
      </p:sp>
      <p:sp>
        <p:nvSpPr>
          <p:cNvPr id="5" name="Text 2"/>
          <p:cNvSpPr txBox="1"/>
          <p:nvPr/>
        </p:nvSpPr>
        <p:spPr>
          <a:xfrm>
            <a:off x="548640" y="1783080"/>
            <a:ext cx="4937760" cy="32918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Through an Employee variable, we can call the methods that Employee has.</a:t>
            </a:r>
            <a:endParaRPr lang="en-IE" sz="1800" dirty="0"/>
          </a:p>
          <a:p>
            <a:pPr marL="228600" indent="-228600">
              <a:spcAft>
                <a:spcPts val="1200"/>
              </a:spcAft>
              <a:buSzPct val="100000"/>
              <a:buChar char="•"/>
            </a:pPr>
            <a:r>
              <a:rPr lang="en-IE" sz="1800" dirty="0">
                <a:solidFill>
                  <a:schemeClr val="tx1"/>
                </a:solidFill>
              </a:rPr>
              <a:t>If the child overrides one, the child’s version runs.</a:t>
            </a:r>
            <a:endParaRPr lang="en-IE" sz="1800" dirty="0"/>
          </a:p>
          <a:p>
            <a:pPr marL="228600" indent="-228600">
              <a:buSzPct val="100000"/>
              <a:buChar char="•"/>
            </a:pPr>
            <a:r>
              <a:rPr lang="en-IE" sz="1800" dirty="0">
                <a:solidFill>
                  <a:schemeClr val="tx1"/>
                </a:solidFill>
              </a:rPr>
              <a:t>Methods that only the child has, like getBonus(), need a cast back to the child type first.</a:t>
            </a:r>
            <a:endParaRPr lang="en-IE" sz="1800" dirty="0"/>
          </a:p>
        </p:txBody>
      </p:sp>
      <p:sp>
        <p:nvSpPr>
          <p:cNvPr id="6" name="Parent variable card"/>
          <p:cNvSpPr/>
          <p:nvPr/>
        </p:nvSpPr>
        <p:spPr>
          <a:xfrm>
            <a:off x="5852160" y="1783080"/>
            <a:ext cx="5790895" cy="1654048"/>
          </a:xfrm>
          <a:prstGeom prst="roundRect">
            <a:avLst>
              <a:gd name="adj" fmla="val 6634"/>
            </a:avLst>
          </a:prstGeom>
          <a:solidFill>
            <a:schemeClr val="tx1"/>
          </a:solidFill>
          <a:ln/>
          <a:effectLst>
            <a:outerShdw sx="100000" sy="100000" kx="0" ky="0" algn="bl" rotWithShape="0" blurRad="114300" dist="31750" dir="5400000">
              <a:srgbClr val="1D2433">
                <a:alpha val="12000"/>
              </a:srgbClr>
            </a:outerShdw>
          </a:effectLst>
        </p:spPr>
      </p:sp>
      <p:sp>
        <p:nvSpPr>
          <p:cNvPr id="7" name="Parent variable language"/>
          <p:cNvSpPr txBox="1"/>
          <p:nvPr/>
        </p:nvSpPr>
        <p:spPr>
          <a:xfrm>
            <a:off x="6126480" y="1901952"/>
            <a:ext cx="524225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Parent variable text"/>
          <p:cNvSpPr txBox="1"/>
          <p:nvPr/>
        </p:nvSpPr>
        <p:spPr>
          <a:xfrm>
            <a:off x="6126480" y="2276856"/>
            <a:ext cx="5242255" cy="959104"/>
          </a:xfrm>
          <a:prstGeom prst="rect">
            <a:avLst/>
          </a:prstGeom>
          <a:noFill/>
          <a:ln/>
        </p:spPr>
        <p:txBody>
          <a:bodyPr wrap="square" lIns="0" tIns="0" rIns="0" bIns="0" rtlCol="0" anchor="t"/>
          <a:lstStyle/>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FullTimeEmployee</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e.</a:t>
            </a:r>
            <a:r>
              <a:rPr lang="en-IE" sz="1350" dirty="0">
                <a:solidFill>
                  <a:srgbClr val="C9B0FF"/>
                </a:solidFill>
                <a:latin typeface="Consolas" pitchFamily="34" charset="0"/>
                <a:ea typeface="Consolas" pitchFamily="34" charset="-122"/>
                <a:cs typeface="Consolas" pitchFamily="34" charset="-120"/>
              </a:rPr>
              <a:t>calcPay</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FullTimeEmployee's version runs</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e.</a:t>
            </a:r>
            <a:r>
              <a:rPr lang="en-IE" sz="1350" dirty="0">
                <a:solidFill>
                  <a:srgbClr val="C9B0FF"/>
                </a:solidFill>
                <a:latin typeface="Consolas" pitchFamily="34" charset="0"/>
                <a:ea typeface="Consolas" pitchFamily="34" charset="-122"/>
                <a:cs typeface="Consolas" pitchFamily="34" charset="-120"/>
              </a:rPr>
              <a:t>getBonus</a:t>
            </a:r>
            <a:r>
              <a:rPr lang="en-IE" sz="1350" dirty="0">
                <a:solidFill>
                  <a:srgbClr val="E6EBF2"/>
                </a:solidFill>
                <a:latin typeface="Consolas" pitchFamily="34" charset="0"/>
                <a:ea typeface="Consolas" pitchFamily="34" charset="-122"/>
                <a:cs typeface="Consolas" pitchFamily="34" charset="-120"/>
              </a:rPr>
              <a:t>();   </a:t>
            </a:r>
            <a:r>
              <a:rPr lang="en-IE" sz="1350" i="1" dirty="0">
                <a:solidFill>
                  <a:srgbClr val="A3AEC2"/>
                </a:solidFill>
                <a:latin typeface="Consolas" pitchFamily="34" charset="0"/>
                <a:ea typeface="Consolas" pitchFamily="34" charset="-122"/>
                <a:cs typeface="Consolas" pitchFamily="34" charset="-120"/>
              </a:rPr>
              <a:t>// only FullTimeEmployee has it</a:t>
            </a:r>
            <a:endParaRPr lang="en-IE" sz="1350" dirty="0"/>
          </a:p>
        </p:txBody>
      </p:sp>
      <p:pic>
        <p:nvPicPr>
          <p:cNvPr id="9" name="Works" descr="Works">    </p:cNvPr>
          <p:cNvPicPr>
            <a:picLocks noChangeAspect="1"/>
          </p:cNvPicPr>
          <p:nvPr/>
        </p:nvPicPr>
        <p:blipFill>
          <a:blip r:embed="rId1"/>
          <a:stretch>
            <a:fillRect/>
          </a:stretch>
        </p:blipFill>
        <p:spPr>
          <a:xfrm>
            <a:off x="5852160" y="3789172"/>
            <a:ext cx="347472" cy="347472"/>
          </a:xfrm>
          <a:prstGeom prst="rect">
            <a:avLst/>
          </a:prstGeom>
        </p:spPr>
      </p:pic>
      <p:sp>
        <p:nvSpPr>
          <p:cNvPr id="10" name="Text 6"/>
          <p:cNvSpPr txBox="1"/>
          <p:nvPr/>
        </p:nvSpPr>
        <p:spPr>
          <a:xfrm>
            <a:off x="6309360" y="3711448"/>
            <a:ext cx="5333695" cy="502920"/>
          </a:xfrm>
          <a:prstGeom prst="rect">
            <a:avLst/>
          </a:prstGeom>
          <a:noFill/>
          <a:ln/>
        </p:spPr>
        <p:txBody>
          <a:bodyPr wrap="square" lIns="0" tIns="0" rIns="0" bIns="0" rtlCol="0" anchor="ctr"/>
          <a:lstStyle/>
          <a:p>
            <a:pPr indent="0" marL="0">
              <a:buNone/>
            </a:pPr>
            <a:r>
              <a:rPr lang="en-IE" sz="1400" b="1" dirty="0">
                <a:solidFill>
                  <a:schemeClr val="accent3"/>
                </a:solidFill>
              </a:rPr>
              <a:t>e.calcPay(): Employee has calcPay(), and the child’s override runs</a:t>
            </a:r>
            <a:endParaRPr lang="en-IE" sz="1400" dirty="0"/>
          </a:p>
        </p:txBody>
      </p:sp>
      <p:pic>
        <p:nvPicPr>
          <p:cNvPr id="11" name="Does not work" descr="Does not work">    </p:cNvPr>
          <p:cNvPicPr>
            <a:picLocks noChangeAspect="1"/>
          </p:cNvPicPr>
          <p:nvPr/>
        </p:nvPicPr>
        <p:blipFill>
          <a:blip r:embed="rId2"/>
          <a:stretch>
            <a:fillRect/>
          </a:stretch>
        </p:blipFill>
        <p:spPr>
          <a:xfrm>
            <a:off x="5852160" y="4429252"/>
            <a:ext cx="347472" cy="347472"/>
          </a:xfrm>
          <a:prstGeom prst="rect">
            <a:avLst/>
          </a:prstGeom>
        </p:spPr>
      </p:pic>
      <p:sp>
        <p:nvSpPr>
          <p:cNvPr id="12" name="Text 7"/>
          <p:cNvSpPr txBox="1"/>
          <p:nvPr/>
        </p:nvSpPr>
        <p:spPr>
          <a:xfrm>
            <a:off x="6309360" y="4351528"/>
            <a:ext cx="5333695" cy="502920"/>
          </a:xfrm>
          <a:prstGeom prst="rect">
            <a:avLst/>
          </a:prstGeom>
          <a:noFill/>
          <a:ln/>
        </p:spPr>
        <p:txBody>
          <a:bodyPr wrap="square" lIns="0" tIns="0" rIns="0" bIns="0" rtlCol="0" anchor="ctr"/>
          <a:lstStyle/>
          <a:p>
            <a:pPr indent="0" marL="0">
              <a:buNone/>
            </a:pPr>
            <a:r>
              <a:rPr lang="en-IE" sz="1400" b="1" dirty="0">
                <a:solidFill>
                  <a:srgbClr val="C0392B"/>
                </a:solidFill>
              </a:rPr>
              <a:t>e.getBonus(): cannot find symbol, because Employee has no getBonus()</a:t>
            </a:r>
            <a:endParaRPr lang="en-IE" sz="1400" dirty="0"/>
          </a:p>
        </p:txBody>
      </p:sp>
      <p:sp>
        <p:nvSpPr>
          <p:cNvPr id="13" name="Note"/>
          <p:cNvSpPr/>
          <p:nvPr/>
        </p:nvSpPr>
        <p:spPr>
          <a:xfrm>
            <a:off x="548640" y="5257800"/>
            <a:ext cx="11094415" cy="777240"/>
          </a:xfrm>
          <a:prstGeom prst="roundRect">
            <a:avLst>
              <a:gd name="adj" fmla="val 14118"/>
            </a:avLst>
          </a:prstGeom>
          <a:solidFill>
            <a:schemeClr val="bg2"/>
          </a:solidFill>
          <a:ln/>
        </p:spPr>
      </p:sp>
      <p:sp>
        <p:nvSpPr>
          <p:cNvPr id="14" name="Icon tile"/>
          <p:cNvSpPr/>
          <p:nvPr/>
        </p:nvSpPr>
        <p:spPr>
          <a:xfrm>
            <a:off x="822960" y="5381244"/>
            <a:ext cx="530352" cy="530352"/>
          </a:xfrm>
          <a:prstGeom prst="roundRect">
            <a:avLst>
              <a:gd name="adj" fmla="val 24000"/>
            </a:avLst>
          </a:prstGeom>
          <a:solidFill>
            <a:schemeClr val="accent2">
              <a:alpha val="14000"/>
            </a:schemeClr>
          </a:solidFill>
          <a:ln/>
        </p:spPr>
      </p:sp>
      <p:pic>
        <p:nvPicPr>
          <p:cNvPr id="15" name="info icon" descr="info icon">    </p:cNvPr>
          <p:cNvPicPr>
            <a:picLocks noChangeAspect="1"/>
          </p:cNvPicPr>
          <p:nvPr/>
        </p:nvPicPr>
        <p:blipFill>
          <a:blip r:embed="rId3"/>
          <a:stretch>
            <a:fillRect/>
          </a:stretch>
        </p:blipFill>
        <p:spPr>
          <a:xfrm>
            <a:off x="934334" y="5492618"/>
            <a:ext cx="307604" cy="307604"/>
          </a:xfrm>
          <a:prstGeom prst="rect">
            <a:avLst/>
          </a:prstGeom>
        </p:spPr>
      </p:pic>
      <p:sp>
        <p:nvSpPr>
          <p:cNvPr id="16" name="Text 10"/>
          <p:cNvSpPr txBox="1"/>
          <p:nvPr/>
        </p:nvSpPr>
        <p:spPr>
          <a:xfrm>
            <a:off x="1572768" y="5257800"/>
            <a:ext cx="9814255" cy="777240"/>
          </a:xfrm>
          <a:prstGeom prst="rect">
            <a:avLst/>
          </a:prstGeom>
          <a:noFill/>
          <a:ln/>
        </p:spPr>
        <p:txBody>
          <a:bodyPr wrap="square" lIns="0" tIns="0" rIns="0" bIns="0" rtlCol="0" anchor="ctr"/>
          <a:lstStyle/>
          <a:p>
            <a:pPr indent="0" marL="0">
              <a:buNone/>
            </a:pPr>
            <a:r>
              <a:rPr lang="en-IE" sz="1600" dirty="0">
                <a:solidFill>
                  <a:schemeClr val="tx1"/>
                </a:solidFill>
              </a:rPr>
              <a:t>The </a:t>
            </a:r>
            <a:r>
              <a:rPr lang="en-IE" sz="1600" b="1" dirty="0">
                <a:solidFill>
                  <a:schemeClr val="tx1"/>
                </a:solidFill>
              </a:rPr>
              <a:t>variable’s type</a:t>
            </a:r>
            <a:r>
              <a:rPr lang="en-IE" sz="1600" dirty="0">
                <a:solidFill>
                  <a:schemeClr val="tx1"/>
                </a:solidFill>
              </a:rPr>
              <a:t> decides what we can call. The </a:t>
            </a:r>
            <a:r>
              <a:rPr lang="en-IE" sz="1600" b="1" dirty="0">
                <a:solidFill>
                  <a:schemeClr val="tx1"/>
                </a:solidFill>
              </a:rPr>
              <a:t>object</a:t>
            </a:r>
            <a:r>
              <a:rPr lang="en-IE" sz="1600" dirty="0">
                <a:solidFill>
                  <a:schemeClr val="tx1"/>
                </a:solidFill>
              </a:rPr>
              <a:t> decides which version runs.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Only FullTimeEmployee has getBonus(). After </a:t>
            </a:r>
            <a:r>
              <a:rPr lang="en-IE" sz="2800" b="1" dirty="0">
                <a:solidFill>
                  <a:schemeClr val="accent2"/>
                </a:solidFill>
                <a:latin typeface="Consolas" pitchFamily="34" charset="0"/>
                <a:ea typeface="Consolas" pitchFamily="34" charset="-122"/>
                <a:cs typeface="Consolas" pitchFamily="34" charset="-120"/>
              </a:rPr>
              <a:t>Employee e = new FullTimeEmployee()</a:t>
            </a:r>
            <a:r>
              <a:rPr lang="en-IE" sz="2800" b="1" dirty="0">
                <a:solidFill>
                  <a:schemeClr val="tx1"/>
                </a:solidFill>
              </a:rPr>
              <a:t>, what happens with </a:t>
            </a:r>
            <a:r>
              <a:rPr lang="en-IE" sz="2800" b="1" dirty="0">
                <a:solidFill>
                  <a:schemeClr val="accent2"/>
                </a:solidFill>
                <a:latin typeface="Consolas" pitchFamily="34" charset="0"/>
                <a:ea typeface="Consolas" pitchFamily="34" charset="-122"/>
                <a:cs typeface="Consolas" pitchFamily="34" charset="-120"/>
              </a:rPr>
              <a:t>e.getBonus()</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calls FullTimeEmployee’s getBonus()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returns 0, because e is an Employee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Compile error: Employee has no getBonus()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throws a ClassCastException when it runs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64</a:t>
            </a:fld>
            <a:endParaRPr lang="en-I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Only FullTimeEmployee has getBonus(). After </a:t>
            </a:r>
            <a:r>
              <a:rPr lang="en-IE" sz="2000" b="1" dirty="0">
                <a:solidFill>
                  <a:schemeClr val="tx2"/>
                </a:solidFill>
                <a:latin typeface="Consolas" pitchFamily="34" charset="0"/>
                <a:ea typeface="Consolas" pitchFamily="34" charset="-122"/>
                <a:cs typeface="Consolas" pitchFamily="34" charset="-120"/>
              </a:rPr>
              <a:t>Employee e = new FullTimeEmployee()</a:t>
            </a:r>
            <a:r>
              <a:rPr lang="en-IE" sz="2000" b="1" dirty="0">
                <a:solidFill>
                  <a:schemeClr val="tx2"/>
                </a:solidFill>
              </a:rPr>
              <a:t>, what happens with </a:t>
            </a:r>
            <a:r>
              <a:rPr lang="en-IE" sz="2000" b="1" dirty="0">
                <a:solidFill>
                  <a:schemeClr val="tx2"/>
                </a:solidFill>
                <a:latin typeface="Consolas" pitchFamily="34" charset="0"/>
                <a:ea typeface="Consolas" pitchFamily="34" charset="-122"/>
                <a:cs typeface="Consolas" pitchFamily="34" charset="-120"/>
              </a:rPr>
              <a:t>e.getBonus()</a:t>
            </a:r>
            <a:r>
              <a:rPr lang="en-IE" sz="2000" b="1" dirty="0">
                <a:solidFill>
                  <a:schemeClr val="tx2"/>
                </a:solidFill>
              </a:rPr>
              <a: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calls FullTimeEmployee’s getBonus()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returns 0, because e is an Employee</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Compile error: Employee has no getBonus()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throws a ClassCastException when it runs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variable’s type decides which methods we can call, and Employee has no getBonus(). The object is still a FullTimeEmployee, so to reach getBonus() we cast it back first. There’s no cast here, so no ClassCastException (D).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BENEFITS AND POLYMORPHISM</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Interfaces as variable types</a:t>
            </a:r>
            <a:endParaRPr lang="en-IE" sz="3400" dirty="0"/>
          </a:p>
        </p:txBody>
      </p:sp>
      <p:sp>
        <p:nvSpPr>
          <p:cNvPr id="5" name="Text 2"/>
          <p:cNvSpPr txBox="1"/>
          <p:nvPr/>
        </p:nvSpPr>
        <p:spPr>
          <a:xfrm>
            <a:off x="548640" y="1783080"/>
            <a:ext cx="4937760" cy="251460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It works with interfaces too. A PayRoll variable can hold a FullTimeEmployee, because FullTimeEmployee implements PayRoll.</a:t>
            </a:r>
            <a:endParaRPr lang="en-IE" sz="1700" dirty="0"/>
          </a:p>
          <a:p>
            <a:pPr marL="228600" indent="-228600">
              <a:spcAft>
                <a:spcPts val="1000"/>
              </a:spcAft>
              <a:buSzPct val="100000"/>
              <a:buChar char="•"/>
            </a:pPr>
            <a:r>
              <a:rPr lang="en-IE" sz="1700" dirty="0">
                <a:solidFill>
                  <a:schemeClr val="tx1"/>
                </a:solidFill>
              </a:rPr>
              <a:t>Java’s own List is an interface, and ArrayList and LinkedList both implement it.</a:t>
            </a:r>
            <a:endParaRPr lang="en-IE" sz="1700" dirty="0"/>
          </a:p>
          <a:p>
            <a:pPr marL="228600" indent="-228600">
              <a:buSzPct val="100000"/>
              <a:buChar char="•"/>
            </a:pPr>
            <a:r>
              <a:rPr lang="en-IE" sz="1700" dirty="0">
                <a:solidFill>
                  <a:schemeClr val="tx1"/>
                </a:solidFill>
              </a:rPr>
              <a:t>So a List variable can hold an ArrayList, and later be switched to a LinkedList.</a:t>
            </a:r>
            <a:endParaRPr lang="en-IE" sz="1700" dirty="0"/>
          </a:p>
        </p:txBody>
      </p:sp>
      <p:sp>
        <p:nvSpPr>
          <p:cNvPr id="6" name="Interface variables card"/>
          <p:cNvSpPr/>
          <p:nvPr/>
        </p:nvSpPr>
        <p:spPr>
          <a:xfrm>
            <a:off x="548640" y="4343400"/>
            <a:ext cx="4937760" cy="1588008"/>
          </a:xfrm>
          <a:prstGeom prst="roundRect">
            <a:avLst>
              <a:gd name="adj" fmla="val 6910"/>
            </a:avLst>
          </a:prstGeom>
          <a:solidFill>
            <a:schemeClr val="tx1"/>
          </a:solidFill>
          <a:ln/>
          <a:effectLst>
            <a:outerShdw sx="100000" sy="100000" kx="0" ky="0" algn="bl" rotWithShape="0" blurRad="114300" dist="31750" dir="5400000">
              <a:srgbClr val="1D2433">
                <a:alpha val="12000"/>
              </a:srgbClr>
            </a:outerShdw>
          </a:effectLst>
        </p:spPr>
      </p:sp>
      <p:sp>
        <p:nvSpPr>
          <p:cNvPr id="7" name="Interface variables language"/>
          <p:cNvSpPr txBox="1"/>
          <p:nvPr/>
        </p:nvSpPr>
        <p:spPr>
          <a:xfrm>
            <a:off x="822960" y="4462272"/>
            <a:ext cx="43891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Interface variables text"/>
          <p:cNvSpPr txBox="1"/>
          <p:nvPr/>
        </p:nvSpPr>
        <p:spPr>
          <a:xfrm>
            <a:off x="822960" y="4837176"/>
            <a:ext cx="4389120" cy="893064"/>
          </a:xfrm>
          <a:prstGeom prst="rect">
            <a:avLst/>
          </a:prstGeom>
          <a:noFill/>
          <a:ln/>
        </p:spPr>
        <p:txBody>
          <a:bodyPr wrap="square" lIns="0" tIns="0" rIns="0" bIns="0" rtlCol="0" anchor="t"/>
          <a:lstStyle/>
          <a:p>
            <a:pPr indent="0" marL="0">
              <a:lnSpc>
                <a:spcPts val="1650"/>
              </a:lnSpc>
              <a:buNone/>
            </a:pPr>
            <a:r>
              <a:rPr lang="en-IE" sz="1250" dirty="0">
                <a:solidFill>
                  <a:srgbClr val="6CC4E8"/>
                </a:solidFill>
                <a:latin typeface="Consolas" pitchFamily="34" charset="0"/>
                <a:ea typeface="Consolas" pitchFamily="34" charset="-122"/>
                <a:cs typeface="Consolas" pitchFamily="34" charset="-120"/>
              </a:rPr>
              <a:t>PayRoll</a:t>
            </a:r>
            <a:r>
              <a:rPr lang="en-IE" sz="1250" dirty="0">
                <a:solidFill>
                  <a:srgbClr val="E6EBF2"/>
                </a:solidFill>
                <a:latin typeface="Consolas" pitchFamily="34" charset="0"/>
                <a:ea typeface="Consolas" pitchFamily="34" charset="-122"/>
                <a:cs typeface="Consolas" pitchFamily="34" charset="-120"/>
              </a:rPr>
              <a:t> pay = </a:t>
            </a:r>
            <a:r>
              <a:rPr lang="en-IE" sz="1250" dirty="0">
                <a:solidFill>
                  <a:srgbClr val="FF9F5A"/>
                </a:solidFill>
                <a:latin typeface="Consolas" pitchFamily="34" charset="0"/>
                <a:ea typeface="Consolas" pitchFamily="34" charset="-122"/>
                <a:cs typeface="Consolas" pitchFamily="34" charset="-120"/>
              </a:rPr>
              <a:t>new</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C9B0FF"/>
                </a:solidFill>
                <a:latin typeface="Consolas" pitchFamily="34" charset="0"/>
                <a:ea typeface="Consolas" pitchFamily="34" charset="-122"/>
                <a:cs typeface="Consolas" pitchFamily="34" charset="-120"/>
              </a:rPr>
              <a:t>FullTimeEmployee</a:t>
            </a:r>
            <a:r>
              <a:rPr lang="en-IE" sz="1250" dirty="0">
                <a:solidFill>
                  <a:srgbClr val="E6EBF2"/>
                </a:solidFill>
                <a:latin typeface="Consolas" pitchFamily="34" charset="0"/>
                <a:ea typeface="Consolas" pitchFamily="34" charset="-122"/>
                <a:cs typeface="Consolas" pitchFamily="34" charset="-120"/>
              </a:rPr>
              <a: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 </a:t>
            </a:r>
            <a:endParaRPr lang="en-IE" sz="1250" dirty="0"/>
          </a:p>
          <a:p>
            <a:pPr indent="0" marL="0">
              <a:lnSpc>
                <a:spcPts val="1650"/>
              </a:lnSpc>
              <a:buNone/>
            </a:pPr>
            <a:r>
              <a:rPr lang="en-IE" sz="1250" dirty="0">
                <a:solidFill>
                  <a:srgbClr val="6CC4E8"/>
                </a:solidFill>
                <a:latin typeface="Consolas" pitchFamily="34" charset="0"/>
                <a:ea typeface="Consolas" pitchFamily="34" charset="-122"/>
                <a:cs typeface="Consolas" pitchFamily="34" charset="-120"/>
              </a:rPr>
              <a:t>List</a:t>
            </a:r>
            <a:r>
              <a:rPr lang="en-IE" sz="1250" dirty="0">
                <a:solidFill>
                  <a:srgbClr val="E6EBF2"/>
                </a:solidFill>
                <a:latin typeface="Consolas" pitchFamily="34" charset="0"/>
                <a:ea typeface="Consolas" pitchFamily="34" charset="-122"/>
                <a:cs typeface="Consolas" pitchFamily="34" charset="-120"/>
              </a:rPr>
              <a:t>&lt;String&gt; names = </a:t>
            </a:r>
            <a:r>
              <a:rPr lang="en-IE" sz="1250" dirty="0">
                <a:solidFill>
                  <a:srgbClr val="FF9F5A"/>
                </a:solidFill>
                <a:latin typeface="Consolas" pitchFamily="34" charset="0"/>
                <a:ea typeface="Consolas" pitchFamily="34" charset="-122"/>
                <a:cs typeface="Consolas" pitchFamily="34" charset="-120"/>
              </a:rPr>
              <a:t>new</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ArrayList</a:t>
            </a:r>
            <a:r>
              <a:rPr lang="en-IE" sz="1250" dirty="0">
                <a:solidFill>
                  <a:srgbClr val="E6EBF2"/>
                </a:solidFill>
                <a:latin typeface="Consolas" pitchFamily="34" charset="0"/>
                <a:ea typeface="Consolas" pitchFamily="34" charset="-122"/>
                <a:cs typeface="Consolas" pitchFamily="34" charset="-120"/>
              </a:rPr>
              <a:t>&lt;String&gt;();</a:t>
            </a:r>
            <a:endParaRPr lang="en-IE" sz="1250" dirty="0"/>
          </a:p>
          <a:p>
            <a:pPr indent="0" marL="0">
              <a:lnSpc>
                <a:spcPts val="1650"/>
              </a:lnSpc>
              <a:buNone/>
            </a:pPr>
            <a:r>
              <a:rPr lang="en-IE" sz="1250" dirty="0">
                <a:solidFill>
                  <a:srgbClr val="E6EBF2"/>
                </a:solidFill>
                <a:latin typeface="Consolas" pitchFamily="34" charset="0"/>
                <a:ea typeface="Consolas" pitchFamily="34" charset="-122"/>
                <a:cs typeface="Consolas" pitchFamily="34" charset="-120"/>
              </a:rPr>
              <a:t>names = </a:t>
            </a:r>
            <a:r>
              <a:rPr lang="en-IE" sz="1250" dirty="0">
                <a:solidFill>
                  <a:srgbClr val="FF9F5A"/>
                </a:solidFill>
                <a:latin typeface="Consolas" pitchFamily="34" charset="0"/>
                <a:ea typeface="Consolas" pitchFamily="34" charset="-122"/>
                <a:cs typeface="Consolas" pitchFamily="34" charset="-120"/>
              </a:rPr>
              <a:t>new</a:t>
            </a:r>
            <a:r>
              <a:rPr lang="en-IE" sz="1250" dirty="0">
                <a:solidFill>
                  <a:srgbClr val="E6EBF2"/>
                </a:solidFill>
                <a:latin typeface="Consolas" pitchFamily="34" charset="0"/>
                <a:ea typeface="Consolas" pitchFamily="34" charset="-122"/>
                <a:cs typeface="Consolas" pitchFamily="34" charset="-120"/>
              </a:rPr>
              <a:t> </a:t>
            </a:r>
            <a:r>
              <a:rPr lang="en-IE" sz="1250" dirty="0">
                <a:solidFill>
                  <a:srgbClr val="6CC4E8"/>
                </a:solidFill>
                <a:latin typeface="Consolas" pitchFamily="34" charset="0"/>
                <a:ea typeface="Consolas" pitchFamily="34" charset="-122"/>
                <a:cs typeface="Consolas" pitchFamily="34" charset="-120"/>
              </a:rPr>
              <a:t>LinkedList</a:t>
            </a:r>
            <a:r>
              <a:rPr lang="en-IE" sz="1250" dirty="0">
                <a:solidFill>
                  <a:srgbClr val="E6EBF2"/>
                </a:solidFill>
                <a:latin typeface="Consolas" pitchFamily="34" charset="0"/>
                <a:ea typeface="Consolas" pitchFamily="34" charset="-122"/>
                <a:cs typeface="Consolas" pitchFamily="34" charset="-120"/>
              </a:rPr>
              <a:t>&lt;String&gt;();</a:t>
            </a:r>
            <a:endParaRPr lang="en-IE" sz="1250" dirty="0"/>
          </a:p>
        </p:txBody>
      </p:sp>
      <p:sp>
        <p:nvSpPr>
          <p:cNvPr id="9" name="Box List"/>
          <p:cNvSpPr/>
          <p:nvPr/>
        </p:nvSpPr>
        <p:spPr>
          <a:xfrm>
            <a:off x="7589520" y="2103120"/>
            <a:ext cx="2651760" cy="822960"/>
          </a:xfrm>
          <a:prstGeom prst="roundRect">
            <a:avLst>
              <a:gd name="adj" fmla="val 8889"/>
            </a:avLst>
          </a:prstGeom>
          <a:solidFill>
            <a:schemeClr val="accent5">
              <a:alpha val="14000"/>
            </a:schemeClr>
          </a:solidFill>
          <a:ln w="19050">
            <a:solidFill>
              <a:schemeClr val="accent5"/>
            </a:solidFill>
            <a:prstDash val="solid"/>
          </a:ln>
        </p:spPr>
      </p:sp>
      <p:sp>
        <p:nvSpPr>
          <p:cNvPr id="10" name="Text 7"/>
          <p:cNvSpPr txBox="1"/>
          <p:nvPr/>
        </p:nvSpPr>
        <p:spPr>
          <a:xfrm>
            <a:off x="7589520" y="2148840"/>
            <a:ext cx="2651760" cy="219456"/>
          </a:xfrm>
          <a:prstGeom prst="rect">
            <a:avLst/>
          </a:prstGeom>
          <a:noFill/>
          <a:ln/>
        </p:spPr>
        <p:txBody>
          <a:bodyPr wrap="square" lIns="0" tIns="0" rIns="0" bIns="0" rtlCol="0" anchor="ctr"/>
          <a:lstStyle/>
          <a:p>
            <a:pPr algn="ctr" indent="0" marL="0">
              <a:buNone/>
            </a:pPr>
            <a:r>
              <a:rPr lang="en-IE" sz="1100" i="1" dirty="0">
                <a:solidFill>
                  <a:schemeClr val="tx2"/>
                </a:solidFill>
              </a:rPr>
              <a:t>«interface»</a:t>
            </a:r>
            <a:endParaRPr lang="en-IE" sz="1100" dirty="0"/>
          </a:p>
        </p:txBody>
      </p:sp>
      <p:sp>
        <p:nvSpPr>
          <p:cNvPr id="11" name="Text 8"/>
          <p:cNvSpPr txBox="1"/>
          <p:nvPr/>
        </p:nvSpPr>
        <p:spPr>
          <a:xfrm>
            <a:off x="7589520" y="2340864"/>
            <a:ext cx="2651760" cy="548640"/>
          </a:xfrm>
          <a:prstGeom prst="rect">
            <a:avLst/>
          </a:prstGeom>
          <a:noFill/>
          <a:ln/>
        </p:spPr>
        <p:txBody>
          <a:bodyPr wrap="square" lIns="0" tIns="0" rIns="0" bIns="0" rtlCol="0" anchor="ctr"/>
          <a:lstStyle/>
          <a:p>
            <a:pPr algn="ctr" indent="0" marL="0">
              <a:buNone/>
            </a:pPr>
            <a:r>
              <a:rPr lang="en-IE" sz="1900" b="1" dirty="0">
                <a:solidFill>
                  <a:schemeClr val="tx1"/>
                </a:solidFill>
              </a:rPr>
              <a:t>List</a:t>
            </a:r>
            <a:endParaRPr lang="en-IE" sz="1900" dirty="0"/>
          </a:p>
        </p:txBody>
      </p:sp>
      <p:sp>
        <p:nvSpPr>
          <p:cNvPr id="12" name="Box ArrayList"/>
          <p:cNvSpPr/>
          <p:nvPr/>
        </p:nvSpPr>
        <p:spPr>
          <a:xfrm>
            <a:off x="6172200" y="4114800"/>
            <a:ext cx="2514600" cy="685800"/>
          </a:xfrm>
          <a:prstGeom prst="roundRect">
            <a:avLst>
              <a:gd name="adj" fmla="val 10667"/>
            </a:avLst>
          </a:prstGeom>
          <a:solidFill>
            <a:schemeClr val="accent2">
              <a:alpha val="14000"/>
            </a:schemeClr>
          </a:solidFill>
          <a:ln w="19050">
            <a:solidFill>
              <a:schemeClr val="accent2"/>
            </a:solidFill>
            <a:prstDash val="solid"/>
          </a:ln>
        </p:spPr>
      </p:sp>
      <p:sp>
        <p:nvSpPr>
          <p:cNvPr id="13" name="Text 10"/>
          <p:cNvSpPr txBox="1"/>
          <p:nvPr/>
        </p:nvSpPr>
        <p:spPr>
          <a:xfrm>
            <a:off x="6172200" y="4114800"/>
            <a:ext cx="2514600" cy="685800"/>
          </a:xfrm>
          <a:prstGeom prst="rect">
            <a:avLst/>
          </a:prstGeom>
          <a:noFill/>
          <a:ln/>
        </p:spPr>
        <p:txBody>
          <a:bodyPr wrap="square" lIns="0" tIns="0" rIns="0" bIns="0" rtlCol="0" anchor="ctr"/>
          <a:lstStyle/>
          <a:p>
            <a:pPr algn="ctr" indent="0" marL="0">
              <a:buNone/>
            </a:pPr>
            <a:r>
              <a:rPr lang="en-IE" sz="1700" b="1" dirty="0">
                <a:solidFill>
                  <a:schemeClr val="tx1"/>
                </a:solidFill>
              </a:rPr>
              <a:t>ArrayList</a:t>
            </a:r>
            <a:endParaRPr lang="en-IE" sz="1700" dirty="0"/>
          </a:p>
        </p:txBody>
      </p:sp>
      <p:sp>
        <p:nvSpPr>
          <p:cNvPr id="14" name="Box LinkedList"/>
          <p:cNvSpPr/>
          <p:nvPr/>
        </p:nvSpPr>
        <p:spPr>
          <a:xfrm>
            <a:off x="9125712" y="4114800"/>
            <a:ext cx="2514600" cy="685800"/>
          </a:xfrm>
          <a:prstGeom prst="roundRect">
            <a:avLst>
              <a:gd name="adj" fmla="val 10667"/>
            </a:avLst>
          </a:prstGeom>
          <a:solidFill>
            <a:schemeClr val="accent2">
              <a:alpha val="14000"/>
            </a:schemeClr>
          </a:solidFill>
          <a:ln w="19050">
            <a:solidFill>
              <a:schemeClr val="accent2"/>
            </a:solidFill>
            <a:prstDash val="solid"/>
          </a:ln>
        </p:spPr>
      </p:sp>
      <p:sp>
        <p:nvSpPr>
          <p:cNvPr id="15" name="Text 12"/>
          <p:cNvSpPr txBox="1"/>
          <p:nvPr/>
        </p:nvSpPr>
        <p:spPr>
          <a:xfrm>
            <a:off x="9125712" y="4114800"/>
            <a:ext cx="2514600" cy="685800"/>
          </a:xfrm>
          <a:prstGeom prst="rect">
            <a:avLst/>
          </a:prstGeom>
          <a:noFill/>
          <a:ln/>
        </p:spPr>
        <p:txBody>
          <a:bodyPr wrap="square" lIns="0" tIns="0" rIns="0" bIns="0" rtlCol="0" anchor="ctr"/>
          <a:lstStyle/>
          <a:p>
            <a:pPr algn="ctr" indent="0" marL="0">
              <a:buNone/>
            </a:pPr>
            <a:r>
              <a:rPr lang="en-IE" sz="1700" b="1" dirty="0">
                <a:solidFill>
                  <a:schemeClr val="tx1"/>
                </a:solidFill>
              </a:rPr>
              <a:t>LinkedList</a:t>
            </a:r>
            <a:endParaRPr lang="en-IE" sz="1700" dirty="0"/>
          </a:p>
        </p:txBody>
      </p:sp>
      <p:sp>
        <p:nvSpPr>
          <p:cNvPr id="16" name="Line"/>
          <p:cNvSpPr/>
          <p:nvPr/>
        </p:nvSpPr>
        <p:spPr>
          <a:xfrm flipV="1">
            <a:off x="8915400" y="3108960"/>
            <a:ext cx="0" cy="411480"/>
          </a:xfrm>
          <a:prstGeom prst="line">
            <a:avLst/>
          </a:prstGeom>
          <a:noFill/>
          <a:ln w="19050">
            <a:solidFill>
              <a:schemeClr val="tx1"/>
            </a:solidFill>
            <a:prstDash val="dash"/>
          </a:ln>
        </p:spPr>
      </p:sp>
      <p:sp>
        <p:nvSpPr>
          <p:cNvPr id="17" name="Line"/>
          <p:cNvSpPr/>
          <p:nvPr/>
        </p:nvSpPr>
        <p:spPr>
          <a:xfrm>
            <a:off x="7429500" y="3520440"/>
            <a:ext cx="2953512" cy="0"/>
          </a:xfrm>
          <a:prstGeom prst="line">
            <a:avLst/>
          </a:prstGeom>
          <a:noFill/>
          <a:ln w="19050">
            <a:solidFill>
              <a:schemeClr val="tx1"/>
            </a:solidFill>
            <a:prstDash val="dash"/>
          </a:ln>
        </p:spPr>
      </p:sp>
      <p:sp>
        <p:nvSpPr>
          <p:cNvPr id="18" name="Line"/>
          <p:cNvSpPr/>
          <p:nvPr/>
        </p:nvSpPr>
        <p:spPr>
          <a:xfrm flipV="1">
            <a:off x="7429500" y="3520440"/>
            <a:ext cx="0" cy="594360"/>
          </a:xfrm>
          <a:prstGeom prst="line">
            <a:avLst/>
          </a:prstGeom>
          <a:noFill/>
          <a:ln w="19050">
            <a:solidFill>
              <a:schemeClr val="tx1"/>
            </a:solidFill>
            <a:prstDash val="dash"/>
          </a:ln>
        </p:spPr>
      </p:sp>
      <p:sp>
        <p:nvSpPr>
          <p:cNvPr id="19" name="Line"/>
          <p:cNvSpPr/>
          <p:nvPr/>
        </p:nvSpPr>
        <p:spPr>
          <a:xfrm flipV="1">
            <a:off x="10383012" y="3520440"/>
            <a:ext cx="0" cy="594360"/>
          </a:xfrm>
          <a:prstGeom prst="line">
            <a:avLst/>
          </a:prstGeom>
          <a:noFill/>
          <a:ln w="19050">
            <a:solidFill>
              <a:schemeClr val="tx1"/>
            </a:solidFill>
            <a:prstDash val="dash"/>
          </a:ln>
        </p:spPr>
      </p:sp>
      <p:sp>
        <p:nvSpPr>
          <p:cNvPr id="20" name="Inheritance arrow head"/>
          <p:cNvSpPr/>
          <p:nvPr/>
        </p:nvSpPr>
        <p:spPr>
          <a:xfrm>
            <a:off x="8805672" y="2926080"/>
            <a:ext cx="219456" cy="182880"/>
          </a:xfrm>
          <a:prstGeom prst="triangle">
            <a:avLst/>
          </a:prstGeom>
          <a:solidFill>
            <a:schemeClr val="bg1"/>
          </a:solidFill>
          <a:ln w="19050">
            <a:solidFill>
              <a:schemeClr val="tx1"/>
            </a:solidFill>
            <a:prstDash val="solid"/>
          </a:ln>
        </p:spPr>
      </p:sp>
      <p:sp>
        <p:nvSpPr>
          <p:cNvPr id="21" name="Text 18"/>
          <p:cNvSpPr txBox="1"/>
          <p:nvPr/>
        </p:nvSpPr>
        <p:spPr>
          <a:xfrm>
            <a:off x="6172200" y="4937760"/>
            <a:ext cx="5468112" cy="292608"/>
          </a:xfrm>
          <a:prstGeom prst="rect">
            <a:avLst/>
          </a:prstGeom>
          <a:noFill/>
          <a:ln/>
        </p:spPr>
        <p:txBody>
          <a:bodyPr wrap="square" lIns="0" tIns="0" rIns="0" bIns="0" rtlCol="0" anchor="t"/>
          <a:lstStyle/>
          <a:p>
            <a:pPr algn="ctr" indent="0" marL="0">
              <a:buNone/>
            </a:pPr>
            <a:r>
              <a:rPr lang="en-IE" sz="1300" i="1" dirty="0">
                <a:solidFill>
                  <a:schemeClr val="tx2"/>
                </a:solidFill>
              </a:rPr>
              <a:t>both implement List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can a </a:t>
            </a:r>
            <a:r>
              <a:rPr lang="en-IE" sz="2800" b="1" dirty="0">
                <a:solidFill>
                  <a:schemeClr val="accent2"/>
                </a:solidFill>
                <a:latin typeface="Consolas" pitchFamily="34" charset="0"/>
                <a:ea typeface="Consolas" pitchFamily="34" charset="-122"/>
                <a:cs typeface="Consolas" pitchFamily="34" charset="-120"/>
              </a:rPr>
              <a:t>List&lt;String&gt;</a:t>
            </a:r>
            <a:r>
              <a:rPr lang="en-IE" sz="2800" b="1" dirty="0">
                <a:solidFill>
                  <a:schemeClr val="tx1"/>
                </a:solidFill>
              </a:rPr>
              <a:t> variable hold an ArrayList, and later a LinkedList?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Both of them implement the List interface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ArrayList is a subclass of LinkedList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List is a concrete class we can create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Java converts one list into the other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67</a:t>
            </a:fld>
            <a:endParaRPr lang="en-I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can a </a:t>
            </a:r>
            <a:r>
              <a:rPr lang="en-IE" sz="2000" b="1" dirty="0">
                <a:solidFill>
                  <a:schemeClr val="tx2"/>
                </a:solidFill>
                <a:latin typeface="Consolas" pitchFamily="34" charset="0"/>
                <a:ea typeface="Consolas" pitchFamily="34" charset="-122"/>
                <a:cs typeface="Consolas" pitchFamily="34" charset="-120"/>
              </a:rPr>
              <a:t>List&lt;String&gt;</a:t>
            </a:r>
            <a:r>
              <a:rPr lang="en-IE" sz="2000" b="1" dirty="0">
                <a:solidFill>
                  <a:schemeClr val="tx2"/>
                </a:solidFill>
              </a:rPr>
              <a:t> variable hold an ArrayList, and later a LinkedList?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Both of them implement the List interface</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ArrayList is a subclass of LinkedList</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List is a concrete class we can create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Java converts one list into the other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List is an interface, and ArrayList and LinkedList both implement it. A List variable can refer to an object of any class that implements List, so we can switch from one to the other.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BENEFITS AND POLYMORPHISM</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Storing children together</a:t>
            </a:r>
            <a:endParaRPr lang="en-IE" sz="3400" dirty="0"/>
          </a:p>
        </p:txBody>
      </p:sp>
      <p:sp>
        <p:nvSpPr>
          <p:cNvPr id="5" name="Text 2"/>
          <p:cNvSpPr txBox="1"/>
          <p:nvPr/>
        </p:nvSpPr>
        <p:spPr>
          <a:xfrm>
            <a:off x="548640" y="1783080"/>
            <a:ext cx="4937760" cy="21945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It also means we can store children together, in an array of the parent type.</a:t>
            </a:r>
            <a:endParaRPr lang="en-IE" sz="1800" dirty="0"/>
          </a:p>
          <a:p>
            <a:pPr marL="228600" indent="-228600">
              <a:buSzPct val="100000"/>
              <a:buChar char="•"/>
            </a:pPr>
            <a:r>
              <a:rPr lang="en-IE" sz="1800" dirty="0">
                <a:solidFill>
                  <a:schemeClr val="tx1"/>
                </a:solidFill>
              </a:rPr>
              <a:t>When we need a child’s own methods, we cast back to the child type.</a:t>
            </a:r>
            <a:endParaRPr lang="en-IE" sz="1800" dirty="0"/>
          </a:p>
        </p:txBody>
      </p:sp>
      <p:sp>
        <p:nvSpPr>
          <p:cNvPr id="6" name="Array of employees card"/>
          <p:cNvSpPr/>
          <p:nvPr/>
        </p:nvSpPr>
        <p:spPr>
          <a:xfrm>
            <a:off x="548640" y="4069080"/>
            <a:ext cx="4937760" cy="1454658"/>
          </a:xfrm>
          <a:prstGeom prst="roundRect">
            <a:avLst>
              <a:gd name="adj" fmla="val 7543"/>
            </a:avLst>
          </a:prstGeom>
          <a:solidFill>
            <a:schemeClr val="tx1"/>
          </a:solidFill>
          <a:ln/>
          <a:effectLst>
            <a:outerShdw sx="100000" sy="100000" kx="0" ky="0" algn="bl" rotWithShape="0" blurRad="114300" dist="31750" dir="5400000">
              <a:srgbClr val="1D2433">
                <a:alpha val="12000"/>
              </a:srgbClr>
            </a:outerShdw>
          </a:effectLst>
        </p:spPr>
      </p:sp>
      <p:sp>
        <p:nvSpPr>
          <p:cNvPr id="7" name="Array of employees language"/>
          <p:cNvSpPr txBox="1"/>
          <p:nvPr/>
        </p:nvSpPr>
        <p:spPr>
          <a:xfrm>
            <a:off x="822960" y="4187952"/>
            <a:ext cx="43891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Array of employees text"/>
          <p:cNvSpPr txBox="1"/>
          <p:nvPr/>
        </p:nvSpPr>
        <p:spPr>
          <a:xfrm>
            <a:off x="822960" y="4562856"/>
            <a:ext cx="4389120" cy="7597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employees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4</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employees[</a:t>
            </a:r>
            <a:r>
              <a:rPr lang="en-IE" sz="1400" dirty="0">
                <a:solidFill>
                  <a:srgbClr val="F2C14E"/>
                </a:solidFill>
                <a:latin typeface="Consolas" pitchFamily="34" charset="0"/>
                <a:ea typeface="Consolas" pitchFamily="34" charset="-122"/>
                <a:cs typeface="Consolas" pitchFamily="34" charset="-120"/>
              </a:rPr>
              <a:t>0</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FullTimeEmployee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employees[</a:t>
            </a:r>
            <a:r>
              <a:rPr lang="en-IE" sz="1400" dirty="0">
                <a:solidFill>
                  <a:srgbClr val="F2C14E"/>
                </a:solidFill>
                <a:latin typeface="Consolas" pitchFamily="34" charset="0"/>
                <a:ea typeface="Consolas" pitchFamily="34" charset="-122"/>
                <a:cs typeface="Consolas" pitchFamily="34" charset="-120"/>
              </a:rPr>
              <a:t>1</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PartTimeEmployee</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9" name="Text 6"/>
          <p:cNvSpPr txBox="1"/>
          <p:nvPr/>
        </p:nvSpPr>
        <p:spPr>
          <a:xfrm>
            <a:off x="5943600" y="1737360"/>
            <a:ext cx="2743200" cy="320040"/>
          </a:xfrm>
          <a:prstGeom prst="rect">
            <a:avLst/>
          </a:prstGeom>
          <a:noFill/>
          <a:ln/>
        </p:spPr>
        <p:txBody>
          <a:bodyPr wrap="square" lIns="0" tIns="0" rIns="0" bIns="0" rtlCol="0" anchor="t"/>
          <a:lstStyle/>
          <a:p>
            <a:pPr indent="0" marL="0">
              <a:buNone/>
            </a:pPr>
            <a:r>
              <a:rPr lang="en-IE" sz="1500" b="1" dirty="0">
                <a:solidFill>
                  <a:schemeClr val="accent2"/>
                </a:solidFill>
                <a:latin typeface="Consolas" pitchFamily="34" charset="0"/>
                <a:ea typeface="Consolas" pitchFamily="34" charset="-122"/>
                <a:cs typeface="Consolas" pitchFamily="34" charset="-120"/>
              </a:rPr>
              <a:t>employees</a:t>
            </a:r>
            <a:endParaRPr lang="en-IE" sz="1500" dirty="0"/>
          </a:p>
        </p:txBody>
      </p:sp>
      <p:sp>
        <p:nvSpPr>
          <p:cNvPr id="10" name="Cell 0"/>
          <p:cNvSpPr/>
          <p:nvPr/>
        </p:nvSpPr>
        <p:spPr>
          <a:xfrm>
            <a:off x="5943600" y="2148840"/>
            <a:ext cx="1371600" cy="1051560"/>
          </a:xfrm>
          <a:prstGeom prst="rect">
            <a:avLst/>
          </a:prstGeom>
          <a:solidFill>
            <a:schemeClr val="accent1">
              <a:alpha val="15000"/>
            </a:schemeClr>
          </a:solidFill>
          <a:ln w="15875">
            <a:solidFill>
              <a:schemeClr val="accent1"/>
            </a:solidFill>
          </a:ln>
        </p:spPr>
        <p:txBody>
          <a:bodyPr wrap="square" lIns="0" tIns="0" rIns="0" bIns="0" rtlCol="0" anchor="ctr"/>
          <a:lstStyle/>
          <a:p>
            <a:pPr algn="ctr" indent="0" marL="0">
              <a:buNone/>
            </a:pPr>
            <a:r>
              <a:rPr lang="en-IE" sz="1350" b="1" dirty="0">
                <a:solidFill>
                  <a:schemeClr val="tx1"/>
                </a:solidFill>
              </a:rPr>
              <a:t>FullTime</a:t>
            </a:r>
            <a:endParaRPr lang="en-IE" sz="1350" dirty="0"/>
          </a:p>
          <a:p>
            <a:pPr algn="ctr" indent="0" marL="0">
              <a:buNone/>
            </a:pPr>
            <a:r>
              <a:rPr lang="en-IE" sz="1350" b="1" dirty="0">
                <a:solidFill>
                  <a:schemeClr val="tx1"/>
                </a:solidFill>
              </a:rPr>
              <a:t>Employee</a:t>
            </a:r>
            <a:endParaRPr lang="en-IE" sz="1350" dirty="0"/>
          </a:p>
        </p:txBody>
      </p:sp>
      <p:sp>
        <p:nvSpPr>
          <p:cNvPr id="11" name="Text 8"/>
          <p:cNvSpPr txBox="1"/>
          <p:nvPr/>
        </p:nvSpPr>
        <p:spPr>
          <a:xfrm>
            <a:off x="5943600" y="3246120"/>
            <a:ext cx="1371600" cy="274320"/>
          </a:xfrm>
          <a:prstGeom prst="rect">
            <a:avLst/>
          </a:prstGeom>
          <a:noFill/>
          <a:ln/>
        </p:spPr>
        <p:txBody>
          <a:bodyPr wrap="square" lIns="0" tIns="0" rIns="0" bIns="0" rtlCol="0" anchor="t"/>
          <a:lstStyle/>
          <a:p>
            <a:pPr algn="ctr" indent="0" marL="0">
              <a:buNone/>
            </a:pPr>
            <a:r>
              <a:rPr lang="en-IE" sz="1250" dirty="0">
                <a:solidFill>
                  <a:schemeClr val="tx2"/>
                </a:solidFill>
                <a:latin typeface="Consolas" pitchFamily="34" charset="0"/>
                <a:ea typeface="Consolas" pitchFamily="34" charset="-122"/>
                <a:cs typeface="Consolas" pitchFamily="34" charset="-120"/>
              </a:rPr>
              <a:t>[0]</a:t>
            </a:r>
            <a:endParaRPr lang="en-IE" sz="1250" dirty="0"/>
          </a:p>
        </p:txBody>
      </p:sp>
      <p:sp>
        <p:nvSpPr>
          <p:cNvPr id="12" name="Cell 1"/>
          <p:cNvSpPr/>
          <p:nvPr/>
        </p:nvSpPr>
        <p:spPr>
          <a:xfrm>
            <a:off x="7360920" y="2148840"/>
            <a:ext cx="1371600" cy="1051560"/>
          </a:xfrm>
          <a:prstGeom prst="rect">
            <a:avLst/>
          </a:prstGeom>
          <a:solidFill>
            <a:schemeClr val="accent3">
              <a:alpha val="15000"/>
            </a:schemeClr>
          </a:solidFill>
          <a:ln w="15875">
            <a:solidFill>
              <a:schemeClr val="accent3"/>
            </a:solidFill>
          </a:ln>
        </p:spPr>
        <p:txBody>
          <a:bodyPr wrap="square" lIns="0" tIns="0" rIns="0" bIns="0" rtlCol="0" anchor="ctr"/>
          <a:lstStyle/>
          <a:p>
            <a:pPr algn="ctr" indent="0" marL="0">
              <a:buNone/>
            </a:pPr>
            <a:r>
              <a:rPr lang="en-IE" sz="1350" b="1" dirty="0">
                <a:solidFill>
                  <a:schemeClr val="tx1"/>
                </a:solidFill>
              </a:rPr>
              <a:t>PartTime</a:t>
            </a:r>
            <a:endParaRPr lang="en-IE" sz="1350" dirty="0"/>
          </a:p>
          <a:p>
            <a:pPr algn="ctr" indent="0" marL="0">
              <a:buNone/>
            </a:pPr>
            <a:r>
              <a:rPr lang="en-IE" sz="1350" b="1" dirty="0">
                <a:solidFill>
                  <a:schemeClr val="tx1"/>
                </a:solidFill>
              </a:rPr>
              <a:t>Employee</a:t>
            </a:r>
            <a:endParaRPr lang="en-IE" sz="1350" dirty="0"/>
          </a:p>
        </p:txBody>
      </p:sp>
      <p:sp>
        <p:nvSpPr>
          <p:cNvPr id="13" name="Text 10"/>
          <p:cNvSpPr txBox="1"/>
          <p:nvPr/>
        </p:nvSpPr>
        <p:spPr>
          <a:xfrm>
            <a:off x="7360920" y="3246120"/>
            <a:ext cx="1371600" cy="274320"/>
          </a:xfrm>
          <a:prstGeom prst="rect">
            <a:avLst/>
          </a:prstGeom>
          <a:noFill/>
          <a:ln/>
        </p:spPr>
        <p:txBody>
          <a:bodyPr wrap="square" lIns="0" tIns="0" rIns="0" bIns="0" rtlCol="0" anchor="t"/>
          <a:lstStyle/>
          <a:p>
            <a:pPr algn="ctr" indent="0" marL="0">
              <a:buNone/>
            </a:pPr>
            <a:r>
              <a:rPr lang="en-IE" sz="1250" dirty="0">
                <a:solidFill>
                  <a:schemeClr val="tx2"/>
                </a:solidFill>
                <a:latin typeface="Consolas" pitchFamily="34" charset="0"/>
                <a:ea typeface="Consolas" pitchFamily="34" charset="-122"/>
                <a:cs typeface="Consolas" pitchFamily="34" charset="-120"/>
              </a:rPr>
              <a:t>[1]</a:t>
            </a:r>
            <a:endParaRPr lang="en-IE" sz="1250" dirty="0"/>
          </a:p>
        </p:txBody>
      </p:sp>
      <p:sp>
        <p:nvSpPr>
          <p:cNvPr id="14" name="Cell 2"/>
          <p:cNvSpPr/>
          <p:nvPr/>
        </p:nvSpPr>
        <p:spPr>
          <a:xfrm>
            <a:off x="8778240" y="2148840"/>
            <a:ext cx="1371600" cy="1051560"/>
          </a:xfrm>
          <a:prstGeom prst="rect">
            <a:avLst/>
          </a:prstGeom>
          <a:solidFill>
            <a:schemeClr val="bg2"/>
          </a:solidFill>
          <a:ln w="15875">
            <a:solidFill>
              <a:schemeClr val="tx2"/>
            </a:solidFill>
          </a:ln>
        </p:spPr>
        <p:txBody>
          <a:bodyPr wrap="square" lIns="0" tIns="0" rIns="0" bIns="0" rtlCol="0" anchor="ctr"/>
          <a:lstStyle/>
          <a:p>
            <a:pPr algn="ctr" indent="0" marL="0">
              <a:buNone/>
            </a:pPr>
            <a:r>
              <a:rPr lang="en-IE" sz="1350" dirty="0">
                <a:solidFill>
                  <a:schemeClr val="tx2"/>
                </a:solidFill>
                <a:latin typeface="Consolas" pitchFamily="34" charset="0"/>
                <a:ea typeface="Consolas" pitchFamily="34" charset="-122"/>
                <a:cs typeface="Consolas" pitchFamily="34" charset="-120"/>
              </a:rPr>
              <a:t>null</a:t>
            </a:r>
            <a:endParaRPr lang="en-IE" sz="1350" dirty="0"/>
          </a:p>
        </p:txBody>
      </p:sp>
      <p:sp>
        <p:nvSpPr>
          <p:cNvPr id="15" name="Text 12"/>
          <p:cNvSpPr txBox="1"/>
          <p:nvPr/>
        </p:nvSpPr>
        <p:spPr>
          <a:xfrm>
            <a:off x="8778240" y="3246120"/>
            <a:ext cx="1371600" cy="274320"/>
          </a:xfrm>
          <a:prstGeom prst="rect">
            <a:avLst/>
          </a:prstGeom>
          <a:noFill/>
          <a:ln/>
        </p:spPr>
        <p:txBody>
          <a:bodyPr wrap="square" lIns="0" tIns="0" rIns="0" bIns="0" rtlCol="0" anchor="t"/>
          <a:lstStyle/>
          <a:p>
            <a:pPr algn="ctr" indent="0" marL="0">
              <a:buNone/>
            </a:pPr>
            <a:r>
              <a:rPr lang="en-IE" sz="1250" dirty="0">
                <a:solidFill>
                  <a:schemeClr val="tx2"/>
                </a:solidFill>
                <a:latin typeface="Consolas" pitchFamily="34" charset="0"/>
                <a:ea typeface="Consolas" pitchFamily="34" charset="-122"/>
                <a:cs typeface="Consolas" pitchFamily="34" charset="-120"/>
              </a:rPr>
              <a:t>[2]</a:t>
            </a:r>
            <a:endParaRPr lang="en-IE" sz="1250" dirty="0"/>
          </a:p>
        </p:txBody>
      </p:sp>
      <p:sp>
        <p:nvSpPr>
          <p:cNvPr id="16" name="Cell 3"/>
          <p:cNvSpPr/>
          <p:nvPr/>
        </p:nvSpPr>
        <p:spPr>
          <a:xfrm>
            <a:off x="10195560" y="2148840"/>
            <a:ext cx="1371600" cy="1051560"/>
          </a:xfrm>
          <a:prstGeom prst="rect">
            <a:avLst/>
          </a:prstGeom>
          <a:solidFill>
            <a:schemeClr val="bg2"/>
          </a:solidFill>
          <a:ln w="15875">
            <a:solidFill>
              <a:schemeClr val="tx2"/>
            </a:solidFill>
          </a:ln>
        </p:spPr>
        <p:txBody>
          <a:bodyPr wrap="square" lIns="0" tIns="0" rIns="0" bIns="0" rtlCol="0" anchor="ctr"/>
          <a:lstStyle/>
          <a:p>
            <a:pPr algn="ctr" indent="0" marL="0">
              <a:buNone/>
            </a:pPr>
            <a:r>
              <a:rPr lang="en-IE" sz="1350" dirty="0">
                <a:solidFill>
                  <a:schemeClr val="tx2"/>
                </a:solidFill>
                <a:latin typeface="Consolas" pitchFamily="34" charset="0"/>
                <a:ea typeface="Consolas" pitchFamily="34" charset="-122"/>
                <a:cs typeface="Consolas" pitchFamily="34" charset="-120"/>
              </a:rPr>
              <a:t>null</a:t>
            </a:r>
            <a:endParaRPr lang="en-IE" sz="1350" dirty="0"/>
          </a:p>
        </p:txBody>
      </p:sp>
      <p:sp>
        <p:nvSpPr>
          <p:cNvPr id="17" name="Text 14"/>
          <p:cNvSpPr txBox="1"/>
          <p:nvPr/>
        </p:nvSpPr>
        <p:spPr>
          <a:xfrm>
            <a:off x="10195560" y="3246120"/>
            <a:ext cx="1371600" cy="274320"/>
          </a:xfrm>
          <a:prstGeom prst="rect">
            <a:avLst/>
          </a:prstGeom>
          <a:noFill/>
          <a:ln/>
        </p:spPr>
        <p:txBody>
          <a:bodyPr wrap="square" lIns="0" tIns="0" rIns="0" bIns="0" rtlCol="0" anchor="t"/>
          <a:lstStyle/>
          <a:p>
            <a:pPr algn="ctr" indent="0" marL="0">
              <a:buNone/>
            </a:pPr>
            <a:r>
              <a:rPr lang="en-IE" sz="1250" dirty="0">
                <a:solidFill>
                  <a:schemeClr val="tx2"/>
                </a:solidFill>
                <a:latin typeface="Consolas" pitchFamily="34" charset="0"/>
                <a:ea typeface="Consolas" pitchFamily="34" charset="-122"/>
                <a:cs typeface="Consolas" pitchFamily="34" charset="-120"/>
              </a:rPr>
              <a:t>[3]</a:t>
            </a:r>
            <a:endParaRPr lang="en-IE" sz="1250" dirty="0"/>
          </a:p>
        </p:txBody>
      </p:sp>
      <p:sp>
        <p:nvSpPr>
          <p:cNvPr id="18" name="Note"/>
          <p:cNvSpPr/>
          <p:nvPr/>
        </p:nvSpPr>
        <p:spPr>
          <a:xfrm>
            <a:off x="5943600" y="4069080"/>
            <a:ext cx="5699455" cy="914400"/>
          </a:xfrm>
          <a:prstGeom prst="roundRect">
            <a:avLst>
              <a:gd name="adj" fmla="val 12000"/>
            </a:avLst>
          </a:prstGeom>
          <a:solidFill>
            <a:schemeClr val="bg2"/>
          </a:solidFill>
          <a:ln/>
        </p:spPr>
      </p:sp>
      <p:sp>
        <p:nvSpPr>
          <p:cNvPr id="19" name="Icon tile"/>
          <p:cNvSpPr/>
          <p:nvPr/>
        </p:nvSpPr>
        <p:spPr>
          <a:xfrm>
            <a:off x="6217920" y="4261104"/>
            <a:ext cx="530352" cy="530352"/>
          </a:xfrm>
          <a:prstGeom prst="roundRect">
            <a:avLst>
              <a:gd name="adj" fmla="val 24000"/>
            </a:avLst>
          </a:prstGeom>
          <a:solidFill>
            <a:schemeClr val="accent2">
              <a:alpha val="14000"/>
            </a:schemeClr>
          </a:solidFill>
          <a:ln/>
        </p:spPr>
      </p:sp>
      <p:pic>
        <p:nvPicPr>
          <p:cNvPr id="20" name="stack icon" descr="stack icon">    </p:cNvPr>
          <p:cNvPicPr>
            <a:picLocks noChangeAspect="1"/>
          </p:cNvPicPr>
          <p:nvPr/>
        </p:nvPicPr>
        <p:blipFill>
          <a:blip r:embed="rId1"/>
          <a:stretch>
            <a:fillRect/>
          </a:stretch>
        </p:blipFill>
        <p:spPr>
          <a:xfrm>
            <a:off x="6329294" y="4372478"/>
            <a:ext cx="307604" cy="307604"/>
          </a:xfrm>
          <a:prstGeom prst="rect">
            <a:avLst/>
          </a:prstGeom>
        </p:spPr>
      </p:pic>
      <p:sp>
        <p:nvSpPr>
          <p:cNvPr id="21" name="Text 17"/>
          <p:cNvSpPr txBox="1"/>
          <p:nvPr/>
        </p:nvSpPr>
        <p:spPr>
          <a:xfrm>
            <a:off x="6967728" y="4069080"/>
            <a:ext cx="4419295" cy="914400"/>
          </a:xfrm>
          <a:prstGeom prst="rect">
            <a:avLst/>
          </a:prstGeom>
          <a:noFill/>
          <a:ln/>
        </p:spPr>
        <p:txBody>
          <a:bodyPr wrap="square" lIns="0" tIns="0" rIns="0" bIns="0" rtlCol="0" anchor="ctr"/>
          <a:lstStyle/>
          <a:p>
            <a:pPr indent="0" marL="0">
              <a:buNone/>
            </a:pPr>
            <a:r>
              <a:rPr lang="en-IE" sz="1600" dirty="0">
                <a:solidFill>
                  <a:schemeClr val="tx1"/>
                </a:solidFill>
              </a:rPr>
              <a:t>One array, two kinds of employee: each slot is an Employee.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can an </a:t>
            </a:r>
            <a:r>
              <a:rPr lang="en-IE" sz="2800" b="1" dirty="0">
                <a:solidFill>
                  <a:schemeClr val="accent2"/>
                </a:solidFill>
                <a:latin typeface="Consolas" pitchFamily="34" charset="0"/>
                <a:ea typeface="Consolas" pitchFamily="34" charset="-122"/>
                <a:cs typeface="Consolas" pitchFamily="34" charset="-120"/>
              </a:rPr>
              <a:t>Employee[]</a:t>
            </a:r>
            <a:r>
              <a:rPr lang="en-IE" sz="2800" b="1" dirty="0">
                <a:solidFill>
                  <a:schemeClr val="tx1"/>
                </a:solidFill>
              </a:rPr>
              <a:t> array hold?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Employee objects, never any subclasses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Any kind of object at all, even Strings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Employees and objects of its subclasses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one kind of subclass at any one time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Polymorphism</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can an </a:t>
            </a:r>
            <a:r>
              <a:rPr lang="en-IE" sz="2000" b="1" dirty="0">
                <a:solidFill>
                  <a:schemeClr val="tx2"/>
                </a:solidFill>
                <a:latin typeface="Consolas" pitchFamily="34" charset="0"/>
                <a:ea typeface="Consolas" pitchFamily="34" charset="-122"/>
                <a:cs typeface="Consolas" pitchFamily="34" charset="-120"/>
              </a:rPr>
              <a:t>Employee[]</a:t>
            </a:r>
            <a:r>
              <a:rPr lang="en-IE" sz="2000" b="1" dirty="0">
                <a:solidFill>
                  <a:schemeClr val="tx2"/>
                </a:solidFill>
              </a:rPr>
              <a:t> array hold?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Employee objects, never any subclasses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Any kind of object at all, even Strings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Employees and objects of its subclasses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one kind of subclass at any one time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 array of the parent type can store children together, so FullTimeEmployee and PartTimeEmployee objects can sit side by side in one Employee[]. A String isn’t an Employee, so it can’t go in.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BENEFITS AND POLYMORPHISM</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Casting back to the child</a:t>
            </a:r>
            <a:endParaRPr lang="en-IE" sz="3400" dirty="0"/>
          </a:p>
        </p:txBody>
      </p:sp>
      <p:sp>
        <p:nvSpPr>
          <p:cNvPr id="5" name="Text 2"/>
          <p:cNvSpPr txBox="1"/>
          <p:nvPr/>
        </p:nvSpPr>
        <p:spPr>
          <a:xfrm>
            <a:off x="548640" y="1783080"/>
            <a:ext cx="4937760" cy="21945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If they’re all stored as the parent, how do we use the child’s own methods?</a:t>
            </a:r>
            <a:endParaRPr lang="en-IE" sz="1800" dirty="0"/>
          </a:p>
          <a:p>
            <a:pPr marL="228600" indent="-228600">
              <a:buSzPct val="100000"/>
              <a:buChar char="•"/>
            </a:pPr>
            <a:r>
              <a:rPr lang="en-IE" sz="1800" dirty="0">
                <a:solidFill>
                  <a:schemeClr val="tx1"/>
                </a:solidFill>
              </a:rPr>
              <a:t>We cast back to the child type, then call the method.</a:t>
            </a:r>
            <a:endParaRPr lang="en-IE" sz="1800" dirty="0"/>
          </a:p>
        </p:txBody>
      </p:sp>
      <p:sp>
        <p:nvSpPr>
          <p:cNvPr id="6" name="Casting card"/>
          <p:cNvSpPr/>
          <p:nvPr/>
        </p:nvSpPr>
        <p:spPr>
          <a:xfrm>
            <a:off x="5852160" y="1737360"/>
            <a:ext cx="5790895" cy="2555748"/>
          </a:xfrm>
          <a:prstGeom prst="roundRect">
            <a:avLst>
              <a:gd name="adj" fmla="val 4293"/>
            </a:avLst>
          </a:prstGeom>
          <a:solidFill>
            <a:schemeClr val="tx1"/>
          </a:solidFill>
          <a:ln/>
          <a:effectLst>
            <a:outerShdw sx="100000" sy="100000" kx="0" ky="0" algn="bl" rotWithShape="0" blurRad="114300" dist="31750" dir="5400000">
              <a:srgbClr val="1D2433">
                <a:alpha val="12000"/>
              </a:srgbClr>
            </a:outerShdw>
          </a:effectLst>
        </p:spPr>
      </p:sp>
      <p:sp>
        <p:nvSpPr>
          <p:cNvPr id="7" name="Casting language"/>
          <p:cNvSpPr txBox="1"/>
          <p:nvPr/>
        </p:nvSpPr>
        <p:spPr>
          <a:xfrm>
            <a:off x="6126480" y="1856232"/>
            <a:ext cx="524225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Casting text"/>
          <p:cNvSpPr txBox="1"/>
          <p:nvPr/>
        </p:nvSpPr>
        <p:spPr>
          <a:xfrm>
            <a:off x="6126480" y="2231136"/>
            <a:ext cx="5242255" cy="1860804"/>
          </a:xfrm>
          <a:prstGeom prst="rect">
            <a:avLst/>
          </a:prstGeom>
          <a:noFill/>
          <a:ln/>
        </p:spPr>
        <p:txBody>
          <a:bodyPr wrap="square" lIns="0" tIns="0" rIns="0" bIns="0" rtlCol="0" anchor="t"/>
          <a:lstStyle/>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 employees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6CC4E8"/>
                </a:solidFill>
                <a:latin typeface="Consolas" pitchFamily="34" charset="0"/>
                <a:ea typeface="Consolas" pitchFamily="34" charset="-122"/>
                <a:cs typeface="Consolas" pitchFamily="34" charset="-120"/>
              </a:rPr>
              <a:t>Employee</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F2C14E"/>
                </a:solidFill>
                <a:latin typeface="Consolas" pitchFamily="34" charset="0"/>
                <a:ea typeface="Consolas" pitchFamily="34" charset="-122"/>
                <a:cs typeface="Consolas" pitchFamily="34" charset="-120"/>
              </a:rPr>
              <a:t>4</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employees[</a:t>
            </a:r>
            <a:r>
              <a:rPr lang="en-IE" sz="1200" dirty="0">
                <a:solidFill>
                  <a:srgbClr val="F2C14E"/>
                </a:solidFill>
                <a:latin typeface="Consolas" pitchFamily="34" charset="0"/>
                <a:ea typeface="Consolas" pitchFamily="34" charset="-122"/>
                <a:cs typeface="Consolas" pitchFamily="34" charset="-120"/>
              </a:rPr>
              <a:t>0</a:t>
            </a:r>
            <a:r>
              <a:rPr lang="en-IE" sz="1200" dirty="0">
                <a:solidFill>
                  <a:srgbClr val="E6EBF2"/>
                </a:solidFill>
                <a:latin typeface="Consolas" pitchFamily="34" charset="0"/>
                <a:ea typeface="Consolas" pitchFamily="34" charset="-122"/>
                <a:cs typeface="Consolas" pitchFamily="34" charset="-120"/>
              </a:rPr>
              <a:t>]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FullTimeEmployee</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employees[</a:t>
            </a:r>
            <a:r>
              <a:rPr lang="en-IE" sz="1200" dirty="0">
                <a:solidFill>
                  <a:srgbClr val="F2C14E"/>
                </a:solidFill>
                <a:latin typeface="Consolas" pitchFamily="34" charset="0"/>
                <a:ea typeface="Consolas" pitchFamily="34" charset="-122"/>
                <a:cs typeface="Consolas" pitchFamily="34" charset="-120"/>
              </a:rPr>
              <a:t>1</a:t>
            </a:r>
            <a:r>
              <a:rPr lang="en-IE" sz="1200" dirty="0">
                <a:solidFill>
                  <a:srgbClr val="E6EBF2"/>
                </a:solidFill>
                <a:latin typeface="Consolas" pitchFamily="34" charset="0"/>
                <a:ea typeface="Consolas" pitchFamily="34" charset="-122"/>
                <a:cs typeface="Consolas" pitchFamily="34" charset="-120"/>
              </a:rPr>
              <a:t>] = </a:t>
            </a:r>
            <a:r>
              <a:rPr lang="en-IE" sz="1200" dirty="0">
                <a:solidFill>
                  <a:srgbClr val="FF9F5A"/>
                </a:solidFill>
                <a:latin typeface="Consolas" pitchFamily="34" charset="0"/>
                <a:ea typeface="Consolas" pitchFamily="34" charset="-122"/>
                <a:cs typeface="Consolas" pitchFamily="34" charset="-120"/>
              </a:rPr>
              <a:t>new</a:t>
            </a:r>
            <a:r>
              <a:rPr lang="en-IE" sz="1200" dirty="0">
                <a:solidFill>
                  <a:srgbClr val="E6EBF2"/>
                </a:solidFill>
                <a:latin typeface="Consolas" pitchFamily="34" charset="0"/>
                <a:ea typeface="Consolas" pitchFamily="34" charset="-122"/>
                <a:cs typeface="Consolas" pitchFamily="34" charset="-120"/>
              </a:rPr>
              <a:t> </a:t>
            </a:r>
            <a:r>
              <a:rPr lang="en-IE" sz="1200" dirty="0">
                <a:solidFill>
                  <a:srgbClr val="C9B0FF"/>
                </a:solidFill>
                <a:latin typeface="Consolas" pitchFamily="34" charset="0"/>
                <a:ea typeface="Consolas" pitchFamily="34" charset="-122"/>
                <a:cs typeface="Consolas" pitchFamily="34" charset="-120"/>
              </a:rPr>
              <a:t>PartTimeEmployee</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dirty="0">
                <a:solidFill>
                  <a:srgbClr val="6CC4E8"/>
                </a:solidFill>
                <a:latin typeface="Consolas" pitchFamily="34" charset="0"/>
                <a:ea typeface="Consolas" pitchFamily="34" charset="-122"/>
                <a:cs typeface="Consolas" pitchFamily="34" charset="-120"/>
              </a:rPr>
              <a:t>FullTimeEmployee</a:t>
            </a:r>
            <a:r>
              <a:rPr lang="en-IE" sz="1200" dirty="0">
                <a:solidFill>
                  <a:srgbClr val="E6EBF2"/>
                </a:solidFill>
                <a:latin typeface="Consolas" pitchFamily="34" charset="0"/>
                <a:ea typeface="Consolas" pitchFamily="34" charset="-122"/>
                <a:cs typeface="Consolas" pitchFamily="34" charset="-120"/>
              </a:rPr>
              <a:t> emp = (</a:t>
            </a:r>
            <a:r>
              <a:rPr lang="en-IE" sz="1200" dirty="0">
                <a:solidFill>
                  <a:srgbClr val="6CC4E8"/>
                </a:solidFill>
                <a:latin typeface="Consolas" pitchFamily="34" charset="0"/>
                <a:ea typeface="Consolas" pitchFamily="34" charset="-122"/>
                <a:cs typeface="Consolas" pitchFamily="34" charset="-120"/>
              </a:rPr>
              <a:t>FullTimeEmployee</a:t>
            </a:r>
            <a:r>
              <a:rPr lang="en-IE" sz="1200" dirty="0">
                <a:solidFill>
                  <a:srgbClr val="E6EBF2"/>
                </a:solidFill>
                <a:latin typeface="Consolas" pitchFamily="34" charset="0"/>
                <a:ea typeface="Consolas" pitchFamily="34" charset="-122"/>
                <a:cs typeface="Consolas" pitchFamily="34" charset="-120"/>
              </a:rPr>
              <a:t>) employees[</a:t>
            </a:r>
            <a:r>
              <a:rPr lang="en-IE" sz="1200" dirty="0">
                <a:solidFill>
                  <a:srgbClr val="F2C14E"/>
                </a:solidFill>
                <a:latin typeface="Consolas" pitchFamily="34" charset="0"/>
                <a:ea typeface="Consolas" pitchFamily="34" charset="-122"/>
                <a:cs typeface="Consolas" pitchFamily="34" charset="-120"/>
              </a:rPr>
              <a:t>0</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emp.</a:t>
            </a:r>
            <a:r>
              <a:rPr lang="en-IE" sz="1200" dirty="0">
                <a:solidFill>
                  <a:srgbClr val="C9B0FF"/>
                </a:solidFill>
                <a:latin typeface="Consolas" pitchFamily="34" charset="0"/>
                <a:ea typeface="Consolas" pitchFamily="34" charset="-122"/>
                <a:cs typeface="Consolas" pitchFamily="34" charset="-120"/>
              </a:rPr>
              <a:t>getBonus</a:t>
            </a:r>
            <a:r>
              <a:rPr lang="en-IE" sz="1200" dirty="0">
                <a:solidFill>
                  <a:srgbClr val="E6EBF2"/>
                </a:solidFill>
                <a:latin typeface="Consolas" pitchFamily="34" charset="0"/>
                <a:ea typeface="Consolas" pitchFamily="34" charset="-122"/>
                <a:cs typeface="Consolas" pitchFamily="34" charset="-120"/>
              </a:rPr>
              <a:t>();</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 </a:t>
            </a:r>
            <a:endParaRPr lang="en-IE" sz="1200" dirty="0"/>
          </a:p>
          <a:p>
            <a:pPr indent="0" marL="0">
              <a:lnSpc>
                <a:spcPts val="1580"/>
              </a:lnSpc>
              <a:buNone/>
            </a:pPr>
            <a:r>
              <a:rPr lang="en-IE" sz="1200" i="1" dirty="0">
                <a:solidFill>
                  <a:srgbClr val="A3AEC2"/>
                </a:solidFill>
                <a:latin typeface="Consolas" pitchFamily="34" charset="0"/>
                <a:ea typeface="Consolas" pitchFamily="34" charset="-122"/>
                <a:cs typeface="Consolas" pitchFamily="34" charset="-120"/>
              </a:rPr>
              <a:t>// or in one line:</a:t>
            </a:r>
            <a:endParaRPr lang="en-IE" sz="1200" dirty="0"/>
          </a:p>
          <a:p>
            <a:pPr indent="0" marL="0">
              <a:lnSpc>
                <a:spcPts val="1580"/>
              </a:lnSpc>
              <a:buNone/>
            </a:pP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6CC4E8"/>
                </a:solidFill>
                <a:latin typeface="Consolas" pitchFamily="34" charset="0"/>
                <a:ea typeface="Consolas" pitchFamily="34" charset="-122"/>
                <a:cs typeface="Consolas" pitchFamily="34" charset="-120"/>
              </a:rPr>
              <a:t>FullTimeEmployee</a:t>
            </a:r>
            <a:r>
              <a:rPr lang="en-IE" sz="1200" dirty="0">
                <a:solidFill>
                  <a:srgbClr val="E6EBF2"/>
                </a:solidFill>
                <a:latin typeface="Consolas" pitchFamily="34" charset="0"/>
                <a:ea typeface="Consolas" pitchFamily="34" charset="-122"/>
                <a:cs typeface="Consolas" pitchFamily="34" charset="-120"/>
              </a:rPr>
              <a:t>) employees[</a:t>
            </a:r>
            <a:r>
              <a:rPr lang="en-IE" sz="1200" dirty="0">
                <a:solidFill>
                  <a:srgbClr val="F2C14E"/>
                </a:solidFill>
                <a:latin typeface="Consolas" pitchFamily="34" charset="0"/>
                <a:ea typeface="Consolas" pitchFamily="34" charset="-122"/>
                <a:cs typeface="Consolas" pitchFamily="34" charset="-120"/>
              </a:rPr>
              <a:t>0</a:t>
            </a:r>
            <a:r>
              <a:rPr lang="en-IE" sz="1200" dirty="0">
                <a:solidFill>
                  <a:srgbClr val="E6EBF2"/>
                </a:solidFill>
                <a:latin typeface="Consolas" pitchFamily="34" charset="0"/>
                <a:ea typeface="Consolas" pitchFamily="34" charset="-122"/>
                <a:cs typeface="Consolas" pitchFamily="34" charset="-120"/>
              </a:rPr>
              <a:t>]).</a:t>
            </a:r>
            <a:r>
              <a:rPr lang="en-IE" sz="1200" dirty="0">
                <a:solidFill>
                  <a:srgbClr val="C9B0FF"/>
                </a:solidFill>
                <a:latin typeface="Consolas" pitchFamily="34" charset="0"/>
                <a:ea typeface="Consolas" pitchFamily="34" charset="-122"/>
                <a:cs typeface="Consolas" pitchFamily="34" charset="-120"/>
              </a:rPr>
              <a:t>getBonus</a:t>
            </a:r>
            <a:r>
              <a:rPr lang="en-IE" sz="1200" dirty="0">
                <a:solidFill>
                  <a:srgbClr val="E6EBF2"/>
                </a:solidFill>
                <a:latin typeface="Consolas" pitchFamily="34" charset="0"/>
                <a:ea typeface="Consolas" pitchFamily="34" charset="-122"/>
                <a:cs typeface="Consolas" pitchFamily="34" charset="-120"/>
              </a:rPr>
              <a:t>();</a:t>
            </a:r>
            <a:endParaRPr lang="en-IE" sz="1200" dirty="0"/>
          </a:p>
        </p:txBody>
      </p:sp>
      <p:sp>
        <p:nvSpPr>
          <p:cNvPr id="9" name="Part: the cast"/>
          <p:cNvSpPr/>
          <p:nvPr/>
        </p:nvSpPr>
        <p:spPr>
          <a:xfrm>
            <a:off x="548640" y="4069080"/>
            <a:ext cx="2640330" cy="640080"/>
          </a:xfrm>
          <a:prstGeom prst="roundRect">
            <a:avLst>
              <a:gd name="adj" fmla="val 17143"/>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(FullTimeEmployee)</a:t>
            </a:r>
            <a:endParaRPr lang="en-IE" sz="1500" dirty="0"/>
          </a:p>
        </p:txBody>
      </p:sp>
      <p:sp>
        <p:nvSpPr>
          <p:cNvPr id="10" name="Connector"/>
          <p:cNvSpPr/>
          <p:nvPr/>
        </p:nvSpPr>
        <p:spPr>
          <a:xfrm>
            <a:off x="1868805" y="4754880"/>
            <a:ext cx="0" cy="301752"/>
          </a:xfrm>
          <a:prstGeom prst="line">
            <a:avLst/>
          </a:prstGeom>
          <a:noFill/>
          <a:ln w="19050">
            <a:solidFill>
              <a:schemeClr val="accent1"/>
            </a:solidFill>
            <a:prstDash val="solid"/>
          </a:ln>
        </p:spPr>
      </p:sp>
      <p:sp>
        <p:nvSpPr>
          <p:cNvPr id="11" name="Text 8"/>
          <p:cNvSpPr txBox="1"/>
          <p:nvPr/>
        </p:nvSpPr>
        <p:spPr>
          <a:xfrm>
            <a:off x="457200" y="5102352"/>
            <a:ext cx="2823210" cy="329184"/>
          </a:xfrm>
          <a:prstGeom prst="rect">
            <a:avLst/>
          </a:prstGeom>
          <a:noFill/>
          <a:ln/>
        </p:spPr>
        <p:txBody>
          <a:bodyPr wrap="square" lIns="0" tIns="0" rIns="0" bIns="0" rtlCol="0" anchor="t"/>
          <a:lstStyle/>
          <a:p>
            <a:pPr algn="ctr" indent="0" marL="0">
              <a:buNone/>
            </a:pPr>
            <a:r>
              <a:rPr lang="en-IE" sz="1600" b="1" dirty="0">
                <a:solidFill>
                  <a:schemeClr val="tx1"/>
                </a:solidFill>
              </a:rPr>
              <a:t>the cast</a:t>
            </a:r>
            <a:endParaRPr lang="en-IE" sz="1600" dirty="0"/>
          </a:p>
        </p:txBody>
      </p:sp>
      <p:sp>
        <p:nvSpPr>
          <p:cNvPr id="12" name="Text 9"/>
          <p:cNvSpPr txBox="1"/>
          <p:nvPr/>
        </p:nvSpPr>
        <p:spPr>
          <a:xfrm>
            <a:off x="457200" y="5440680"/>
            <a:ext cx="2823210" cy="566928"/>
          </a:xfrm>
          <a:prstGeom prst="rect">
            <a:avLst/>
          </a:prstGeom>
          <a:noFill/>
          <a:ln/>
        </p:spPr>
        <p:txBody>
          <a:bodyPr wrap="square" lIns="0" tIns="0" rIns="0" bIns="0" rtlCol="0" anchor="t"/>
          <a:lstStyle/>
          <a:p>
            <a:pPr algn="ctr" indent="0" marL="0">
              <a:buNone/>
            </a:pPr>
            <a:r>
              <a:rPr lang="en-IE" sz="1300" dirty="0">
                <a:solidFill>
                  <a:schemeClr val="tx2"/>
                </a:solidFill>
              </a:rPr>
              <a:t>the child type</a:t>
            </a:r>
            <a:endParaRPr lang="en-IE" sz="1300" dirty="0"/>
          </a:p>
        </p:txBody>
      </p:sp>
      <p:sp>
        <p:nvSpPr>
          <p:cNvPr id="13" name="Part: the object"/>
          <p:cNvSpPr/>
          <p:nvPr/>
        </p:nvSpPr>
        <p:spPr>
          <a:xfrm>
            <a:off x="3463290" y="4069080"/>
            <a:ext cx="1943100" cy="640080"/>
          </a:xfrm>
          <a:prstGeom prst="roundRect">
            <a:avLst>
              <a:gd name="adj" fmla="val 17143"/>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employees[0]</a:t>
            </a:r>
            <a:endParaRPr lang="en-IE" sz="1500" dirty="0"/>
          </a:p>
        </p:txBody>
      </p:sp>
      <p:sp>
        <p:nvSpPr>
          <p:cNvPr id="14" name="Connector"/>
          <p:cNvSpPr/>
          <p:nvPr/>
        </p:nvSpPr>
        <p:spPr>
          <a:xfrm>
            <a:off x="4434840" y="4754880"/>
            <a:ext cx="0" cy="301752"/>
          </a:xfrm>
          <a:prstGeom prst="line">
            <a:avLst/>
          </a:prstGeom>
          <a:noFill/>
          <a:ln w="19050">
            <a:solidFill>
              <a:schemeClr val="accent2"/>
            </a:solidFill>
            <a:prstDash val="solid"/>
          </a:ln>
        </p:spPr>
      </p:sp>
      <p:sp>
        <p:nvSpPr>
          <p:cNvPr id="15" name="Text 12"/>
          <p:cNvSpPr txBox="1"/>
          <p:nvPr/>
        </p:nvSpPr>
        <p:spPr>
          <a:xfrm>
            <a:off x="3371850" y="5102352"/>
            <a:ext cx="2125980" cy="329184"/>
          </a:xfrm>
          <a:prstGeom prst="rect">
            <a:avLst/>
          </a:prstGeom>
          <a:noFill/>
          <a:ln/>
        </p:spPr>
        <p:txBody>
          <a:bodyPr wrap="square" lIns="0" tIns="0" rIns="0" bIns="0" rtlCol="0" anchor="t"/>
          <a:lstStyle/>
          <a:p>
            <a:pPr algn="ctr" indent="0" marL="0">
              <a:buNone/>
            </a:pPr>
            <a:r>
              <a:rPr lang="en-IE" sz="1600" b="1" dirty="0">
                <a:solidFill>
                  <a:schemeClr val="tx1"/>
                </a:solidFill>
              </a:rPr>
              <a:t>the object</a:t>
            </a:r>
            <a:endParaRPr lang="en-IE" sz="1600" dirty="0"/>
          </a:p>
        </p:txBody>
      </p:sp>
      <p:sp>
        <p:nvSpPr>
          <p:cNvPr id="16" name="Text 13"/>
          <p:cNvSpPr txBox="1"/>
          <p:nvPr/>
        </p:nvSpPr>
        <p:spPr>
          <a:xfrm>
            <a:off x="3371850" y="5440680"/>
            <a:ext cx="2125980" cy="566928"/>
          </a:xfrm>
          <a:prstGeom prst="rect">
            <a:avLst/>
          </a:prstGeom>
          <a:noFill/>
          <a:ln/>
        </p:spPr>
        <p:txBody>
          <a:bodyPr wrap="square" lIns="0" tIns="0" rIns="0" bIns="0" rtlCol="0" anchor="t"/>
          <a:lstStyle/>
          <a:p>
            <a:pPr algn="ctr" indent="0" marL="0">
              <a:buNone/>
            </a:pPr>
            <a:r>
              <a:rPr lang="en-IE" sz="1300" dirty="0">
                <a:solidFill>
                  <a:schemeClr val="tx2"/>
                </a:solidFill>
              </a:rPr>
              <a:t>stored as Employee</a:t>
            </a:r>
            <a:endParaRPr lang="en-IE" sz="1300" dirty="0"/>
          </a:p>
        </p:txBody>
      </p:sp>
      <p:sp>
        <p:nvSpPr>
          <p:cNvPr id="17" name="Callout"/>
          <p:cNvSpPr/>
          <p:nvPr/>
        </p:nvSpPr>
        <p:spPr>
          <a:xfrm>
            <a:off x="5852160" y="4567428"/>
            <a:ext cx="5790895" cy="960120"/>
          </a:xfrm>
          <a:prstGeom prst="roundRect">
            <a:avLst>
              <a:gd name="adj" fmla="val 11429"/>
            </a:avLst>
          </a:prstGeom>
          <a:solidFill>
            <a:schemeClr val="accent1">
              <a:alpha val="12000"/>
            </a:schemeClr>
          </a:solidFill>
          <a:ln/>
        </p:spPr>
      </p:sp>
      <p:pic>
        <p:nvPicPr>
          <p:cNvPr id="18" name="Callout icon" descr="Callout icon">    </p:cNvPr>
          <p:cNvPicPr>
            <a:picLocks noChangeAspect="1"/>
          </p:cNvPicPr>
          <p:nvPr/>
        </p:nvPicPr>
        <p:blipFill>
          <a:blip r:embed="rId1"/>
          <a:stretch>
            <a:fillRect/>
          </a:stretch>
        </p:blipFill>
        <p:spPr>
          <a:xfrm>
            <a:off x="6080760" y="4768596"/>
            <a:ext cx="420624" cy="420624"/>
          </a:xfrm>
          <a:prstGeom prst="rect">
            <a:avLst/>
          </a:prstGeom>
        </p:spPr>
      </p:pic>
      <p:sp>
        <p:nvSpPr>
          <p:cNvPr id="19" name="Text 15"/>
          <p:cNvSpPr txBox="1"/>
          <p:nvPr/>
        </p:nvSpPr>
        <p:spPr>
          <a:xfrm>
            <a:off x="6629400" y="4750308"/>
            <a:ext cx="4830775" cy="594360"/>
          </a:xfrm>
          <a:prstGeom prst="rect">
            <a:avLst/>
          </a:prstGeom>
          <a:noFill/>
          <a:ln/>
        </p:spPr>
        <p:txBody>
          <a:bodyPr wrap="square" lIns="0" tIns="0" rIns="0" bIns="0" rtlCol="0" anchor="ctr"/>
          <a:lstStyle/>
          <a:p>
            <a:pPr indent="0" marL="0">
              <a:buNone/>
            </a:pPr>
            <a:r>
              <a:rPr lang="en-IE" sz="1400" dirty="0">
                <a:solidFill>
                  <a:schemeClr val="tx1"/>
                </a:solidFill>
              </a:rPr>
              <a:t>Cast only to the type the object really is. A cast to the wrong child type compiles, but fails when it runs (ClassCastException).</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72</a:t>
            </a:fld>
            <a:endParaRPr lang="en-I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Casting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accent2"/>
                </a:solidFill>
                <a:latin typeface="Consolas" pitchFamily="34" charset="0"/>
                <a:ea typeface="Consolas" pitchFamily="34" charset="-122"/>
                <a:cs typeface="Consolas" pitchFamily="34" charset="-120"/>
              </a:rPr>
              <a:t>employees[0]</a:t>
            </a:r>
            <a:r>
              <a:rPr lang="en-IE" sz="2800" b="1" dirty="0">
                <a:solidFill>
                  <a:schemeClr val="tx1"/>
                </a:solidFill>
              </a:rPr>
              <a:t> holds a FullTimeEmployee. Which line calls its </a:t>
            </a:r>
            <a:r>
              <a:rPr lang="en-IE" sz="2800" b="1" dirty="0">
                <a:solidFill>
                  <a:schemeClr val="accent2"/>
                </a:solidFill>
                <a:latin typeface="Consolas" pitchFamily="34" charset="0"/>
                <a:ea typeface="Consolas" pitchFamily="34" charset="-122"/>
                <a:cs typeface="Consolas" pitchFamily="34" charset="-120"/>
              </a:rPr>
              <a:t>getBonus()</a:t>
            </a:r>
            <a:r>
              <a:rPr lang="en-IE" sz="2800" b="1" dirty="0">
                <a:solidFill>
                  <a:schemeClr val="tx1"/>
                </a:solidFill>
              </a:rPr>
              <a:t> method?</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employees[0].getBonus();</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((FullTimeEmployee) employees[0]).getBonus();</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(FullTimeEmployee) employees[0].getBonus();</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FullTimeEmployee.getBonus(employees[0]);</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73</a:t>
            </a:fld>
            <a:endParaRPr lang="en-IE"/>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Casting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latin typeface="Consolas" pitchFamily="34" charset="0"/>
                <a:ea typeface="Consolas" pitchFamily="34" charset="-122"/>
                <a:cs typeface="Consolas" pitchFamily="34" charset="-120"/>
              </a:rPr>
              <a:t>employees[0]</a:t>
            </a:r>
            <a:r>
              <a:rPr lang="en-IE" sz="2000" b="1" dirty="0">
                <a:solidFill>
                  <a:schemeClr val="tx2"/>
                </a:solidFill>
              </a:rPr>
              <a:t> holds a FullTimeEmployee. Which line calls its </a:t>
            </a:r>
            <a:r>
              <a:rPr lang="en-IE" sz="2000" b="1" dirty="0">
                <a:solidFill>
                  <a:schemeClr val="tx2"/>
                </a:solidFill>
                <a:latin typeface="Consolas" pitchFamily="34" charset="0"/>
                <a:ea typeface="Consolas" pitchFamily="34" charset="-122"/>
                <a:cs typeface="Consolas" pitchFamily="34" charset="-120"/>
              </a:rPr>
              <a:t>getBonus()</a:t>
            </a:r>
            <a:r>
              <a:rPr lang="en-IE" sz="2000" b="1" dirty="0">
                <a:solidFill>
                  <a:schemeClr val="tx2"/>
                </a:solidFill>
              </a:rPr>
              <a:t> method?</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employees[0].getBonus();</a:t>
            </a:r>
            <a:endParaRPr lang="en-IE"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532888"/>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((FullTimeEmployee) employees[0]).getBonus();</a:t>
            </a:r>
            <a:endParaRPr lang="en-IE" sz="1700" dirty="0"/>
          </a:p>
        </p:txBody>
      </p:sp>
      <p:pic>
        <p:nvPicPr>
          <p:cNvPr id="11" name="Correct mark"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(FullTimeEmployee) employees[0].getBonus();</a:t>
            </a:r>
            <a:endParaRPr lang="en-IE"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FullTimeEmployee.getBonus(employees[0]);</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We cast back to the child type first, then call the method. The extra brackets matter, because in C the cast would apply to the result of getBonus(), not to the employee. A fails because Employee has no getBonus().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74</a:t>
            </a:fld>
            <a:endParaRPr lang="en-IE"/>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5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5">
              <a:alpha val="14000"/>
            </a:schemeClr>
          </a:solidFill>
          <a:ln/>
        </p:spPr>
      </p:sp>
      <p:pic>
        <p:nvPicPr>
          <p:cNvPr id="7" name="clipboard text icon" descr="clipboard text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Interface</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structure for classes, with no objects and no constructor.</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2">
              <a:alpha val="14000"/>
            </a:schemeClr>
          </a:solidFill>
          <a:ln/>
        </p:spPr>
      </p:sp>
      <p:pic>
        <p:nvPicPr>
          <p:cNvPr id="12" name="plugs icon" descr="plugs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implements</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class implements an interface and writes all its abstract methods.</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1">
              <a:alpha val="14000"/>
            </a:schemeClr>
          </a:solidFill>
          <a:ln/>
        </p:spPr>
      </p:sp>
      <p:pic>
        <p:nvPicPr>
          <p:cNvPr id="17" name="lock simple icon" descr="lock simple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Constants</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Interface attributes are public, static and final.</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4">
              <a:alpha val="14000"/>
            </a:schemeClr>
          </a:solidFill>
          <a:ln/>
        </p:spPr>
      </p:sp>
      <p:pic>
        <p:nvPicPr>
          <p:cNvPr id="22" name="lightning icon" descr="lightning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static</a:t>
            </a:r>
            <a:r>
              <a:rPr lang="en-IE" sz="1900" b="1" dirty="0">
                <a:solidFill>
                  <a:schemeClr val="tx1"/>
                </a:solidFill>
              </a:rPr>
              <a:t> methods</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Belong to the interface, as in PayRoll.getInfo().</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3">
              <a:alpha val="14000"/>
            </a:schemeClr>
          </a:solidFill>
          <a:ln/>
        </p:spPr>
      </p:sp>
      <p:pic>
        <p:nvPicPr>
          <p:cNvPr id="27" name="gear icon" descr="gear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default</a:t>
            </a:r>
            <a:r>
              <a:rPr lang="en-IE" sz="1900" b="1" dirty="0">
                <a:solidFill>
                  <a:schemeClr val="tx1"/>
                </a:solidFill>
              </a:rPr>
              <a:t> methods</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Have a body; run unless the class overrides them.</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5">
              <a:alpha val="14000"/>
            </a:schemeClr>
          </a:solidFill>
          <a:ln/>
        </p:spPr>
      </p:sp>
      <p:pic>
        <p:nvPicPr>
          <p:cNvPr id="32" name="stack icon" descr="stack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Many interfaces</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Implement several; extend only one class.</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2">
              <a:alpha val="14000"/>
            </a:schemeClr>
          </a:solidFill>
          <a:ln/>
        </p:spPr>
      </p:sp>
      <p:pic>
        <p:nvPicPr>
          <p:cNvPr id="37" name="shapes icon" descr="shapes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Polymorphism</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parent-type variable or array can hold any child.</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1">
              <a:alpha val="14000"/>
            </a:schemeClr>
          </a:solidFill>
          <a:ln/>
        </p:spPr>
      </p:sp>
      <p:pic>
        <p:nvPicPr>
          <p:cNvPr id="42" name="arrows down up icon" descr="arrows down up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Casting</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Cast back to the child type to use its own methods.</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75</a:t>
            </a:fld>
            <a:endParaRPr lang="en-IE"/>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5</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4869</Words>
  <Application>Microsoft Office PowerPoint</Application>
  <PresentationFormat>On-screen Show (16:9)</PresentationFormat>
  <Paragraphs>1111</Paragraphs>
  <Slides>76</Slides>
  <Notes>76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Consolas</vt:lpstr>
      <vt:lpstr>Blueprint</vt:lpstr>
      <vt:lpstr>Interfaces</vt:lpstr>
      <vt:lpstr>What we cover today</vt:lpstr>
      <vt:lpstr>Why interfaces?</vt:lpstr>
      <vt:lpstr>A class can only have one parent</vt:lpstr>
      <vt:lpstr>Why can’t a class extend two classes at the same time?</vt:lpstr>
      <vt:lpstr>Why can’t a class extend two classes at the same time?</vt:lpstr>
      <vt:lpstr>What is an interface?</vt:lpstr>
      <vt:lpstr>Which statement about an interface is true?</vt:lpstr>
      <vt:lpstr>Which statement about an interface is true?</vt:lpstr>
      <vt:lpstr>Interface or class?</vt:lpstr>
      <vt:lpstr>Which line is allowed inside an interface?</vt:lpstr>
      <vt:lpstr>Which line is allowed inside an interface?</vt:lpstr>
      <vt:lpstr>Implement every abstract method</vt:lpstr>
      <vt:lpstr>What happens when this code is compiled?</vt:lpstr>
      <vt:lpstr>What happens when this code is compiled?</vt:lpstr>
      <vt:lpstr>Writing an interface</vt:lpstr>
      <vt:lpstr>Declaring an interface</vt:lpstr>
      <vt:lpstr>Inside an interface, double calculatePay(); means exactly the same as…</vt:lpstr>
      <vt:lpstr>Inside an interface, double calculatePay(); means exactly the same as…</vt:lpstr>
      <vt:lpstr>Attributes are constants</vt:lpstr>
      <vt:lpstr>PayRoll declares int hourlyRate = 25 . What happens if a class contains the line PayRoll.hourlyRate = 30 ?</vt:lpstr>
      <vt:lpstr>PayRoll declares int hourlyRate = 25 . What happens if a class contains the line PayRoll.hourlyRate = 30 ?</vt:lpstr>
      <vt:lpstr>Implementing an interface</vt:lpstr>
      <vt:lpstr>Which class declaration is correct?</vt:lpstr>
      <vt:lpstr>Which class declaration is correct?</vt:lpstr>
      <vt:lpstr>What happens when this code is compiled?</vt:lpstr>
      <vt:lpstr>What happens when this code is compiled?</vt:lpstr>
      <vt:lpstr>Static and default methods</vt:lpstr>
      <vt:lpstr>Static methods in an interface</vt:lpstr>
      <vt:lpstr>How do we call the static method getInfo() from the PayRoll interface?</vt:lpstr>
      <vt:lpstr>How do we call the static method getInfo() from the PayRoll interface?</vt:lpstr>
      <vt:lpstr>Default methods</vt:lpstr>
      <vt:lpstr>What does this code print?</vt:lpstr>
      <vt:lpstr>What does this code print?</vt:lpstr>
      <vt:lpstr>Static vs default</vt:lpstr>
      <vt:lpstr>Manager implements PayRoll, which has a static getInfo() and a default getYearlyRate() . Which can Manager override?</vt:lpstr>
      <vt:lpstr>Manager implements PayRoll, which has a static getInfo() and a default getYearlyRate() . Which can Manager override?</vt:lpstr>
      <vt:lpstr>Multiple interfaces</vt:lpstr>
      <vt:lpstr>Implementing several interfaces</vt:lpstr>
      <vt:lpstr>Example: PayRoll and Finances</vt:lpstr>
      <vt:lpstr>Employee implements PayRoll and Finances, and both declare the abstract method double getPay() . What does Employee...</vt:lpstr>
      <vt:lpstr>Employee implements PayRoll and Finances, and both declare the abstract method double getPay() . What does Employee...</vt:lpstr>
      <vt:lpstr>Two defaults with the same signature</vt:lpstr>
      <vt:lpstr>PayRoll and Finances both have a default getYearlyRate(). Employee implements both and doesn’t override it. What...</vt:lpstr>
      <vt:lpstr>PayRoll and Finances both have a default getYearlyRate(). Employee implements both and doesn’t override it. What...</vt:lpstr>
      <vt:lpstr>Inside Employee’s getYearlyRate(), which call runs the default version from Finances?</vt:lpstr>
      <vt:lpstr>Inside Employee’s getYearlyRate(), which call runs the default version from Finances?</vt:lpstr>
      <vt:lpstr>Extending an interface</vt:lpstr>
      <vt:lpstr>Which is the correct way for the interface Contacts to build on the interface Email?</vt:lpstr>
      <vt:lpstr>Which is the correct way for the interface Contacts to build on the interface Email?</vt:lpstr>
      <vt:lpstr>Extending vs implementing</vt:lpstr>
      <vt:lpstr>Which of these can we do with interfaces?</vt:lpstr>
      <vt:lpstr>Which of these can we do with interfaces?</vt:lpstr>
      <vt:lpstr>Benefits and polymorphism</vt:lpstr>
      <vt:lpstr>Why use interfaces?</vt:lpstr>
      <vt:lpstr>Everyone in a team uses the same interfaces, so the parts fit together when the project is combined. Which benefit...</vt:lpstr>
      <vt:lpstr>Everyone in a team uses the same interfaces, so the parts fit together when the project is combined. Which benefit...</vt:lpstr>
      <vt:lpstr>Why do interfaces make it easier to write tests before the classes exist?</vt:lpstr>
      <vt:lpstr>Why do interfaces make it easier to write tests before the classes exist?</vt:lpstr>
      <vt:lpstr>One variable, many child types</vt:lpstr>
      <vt:lpstr>Employee is a normal (not abstract) class, and FullTimeEmployee and PartTimeEmployee extend it. Which line will NOT...</vt:lpstr>
      <vt:lpstr>Employee is a normal (not abstract) class, and FullTimeEmployee and PartTimeEmployee extend it. Which line will NOT...</vt:lpstr>
      <vt:lpstr>What can we call through the parent?</vt:lpstr>
      <vt:lpstr>Only FullTimeEmployee has getBonus(). After Employee e = new FullTimeEmployee() , what happens with e.getBonus() ?</vt:lpstr>
      <vt:lpstr>Only FullTimeEmployee has getBonus(). After Employee e = new FullTimeEmployee() , what happens with e.getBonus() ?</vt:lpstr>
      <vt:lpstr>Interfaces as variable types</vt:lpstr>
      <vt:lpstr>Why can a List&lt;String&gt; variable hold an ArrayList, and later a LinkedList?</vt:lpstr>
      <vt:lpstr>Why can a List&lt;String&gt; variable hold an ArrayList, and later a LinkedList?</vt:lpstr>
      <vt:lpstr>Storing children together</vt:lpstr>
      <vt:lpstr>What can an Employee[] array hold?</vt:lpstr>
      <vt:lpstr>What can an Employee[] array hold?</vt:lpstr>
      <vt:lpstr>Casting back to the child</vt:lpstr>
      <vt:lpstr>employees[0] holds a FullTimeEmployee. Which line calls its getBonus() method?</vt:lpstr>
      <vt:lpstr>employees[0] holds a FullTimeEmployee. Which line calls its getBonus() method?</vt:lpstr>
      <vt:lpstr>Lecture 5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5, Interfaces</dc:title>
  <dc:subject>Lecture 5 ideas in plain words, with quick checks</dc:subject>
  <dc:creator>Saeid Rezaei</dc:creator>
  <cp:lastModifiedBy>Saeid Rezaei</cp:lastModifiedBy>
  <cp:revision>1</cp:revision>
  <dcterms:created xsi:type="dcterms:W3CDTF">2026-10-11T10:07:05Z</dcterms:created>
  <dcterms:modified xsi:type="dcterms:W3CDTF">2026-10-11T10:07:05Z</dcterms:modified>
</cp:coreProperties>
</file>